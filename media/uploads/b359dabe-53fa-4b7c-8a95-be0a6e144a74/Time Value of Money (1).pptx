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297" r:id="rId3"/>
    <p:sldId id="327" r:id="rId4"/>
    <p:sldId id="328" r:id="rId5"/>
    <p:sldId id="329" r:id="rId6"/>
    <p:sldId id="298" r:id="rId7"/>
    <p:sldId id="300" r:id="rId8"/>
    <p:sldId id="301" r:id="rId9"/>
    <p:sldId id="299" r:id="rId10"/>
    <p:sldId id="302" r:id="rId11"/>
    <p:sldId id="303" r:id="rId12"/>
    <p:sldId id="304" r:id="rId13"/>
    <p:sldId id="305" r:id="rId14"/>
    <p:sldId id="306" r:id="rId15"/>
    <p:sldId id="307" r:id="rId16"/>
    <p:sldId id="308" r:id="rId17"/>
    <p:sldId id="309" r:id="rId18"/>
    <p:sldId id="320" r:id="rId19"/>
    <p:sldId id="317" r:id="rId20"/>
    <p:sldId id="318" r:id="rId21"/>
    <p:sldId id="310" r:id="rId22"/>
    <p:sldId id="311"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 id="346" r:id="rId37"/>
    <p:sldId id="347" r:id="rId38"/>
    <p:sldId id="348" r:id="rId39"/>
    <p:sldId id="343" r:id="rId40"/>
    <p:sldId id="344" r:id="rId41"/>
    <p:sldId id="345" r:id="rId42"/>
    <p:sldId id="321" r:id="rId43"/>
    <p:sldId id="322" r:id="rId44"/>
    <p:sldId id="323" r:id="rId45"/>
    <p:sldId id="324" r:id="rId46"/>
    <p:sldId id="32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9" autoAdjust="0"/>
    <p:restoredTop sz="94660"/>
  </p:normalViewPr>
  <p:slideViewPr>
    <p:cSldViewPr snapToGrid="0">
      <p:cViewPr varScale="1">
        <p:scale>
          <a:sx n="87" d="100"/>
          <a:sy n="87" d="100"/>
        </p:scale>
        <p:origin x="69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996F2D-AA1E-4C24-AADC-46A9CA3B88CC}" type="datetimeFigureOut">
              <a:rPr lang="en-ZA" smtClean="0"/>
              <a:t>2024/10/07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AB850E-C003-4F4F-834C-E08600D7E33B}" type="slidenum">
              <a:rPr lang="en-ZA" smtClean="0"/>
              <a:t>‹#›</a:t>
            </a:fld>
            <a:endParaRPr lang="en-ZA"/>
          </a:p>
        </p:txBody>
      </p:sp>
    </p:spTree>
    <p:extLst>
      <p:ext uri="{BB962C8B-B14F-4D97-AF65-F5344CB8AC3E}">
        <p14:creationId xmlns:p14="http://schemas.microsoft.com/office/powerpoint/2010/main" val="2872991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7D468C8-DC73-437F-90EF-CA31393842C2}" type="slidenum">
              <a:rPr lang="en-US" altLang="en-US" sz="1200" smtClean="0"/>
              <a:pPr/>
              <a:t>5</a:t>
            </a:fld>
            <a:endParaRPr lang="en-US" altLang="en-US" sz="1200"/>
          </a:p>
        </p:txBody>
      </p:sp>
    </p:spTree>
    <p:extLst>
      <p:ext uri="{BB962C8B-B14F-4D97-AF65-F5344CB8AC3E}">
        <p14:creationId xmlns:p14="http://schemas.microsoft.com/office/powerpoint/2010/main" val="26765948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50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8F2FE315-1B79-461C-A6BD-E2A0B283073C}" type="slidenum">
              <a:rPr lang="en-US" altLang="en-US" sz="1200" smtClean="0"/>
              <a:pPr/>
              <a:t>24</a:t>
            </a:fld>
            <a:endParaRPr lang="en-US" altLang="en-US" sz="1200"/>
          </a:p>
        </p:txBody>
      </p:sp>
    </p:spTree>
    <p:extLst>
      <p:ext uri="{BB962C8B-B14F-4D97-AF65-F5344CB8AC3E}">
        <p14:creationId xmlns:p14="http://schemas.microsoft.com/office/powerpoint/2010/main" val="2897907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2400">
                <a:solidFill>
                  <a:schemeClr val="tx1"/>
                </a:solidFill>
                <a:latin typeface="Arial" panose="020B0604020202020204" pitchFamily="34" charset="0"/>
                <a:cs typeface="Arial" panose="020B0604020202020204" pitchFamily="34" charset="0"/>
              </a:defRPr>
            </a:lvl1pPr>
            <a:lvl2pPr marL="742950" indent="-285750">
              <a:defRPr sz="2400">
                <a:solidFill>
                  <a:schemeClr val="tx1"/>
                </a:solidFill>
                <a:latin typeface="Arial" panose="020B0604020202020204" pitchFamily="34" charset="0"/>
                <a:cs typeface="Arial" panose="020B0604020202020204" pitchFamily="34" charset="0"/>
              </a:defRPr>
            </a:lvl2pPr>
            <a:lvl3pPr marL="1143000" indent="-228600">
              <a:defRPr sz="2400">
                <a:solidFill>
                  <a:schemeClr val="tx1"/>
                </a:solidFill>
                <a:latin typeface="Arial" panose="020B0604020202020204" pitchFamily="34" charset="0"/>
                <a:cs typeface="Arial" panose="020B0604020202020204" pitchFamily="34" charset="0"/>
              </a:defRPr>
            </a:lvl3pPr>
            <a:lvl4pPr marL="1600200" indent="-228600">
              <a:defRPr sz="2400">
                <a:solidFill>
                  <a:schemeClr val="tx1"/>
                </a:solidFill>
                <a:latin typeface="Arial" panose="020B0604020202020204" pitchFamily="34" charset="0"/>
                <a:cs typeface="Arial" panose="020B0604020202020204" pitchFamily="34" charset="0"/>
              </a:defRPr>
            </a:lvl4pPr>
            <a:lvl5pPr marL="2057400" indent="-228600">
              <a:defRPr sz="2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cs typeface="Arial" panose="020B0604020202020204" pitchFamily="34" charset="0"/>
              </a:defRPr>
            </a:lvl9pPr>
          </a:lstStyle>
          <a:p>
            <a:fld id="{A64FBE14-374B-4D53-90C9-5CBCF998996B}" type="slidenum">
              <a:rPr lang="en-US" altLang="en-US" sz="1200" smtClean="0"/>
              <a:pPr/>
              <a:t>25</a:t>
            </a:fld>
            <a:endParaRPr lang="en-US" altLang="en-US" sz="1200"/>
          </a:p>
        </p:txBody>
      </p:sp>
    </p:spTree>
    <p:extLst>
      <p:ext uri="{BB962C8B-B14F-4D97-AF65-F5344CB8AC3E}">
        <p14:creationId xmlns:p14="http://schemas.microsoft.com/office/powerpoint/2010/main" val="9128064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EF375BC-4138-4541-B1FB-6A54347E6BE4}" type="datetime1">
              <a:rPr lang="en-ZA" smtClean="0"/>
              <a:t>2024/10/07</a:t>
            </a:fld>
            <a:endParaRPr lang="en-ZA"/>
          </a:p>
        </p:txBody>
      </p:sp>
      <p:sp>
        <p:nvSpPr>
          <p:cNvPr id="5" name="Footer Placeholder 4"/>
          <p:cNvSpPr>
            <a:spLocks noGrp="1"/>
          </p:cNvSpPr>
          <p:nvPr>
            <p:ph type="ftr" sz="quarter" idx="11"/>
          </p:nvPr>
        </p:nvSpPr>
        <p:spPr>
          <a:xfrm>
            <a:off x="2692397" y="5037663"/>
            <a:ext cx="5214635" cy="279400"/>
          </a:xfrm>
        </p:spPr>
        <p:txBody>
          <a:bodyPr/>
          <a:lstStyle/>
          <a:p>
            <a:endParaRPr lang="en-ZA"/>
          </a:p>
        </p:txBody>
      </p:sp>
      <p:sp>
        <p:nvSpPr>
          <p:cNvPr id="6" name="Slide Number Placeholder 5"/>
          <p:cNvSpPr>
            <a:spLocks noGrp="1"/>
          </p:cNvSpPr>
          <p:nvPr>
            <p:ph type="sldNum" sz="quarter" idx="12"/>
          </p:nvPr>
        </p:nvSpPr>
        <p:spPr>
          <a:xfrm>
            <a:off x="8956900" y="5037663"/>
            <a:ext cx="551167" cy="279400"/>
          </a:xfrm>
        </p:spPr>
        <p:txBody>
          <a:bodyPr/>
          <a:lstStyle/>
          <a:p>
            <a:fld id="{AC2845FC-E9D4-4B00-B81C-16D6AF5A4399}" type="slidenum">
              <a:rPr lang="en-ZA" smtClean="0"/>
              <a:t>‹#›</a:t>
            </a:fld>
            <a:endParaRPr lang="en-ZA"/>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3672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857D96-1377-4A51-8D38-1697CFD249BA}"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983052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9FA150-6C22-4A47-89B3-E58779CF1665}"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1050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8509D0-21D1-4FC6-BFA2-479ED130CE9E}" type="datetime1">
              <a:rPr lang="en-ZA" smtClean="0"/>
              <a:t>2024/10/07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1748538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A5D5EF-A18A-42EC-88E2-AE8198186518}" type="datetime1">
              <a:rPr lang="en-ZA" smtClean="0"/>
              <a:t>2024/10/07</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AC2845FC-E9D4-4B00-B81C-16D6AF5A4399}" type="slidenum">
              <a:rPr lang="en-ZA" smtClean="0"/>
              <a:t>‹#›</a:t>
            </a:fld>
            <a:endParaRPr lang="en-ZA"/>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85730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8A6B6F-9787-4022-AE76-32E5EDBEC051}" type="datetime1">
              <a:rPr lang="en-ZA" smtClean="0"/>
              <a:t>2024/10/07</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a:t>
            </a:fld>
            <a:endParaRPr lang="en-Z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278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F08066-95F0-46E0-8C77-11A8E8618C5A}" type="datetime1">
              <a:rPr lang="en-ZA" smtClean="0"/>
              <a:t>2024/10/07</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1613145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C35D44B-0BE7-44DF-9538-1AE88EA88029}" type="datetime1">
              <a:rPr lang="en-ZA" smtClean="0"/>
              <a:t>2024/10/07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8707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167D53-7308-40C4-A203-41496002A9FF}" type="datetime1">
              <a:rPr lang="en-ZA" smtClean="0"/>
              <a:t>2024/10/07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313746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074D96F-97FB-46C0-85AD-87C642574BA9}" type="datetime1">
              <a:rPr lang="en-ZA" smtClean="0"/>
              <a:t>2024/10/07</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0098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3A6605-7FBB-404F-B092-5144E66A2755}"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9950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68AB71-D88A-4B4C-A9C4-E836C41881C7}"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61355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6047F9-35FD-45C4-9F5A-7D2155BD8EAD}"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Tree>
    <p:extLst>
      <p:ext uri="{BB962C8B-B14F-4D97-AF65-F5344CB8AC3E}">
        <p14:creationId xmlns:p14="http://schemas.microsoft.com/office/powerpoint/2010/main" val="3709853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5EF49B-5CB1-446B-ACC5-2C7962AB86A0}"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4052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5F661F-1BFA-402E-A5A8-547FDFB591D8}"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92573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2F10CB-7270-4741-AAD3-A210B5A688C2}"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5672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BF6AC5-582B-4775-B6A0-EC80F15ECCA2}" type="datetime1">
              <a:rPr lang="en-ZA" smtClean="0"/>
              <a:t>2024/10/07</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AC2845FC-E9D4-4B00-B81C-16D6AF5A4399}" type="slidenum">
              <a:rPr lang="en-ZA" smtClean="0"/>
              <a:t>‹#›</a:t>
            </a:fld>
            <a:endParaRPr lang="en-ZA"/>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34463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a:t>Click to edit Master title style</a:t>
            </a:r>
          </a:p>
        </p:txBody>
      </p:sp>
      <p:sp>
        <p:nvSpPr>
          <p:cNvPr id="3" name="Content Placeholder 2"/>
          <p:cNvSpPr>
            <a:spLocks noGrp="1"/>
          </p:cNvSpPr>
          <p:nvPr>
            <p:ph sz="quarter" idx="1"/>
          </p:nvPr>
        </p:nvSpPr>
        <p:spPr>
          <a:xfrm>
            <a:off x="609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0"/>
            <a:ext cx="5384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3938589"/>
            <a:ext cx="5384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B091AB7C-0539-4DA3-9395-A71D0E9AD6AE}" type="datetime1">
              <a:rPr lang="en-ZA" altLang="en-US" smtClean="0"/>
              <a:t>2024/10/07</a:t>
            </a:fld>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9395706F-8A35-4A7F-B0B2-B2828DC1B16C}" type="slidenum">
              <a:rPr lang="ar-SA" altLang="en-US"/>
              <a:pPr>
                <a:defRPr/>
              </a:pPr>
              <a:t>‹#›</a:t>
            </a:fld>
            <a:endParaRPr lang="en-US" altLang="en-US"/>
          </a:p>
        </p:txBody>
      </p:sp>
    </p:spTree>
    <p:extLst>
      <p:ext uri="{BB962C8B-B14F-4D97-AF65-F5344CB8AC3E}">
        <p14:creationId xmlns:p14="http://schemas.microsoft.com/office/powerpoint/2010/main" val="4001485198"/>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CF37E9D-7053-42B8-B467-8D5A209ECF48}" type="datetime1">
              <a:rPr lang="en-ZA" smtClean="0"/>
              <a:t>2024/10/07</a:t>
            </a:fld>
            <a:endParaRPr lang="en-ZA"/>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ZA"/>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C2845FC-E9D4-4B00-B81C-16D6AF5A4399}" type="slidenum">
              <a:rPr lang="en-ZA" smtClean="0"/>
              <a:t>‹#›</a:t>
            </a:fld>
            <a:endParaRPr lang="en-ZA"/>
          </a:p>
        </p:txBody>
      </p:sp>
    </p:spTree>
    <p:extLst>
      <p:ext uri="{BB962C8B-B14F-4D97-AF65-F5344CB8AC3E}">
        <p14:creationId xmlns:p14="http://schemas.microsoft.com/office/powerpoint/2010/main" val="611840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ftr="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16.e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3" Type="http://schemas.openxmlformats.org/officeDocument/2006/relationships/image" Target="../media/image15.emf"/><Relationship Id="rId7" Type="http://schemas.openxmlformats.org/officeDocument/2006/relationships/image" Target="../media/image18.em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oleObject" Target="../embeddings/oleObject9.bin"/><Relationship Id="rId5" Type="http://schemas.openxmlformats.org/officeDocument/2006/relationships/image" Target="../media/image17.emf"/><Relationship Id="rId4" Type="http://schemas.openxmlformats.org/officeDocument/2006/relationships/oleObject" Target="../embeddings/oleObject8.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0.bin"/><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1.bin"/><Relationship Id="rId1" Type="http://schemas.openxmlformats.org/officeDocument/2006/relationships/slideLayout" Target="../slideLayouts/slideLayout18.xml"/><Relationship Id="rId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3.bin"/><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4.bin"/><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6.bin"/><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7.bin"/><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8.bin"/><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9.bin"/><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20.bin"/><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28.wmf"/><Relationship Id="rId2" Type="http://schemas.openxmlformats.org/officeDocument/2006/relationships/oleObject" Target="../embeddings/oleObject21.bin"/><Relationship Id="rId1" Type="http://schemas.openxmlformats.org/officeDocument/2006/relationships/slideLayout" Target="../slideLayouts/slideLayout2.xml"/><Relationship Id="rId6" Type="http://schemas.openxmlformats.org/officeDocument/2006/relationships/oleObject" Target="../embeddings/oleObject23.bin"/><Relationship Id="rId5" Type="http://schemas.openxmlformats.org/officeDocument/2006/relationships/image" Target="../media/image27.wmf"/><Relationship Id="rId4" Type="http://schemas.openxmlformats.org/officeDocument/2006/relationships/oleObject" Target="../embeddings/oleObject22.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ZA" sz="3600" dirty="0"/>
              <a:t>LECTURE 6</a:t>
            </a:r>
            <a:br>
              <a:rPr lang="en-ZA" sz="3600" dirty="0"/>
            </a:br>
            <a:r>
              <a:rPr lang="en-ZA" sz="3600" dirty="0"/>
              <a:t>(ENGINEERING ECONOMICS)</a:t>
            </a:r>
          </a:p>
        </p:txBody>
      </p:sp>
      <p:sp>
        <p:nvSpPr>
          <p:cNvPr id="3" name="Subtitle 2"/>
          <p:cNvSpPr>
            <a:spLocks noGrp="1"/>
          </p:cNvSpPr>
          <p:nvPr>
            <p:ph type="subTitle" idx="1"/>
          </p:nvPr>
        </p:nvSpPr>
        <p:spPr/>
        <p:txBody>
          <a:bodyPr/>
          <a:lstStyle/>
          <a:p>
            <a:r>
              <a:rPr lang="en-ZA" dirty="0"/>
              <a:t>JAMES SHARKA JUANA (PhD)</a:t>
            </a:r>
          </a:p>
        </p:txBody>
      </p:sp>
      <p:sp>
        <p:nvSpPr>
          <p:cNvPr id="4" name="Slide Number Placeholder 3"/>
          <p:cNvSpPr>
            <a:spLocks noGrp="1"/>
          </p:cNvSpPr>
          <p:nvPr>
            <p:ph type="sldNum" sz="quarter" idx="12"/>
          </p:nvPr>
        </p:nvSpPr>
        <p:spPr/>
        <p:txBody>
          <a:bodyPr/>
          <a:lstStyle/>
          <a:p>
            <a:fld id="{AC2845FC-E9D4-4B00-B81C-16D6AF5A4399}" type="slidenum">
              <a:rPr lang="en-ZA" smtClean="0"/>
              <a:t>1</a:t>
            </a:fld>
            <a:endParaRPr lang="en-ZA"/>
          </a:p>
        </p:txBody>
      </p:sp>
      <p:sp>
        <p:nvSpPr>
          <p:cNvPr id="5" name="Date Placeholder 4"/>
          <p:cNvSpPr>
            <a:spLocks noGrp="1"/>
          </p:cNvSpPr>
          <p:nvPr>
            <p:ph type="dt" sz="half" idx="10"/>
          </p:nvPr>
        </p:nvSpPr>
        <p:spPr/>
        <p:txBody>
          <a:bodyPr/>
          <a:lstStyle/>
          <a:p>
            <a:fld id="{303CFDEF-62CB-42F5-BADA-90271AE25AFA}" type="datetime1">
              <a:rPr lang="en-ZA" smtClean="0"/>
              <a:t>2024/10/07</a:t>
            </a:fld>
            <a:endParaRPr lang="en-ZA"/>
          </a:p>
        </p:txBody>
      </p:sp>
    </p:spTree>
    <p:extLst>
      <p:ext uri="{BB962C8B-B14F-4D97-AF65-F5344CB8AC3E}">
        <p14:creationId xmlns:p14="http://schemas.microsoft.com/office/powerpoint/2010/main" val="159556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Coverage</a:t>
            </a:r>
          </a:p>
        </p:txBody>
      </p:sp>
      <p:sp>
        <p:nvSpPr>
          <p:cNvPr id="3" name="Content Placeholder 2"/>
          <p:cNvSpPr>
            <a:spLocks noGrp="1"/>
          </p:cNvSpPr>
          <p:nvPr>
            <p:ph idx="1"/>
          </p:nvPr>
        </p:nvSpPr>
        <p:spPr/>
        <p:txBody>
          <a:bodyPr/>
          <a:lstStyle/>
          <a:p>
            <a:r>
              <a:rPr lang="en-ZA" dirty="0"/>
              <a:t>The time value of money</a:t>
            </a:r>
          </a:p>
          <a:p>
            <a:r>
              <a:rPr lang="en-ZA" dirty="0"/>
              <a:t>Simple and compound interest rates</a:t>
            </a:r>
          </a:p>
          <a:p>
            <a:r>
              <a:rPr lang="en-ZA" dirty="0"/>
              <a:t>Equivalence calculations with nominal and effective interest rates</a:t>
            </a:r>
          </a:p>
        </p:txBody>
      </p:sp>
      <p:sp>
        <p:nvSpPr>
          <p:cNvPr id="4" name="Date Placeholder 3"/>
          <p:cNvSpPr>
            <a:spLocks noGrp="1"/>
          </p:cNvSpPr>
          <p:nvPr>
            <p:ph type="dt" sz="half" idx="10"/>
          </p:nvPr>
        </p:nvSpPr>
        <p:spPr/>
        <p:txBody>
          <a:bodyPr/>
          <a:lstStyle/>
          <a:p>
            <a:fld id="{E9B4937D-4496-418B-86D8-E3697F3D5CC1}"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2</a:t>
            </a:fld>
            <a:endParaRPr lang="en-ZA"/>
          </a:p>
        </p:txBody>
      </p:sp>
    </p:spTree>
    <p:extLst>
      <p:ext uri="{BB962C8B-B14F-4D97-AF65-F5344CB8AC3E}">
        <p14:creationId xmlns:p14="http://schemas.microsoft.com/office/powerpoint/2010/main" val="2412405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sz="3600" b="1"/>
              <a:t>Engineering Economic Analysis</a:t>
            </a:r>
          </a:p>
        </p:txBody>
      </p:sp>
      <p:sp>
        <p:nvSpPr>
          <p:cNvPr id="5123" name="Content Placeholder 2"/>
          <p:cNvSpPr>
            <a:spLocks noGrp="1"/>
          </p:cNvSpPr>
          <p:nvPr>
            <p:ph sz="half" idx="1"/>
          </p:nvPr>
        </p:nvSpPr>
        <p:spPr>
          <a:xfrm>
            <a:off x="1976438" y="1417638"/>
            <a:ext cx="8234362" cy="4525962"/>
          </a:xfrm>
        </p:spPr>
        <p:txBody>
          <a:bodyPr>
            <a:normAutofit/>
          </a:bodyPr>
          <a:lstStyle/>
          <a:p>
            <a:endParaRPr lang="en-US" altLang="en-US" sz="2800" dirty="0"/>
          </a:p>
          <a:p>
            <a:endParaRPr lang="en-US" altLang="en-US" sz="2800" dirty="0"/>
          </a:p>
          <a:p>
            <a:r>
              <a:rPr lang="en-US" altLang="en-US" sz="2800" dirty="0"/>
              <a:t>Examines the money spent at various stages of implementing an  engineering project.</a:t>
            </a:r>
          </a:p>
          <a:p>
            <a:r>
              <a:rPr lang="en-US" altLang="en-US" sz="2800" dirty="0"/>
              <a:t>Examines the revenues and benefits gained after project completion.</a:t>
            </a:r>
          </a:p>
          <a:p>
            <a:r>
              <a:rPr lang="en-US" altLang="en-US" sz="2800" dirty="0">
                <a:solidFill>
                  <a:srgbClr val="FF0000"/>
                </a:solidFill>
              </a:rPr>
              <a:t>Therefore, </a:t>
            </a:r>
            <a:r>
              <a:rPr lang="en-US" altLang="en-US" sz="2800" dirty="0"/>
              <a:t>engineering economic analysis focuses on costs, revenues, and benefits that occur over time.</a:t>
            </a:r>
          </a:p>
          <a:p>
            <a:endParaRPr lang="en-US" altLang="en-US" sz="2800" dirty="0"/>
          </a:p>
        </p:txBody>
      </p:sp>
      <p:sp>
        <p:nvSpPr>
          <p:cNvPr id="2" name="Date Placeholder 1"/>
          <p:cNvSpPr>
            <a:spLocks noGrp="1"/>
          </p:cNvSpPr>
          <p:nvPr>
            <p:ph type="dt" sz="half" idx="10"/>
          </p:nvPr>
        </p:nvSpPr>
        <p:spPr/>
        <p:txBody>
          <a:bodyPr/>
          <a:lstStyle/>
          <a:p>
            <a:fld id="{8ED2C07A-E900-4634-BA8D-35982B0C31E0}" type="datetime1">
              <a:rPr lang="en-ZA" smtClean="0"/>
              <a:t>2024/10/07</a:t>
            </a:fld>
            <a:endParaRPr lang="en-ZA"/>
          </a:p>
        </p:txBody>
      </p:sp>
      <p:sp>
        <p:nvSpPr>
          <p:cNvPr id="3" name="Slide Number Placeholder 2"/>
          <p:cNvSpPr>
            <a:spLocks noGrp="1"/>
          </p:cNvSpPr>
          <p:nvPr>
            <p:ph type="sldNum" sz="quarter" idx="12"/>
          </p:nvPr>
        </p:nvSpPr>
        <p:spPr/>
        <p:txBody>
          <a:bodyPr/>
          <a:lstStyle/>
          <a:p>
            <a:fld id="{AC2845FC-E9D4-4B00-B81C-16D6AF5A4399}" type="slidenum">
              <a:rPr lang="en-ZA" smtClean="0"/>
              <a:t>3</a:t>
            </a:fld>
            <a:endParaRPr lang="en-ZA"/>
          </a:p>
        </p:txBody>
      </p:sp>
    </p:spTree>
    <p:extLst>
      <p:ext uri="{BB962C8B-B14F-4D97-AF65-F5344CB8AC3E}">
        <p14:creationId xmlns:p14="http://schemas.microsoft.com/office/powerpoint/2010/main" val="423915136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sz="3600" b="1"/>
              <a:t>Engineering Economic Decisions</a:t>
            </a:r>
            <a:endParaRPr lang="en-US" altLang="en-US" sz="3200" b="1"/>
          </a:p>
        </p:txBody>
      </p:sp>
      <p:sp>
        <p:nvSpPr>
          <p:cNvPr id="6147" name="Content Placeholder 2"/>
          <p:cNvSpPr>
            <a:spLocks noGrp="1"/>
          </p:cNvSpPr>
          <p:nvPr>
            <p:ph sz="half" idx="1"/>
          </p:nvPr>
        </p:nvSpPr>
        <p:spPr>
          <a:xfrm>
            <a:off x="1481069" y="1600200"/>
            <a:ext cx="9543245" cy="4916510"/>
          </a:xfrm>
        </p:spPr>
        <p:txBody>
          <a:bodyPr>
            <a:normAutofit lnSpcReduction="10000"/>
          </a:bodyPr>
          <a:lstStyle/>
          <a:p>
            <a:pPr marL="0" indent="0">
              <a:buNone/>
            </a:pPr>
            <a:endParaRPr lang="en-US" altLang="en-US" b="1" u="sng" dirty="0"/>
          </a:p>
          <a:p>
            <a:pPr marL="0" indent="0">
              <a:buNone/>
            </a:pPr>
            <a:endParaRPr lang="en-US" altLang="en-US" b="1" u="sng" dirty="0"/>
          </a:p>
          <a:p>
            <a:pPr marL="0" indent="0">
              <a:buNone/>
            </a:pPr>
            <a:r>
              <a:rPr lang="en-US" altLang="en-US" b="1" u="sng" dirty="0"/>
              <a:t>A. Business Investment Decisions</a:t>
            </a:r>
            <a:r>
              <a:rPr lang="en-US" altLang="en-US" dirty="0"/>
              <a:t>:</a:t>
            </a:r>
          </a:p>
          <a:p>
            <a:pPr marL="0" indent="0">
              <a:buFontTx/>
              <a:buAutoNum type="arabicPeriod"/>
            </a:pPr>
            <a:r>
              <a:rPr lang="en-US" altLang="en-US" dirty="0"/>
              <a:t>Which engineering projects are worthwhile?</a:t>
            </a:r>
          </a:p>
          <a:p>
            <a:pPr marL="0" indent="0">
              <a:buFontTx/>
              <a:buAutoNum type="arabicPeriod"/>
            </a:pPr>
            <a:r>
              <a:rPr lang="en-US" altLang="en-US" dirty="0"/>
              <a:t>Which engineering projects should have a higher priority?</a:t>
            </a:r>
          </a:p>
          <a:p>
            <a:pPr marL="0" indent="0">
              <a:buFontTx/>
              <a:buAutoNum type="arabicPeriod"/>
            </a:pPr>
            <a:r>
              <a:rPr lang="en-US" altLang="en-US" dirty="0"/>
              <a:t>How should the engineering project be designed?</a:t>
            </a:r>
          </a:p>
          <a:p>
            <a:pPr marL="0" indent="0">
              <a:buNone/>
            </a:pPr>
            <a:r>
              <a:rPr lang="en-US" altLang="en-US" b="1" u="sng" dirty="0"/>
              <a:t>B. Personal Investment Decisions</a:t>
            </a:r>
            <a:r>
              <a:rPr lang="en-US" altLang="en-US" dirty="0"/>
              <a:t>:</a:t>
            </a:r>
          </a:p>
          <a:p>
            <a:pPr marL="0" indent="0">
              <a:buFontTx/>
              <a:buAutoNum type="arabicPeriod"/>
            </a:pPr>
            <a:r>
              <a:rPr lang="en-US" altLang="en-US" dirty="0"/>
              <a:t>How do I achieve my long-term financial goals?</a:t>
            </a:r>
          </a:p>
          <a:p>
            <a:pPr marL="0" indent="0">
              <a:buFontTx/>
              <a:buAutoNum type="arabicPeriod"/>
            </a:pPr>
            <a:r>
              <a:rPr lang="en-US" altLang="en-US" dirty="0"/>
              <a:t>How do I compare different ways to finance my purchases?</a:t>
            </a:r>
          </a:p>
          <a:p>
            <a:pPr marL="0" indent="0">
              <a:buFontTx/>
              <a:buAutoNum type="arabicPeriod"/>
            </a:pPr>
            <a:r>
              <a:rPr lang="en-US" altLang="en-US" dirty="0"/>
              <a:t>Which short- and long-term investment decisions should I make?</a:t>
            </a:r>
          </a:p>
        </p:txBody>
      </p:sp>
      <p:sp>
        <p:nvSpPr>
          <p:cNvPr id="2" name="Date Placeholder 1"/>
          <p:cNvSpPr>
            <a:spLocks noGrp="1"/>
          </p:cNvSpPr>
          <p:nvPr>
            <p:ph type="dt" sz="half" idx="10"/>
          </p:nvPr>
        </p:nvSpPr>
        <p:spPr/>
        <p:txBody>
          <a:bodyPr/>
          <a:lstStyle/>
          <a:p>
            <a:fld id="{B2AB4ED0-3711-47CA-97F6-EDCDB871DBB9}" type="datetime1">
              <a:rPr lang="en-ZA" smtClean="0"/>
              <a:t>2024/10/07</a:t>
            </a:fld>
            <a:endParaRPr lang="en-ZA"/>
          </a:p>
        </p:txBody>
      </p:sp>
      <p:sp>
        <p:nvSpPr>
          <p:cNvPr id="3" name="Slide Number Placeholder 2"/>
          <p:cNvSpPr>
            <a:spLocks noGrp="1"/>
          </p:cNvSpPr>
          <p:nvPr>
            <p:ph type="sldNum" sz="quarter" idx="12"/>
          </p:nvPr>
        </p:nvSpPr>
        <p:spPr/>
        <p:txBody>
          <a:bodyPr/>
          <a:lstStyle/>
          <a:p>
            <a:fld id="{AC2845FC-E9D4-4B00-B81C-16D6AF5A4399}" type="slidenum">
              <a:rPr lang="en-ZA" smtClean="0"/>
              <a:t>4</a:t>
            </a:fld>
            <a:endParaRPr lang="en-ZA"/>
          </a:p>
        </p:txBody>
      </p:sp>
    </p:spTree>
    <p:extLst>
      <p:ext uri="{BB962C8B-B14F-4D97-AF65-F5344CB8AC3E}">
        <p14:creationId xmlns:p14="http://schemas.microsoft.com/office/powerpoint/2010/main" val="95907235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981200" y="274638"/>
            <a:ext cx="8229600" cy="1528404"/>
          </a:xfrm>
        </p:spPr>
        <p:txBody>
          <a:bodyPr/>
          <a:lstStyle/>
          <a:p>
            <a:r>
              <a:rPr lang="en-US" altLang="en-US" sz="3600" b="1" dirty="0">
                <a:solidFill>
                  <a:schemeClr val="accent2"/>
                </a:solidFill>
              </a:rPr>
              <a:t>Common Types of Strategic Engineering Economic Decisions</a:t>
            </a:r>
          </a:p>
        </p:txBody>
      </p:sp>
      <p:sp>
        <p:nvSpPr>
          <p:cNvPr id="3" name="Content Placeholder 2"/>
          <p:cNvSpPr>
            <a:spLocks noGrp="1"/>
          </p:cNvSpPr>
          <p:nvPr>
            <p:ph idx="1"/>
          </p:nvPr>
        </p:nvSpPr>
        <p:spPr>
          <a:xfrm>
            <a:off x="1390918" y="2588654"/>
            <a:ext cx="9517488" cy="3735946"/>
          </a:xfrm>
        </p:spPr>
        <p:txBody>
          <a:bodyPr>
            <a:normAutofit/>
          </a:bodyPr>
          <a:lstStyle/>
          <a:p>
            <a:pPr>
              <a:defRPr/>
            </a:pPr>
            <a:r>
              <a:rPr lang="en-US" sz="3200" b="1" dirty="0">
                <a:solidFill>
                  <a:schemeClr val="tx1">
                    <a:lumMod val="65000"/>
                    <a:lumOff val="35000"/>
                  </a:schemeClr>
                </a:solidFill>
                <a:latin typeface="+mj-lt"/>
              </a:rPr>
              <a:t>Equipment or process selection</a:t>
            </a:r>
          </a:p>
          <a:p>
            <a:pPr>
              <a:defRPr/>
            </a:pPr>
            <a:r>
              <a:rPr lang="en-US" sz="3200" b="1" dirty="0">
                <a:solidFill>
                  <a:schemeClr val="tx1">
                    <a:lumMod val="65000"/>
                    <a:lumOff val="35000"/>
                  </a:schemeClr>
                </a:solidFill>
                <a:latin typeface="+mj-lt"/>
              </a:rPr>
              <a:t>Equipment replacement decisions</a:t>
            </a:r>
          </a:p>
          <a:p>
            <a:pPr>
              <a:defRPr/>
            </a:pPr>
            <a:r>
              <a:rPr lang="en-US" sz="3200" b="1" dirty="0">
                <a:solidFill>
                  <a:schemeClr val="tx1">
                    <a:lumMod val="65000"/>
                    <a:lumOff val="35000"/>
                  </a:schemeClr>
                </a:solidFill>
                <a:latin typeface="+mj-lt"/>
              </a:rPr>
              <a:t>New products and product expansion</a:t>
            </a:r>
          </a:p>
          <a:p>
            <a:pPr>
              <a:defRPr/>
            </a:pPr>
            <a:r>
              <a:rPr lang="en-US" sz="3200" b="1" dirty="0">
                <a:solidFill>
                  <a:schemeClr val="tx1">
                    <a:lumMod val="65000"/>
                    <a:lumOff val="35000"/>
                  </a:schemeClr>
                </a:solidFill>
                <a:latin typeface="+mj-lt"/>
              </a:rPr>
              <a:t>Cost reduction</a:t>
            </a:r>
          </a:p>
          <a:p>
            <a:pPr>
              <a:defRPr/>
            </a:pPr>
            <a:r>
              <a:rPr lang="en-US" sz="3200" b="1" dirty="0">
                <a:solidFill>
                  <a:schemeClr val="tx1">
                    <a:lumMod val="65000"/>
                    <a:lumOff val="35000"/>
                  </a:schemeClr>
                </a:solidFill>
                <a:latin typeface="+mj-lt"/>
              </a:rPr>
              <a:t>Improvement in service or quality</a:t>
            </a:r>
          </a:p>
          <a:p>
            <a:pPr marL="0" indent="0">
              <a:buNone/>
              <a:defRPr/>
            </a:pPr>
            <a:endParaRPr lang="en-US" sz="2800" b="1" dirty="0">
              <a:solidFill>
                <a:schemeClr val="tx1">
                  <a:lumMod val="65000"/>
                  <a:lumOff val="35000"/>
                </a:schemeClr>
              </a:solidFill>
              <a:latin typeface="+mj-lt"/>
            </a:endParaRPr>
          </a:p>
        </p:txBody>
      </p:sp>
      <p:sp>
        <p:nvSpPr>
          <p:cNvPr id="2" name="Date Placeholder 1"/>
          <p:cNvSpPr>
            <a:spLocks noGrp="1"/>
          </p:cNvSpPr>
          <p:nvPr>
            <p:ph type="dt" sz="half" idx="10"/>
          </p:nvPr>
        </p:nvSpPr>
        <p:spPr/>
        <p:txBody>
          <a:bodyPr/>
          <a:lstStyle/>
          <a:p>
            <a:fld id="{965E9F66-3DC4-44D1-B3CA-20556789B0C1}" type="datetime1">
              <a:rPr lang="en-ZA" smtClean="0"/>
              <a:t>2024/10/07</a:t>
            </a:fld>
            <a:endParaRPr lang="en-ZA"/>
          </a:p>
        </p:txBody>
      </p:sp>
      <p:sp>
        <p:nvSpPr>
          <p:cNvPr id="4" name="Slide Number Placeholder 3"/>
          <p:cNvSpPr>
            <a:spLocks noGrp="1"/>
          </p:cNvSpPr>
          <p:nvPr>
            <p:ph type="sldNum" sz="quarter" idx="12"/>
          </p:nvPr>
        </p:nvSpPr>
        <p:spPr/>
        <p:txBody>
          <a:bodyPr/>
          <a:lstStyle/>
          <a:p>
            <a:fld id="{AC2845FC-E9D4-4B00-B81C-16D6AF5A4399}" type="slidenum">
              <a:rPr lang="en-ZA" smtClean="0"/>
              <a:t>5</a:t>
            </a:fld>
            <a:endParaRPr lang="en-ZA"/>
          </a:p>
        </p:txBody>
      </p:sp>
    </p:spTree>
    <p:extLst>
      <p:ext uri="{BB962C8B-B14F-4D97-AF65-F5344CB8AC3E}">
        <p14:creationId xmlns:p14="http://schemas.microsoft.com/office/powerpoint/2010/main" val="30831005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ZA" dirty="0"/>
              <a:t>Time Value of Money</a:t>
            </a:r>
          </a:p>
        </p:txBody>
      </p:sp>
      <p:sp>
        <p:nvSpPr>
          <p:cNvPr id="3" name="Content Placeholder 2"/>
          <p:cNvSpPr>
            <a:spLocks noGrp="1"/>
          </p:cNvSpPr>
          <p:nvPr>
            <p:ph idx="1"/>
          </p:nvPr>
        </p:nvSpPr>
        <p:spPr>
          <a:xfrm>
            <a:off x="924339" y="2285998"/>
            <a:ext cx="10745981" cy="4045227"/>
          </a:xfrm>
        </p:spPr>
        <p:txBody>
          <a:bodyPr>
            <a:noAutofit/>
          </a:bodyPr>
          <a:lstStyle/>
          <a:p>
            <a:r>
              <a:rPr lang="en-ZA" sz="2500" dirty="0"/>
              <a:t>The value of money today is worth more or less in the future.</a:t>
            </a:r>
          </a:p>
          <a:p>
            <a:r>
              <a:rPr lang="en-ZA" sz="2500" dirty="0"/>
              <a:t>The value of money changes with time</a:t>
            </a:r>
          </a:p>
          <a:p>
            <a:r>
              <a:rPr lang="en-ZA" sz="2500" dirty="0"/>
              <a:t>Therefore, the money-time relationship should be understood by engineers/scientists for the purpose of planning and implementing engineering projects</a:t>
            </a:r>
          </a:p>
          <a:p>
            <a:r>
              <a:rPr lang="en-ZA" sz="2500" dirty="0"/>
              <a:t>For example replacing an old equipment now or in the future. Two options:</a:t>
            </a:r>
          </a:p>
          <a:p>
            <a:pPr lvl="1"/>
            <a:r>
              <a:rPr lang="en-ZA" dirty="0"/>
              <a:t>Save the money and buy a new equipment in the future</a:t>
            </a:r>
          </a:p>
          <a:p>
            <a:pPr lvl="1"/>
            <a:r>
              <a:rPr lang="en-ZA" dirty="0"/>
              <a:t>Buy the equipment now</a:t>
            </a:r>
          </a:p>
        </p:txBody>
      </p:sp>
      <p:sp>
        <p:nvSpPr>
          <p:cNvPr id="4" name="Date Placeholder 3"/>
          <p:cNvSpPr>
            <a:spLocks noGrp="1"/>
          </p:cNvSpPr>
          <p:nvPr>
            <p:ph type="dt" sz="half" idx="10"/>
          </p:nvPr>
        </p:nvSpPr>
        <p:spPr/>
        <p:txBody>
          <a:bodyPr/>
          <a:lstStyle/>
          <a:p>
            <a:fld id="{440D13F8-F843-492C-89B3-4F3AE9C15398}"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6</a:t>
            </a:fld>
            <a:endParaRPr lang="en-ZA"/>
          </a:p>
        </p:txBody>
      </p:sp>
    </p:spTree>
    <p:extLst>
      <p:ext uri="{BB962C8B-B14F-4D97-AF65-F5344CB8AC3E}">
        <p14:creationId xmlns:p14="http://schemas.microsoft.com/office/powerpoint/2010/main" val="4241543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Time Value of Money</a:t>
            </a:r>
          </a:p>
        </p:txBody>
      </p:sp>
      <p:sp>
        <p:nvSpPr>
          <p:cNvPr id="3" name="Content Placeholder 2"/>
          <p:cNvSpPr>
            <a:spLocks noGrp="1"/>
          </p:cNvSpPr>
          <p:nvPr>
            <p:ph idx="1"/>
          </p:nvPr>
        </p:nvSpPr>
        <p:spPr/>
        <p:txBody>
          <a:bodyPr>
            <a:normAutofit fontScale="92500" lnSpcReduction="20000"/>
          </a:bodyPr>
          <a:lstStyle/>
          <a:p>
            <a:r>
              <a:rPr lang="en-ZA" dirty="0"/>
              <a:t>Each of the two decisions has its related outcomes/implications</a:t>
            </a:r>
          </a:p>
          <a:p>
            <a:r>
              <a:rPr lang="en-ZA" dirty="0"/>
              <a:t>The price of the equipment may fall due to improvement in manufacturing technology.</a:t>
            </a:r>
          </a:p>
          <a:p>
            <a:r>
              <a:rPr lang="en-ZA" dirty="0"/>
              <a:t>The price of the equipment may increase due to increase in the cost of production.</a:t>
            </a:r>
          </a:p>
          <a:p>
            <a:r>
              <a:rPr lang="en-ZA" dirty="0"/>
              <a:t>The interest rate may fall/increase during the period, leading to a lower/higher future value of money.</a:t>
            </a:r>
          </a:p>
          <a:p>
            <a:r>
              <a:rPr lang="en-ZA" dirty="0"/>
              <a:t>Inflation may reduce the purchasing power of money ( real interest rate)</a:t>
            </a:r>
          </a:p>
          <a:p>
            <a:r>
              <a:rPr lang="en-ZA" dirty="0"/>
              <a:t>These and many more possible outcomes may lead to risk/uncertainties about the value of money with time </a:t>
            </a:r>
          </a:p>
        </p:txBody>
      </p:sp>
      <p:sp>
        <p:nvSpPr>
          <p:cNvPr id="4" name="Date Placeholder 3"/>
          <p:cNvSpPr>
            <a:spLocks noGrp="1"/>
          </p:cNvSpPr>
          <p:nvPr>
            <p:ph type="dt" sz="half" idx="10"/>
          </p:nvPr>
        </p:nvSpPr>
        <p:spPr/>
        <p:txBody>
          <a:bodyPr/>
          <a:lstStyle/>
          <a:p>
            <a:fld id="{9C9556CD-39F7-44B5-A362-EED7E2F49DC6}"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7</a:t>
            </a:fld>
            <a:endParaRPr lang="en-ZA"/>
          </a:p>
        </p:txBody>
      </p:sp>
    </p:spTree>
    <p:extLst>
      <p:ext uri="{BB962C8B-B14F-4D97-AF65-F5344CB8AC3E}">
        <p14:creationId xmlns:p14="http://schemas.microsoft.com/office/powerpoint/2010/main" val="3757071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Time Value of Money</a:t>
            </a:r>
          </a:p>
        </p:txBody>
      </p:sp>
      <p:sp>
        <p:nvSpPr>
          <p:cNvPr id="3" name="Content Placeholder 2"/>
          <p:cNvSpPr>
            <a:spLocks noGrp="1"/>
          </p:cNvSpPr>
          <p:nvPr>
            <p:ph idx="1"/>
          </p:nvPr>
        </p:nvSpPr>
        <p:spPr/>
        <p:txBody>
          <a:bodyPr/>
          <a:lstStyle/>
          <a:p>
            <a:r>
              <a:rPr lang="en-ZA" dirty="0"/>
              <a:t>For money to be more valuable in the future the following should hold:</a:t>
            </a:r>
          </a:p>
          <a:p>
            <a:pPr lvl="1"/>
            <a:r>
              <a:rPr lang="en-ZA" dirty="0"/>
              <a:t>The rate of interest should be higher than the rate of inflation. The purchasing power of money increases with interest rate, but decreases with inflation.</a:t>
            </a:r>
          </a:p>
          <a:p>
            <a:pPr lvl="1"/>
            <a:r>
              <a:rPr lang="en-ZA" dirty="0"/>
              <a:t>Technological improvement may reduce the cost of production; hence, the selling prices may generally decrease and the purchasing power of money increases.</a:t>
            </a:r>
          </a:p>
          <a:p>
            <a:pPr lvl="1"/>
            <a:r>
              <a:rPr lang="en-ZA" dirty="0"/>
              <a:t>Therefore, in analysing the time value of money, there is the need to critically examine </a:t>
            </a:r>
            <a:r>
              <a:rPr lang="en-ZA" b="1" dirty="0">
                <a:solidFill>
                  <a:srgbClr val="FF0000"/>
                </a:solidFill>
              </a:rPr>
              <a:t>rate of interest at various points in time.</a:t>
            </a:r>
          </a:p>
        </p:txBody>
      </p:sp>
      <p:sp>
        <p:nvSpPr>
          <p:cNvPr id="4" name="Date Placeholder 3"/>
          <p:cNvSpPr>
            <a:spLocks noGrp="1"/>
          </p:cNvSpPr>
          <p:nvPr>
            <p:ph type="dt" sz="half" idx="10"/>
          </p:nvPr>
        </p:nvSpPr>
        <p:spPr/>
        <p:txBody>
          <a:bodyPr/>
          <a:lstStyle/>
          <a:p>
            <a:fld id="{CEDC9773-CBBB-4455-B7AA-1C38B7F6AA1F}"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8</a:t>
            </a:fld>
            <a:endParaRPr lang="en-ZA"/>
          </a:p>
        </p:txBody>
      </p:sp>
    </p:spTree>
    <p:extLst>
      <p:ext uri="{BB962C8B-B14F-4D97-AF65-F5344CB8AC3E}">
        <p14:creationId xmlns:p14="http://schemas.microsoft.com/office/powerpoint/2010/main" val="1508002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Time Value of Money</a:t>
            </a:r>
          </a:p>
        </p:txBody>
      </p:sp>
      <p:sp>
        <p:nvSpPr>
          <p:cNvPr id="3" name="Content Placeholder 2"/>
          <p:cNvSpPr>
            <a:spLocks noGrp="1"/>
          </p:cNvSpPr>
          <p:nvPr>
            <p:ph idx="1"/>
          </p:nvPr>
        </p:nvSpPr>
        <p:spPr/>
        <p:txBody>
          <a:bodyPr/>
          <a:lstStyle/>
          <a:p>
            <a:r>
              <a:rPr lang="en-ZA" dirty="0"/>
              <a:t>Suppose you win lottery today worth P20 000 000.00 and you are given two alternative ways of getting your payment.</a:t>
            </a:r>
          </a:p>
          <a:p>
            <a:pPr marL="971550" lvl="1" indent="-514350">
              <a:buFont typeface="+mj-lt"/>
              <a:buAutoNum type="romanUcPeriod"/>
            </a:pPr>
            <a:r>
              <a:rPr lang="en-ZA" dirty="0"/>
              <a:t>You get the whole P10 000 000.00 today</a:t>
            </a:r>
          </a:p>
          <a:p>
            <a:pPr marL="971550" lvl="1" indent="-514350">
              <a:buFont typeface="+mj-lt"/>
              <a:buAutoNum type="romanUcPeriod"/>
            </a:pPr>
            <a:r>
              <a:rPr lang="en-ZA" dirty="0"/>
              <a:t>You get P2 000 000.00 a year for ten years (P20 000 000.00)</a:t>
            </a:r>
          </a:p>
          <a:p>
            <a:r>
              <a:rPr lang="en-ZA" dirty="0"/>
              <a:t>Which payment method will you prefer?</a:t>
            </a:r>
          </a:p>
          <a:p>
            <a:r>
              <a:rPr lang="en-ZA" dirty="0"/>
              <a:t>Why do you prefer your selected method?</a:t>
            </a:r>
          </a:p>
        </p:txBody>
      </p:sp>
      <p:sp>
        <p:nvSpPr>
          <p:cNvPr id="4" name="Date Placeholder 3"/>
          <p:cNvSpPr>
            <a:spLocks noGrp="1"/>
          </p:cNvSpPr>
          <p:nvPr>
            <p:ph type="dt" sz="half" idx="10"/>
          </p:nvPr>
        </p:nvSpPr>
        <p:spPr/>
        <p:txBody>
          <a:bodyPr/>
          <a:lstStyle/>
          <a:p>
            <a:fld id="{B8AF8F54-F7BF-48FE-9372-D52C7EF57ECA}"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9</a:t>
            </a:fld>
            <a:endParaRPr lang="en-ZA"/>
          </a:p>
        </p:txBody>
      </p:sp>
    </p:spTree>
    <p:extLst>
      <p:ext uri="{BB962C8B-B14F-4D97-AF65-F5344CB8AC3E}">
        <p14:creationId xmlns:p14="http://schemas.microsoft.com/office/powerpoint/2010/main" val="97199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Interest Rate</a:t>
            </a:r>
          </a:p>
        </p:txBody>
      </p:sp>
      <p:sp>
        <p:nvSpPr>
          <p:cNvPr id="3" name="Content Placeholder 2"/>
          <p:cNvSpPr>
            <a:spLocks noGrp="1"/>
          </p:cNvSpPr>
          <p:nvPr>
            <p:ph idx="1"/>
          </p:nvPr>
        </p:nvSpPr>
        <p:spPr>
          <a:xfrm>
            <a:off x="1295401" y="2556932"/>
            <a:ext cx="9601196" cy="3691468"/>
          </a:xfrm>
        </p:spPr>
        <p:txBody>
          <a:bodyPr>
            <a:normAutofit fontScale="77500" lnSpcReduction="20000"/>
          </a:bodyPr>
          <a:lstStyle/>
          <a:p>
            <a:r>
              <a:rPr lang="en-ZA" dirty="0"/>
              <a:t>Many types of transactions involve interest.</a:t>
            </a:r>
          </a:p>
          <a:p>
            <a:r>
              <a:rPr lang="en-ZA" dirty="0"/>
              <a:t>All these elements involve some common terminologies</a:t>
            </a:r>
          </a:p>
          <a:p>
            <a:r>
              <a:rPr lang="en-ZA" b="1" dirty="0">
                <a:solidFill>
                  <a:srgbClr val="FF0000"/>
                </a:solidFill>
              </a:rPr>
              <a:t>Principal:</a:t>
            </a:r>
            <a:r>
              <a:rPr lang="en-ZA" dirty="0">
                <a:solidFill>
                  <a:schemeClr val="tx1"/>
                </a:solidFill>
              </a:rPr>
              <a:t> The initial amount of money in a time-transaction, investment or debt (P). This is the present value (PV) or present worth (PW)</a:t>
            </a:r>
          </a:p>
          <a:p>
            <a:r>
              <a:rPr lang="en-ZA" b="1" dirty="0">
                <a:solidFill>
                  <a:srgbClr val="FF0000"/>
                </a:solidFill>
              </a:rPr>
              <a:t>Interest rate</a:t>
            </a:r>
            <a:r>
              <a:rPr lang="en-ZA" dirty="0">
                <a:solidFill>
                  <a:schemeClr val="tx1"/>
                </a:solidFill>
              </a:rPr>
              <a:t> per period; which measures the opportunity cost of money, or price of holding, investing or borrowing money (</a:t>
            </a:r>
            <a:r>
              <a:rPr lang="en-ZA" dirty="0" err="1">
                <a:solidFill>
                  <a:schemeClr val="tx1"/>
                </a:solidFill>
              </a:rPr>
              <a:t>i</a:t>
            </a:r>
            <a:r>
              <a:rPr lang="en-ZA" dirty="0">
                <a:solidFill>
                  <a:schemeClr val="tx1"/>
                </a:solidFill>
              </a:rPr>
              <a:t>). This impacts the value of money at different times.</a:t>
            </a:r>
          </a:p>
          <a:p>
            <a:r>
              <a:rPr lang="en-ZA" b="1" dirty="0">
                <a:solidFill>
                  <a:srgbClr val="FF0000"/>
                </a:solidFill>
              </a:rPr>
              <a:t>Interest period</a:t>
            </a:r>
            <a:r>
              <a:rPr lang="en-ZA" dirty="0">
                <a:solidFill>
                  <a:schemeClr val="tx1"/>
                </a:solidFill>
              </a:rPr>
              <a:t> which determines how frequently the interest is calculated (n) and (N) which shows the total number of interest periods)</a:t>
            </a:r>
          </a:p>
          <a:p>
            <a:r>
              <a:rPr lang="en-ZA" b="1" dirty="0">
                <a:solidFill>
                  <a:srgbClr val="FF0000"/>
                </a:solidFill>
              </a:rPr>
              <a:t>Future Value</a:t>
            </a:r>
            <a:r>
              <a:rPr lang="en-ZA" dirty="0">
                <a:solidFill>
                  <a:schemeClr val="tx1"/>
                </a:solidFill>
              </a:rPr>
              <a:t>; future sum of money at the end of the analysis period (FV or FW)</a:t>
            </a:r>
          </a:p>
          <a:p>
            <a:r>
              <a:rPr lang="en-ZA" b="1" dirty="0">
                <a:solidFill>
                  <a:srgbClr val="FF0000"/>
                </a:solidFill>
              </a:rPr>
              <a:t>End of Period Payment/Receipt</a:t>
            </a:r>
            <a:r>
              <a:rPr lang="en-ZA" dirty="0">
                <a:solidFill>
                  <a:schemeClr val="tx1"/>
                </a:solidFill>
              </a:rPr>
              <a:t>; which is a discrete payment or receipt at the end of some interest period (A</a:t>
            </a:r>
            <a:r>
              <a:rPr lang="en-ZA" sz="1700" dirty="0">
                <a:solidFill>
                  <a:schemeClr val="tx1"/>
                </a:solidFill>
              </a:rPr>
              <a:t>n</a:t>
            </a:r>
            <a:r>
              <a:rPr lang="en-ZA" dirty="0">
                <a:solidFill>
                  <a:schemeClr val="tx1"/>
                </a:solidFill>
              </a:rPr>
              <a:t>)  </a:t>
            </a:r>
          </a:p>
          <a:p>
            <a:endParaRPr lang="en-ZA" b="1" dirty="0">
              <a:solidFill>
                <a:srgbClr val="FF0000"/>
              </a:solidFill>
            </a:endParaRPr>
          </a:p>
        </p:txBody>
      </p:sp>
      <p:sp>
        <p:nvSpPr>
          <p:cNvPr id="4" name="Date Placeholder 3"/>
          <p:cNvSpPr>
            <a:spLocks noGrp="1"/>
          </p:cNvSpPr>
          <p:nvPr>
            <p:ph type="dt" sz="half" idx="10"/>
          </p:nvPr>
        </p:nvSpPr>
        <p:spPr/>
        <p:txBody>
          <a:bodyPr/>
          <a:lstStyle/>
          <a:p>
            <a:fld id="{CEEF9174-E320-4577-A78D-BFC0CFCA6577}"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10</a:t>
            </a:fld>
            <a:endParaRPr lang="en-ZA"/>
          </a:p>
        </p:txBody>
      </p:sp>
    </p:spTree>
    <p:extLst>
      <p:ext uri="{BB962C8B-B14F-4D97-AF65-F5344CB8AC3E}">
        <p14:creationId xmlns:p14="http://schemas.microsoft.com/office/powerpoint/2010/main" val="43154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Simple Interest</a:t>
            </a:r>
          </a:p>
        </p:txBody>
      </p:sp>
      <p:sp>
        <p:nvSpPr>
          <p:cNvPr id="3" name="Content Placeholder 2"/>
          <p:cNvSpPr>
            <a:spLocks noGrp="1"/>
          </p:cNvSpPr>
          <p:nvPr>
            <p:ph idx="1"/>
          </p:nvPr>
        </p:nvSpPr>
        <p:spPr/>
        <p:txBody>
          <a:bodyPr/>
          <a:lstStyle/>
          <a:p>
            <a:r>
              <a:rPr lang="en-ZA" dirty="0"/>
              <a:t>Is the interest that is computed only on the original sum, not on accrued interest.</a:t>
            </a:r>
          </a:p>
          <a:p>
            <a:r>
              <a:rPr lang="en-ZA" dirty="0"/>
              <a:t>Total interest earned is:</a:t>
            </a:r>
          </a:p>
          <a:p>
            <a:pPr lvl="1"/>
            <a:endParaRPr lang="en-ZA" dirty="0"/>
          </a:p>
          <a:p>
            <a:r>
              <a:rPr lang="en-ZA" dirty="0"/>
              <a:t>At the end of ‘n’ years the amount of money (F) is calculated as:</a:t>
            </a:r>
          </a:p>
          <a:p>
            <a:pPr lvl="1"/>
            <a:endParaRPr lang="en-ZA" dirty="0"/>
          </a:p>
        </p:txBody>
      </p:sp>
      <p:sp>
        <p:nvSpPr>
          <p:cNvPr id="4" name="Date Placeholder 3"/>
          <p:cNvSpPr>
            <a:spLocks noGrp="1"/>
          </p:cNvSpPr>
          <p:nvPr>
            <p:ph type="dt" sz="half" idx="10"/>
          </p:nvPr>
        </p:nvSpPr>
        <p:spPr/>
        <p:txBody>
          <a:bodyPr/>
          <a:lstStyle/>
          <a:p>
            <a:fld id="{9B326865-74CF-40A1-ABB5-D2F114DFE3CB}"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11</a:t>
            </a:fld>
            <a:endParaRPr lang="en-ZA"/>
          </a:p>
        </p:txBody>
      </p:sp>
      <p:graphicFrame>
        <p:nvGraphicFramePr>
          <p:cNvPr id="7" name="Object 6"/>
          <p:cNvGraphicFramePr>
            <a:graphicFrameLocks noChangeAspect="1"/>
          </p:cNvGraphicFramePr>
          <p:nvPr>
            <p:extLst>
              <p:ext uri="{D42A27DB-BD31-4B8C-83A1-F6EECF244321}">
                <p14:modId xmlns:p14="http://schemas.microsoft.com/office/powerpoint/2010/main" val="2941105088"/>
              </p:ext>
            </p:extLst>
          </p:nvPr>
        </p:nvGraphicFramePr>
        <p:xfrm>
          <a:off x="2770094" y="3799946"/>
          <a:ext cx="4208556" cy="497947"/>
        </p:xfrm>
        <a:graphic>
          <a:graphicData uri="http://schemas.openxmlformats.org/presentationml/2006/ole">
            <mc:AlternateContent xmlns:mc="http://schemas.openxmlformats.org/markup-compatibility/2006">
              <mc:Choice xmlns:v="urn:schemas-microsoft-com:vml" Requires="v">
                <p:oleObj name="Equation" r:id="rId2" imgW="1765080" imgH="203040" progId="Equation.3">
                  <p:embed/>
                </p:oleObj>
              </mc:Choice>
              <mc:Fallback>
                <p:oleObj name="Equation" r:id="rId2" imgW="1765080" imgH="203040" progId="Equation.3">
                  <p:embed/>
                  <p:pic>
                    <p:nvPicPr>
                      <p:cNvPr id="7" name="Object 6"/>
                      <p:cNvPicPr/>
                      <p:nvPr/>
                    </p:nvPicPr>
                    <p:blipFill>
                      <a:blip r:embed="rId3"/>
                      <a:stretch>
                        <a:fillRect/>
                      </a:stretch>
                    </p:blipFill>
                    <p:spPr>
                      <a:xfrm>
                        <a:off x="2770094" y="3799946"/>
                        <a:ext cx="4208556" cy="497947"/>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509164863"/>
              </p:ext>
            </p:extLst>
          </p:nvPr>
        </p:nvGraphicFramePr>
        <p:xfrm>
          <a:off x="2164976" y="5242778"/>
          <a:ext cx="4297083" cy="399729"/>
        </p:xfrm>
        <a:graphic>
          <a:graphicData uri="http://schemas.openxmlformats.org/presentationml/2006/ole">
            <mc:AlternateContent xmlns:mc="http://schemas.openxmlformats.org/markup-compatibility/2006">
              <mc:Choice xmlns:v="urn:schemas-microsoft-com:vml" Requires="v">
                <p:oleObj name="Equation" r:id="rId4" imgW="2184120" imgH="203040" progId="Equation.3">
                  <p:embed/>
                </p:oleObj>
              </mc:Choice>
              <mc:Fallback>
                <p:oleObj name="Equation" r:id="rId4" imgW="2184120" imgH="203040" progId="Equation.3">
                  <p:embed/>
                  <p:pic>
                    <p:nvPicPr>
                      <p:cNvPr id="8" name="Object 7"/>
                      <p:cNvPicPr/>
                      <p:nvPr/>
                    </p:nvPicPr>
                    <p:blipFill>
                      <a:blip r:embed="rId5"/>
                      <a:stretch>
                        <a:fillRect/>
                      </a:stretch>
                    </p:blipFill>
                    <p:spPr>
                      <a:xfrm>
                        <a:off x="2164976" y="5242778"/>
                        <a:ext cx="4297083" cy="399729"/>
                      </a:xfrm>
                      <a:prstGeom prst="rect">
                        <a:avLst/>
                      </a:prstGeom>
                    </p:spPr>
                  </p:pic>
                </p:oleObj>
              </mc:Fallback>
            </mc:AlternateContent>
          </a:graphicData>
        </a:graphic>
      </p:graphicFrame>
    </p:spTree>
    <p:extLst>
      <p:ext uri="{BB962C8B-B14F-4D97-AF65-F5344CB8AC3E}">
        <p14:creationId xmlns:p14="http://schemas.microsoft.com/office/powerpoint/2010/main" val="341240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Simple Interest</a:t>
            </a:r>
          </a:p>
        </p:txBody>
      </p:sp>
      <p:sp>
        <p:nvSpPr>
          <p:cNvPr id="3" name="Content Placeholder 2"/>
          <p:cNvSpPr>
            <a:spLocks noGrp="1"/>
          </p:cNvSpPr>
          <p:nvPr>
            <p:ph idx="1"/>
          </p:nvPr>
        </p:nvSpPr>
        <p:spPr>
          <a:xfrm>
            <a:off x="2209801" y="2904565"/>
            <a:ext cx="9601196" cy="13897772"/>
          </a:xfrm>
        </p:spPr>
        <p:txBody>
          <a:bodyPr/>
          <a:lstStyle/>
          <a:p>
            <a:r>
              <a:rPr lang="en-ZA" dirty="0"/>
              <a:t>To formalise Simple Interest calculations:</a:t>
            </a:r>
          </a:p>
          <a:p>
            <a:endParaRPr lang="en-ZA" dirty="0"/>
          </a:p>
        </p:txBody>
      </p:sp>
      <p:sp>
        <p:nvSpPr>
          <p:cNvPr id="4" name="Date Placeholder 3"/>
          <p:cNvSpPr>
            <a:spLocks noGrp="1"/>
          </p:cNvSpPr>
          <p:nvPr>
            <p:ph type="dt" sz="half" idx="10"/>
          </p:nvPr>
        </p:nvSpPr>
        <p:spPr/>
        <p:txBody>
          <a:bodyPr/>
          <a:lstStyle/>
          <a:p>
            <a:fld id="{C44C4845-272D-4C37-8FAD-6BF74D745116}"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12</a:t>
            </a:fld>
            <a:endParaRPr lang="en-ZA"/>
          </a:p>
        </p:txBody>
      </p:sp>
      <p:sp>
        <p:nvSpPr>
          <p:cNvPr id="6" name="Rectangle 2"/>
          <p:cNvSpPr>
            <a:spLocks noChangeArrowheads="1"/>
          </p:cNvSpPr>
          <p:nvPr/>
        </p:nvSpPr>
        <p:spPr bwMode="auto">
          <a:xfrm>
            <a:off x="914400" y="138504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graphicFrame>
        <p:nvGraphicFramePr>
          <p:cNvPr id="7" name="Object 6"/>
          <p:cNvGraphicFramePr>
            <a:graphicFrameLocks noChangeAspect="1"/>
          </p:cNvGraphicFramePr>
          <p:nvPr>
            <p:extLst>
              <p:ext uri="{D42A27DB-BD31-4B8C-83A1-F6EECF244321}">
                <p14:modId xmlns:p14="http://schemas.microsoft.com/office/powerpoint/2010/main" val="3404792456"/>
              </p:ext>
            </p:extLst>
          </p:nvPr>
        </p:nvGraphicFramePr>
        <p:xfrm>
          <a:off x="1900238" y="3590925"/>
          <a:ext cx="7351338" cy="2378075"/>
        </p:xfrm>
        <a:graphic>
          <a:graphicData uri="http://schemas.openxmlformats.org/presentationml/2006/ole">
            <mc:AlternateContent xmlns:mc="http://schemas.openxmlformats.org/markup-compatibility/2006">
              <mc:Choice xmlns:v="urn:schemas-microsoft-com:vml" Requires="v">
                <p:oleObj name="Equation" r:id="rId2" imgW="4533840" imgH="1346040" progId="Equation.3">
                  <p:embed/>
                </p:oleObj>
              </mc:Choice>
              <mc:Fallback>
                <p:oleObj name="Equation" r:id="rId2" imgW="4533840" imgH="1346040" progId="Equation.3">
                  <p:embed/>
                  <p:pic>
                    <p:nvPicPr>
                      <p:cNvPr id="7" name="Object 6"/>
                      <p:cNvPicPr>
                        <a:picLocks noChangeAspect="1" noChangeArrowheads="1"/>
                      </p:cNvPicPr>
                      <p:nvPr/>
                    </p:nvPicPr>
                    <p:blipFill>
                      <a:blip r:embed="rId3"/>
                      <a:srcRect/>
                      <a:stretch>
                        <a:fillRect/>
                      </a:stretch>
                    </p:blipFill>
                    <p:spPr bwMode="auto">
                      <a:xfrm>
                        <a:off x="1900238" y="3590925"/>
                        <a:ext cx="7351338" cy="2378075"/>
                      </a:xfrm>
                      <a:prstGeom prst="rect">
                        <a:avLst/>
                      </a:prstGeom>
                      <a:noFill/>
                    </p:spPr>
                  </p:pic>
                </p:oleObj>
              </mc:Fallback>
            </mc:AlternateContent>
          </a:graphicData>
        </a:graphic>
      </p:graphicFrame>
    </p:spTree>
    <p:extLst>
      <p:ext uri="{BB962C8B-B14F-4D97-AF65-F5344CB8AC3E}">
        <p14:creationId xmlns:p14="http://schemas.microsoft.com/office/powerpoint/2010/main" val="242270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Example 1</a:t>
            </a:r>
          </a:p>
        </p:txBody>
      </p:sp>
      <p:sp>
        <p:nvSpPr>
          <p:cNvPr id="3" name="Content Placeholder 2"/>
          <p:cNvSpPr>
            <a:spLocks noGrp="1"/>
          </p:cNvSpPr>
          <p:nvPr>
            <p:ph idx="1"/>
          </p:nvPr>
        </p:nvSpPr>
        <p:spPr/>
        <p:txBody>
          <a:bodyPr/>
          <a:lstStyle/>
          <a:p>
            <a:r>
              <a:rPr lang="en-ZA" i="1" dirty="0"/>
              <a:t>Suppose that P50 000.00 is borrowed at a simple interest rate of 8% per year. The amount after two years is:</a:t>
            </a:r>
          </a:p>
          <a:p>
            <a:endParaRPr lang="en-ZA" i="1" dirty="0"/>
          </a:p>
          <a:p>
            <a:endParaRPr lang="en-ZA" i="1" dirty="0"/>
          </a:p>
          <a:p>
            <a:endParaRPr lang="en-ZA" dirty="0"/>
          </a:p>
        </p:txBody>
      </p:sp>
      <p:sp>
        <p:nvSpPr>
          <p:cNvPr id="4" name="Date Placeholder 3"/>
          <p:cNvSpPr>
            <a:spLocks noGrp="1"/>
          </p:cNvSpPr>
          <p:nvPr>
            <p:ph type="dt" sz="half" idx="10"/>
          </p:nvPr>
        </p:nvSpPr>
        <p:spPr/>
        <p:txBody>
          <a:bodyPr/>
          <a:lstStyle/>
          <a:p>
            <a:fld id="{B8646852-D773-4AE9-8285-E885EEADCBDF}"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13</a:t>
            </a:fld>
            <a:endParaRPr lang="en-ZA"/>
          </a:p>
        </p:txBody>
      </p:sp>
      <p:graphicFrame>
        <p:nvGraphicFramePr>
          <p:cNvPr id="7" name="Object 6"/>
          <p:cNvGraphicFramePr>
            <a:graphicFrameLocks noChangeAspect="1"/>
          </p:cNvGraphicFramePr>
          <p:nvPr>
            <p:extLst>
              <p:ext uri="{D42A27DB-BD31-4B8C-83A1-F6EECF244321}">
                <p14:modId xmlns:p14="http://schemas.microsoft.com/office/powerpoint/2010/main" val="2065816753"/>
              </p:ext>
            </p:extLst>
          </p:nvPr>
        </p:nvGraphicFramePr>
        <p:xfrm>
          <a:off x="1295400" y="3643313"/>
          <a:ext cx="7123113" cy="1184275"/>
        </p:xfrm>
        <a:graphic>
          <a:graphicData uri="http://schemas.openxmlformats.org/presentationml/2006/ole">
            <mc:AlternateContent xmlns:mc="http://schemas.openxmlformats.org/markup-compatibility/2006">
              <mc:Choice xmlns:v="urn:schemas-microsoft-com:vml" Requires="v">
                <p:oleObj name="Equation" r:id="rId2" imgW="2108160" imgH="431640" progId="Equation.3">
                  <p:embed/>
                </p:oleObj>
              </mc:Choice>
              <mc:Fallback>
                <p:oleObj name="Equation" r:id="rId2" imgW="2108160" imgH="431640" progId="Equation.3">
                  <p:embed/>
                  <p:pic>
                    <p:nvPicPr>
                      <p:cNvPr id="7" name="Object 6"/>
                      <p:cNvPicPr/>
                      <p:nvPr/>
                    </p:nvPicPr>
                    <p:blipFill>
                      <a:blip r:embed="rId3"/>
                      <a:stretch>
                        <a:fillRect/>
                      </a:stretch>
                    </p:blipFill>
                    <p:spPr>
                      <a:xfrm>
                        <a:off x="1295400" y="3643313"/>
                        <a:ext cx="7123113" cy="1184275"/>
                      </a:xfrm>
                      <a:prstGeom prst="rect">
                        <a:avLst/>
                      </a:prstGeom>
                    </p:spPr>
                  </p:pic>
                </p:oleObj>
              </mc:Fallback>
            </mc:AlternateContent>
          </a:graphicData>
        </a:graphic>
      </p:graphicFrame>
    </p:spTree>
    <p:extLst>
      <p:ext uri="{BB962C8B-B14F-4D97-AF65-F5344CB8AC3E}">
        <p14:creationId xmlns:p14="http://schemas.microsoft.com/office/powerpoint/2010/main" val="357531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Simple Interest</a:t>
            </a:r>
          </a:p>
        </p:txBody>
      </p:sp>
      <p:sp>
        <p:nvSpPr>
          <p:cNvPr id="3" name="Content Placeholder 2"/>
          <p:cNvSpPr>
            <a:spLocks noGrp="1"/>
          </p:cNvSpPr>
          <p:nvPr>
            <p:ph idx="1"/>
          </p:nvPr>
        </p:nvSpPr>
        <p:spPr/>
        <p:txBody>
          <a:bodyPr/>
          <a:lstStyle/>
          <a:p>
            <a:r>
              <a:rPr lang="en-ZA" dirty="0"/>
              <a:t>Exercise</a:t>
            </a:r>
          </a:p>
          <a:p>
            <a:r>
              <a:rPr lang="en-ZA" dirty="0"/>
              <a:t>You have agreed to loan a friend P10000.00 for 5 years at a simple interest rate of 10% per year.</a:t>
            </a:r>
          </a:p>
          <a:p>
            <a:pPr lvl="1"/>
            <a:r>
              <a:rPr lang="en-ZA" dirty="0"/>
              <a:t>How much interest do you receive from the loan?</a:t>
            </a:r>
          </a:p>
          <a:p>
            <a:pPr lvl="1"/>
            <a:r>
              <a:rPr lang="en-ZA" dirty="0"/>
              <a:t>How much will your friend pay you at the end of the 5 years? </a:t>
            </a:r>
          </a:p>
        </p:txBody>
      </p:sp>
      <p:sp>
        <p:nvSpPr>
          <p:cNvPr id="4" name="Date Placeholder 3"/>
          <p:cNvSpPr>
            <a:spLocks noGrp="1"/>
          </p:cNvSpPr>
          <p:nvPr>
            <p:ph type="dt" sz="half" idx="10"/>
          </p:nvPr>
        </p:nvSpPr>
        <p:spPr/>
        <p:txBody>
          <a:bodyPr/>
          <a:lstStyle/>
          <a:p>
            <a:fld id="{708F904C-3EE1-46AB-B8C7-80CD037FA88A}"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14</a:t>
            </a:fld>
            <a:endParaRPr lang="en-ZA"/>
          </a:p>
        </p:txBody>
      </p:sp>
    </p:spTree>
    <p:extLst>
      <p:ext uri="{BB962C8B-B14F-4D97-AF65-F5344CB8AC3E}">
        <p14:creationId xmlns:p14="http://schemas.microsoft.com/office/powerpoint/2010/main" val="748318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Compound Interest </a:t>
            </a:r>
          </a:p>
        </p:txBody>
      </p:sp>
      <p:sp>
        <p:nvSpPr>
          <p:cNvPr id="3" name="Content Placeholder 2"/>
          <p:cNvSpPr>
            <a:spLocks noGrp="1"/>
          </p:cNvSpPr>
          <p:nvPr>
            <p:ph idx="1"/>
          </p:nvPr>
        </p:nvSpPr>
        <p:spPr/>
        <p:txBody>
          <a:bodyPr/>
          <a:lstStyle/>
          <a:p>
            <a:r>
              <a:rPr lang="en-ZA" dirty="0"/>
              <a:t>In most daily financial transactions interest is computed on Compound Basis.</a:t>
            </a:r>
          </a:p>
          <a:p>
            <a:r>
              <a:rPr lang="en-ZA" dirty="0"/>
              <a:t>This implies that the interest in one period is added to the original amount and the new interest is now worked on the sum of the principal and the interest. </a:t>
            </a:r>
          </a:p>
        </p:txBody>
      </p:sp>
      <p:sp>
        <p:nvSpPr>
          <p:cNvPr id="4" name="Date Placeholder 3"/>
          <p:cNvSpPr>
            <a:spLocks noGrp="1"/>
          </p:cNvSpPr>
          <p:nvPr>
            <p:ph type="dt" sz="half" idx="10"/>
          </p:nvPr>
        </p:nvSpPr>
        <p:spPr/>
        <p:txBody>
          <a:bodyPr/>
          <a:lstStyle/>
          <a:p>
            <a:fld id="{6F3423A4-26C8-4A61-A943-2E26628ED4D5}"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15</a:t>
            </a:fld>
            <a:endParaRPr lang="en-ZA"/>
          </a:p>
        </p:txBody>
      </p:sp>
    </p:spTree>
    <p:extLst>
      <p:ext uri="{BB962C8B-B14F-4D97-AF65-F5344CB8AC3E}">
        <p14:creationId xmlns:p14="http://schemas.microsoft.com/office/powerpoint/2010/main" val="1921300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Compound Interest</a:t>
            </a:r>
          </a:p>
        </p:txBody>
      </p:sp>
      <p:sp>
        <p:nvSpPr>
          <p:cNvPr id="3" name="Content Placeholder 2"/>
          <p:cNvSpPr>
            <a:spLocks noGrp="1"/>
          </p:cNvSpPr>
          <p:nvPr>
            <p:ph idx="1"/>
          </p:nvPr>
        </p:nvSpPr>
        <p:spPr>
          <a:xfrm>
            <a:off x="1295400" y="9154959"/>
            <a:ext cx="18087917" cy="5259299"/>
          </a:xfrm>
        </p:spPr>
        <p:txBody>
          <a:bodyPr/>
          <a:lstStyle/>
          <a:p>
            <a:r>
              <a:rPr lang="en-ZA" dirty="0"/>
              <a:t>See the computation of Compound interest</a:t>
            </a:r>
          </a:p>
          <a:p>
            <a:endParaRPr lang="en-ZA" dirty="0"/>
          </a:p>
        </p:txBody>
      </p:sp>
      <p:sp>
        <p:nvSpPr>
          <p:cNvPr id="4" name="Date Placeholder 3"/>
          <p:cNvSpPr>
            <a:spLocks noGrp="1"/>
          </p:cNvSpPr>
          <p:nvPr>
            <p:ph type="dt" sz="half" idx="10"/>
          </p:nvPr>
        </p:nvSpPr>
        <p:spPr/>
        <p:txBody>
          <a:bodyPr/>
          <a:lstStyle/>
          <a:p>
            <a:fld id="{BAEA38D8-8892-4138-B8E6-F6AC18B6EC92}"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16</a:t>
            </a:fld>
            <a:endParaRPr lang="en-ZA"/>
          </a:p>
        </p:txBody>
      </p:sp>
      <p:sp>
        <p:nvSpPr>
          <p:cNvPr id="6" name="Rectangle 2"/>
          <p:cNvSpPr>
            <a:spLocks noChangeArrowheads="1"/>
          </p:cNvSpPr>
          <p:nvPr/>
        </p:nvSpPr>
        <p:spPr bwMode="auto">
          <a:xfrm>
            <a:off x="-1" y="0"/>
            <a:ext cx="2296879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ZA"/>
          </a:p>
        </p:txBody>
      </p:sp>
      <p:graphicFrame>
        <p:nvGraphicFramePr>
          <p:cNvPr id="7" name="Object 6"/>
          <p:cNvGraphicFramePr>
            <a:graphicFrameLocks noChangeAspect="1"/>
          </p:cNvGraphicFramePr>
          <p:nvPr>
            <p:extLst>
              <p:ext uri="{D42A27DB-BD31-4B8C-83A1-F6EECF244321}">
                <p14:modId xmlns:p14="http://schemas.microsoft.com/office/powerpoint/2010/main" val="3027666655"/>
              </p:ext>
            </p:extLst>
          </p:nvPr>
        </p:nvGraphicFramePr>
        <p:xfrm>
          <a:off x="1155700" y="3076142"/>
          <a:ext cx="8753475" cy="2397125"/>
        </p:xfrm>
        <a:graphic>
          <a:graphicData uri="http://schemas.openxmlformats.org/presentationml/2006/ole">
            <mc:AlternateContent xmlns:mc="http://schemas.openxmlformats.org/markup-compatibility/2006">
              <mc:Choice xmlns:v="urn:schemas-microsoft-com:vml" Requires="v">
                <p:oleObj name="Equation" r:id="rId2" imgW="4978080" imgH="1396800" progId="Equation.3">
                  <p:embed/>
                </p:oleObj>
              </mc:Choice>
              <mc:Fallback>
                <p:oleObj name="Equation" r:id="rId2" imgW="4978080" imgH="1396800" progId="Equation.3">
                  <p:embed/>
                  <p:pic>
                    <p:nvPicPr>
                      <p:cNvPr id="7" name="Object 6"/>
                      <p:cNvPicPr>
                        <a:picLocks noChangeAspect="1" noChangeArrowheads="1"/>
                      </p:cNvPicPr>
                      <p:nvPr/>
                    </p:nvPicPr>
                    <p:blipFill>
                      <a:blip r:embed="rId3"/>
                      <a:srcRect/>
                      <a:stretch>
                        <a:fillRect/>
                      </a:stretch>
                    </p:blipFill>
                    <p:spPr bwMode="auto">
                      <a:xfrm>
                        <a:off x="1155700" y="3076142"/>
                        <a:ext cx="8753475" cy="2397125"/>
                      </a:xfrm>
                      <a:prstGeom prst="rect">
                        <a:avLst/>
                      </a:prstGeom>
                      <a:noFill/>
                    </p:spPr>
                  </p:pic>
                </p:oleObj>
              </mc:Fallback>
            </mc:AlternateContent>
          </a:graphicData>
        </a:graphic>
      </p:graphicFrame>
      <p:sp>
        <p:nvSpPr>
          <p:cNvPr id="8" name="Rectangle 3"/>
          <p:cNvSpPr>
            <a:spLocks noChangeArrowheads="1"/>
          </p:cNvSpPr>
          <p:nvPr/>
        </p:nvSpPr>
        <p:spPr bwMode="auto">
          <a:xfrm>
            <a:off x="255493" y="2009000"/>
            <a:ext cx="2296879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ZA" altLang="en-US" sz="1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ZA"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7888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Example 2</a:t>
            </a:r>
          </a:p>
        </p:txBody>
      </p:sp>
      <p:sp>
        <p:nvSpPr>
          <p:cNvPr id="3" name="Content Placeholder 2"/>
          <p:cNvSpPr>
            <a:spLocks noGrp="1"/>
          </p:cNvSpPr>
          <p:nvPr>
            <p:ph idx="1"/>
          </p:nvPr>
        </p:nvSpPr>
        <p:spPr/>
        <p:txBody>
          <a:bodyPr/>
          <a:lstStyle/>
          <a:p>
            <a:r>
              <a:rPr lang="en-ZA" dirty="0"/>
              <a:t>Using example 1, </a:t>
            </a:r>
            <a:r>
              <a:rPr lang="en-ZA" dirty="0" err="1"/>
              <a:t>i</a:t>
            </a:r>
            <a:r>
              <a:rPr lang="en-ZA" dirty="0"/>
              <a:t>=8%, P=50000 and N=2. Try the class exercise using compound </a:t>
            </a:r>
            <a:r>
              <a:rPr lang="en-ZA"/>
              <a:t>interest formula</a:t>
            </a:r>
            <a:endParaRPr lang="en-ZA" dirty="0"/>
          </a:p>
          <a:p>
            <a:endParaRPr lang="en-ZA" dirty="0"/>
          </a:p>
        </p:txBody>
      </p:sp>
      <p:sp>
        <p:nvSpPr>
          <p:cNvPr id="4" name="Date Placeholder 3"/>
          <p:cNvSpPr>
            <a:spLocks noGrp="1"/>
          </p:cNvSpPr>
          <p:nvPr>
            <p:ph type="dt" sz="half" idx="10"/>
          </p:nvPr>
        </p:nvSpPr>
        <p:spPr/>
        <p:txBody>
          <a:bodyPr/>
          <a:lstStyle/>
          <a:p>
            <a:fld id="{A0DF33C6-F4AD-485B-942A-E5FE095D2D2F}"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17</a:t>
            </a:fld>
            <a:endParaRPr lang="en-ZA"/>
          </a:p>
        </p:txBody>
      </p:sp>
      <p:sp>
        <p:nvSpPr>
          <p:cNvPr id="7"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ZA"/>
          </a:p>
        </p:txBody>
      </p:sp>
      <p:graphicFrame>
        <p:nvGraphicFramePr>
          <p:cNvPr id="8" name="Object 7"/>
          <p:cNvGraphicFramePr>
            <a:graphicFrameLocks noChangeAspect="1"/>
          </p:cNvGraphicFramePr>
          <p:nvPr>
            <p:extLst>
              <p:ext uri="{D42A27DB-BD31-4B8C-83A1-F6EECF244321}">
                <p14:modId xmlns:p14="http://schemas.microsoft.com/office/powerpoint/2010/main" val="1069752802"/>
              </p:ext>
            </p:extLst>
          </p:nvPr>
        </p:nvGraphicFramePr>
        <p:xfrm>
          <a:off x="1044575" y="3724275"/>
          <a:ext cx="6477000" cy="606425"/>
        </p:xfrm>
        <a:graphic>
          <a:graphicData uri="http://schemas.openxmlformats.org/presentationml/2006/ole">
            <mc:AlternateContent xmlns:mc="http://schemas.openxmlformats.org/markup-compatibility/2006">
              <mc:Choice xmlns:v="urn:schemas-microsoft-com:vml" Requires="v">
                <p:oleObj name="Equation" r:id="rId2" imgW="2044440" imgH="228600" progId="Equation.3">
                  <p:embed/>
                </p:oleObj>
              </mc:Choice>
              <mc:Fallback>
                <p:oleObj name="Equation" r:id="rId2" imgW="2044440" imgH="228600" progId="Equation.3">
                  <p:embed/>
                  <p:pic>
                    <p:nvPicPr>
                      <p:cNvPr id="8" name="Object 7"/>
                      <p:cNvPicPr>
                        <a:picLocks noChangeAspect="1" noChangeArrowheads="1"/>
                      </p:cNvPicPr>
                      <p:nvPr/>
                    </p:nvPicPr>
                    <p:blipFill>
                      <a:blip r:embed="rId3"/>
                      <a:srcRect/>
                      <a:stretch>
                        <a:fillRect/>
                      </a:stretch>
                    </p:blipFill>
                    <p:spPr bwMode="auto">
                      <a:xfrm>
                        <a:off x="1044575" y="3724275"/>
                        <a:ext cx="6477000" cy="606425"/>
                      </a:xfrm>
                      <a:prstGeom prst="rect">
                        <a:avLst/>
                      </a:prstGeom>
                      <a:noFill/>
                    </p:spPr>
                  </p:pic>
                </p:oleObj>
              </mc:Fallback>
            </mc:AlternateContent>
          </a:graphicData>
        </a:graphic>
      </p:graphicFrame>
    </p:spTree>
    <p:extLst>
      <p:ext uri="{BB962C8B-B14F-4D97-AF65-F5344CB8AC3E}">
        <p14:creationId xmlns:p14="http://schemas.microsoft.com/office/powerpoint/2010/main" val="295891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Compound Interest</a:t>
            </a:r>
          </a:p>
        </p:txBody>
      </p:sp>
      <p:sp>
        <p:nvSpPr>
          <p:cNvPr id="3" name="Content Placeholder 2"/>
          <p:cNvSpPr>
            <a:spLocks noGrp="1"/>
          </p:cNvSpPr>
          <p:nvPr>
            <p:ph idx="1"/>
          </p:nvPr>
        </p:nvSpPr>
        <p:spPr/>
        <p:txBody>
          <a:bodyPr/>
          <a:lstStyle/>
          <a:p>
            <a:r>
              <a:rPr lang="en-ZA" dirty="0"/>
              <a:t>For a saving for any unwithdrawn amount, the interest is worked on the  amount and interest of the previous period.</a:t>
            </a:r>
          </a:p>
          <a:p>
            <a:r>
              <a:rPr lang="en-ZA" dirty="0"/>
              <a:t>For a loan, the interest is worked on the unpaid amount and interest that was not paid.</a:t>
            </a:r>
          </a:p>
          <a:p>
            <a:r>
              <a:rPr lang="en-ZA" dirty="0"/>
              <a:t>Therefore, compound interest is thought of as interest on-top of interest. </a:t>
            </a:r>
          </a:p>
          <a:p>
            <a:r>
              <a:rPr lang="en-ZA" dirty="0"/>
              <a:t>The difference between the two methods is P58000-P58320 = P320</a:t>
            </a:r>
          </a:p>
          <a:p>
            <a:r>
              <a:rPr lang="en-ZA" dirty="0"/>
              <a:t>The P320 is interest on-top of interest </a:t>
            </a:r>
          </a:p>
        </p:txBody>
      </p:sp>
      <p:sp>
        <p:nvSpPr>
          <p:cNvPr id="4" name="Date Placeholder 3"/>
          <p:cNvSpPr>
            <a:spLocks noGrp="1"/>
          </p:cNvSpPr>
          <p:nvPr>
            <p:ph type="dt" sz="half" idx="10"/>
          </p:nvPr>
        </p:nvSpPr>
        <p:spPr/>
        <p:txBody>
          <a:bodyPr/>
          <a:lstStyle/>
          <a:p>
            <a:fld id="{F1EA703F-795C-499C-8DC4-13BB483A1480}"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18</a:t>
            </a:fld>
            <a:endParaRPr lang="en-ZA"/>
          </a:p>
        </p:txBody>
      </p:sp>
    </p:spTree>
    <p:extLst>
      <p:ext uri="{BB962C8B-B14F-4D97-AF65-F5344CB8AC3E}">
        <p14:creationId xmlns:p14="http://schemas.microsoft.com/office/powerpoint/2010/main" val="2518772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Excel Format</a:t>
            </a:r>
          </a:p>
        </p:txBody>
      </p:sp>
      <p:sp>
        <p:nvSpPr>
          <p:cNvPr id="3" name="Content Placeholder 2"/>
          <p:cNvSpPr>
            <a:spLocks noGrp="1"/>
          </p:cNvSpPr>
          <p:nvPr>
            <p:ph idx="1"/>
          </p:nvPr>
        </p:nvSpPr>
        <p:spPr/>
        <p:txBody>
          <a:bodyPr/>
          <a:lstStyle/>
          <a:p>
            <a:r>
              <a:rPr lang="en-ZA" dirty="0"/>
              <a:t>The solution arrived at in the previous example can be done in excel</a:t>
            </a:r>
          </a:p>
          <a:p>
            <a:r>
              <a:rPr lang="en-ZA" dirty="0"/>
              <a:t>Put the information in excel</a:t>
            </a:r>
          </a:p>
          <a:p>
            <a:r>
              <a:rPr lang="en-ZA" dirty="0"/>
              <a:t>In one column write the initial amount and beneath it the interest rate</a:t>
            </a:r>
          </a:p>
          <a:p>
            <a:r>
              <a:rPr lang="en-ZA" dirty="0"/>
              <a:t>In another column write the period starting from 1 to the end</a:t>
            </a:r>
          </a:p>
          <a:p>
            <a:r>
              <a:rPr lang="en-ZA" dirty="0"/>
              <a:t>Do the initial computation as shown in the next slide and scroll downwards until you get to the end period (see next slide)</a:t>
            </a:r>
          </a:p>
        </p:txBody>
      </p:sp>
      <p:sp>
        <p:nvSpPr>
          <p:cNvPr id="4" name="Date Placeholder 3"/>
          <p:cNvSpPr>
            <a:spLocks noGrp="1"/>
          </p:cNvSpPr>
          <p:nvPr>
            <p:ph type="dt" sz="half" idx="10"/>
          </p:nvPr>
        </p:nvSpPr>
        <p:spPr/>
        <p:txBody>
          <a:bodyPr/>
          <a:lstStyle/>
          <a:p>
            <a:fld id="{5B1058DA-71A0-48AD-A6C9-FFD3B46BF272}"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19</a:t>
            </a:fld>
            <a:endParaRPr lang="en-ZA"/>
          </a:p>
        </p:txBody>
      </p:sp>
    </p:spTree>
    <p:extLst>
      <p:ext uri="{BB962C8B-B14F-4D97-AF65-F5344CB8AC3E}">
        <p14:creationId xmlns:p14="http://schemas.microsoft.com/office/powerpoint/2010/main" val="1606843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Text Placeholder 2"/>
          <p:cNvSpPr>
            <a:spLocks noGrp="1"/>
          </p:cNvSpPr>
          <p:nvPr>
            <p:ph type="body" idx="1"/>
          </p:nvPr>
        </p:nvSpPr>
        <p:spPr/>
        <p:txBody>
          <a:bodyPr/>
          <a:lstStyle/>
          <a:p>
            <a:r>
              <a:rPr lang="en-ZA" dirty="0"/>
              <a:t>Procedure</a:t>
            </a:r>
          </a:p>
        </p:txBody>
      </p:sp>
      <p:sp>
        <p:nvSpPr>
          <p:cNvPr id="5" name="Text Placeholder 4"/>
          <p:cNvSpPr>
            <a:spLocks noGrp="1"/>
          </p:cNvSpPr>
          <p:nvPr>
            <p:ph type="body" sz="quarter" idx="3"/>
          </p:nvPr>
        </p:nvSpPr>
        <p:spPr/>
        <p:txBody>
          <a:bodyPr/>
          <a:lstStyle/>
          <a:p>
            <a:r>
              <a:rPr lang="en-ZA" dirty="0"/>
              <a:t>Calculations</a:t>
            </a:r>
          </a:p>
        </p:txBody>
      </p:sp>
      <p:graphicFrame>
        <p:nvGraphicFramePr>
          <p:cNvPr id="12" name="Content Placeholder 11"/>
          <p:cNvGraphicFramePr>
            <a:graphicFrameLocks noGrp="1"/>
          </p:cNvGraphicFramePr>
          <p:nvPr>
            <p:ph sz="quarter" idx="4"/>
            <p:extLst>
              <p:ext uri="{D42A27DB-BD31-4B8C-83A1-F6EECF244321}">
                <p14:modId xmlns:p14="http://schemas.microsoft.com/office/powerpoint/2010/main" val="3144601221"/>
              </p:ext>
            </p:extLst>
          </p:nvPr>
        </p:nvGraphicFramePr>
        <p:xfrm>
          <a:off x="6336408" y="3374267"/>
          <a:ext cx="4803816" cy="2256368"/>
        </p:xfrm>
        <a:graphic>
          <a:graphicData uri="http://schemas.openxmlformats.org/drawingml/2006/table">
            <a:tbl>
              <a:tblPr>
                <a:tableStyleId>{5C22544A-7EE6-4342-B048-85BDC9FD1C3A}</a:tableStyleId>
              </a:tblPr>
              <a:tblGrid>
                <a:gridCol w="334848">
                  <a:extLst>
                    <a:ext uri="{9D8B030D-6E8A-4147-A177-3AD203B41FA5}">
                      <a16:colId xmlns:a16="http://schemas.microsoft.com/office/drawing/2014/main" val="20000"/>
                    </a:ext>
                  </a:extLst>
                </a:gridCol>
                <a:gridCol w="1974114">
                  <a:extLst>
                    <a:ext uri="{9D8B030D-6E8A-4147-A177-3AD203B41FA5}">
                      <a16:colId xmlns:a16="http://schemas.microsoft.com/office/drawing/2014/main" val="20001"/>
                    </a:ext>
                  </a:extLst>
                </a:gridCol>
                <a:gridCol w="704430">
                  <a:extLst>
                    <a:ext uri="{9D8B030D-6E8A-4147-A177-3AD203B41FA5}">
                      <a16:colId xmlns:a16="http://schemas.microsoft.com/office/drawing/2014/main" val="20002"/>
                    </a:ext>
                  </a:extLst>
                </a:gridCol>
                <a:gridCol w="360870">
                  <a:extLst>
                    <a:ext uri="{9D8B030D-6E8A-4147-A177-3AD203B41FA5}">
                      <a16:colId xmlns:a16="http://schemas.microsoft.com/office/drawing/2014/main" val="20003"/>
                    </a:ext>
                  </a:extLst>
                </a:gridCol>
                <a:gridCol w="360609">
                  <a:extLst>
                    <a:ext uri="{9D8B030D-6E8A-4147-A177-3AD203B41FA5}">
                      <a16:colId xmlns:a16="http://schemas.microsoft.com/office/drawing/2014/main" val="20004"/>
                    </a:ext>
                  </a:extLst>
                </a:gridCol>
                <a:gridCol w="1068945">
                  <a:extLst>
                    <a:ext uri="{9D8B030D-6E8A-4147-A177-3AD203B41FA5}">
                      <a16:colId xmlns:a16="http://schemas.microsoft.com/office/drawing/2014/main" val="20005"/>
                    </a:ext>
                  </a:extLst>
                </a:gridCol>
              </a:tblGrid>
              <a:tr h="261439">
                <a:tc>
                  <a:txBody>
                    <a:bodyPr/>
                    <a:lstStyle/>
                    <a:p>
                      <a:pPr algn="l" fontAlgn="b"/>
                      <a:r>
                        <a:rPr lang="en-ZA" sz="1600" b="0" i="0" u="none" strike="noStrike" dirty="0">
                          <a:solidFill>
                            <a:srgbClr val="000000"/>
                          </a:solidFill>
                          <a:effectLst/>
                          <a:latin typeface="Calibri" panose="020F0502020204030204" pitchFamily="34" charset="0"/>
                        </a:rPr>
                        <a:t> </a:t>
                      </a:r>
                    </a:p>
                  </a:txBody>
                  <a:tcPr marL="9525" marR="9525" marT="9525" marB="0" anchor="b"/>
                </a:tc>
                <a:tc>
                  <a:txBody>
                    <a:bodyPr/>
                    <a:lstStyle/>
                    <a:p>
                      <a:pPr algn="l" rtl="0" fontAlgn="b"/>
                      <a:r>
                        <a:rPr lang="en-ZA" sz="1600" b="1" i="0" u="none" strike="noStrike" dirty="0">
                          <a:solidFill>
                            <a:srgbClr val="000000"/>
                          </a:solidFill>
                          <a:effectLst/>
                          <a:latin typeface="Garamond" panose="02020404030301010803" pitchFamily="18" charset="0"/>
                        </a:rPr>
                        <a:t> A</a:t>
                      </a:r>
                    </a:p>
                  </a:txBody>
                  <a:tcPr marL="9525" marR="9525" marT="9525" marB="0" anchor="b"/>
                </a:tc>
                <a:tc>
                  <a:txBody>
                    <a:bodyPr/>
                    <a:lstStyle/>
                    <a:p>
                      <a:pPr algn="l" rtl="0" fontAlgn="b"/>
                      <a:r>
                        <a:rPr lang="en-ZA" sz="1600" b="1" i="0" u="none" strike="noStrike">
                          <a:solidFill>
                            <a:srgbClr val="000000"/>
                          </a:solidFill>
                          <a:effectLst/>
                          <a:latin typeface="Garamond" panose="02020404030301010803" pitchFamily="18" charset="0"/>
                        </a:rPr>
                        <a:t>B </a:t>
                      </a:r>
                    </a:p>
                  </a:txBody>
                  <a:tcPr marL="9525" marR="9525" marT="9525" marB="0" anchor="b"/>
                </a:tc>
                <a:tc>
                  <a:txBody>
                    <a:bodyPr/>
                    <a:lstStyle/>
                    <a:p>
                      <a:pPr algn="l" rtl="0" fontAlgn="b"/>
                      <a:r>
                        <a:rPr lang="en-ZA" sz="1600" b="1" i="0" u="none" strike="noStrike">
                          <a:solidFill>
                            <a:srgbClr val="000000"/>
                          </a:solidFill>
                          <a:effectLst/>
                          <a:latin typeface="Garamond" panose="02020404030301010803" pitchFamily="18" charset="0"/>
                        </a:rPr>
                        <a:t>C </a:t>
                      </a:r>
                    </a:p>
                  </a:txBody>
                  <a:tcPr marL="9525" marR="9525" marT="9525" marB="0" anchor="b"/>
                </a:tc>
                <a:tc>
                  <a:txBody>
                    <a:bodyPr/>
                    <a:lstStyle/>
                    <a:p>
                      <a:pPr algn="l" rtl="0" fontAlgn="b"/>
                      <a:r>
                        <a:rPr lang="en-ZA" sz="1600" b="1" i="0" u="none" strike="noStrike">
                          <a:solidFill>
                            <a:srgbClr val="000000"/>
                          </a:solidFill>
                          <a:effectLst/>
                          <a:latin typeface="Garamond" panose="02020404030301010803" pitchFamily="18" charset="0"/>
                        </a:rPr>
                        <a:t>D </a:t>
                      </a:r>
                    </a:p>
                  </a:txBody>
                  <a:tcPr marL="9525" marR="9525" marT="9525" marB="0" anchor="b"/>
                </a:tc>
                <a:tc>
                  <a:txBody>
                    <a:bodyPr/>
                    <a:lstStyle/>
                    <a:p>
                      <a:pPr algn="l" rtl="0" fontAlgn="b"/>
                      <a:r>
                        <a:rPr lang="en-ZA" sz="1600" b="1" i="0" u="none" strike="noStrike">
                          <a:solidFill>
                            <a:srgbClr val="000000"/>
                          </a:solidFill>
                          <a:effectLst/>
                          <a:latin typeface="Garamond" panose="02020404030301010803" pitchFamily="18" charset="0"/>
                        </a:rPr>
                        <a:t>E </a:t>
                      </a:r>
                    </a:p>
                  </a:txBody>
                  <a:tcPr marL="9525" marR="9525" marT="9525" marB="0" anchor="b"/>
                </a:tc>
                <a:extLst>
                  <a:ext uri="{0D108BD9-81ED-4DB2-BD59-A6C34878D82A}">
                    <a16:rowId xmlns:a16="http://schemas.microsoft.com/office/drawing/2014/main" val="10000"/>
                  </a:ext>
                </a:extLst>
              </a:tr>
              <a:tr h="261439">
                <a:tc>
                  <a:txBody>
                    <a:bodyPr/>
                    <a:lstStyle/>
                    <a:p>
                      <a:pPr algn="r" fontAlgn="b"/>
                      <a:r>
                        <a:rPr lang="en-ZA" sz="1600" b="0" i="0" u="none" strike="noStrike">
                          <a:solidFill>
                            <a:srgbClr val="000000"/>
                          </a:solidFill>
                          <a:effectLst/>
                          <a:latin typeface="Calibri" panose="020F0502020204030204" pitchFamily="34" charset="0"/>
                        </a:rPr>
                        <a:t>1</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extLst>
                  <a:ext uri="{0D108BD9-81ED-4DB2-BD59-A6C34878D82A}">
                    <a16:rowId xmlns:a16="http://schemas.microsoft.com/office/drawing/2014/main" val="10001"/>
                  </a:ext>
                </a:extLst>
              </a:tr>
              <a:tr h="340004">
                <a:tc>
                  <a:txBody>
                    <a:bodyPr/>
                    <a:lstStyle/>
                    <a:p>
                      <a:pPr algn="r" fontAlgn="b"/>
                      <a:r>
                        <a:rPr lang="en-ZA" sz="1600" b="0" i="0" u="none" strike="noStrike">
                          <a:solidFill>
                            <a:srgbClr val="000000"/>
                          </a:solidFill>
                          <a:effectLst/>
                          <a:latin typeface="Calibri" panose="020F0502020204030204" pitchFamily="34" charset="0"/>
                        </a:rPr>
                        <a:t>2</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Initial Amount</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50000</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1</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54000</a:t>
                      </a:r>
                    </a:p>
                  </a:txBody>
                  <a:tcPr marL="9525" marR="9525" marT="9525" marB="0" anchor="b"/>
                </a:tc>
                <a:extLst>
                  <a:ext uri="{0D108BD9-81ED-4DB2-BD59-A6C34878D82A}">
                    <a16:rowId xmlns:a16="http://schemas.microsoft.com/office/drawing/2014/main" val="10002"/>
                  </a:ext>
                </a:extLst>
              </a:tr>
              <a:tr h="347730">
                <a:tc>
                  <a:txBody>
                    <a:bodyPr/>
                    <a:lstStyle/>
                    <a:p>
                      <a:pPr algn="r" fontAlgn="b"/>
                      <a:r>
                        <a:rPr lang="en-ZA" sz="1600" b="0" i="0" u="none" strike="noStrike">
                          <a:solidFill>
                            <a:srgbClr val="000000"/>
                          </a:solidFill>
                          <a:effectLst/>
                          <a:latin typeface="Calibri" panose="020F0502020204030204" pitchFamily="34" charset="0"/>
                        </a:rPr>
                        <a:t>3</a:t>
                      </a:r>
                    </a:p>
                  </a:txBody>
                  <a:tcPr marL="9525" marR="9525" marT="9525" marB="0" anchor="b"/>
                </a:tc>
                <a:tc>
                  <a:txBody>
                    <a:bodyPr/>
                    <a:lstStyle/>
                    <a:p>
                      <a:pPr algn="l" rtl="0" fontAlgn="b"/>
                      <a:r>
                        <a:rPr lang="en-ZA" sz="1600" b="0" i="0" u="none" strike="noStrike" dirty="0">
                          <a:solidFill>
                            <a:srgbClr val="000000"/>
                          </a:solidFill>
                          <a:effectLst/>
                          <a:latin typeface="Garamond" panose="02020404030301010803" pitchFamily="18" charset="0"/>
                        </a:rPr>
                        <a:t>Interest rate</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8%</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2</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58320</a:t>
                      </a:r>
                    </a:p>
                  </a:txBody>
                  <a:tcPr marL="9525" marR="9525" marT="9525" marB="0" anchor="b"/>
                </a:tc>
                <a:extLst>
                  <a:ext uri="{0D108BD9-81ED-4DB2-BD59-A6C34878D82A}">
                    <a16:rowId xmlns:a16="http://schemas.microsoft.com/office/drawing/2014/main" val="10003"/>
                  </a:ext>
                </a:extLst>
              </a:tr>
              <a:tr h="261439">
                <a:tc>
                  <a:txBody>
                    <a:bodyPr/>
                    <a:lstStyle/>
                    <a:p>
                      <a:pPr algn="r" fontAlgn="b"/>
                      <a:r>
                        <a:rPr lang="en-ZA" sz="1600" b="0" i="0" u="none" strike="noStrike">
                          <a:solidFill>
                            <a:srgbClr val="000000"/>
                          </a:solidFill>
                          <a:effectLst/>
                          <a:latin typeface="Calibri" panose="020F0502020204030204" pitchFamily="34" charset="0"/>
                        </a:rPr>
                        <a:t>4</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Period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6</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3</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62986</a:t>
                      </a:r>
                    </a:p>
                  </a:txBody>
                  <a:tcPr marL="9525" marR="9525" marT="9525" marB="0" anchor="b"/>
                </a:tc>
                <a:extLst>
                  <a:ext uri="{0D108BD9-81ED-4DB2-BD59-A6C34878D82A}">
                    <a16:rowId xmlns:a16="http://schemas.microsoft.com/office/drawing/2014/main" val="10004"/>
                  </a:ext>
                </a:extLst>
              </a:tr>
              <a:tr h="261439">
                <a:tc>
                  <a:txBody>
                    <a:bodyPr/>
                    <a:lstStyle/>
                    <a:p>
                      <a:pPr algn="r" fontAlgn="b"/>
                      <a:r>
                        <a:rPr lang="en-ZA" sz="1600" b="0" i="0" u="none" strike="noStrike">
                          <a:solidFill>
                            <a:srgbClr val="000000"/>
                          </a:solidFill>
                          <a:effectLst/>
                          <a:latin typeface="Calibri" panose="020F0502020204030204" pitchFamily="34" charset="0"/>
                        </a:rPr>
                        <a:t>5</a:t>
                      </a:r>
                    </a:p>
                  </a:txBody>
                  <a:tcPr marL="9525" marR="9525" marT="9525" marB="0" anchor="b"/>
                </a:tc>
                <a:tc>
                  <a:txBody>
                    <a:bodyPr/>
                    <a:lstStyle/>
                    <a:p>
                      <a:pPr algn="l" rtl="0" fontAlgn="b"/>
                      <a:r>
                        <a:rPr lang="en-ZA" sz="1600" b="0" i="0" u="none" strike="noStrike" dirty="0">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4</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68024</a:t>
                      </a:r>
                    </a:p>
                  </a:txBody>
                  <a:tcPr marL="9525" marR="9525" marT="9525" marB="0" anchor="b"/>
                </a:tc>
                <a:extLst>
                  <a:ext uri="{0D108BD9-81ED-4DB2-BD59-A6C34878D82A}">
                    <a16:rowId xmlns:a16="http://schemas.microsoft.com/office/drawing/2014/main" val="10005"/>
                  </a:ext>
                </a:extLst>
              </a:tr>
              <a:tr h="261439">
                <a:tc>
                  <a:txBody>
                    <a:bodyPr/>
                    <a:lstStyle/>
                    <a:p>
                      <a:pPr algn="r" fontAlgn="b"/>
                      <a:r>
                        <a:rPr lang="en-ZA" sz="1600" b="0" i="0" u="none" strike="noStrike">
                          <a:solidFill>
                            <a:srgbClr val="000000"/>
                          </a:solidFill>
                          <a:effectLst/>
                          <a:latin typeface="Calibri" panose="020F0502020204030204" pitchFamily="34" charset="0"/>
                        </a:rPr>
                        <a:t>6</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5</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73466</a:t>
                      </a:r>
                    </a:p>
                  </a:txBody>
                  <a:tcPr marL="9525" marR="9525" marT="9525" marB="0" anchor="b"/>
                </a:tc>
                <a:extLst>
                  <a:ext uri="{0D108BD9-81ED-4DB2-BD59-A6C34878D82A}">
                    <a16:rowId xmlns:a16="http://schemas.microsoft.com/office/drawing/2014/main" val="10006"/>
                  </a:ext>
                </a:extLst>
              </a:tr>
              <a:tr h="261439">
                <a:tc>
                  <a:txBody>
                    <a:bodyPr/>
                    <a:lstStyle/>
                    <a:p>
                      <a:pPr algn="r" fontAlgn="b"/>
                      <a:r>
                        <a:rPr lang="en-ZA" sz="1600" b="0" i="0" u="none" strike="noStrike">
                          <a:solidFill>
                            <a:srgbClr val="000000"/>
                          </a:solidFill>
                          <a:effectLst/>
                          <a:latin typeface="Calibri" panose="020F0502020204030204" pitchFamily="34" charset="0"/>
                        </a:rPr>
                        <a:t>7</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l" rtl="0" fontAlgn="b"/>
                      <a:r>
                        <a:rPr lang="en-ZA" sz="1600" b="0" i="0" u="none" strike="noStrike">
                          <a:solidFill>
                            <a:srgbClr val="000000"/>
                          </a:solidFill>
                          <a:effectLst/>
                          <a:latin typeface="Garamond" panose="02020404030301010803" pitchFamily="18" charset="0"/>
                        </a:rPr>
                        <a:t> </a:t>
                      </a:r>
                    </a:p>
                  </a:txBody>
                  <a:tcPr marL="9525" marR="9525" marT="9525" marB="0" anchor="b"/>
                </a:tc>
                <a:tc>
                  <a:txBody>
                    <a:bodyPr/>
                    <a:lstStyle/>
                    <a:p>
                      <a:pPr algn="r" rtl="0" fontAlgn="b"/>
                      <a:r>
                        <a:rPr lang="en-ZA" sz="1600" b="0" i="0" u="none" strike="noStrike">
                          <a:solidFill>
                            <a:srgbClr val="000000"/>
                          </a:solidFill>
                          <a:effectLst/>
                          <a:latin typeface="Garamond" panose="02020404030301010803" pitchFamily="18" charset="0"/>
                        </a:rPr>
                        <a:t>6</a:t>
                      </a:r>
                    </a:p>
                  </a:txBody>
                  <a:tcPr marL="9525" marR="9525" marT="9525" marB="0" anchor="b"/>
                </a:tc>
                <a:tc>
                  <a:txBody>
                    <a:bodyPr/>
                    <a:lstStyle/>
                    <a:p>
                      <a:pPr algn="r" rtl="0" fontAlgn="b"/>
                      <a:r>
                        <a:rPr lang="en-ZA" sz="1600" b="0" i="0" u="none" strike="noStrike" dirty="0">
                          <a:solidFill>
                            <a:srgbClr val="000000"/>
                          </a:solidFill>
                          <a:effectLst/>
                          <a:latin typeface="Garamond" panose="02020404030301010803" pitchFamily="18" charset="0"/>
                        </a:rPr>
                        <a:t>79344</a:t>
                      </a:r>
                    </a:p>
                  </a:txBody>
                  <a:tcPr marL="9525" marR="9525" marT="9525" marB="0" anchor="b"/>
                </a:tc>
                <a:extLst>
                  <a:ext uri="{0D108BD9-81ED-4DB2-BD59-A6C34878D82A}">
                    <a16:rowId xmlns:a16="http://schemas.microsoft.com/office/drawing/2014/main" val="10007"/>
                  </a:ext>
                </a:extLst>
              </a:tr>
            </a:tbl>
          </a:graphicData>
        </a:graphic>
      </p:graphicFrame>
      <p:sp>
        <p:nvSpPr>
          <p:cNvPr id="7" name="Date Placeholder 6"/>
          <p:cNvSpPr>
            <a:spLocks noGrp="1"/>
          </p:cNvSpPr>
          <p:nvPr>
            <p:ph type="dt" sz="half" idx="10"/>
          </p:nvPr>
        </p:nvSpPr>
        <p:spPr/>
        <p:txBody>
          <a:bodyPr/>
          <a:lstStyle/>
          <a:p>
            <a:fld id="{20142BD0-1C79-4F7A-957C-EDD180EBA158}" type="datetime1">
              <a:rPr lang="en-ZA" smtClean="0"/>
              <a:t>2024/10/07</a:t>
            </a:fld>
            <a:endParaRPr lang="en-ZA"/>
          </a:p>
        </p:txBody>
      </p:sp>
      <p:sp>
        <p:nvSpPr>
          <p:cNvPr id="8" name="Slide Number Placeholder 7"/>
          <p:cNvSpPr>
            <a:spLocks noGrp="1"/>
          </p:cNvSpPr>
          <p:nvPr>
            <p:ph type="sldNum" sz="quarter" idx="12"/>
          </p:nvPr>
        </p:nvSpPr>
        <p:spPr/>
        <p:txBody>
          <a:bodyPr/>
          <a:lstStyle/>
          <a:p>
            <a:fld id="{AC2845FC-E9D4-4B00-B81C-16D6AF5A4399}" type="slidenum">
              <a:rPr lang="en-ZA" smtClean="0"/>
              <a:t>20</a:t>
            </a:fld>
            <a:endParaRPr lang="en-ZA"/>
          </a:p>
        </p:txBody>
      </p:sp>
      <p:graphicFrame>
        <p:nvGraphicFramePr>
          <p:cNvPr id="11" name="Content Placeholder 10"/>
          <p:cNvGraphicFramePr>
            <a:graphicFrameLocks noGrp="1"/>
          </p:cNvGraphicFramePr>
          <p:nvPr>
            <p:ph sz="half" idx="2"/>
            <p:extLst>
              <p:ext uri="{D42A27DB-BD31-4B8C-83A1-F6EECF244321}">
                <p14:modId xmlns:p14="http://schemas.microsoft.com/office/powerpoint/2010/main" val="2018511587"/>
              </p:ext>
            </p:extLst>
          </p:nvPr>
        </p:nvGraphicFramePr>
        <p:xfrm>
          <a:off x="1295400" y="3464415"/>
          <a:ext cx="4525850" cy="4198515"/>
        </p:xfrm>
        <a:graphic>
          <a:graphicData uri="http://schemas.openxmlformats.org/drawingml/2006/table">
            <a:tbl>
              <a:tblPr>
                <a:tableStyleId>{5C22544A-7EE6-4342-B048-85BDC9FD1C3A}</a:tableStyleId>
              </a:tblPr>
              <a:tblGrid>
                <a:gridCol w="1061434">
                  <a:extLst>
                    <a:ext uri="{9D8B030D-6E8A-4147-A177-3AD203B41FA5}">
                      <a16:colId xmlns:a16="http://schemas.microsoft.com/office/drawing/2014/main" val="20000"/>
                    </a:ext>
                  </a:extLst>
                </a:gridCol>
                <a:gridCol w="748906">
                  <a:extLst>
                    <a:ext uri="{9D8B030D-6E8A-4147-A177-3AD203B41FA5}">
                      <a16:colId xmlns:a16="http://schemas.microsoft.com/office/drawing/2014/main" val="20001"/>
                    </a:ext>
                  </a:extLst>
                </a:gridCol>
                <a:gridCol w="371556">
                  <a:extLst>
                    <a:ext uri="{9D8B030D-6E8A-4147-A177-3AD203B41FA5}">
                      <a16:colId xmlns:a16="http://schemas.microsoft.com/office/drawing/2014/main" val="20002"/>
                    </a:ext>
                  </a:extLst>
                </a:gridCol>
                <a:gridCol w="347729">
                  <a:extLst>
                    <a:ext uri="{9D8B030D-6E8A-4147-A177-3AD203B41FA5}">
                      <a16:colId xmlns:a16="http://schemas.microsoft.com/office/drawing/2014/main" val="20003"/>
                    </a:ext>
                  </a:extLst>
                </a:gridCol>
                <a:gridCol w="1996225">
                  <a:extLst>
                    <a:ext uri="{9D8B030D-6E8A-4147-A177-3AD203B41FA5}">
                      <a16:colId xmlns:a16="http://schemas.microsoft.com/office/drawing/2014/main" val="20004"/>
                    </a:ext>
                  </a:extLst>
                </a:gridCol>
              </a:tblGrid>
              <a:tr h="257947">
                <a:tc>
                  <a:txBody>
                    <a:bodyPr/>
                    <a:lstStyle/>
                    <a:p>
                      <a:pPr algn="l" fontAlgn="b"/>
                      <a:r>
                        <a:rPr lang="en-ZA" sz="1400" b="1" u="none" strike="noStrike" dirty="0">
                          <a:effectLst/>
                        </a:rPr>
                        <a:t> A</a:t>
                      </a:r>
                      <a:endParaRPr lang="en-Z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ZA" sz="1400" b="1" u="none" strike="noStrike" dirty="0">
                          <a:effectLst/>
                        </a:rPr>
                        <a:t>B </a:t>
                      </a:r>
                      <a:endParaRPr lang="en-Z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ZA" sz="1400" b="1" u="none" strike="noStrike" dirty="0">
                          <a:effectLst/>
                        </a:rPr>
                        <a:t> C</a:t>
                      </a:r>
                      <a:endParaRPr lang="en-Z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ZA" sz="1400" b="1" u="none" strike="noStrike" dirty="0">
                          <a:effectLst/>
                        </a:rPr>
                        <a:t>D </a:t>
                      </a:r>
                      <a:endParaRPr lang="en-ZA"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n-ZA" sz="1400" b="1" u="none" strike="noStrike" dirty="0">
                          <a:effectLst/>
                        </a:rPr>
                        <a:t> E</a:t>
                      </a:r>
                      <a:endParaRPr lang="en-ZA"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0"/>
                  </a:ext>
                </a:extLst>
              </a:tr>
              <a:tr h="257947">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1"/>
                  </a:ext>
                </a:extLst>
              </a:tr>
              <a:tr h="257947">
                <a:tc>
                  <a:txBody>
                    <a:bodyPr/>
                    <a:lstStyle/>
                    <a:p>
                      <a:pPr algn="l" fontAlgn="b"/>
                      <a:r>
                        <a:rPr lang="en-ZA" sz="1400" u="none" strike="noStrike">
                          <a:effectLst/>
                        </a:rPr>
                        <a:t>Initial Amount</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50000</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1</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b="0" i="0" u="none" strike="noStrike" dirty="0">
                          <a:solidFill>
                            <a:srgbClr val="000000"/>
                          </a:solidFill>
                          <a:effectLst/>
                          <a:latin typeface="Calibri" panose="020F0502020204030204" pitchFamily="34" charset="0"/>
                        </a:rPr>
                        <a:t>=B$2*(1+B$3)^D2</a:t>
                      </a:r>
                    </a:p>
                  </a:txBody>
                  <a:tcPr marL="9525" marR="9525" marT="9525" marB="0" anchor="b"/>
                </a:tc>
                <a:extLst>
                  <a:ext uri="{0D108BD9-81ED-4DB2-BD59-A6C34878D82A}">
                    <a16:rowId xmlns:a16="http://schemas.microsoft.com/office/drawing/2014/main" val="10002"/>
                  </a:ext>
                </a:extLst>
              </a:tr>
              <a:tr h="257947">
                <a:tc>
                  <a:txBody>
                    <a:bodyPr/>
                    <a:lstStyle/>
                    <a:p>
                      <a:pPr algn="l" fontAlgn="b"/>
                      <a:r>
                        <a:rPr lang="en-ZA" sz="1400" u="none" strike="noStrike">
                          <a:effectLst/>
                        </a:rPr>
                        <a:t>Interest rate</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8%</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2</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b="0" i="0" u="none" strike="noStrike" dirty="0">
                          <a:solidFill>
                            <a:srgbClr val="000000"/>
                          </a:solidFill>
                          <a:effectLst/>
                          <a:latin typeface="Calibri" panose="020F0502020204030204" pitchFamily="34" charset="0"/>
                        </a:rPr>
                        <a:t>=B$2*(1+B$3)^D3</a:t>
                      </a:r>
                    </a:p>
                  </a:txBody>
                  <a:tcPr marL="9525" marR="9525" marT="9525" marB="0" anchor="b"/>
                </a:tc>
                <a:extLst>
                  <a:ext uri="{0D108BD9-81ED-4DB2-BD59-A6C34878D82A}">
                    <a16:rowId xmlns:a16="http://schemas.microsoft.com/office/drawing/2014/main" val="10003"/>
                  </a:ext>
                </a:extLst>
              </a:tr>
              <a:tr h="438049">
                <a:tc>
                  <a:txBody>
                    <a:bodyPr/>
                    <a:lstStyle/>
                    <a:p>
                      <a:pPr algn="l" fontAlgn="b"/>
                      <a:r>
                        <a:rPr lang="en-ZA" sz="1400" u="none" strike="noStrike">
                          <a:effectLst/>
                        </a:rPr>
                        <a:t>Period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6</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3</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ZA" sz="1400" b="0" i="0" u="none" strike="noStrike" dirty="0">
                          <a:solidFill>
                            <a:srgbClr val="000000"/>
                          </a:solidFill>
                          <a:effectLst/>
                          <a:latin typeface="Calibri" panose="020F0502020204030204" pitchFamily="34" charset="0"/>
                        </a:rPr>
                        <a:t>=B$2*(1+B$3)^D4</a:t>
                      </a:r>
                    </a:p>
                    <a:p>
                      <a:pPr algn="r" fontAlgn="b"/>
                      <a:endParaRPr lang="en-Z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438049">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4</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ZA" sz="1400" b="0" i="0" u="none" strike="noStrike" dirty="0">
                          <a:solidFill>
                            <a:srgbClr val="000000"/>
                          </a:solidFill>
                          <a:effectLst/>
                          <a:latin typeface="Calibri" panose="020F0502020204030204" pitchFamily="34" charset="0"/>
                        </a:rPr>
                        <a:t>=B$2*(1+B$3)^D5</a:t>
                      </a:r>
                    </a:p>
                    <a:p>
                      <a:pPr algn="r" fontAlgn="b"/>
                      <a:endParaRPr lang="en-Z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438049">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5</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ZA" sz="1400" b="0" i="0" u="none" strike="noStrike" dirty="0">
                          <a:solidFill>
                            <a:srgbClr val="000000"/>
                          </a:solidFill>
                          <a:effectLst/>
                          <a:latin typeface="Calibri" panose="020F0502020204030204" pitchFamily="34" charset="0"/>
                        </a:rPr>
                        <a:t>=B$2*(1+B$3)^D6</a:t>
                      </a:r>
                    </a:p>
                    <a:p>
                      <a:pPr algn="r" fontAlgn="b"/>
                      <a:endParaRPr lang="en-Z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1852580">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ZA" sz="1400" u="none" strike="noStrike">
                          <a:effectLst/>
                        </a:rPr>
                        <a:t> </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ZA" sz="1400" u="none" strike="noStrike">
                          <a:effectLst/>
                        </a:rPr>
                        <a:t>6</a:t>
                      </a:r>
                      <a:endParaRPr lang="en-ZA" sz="1400" b="0" i="0" u="none" strike="noStrike">
                        <a:solidFill>
                          <a:srgbClr val="000000"/>
                        </a:solidFill>
                        <a:effectLst/>
                        <a:latin typeface="Calibri" panose="020F0502020204030204" pitchFamily="34" charset="0"/>
                      </a:endParaRPr>
                    </a:p>
                  </a:txBody>
                  <a:tcPr marL="9525" marR="9525" marT="9525" marB="0" anchor="b"/>
                </a:tc>
                <a:tc>
                  <a:txBody>
                    <a:bodyPr/>
                    <a:lstStyle/>
                    <a:p>
                      <a:pPr marL="0" marR="0" indent="0" algn="r" defTabSz="457200" rtl="0" eaLnBrk="1" fontAlgn="b" latinLnBrk="0" hangingPunct="1">
                        <a:lnSpc>
                          <a:spcPct val="100000"/>
                        </a:lnSpc>
                        <a:spcBef>
                          <a:spcPts val="0"/>
                        </a:spcBef>
                        <a:spcAft>
                          <a:spcPts val="0"/>
                        </a:spcAft>
                        <a:buClrTx/>
                        <a:buSzTx/>
                        <a:buFontTx/>
                        <a:buNone/>
                        <a:tabLst/>
                        <a:defRPr/>
                      </a:pPr>
                      <a:r>
                        <a:rPr lang="en-ZA" sz="1400" b="0" i="0" u="none" strike="noStrike" dirty="0">
                          <a:solidFill>
                            <a:srgbClr val="000000"/>
                          </a:solidFill>
                          <a:effectLst/>
                          <a:latin typeface="Calibri" panose="020F0502020204030204" pitchFamily="34" charset="0"/>
                        </a:rPr>
                        <a:t>=B$2*(1+B$3)^D7</a:t>
                      </a:r>
                    </a:p>
                    <a:p>
                      <a:pPr algn="r" fontAlgn="b"/>
                      <a:endParaRPr lang="en-ZA"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95784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Compound Interest</a:t>
            </a:r>
          </a:p>
        </p:txBody>
      </p:sp>
      <p:sp>
        <p:nvSpPr>
          <p:cNvPr id="3" name="Content Placeholder 2"/>
          <p:cNvSpPr>
            <a:spLocks noGrp="1"/>
          </p:cNvSpPr>
          <p:nvPr>
            <p:ph idx="1"/>
          </p:nvPr>
        </p:nvSpPr>
        <p:spPr/>
        <p:txBody>
          <a:bodyPr/>
          <a:lstStyle/>
          <a:p>
            <a:r>
              <a:rPr lang="en-ZA" dirty="0"/>
              <a:t>For any unwithdrawn of savings, the interest is worked on the  amount and interest of the previous period.</a:t>
            </a:r>
          </a:p>
          <a:p>
            <a:r>
              <a:rPr lang="en-ZA" dirty="0"/>
              <a:t>For a loan, the interest is worked on the unpaid amount and interest that was not paid.</a:t>
            </a:r>
          </a:p>
          <a:p>
            <a:r>
              <a:rPr lang="en-ZA" dirty="0"/>
              <a:t>Therefore, compound interest is thought of as interest on-top of interest. </a:t>
            </a:r>
          </a:p>
          <a:p>
            <a:r>
              <a:rPr lang="en-ZA" dirty="0"/>
              <a:t>The difference between the two methods is P58000-P58320 = P320</a:t>
            </a:r>
          </a:p>
          <a:p>
            <a:r>
              <a:rPr lang="en-ZA" dirty="0"/>
              <a:t>The P320 is interest on-top of interest </a:t>
            </a:r>
          </a:p>
        </p:txBody>
      </p:sp>
      <p:sp>
        <p:nvSpPr>
          <p:cNvPr id="4" name="Date Placeholder 3"/>
          <p:cNvSpPr>
            <a:spLocks noGrp="1"/>
          </p:cNvSpPr>
          <p:nvPr>
            <p:ph type="dt" sz="half" idx="10"/>
          </p:nvPr>
        </p:nvSpPr>
        <p:spPr/>
        <p:txBody>
          <a:bodyPr/>
          <a:lstStyle/>
          <a:p>
            <a:fld id="{BD67570A-A850-498D-8625-57EBFAF081BD}"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21</a:t>
            </a:fld>
            <a:endParaRPr lang="en-ZA"/>
          </a:p>
        </p:txBody>
      </p:sp>
    </p:spTree>
    <p:extLst>
      <p:ext uri="{BB962C8B-B14F-4D97-AF65-F5344CB8AC3E}">
        <p14:creationId xmlns:p14="http://schemas.microsoft.com/office/powerpoint/2010/main" val="1640302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Loan Repayment</a:t>
            </a:r>
          </a:p>
        </p:txBody>
      </p:sp>
      <p:sp>
        <p:nvSpPr>
          <p:cNvPr id="3" name="Content Placeholder 2"/>
          <p:cNvSpPr>
            <a:spLocks noGrp="1"/>
          </p:cNvSpPr>
          <p:nvPr>
            <p:ph idx="1"/>
          </p:nvPr>
        </p:nvSpPr>
        <p:spPr/>
        <p:txBody>
          <a:bodyPr/>
          <a:lstStyle/>
          <a:p>
            <a:r>
              <a:rPr lang="en-ZA" dirty="0"/>
              <a:t>Loan repayment schedules or plans differ with different institutions</a:t>
            </a:r>
          </a:p>
          <a:p>
            <a:r>
              <a:rPr lang="en-ZA" dirty="0"/>
              <a:t>Unpaid loan and interest are transferred to another period on which interest is worked</a:t>
            </a:r>
          </a:p>
          <a:p>
            <a:r>
              <a:rPr lang="en-ZA" dirty="0"/>
              <a:t>Loan and accumulated interest are paid at the end of the loan repayment period.</a:t>
            </a:r>
          </a:p>
          <a:p>
            <a:r>
              <a:rPr lang="en-ZA" dirty="0"/>
              <a:t>Constant periodic payments  </a:t>
            </a:r>
          </a:p>
        </p:txBody>
      </p:sp>
      <p:sp>
        <p:nvSpPr>
          <p:cNvPr id="4" name="Date Placeholder 3"/>
          <p:cNvSpPr>
            <a:spLocks noGrp="1"/>
          </p:cNvSpPr>
          <p:nvPr>
            <p:ph type="dt" sz="half" idx="10"/>
          </p:nvPr>
        </p:nvSpPr>
        <p:spPr/>
        <p:txBody>
          <a:bodyPr/>
          <a:lstStyle/>
          <a:p>
            <a:fld id="{E33CDD65-E6A1-49F3-AAF6-14B3B88A09A2}"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22</a:t>
            </a:fld>
            <a:endParaRPr lang="en-ZA"/>
          </a:p>
        </p:txBody>
      </p:sp>
    </p:spTree>
    <p:extLst>
      <p:ext uri="{BB962C8B-B14F-4D97-AF65-F5344CB8AC3E}">
        <p14:creationId xmlns:p14="http://schemas.microsoft.com/office/powerpoint/2010/main" val="12354775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sz="quarter"/>
          </p:nvPr>
        </p:nvSpPr>
        <p:spPr/>
        <p:txBody>
          <a:bodyPr/>
          <a:lstStyle/>
          <a:p>
            <a:r>
              <a:rPr lang="en-US" altLang="en-US" sz="3200" b="1" dirty="0">
                <a:solidFill>
                  <a:srgbClr val="000099"/>
                </a:solidFill>
              </a:rPr>
              <a:t>Single-payment compound interest on other than annual basis</a:t>
            </a:r>
            <a:r>
              <a:rPr lang="en-US" altLang="en-US" sz="3200" dirty="0"/>
              <a:t> </a:t>
            </a:r>
          </a:p>
        </p:txBody>
      </p:sp>
      <p:sp>
        <p:nvSpPr>
          <p:cNvPr id="40963" name="Content Placeholder 2"/>
          <p:cNvSpPr>
            <a:spLocks noGrp="1"/>
          </p:cNvSpPr>
          <p:nvPr>
            <p:ph sz="quarter" idx="1"/>
          </p:nvPr>
        </p:nvSpPr>
        <p:spPr>
          <a:xfrm>
            <a:off x="1981200" y="1600200"/>
            <a:ext cx="7894638" cy="4889500"/>
          </a:xfrm>
        </p:spPr>
        <p:txBody>
          <a:bodyPr/>
          <a:lstStyle/>
          <a:p>
            <a:pPr marL="0" indent="0">
              <a:buNone/>
            </a:pPr>
            <a:r>
              <a:rPr lang="en-US" altLang="en-US"/>
              <a:t>Finding the future value using an alternative method:</a:t>
            </a:r>
          </a:p>
          <a:p>
            <a:pPr marL="0" indent="0" algn="ctr">
              <a:buNone/>
            </a:pPr>
            <a:r>
              <a:rPr lang="en-US" altLang="en-US" b="1">
                <a:solidFill>
                  <a:srgbClr val="C00000"/>
                </a:solidFill>
              </a:rPr>
              <a:t>The effective annual interest rate (yield)</a:t>
            </a:r>
            <a:endParaRPr lang="zh-CN" altLang="en-US">
              <a:ea typeface="宋体" panose="02010600030101010101" pitchFamily="2" charset="-122"/>
            </a:endParaRPr>
          </a:p>
          <a:p>
            <a:pPr marL="0" indent="0" algn="ctr">
              <a:buNone/>
            </a:pPr>
            <a:endParaRPr lang="en-US" altLang="en-US" b="1">
              <a:solidFill>
                <a:srgbClr val="C00000"/>
              </a:solidFill>
            </a:endParaRPr>
          </a:p>
        </p:txBody>
      </p:sp>
      <p:pic>
        <p:nvPicPr>
          <p:cNvPr id="40964"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979738"/>
            <a:ext cx="7772400"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5"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6138" y="4764089"/>
            <a:ext cx="7626350" cy="131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pPr>
              <a:defRPr/>
            </a:pPr>
            <a:fld id="{D975135B-1E48-47A3-8524-33EA97DD0604}"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23</a:t>
            </a:fld>
            <a:endParaRPr lang="en-US" altLang="en-US"/>
          </a:p>
        </p:txBody>
      </p:sp>
    </p:spTree>
    <p:extLst>
      <p:ext uri="{BB962C8B-B14F-4D97-AF65-F5344CB8AC3E}">
        <p14:creationId xmlns:p14="http://schemas.microsoft.com/office/powerpoint/2010/main" val="3203729518"/>
      </p:ext>
    </p:extLst>
  </p:cSld>
  <p:clrMapOvr>
    <a:masterClrMapping/>
  </p:clrMapOvr>
  <p:transition spd="slow">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pPr>
              <a:defRPr/>
            </a:pPr>
            <a:br>
              <a:rPr lang="en-US" sz="5400" dirty="0">
                <a:solidFill>
                  <a:schemeClr val="accent2"/>
                </a:solidFill>
                <a:latin typeface="Garamond" pitchFamily="18" charset="0"/>
              </a:rPr>
            </a:br>
            <a:r>
              <a:rPr lang="en-US" sz="4800" b="1" dirty="0">
                <a:solidFill>
                  <a:schemeClr val="tx1">
                    <a:lumMod val="75000"/>
                    <a:lumOff val="25000"/>
                  </a:schemeClr>
                </a:solidFill>
              </a:rPr>
              <a:t> </a:t>
            </a:r>
            <a:r>
              <a:rPr lang="en-US" b="1" dirty="0">
                <a:solidFill>
                  <a:schemeClr val="tx1">
                    <a:lumMod val="75000"/>
                    <a:lumOff val="25000"/>
                  </a:schemeClr>
                </a:solidFill>
              </a:rPr>
              <a:t>Effective Annual Interest Rate (Yield)</a:t>
            </a:r>
            <a:endParaRPr lang="en-US" dirty="0"/>
          </a:p>
        </p:txBody>
      </p:sp>
      <p:sp>
        <p:nvSpPr>
          <p:cNvPr id="8" name="Content Placeholder 7"/>
          <p:cNvSpPr>
            <a:spLocks noGrp="1"/>
          </p:cNvSpPr>
          <p:nvPr>
            <p:ph sz="half" idx="1"/>
          </p:nvPr>
        </p:nvSpPr>
        <p:spPr/>
        <p:txBody>
          <a:bodyPr>
            <a:normAutofit fontScale="92500" lnSpcReduction="20000"/>
          </a:bodyPr>
          <a:lstStyle/>
          <a:p>
            <a:pPr>
              <a:defRPr/>
            </a:pPr>
            <a:r>
              <a:rPr lang="en-US" b="1" dirty="0">
                <a:solidFill>
                  <a:srgbClr val="FF0000"/>
                </a:solidFill>
                <a:latin typeface="+mj-lt"/>
              </a:rPr>
              <a:t>Formula</a:t>
            </a:r>
            <a:endParaRPr lang="en-US" b="1" dirty="0">
              <a:solidFill>
                <a:schemeClr val="tx1">
                  <a:lumMod val="65000"/>
                  <a:lumOff val="35000"/>
                </a:schemeClr>
              </a:solidFill>
              <a:latin typeface="+mj-lt"/>
            </a:endParaRPr>
          </a:p>
          <a:p>
            <a:pPr>
              <a:defRPr/>
            </a:pPr>
            <a:endParaRPr lang="en-US" dirty="0"/>
          </a:p>
          <a:p>
            <a:pPr>
              <a:defRPr/>
            </a:pPr>
            <a:endParaRPr lang="en-US" dirty="0"/>
          </a:p>
          <a:p>
            <a:pPr>
              <a:defRPr/>
            </a:pPr>
            <a:endParaRPr lang="en-US" dirty="0"/>
          </a:p>
          <a:p>
            <a:pPr>
              <a:buClr>
                <a:schemeClr val="accent1"/>
              </a:buClr>
              <a:buSzPct val="65000"/>
              <a:buFont typeface="Wingdings" pitchFamily="2" charset="2"/>
              <a:buNone/>
              <a:defRPr/>
            </a:pPr>
            <a:endParaRPr lang="en-US" sz="2000" b="1" i="1" dirty="0">
              <a:solidFill>
                <a:schemeClr val="tx1">
                  <a:lumMod val="65000"/>
                  <a:lumOff val="35000"/>
                </a:schemeClr>
              </a:solidFill>
              <a:latin typeface="+mj-lt"/>
            </a:endParaRPr>
          </a:p>
          <a:p>
            <a:pPr>
              <a:buClr>
                <a:schemeClr val="accent1"/>
              </a:buClr>
              <a:buSzPct val="65000"/>
              <a:buFont typeface="Wingdings" pitchFamily="2" charset="2"/>
              <a:buNone/>
              <a:defRPr/>
            </a:pPr>
            <a:r>
              <a:rPr lang="en-US" sz="2000" b="1" i="1" dirty="0">
                <a:solidFill>
                  <a:schemeClr val="tx1">
                    <a:lumMod val="65000"/>
                    <a:lumOff val="35000"/>
                  </a:schemeClr>
                </a:solidFill>
                <a:latin typeface="+mj-lt"/>
              </a:rPr>
              <a:t>r</a:t>
            </a:r>
            <a:r>
              <a:rPr lang="en-US" sz="2000" b="1" dirty="0">
                <a:solidFill>
                  <a:schemeClr val="tx1">
                    <a:lumMod val="65000"/>
                    <a:lumOff val="35000"/>
                  </a:schemeClr>
                </a:solidFill>
                <a:latin typeface="+mj-lt"/>
              </a:rPr>
              <a:t>   = nominal interest rate per year</a:t>
            </a:r>
          </a:p>
          <a:p>
            <a:pPr>
              <a:buClr>
                <a:schemeClr val="accent1"/>
              </a:buClr>
              <a:buSzPct val="65000"/>
              <a:buFont typeface="Wingdings" pitchFamily="2" charset="2"/>
              <a:buNone/>
              <a:defRPr/>
            </a:pPr>
            <a:r>
              <a:rPr lang="en-US" sz="2000" b="1" i="1" dirty="0" err="1">
                <a:solidFill>
                  <a:schemeClr val="tx1">
                    <a:lumMod val="65000"/>
                    <a:lumOff val="35000"/>
                  </a:schemeClr>
                </a:solidFill>
                <a:latin typeface="+mj-lt"/>
              </a:rPr>
              <a:t>i</a:t>
            </a:r>
            <a:r>
              <a:rPr lang="en-US" sz="2000" b="1" i="1" baseline="-25000" dirty="0" err="1">
                <a:solidFill>
                  <a:schemeClr val="tx1">
                    <a:lumMod val="65000"/>
                    <a:lumOff val="35000"/>
                  </a:schemeClr>
                </a:solidFill>
                <a:latin typeface="+mj-lt"/>
              </a:rPr>
              <a:t>a</a:t>
            </a:r>
            <a:r>
              <a:rPr lang="en-US" sz="2000" b="1" dirty="0">
                <a:solidFill>
                  <a:schemeClr val="tx1">
                    <a:lumMod val="65000"/>
                    <a:lumOff val="35000"/>
                  </a:schemeClr>
                </a:solidFill>
                <a:latin typeface="+mj-lt"/>
              </a:rPr>
              <a:t>  = effective annual interest rate</a:t>
            </a:r>
          </a:p>
          <a:p>
            <a:pPr>
              <a:buClr>
                <a:schemeClr val="accent1"/>
              </a:buClr>
              <a:buSzPct val="65000"/>
              <a:buFont typeface="Wingdings" pitchFamily="2" charset="2"/>
              <a:buNone/>
              <a:defRPr/>
            </a:pPr>
            <a:r>
              <a:rPr lang="en-US" sz="2000" b="1" i="1" dirty="0">
                <a:solidFill>
                  <a:schemeClr val="tx1">
                    <a:lumMod val="65000"/>
                    <a:lumOff val="35000"/>
                  </a:schemeClr>
                </a:solidFill>
                <a:latin typeface="+mj-lt"/>
              </a:rPr>
              <a:t>M</a:t>
            </a:r>
            <a:r>
              <a:rPr lang="en-US" sz="2000" b="1" dirty="0">
                <a:solidFill>
                  <a:schemeClr val="tx1">
                    <a:lumMod val="65000"/>
                    <a:lumOff val="35000"/>
                  </a:schemeClr>
                </a:solidFill>
                <a:latin typeface="+mj-lt"/>
              </a:rPr>
              <a:t> = number of interest periods per year</a:t>
            </a:r>
          </a:p>
          <a:p>
            <a:pPr>
              <a:defRPr/>
            </a:pPr>
            <a:endParaRPr lang="en-US" dirty="0"/>
          </a:p>
        </p:txBody>
      </p:sp>
      <p:sp>
        <p:nvSpPr>
          <p:cNvPr id="44036" name="Rectangle 4"/>
          <p:cNvSpPr>
            <a:spLocks noChangeArrowheads="1"/>
          </p:cNvSpPr>
          <p:nvPr/>
        </p:nvSpPr>
        <p:spPr bwMode="auto">
          <a:xfrm>
            <a:off x="1981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4200">
              <a:solidFill>
                <a:schemeClr val="accent2"/>
              </a:solidFill>
              <a:latin typeface="Garamond" panose="02020404030301010803" pitchFamily="18" charset="0"/>
            </a:endParaRPr>
          </a:p>
        </p:txBody>
      </p:sp>
      <p:sp>
        <p:nvSpPr>
          <p:cNvPr id="44037" name="Rectangle 5"/>
          <p:cNvSpPr>
            <a:spLocks noChangeArrowheads="1"/>
          </p:cNvSpPr>
          <p:nvPr/>
        </p:nvSpPr>
        <p:spPr bwMode="auto">
          <a:xfrm>
            <a:off x="2514600" y="35814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buClr>
                <a:schemeClr val="accent1"/>
              </a:buClr>
              <a:buSzPct val="65000"/>
              <a:buFont typeface="Wingdings" panose="05000000000000000000" pitchFamily="2" charset="2"/>
              <a:buChar char="n"/>
            </a:pPr>
            <a:endParaRPr lang="en-US" altLang="en-US" sz="2600"/>
          </a:p>
        </p:txBody>
      </p:sp>
      <p:pic>
        <p:nvPicPr>
          <p:cNvPr id="22536" name="Picture 8"/>
          <p:cNvPicPr>
            <a:picLocks noChangeAspect="1" noChangeArrowheads="1"/>
          </p:cNvPicPr>
          <p:nvPr/>
        </p:nvPicPr>
        <p:blipFill>
          <a:blip r:embed="rId3"/>
          <a:srcRect/>
          <a:stretch>
            <a:fillRect/>
          </a:stretch>
        </p:blipFill>
        <p:spPr bwMode="auto">
          <a:xfrm>
            <a:off x="1803042" y="3179384"/>
            <a:ext cx="3618964" cy="774429"/>
          </a:xfrm>
          <a:prstGeom prst="rect">
            <a:avLst/>
          </a:prstGeom>
          <a:solidFill>
            <a:schemeClr val="accent5">
              <a:lumMod val="20000"/>
              <a:lumOff val="80000"/>
            </a:schemeClr>
          </a:solidFill>
          <a:ln w="9525">
            <a:noFill/>
            <a:miter lim="800000"/>
            <a:headEnd/>
            <a:tailEnd/>
          </a:ln>
          <a:effectLst/>
        </p:spPr>
      </p:pic>
      <p:sp>
        <p:nvSpPr>
          <p:cNvPr id="44039" name="Content Placeholder 1"/>
          <p:cNvSpPr>
            <a:spLocks noGrp="1"/>
          </p:cNvSpPr>
          <p:nvPr>
            <p:ph sz="half" idx="2"/>
          </p:nvPr>
        </p:nvSpPr>
        <p:spPr>
          <a:xfrm>
            <a:off x="6172200" y="2560320"/>
            <a:ext cx="4530144" cy="2307893"/>
          </a:xfrm>
        </p:spPr>
        <p:txBody>
          <a:bodyPr>
            <a:normAutofit fontScale="92500" lnSpcReduction="20000"/>
          </a:bodyPr>
          <a:lstStyle/>
          <a:p>
            <a:pPr marL="0" indent="0">
              <a:buNone/>
            </a:pPr>
            <a:endParaRPr lang="en-US" altLang="en-US" dirty="0"/>
          </a:p>
          <a:p>
            <a:pPr marL="0" indent="0">
              <a:buNone/>
            </a:pPr>
            <a:r>
              <a:rPr lang="en-US" altLang="en-US" dirty="0"/>
              <a:t>A principal of </a:t>
            </a:r>
            <a:r>
              <a:rPr lang="en-US" altLang="en-US" dirty="0">
                <a:solidFill>
                  <a:srgbClr val="FF0000"/>
                </a:solidFill>
              </a:rPr>
              <a:t>P10,000</a:t>
            </a:r>
            <a:r>
              <a:rPr lang="en-US" altLang="en-US" dirty="0"/>
              <a:t> is invested at </a:t>
            </a:r>
            <a:r>
              <a:rPr lang="en-US" altLang="en-US" dirty="0">
                <a:solidFill>
                  <a:srgbClr val="FF0000"/>
                </a:solidFill>
              </a:rPr>
              <a:t>12%</a:t>
            </a:r>
            <a:r>
              <a:rPr lang="en-US" altLang="en-US" dirty="0"/>
              <a:t> interest for </a:t>
            </a:r>
            <a:r>
              <a:rPr lang="en-US" altLang="en-US" dirty="0">
                <a:solidFill>
                  <a:srgbClr val="FF0000"/>
                </a:solidFill>
              </a:rPr>
              <a:t>5 years</a:t>
            </a:r>
            <a:r>
              <a:rPr lang="en-US" altLang="en-US" dirty="0"/>
              <a:t>.  Calculate the future value if the interest is compounded semi-annually.</a:t>
            </a:r>
          </a:p>
        </p:txBody>
      </p:sp>
      <p:graphicFrame>
        <p:nvGraphicFramePr>
          <p:cNvPr id="44040" name="Object 5"/>
          <p:cNvGraphicFramePr>
            <a:graphicFrameLocks noChangeAspect="1"/>
          </p:cNvGraphicFramePr>
          <p:nvPr>
            <p:extLst>
              <p:ext uri="{D42A27DB-BD31-4B8C-83A1-F6EECF244321}">
                <p14:modId xmlns:p14="http://schemas.microsoft.com/office/powerpoint/2010/main" val="1503913672"/>
              </p:ext>
            </p:extLst>
          </p:nvPr>
        </p:nvGraphicFramePr>
        <p:xfrm>
          <a:off x="6853238" y="5142533"/>
          <a:ext cx="2036762" cy="746759"/>
        </p:xfrm>
        <a:graphic>
          <a:graphicData uri="http://schemas.openxmlformats.org/presentationml/2006/ole">
            <mc:AlternateContent xmlns:mc="http://schemas.openxmlformats.org/markup-compatibility/2006">
              <mc:Choice xmlns:v="urn:schemas-microsoft-com:vml" Requires="v">
                <p:oleObj name="Equation" r:id="rId4" imgW="861237" imgH="213202" progId="Equation.3">
                  <p:embed/>
                </p:oleObj>
              </mc:Choice>
              <mc:Fallback>
                <p:oleObj name="Equation" r:id="rId4" imgW="861237" imgH="213202" progId="Equation.3">
                  <p:embed/>
                  <p:pic>
                    <p:nvPicPr>
                      <p:cNvPr id="4404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3238" y="5142533"/>
                        <a:ext cx="2036762" cy="746759"/>
                      </a:xfrm>
                      <a:prstGeom prst="rect">
                        <a:avLst/>
                      </a:prstGeom>
                      <a:noFill/>
                      <a:ln>
                        <a:noFill/>
                      </a:ln>
                    </p:spPr>
                  </p:pic>
                </p:oleObj>
              </mc:Fallback>
            </mc:AlternateContent>
          </a:graphicData>
        </a:graphic>
      </p:graphicFrame>
      <p:sp>
        <p:nvSpPr>
          <p:cNvPr id="2" name="Date Placeholder 1"/>
          <p:cNvSpPr>
            <a:spLocks noGrp="1"/>
          </p:cNvSpPr>
          <p:nvPr>
            <p:ph type="dt" sz="half" idx="10"/>
          </p:nvPr>
        </p:nvSpPr>
        <p:spPr/>
        <p:txBody>
          <a:bodyPr/>
          <a:lstStyle/>
          <a:p>
            <a:fld id="{4687B9DD-3790-40D4-82C9-F99F93F644D5}" type="datetime1">
              <a:rPr lang="en-ZA" smtClean="0"/>
              <a:t>2024/10/07</a:t>
            </a:fld>
            <a:endParaRPr lang="en-ZA"/>
          </a:p>
        </p:txBody>
      </p:sp>
      <p:sp>
        <p:nvSpPr>
          <p:cNvPr id="3" name="Slide Number Placeholder 2"/>
          <p:cNvSpPr>
            <a:spLocks noGrp="1"/>
          </p:cNvSpPr>
          <p:nvPr>
            <p:ph type="sldNum" sz="quarter" idx="12"/>
          </p:nvPr>
        </p:nvSpPr>
        <p:spPr/>
        <p:txBody>
          <a:bodyPr/>
          <a:lstStyle/>
          <a:p>
            <a:fld id="{AC2845FC-E9D4-4B00-B81C-16D6AF5A4399}" type="slidenum">
              <a:rPr lang="en-ZA" smtClean="0"/>
              <a:t>24</a:t>
            </a:fld>
            <a:endParaRPr lang="en-ZA"/>
          </a:p>
        </p:txBody>
      </p:sp>
    </p:spTree>
    <p:extLst>
      <p:ext uri="{BB962C8B-B14F-4D97-AF65-F5344CB8AC3E}">
        <p14:creationId xmlns:p14="http://schemas.microsoft.com/office/powerpoint/2010/main" val="3369661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pPr>
              <a:defRPr/>
            </a:pPr>
            <a:br>
              <a:rPr lang="en-US" sz="5400" dirty="0">
                <a:solidFill>
                  <a:schemeClr val="accent2"/>
                </a:solidFill>
                <a:latin typeface="Garamond" pitchFamily="18" charset="0"/>
              </a:rPr>
            </a:br>
            <a:r>
              <a:rPr lang="en-US" sz="4800" b="1" dirty="0">
                <a:solidFill>
                  <a:schemeClr val="tx1">
                    <a:lumMod val="75000"/>
                    <a:lumOff val="25000"/>
                  </a:schemeClr>
                </a:solidFill>
              </a:rPr>
              <a:t> </a:t>
            </a:r>
            <a:r>
              <a:rPr lang="en-US" b="1" dirty="0">
                <a:solidFill>
                  <a:schemeClr val="tx1">
                    <a:lumMod val="75000"/>
                    <a:lumOff val="25000"/>
                  </a:schemeClr>
                </a:solidFill>
              </a:rPr>
              <a:t>Effective Annual Interest Rate (Yield)</a:t>
            </a:r>
            <a:endParaRPr lang="en-US" dirty="0"/>
          </a:p>
        </p:txBody>
      </p:sp>
      <p:sp>
        <p:nvSpPr>
          <p:cNvPr id="8" name="Content Placeholder 7"/>
          <p:cNvSpPr>
            <a:spLocks noGrp="1"/>
          </p:cNvSpPr>
          <p:nvPr>
            <p:ph sz="half" idx="1"/>
          </p:nvPr>
        </p:nvSpPr>
        <p:spPr>
          <a:xfrm>
            <a:off x="1298448" y="2704562"/>
            <a:ext cx="4718304" cy="3391437"/>
          </a:xfrm>
        </p:spPr>
        <p:txBody>
          <a:bodyPr>
            <a:normAutofit fontScale="92500" lnSpcReduction="10000"/>
          </a:bodyPr>
          <a:lstStyle/>
          <a:p>
            <a:pPr>
              <a:defRPr/>
            </a:pPr>
            <a:r>
              <a:rPr lang="en-US" b="1" dirty="0">
                <a:solidFill>
                  <a:srgbClr val="FF0000"/>
                </a:solidFill>
                <a:latin typeface="+mj-lt"/>
              </a:rPr>
              <a:t>Formula</a:t>
            </a:r>
            <a:endParaRPr lang="en-US" b="1" dirty="0">
              <a:solidFill>
                <a:schemeClr val="tx1">
                  <a:lumMod val="65000"/>
                  <a:lumOff val="35000"/>
                </a:schemeClr>
              </a:solidFill>
              <a:latin typeface="+mj-lt"/>
            </a:endParaRPr>
          </a:p>
          <a:p>
            <a:pPr>
              <a:defRPr/>
            </a:pPr>
            <a:endParaRPr lang="en-US" dirty="0"/>
          </a:p>
          <a:p>
            <a:pPr>
              <a:defRPr/>
            </a:pPr>
            <a:endParaRPr lang="en-US" dirty="0"/>
          </a:p>
          <a:p>
            <a:pPr>
              <a:defRPr/>
            </a:pPr>
            <a:endParaRPr lang="en-US" dirty="0"/>
          </a:p>
          <a:p>
            <a:pPr>
              <a:buClr>
                <a:schemeClr val="accent1"/>
              </a:buClr>
              <a:buSzPct val="65000"/>
              <a:buFont typeface="Wingdings" pitchFamily="2" charset="2"/>
              <a:buNone/>
              <a:defRPr/>
            </a:pPr>
            <a:endParaRPr lang="en-US" sz="2000" b="1" i="1" dirty="0">
              <a:solidFill>
                <a:schemeClr val="tx1">
                  <a:lumMod val="65000"/>
                  <a:lumOff val="35000"/>
                </a:schemeClr>
              </a:solidFill>
              <a:latin typeface="+mj-lt"/>
            </a:endParaRPr>
          </a:p>
          <a:p>
            <a:pPr>
              <a:buClr>
                <a:schemeClr val="accent1"/>
              </a:buClr>
              <a:buSzPct val="65000"/>
              <a:buFont typeface="Wingdings" pitchFamily="2" charset="2"/>
              <a:buNone/>
              <a:defRPr/>
            </a:pPr>
            <a:r>
              <a:rPr lang="en-US" sz="2000" b="1" i="1" dirty="0">
                <a:solidFill>
                  <a:schemeClr val="tx1">
                    <a:lumMod val="65000"/>
                    <a:lumOff val="35000"/>
                  </a:schemeClr>
                </a:solidFill>
                <a:latin typeface="+mj-lt"/>
              </a:rPr>
              <a:t>r</a:t>
            </a:r>
            <a:r>
              <a:rPr lang="en-US" sz="2000" b="1" dirty="0">
                <a:solidFill>
                  <a:schemeClr val="tx1">
                    <a:lumMod val="65000"/>
                    <a:lumOff val="35000"/>
                  </a:schemeClr>
                </a:solidFill>
                <a:latin typeface="+mj-lt"/>
              </a:rPr>
              <a:t>   = nominal interest rate per year</a:t>
            </a:r>
          </a:p>
          <a:p>
            <a:pPr>
              <a:buClr>
                <a:schemeClr val="accent1"/>
              </a:buClr>
              <a:buSzPct val="65000"/>
              <a:buFont typeface="Wingdings" pitchFamily="2" charset="2"/>
              <a:buNone/>
              <a:defRPr/>
            </a:pPr>
            <a:r>
              <a:rPr lang="en-US" sz="2000" b="1" i="1" dirty="0" err="1">
                <a:solidFill>
                  <a:schemeClr val="tx1">
                    <a:lumMod val="65000"/>
                    <a:lumOff val="35000"/>
                  </a:schemeClr>
                </a:solidFill>
                <a:latin typeface="+mj-lt"/>
              </a:rPr>
              <a:t>i</a:t>
            </a:r>
            <a:r>
              <a:rPr lang="en-US" sz="2000" b="1" i="1" baseline="-25000" dirty="0" err="1">
                <a:solidFill>
                  <a:schemeClr val="tx1">
                    <a:lumMod val="65000"/>
                    <a:lumOff val="35000"/>
                  </a:schemeClr>
                </a:solidFill>
                <a:latin typeface="+mj-lt"/>
              </a:rPr>
              <a:t>a</a:t>
            </a:r>
            <a:r>
              <a:rPr lang="en-US" sz="2000" b="1" dirty="0">
                <a:solidFill>
                  <a:schemeClr val="tx1">
                    <a:lumMod val="65000"/>
                    <a:lumOff val="35000"/>
                  </a:schemeClr>
                </a:solidFill>
                <a:latin typeface="+mj-lt"/>
              </a:rPr>
              <a:t>  = effective annual interest rate</a:t>
            </a:r>
          </a:p>
          <a:p>
            <a:pPr>
              <a:buClr>
                <a:schemeClr val="accent1"/>
              </a:buClr>
              <a:buSzPct val="65000"/>
              <a:buFont typeface="Wingdings" pitchFamily="2" charset="2"/>
              <a:buNone/>
              <a:defRPr/>
            </a:pPr>
            <a:r>
              <a:rPr lang="en-US" sz="2000" b="1" i="1" dirty="0">
                <a:solidFill>
                  <a:schemeClr val="tx1">
                    <a:lumMod val="65000"/>
                    <a:lumOff val="35000"/>
                  </a:schemeClr>
                </a:solidFill>
                <a:latin typeface="+mj-lt"/>
              </a:rPr>
              <a:t>M</a:t>
            </a:r>
            <a:r>
              <a:rPr lang="en-US" sz="2000" b="1" dirty="0">
                <a:solidFill>
                  <a:schemeClr val="tx1">
                    <a:lumMod val="65000"/>
                    <a:lumOff val="35000"/>
                  </a:schemeClr>
                </a:solidFill>
                <a:latin typeface="+mj-lt"/>
              </a:rPr>
              <a:t> = number of interest periods per year</a:t>
            </a:r>
          </a:p>
          <a:p>
            <a:pPr>
              <a:defRPr/>
            </a:pPr>
            <a:endParaRPr lang="en-US" dirty="0"/>
          </a:p>
        </p:txBody>
      </p:sp>
      <p:sp>
        <p:nvSpPr>
          <p:cNvPr id="46084" name="Rectangle 4"/>
          <p:cNvSpPr>
            <a:spLocks noChangeArrowheads="1"/>
          </p:cNvSpPr>
          <p:nvPr/>
        </p:nvSpPr>
        <p:spPr bwMode="auto">
          <a:xfrm>
            <a:off x="1981200" y="274638"/>
            <a:ext cx="822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4200">
              <a:solidFill>
                <a:schemeClr val="accent2"/>
              </a:solidFill>
              <a:latin typeface="Garamond" panose="02020404030301010803" pitchFamily="18" charset="0"/>
            </a:endParaRPr>
          </a:p>
        </p:txBody>
      </p:sp>
      <p:sp>
        <p:nvSpPr>
          <p:cNvPr id="46085" name="Rectangle 5"/>
          <p:cNvSpPr>
            <a:spLocks noChangeArrowheads="1"/>
          </p:cNvSpPr>
          <p:nvPr/>
        </p:nvSpPr>
        <p:spPr bwMode="auto">
          <a:xfrm>
            <a:off x="2514600" y="3581400"/>
            <a:ext cx="77724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buClr>
                <a:schemeClr val="accent1"/>
              </a:buClr>
              <a:buSzPct val="65000"/>
              <a:buFont typeface="Wingdings" panose="05000000000000000000" pitchFamily="2" charset="2"/>
              <a:buChar char="n"/>
            </a:pPr>
            <a:endParaRPr lang="en-US" altLang="en-US" sz="2600"/>
          </a:p>
        </p:txBody>
      </p:sp>
      <p:pic>
        <p:nvPicPr>
          <p:cNvPr id="22536" name="Picture 8"/>
          <p:cNvPicPr>
            <a:picLocks noChangeAspect="1" noChangeArrowheads="1"/>
          </p:cNvPicPr>
          <p:nvPr/>
        </p:nvPicPr>
        <p:blipFill>
          <a:blip r:embed="rId3"/>
          <a:srcRect/>
          <a:stretch>
            <a:fillRect/>
          </a:stretch>
        </p:blipFill>
        <p:spPr bwMode="auto">
          <a:xfrm>
            <a:off x="2286000" y="3054351"/>
            <a:ext cx="3429000" cy="1249361"/>
          </a:xfrm>
          <a:prstGeom prst="rect">
            <a:avLst/>
          </a:prstGeom>
          <a:solidFill>
            <a:schemeClr val="accent5">
              <a:lumMod val="20000"/>
              <a:lumOff val="80000"/>
            </a:schemeClr>
          </a:solidFill>
          <a:ln w="9525">
            <a:noFill/>
            <a:miter lim="800000"/>
            <a:headEnd/>
            <a:tailEnd/>
          </a:ln>
          <a:effectLst/>
        </p:spPr>
      </p:pic>
      <p:sp>
        <p:nvSpPr>
          <p:cNvPr id="46087" name="Content Placeholder 1"/>
          <p:cNvSpPr>
            <a:spLocks noGrp="1"/>
          </p:cNvSpPr>
          <p:nvPr>
            <p:ph sz="half" idx="2"/>
          </p:nvPr>
        </p:nvSpPr>
        <p:spPr>
          <a:xfrm>
            <a:off x="6172200" y="2019300"/>
            <a:ext cx="4038600" cy="2362200"/>
          </a:xfrm>
        </p:spPr>
        <p:txBody>
          <a:bodyPr>
            <a:normAutofit fontScale="92500" lnSpcReduction="10000"/>
          </a:bodyPr>
          <a:lstStyle/>
          <a:p>
            <a:pPr marL="0" indent="0">
              <a:buNone/>
            </a:pPr>
            <a:endParaRPr lang="en-US" altLang="en-US" sz="2000" dirty="0"/>
          </a:p>
          <a:p>
            <a:pPr marL="0" indent="0">
              <a:buNone/>
            </a:pPr>
            <a:r>
              <a:rPr lang="en-US" altLang="en-US" sz="2000" dirty="0"/>
              <a:t>A principal of </a:t>
            </a:r>
            <a:r>
              <a:rPr lang="en-US" altLang="en-US" sz="2000" dirty="0">
                <a:solidFill>
                  <a:srgbClr val="FF0000"/>
                </a:solidFill>
              </a:rPr>
              <a:t>P10,000</a:t>
            </a:r>
            <a:r>
              <a:rPr lang="en-US" altLang="en-US" sz="2000" dirty="0"/>
              <a:t> is invested at </a:t>
            </a:r>
            <a:r>
              <a:rPr lang="en-US" altLang="en-US" sz="2000" dirty="0">
                <a:solidFill>
                  <a:srgbClr val="FF0000"/>
                </a:solidFill>
              </a:rPr>
              <a:t>12%</a:t>
            </a:r>
            <a:r>
              <a:rPr lang="en-US" altLang="en-US" sz="2000" dirty="0"/>
              <a:t> interest for </a:t>
            </a:r>
            <a:r>
              <a:rPr lang="en-US" altLang="en-US" sz="2000" dirty="0">
                <a:solidFill>
                  <a:srgbClr val="FF0000"/>
                </a:solidFill>
              </a:rPr>
              <a:t>5 years</a:t>
            </a:r>
            <a:r>
              <a:rPr lang="en-US" altLang="en-US" sz="2000" dirty="0"/>
              <a:t>.  Calculate the future value if the interest is compounded semi-annually.</a:t>
            </a:r>
          </a:p>
        </p:txBody>
      </p:sp>
      <p:graphicFrame>
        <p:nvGraphicFramePr>
          <p:cNvPr id="46088" name="Object 8"/>
          <p:cNvGraphicFramePr>
            <a:graphicFrameLocks noChangeAspect="1"/>
          </p:cNvGraphicFramePr>
          <p:nvPr>
            <p:extLst>
              <p:ext uri="{D42A27DB-BD31-4B8C-83A1-F6EECF244321}">
                <p14:modId xmlns:p14="http://schemas.microsoft.com/office/powerpoint/2010/main" val="2488657515"/>
              </p:ext>
            </p:extLst>
          </p:nvPr>
        </p:nvGraphicFramePr>
        <p:xfrm>
          <a:off x="6016752" y="4098926"/>
          <a:ext cx="4424237" cy="563563"/>
        </p:xfrm>
        <a:graphic>
          <a:graphicData uri="http://schemas.openxmlformats.org/presentationml/2006/ole">
            <mc:AlternateContent xmlns:mc="http://schemas.openxmlformats.org/markup-compatibility/2006">
              <mc:Choice xmlns:v="urn:schemas-microsoft-com:vml" Requires="v">
                <p:oleObj name="Equation" r:id="rId4" imgW="1622954" imgH="205953" progId="Equation.3">
                  <p:embed/>
                </p:oleObj>
              </mc:Choice>
              <mc:Fallback>
                <p:oleObj name="Equation" r:id="rId4" imgW="1622954" imgH="205953" progId="Equation.3">
                  <p:embed/>
                  <p:pic>
                    <p:nvPicPr>
                      <p:cNvPr id="4608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6752" y="4098926"/>
                        <a:ext cx="4424237" cy="563563"/>
                      </a:xfrm>
                      <a:prstGeom prst="rect">
                        <a:avLst/>
                      </a:prstGeom>
                      <a:noFill/>
                      <a:ln>
                        <a:noFill/>
                      </a:ln>
                    </p:spPr>
                  </p:pic>
                </p:oleObj>
              </mc:Fallback>
            </mc:AlternateContent>
          </a:graphicData>
        </a:graphic>
      </p:graphicFrame>
      <p:graphicFrame>
        <p:nvGraphicFramePr>
          <p:cNvPr id="46089" name="Object 5"/>
          <p:cNvGraphicFramePr>
            <a:graphicFrameLocks noChangeAspect="1"/>
          </p:cNvGraphicFramePr>
          <p:nvPr/>
        </p:nvGraphicFramePr>
        <p:xfrm>
          <a:off x="6853238" y="4762501"/>
          <a:ext cx="2036762" cy="631825"/>
        </p:xfrm>
        <a:graphic>
          <a:graphicData uri="http://schemas.openxmlformats.org/presentationml/2006/ole">
            <mc:AlternateContent xmlns:mc="http://schemas.openxmlformats.org/markup-compatibility/2006">
              <mc:Choice xmlns:v="urn:schemas-microsoft-com:vml" Requires="v">
                <p:oleObj name="Equation" r:id="rId6" imgW="861237" imgH="213202" progId="Equation.3">
                  <p:embed/>
                </p:oleObj>
              </mc:Choice>
              <mc:Fallback>
                <p:oleObj name="Equation" r:id="rId6" imgW="861237" imgH="213202" progId="Equation.3">
                  <p:embed/>
                  <p:pic>
                    <p:nvPicPr>
                      <p:cNvPr id="46089"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3238" y="4762501"/>
                        <a:ext cx="2036762"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Date Placeholder 2"/>
          <p:cNvSpPr>
            <a:spLocks noGrp="1"/>
          </p:cNvSpPr>
          <p:nvPr>
            <p:ph type="dt" sz="half" idx="10"/>
          </p:nvPr>
        </p:nvSpPr>
        <p:spPr/>
        <p:txBody>
          <a:bodyPr/>
          <a:lstStyle/>
          <a:p>
            <a:fld id="{713FEC7B-1868-4F13-8023-CEDE1149C76E}" type="datetime1">
              <a:rPr lang="en-ZA" smtClean="0"/>
              <a:t>2024/10/07</a:t>
            </a:fld>
            <a:endParaRPr lang="en-ZA"/>
          </a:p>
        </p:txBody>
      </p:sp>
      <p:sp>
        <p:nvSpPr>
          <p:cNvPr id="4" name="Slide Number Placeholder 3"/>
          <p:cNvSpPr>
            <a:spLocks noGrp="1"/>
          </p:cNvSpPr>
          <p:nvPr>
            <p:ph type="sldNum" sz="quarter" idx="12"/>
          </p:nvPr>
        </p:nvSpPr>
        <p:spPr/>
        <p:txBody>
          <a:bodyPr/>
          <a:lstStyle/>
          <a:p>
            <a:fld id="{AC2845FC-E9D4-4B00-B81C-16D6AF5A4399}" type="slidenum">
              <a:rPr lang="en-ZA" smtClean="0"/>
              <a:t>25</a:t>
            </a:fld>
            <a:endParaRPr lang="en-ZA"/>
          </a:p>
        </p:txBody>
      </p:sp>
    </p:spTree>
    <p:extLst>
      <p:ext uri="{BB962C8B-B14F-4D97-AF65-F5344CB8AC3E}">
        <p14:creationId xmlns:p14="http://schemas.microsoft.com/office/powerpoint/2010/main" val="17744312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lstStyle/>
          <a:p>
            <a:endParaRPr lang="en-ZA" dirty="0"/>
          </a:p>
          <a:p>
            <a:r>
              <a:rPr lang="en-ZA" dirty="0"/>
              <a:t>F = P17908.48 </a:t>
            </a:r>
          </a:p>
          <a:p>
            <a:r>
              <a:rPr lang="en-ZA" dirty="0"/>
              <a:t>Instead of F= P17623. 42. Difference of P285.06 </a:t>
            </a:r>
          </a:p>
        </p:txBody>
      </p:sp>
      <p:sp>
        <p:nvSpPr>
          <p:cNvPr id="4" name="Date Placeholder 3"/>
          <p:cNvSpPr>
            <a:spLocks noGrp="1"/>
          </p:cNvSpPr>
          <p:nvPr>
            <p:ph type="dt" sz="half" idx="10"/>
          </p:nvPr>
        </p:nvSpPr>
        <p:spPr/>
        <p:txBody>
          <a:bodyPr/>
          <a:lstStyle/>
          <a:p>
            <a:fld id="{941E0DD2-A9A4-455B-A060-21C0875146ED}"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26</a:t>
            </a:fld>
            <a:endParaRPr lang="en-ZA"/>
          </a:p>
        </p:txBody>
      </p:sp>
    </p:spTree>
    <p:extLst>
      <p:ext uri="{BB962C8B-B14F-4D97-AF65-F5344CB8AC3E}">
        <p14:creationId xmlns:p14="http://schemas.microsoft.com/office/powerpoint/2010/main" val="4170425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sz="quarter"/>
          </p:nvPr>
        </p:nvSpPr>
        <p:spPr>
          <a:xfrm>
            <a:off x="1981200" y="274639"/>
            <a:ext cx="8229600" cy="949325"/>
          </a:xfrm>
        </p:spPr>
        <p:txBody>
          <a:bodyPr/>
          <a:lstStyle/>
          <a:p>
            <a:pPr eaLnBrk="1" hangingPunct="1"/>
            <a:r>
              <a:rPr lang="en-US" altLang="en-US" sz="3200" b="1">
                <a:solidFill>
                  <a:srgbClr val="000099"/>
                </a:solidFill>
              </a:rPr>
              <a:t>4. Equal-Payment Series Compound Amount</a:t>
            </a:r>
          </a:p>
        </p:txBody>
      </p:sp>
      <p:sp>
        <p:nvSpPr>
          <p:cNvPr id="48131"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48132"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mc:AlternateContent xmlns:mc="http://schemas.openxmlformats.org/markup-compatibility/2006" xmlns:a14="http://schemas.microsoft.com/office/drawing/2010/main">
        <mc:Choice Requires="a14">
          <p:sp>
            <p:nvSpPr>
              <p:cNvPr id="48133" name="Rectangle 5"/>
              <p:cNvSpPr>
                <a:spLocks noChangeArrowheads="1"/>
              </p:cNvSpPr>
              <p:nvPr/>
            </p:nvSpPr>
            <p:spPr bwMode="auto">
              <a:xfrm>
                <a:off x="1639888" y="774077"/>
                <a:ext cx="8712200" cy="50733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endParaRPr lang="en-US" altLang="en-US" sz="2400" dirty="0"/>
              </a:p>
              <a:p>
                <a:pPr eaLnBrk="1" hangingPunct="1">
                  <a:spcBef>
                    <a:spcPct val="0"/>
                  </a:spcBef>
                  <a:buClr>
                    <a:srgbClr val="FF0000"/>
                  </a:buClr>
                  <a:buFont typeface="Wingdings" panose="05000000000000000000" pitchFamily="2" charset="2"/>
                  <a:buChar char="v"/>
                </a:pPr>
                <a:endParaRPr lang="en-US" altLang="en-US" sz="2400" dirty="0"/>
              </a:p>
              <a:p>
                <a:pPr eaLnBrk="1" hangingPunct="1">
                  <a:spcBef>
                    <a:spcPct val="0"/>
                  </a:spcBef>
                  <a:buClr>
                    <a:srgbClr val="FF0000"/>
                  </a:buClr>
                  <a:buFont typeface="Wingdings" panose="05000000000000000000" pitchFamily="2" charset="2"/>
                  <a:buChar char="v"/>
                </a:pPr>
                <a:r>
                  <a:rPr lang="en-US" altLang="en-US" sz="2000" dirty="0"/>
                  <a:t>The aim of this mode of investment is to find the future worth (</a:t>
                </a:r>
                <a:r>
                  <a:rPr lang="en-US" altLang="en-US" sz="2000" b="1" i="1" dirty="0"/>
                  <a:t>F</a:t>
                </a:r>
                <a:r>
                  <a:rPr lang="en-US" altLang="en-US" sz="2000" dirty="0"/>
                  <a:t>) of </a:t>
                </a:r>
                <a:r>
                  <a:rPr lang="en-US" altLang="en-US" sz="2000" b="1" i="1" dirty="0"/>
                  <a:t>n</a:t>
                </a:r>
                <a:r>
                  <a:rPr lang="en-US" altLang="en-US" sz="2000" dirty="0"/>
                  <a:t> equal payments which are made at the end of every interest period until the end of the nth interest period at an interest rate </a:t>
                </a:r>
                <a:r>
                  <a:rPr lang="en-US" altLang="en-US" sz="2000" b="1" i="1" dirty="0" err="1"/>
                  <a:t>i</a:t>
                </a:r>
                <a:r>
                  <a:rPr lang="en-US" altLang="en-US" sz="2000" dirty="0"/>
                  <a:t> compounded at the end of each period.</a:t>
                </a:r>
              </a:p>
              <a:p>
                <a:pPr eaLnBrk="1" hangingPunct="1">
                  <a:spcBef>
                    <a:spcPct val="0"/>
                  </a:spcBef>
                  <a:buClr>
                    <a:srgbClr val="FF0000"/>
                  </a:buClr>
                  <a:buFont typeface="Wingdings" panose="05000000000000000000" pitchFamily="2" charset="2"/>
                  <a:buChar char="v"/>
                </a:pPr>
                <a:r>
                  <a:rPr lang="en-US" altLang="en-US" sz="2000" dirty="0"/>
                  <a:t>You invest EQUAL amounts for N years. What is the maturity or future value?</a:t>
                </a:r>
              </a:p>
              <a:p>
                <a:pPr eaLnBrk="1" hangingPunct="1">
                  <a:spcBef>
                    <a:spcPct val="0"/>
                  </a:spcBef>
                  <a:buClr>
                    <a:srgbClr val="FF0000"/>
                  </a:buClr>
                  <a:buFont typeface="Wingdings" panose="05000000000000000000" pitchFamily="2" charset="2"/>
                  <a:buChar char="v"/>
                </a:pPr>
                <a:r>
                  <a:rPr lang="en-US" altLang="en-US" sz="2000" dirty="0"/>
                  <a:t>Let’s assume the following:</a:t>
                </a:r>
              </a:p>
              <a:p>
                <a:pPr lvl="1" eaLnBrk="1" hangingPunct="1">
                  <a:spcBef>
                    <a:spcPct val="0"/>
                  </a:spcBef>
                  <a:buClr>
                    <a:srgbClr val="000099"/>
                  </a:buClr>
                  <a:buFont typeface="Wingdings" panose="05000000000000000000" pitchFamily="2" charset="2"/>
                  <a:buChar char="©"/>
                </a:pPr>
                <a:r>
                  <a:rPr lang="en-US" altLang="en-US" sz="2000" i="1" dirty="0">
                    <a:solidFill>
                      <a:srgbClr val="FF0000"/>
                    </a:solidFill>
                  </a:rPr>
                  <a:t>A</a:t>
                </a:r>
                <a:r>
                  <a:rPr lang="en-US" altLang="en-US" sz="2000" i="1" dirty="0"/>
                  <a:t>	</a:t>
                </a:r>
                <a:r>
                  <a:rPr lang="en-US" altLang="en-US" sz="2000" dirty="0"/>
                  <a:t>is the equal amount deposited at the end of 		each period</a:t>
                </a:r>
                <a:endParaRPr lang="en-US" altLang="en-US" sz="2000" i="1" dirty="0">
                  <a:solidFill>
                    <a:srgbClr val="FF0000"/>
                  </a:solidFill>
                </a:endParaRPr>
              </a:p>
              <a:p>
                <a:pPr lvl="1" eaLnBrk="1" hangingPunct="1">
                  <a:spcBef>
                    <a:spcPct val="0"/>
                  </a:spcBef>
                  <a:buClr>
                    <a:srgbClr val="000099"/>
                  </a:buClr>
                  <a:buFont typeface="Wingdings" panose="05000000000000000000" pitchFamily="2" charset="2"/>
                  <a:buChar char="©"/>
                </a:pPr>
                <a:r>
                  <a:rPr lang="en-US" altLang="en-US" sz="2000" i="1" dirty="0">
                    <a:solidFill>
                      <a:srgbClr val="FF0000"/>
                    </a:solidFill>
                  </a:rPr>
                  <a:t>F</a:t>
                </a:r>
                <a:r>
                  <a:rPr lang="en-US" altLang="en-US" sz="2000" dirty="0"/>
                  <a:t>	is the future value/amount at the end of year N</a:t>
                </a:r>
              </a:p>
              <a:p>
                <a:pPr lvl="1" eaLnBrk="1" hangingPunct="1">
                  <a:spcBef>
                    <a:spcPct val="0"/>
                  </a:spcBef>
                  <a:buClr>
                    <a:srgbClr val="000099"/>
                  </a:buClr>
                  <a:buFont typeface="Wingdings" panose="05000000000000000000" pitchFamily="2" charset="2"/>
                  <a:buChar char="©"/>
                </a:pPr>
                <a:r>
                  <a:rPr lang="en-US" altLang="en-US" sz="2000" i="1" dirty="0" err="1">
                    <a:solidFill>
                      <a:srgbClr val="FF0000"/>
                    </a:solidFill>
                  </a:rPr>
                  <a:t>i</a:t>
                </a:r>
                <a:r>
                  <a:rPr lang="en-US" altLang="en-US" sz="2000" i="1" dirty="0"/>
                  <a:t>	</a:t>
                </a:r>
                <a:r>
                  <a:rPr lang="en-US" altLang="en-US" sz="2000" dirty="0"/>
                  <a:t>is the interest rate per time period</a:t>
                </a:r>
              </a:p>
              <a:p>
                <a:pPr lvl="1" eaLnBrk="1" hangingPunct="1">
                  <a:spcBef>
                    <a:spcPct val="0"/>
                  </a:spcBef>
                  <a:buClr>
                    <a:srgbClr val="000099"/>
                  </a:buClr>
                  <a:buFont typeface="Wingdings" panose="05000000000000000000" pitchFamily="2" charset="2"/>
                  <a:buChar char="©"/>
                </a:pPr>
                <a:r>
                  <a:rPr lang="en-US" altLang="en-US" sz="2000" i="1" dirty="0">
                    <a:solidFill>
                      <a:srgbClr val="FF0000"/>
                    </a:solidFill>
                  </a:rPr>
                  <a:t>N</a:t>
                </a:r>
                <a:r>
                  <a:rPr lang="en-US" altLang="en-US" sz="2000" i="1" dirty="0"/>
                  <a:t>	</a:t>
                </a:r>
                <a:r>
                  <a:rPr lang="en-US" altLang="en-US" sz="2000" dirty="0"/>
                  <a:t>is the number of time periods</a:t>
                </a:r>
              </a:p>
              <a:p>
                <a:pPr lvl="1" eaLnBrk="1" hangingPunct="1">
                  <a:spcBef>
                    <a:spcPct val="0"/>
                  </a:spcBef>
                  <a:buClr>
                    <a:srgbClr val="000099"/>
                  </a:buClr>
                  <a:buFont typeface="Wingdings" panose="05000000000000000000" pitchFamily="2" charset="2"/>
                  <a:buChar char="©"/>
                </a:pPr>
                <a:r>
                  <a:rPr lang="en-US" altLang="en-US" sz="2000" dirty="0"/>
                  <a:t>Then, </a:t>
                </a:r>
                <a14:m>
                  <m:oMath xmlns:m="http://schemas.openxmlformats.org/officeDocument/2006/math">
                    <m:r>
                      <a:rPr lang="en-ZA" altLang="en-US" sz="2000" b="0" i="1" smtClean="0">
                        <a:latin typeface="Cambria Math" panose="02040503050406030204" pitchFamily="18" charset="0"/>
                      </a:rPr>
                      <m:t>𝐹</m:t>
                    </m:r>
                    <m:r>
                      <a:rPr lang="en-ZA" altLang="en-US" sz="2000" b="0" i="1" smtClean="0">
                        <a:latin typeface="Cambria Math" panose="02040503050406030204" pitchFamily="18" charset="0"/>
                      </a:rPr>
                      <m:t>=</m:t>
                    </m:r>
                    <m:r>
                      <a:rPr lang="en-ZA" altLang="en-US" sz="2000" b="0" i="1" smtClean="0">
                        <a:latin typeface="Cambria Math" panose="02040503050406030204" pitchFamily="18" charset="0"/>
                      </a:rPr>
                      <m:t>𝐴</m:t>
                    </m:r>
                    <m:d>
                      <m:dPr>
                        <m:begChr m:val="{"/>
                        <m:endChr m:val="}"/>
                        <m:ctrlPr>
                          <a:rPr lang="en-ZA" altLang="en-US" sz="2000" b="0" i="1" smtClean="0">
                            <a:latin typeface="Cambria Math" panose="02040503050406030204" pitchFamily="18" charset="0"/>
                          </a:rPr>
                        </m:ctrlPr>
                      </m:dPr>
                      <m:e>
                        <m:f>
                          <m:fPr>
                            <m:ctrlPr>
                              <a:rPr lang="en-ZA" altLang="en-US" sz="2000" b="0" i="1" smtClean="0">
                                <a:latin typeface="Cambria Math" panose="02040503050406030204" pitchFamily="18" charset="0"/>
                              </a:rPr>
                            </m:ctrlPr>
                          </m:fPr>
                          <m:num>
                            <m:d>
                              <m:dPr>
                                <m:begChr m:val="["/>
                                <m:endChr m:val="]"/>
                                <m:ctrlPr>
                                  <a:rPr lang="en-ZA" altLang="en-US" sz="2000" b="0" i="1" smtClean="0">
                                    <a:latin typeface="Cambria Math" panose="02040503050406030204" pitchFamily="18" charset="0"/>
                                  </a:rPr>
                                </m:ctrlPr>
                              </m:dPr>
                              <m:e>
                                <m:sSup>
                                  <m:sSupPr>
                                    <m:ctrlPr>
                                      <a:rPr lang="en-ZA" altLang="en-US" sz="2000" b="0" i="1" smtClean="0">
                                        <a:latin typeface="Cambria Math" panose="02040503050406030204" pitchFamily="18" charset="0"/>
                                      </a:rPr>
                                    </m:ctrlPr>
                                  </m:sSupPr>
                                  <m:e>
                                    <m:d>
                                      <m:dPr>
                                        <m:ctrlPr>
                                          <a:rPr lang="en-ZA" altLang="en-US" sz="2000" b="0" i="1" smtClean="0">
                                            <a:latin typeface="Cambria Math" panose="02040503050406030204" pitchFamily="18" charset="0"/>
                                          </a:rPr>
                                        </m:ctrlPr>
                                      </m:dPr>
                                      <m:e>
                                        <m:r>
                                          <a:rPr lang="en-ZA" altLang="en-US" sz="2000" b="0" i="1" smtClean="0">
                                            <a:latin typeface="Cambria Math" panose="02040503050406030204" pitchFamily="18" charset="0"/>
                                          </a:rPr>
                                          <m:t>1</m:t>
                                        </m:r>
                                        <m:r>
                                          <a:rPr lang="en-ZA" altLang="en-US" sz="2000" b="0" i="1" smtClean="0">
                                            <a:latin typeface="Cambria Math" panose="02040503050406030204" pitchFamily="18" charset="0"/>
                                          </a:rPr>
                                          <m:t>+</m:t>
                                        </m:r>
                                        <m:r>
                                          <a:rPr lang="en-ZA" altLang="en-US" sz="2000" b="0" i="1" smtClean="0">
                                            <a:latin typeface="Cambria Math" panose="02040503050406030204" pitchFamily="18" charset="0"/>
                                          </a:rPr>
                                          <m:t>𝑖</m:t>
                                        </m:r>
                                      </m:e>
                                    </m:d>
                                  </m:e>
                                  <m:sup>
                                    <m:r>
                                      <a:rPr lang="en-ZA" altLang="en-US" sz="2000" b="0" i="1" smtClean="0">
                                        <a:latin typeface="Cambria Math" panose="02040503050406030204" pitchFamily="18" charset="0"/>
                                      </a:rPr>
                                      <m:t>𝑁</m:t>
                                    </m:r>
                                  </m:sup>
                                </m:sSup>
                                <m:r>
                                  <a:rPr lang="en-ZA" altLang="en-US" sz="2000" b="0" i="1" smtClean="0">
                                    <a:latin typeface="Cambria Math" panose="02040503050406030204" pitchFamily="18" charset="0"/>
                                  </a:rPr>
                                  <m:t>−</m:t>
                                </m:r>
                                <m:r>
                                  <a:rPr lang="en-ZA" altLang="en-US" sz="2000" b="0" i="1" smtClean="0">
                                    <a:latin typeface="Cambria Math" panose="02040503050406030204" pitchFamily="18" charset="0"/>
                                  </a:rPr>
                                  <m:t>1</m:t>
                                </m:r>
                              </m:e>
                            </m:d>
                          </m:num>
                          <m:den>
                            <m:r>
                              <a:rPr lang="en-ZA" altLang="en-US" sz="2000" b="0" i="1" smtClean="0">
                                <a:latin typeface="Cambria Math" panose="02040503050406030204" pitchFamily="18" charset="0"/>
                              </a:rPr>
                              <m:t>𝑖</m:t>
                            </m:r>
                          </m:den>
                        </m:f>
                      </m:e>
                    </m:d>
                  </m:oMath>
                </a14:m>
                <a:endParaRPr lang="en-US" altLang="en-US" sz="2000" dirty="0"/>
              </a:p>
            </p:txBody>
          </p:sp>
        </mc:Choice>
        <mc:Fallback xmlns="">
          <p:sp>
            <p:nvSpPr>
              <p:cNvPr id="48133" name="Rectangle 5"/>
              <p:cNvSpPr>
                <a:spLocks noRot="1" noChangeAspect="1" noMove="1" noResize="1" noEditPoints="1" noAdjustHandles="1" noChangeArrowheads="1" noChangeShapeType="1" noTextEdit="1"/>
              </p:cNvSpPr>
              <p:nvPr/>
            </p:nvSpPr>
            <p:spPr bwMode="auto">
              <a:xfrm>
                <a:off x="1639888" y="774077"/>
                <a:ext cx="8712200" cy="5073312"/>
              </a:xfrm>
              <a:prstGeom prst="rect">
                <a:avLst/>
              </a:prstGeom>
              <a:blipFill rotWithShape="0">
                <a:blip r:embed="rId2"/>
                <a:stretch>
                  <a:fillRect l="-630" r="-49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ZA">
                    <a:noFill/>
                  </a:rPr>
                  <a:t> </a:t>
                </a:r>
              </a:p>
            </p:txBody>
          </p:sp>
        </mc:Fallback>
      </mc:AlternateContent>
      <p:sp>
        <p:nvSpPr>
          <p:cNvPr id="48134" name="Rectangle 9"/>
          <p:cNvSpPr>
            <a:spLocks noChangeArrowheads="1"/>
          </p:cNvSpPr>
          <p:nvPr/>
        </p:nvSpPr>
        <p:spPr bwMode="auto">
          <a:xfrm>
            <a:off x="2038351" y="5962105"/>
            <a:ext cx="135572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endParaRPr lang="en-US" altLang="en-US" sz="2000" dirty="0"/>
          </a:p>
          <a:p>
            <a:pPr eaLnBrk="1" hangingPunct="1">
              <a:spcBef>
                <a:spcPct val="0"/>
              </a:spcBef>
              <a:buClr>
                <a:srgbClr val="FF0000"/>
              </a:buClr>
              <a:buFont typeface="Wingdings" panose="05000000000000000000" pitchFamily="2" charset="2"/>
              <a:buChar char="v"/>
            </a:pPr>
            <a:endParaRPr lang="en-US" altLang="en-US" sz="2400" dirty="0"/>
          </a:p>
        </p:txBody>
      </p:sp>
      <p:sp>
        <p:nvSpPr>
          <p:cNvPr id="48135" name="Content Placeholder 1"/>
          <p:cNvSpPr>
            <a:spLocks noGrp="1"/>
          </p:cNvSpPr>
          <p:nvPr>
            <p:ph sz="quarter" idx="1"/>
          </p:nvPr>
        </p:nvSpPr>
        <p:spPr>
          <a:xfrm>
            <a:off x="2716214" y="5768976"/>
            <a:ext cx="6759575" cy="1668463"/>
          </a:xfrm>
        </p:spPr>
        <p:txBody>
          <a:bodyPr/>
          <a:lstStyle/>
          <a:p>
            <a:pPr marL="0" indent="0" algn="ctr">
              <a:buNone/>
            </a:pPr>
            <a:endParaRPr lang="en-US" altLang="en-US" dirty="0"/>
          </a:p>
          <a:p>
            <a:pPr marL="0" indent="0">
              <a:buNone/>
            </a:pPr>
            <a:r>
              <a:rPr lang="en-US" altLang="en-US" dirty="0"/>
              <a:t>				</a:t>
            </a:r>
          </a:p>
        </p:txBody>
      </p:sp>
      <p:sp>
        <p:nvSpPr>
          <p:cNvPr id="2" name="Date Placeholder 1"/>
          <p:cNvSpPr>
            <a:spLocks noGrp="1"/>
          </p:cNvSpPr>
          <p:nvPr>
            <p:ph type="dt" sz="half" idx="10"/>
          </p:nvPr>
        </p:nvSpPr>
        <p:spPr/>
        <p:txBody>
          <a:bodyPr/>
          <a:lstStyle/>
          <a:p>
            <a:pPr>
              <a:defRPr/>
            </a:pPr>
            <a:fld id="{17AAF6A9-FC22-4411-AB99-B30E8F22587F}"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27</a:t>
            </a:fld>
            <a:endParaRPr lang="en-US" altLang="en-US"/>
          </a:p>
        </p:txBody>
      </p:sp>
    </p:spTree>
    <p:extLst>
      <p:ext uri="{BB962C8B-B14F-4D97-AF65-F5344CB8AC3E}">
        <p14:creationId xmlns:p14="http://schemas.microsoft.com/office/powerpoint/2010/main" val="262421196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sz="quarter"/>
          </p:nvPr>
        </p:nvSpPr>
        <p:spPr>
          <a:xfrm>
            <a:off x="1981200" y="274639"/>
            <a:ext cx="8229600" cy="949325"/>
          </a:xfrm>
        </p:spPr>
        <p:txBody>
          <a:bodyPr/>
          <a:lstStyle/>
          <a:p>
            <a:pPr eaLnBrk="1" hangingPunct="1"/>
            <a:r>
              <a:rPr lang="en-US" altLang="en-US" sz="3200" b="1">
                <a:solidFill>
                  <a:srgbClr val="000099"/>
                </a:solidFill>
              </a:rPr>
              <a:t>4. Equal-Payment Series Compound Amount</a:t>
            </a:r>
          </a:p>
        </p:txBody>
      </p:sp>
      <p:sp>
        <p:nvSpPr>
          <p:cNvPr id="49155"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49156"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49157" name="Rectangle 5"/>
          <p:cNvSpPr>
            <a:spLocks noChangeArrowheads="1"/>
          </p:cNvSpPr>
          <p:nvPr/>
        </p:nvSpPr>
        <p:spPr bwMode="auto">
          <a:xfrm>
            <a:off x="2010152" y="1673226"/>
            <a:ext cx="8267549"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endParaRPr lang="en-US" altLang="en-US" sz="2400" dirty="0"/>
          </a:p>
          <a:p>
            <a:pPr eaLnBrk="1" hangingPunct="1">
              <a:spcBef>
                <a:spcPct val="0"/>
              </a:spcBef>
              <a:buClr>
                <a:srgbClr val="FF0000"/>
              </a:buClr>
              <a:buFont typeface="Wingdings" panose="05000000000000000000" pitchFamily="2" charset="2"/>
              <a:buChar char="v"/>
            </a:pPr>
            <a:r>
              <a:rPr lang="en-US" altLang="en-US" sz="2400" dirty="0">
                <a:solidFill>
                  <a:srgbClr val="FF0000"/>
                </a:solidFill>
              </a:rPr>
              <a:t>Ex8</a:t>
            </a:r>
            <a:r>
              <a:rPr lang="en-US" altLang="en-US" sz="2400" dirty="0"/>
              <a:t>: A person who is now 35 years old is planning for his retired life. He plans to invest an equal sum of P10,000 at the end of every year for the next 25 years starting at the end of next year. The bank offers a 20% interest rate compounded annually. Find the maturity value of his account when he is 60 years old.</a:t>
            </a:r>
          </a:p>
        </p:txBody>
      </p:sp>
      <p:sp>
        <p:nvSpPr>
          <p:cNvPr id="49158" name="Content Placeholder 1"/>
          <p:cNvSpPr>
            <a:spLocks noGrp="1"/>
          </p:cNvSpPr>
          <p:nvPr>
            <p:ph sz="quarter" idx="1"/>
          </p:nvPr>
        </p:nvSpPr>
        <p:spPr>
          <a:xfrm>
            <a:off x="2716214" y="4799013"/>
            <a:ext cx="6759575" cy="1670050"/>
          </a:xfrm>
        </p:spPr>
        <p:txBody>
          <a:bodyPr/>
          <a:lstStyle/>
          <a:p>
            <a:pPr marL="0" indent="0" algn="ctr">
              <a:buNone/>
            </a:pPr>
            <a:endParaRPr lang="en-US" altLang="en-US" dirty="0"/>
          </a:p>
          <a:p>
            <a:pPr marL="0" indent="0">
              <a:buNone/>
            </a:pPr>
            <a:r>
              <a:rPr lang="en-US" altLang="en-US" dirty="0"/>
              <a:t>				</a:t>
            </a:r>
          </a:p>
        </p:txBody>
      </p:sp>
      <p:sp>
        <p:nvSpPr>
          <p:cNvPr id="2" name="Date Placeholder 1"/>
          <p:cNvSpPr>
            <a:spLocks noGrp="1"/>
          </p:cNvSpPr>
          <p:nvPr>
            <p:ph type="dt" sz="half" idx="10"/>
          </p:nvPr>
        </p:nvSpPr>
        <p:spPr/>
        <p:txBody>
          <a:bodyPr/>
          <a:lstStyle/>
          <a:p>
            <a:pPr>
              <a:defRPr/>
            </a:pPr>
            <a:fld id="{1DEB56B9-9263-4C89-8A0D-1CE22A7CFBA3}"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28</a:t>
            </a:fld>
            <a:endParaRPr lang="en-US" altLang="en-US"/>
          </a:p>
        </p:txBody>
      </p:sp>
      <p:sp>
        <p:nvSpPr>
          <p:cNvPr id="4" name="Rectangle 2"/>
          <p:cNvSpPr>
            <a:spLocks noChangeArrowheads="1"/>
          </p:cNvSpPr>
          <p:nvPr/>
        </p:nvSpPr>
        <p:spPr bwMode="auto">
          <a:xfrm>
            <a:off x="0" y="0"/>
            <a:ext cx="12041489"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ZA"/>
          </a:p>
        </p:txBody>
      </p:sp>
      <p:graphicFrame>
        <p:nvGraphicFramePr>
          <p:cNvPr id="5" name="Object 4"/>
          <p:cNvGraphicFramePr>
            <a:graphicFrameLocks noChangeAspect="1"/>
          </p:cNvGraphicFramePr>
          <p:nvPr>
            <p:extLst>
              <p:ext uri="{D42A27DB-BD31-4B8C-83A1-F6EECF244321}">
                <p14:modId xmlns:p14="http://schemas.microsoft.com/office/powerpoint/2010/main" val="712046091"/>
              </p:ext>
            </p:extLst>
          </p:nvPr>
        </p:nvGraphicFramePr>
        <p:xfrm>
          <a:off x="4262907" y="4799013"/>
          <a:ext cx="3593206" cy="766763"/>
        </p:xfrm>
        <a:graphic>
          <a:graphicData uri="http://schemas.openxmlformats.org/presentationml/2006/ole">
            <mc:AlternateContent xmlns:mc="http://schemas.openxmlformats.org/markup-compatibility/2006">
              <mc:Choice xmlns:v="urn:schemas-microsoft-com:vml" Requires="v">
                <p:oleObj name="Equation" r:id="rId2" imgW="1091880" imgH="393480" progId="Equation.3">
                  <p:embed/>
                </p:oleObj>
              </mc:Choice>
              <mc:Fallback>
                <p:oleObj name="Equation" r:id="rId2" imgW="1091880" imgH="393480" progId="Equation.3">
                  <p:embed/>
                  <p:pic>
                    <p:nvPicPr>
                      <p:cNvPr id="5" name="Object 4"/>
                      <p:cNvPicPr>
                        <a:picLocks noChangeAspect="1" noChangeArrowheads="1"/>
                      </p:cNvPicPr>
                      <p:nvPr/>
                    </p:nvPicPr>
                    <p:blipFill>
                      <a:blip r:embed="rId3"/>
                      <a:srcRect/>
                      <a:stretch>
                        <a:fillRect/>
                      </a:stretch>
                    </p:blipFill>
                    <p:spPr bwMode="auto">
                      <a:xfrm>
                        <a:off x="4262907" y="4799013"/>
                        <a:ext cx="3593206" cy="766763"/>
                      </a:xfrm>
                      <a:prstGeom prst="rect">
                        <a:avLst/>
                      </a:prstGeom>
                      <a:noFill/>
                    </p:spPr>
                  </p:pic>
                </p:oleObj>
              </mc:Fallback>
            </mc:AlternateContent>
          </a:graphicData>
        </a:graphic>
      </p:graphicFrame>
    </p:spTree>
    <p:extLst>
      <p:ext uri="{BB962C8B-B14F-4D97-AF65-F5344CB8AC3E}">
        <p14:creationId xmlns:p14="http://schemas.microsoft.com/office/powerpoint/2010/main" val="412386649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sz="quarter"/>
          </p:nvPr>
        </p:nvSpPr>
        <p:spPr>
          <a:xfrm>
            <a:off x="1981200" y="274639"/>
            <a:ext cx="8229600" cy="949325"/>
          </a:xfrm>
        </p:spPr>
        <p:txBody>
          <a:bodyPr/>
          <a:lstStyle/>
          <a:p>
            <a:pPr eaLnBrk="1" hangingPunct="1"/>
            <a:r>
              <a:rPr lang="en-US" altLang="en-US" sz="3200" b="1">
                <a:solidFill>
                  <a:srgbClr val="000099"/>
                </a:solidFill>
              </a:rPr>
              <a:t>4. Equal-Payment Series Compound Amount</a:t>
            </a:r>
          </a:p>
        </p:txBody>
      </p:sp>
      <p:sp>
        <p:nvSpPr>
          <p:cNvPr id="50179"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0180"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0181" name="Content Placeholder 1"/>
          <p:cNvSpPr>
            <a:spLocks noGrp="1"/>
          </p:cNvSpPr>
          <p:nvPr>
            <p:ph sz="quarter" idx="1"/>
          </p:nvPr>
        </p:nvSpPr>
        <p:spPr>
          <a:xfrm>
            <a:off x="1639888" y="3787776"/>
            <a:ext cx="9028112" cy="3070225"/>
          </a:xfrm>
        </p:spPr>
        <p:txBody>
          <a:bodyPr/>
          <a:lstStyle/>
          <a:p>
            <a:pPr marL="0" indent="0" algn="ctr">
              <a:buNone/>
            </a:pPr>
            <a:endParaRPr lang="en-US" altLang="en-US" dirty="0">
              <a:solidFill>
                <a:srgbClr val="FF0000"/>
              </a:solidFill>
            </a:endParaRPr>
          </a:p>
          <a:p>
            <a:pPr marL="0" indent="0">
              <a:buNone/>
            </a:pPr>
            <a:r>
              <a:rPr lang="en-US" altLang="en-US" dirty="0">
                <a:solidFill>
                  <a:srgbClr val="FF0000"/>
                </a:solidFill>
              </a:rPr>
              <a:t>					</a:t>
            </a:r>
          </a:p>
          <a:p>
            <a:pPr marL="0" indent="0">
              <a:buNone/>
            </a:pPr>
            <a:r>
              <a:rPr lang="en-US" altLang="en-US" dirty="0">
                <a:solidFill>
                  <a:schemeClr val="tx1"/>
                </a:solidFill>
              </a:rPr>
              <a:t>=</a:t>
            </a:r>
            <a:r>
              <a:rPr lang="en-US" altLang="en-US" dirty="0">
                <a:solidFill>
                  <a:srgbClr val="FF0000"/>
                </a:solidFill>
              </a:rPr>
              <a:t>   </a:t>
            </a:r>
            <a:r>
              <a:rPr lang="en-US" altLang="en-US" b="1" dirty="0">
                <a:solidFill>
                  <a:schemeClr val="tx1"/>
                </a:solidFill>
              </a:rPr>
              <a:t> 10000 </a:t>
            </a:r>
            <a:r>
              <a:rPr lang="en-US" altLang="en-US" b="1" u="sng" dirty="0">
                <a:solidFill>
                  <a:schemeClr val="tx1"/>
                </a:solidFill>
              </a:rPr>
              <a:t>(1.20)</a:t>
            </a:r>
            <a:r>
              <a:rPr lang="en-US" altLang="en-US" b="1" u="sng" baseline="30000" dirty="0">
                <a:solidFill>
                  <a:schemeClr val="tx1"/>
                </a:solidFill>
              </a:rPr>
              <a:t>25</a:t>
            </a:r>
            <a:r>
              <a:rPr lang="en-US" altLang="en-US" b="1" u="sng" dirty="0">
                <a:solidFill>
                  <a:schemeClr val="tx1"/>
                </a:solidFill>
              </a:rPr>
              <a:t> – 1</a:t>
            </a:r>
            <a:r>
              <a:rPr lang="en-US" altLang="en-US" b="1" dirty="0">
                <a:solidFill>
                  <a:schemeClr val="tx1"/>
                </a:solidFill>
              </a:rPr>
              <a:t> =10000(471.98)=P4,719,800</a:t>
            </a:r>
            <a:endParaRPr lang="en-US" altLang="en-US" b="1" u="sng" dirty="0">
              <a:solidFill>
                <a:schemeClr val="tx1"/>
              </a:solidFill>
            </a:endParaRPr>
          </a:p>
          <a:p>
            <a:pPr marL="0" indent="0">
              <a:buNone/>
            </a:pPr>
            <a:r>
              <a:rPr lang="en-US" altLang="en-US" b="1" dirty="0">
                <a:solidFill>
                  <a:schemeClr val="tx1"/>
                </a:solidFill>
              </a:rPr>
              <a:t>		        0.20</a:t>
            </a:r>
          </a:p>
          <a:p>
            <a:pPr marL="0" indent="0">
              <a:buNone/>
            </a:pPr>
            <a:r>
              <a:rPr lang="en-US" altLang="en-US" b="1" dirty="0">
                <a:solidFill>
                  <a:schemeClr val="tx1"/>
                </a:solidFill>
              </a:rPr>
              <a:t>The future sum of the annual equal payments after 25 years is equal to P4,719,800.</a:t>
            </a:r>
          </a:p>
        </p:txBody>
      </p:sp>
      <p:sp>
        <p:nvSpPr>
          <p:cNvPr id="50182" name="Rectangle 2"/>
          <p:cNvSpPr>
            <a:spLocks noChangeArrowheads="1"/>
          </p:cNvSpPr>
          <p:nvPr/>
        </p:nvSpPr>
        <p:spPr bwMode="auto">
          <a:xfrm>
            <a:off x="2166939" y="1350964"/>
            <a:ext cx="78898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400" b="1" dirty="0">
                <a:solidFill>
                  <a:srgbClr val="FF0000"/>
                </a:solidFill>
              </a:rPr>
              <a:t>Ex8</a:t>
            </a:r>
            <a:r>
              <a:rPr lang="en-US" altLang="en-US" sz="2400" dirty="0"/>
              <a:t>: A person who is now 35 years old is planning for his retired life. He plans to invest </a:t>
            </a:r>
            <a:r>
              <a:rPr lang="en-US" altLang="en-US" sz="2400" b="1" dirty="0">
                <a:solidFill>
                  <a:srgbClr val="FF0000"/>
                </a:solidFill>
              </a:rPr>
              <a:t>an equal sum </a:t>
            </a:r>
            <a:r>
              <a:rPr lang="en-US" altLang="en-US" sz="2400" dirty="0"/>
              <a:t>of P10,000 at the end of every year </a:t>
            </a:r>
            <a:r>
              <a:rPr lang="en-US" altLang="en-US" sz="2400" b="1" dirty="0">
                <a:solidFill>
                  <a:srgbClr val="FF0000"/>
                </a:solidFill>
              </a:rPr>
              <a:t>for the next 25 years </a:t>
            </a:r>
            <a:r>
              <a:rPr lang="en-US" altLang="en-US" sz="2400" dirty="0"/>
              <a:t>starting at the end of next year. The bank offers a </a:t>
            </a:r>
            <a:r>
              <a:rPr lang="en-US" altLang="en-US" sz="2400" b="1" dirty="0">
                <a:solidFill>
                  <a:srgbClr val="FF0000"/>
                </a:solidFill>
              </a:rPr>
              <a:t>20%</a:t>
            </a:r>
            <a:r>
              <a:rPr lang="en-US" altLang="en-US" sz="2400" dirty="0"/>
              <a:t> interest rate </a:t>
            </a:r>
            <a:r>
              <a:rPr lang="en-US" altLang="en-US" sz="2400" b="1" dirty="0">
                <a:solidFill>
                  <a:srgbClr val="FF0000"/>
                </a:solidFill>
              </a:rPr>
              <a:t>compounded annually</a:t>
            </a:r>
            <a:r>
              <a:rPr lang="en-US" altLang="en-US" sz="2400" dirty="0"/>
              <a:t>. Find the maturity value of his account when he is 60 years old.</a:t>
            </a:r>
          </a:p>
        </p:txBody>
      </p:sp>
      <p:sp>
        <p:nvSpPr>
          <p:cNvPr id="2" name="Date Placeholder 1"/>
          <p:cNvSpPr>
            <a:spLocks noGrp="1"/>
          </p:cNvSpPr>
          <p:nvPr>
            <p:ph type="dt" sz="half" idx="10"/>
          </p:nvPr>
        </p:nvSpPr>
        <p:spPr/>
        <p:txBody>
          <a:bodyPr/>
          <a:lstStyle/>
          <a:p>
            <a:pPr>
              <a:defRPr/>
            </a:pPr>
            <a:fld id="{6A6EC0C7-D6EE-4899-8974-273980E25A8D}"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29</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2639532113"/>
              </p:ext>
            </p:extLst>
          </p:nvPr>
        </p:nvGraphicFramePr>
        <p:xfrm>
          <a:off x="5537200" y="3230563"/>
          <a:ext cx="1117600" cy="393700"/>
        </p:xfrm>
        <a:graphic>
          <a:graphicData uri="http://schemas.openxmlformats.org/presentationml/2006/ole">
            <mc:AlternateContent xmlns:mc="http://schemas.openxmlformats.org/markup-compatibility/2006">
              <mc:Choice xmlns:v="urn:schemas-microsoft-com:vml" Requires="v">
                <p:oleObj name="Equation" r:id="rId2" imgW="1117440" imgH="393480" progId="Equation.3">
                  <p:embed/>
                </p:oleObj>
              </mc:Choice>
              <mc:Fallback>
                <p:oleObj name="Equation" r:id="rId2" imgW="1117440" imgH="393480" progId="Equation.3">
                  <p:embed/>
                  <p:pic>
                    <p:nvPicPr>
                      <p:cNvPr id="4" name="Object 3"/>
                      <p:cNvPicPr/>
                      <p:nvPr/>
                    </p:nvPicPr>
                    <p:blipFill>
                      <a:blip r:embed="rId3"/>
                      <a:stretch>
                        <a:fillRect/>
                      </a:stretch>
                    </p:blipFill>
                    <p:spPr>
                      <a:xfrm>
                        <a:off x="5537200" y="3230563"/>
                        <a:ext cx="1117600" cy="3937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622532644"/>
              </p:ext>
            </p:extLst>
          </p:nvPr>
        </p:nvGraphicFramePr>
        <p:xfrm>
          <a:off x="2395469" y="3659189"/>
          <a:ext cx="5177307" cy="1028720"/>
        </p:xfrm>
        <a:graphic>
          <a:graphicData uri="http://schemas.openxmlformats.org/presentationml/2006/ole">
            <mc:AlternateContent xmlns:mc="http://schemas.openxmlformats.org/markup-compatibility/2006">
              <mc:Choice xmlns:v="urn:schemas-microsoft-com:vml" Requires="v">
                <p:oleObj name="Equation" r:id="rId4" imgW="1117440" imgH="393480" progId="Equation.3">
                  <p:embed/>
                </p:oleObj>
              </mc:Choice>
              <mc:Fallback>
                <p:oleObj name="Equation" r:id="rId4" imgW="1117440" imgH="393480" progId="Equation.3">
                  <p:embed/>
                  <p:pic>
                    <p:nvPicPr>
                      <p:cNvPr id="5" name="Object 4"/>
                      <p:cNvPicPr/>
                      <p:nvPr/>
                    </p:nvPicPr>
                    <p:blipFill>
                      <a:blip r:embed="rId3"/>
                      <a:stretch>
                        <a:fillRect/>
                      </a:stretch>
                    </p:blipFill>
                    <p:spPr>
                      <a:xfrm>
                        <a:off x="2395469" y="3659189"/>
                        <a:ext cx="5177307" cy="1028720"/>
                      </a:xfrm>
                      <a:prstGeom prst="rect">
                        <a:avLst/>
                      </a:prstGeom>
                    </p:spPr>
                  </p:pic>
                </p:oleObj>
              </mc:Fallback>
            </mc:AlternateContent>
          </a:graphicData>
        </a:graphic>
      </p:graphicFrame>
    </p:spTree>
    <p:extLst>
      <p:ext uri="{BB962C8B-B14F-4D97-AF65-F5344CB8AC3E}">
        <p14:creationId xmlns:p14="http://schemas.microsoft.com/office/powerpoint/2010/main" val="2552731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sz="quarter"/>
          </p:nvPr>
        </p:nvSpPr>
        <p:spPr>
          <a:xfrm>
            <a:off x="1981200" y="274639"/>
            <a:ext cx="8229600" cy="949325"/>
          </a:xfrm>
        </p:spPr>
        <p:txBody>
          <a:bodyPr/>
          <a:lstStyle/>
          <a:p>
            <a:pPr eaLnBrk="1" hangingPunct="1"/>
            <a:r>
              <a:rPr lang="en-US" altLang="en-US" sz="3200" b="1">
                <a:solidFill>
                  <a:srgbClr val="000099"/>
                </a:solidFill>
              </a:rPr>
              <a:t>5. Equal-Payment Series Sinking Fund</a:t>
            </a:r>
          </a:p>
        </p:txBody>
      </p:sp>
      <p:sp>
        <p:nvSpPr>
          <p:cNvPr id="51203"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1204"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1205" name="Rectangle 5"/>
          <p:cNvSpPr>
            <a:spLocks noChangeArrowheads="1"/>
          </p:cNvSpPr>
          <p:nvPr/>
        </p:nvSpPr>
        <p:spPr bwMode="auto">
          <a:xfrm>
            <a:off x="1811339" y="1529909"/>
            <a:ext cx="8569325"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r>
              <a:rPr lang="en-US" altLang="en-US" sz="2100" dirty="0"/>
              <a:t>The aim of this mode of investment is to find the equivalent amount (</a:t>
            </a:r>
            <a:r>
              <a:rPr lang="en-US" altLang="en-US" sz="2100" b="1" i="1" dirty="0"/>
              <a:t>A</a:t>
            </a:r>
            <a:r>
              <a:rPr lang="en-US" altLang="en-US" sz="2100" dirty="0"/>
              <a:t>) that should be deposited at the end of every interest period for </a:t>
            </a:r>
            <a:r>
              <a:rPr lang="en-US" altLang="en-US" sz="2100" b="1" i="1" dirty="0"/>
              <a:t>n</a:t>
            </a:r>
            <a:r>
              <a:rPr lang="en-US" altLang="en-US" sz="2100" dirty="0"/>
              <a:t> periods to realize a future sum (</a:t>
            </a:r>
            <a:r>
              <a:rPr lang="en-US" altLang="en-US" sz="2100" b="1" i="1" dirty="0"/>
              <a:t>F</a:t>
            </a:r>
            <a:r>
              <a:rPr lang="en-US" altLang="en-US" sz="2100" dirty="0"/>
              <a:t>) at the end of the nth interest period at an interest rate </a:t>
            </a:r>
            <a:r>
              <a:rPr lang="en-US" altLang="en-US" sz="2100" b="1" i="1" dirty="0" err="1"/>
              <a:t>i</a:t>
            </a:r>
            <a:r>
              <a:rPr lang="en-US" altLang="en-US" sz="2100" b="1" i="1" dirty="0"/>
              <a:t>.</a:t>
            </a:r>
          </a:p>
          <a:p>
            <a:pPr eaLnBrk="1" hangingPunct="1">
              <a:spcBef>
                <a:spcPct val="0"/>
              </a:spcBef>
              <a:buClr>
                <a:srgbClr val="FF0000"/>
              </a:buClr>
              <a:buFont typeface="Wingdings" panose="05000000000000000000" pitchFamily="2" charset="2"/>
              <a:buChar char="v"/>
            </a:pPr>
            <a:r>
              <a:rPr lang="en-US" altLang="en-US" sz="2100" dirty="0"/>
              <a:t>You want to buy or replace a fixed asset </a:t>
            </a:r>
            <a:r>
              <a:rPr lang="en-US" altLang="en-US" sz="2100" u="sng" dirty="0"/>
              <a:t>in the future</a:t>
            </a:r>
            <a:r>
              <a:rPr lang="en-US" altLang="en-US" sz="2100" dirty="0"/>
              <a:t>, or save for retirement. What is the amount to be deposited/contributed every N period?</a:t>
            </a:r>
          </a:p>
          <a:p>
            <a:pPr eaLnBrk="1" hangingPunct="1">
              <a:spcBef>
                <a:spcPct val="0"/>
              </a:spcBef>
              <a:buClr>
                <a:srgbClr val="FF0000"/>
              </a:buClr>
              <a:buFont typeface="Wingdings" panose="05000000000000000000" pitchFamily="2" charset="2"/>
              <a:buChar char="v"/>
            </a:pPr>
            <a:r>
              <a:rPr lang="en-US" altLang="en-US" sz="2100" dirty="0"/>
              <a:t>Let’s assume the following:</a:t>
            </a:r>
          </a:p>
          <a:p>
            <a:pPr lvl="1" eaLnBrk="1" hangingPunct="1">
              <a:spcBef>
                <a:spcPct val="0"/>
              </a:spcBef>
              <a:buClr>
                <a:srgbClr val="000099"/>
              </a:buClr>
              <a:buFont typeface="Wingdings" panose="05000000000000000000" pitchFamily="2" charset="2"/>
              <a:buChar char="©"/>
            </a:pPr>
            <a:r>
              <a:rPr lang="en-US" altLang="en-US" sz="2100" i="1" dirty="0">
                <a:solidFill>
                  <a:srgbClr val="FF0000"/>
                </a:solidFill>
              </a:rPr>
              <a:t>A</a:t>
            </a:r>
            <a:r>
              <a:rPr lang="en-US" altLang="en-US" sz="2100" i="1" dirty="0"/>
              <a:t>	</a:t>
            </a:r>
            <a:r>
              <a:rPr lang="en-US" altLang="en-US" sz="2100" dirty="0"/>
              <a:t>is the equal amount deposited at the end of 		each period</a:t>
            </a:r>
            <a:endParaRPr lang="en-US" altLang="en-US" sz="2100" i="1" dirty="0">
              <a:solidFill>
                <a:srgbClr val="FF0000"/>
              </a:solidFill>
            </a:endParaRPr>
          </a:p>
          <a:p>
            <a:pPr lvl="1" eaLnBrk="1" hangingPunct="1">
              <a:spcBef>
                <a:spcPct val="0"/>
              </a:spcBef>
              <a:buClr>
                <a:srgbClr val="000099"/>
              </a:buClr>
              <a:buFont typeface="Wingdings" panose="05000000000000000000" pitchFamily="2" charset="2"/>
              <a:buChar char="©"/>
            </a:pPr>
            <a:r>
              <a:rPr lang="en-US" altLang="en-US" sz="2100" i="1" dirty="0">
                <a:solidFill>
                  <a:srgbClr val="FF0000"/>
                </a:solidFill>
              </a:rPr>
              <a:t>F</a:t>
            </a:r>
            <a:r>
              <a:rPr lang="en-US" altLang="en-US" sz="2100" dirty="0"/>
              <a:t>	is the single future amount at the end of year N</a:t>
            </a:r>
          </a:p>
          <a:p>
            <a:pPr lvl="1" eaLnBrk="1" hangingPunct="1">
              <a:spcBef>
                <a:spcPct val="0"/>
              </a:spcBef>
              <a:buClr>
                <a:srgbClr val="000099"/>
              </a:buClr>
              <a:buFont typeface="Wingdings" panose="05000000000000000000" pitchFamily="2" charset="2"/>
              <a:buChar char="©"/>
            </a:pPr>
            <a:r>
              <a:rPr lang="en-US" altLang="en-US" sz="2100" i="1" dirty="0" err="1">
                <a:solidFill>
                  <a:srgbClr val="FF0000"/>
                </a:solidFill>
              </a:rPr>
              <a:t>i</a:t>
            </a:r>
            <a:r>
              <a:rPr lang="en-US" altLang="en-US" sz="2100" i="1" dirty="0"/>
              <a:t>	</a:t>
            </a:r>
            <a:r>
              <a:rPr lang="en-US" altLang="en-US" sz="2100" dirty="0"/>
              <a:t>is the interest rate per time period</a:t>
            </a:r>
          </a:p>
          <a:p>
            <a:pPr lvl="1" eaLnBrk="1" hangingPunct="1">
              <a:spcBef>
                <a:spcPct val="0"/>
              </a:spcBef>
              <a:buClr>
                <a:srgbClr val="000099"/>
              </a:buClr>
              <a:buFont typeface="Wingdings" panose="05000000000000000000" pitchFamily="2" charset="2"/>
              <a:buChar char="©"/>
            </a:pPr>
            <a:r>
              <a:rPr lang="en-US" altLang="en-US" sz="2100" i="1" dirty="0">
                <a:solidFill>
                  <a:srgbClr val="FF0000"/>
                </a:solidFill>
              </a:rPr>
              <a:t>N</a:t>
            </a:r>
            <a:r>
              <a:rPr lang="en-US" altLang="en-US" sz="2100" i="1" dirty="0"/>
              <a:t>	</a:t>
            </a:r>
            <a:r>
              <a:rPr lang="en-US" altLang="en-US" sz="2100" dirty="0"/>
              <a:t>is the number of time periods</a:t>
            </a:r>
          </a:p>
        </p:txBody>
      </p:sp>
      <p:sp>
        <p:nvSpPr>
          <p:cNvPr id="51206" name="Rectangle 9"/>
          <p:cNvSpPr>
            <a:spLocks noChangeArrowheads="1"/>
          </p:cNvSpPr>
          <p:nvPr/>
        </p:nvSpPr>
        <p:spPr bwMode="auto">
          <a:xfrm>
            <a:off x="1981200" y="6042026"/>
            <a:ext cx="127793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r>
              <a:rPr lang="en-US" altLang="en-US" sz="2400"/>
              <a:t>Then</a:t>
            </a:r>
          </a:p>
          <a:p>
            <a:pPr eaLnBrk="1" hangingPunct="1">
              <a:spcBef>
                <a:spcPct val="0"/>
              </a:spcBef>
              <a:buClr>
                <a:srgbClr val="FF0000"/>
              </a:buClr>
              <a:buFont typeface="Wingdings" panose="05000000000000000000" pitchFamily="2" charset="2"/>
              <a:buChar char="v"/>
            </a:pPr>
            <a:endParaRPr lang="en-US" altLang="en-US" sz="2400"/>
          </a:p>
        </p:txBody>
      </p:sp>
      <p:sp>
        <p:nvSpPr>
          <p:cNvPr id="51207" name="Content Placeholder 1"/>
          <p:cNvSpPr>
            <a:spLocks noGrp="1"/>
          </p:cNvSpPr>
          <p:nvPr>
            <p:ph sz="quarter" idx="1"/>
          </p:nvPr>
        </p:nvSpPr>
        <p:spPr>
          <a:xfrm>
            <a:off x="2716214" y="6118226"/>
            <a:ext cx="6759575" cy="1668463"/>
          </a:xfrm>
        </p:spPr>
        <p:txBody>
          <a:bodyPr/>
          <a:lstStyle/>
          <a:p>
            <a:pPr marL="0" indent="0" algn="ctr">
              <a:buNone/>
            </a:pPr>
            <a:endParaRPr lang="en-US" altLang="en-US" dirty="0"/>
          </a:p>
          <a:p>
            <a:pPr marL="0" indent="0">
              <a:buNone/>
            </a:pPr>
            <a:endParaRPr lang="en-US" altLang="en-US" dirty="0"/>
          </a:p>
        </p:txBody>
      </p:sp>
      <p:sp>
        <p:nvSpPr>
          <p:cNvPr id="2" name="Date Placeholder 1"/>
          <p:cNvSpPr>
            <a:spLocks noGrp="1"/>
          </p:cNvSpPr>
          <p:nvPr>
            <p:ph type="dt" sz="half" idx="10"/>
          </p:nvPr>
        </p:nvSpPr>
        <p:spPr/>
        <p:txBody>
          <a:bodyPr/>
          <a:lstStyle/>
          <a:p>
            <a:pPr>
              <a:defRPr/>
            </a:pPr>
            <a:fld id="{4320900C-D0DC-471B-A3FE-5E2C4EBED91D}"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30</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815541483"/>
              </p:ext>
            </p:extLst>
          </p:nvPr>
        </p:nvGraphicFramePr>
        <p:xfrm>
          <a:off x="4494727" y="5705341"/>
          <a:ext cx="3181081" cy="850004"/>
        </p:xfrm>
        <a:graphic>
          <a:graphicData uri="http://schemas.openxmlformats.org/presentationml/2006/ole">
            <mc:AlternateContent xmlns:mc="http://schemas.openxmlformats.org/markup-compatibility/2006">
              <mc:Choice xmlns:v="urn:schemas-microsoft-com:vml" Requires="v">
                <p:oleObj name="Equation" r:id="rId2" imgW="1104840" imgH="431640" progId="Equation.3">
                  <p:embed/>
                </p:oleObj>
              </mc:Choice>
              <mc:Fallback>
                <p:oleObj name="Equation" r:id="rId2" imgW="1104840" imgH="431640" progId="Equation.3">
                  <p:embed/>
                  <p:pic>
                    <p:nvPicPr>
                      <p:cNvPr id="4" name="Object 3"/>
                      <p:cNvPicPr/>
                      <p:nvPr/>
                    </p:nvPicPr>
                    <p:blipFill>
                      <a:blip r:embed="rId3"/>
                      <a:stretch>
                        <a:fillRect/>
                      </a:stretch>
                    </p:blipFill>
                    <p:spPr>
                      <a:xfrm>
                        <a:off x="4494727" y="5705341"/>
                        <a:ext cx="3181081" cy="850004"/>
                      </a:xfrm>
                      <a:prstGeom prst="rect">
                        <a:avLst/>
                      </a:prstGeom>
                    </p:spPr>
                  </p:pic>
                </p:oleObj>
              </mc:Fallback>
            </mc:AlternateContent>
          </a:graphicData>
        </a:graphic>
      </p:graphicFrame>
    </p:spTree>
    <p:extLst>
      <p:ext uri="{BB962C8B-B14F-4D97-AF65-F5344CB8AC3E}">
        <p14:creationId xmlns:p14="http://schemas.microsoft.com/office/powerpoint/2010/main" val="201540591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sz="quarter"/>
          </p:nvPr>
        </p:nvSpPr>
        <p:spPr>
          <a:xfrm>
            <a:off x="1981200" y="274639"/>
            <a:ext cx="8229600" cy="949325"/>
          </a:xfrm>
        </p:spPr>
        <p:txBody>
          <a:bodyPr/>
          <a:lstStyle/>
          <a:p>
            <a:pPr eaLnBrk="1" hangingPunct="1"/>
            <a:r>
              <a:rPr lang="en-US" altLang="en-US" sz="3200" b="1">
                <a:solidFill>
                  <a:srgbClr val="000099"/>
                </a:solidFill>
              </a:rPr>
              <a:t>5. Equal-Payment Series Sinking Fund</a:t>
            </a:r>
          </a:p>
        </p:txBody>
      </p:sp>
      <p:sp>
        <p:nvSpPr>
          <p:cNvPr id="52227"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2228"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2229" name="Rectangle 5"/>
          <p:cNvSpPr>
            <a:spLocks noChangeArrowheads="1"/>
          </p:cNvSpPr>
          <p:nvPr/>
        </p:nvSpPr>
        <p:spPr bwMode="auto">
          <a:xfrm>
            <a:off x="1909764" y="1493839"/>
            <a:ext cx="837247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Tx/>
              <a:buNone/>
            </a:pPr>
            <a:r>
              <a:rPr lang="en-US" altLang="en-US" sz="2400" dirty="0">
                <a:solidFill>
                  <a:srgbClr val="FF0000"/>
                </a:solidFill>
              </a:rPr>
              <a:t>Ex9</a:t>
            </a:r>
            <a:r>
              <a:rPr lang="en-US" altLang="en-US" sz="2400" dirty="0"/>
              <a:t>: A company has to replace a present facility after 15 years at an outlay of P500,000. It plans to deposit an equal amount at the end of every year for the next 15 years at an interest rate of 18% compounded annually. Find the equivalent amount that must be deposited at the end of every year for the next 15 years.</a:t>
            </a:r>
          </a:p>
        </p:txBody>
      </p:sp>
      <p:sp>
        <p:nvSpPr>
          <p:cNvPr id="2" name="Date Placeholder 1"/>
          <p:cNvSpPr>
            <a:spLocks noGrp="1"/>
          </p:cNvSpPr>
          <p:nvPr>
            <p:ph type="dt" sz="half" idx="10"/>
          </p:nvPr>
        </p:nvSpPr>
        <p:spPr/>
        <p:txBody>
          <a:bodyPr/>
          <a:lstStyle/>
          <a:p>
            <a:pPr>
              <a:defRPr/>
            </a:pPr>
            <a:fld id="{F7D8C896-222E-44B7-8738-618EF85A8059}"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31</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723231075"/>
              </p:ext>
            </p:extLst>
          </p:nvPr>
        </p:nvGraphicFramePr>
        <p:xfrm>
          <a:off x="3464417" y="4071939"/>
          <a:ext cx="4082603" cy="1414460"/>
        </p:xfrm>
        <a:graphic>
          <a:graphicData uri="http://schemas.openxmlformats.org/presentationml/2006/ole">
            <mc:AlternateContent xmlns:mc="http://schemas.openxmlformats.org/markup-compatibility/2006">
              <mc:Choice xmlns:v="urn:schemas-microsoft-com:vml" Requires="v">
                <p:oleObj name="Equation" r:id="rId2" imgW="1104840" imgH="431640" progId="Equation.3">
                  <p:embed/>
                </p:oleObj>
              </mc:Choice>
              <mc:Fallback>
                <p:oleObj name="Equation" r:id="rId2" imgW="1104840" imgH="431640" progId="Equation.3">
                  <p:embed/>
                  <p:pic>
                    <p:nvPicPr>
                      <p:cNvPr id="4" name="Object 3"/>
                      <p:cNvPicPr/>
                      <p:nvPr/>
                    </p:nvPicPr>
                    <p:blipFill>
                      <a:blip r:embed="rId3"/>
                      <a:stretch>
                        <a:fillRect/>
                      </a:stretch>
                    </p:blipFill>
                    <p:spPr>
                      <a:xfrm>
                        <a:off x="3464417" y="4071939"/>
                        <a:ext cx="4082603" cy="1414460"/>
                      </a:xfrm>
                      <a:prstGeom prst="rect">
                        <a:avLst/>
                      </a:prstGeom>
                    </p:spPr>
                  </p:pic>
                </p:oleObj>
              </mc:Fallback>
            </mc:AlternateContent>
          </a:graphicData>
        </a:graphic>
      </p:graphicFrame>
    </p:spTree>
    <p:extLst>
      <p:ext uri="{BB962C8B-B14F-4D97-AF65-F5344CB8AC3E}">
        <p14:creationId xmlns:p14="http://schemas.microsoft.com/office/powerpoint/2010/main" val="248295900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sz="quarter"/>
          </p:nvPr>
        </p:nvSpPr>
        <p:spPr>
          <a:xfrm>
            <a:off x="1981200" y="274639"/>
            <a:ext cx="8229600" cy="949325"/>
          </a:xfrm>
        </p:spPr>
        <p:txBody>
          <a:bodyPr/>
          <a:lstStyle/>
          <a:p>
            <a:pPr eaLnBrk="1" hangingPunct="1"/>
            <a:r>
              <a:rPr lang="en-US" altLang="en-US" sz="3200" b="1">
                <a:solidFill>
                  <a:srgbClr val="000099"/>
                </a:solidFill>
              </a:rPr>
              <a:t>5. Equal-Payment Series Sinking Fund</a:t>
            </a:r>
          </a:p>
        </p:txBody>
      </p:sp>
      <p:sp>
        <p:nvSpPr>
          <p:cNvPr id="53251"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3252"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3253" name="Rectangle 5"/>
          <p:cNvSpPr>
            <a:spLocks noChangeArrowheads="1"/>
          </p:cNvSpPr>
          <p:nvPr/>
        </p:nvSpPr>
        <p:spPr bwMode="auto">
          <a:xfrm>
            <a:off x="1909764" y="1493839"/>
            <a:ext cx="837247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Tx/>
              <a:buNone/>
            </a:pPr>
            <a:r>
              <a:rPr lang="en-US" altLang="en-US" sz="2400" dirty="0">
                <a:solidFill>
                  <a:srgbClr val="FF0000"/>
                </a:solidFill>
              </a:rPr>
              <a:t>Ex9</a:t>
            </a:r>
            <a:r>
              <a:rPr lang="en-US" altLang="en-US" sz="2400" dirty="0"/>
              <a:t>: A company has to replace a present facility after 15 years at an outlay of P500,000. It plans to deposit </a:t>
            </a:r>
            <a:r>
              <a:rPr lang="en-US" altLang="en-US" sz="2400" b="1" dirty="0"/>
              <a:t>an equal amount</a:t>
            </a:r>
            <a:r>
              <a:rPr lang="en-US" altLang="en-US" sz="2400" dirty="0"/>
              <a:t> at the end of every year for the </a:t>
            </a:r>
            <a:r>
              <a:rPr lang="en-US" altLang="en-US" sz="2400" b="1" dirty="0"/>
              <a:t>next 15 years</a:t>
            </a:r>
            <a:r>
              <a:rPr lang="en-US" altLang="en-US" sz="2400" b="1" dirty="0">
                <a:solidFill>
                  <a:srgbClr val="FF0000"/>
                </a:solidFill>
              </a:rPr>
              <a:t> </a:t>
            </a:r>
            <a:r>
              <a:rPr lang="en-US" altLang="en-US" sz="2400" dirty="0"/>
              <a:t>at an interest rate of </a:t>
            </a:r>
            <a:r>
              <a:rPr lang="en-US" altLang="en-US" sz="2400" b="1" dirty="0"/>
              <a:t>18% compounded annually</a:t>
            </a:r>
            <a:r>
              <a:rPr lang="en-US" altLang="en-US" sz="2400" dirty="0"/>
              <a:t>. Find the equivalent amount that must be deposited at the end of every year for the next 15 years.</a:t>
            </a:r>
          </a:p>
        </p:txBody>
      </p:sp>
      <p:sp>
        <p:nvSpPr>
          <p:cNvPr id="53254" name="Content Placeholder 1"/>
          <p:cNvSpPr>
            <a:spLocks noGrp="1"/>
          </p:cNvSpPr>
          <p:nvPr>
            <p:ph sz="quarter" idx="1"/>
          </p:nvPr>
        </p:nvSpPr>
        <p:spPr>
          <a:xfrm>
            <a:off x="1981201" y="4057651"/>
            <a:ext cx="7680325" cy="2595563"/>
          </a:xfrm>
        </p:spPr>
        <p:txBody>
          <a:bodyPr>
            <a:normAutofit fontScale="92500" lnSpcReduction="10000"/>
          </a:bodyPr>
          <a:lstStyle/>
          <a:p>
            <a:pPr marL="0" indent="0" algn="ctr">
              <a:buNone/>
            </a:pPr>
            <a:endParaRPr lang="en-US" altLang="en-US" dirty="0"/>
          </a:p>
          <a:p>
            <a:pPr marL="0" indent="0">
              <a:buNone/>
            </a:pPr>
            <a:endParaRPr lang="en-US" altLang="en-US" dirty="0"/>
          </a:p>
          <a:p>
            <a:pPr marL="0" indent="0">
              <a:buNone/>
            </a:pPr>
            <a:r>
              <a:rPr lang="en-US" altLang="en-US" dirty="0"/>
              <a:t>= 500000 [ 0.18 / (1.18)</a:t>
            </a:r>
            <a:r>
              <a:rPr lang="en-US" altLang="en-US" baseline="30000" dirty="0"/>
              <a:t>15</a:t>
            </a:r>
            <a:r>
              <a:rPr lang="en-US" altLang="en-US" dirty="0"/>
              <a:t> – 1]</a:t>
            </a:r>
          </a:p>
          <a:p>
            <a:pPr marL="0" indent="0">
              <a:buNone/>
            </a:pPr>
            <a:r>
              <a:rPr lang="en-US" altLang="en-US" dirty="0"/>
              <a:t>= 500000 [0.0164] = P8,200</a:t>
            </a:r>
          </a:p>
          <a:p>
            <a:pPr marL="0" indent="0">
              <a:buNone/>
            </a:pPr>
            <a:r>
              <a:rPr lang="en-US" altLang="en-US" b="1" dirty="0">
                <a:solidFill>
                  <a:schemeClr val="tx1"/>
                </a:solidFill>
              </a:rPr>
              <a:t>The annual equal amount which must be deposited for 15 years is P8,200 </a:t>
            </a:r>
          </a:p>
          <a:p>
            <a:pPr marL="0" indent="0">
              <a:buNone/>
            </a:pPr>
            <a:endParaRPr lang="en-US" altLang="en-US" dirty="0"/>
          </a:p>
        </p:txBody>
      </p:sp>
      <p:sp>
        <p:nvSpPr>
          <p:cNvPr id="2" name="Date Placeholder 1"/>
          <p:cNvSpPr>
            <a:spLocks noGrp="1"/>
          </p:cNvSpPr>
          <p:nvPr>
            <p:ph type="dt" sz="half" idx="10"/>
          </p:nvPr>
        </p:nvSpPr>
        <p:spPr/>
        <p:txBody>
          <a:bodyPr/>
          <a:lstStyle/>
          <a:p>
            <a:pPr>
              <a:defRPr/>
            </a:pPr>
            <a:fld id="{00C1F795-6DE9-441C-B193-4398618E6EA2}"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32</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1631278495"/>
              </p:ext>
            </p:extLst>
          </p:nvPr>
        </p:nvGraphicFramePr>
        <p:xfrm>
          <a:off x="2343955" y="3802063"/>
          <a:ext cx="4739425" cy="1027514"/>
        </p:xfrm>
        <a:graphic>
          <a:graphicData uri="http://schemas.openxmlformats.org/presentationml/2006/ole">
            <mc:AlternateContent xmlns:mc="http://schemas.openxmlformats.org/markup-compatibility/2006">
              <mc:Choice xmlns:v="urn:schemas-microsoft-com:vml" Requires="v">
                <p:oleObj name="Equation" r:id="rId2" imgW="1104840" imgH="431640" progId="Equation.3">
                  <p:embed/>
                </p:oleObj>
              </mc:Choice>
              <mc:Fallback>
                <p:oleObj name="Equation" r:id="rId2" imgW="1104840" imgH="431640" progId="Equation.3">
                  <p:embed/>
                  <p:pic>
                    <p:nvPicPr>
                      <p:cNvPr id="4" name="Object 3"/>
                      <p:cNvPicPr/>
                      <p:nvPr/>
                    </p:nvPicPr>
                    <p:blipFill>
                      <a:blip r:embed="rId3"/>
                      <a:stretch>
                        <a:fillRect/>
                      </a:stretch>
                    </p:blipFill>
                    <p:spPr>
                      <a:xfrm>
                        <a:off x="2343955" y="3802063"/>
                        <a:ext cx="4739425" cy="1027514"/>
                      </a:xfrm>
                      <a:prstGeom prst="rect">
                        <a:avLst/>
                      </a:prstGeom>
                    </p:spPr>
                  </p:pic>
                </p:oleObj>
              </mc:Fallback>
            </mc:AlternateContent>
          </a:graphicData>
        </a:graphic>
      </p:graphicFrame>
    </p:spTree>
    <p:extLst>
      <p:ext uri="{BB962C8B-B14F-4D97-AF65-F5344CB8AC3E}">
        <p14:creationId xmlns:p14="http://schemas.microsoft.com/office/powerpoint/2010/main" val="238116342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sz="quarter"/>
          </p:nvPr>
        </p:nvSpPr>
        <p:spPr>
          <a:xfrm>
            <a:off x="1981200" y="274639"/>
            <a:ext cx="8229600" cy="949325"/>
          </a:xfrm>
        </p:spPr>
        <p:txBody>
          <a:bodyPr>
            <a:normAutofit fontScale="90000"/>
          </a:bodyPr>
          <a:lstStyle/>
          <a:p>
            <a:pPr eaLnBrk="1" hangingPunct="1"/>
            <a:r>
              <a:rPr lang="en-US" altLang="en-US" sz="3200" b="1">
                <a:solidFill>
                  <a:srgbClr val="000099"/>
                </a:solidFill>
              </a:rPr>
              <a:t>6. Equal-Payment Series Present Worth Amount</a:t>
            </a:r>
          </a:p>
        </p:txBody>
      </p:sp>
      <p:sp>
        <p:nvSpPr>
          <p:cNvPr id="54275"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4276"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4277" name="Rectangle 5"/>
          <p:cNvSpPr>
            <a:spLocks noChangeArrowheads="1"/>
          </p:cNvSpPr>
          <p:nvPr/>
        </p:nvSpPr>
        <p:spPr bwMode="auto">
          <a:xfrm>
            <a:off x="1909764" y="1065214"/>
            <a:ext cx="8372475" cy="452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r>
              <a:rPr lang="en-US" altLang="en-US" sz="2400"/>
              <a:t>The aim of this mode of investment is to find the present worth (</a:t>
            </a:r>
            <a:r>
              <a:rPr lang="en-US" altLang="en-US" sz="2400" b="1" i="1"/>
              <a:t>P</a:t>
            </a:r>
            <a:r>
              <a:rPr lang="en-US" altLang="en-US" sz="2400"/>
              <a:t>) of an equal payment made at the end of every period for </a:t>
            </a:r>
            <a:r>
              <a:rPr lang="en-US" altLang="en-US" sz="2400" b="1" i="1"/>
              <a:t>n</a:t>
            </a:r>
            <a:r>
              <a:rPr lang="en-US" altLang="en-US" sz="2400"/>
              <a:t> periods at an interest rate of </a:t>
            </a:r>
            <a:r>
              <a:rPr lang="en-US" altLang="en-US" sz="2400" b="1" i="1"/>
              <a:t>i</a:t>
            </a:r>
            <a:r>
              <a:rPr lang="en-US" altLang="en-US" sz="2400"/>
              <a:t> compounded at the end of every period</a:t>
            </a:r>
            <a:r>
              <a:rPr lang="en-US" altLang="en-US" sz="2400" b="1" i="1"/>
              <a:t>.</a:t>
            </a:r>
          </a:p>
          <a:p>
            <a:pPr eaLnBrk="1" hangingPunct="1">
              <a:spcBef>
                <a:spcPct val="0"/>
              </a:spcBef>
              <a:buClr>
                <a:srgbClr val="FF0000"/>
              </a:buClr>
              <a:buFont typeface="Wingdings" panose="05000000000000000000" pitchFamily="2" charset="2"/>
              <a:buChar char="v"/>
            </a:pPr>
            <a:r>
              <a:rPr lang="en-US" altLang="en-US" sz="2400"/>
              <a:t>You want to withdraw/receive an amount at the end of each year for the next N years. How much should you invest NOW/ what single payment should be made NOW?</a:t>
            </a:r>
          </a:p>
          <a:p>
            <a:pPr eaLnBrk="1" hangingPunct="1">
              <a:spcBef>
                <a:spcPct val="0"/>
              </a:spcBef>
              <a:buClr>
                <a:srgbClr val="FF0000"/>
              </a:buClr>
              <a:buFont typeface="Wingdings" panose="05000000000000000000" pitchFamily="2" charset="2"/>
              <a:buChar char="v"/>
            </a:pPr>
            <a:r>
              <a:rPr lang="en-US" altLang="en-US" sz="2400"/>
              <a:t>Let’s assume the following:</a:t>
            </a:r>
          </a:p>
          <a:p>
            <a:pPr lvl="1" eaLnBrk="1" hangingPunct="1">
              <a:spcBef>
                <a:spcPct val="0"/>
              </a:spcBef>
              <a:buClr>
                <a:srgbClr val="000099"/>
              </a:buClr>
              <a:buFont typeface="Wingdings" panose="05000000000000000000" pitchFamily="2" charset="2"/>
              <a:buChar char="©"/>
            </a:pPr>
            <a:r>
              <a:rPr lang="en-US" altLang="en-US" sz="2400" i="1">
                <a:solidFill>
                  <a:srgbClr val="FF0000"/>
                </a:solidFill>
              </a:rPr>
              <a:t>A</a:t>
            </a:r>
            <a:r>
              <a:rPr lang="en-US" altLang="en-US" sz="2400" i="1"/>
              <a:t>	</a:t>
            </a:r>
            <a:r>
              <a:rPr lang="en-US" altLang="en-US" sz="2400"/>
              <a:t>is the annual equivalent payment</a:t>
            </a:r>
            <a:endParaRPr lang="en-US" altLang="en-US" sz="2400" i="1">
              <a:solidFill>
                <a:srgbClr val="FF0000"/>
              </a:solidFill>
            </a:endParaRPr>
          </a:p>
          <a:p>
            <a:pPr lvl="1" eaLnBrk="1" hangingPunct="1">
              <a:spcBef>
                <a:spcPct val="0"/>
              </a:spcBef>
              <a:buClr>
                <a:srgbClr val="000099"/>
              </a:buClr>
              <a:buFont typeface="Wingdings" panose="05000000000000000000" pitchFamily="2" charset="2"/>
              <a:buChar char="©"/>
            </a:pPr>
            <a:r>
              <a:rPr lang="en-US" altLang="en-US" sz="2400" i="1">
                <a:solidFill>
                  <a:srgbClr val="FF0000"/>
                </a:solidFill>
              </a:rPr>
              <a:t>P</a:t>
            </a:r>
            <a:r>
              <a:rPr lang="en-US" altLang="en-US" sz="2400"/>
              <a:t>	is the present worth</a:t>
            </a:r>
          </a:p>
          <a:p>
            <a:pPr lvl="1" eaLnBrk="1" hangingPunct="1">
              <a:spcBef>
                <a:spcPct val="0"/>
              </a:spcBef>
              <a:buClr>
                <a:srgbClr val="000099"/>
              </a:buClr>
              <a:buFont typeface="Wingdings" panose="05000000000000000000" pitchFamily="2" charset="2"/>
              <a:buChar char="©"/>
            </a:pPr>
            <a:r>
              <a:rPr lang="en-US" altLang="en-US" sz="2400" i="1">
                <a:solidFill>
                  <a:srgbClr val="FF0000"/>
                </a:solidFill>
              </a:rPr>
              <a:t>i</a:t>
            </a:r>
            <a:r>
              <a:rPr lang="en-US" altLang="en-US" sz="2400" i="1"/>
              <a:t>	</a:t>
            </a:r>
            <a:r>
              <a:rPr lang="en-US" altLang="en-US" sz="2400"/>
              <a:t>is the interest rate per time period</a:t>
            </a:r>
          </a:p>
          <a:p>
            <a:pPr lvl="1" eaLnBrk="1" hangingPunct="1">
              <a:spcBef>
                <a:spcPct val="0"/>
              </a:spcBef>
              <a:buClr>
                <a:srgbClr val="000099"/>
              </a:buClr>
              <a:buFont typeface="Wingdings" panose="05000000000000000000" pitchFamily="2" charset="2"/>
              <a:buChar char="©"/>
            </a:pPr>
            <a:r>
              <a:rPr lang="en-US" altLang="en-US" sz="2400" i="1">
                <a:solidFill>
                  <a:srgbClr val="FF0000"/>
                </a:solidFill>
              </a:rPr>
              <a:t>N</a:t>
            </a:r>
            <a:r>
              <a:rPr lang="en-US" altLang="en-US" sz="2400" i="1"/>
              <a:t>	</a:t>
            </a:r>
            <a:r>
              <a:rPr lang="en-US" altLang="en-US" sz="2400"/>
              <a:t>is the number of time periods</a:t>
            </a:r>
          </a:p>
        </p:txBody>
      </p:sp>
      <p:sp>
        <p:nvSpPr>
          <p:cNvPr id="54278" name="Rectangle 9"/>
          <p:cNvSpPr>
            <a:spLocks noChangeArrowheads="1"/>
          </p:cNvSpPr>
          <p:nvPr/>
        </p:nvSpPr>
        <p:spPr bwMode="auto">
          <a:xfrm>
            <a:off x="2078038" y="5459414"/>
            <a:ext cx="1276350" cy="82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r>
              <a:rPr lang="en-US" altLang="en-US" sz="2400"/>
              <a:t>Then</a:t>
            </a:r>
          </a:p>
          <a:p>
            <a:pPr eaLnBrk="1" hangingPunct="1">
              <a:spcBef>
                <a:spcPct val="0"/>
              </a:spcBef>
              <a:buClr>
                <a:srgbClr val="FF0000"/>
              </a:buClr>
              <a:buFont typeface="Wingdings" panose="05000000000000000000" pitchFamily="2" charset="2"/>
              <a:buChar char="v"/>
            </a:pPr>
            <a:endParaRPr lang="en-US" altLang="en-US" sz="2400"/>
          </a:p>
        </p:txBody>
      </p:sp>
      <p:sp>
        <p:nvSpPr>
          <p:cNvPr id="54279" name="Content Placeholder 1"/>
          <p:cNvSpPr>
            <a:spLocks noGrp="1"/>
          </p:cNvSpPr>
          <p:nvPr>
            <p:ph sz="quarter" idx="1"/>
          </p:nvPr>
        </p:nvSpPr>
        <p:spPr>
          <a:xfrm>
            <a:off x="2716214" y="5545138"/>
            <a:ext cx="6759575" cy="1670050"/>
          </a:xfrm>
        </p:spPr>
        <p:txBody>
          <a:bodyPr/>
          <a:lstStyle/>
          <a:p>
            <a:pPr marL="0" indent="0" algn="ctr">
              <a:buNone/>
            </a:pPr>
            <a:r>
              <a:rPr lang="en-US" altLang="en-US"/>
              <a:t>P = A  </a:t>
            </a:r>
            <a:r>
              <a:rPr lang="en-US" altLang="en-US" u="sng"/>
              <a:t>(1 + i)</a:t>
            </a:r>
            <a:r>
              <a:rPr lang="en-US" altLang="en-US" u="sng" baseline="30000"/>
              <a:t>N</a:t>
            </a:r>
            <a:r>
              <a:rPr lang="en-US" altLang="en-US" u="sng"/>
              <a:t> – 1</a:t>
            </a:r>
            <a:endParaRPr lang="en-US" altLang="en-US"/>
          </a:p>
          <a:p>
            <a:pPr marL="0" indent="0">
              <a:buNone/>
            </a:pPr>
            <a:r>
              <a:rPr lang="en-US" altLang="en-US"/>
              <a:t>			    i (1 + i)</a:t>
            </a:r>
            <a:r>
              <a:rPr lang="en-US" altLang="en-US" baseline="30000"/>
              <a:t>N</a:t>
            </a:r>
            <a:r>
              <a:rPr lang="en-US" altLang="en-US"/>
              <a:t> </a:t>
            </a:r>
          </a:p>
          <a:p>
            <a:pPr marL="0" indent="0">
              <a:buNone/>
            </a:pPr>
            <a:endParaRPr lang="en-US" altLang="en-US"/>
          </a:p>
        </p:txBody>
      </p:sp>
      <p:sp>
        <p:nvSpPr>
          <p:cNvPr id="2" name="Date Placeholder 1"/>
          <p:cNvSpPr>
            <a:spLocks noGrp="1"/>
          </p:cNvSpPr>
          <p:nvPr>
            <p:ph type="dt" sz="half" idx="10"/>
          </p:nvPr>
        </p:nvSpPr>
        <p:spPr/>
        <p:txBody>
          <a:bodyPr/>
          <a:lstStyle/>
          <a:p>
            <a:pPr>
              <a:defRPr/>
            </a:pPr>
            <a:fld id="{36F89CAD-5A80-433D-8C36-194015215E39}"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33</a:t>
            </a:fld>
            <a:endParaRPr lang="en-US" altLang="en-US"/>
          </a:p>
        </p:txBody>
      </p:sp>
    </p:spTree>
    <p:extLst>
      <p:ext uri="{BB962C8B-B14F-4D97-AF65-F5344CB8AC3E}">
        <p14:creationId xmlns:p14="http://schemas.microsoft.com/office/powerpoint/2010/main" val="267789961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sz="quarter"/>
          </p:nvPr>
        </p:nvSpPr>
        <p:spPr>
          <a:xfrm>
            <a:off x="1981200" y="274639"/>
            <a:ext cx="8229600" cy="949325"/>
          </a:xfrm>
        </p:spPr>
        <p:txBody>
          <a:bodyPr>
            <a:normAutofit fontScale="90000"/>
          </a:bodyPr>
          <a:lstStyle/>
          <a:p>
            <a:pPr eaLnBrk="1" hangingPunct="1"/>
            <a:r>
              <a:rPr lang="en-US" altLang="en-US" sz="3200" b="1">
                <a:solidFill>
                  <a:srgbClr val="000099"/>
                </a:solidFill>
              </a:rPr>
              <a:t>6. Equal-Payment Series Present Worth Amount</a:t>
            </a:r>
          </a:p>
        </p:txBody>
      </p:sp>
      <p:sp>
        <p:nvSpPr>
          <p:cNvPr id="55299"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5300"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5301" name="Content Placeholder 1"/>
          <p:cNvSpPr>
            <a:spLocks noGrp="1"/>
          </p:cNvSpPr>
          <p:nvPr>
            <p:ph sz="quarter" idx="1"/>
          </p:nvPr>
        </p:nvSpPr>
        <p:spPr>
          <a:xfrm>
            <a:off x="2540001" y="4071938"/>
            <a:ext cx="6761163" cy="1670050"/>
          </a:xfrm>
        </p:spPr>
        <p:txBody>
          <a:bodyPr/>
          <a:lstStyle/>
          <a:p>
            <a:pPr marL="0" indent="0" algn="ctr">
              <a:buNone/>
            </a:pPr>
            <a:endParaRPr lang="en-US" altLang="en-US" dirty="0"/>
          </a:p>
          <a:p>
            <a:pPr marL="0" indent="0">
              <a:buNone/>
            </a:pPr>
            <a:r>
              <a:rPr lang="en-US" altLang="en-US" dirty="0"/>
              <a:t>	</a:t>
            </a:r>
          </a:p>
          <a:p>
            <a:pPr marL="0" indent="0">
              <a:buNone/>
            </a:pPr>
            <a:endParaRPr lang="en-US" altLang="en-US" dirty="0"/>
          </a:p>
        </p:txBody>
      </p:sp>
      <p:sp>
        <p:nvSpPr>
          <p:cNvPr id="55302" name="Rectangle 5"/>
          <p:cNvSpPr>
            <a:spLocks noChangeArrowheads="1"/>
          </p:cNvSpPr>
          <p:nvPr/>
        </p:nvSpPr>
        <p:spPr bwMode="auto">
          <a:xfrm>
            <a:off x="1909764" y="1493839"/>
            <a:ext cx="837247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Tx/>
              <a:buNone/>
            </a:pPr>
            <a:r>
              <a:rPr lang="en-US" altLang="en-US" sz="2400">
                <a:solidFill>
                  <a:srgbClr val="FF0000"/>
                </a:solidFill>
              </a:rPr>
              <a:t>Ex10</a:t>
            </a:r>
            <a:r>
              <a:rPr lang="en-US" altLang="en-US" sz="2400"/>
              <a:t>: A company wants to set up  reserve which will help the company to have an annual equivalent amount of $1,000,000 for the next 20 years towards its employees pension fund. The reserve is assumed to grow at the rate of 15% annually. Find the amount that must be paid now as the reserve amount.</a:t>
            </a:r>
          </a:p>
        </p:txBody>
      </p:sp>
      <p:sp>
        <p:nvSpPr>
          <p:cNvPr id="2" name="Date Placeholder 1"/>
          <p:cNvSpPr>
            <a:spLocks noGrp="1"/>
          </p:cNvSpPr>
          <p:nvPr>
            <p:ph type="dt" sz="half" idx="10"/>
          </p:nvPr>
        </p:nvSpPr>
        <p:spPr/>
        <p:txBody>
          <a:bodyPr/>
          <a:lstStyle/>
          <a:p>
            <a:pPr>
              <a:defRPr/>
            </a:pPr>
            <a:fld id="{FF68A1DA-871E-4648-A651-6FC9034F5C17}"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34</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2846815980"/>
              </p:ext>
            </p:extLst>
          </p:nvPr>
        </p:nvGraphicFramePr>
        <p:xfrm>
          <a:off x="4327301" y="4237149"/>
          <a:ext cx="3825025" cy="1287888"/>
        </p:xfrm>
        <a:graphic>
          <a:graphicData uri="http://schemas.openxmlformats.org/presentationml/2006/ole">
            <mc:AlternateContent xmlns:mc="http://schemas.openxmlformats.org/markup-compatibility/2006">
              <mc:Choice xmlns:v="urn:schemas-microsoft-com:vml" Requires="v">
                <p:oleObj name="Equation" r:id="rId2" imgW="1168200" imgH="444240" progId="Equation.3">
                  <p:embed/>
                </p:oleObj>
              </mc:Choice>
              <mc:Fallback>
                <p:oleObj name="Equation" r:id="rId2" imgW="1168200" imgH="444240" progId="Equation.3">
                  <p:embed/>
                  <p:pic>
                    <p:nvPicPr>
                      <p:cNvPr id="4" name="Object 3"/>
                      <p:cNvPicPr/>
                      <p:nvPr/>
                    </p:nvPicPr>
                    <p:blipFill>
                      <a:blip r:embed="rId3"/>
                      <a:stretch>
                        <a:fillRect/>
                      </a:stretch>
                    </p:blipFill>
                    <p:spPr>
                      <a:xfrm>
                        <a:off x="4327301" y="4237149"/>
                        <a:ext cx="3825025" cy="1287888"/>
                      </a:xfrm>
                      <a:prstGeom prst="rect">
                        <a:avLst/>
                      </a:prstGeom>
                    </p:spPr>
                  </p:pic>
                </p:oleObj>
              </mc:Fallback>
            </mc:AlternateContent>
          </a:graphicData>
        </a:graphic>
      </p:graphicFrame>
    </p:spTree>
    <p:extLst>
      <p:ext uri="{BB962C8B-B14F-4D97-AF65-F5344CB8AC3E}">
        <p14:creationId xmlns:p14="http://schemas.microsoft.com/office/powerpoint/2010/main" val="94318688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sz="quarter"/>
          </p:nvPr>
        </p:nvSpPr>
        <p:spPr>
          <a:xfrm>
            <a:off x="1981200" y="274639"/>
            <a:ext cx="8229600" cy="949325"/>
          </a:xfrm>
        </p:spPr>
        <p:txBody>
          <a:bodyPr>
            <a:normAutofit fontScale="90000"/>
          </a:bodyPr>
          <a:lstStyle/>
          <a:p>
            <a:pPr eaLnBrk="1" hangingPunct="1"/>
            <a:r>
              <a:rPr lang="en-US" altLang="en-US" sz="3200" b="1">
                <a:solidFill>
                  <a:srgbClr val="000099"/>
                </a:solidFill>
              </a:rPr>
              <a:t>6. Equal-Payment Series Present Worth Amount</a:t>
            </a:r>
          </a:p>
        </p:txBody>
      </p:sp>
      <p:sp>
        <p:nvSpPr>
          <p:cNvPr id="56323"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6324"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6325" name="Content Placeholder 1"/>
          <p:cNvSpPr>
            <a:spLocks noGrp="1"/>
          </p:cNvSpPr>
          <p:nvPr>
            <p:ph sz="quarter" idx="1"/>
          </p:nvPr>
        </p:nvSpPr>
        <p:spPr>
          <a:xfrm>
            <a:off x="2540001" y="4071938"/>
            <a:ext cx="6761163" cy="2786062"/>
          </a:xfrm>
        </p:spPr>
        <p:txBody>
          <a:bodyPr/>
          <a:lstStyle/>
          <a:p>
            <a:pPr marL="0" indent="0">
              <a:buNone/>
            </a:pPr>
            <a:r>
              <a:rPr lang="en-US" altLang="en-US" dirty="0"/>
              <a:t>		    </a:t>
            </a:r>
          </a:p>
          <a:p>
            <a:pPr marL="0" indent="0">
              <a:buNone/>
            </a:pPr>
            <a:r>
              <a:rPr lang="en-US" altLang="en-US" dirty="0"/>
              <a:t>= 1000000 (6.2593) = $6,259,331</a:t>
            </a:r>
          </a:p>
          <a:p>
            <a:pPr marL="0" indent="0">
              <a:buNone/>
            </a:pPr>
            <a:r>
              <a:rPr lang="en-US" altLang="en-US" b="1" dirty="0">
                <a:solidFill>
                  <a:schemeClr val="tx1"/>
                </a:solidFill>
              </a:rPr>
              <a:t>The amount of reserve which must be set-up now is equal to $6,259,331.</a:t>
            </a:r>
            <a:r>
              <a:rPr lang="en-US" altLang="en-US" dirty="0"/>
              <a:t> </a:t>
            </a:r>
          </a:p>
          <a:p>
            <a:pPr marL="0" indent="0">
              <a:buNone/>
            </a:pPr>
            <a:endParaRPr lang="en-US" altLang="en-US" dirty="0"/>
          </a:p>
        </p:txBody>
      </p:sp>
      <p:sp>
        <p:nvSpPr>
          <p:cNvPr id="56326" name="Rectangle 5"/>
          <p:cNvSpPr>
            <a:spLocks noChangeArrowheads="1"/>
          </p:cNvSpPr>
          <p:nvPr/>
        </p:nvSpPr>
        <p:spPr bwMode="auto">
          <a:xfrm>
            <a:off x="1909764" y="1493839"/>
            <a:ext cx="8372475" cy="230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Tx/>
              <a:buNone/>
            </a:pPr>
            <a:r>
              <a:rPr lang="en-US" altLang="en-US" sz="2400" dirty="0">
                <a:solidFill>
                  <a:srgbClr val="FF0000"/>
                </a:solidFill>
              </a:rPr>
              <a:t>Ex10</a:t>
            </a:r>
            <a:r>
              <a:rPr lang="en-US" altLang="en-US" sz="2400" dirty="0"/>
              <a:t>: A company wants to set up  reserve which will help the company to have an </a:t>
            </a:r>
            <a:r>
              <a:rPr lang="en-US" altLang="en-US" sz="2400" b="1" dirty="0"/>
              <a:t>annual equivalent amount</a:t>
            </a:r>
            <a:r>
              <a:rPr lang="en-US" altLang="en-US" sz="2400" dirty="0"/>
              <a:t> of $1,000,000 for the next 20 years towards its employees pension fund. The reserve is assumed to grow at the rate of </a:t>
            </a:r>
            <a:r>
              <a:rPr lang="en-US" altLang="en-US" sz="2400" b="1" dirty="0"/>
              <a:t>15% annually</a:t>
            </a:r>
            <a:r>
              <a:rPr lang="en-US" altLang="en-US" sz="2400" dirty="0"/>
              <a:t>. Find the amount that must be paid now as the reserve amount.</a:t>
            </a:r>
          </a:p>
        </p:txBody>
      </p:sp>
      <p:sp>
        <p:nvSpPr>
          <p:cNvPr id="2" name="Date Placeholder 1"/>
          <p:cNvSpPr>
            <a:spLocks noGrp="1"/>
          </p:cNvSpPr>
          <p:nvPr>
            <p:ph type="dt" sz="half" idx="10"/>
          </p:nvPr>
        </p:nvSpPr>
        <p:spPr/>
        <p:txBody>
          <a:bodyPr/>
          <a:lstStyle/>
          <a:p>
            <a:pPr>
              <a:defRPr/>
            </a:pPr>
            <a:fld id="{6B8271C8-70BA-420F-A1E3-FA86ECF4174E}"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35</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3400993865"/>
              </p:ext>
            </p:extLst>
          </p:nvPr>
        </p:nvGraphicFramePr>
        <p:xfrm>
          <a:off x="3043238" y="3787417"/>
          <a:ext cx="4140200" cy="798513"/>
        </p:xfrm>
        <a:graphic>
          <a:graphicData uri="http://schemas.openxmlformats.org/presentationml/2006/ole">
            <mc:AlternateContent xmlns:mc="http://schemas.openxmlformats.org/markup-compatibility/2006">
              <mc:Choice xmlns:v="urn:schemas-microsoft-com:vml" Requires="v">
                <p:oleObj name="Equation" r:id="rId2" imgW="1168200" imgH="444240" progId="Equation.3">
                  <p:embed/>
                </p:oleObj>
              </mc:Choice>
              <mc:Fallback>
                <p:oleObj name="Equation" r:id="rId2" imgW="1168200" imgH="444240" progId="Equation.3">
                  <p:embed/>
                  <p:pic>
                    <p:nvPicPr>
                      <p:cNvPr id="4" name="Object 3"/>
                      <p:cNvPicPr/>
                      <p:nvPr/>
                    </p:nvPicPr>
                    <p:blipFill>
                      <a:blip r:embed="rId3"/>
                      <a:stretch>
                        <a:fillRect/>
                      </a:stretch>
                    </p:blipFill>
                    <p:spPr>
                      <a:xfrm>
                        <a:off x="3043238" y="3787417"/>
                        <a:ext cx="4140200" cy="798513"/>
                      </a:xfrm>
                      <a:prstGeom prst="rect">
                        <a:avLst/>
                      </a:prstGeom>
                    </p:spPr>
                  </p:pic>
                </p:oleObj>
              </mc:Fallback>
            </mc:AlternateContent>
          </a:graphicData>
        </a:graphic>
      </p:graphicFrame>
    </p:spTree>
    <p:extLst>
      <p:ext uri="{BB962C8B-B14F-4D97-AF65-F5344CB8AC3E}">
        <p14:creationId xmlns:p14="http://schemas.microsoft.com/office/powerpoint/2010/main" val="216012510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Present Value of an Annuity</a:t>
            </a:r>
          </a:p>
        </p:txBody>
      </p:sp>
      <p:sp>
        <p:nvSpPr>
          <p:cNvPr id="3" name="Content Placeholder 2"/>
          <p:cNvSpPr>
            <a:spLocks noGrp="1"/>
          </p:cNvSpPr>
          <p:nvPr>
            <p:ph idx="1"/>
          </p:nvPr>
        </p:nvSpPr>
        <p:spPr/>
        <p:txBody>
          <a:bodyPr>
            <a:normAutofit fontScale="92500" lnSpcReduction="20000"/>
          </a:bodyPr>
          <a:lstStyle/>
          <a:p>
            <a:r>
              <a:rPr lang="en-ZA" dirty="0"/>
              <a:t>An annuity is an account earning a compound interest rate, from which periodic withdrawals are made.</a:t>
            </a:r>
          </a:p>
          <a:p>
            <a:r>
              <a:rPr lang="en-ZA" dirty="0"/>
              <a:t>Suppose </a:t>
            </a:r>
          </a:p>
          <a:p>
            <a:r>
              <a:rPr lang="en-ZA" dirty="0"/>
              <a:t>r = annual interest rate</a:t>
            </a:r>
          </a:p>
          <a:p>
            <a:r>
              <a:rPr lang="en-ZA" dirty="0"/>
              <a:t>m= number of compounding times per year</a:t>
            </a:r>
          </a:p>
          <a:p>
            <a:r>
              <a:rPr lang="en-ZA" dirty="0"/>
              <a:t>PV = Starting Balance</a:t>
            </a:r>
          </a:p>
          <a:p>
            <a:r>
              <a:rPr lang="en-ZA" dirty="0"/>
              <a:t>PMT = payment at the end of each compounding period</a:t>
            </a:r>
          </a:p>
          <a:p>
            <a:r>
              <a:rPr lang="en-ZA" dirty="0"/>
              <a:t>Account has a ‘0’ balance after ‘t’ years</a:t>
            </a:r>
          </a:p>
        </p:txBody>
      </p:sp>
      <p:sp>
        <p:nvSpPr>
          <p:cNvPr id="4" name="Date Placeholder 3"/>
          <p:cNvSpPr>
            <a:spLocks noGrp="1"/>
          </p:cNvSpPr>
          <p:nvPr>
            <p:ph type="dt" sz="half" idx="10"/>
          </p:nvPr>
        </p:nvSpPr>
        <p:spPr/>
        <p:txBody>
          <a:bodyPr/>
          <a:lstStyle/>
          <a:p>
            <a:fld id="{CD857D96-1377-4A51-8D38-1697CFD249BA}"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36</a:t>
            </a:fld>
            <a:endParaRPr lang="en-ZA"/>
          </a:p>
        </p:txBody>
      </p:sp>
    </p:spTree>
    <p:extLst>
      <p:ext uri="{BB962C8B-B14F-4D97-AF65-F5344CB8AC3E}">
        <p14:creationId xmlns:p14="http://schemas.microsoft.com/office/powerpoint/2010/main" val="7498088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Present Value of an Annuity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ZA" dirty="0"/>
                  <a:t>i =r/m</a:t>
                </a:r>
              </a:p>
              <a:p>
                <a:r>
                  <a:rPr lang="en-ZA" dirty="0"/>
                  <a:t>n= </a:t>
                </a:r>
                <a:r>
                  <a:rPr lang="en-ZA" dirty="0" err="1"/>
                  <a:t>mt</a:t>
                </a:r>
                <a:endParaRPr lang="en-ZA" dirty="0"/>
              </a:p>
              <a:p>
                <a:r>
                  <a:rPr lang="en-ZA" dirty="0"/>
                  <a:t>Then  </a:t>
                </a:r>
                <a14:m>
                  <m:oMath xmlns:m="http://schemas.openxmlformats.org/officeDocument/2006/math">
                    <m:r>
                      <m:rPr>
                        <m:sty m:val="p"/>
                      </m:rPr>
                      <a:rPr lang="en-ZA" b="0" i="0" smtClean="0">
                        <a:latin typeface="Cambria Math" panose="02040503050406030204" pitchFamily="18" charset="0"/>
                      </a:rPr>
                      <m:t>PV</m:t>
                    </m:r>
                    <m:r>
                      <a:rPr lang="en-ZA" i="1" smtClean="0">
                        <a:latin typeface="Cambria Math" panose="02040503050406030204" pitchFamily="18" charset="0"/>
                      </a:rPr>
                      <m:t>=</m:t>
                    </m:r>
                    <m:r>
                      <a:rPr lang="en-ZA" b="0" i="1" smtClean="0">
                        <a:latin typeface="Cambria Math" panose="02040503050406030204" pitchFamily="18" charset="0"/>
                      </a:rPr>
                      <m:t>𝑃𝑀𝑇</m:t>
                    </m:r>
                    <m:r>
                      <a:rPr lang="en-ZA" b="0" i="1" smtClean="0">
                        <a:latin typeface="Cambria Math" panose="02040503050406030204" pitchFamily="18" charset="0"/>
                      </a:rPr>
                      <m:t> </m:t>
                    </m:r>
                    <m:f>
                      <m:fPr>
                        <m:ctrlPr>
                          <a:rPr lang="en-ZA" i="1" smtClean="0">
                            <a:latin typeface="Cambria Math" panose="02040503050406030204" pitchFamily="18" charset="0"/>
                          </a:rPr>
                        </m:ctrlPr>
                      </m:fPr>
                      <m:num>
                        <m:r>
                          <a:rPr lang="en-ZA" b="0" i="1" smtClean="0">
                            <a:latin typeface="Cambria Math" panose="02040503050406030204" pitchFamily="18" charset="0"/>
                          </a:rPr>
                          <m:t>(</m:t>
                        </m:r>
                        <m:r>
                          <a:rPr lang="en-ZA" b="0" i="1" smtClean="0">
                            <a:latin typeface="Cambria Math" panose="02040503050406030204" pitchFamily="18" charset="0"/>
                          </a:rPr>
                          <m:t>1</m:t>
                        </m:r>
                        <m:r>
                          <a:rPr lang="en-ZA" b="0" i="1" smtClean="0">
                            <a:latin typeface="Cambria Math" panose="02040503050406030204" pitchFamily="18" charset="0"/>
                          </a:rPr>
                          <m:t>−</m:t>
                        </m:r>
                        <m:sSup>
                          <m:sSupPr>
                            <m:ctrlPr>
                              <a:rPr lang="en-ZA" b="0" i="1" smtClean="0">
                                <a:latin typeface="Cambria Math" panose="02040503050406030204" pitchFamily="18" charset="0"/>
                              </a:rPr>
                            </m:ctrlPr>
                          </m:sSupPr>
                          <m:e>
                            <m:d>
                              <m:dPr>
                                <m:ctrlPr>
                                  <a:rPr lang="en-ZA" b="0" i="1" smtClean="0">
                                    <a:latin typeface="Cambria Math" panose="02040503050406030204" pitchFamily="18" charset="0"/>
                                  </a:rPr>
                                </m:ctrlPr>
                              </m:dPr>
                              <m:e>
                                <m:r>
                                  <a:rPr lang="en-ZA" b="0" i="1" smtClean="0">
                                    <a:latin typeface="Cambria Math" panose="02040503050406030204" pitchFamily="18" charset="0"/>
                                  </a:rPr>
                                  <m:t>1</m:t>
                                </m:r>
                                <m:r>
                                  <a:rPr lang="en-ZA" b="0" i="1" smtClean="0">
                                    <a:latin typeface="Cambria Math" panose="02040503050406030204" pitchFamily="18" charset="0"/>
                                  </a:rPr>
                                  <m:t>+</m:t>
                                </m:r>
                                <m:r>
                                  <a:rPr lang="en-ZA" b="0" i="1" smtClean="0">
                                    <a:latin typeface="Cambria Math" panose="02040503050406030204" pitchFamily="18" charset="0"/>
                                  </a:rPr>
                                  <m:t>𝑖</m:t>
                                </m:r>
                              </m:e>
                            </m:d>
                          </m:e>
                          <m:sup>
                            <m:r>
                              <a:rPr lang="en-ZA" b="0" i="1" smtClean="0">
                                <a:latin typeface="Cambria Math" panose="02040503050406030204" pitchFamily="18" charset="0"/>
                              </a:rPr>
                              <m:t>−</m:t>
                            </m:r>
                            <m:r>
                              <a:rPr lang="en-ZA" b="0" i="1" smtClean="0">
                                <a:latin typeface="Cambria Math" panose="02040503050406030204" pitchFamily="18" charset="0"/>
                              </a:rPr>
                              <m:t>𝑛</m:t>
                            </m:r>
                          </m:sup>
                        </m:sSup>
                        <m:r>
                          <a:rPr lang="en-ZA" b="0" i="1" smtClean="0">
                            <a:latin typeface="Cambria Math" panose="02040503050406030204" pitchFamily="18" charset="0"/>
                          </a:rPr>
                          <m:t>) </m:t>
                        </m:r>
                      </m:num>
                      <m:den>
                        <m:r>
                          <a:rPr lang="en-ZA" b="0" i="1" smtClean="0">
                            <a:latin typeface="Cambria Math" panose="02040503050406030204" pitchFamily="18" charset="0"/>
                          </a:rPr>
                          <m:t>𝑖</m:t>
                        </m:r>
                      </m:den>
                    </m:f>
                  </m:oMath>
                </a14:m>
                <a:endParaRPr lang="en-ZA" dirty="0"/>
              </a:p>
              <a:p>
                <a:r>
                  <a:rPr lang="en-ZA" dirty="0"/>
                  <a:t>Example: Suppose that as foreign student you have won a graduate scholarship for a 4 year PhD programme. If you decide to invest this money in an account that offers 10% interest per annum, compounded monthly, from which you can withdraw P2000.00 every month. What is the present value of your scholarship?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53" t="-2385" r="-1398"/>
                </a:stretch>
              </a:blipFill>
            </p:spPr>
            <p:txBody>
              <a:bodyPr/>
              <a:lstStyle/>
              <a:p>
                <a:r>
                  <a:rPr lang="en-ZA">
                    <a:noFill/>
                  </a:rPr>
                  <a:t> </a:t>
                </a:r>
              </a:p>
            </p:txBody>
          </p:sp>
        </mc:Fallback>
      </mc:AlternateContent>
      <p:sp>
        <p:nvSpPr>
          <p:cNvPr id="4" name="Date Placeholder 3"/>
          <p:cNvSpPr>
            <a:spLocks noGrp="1"/>
          </p:cNvSpPr>
          <p:nvPr>
            <p:ph type="dt" sz="half" idx="10"/>
          </p:nvPr>
        </p:nvSpPr>
        <p:spPr/>
        <p:txBody>
          <a:bodyPr/>
          <a:lstStyle/>
          <a:p>
            <a:fld id="{CD857D96-1377-4A51-8D38-1697CFD249BA}"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37</a:t>
            </a:fld>
            <a:endParaRPr lang="en-ZA"/>
          </a:p>
        </p:txBody>
      </p:sp>
    </p:spTree>
    <p:extLst>
      <p:ext uri="{BB962C8B-B14F-4D97-AF65-F5344CB8AC3E}">
        <p14:creationId xmlns:p14="http://schemas.microsoft.com/office/powerpoint/2010/main" val="3768793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Present Value of an Annuity </a:t>
            </a:r>
          </a:p>
        </p:txBody>
      </p:sp>
      <p:sp>
        <p:nvSpPr>
          <p:cNvPr id="3" name="Content Placeholder 2"/>
          <p:cNvSpPr>
            <a:spLocks noGrp="1"/>
          </p:cNvSpPr>
          <p:nvPr>
            <p:ph idx="1"/>
          </p:nvPr>
        </p:nvSpPr>
        <p:spPr/>
        <p:txBody>
          <a:bodyPr>
            <a:normAutofit lnSpcReduction="10000"/>
          </a:bodyPr>
          <a:lstStyle/>
          <a:p>
            <a:r>
              <a:rPr lang="en-ZA" dirty="0"/>
              <a:t>PMT = 2000           </a:t>
            </a:r>
            <a:r>
              <a:rPr lang="en-ZA" dirty="0" err="1"/>
              <a:t>mt</a:t>
            </a:r>
            <a:r>
              <a:rPr lang="en-ZA" dirty="0"/>
              <a:t> = 4x 12 = 48</a:t>
            </a:r>
          </a:p>
          <a:p>
            <a:r>
              <a:rPr lang="en-ZA" dirty="0"/>
              <a:t>r = 10%                  r/m = 0.008333</a:t>
            </a:r>
          </a:p>
          <a:p>
            <a:r>
              <a:rPr lang="en-ZA" dirty="0"/>
              <a:t>m= 12</a:t>
            </a:r>
          </a:p>
          <a:p>
            <a:r>
              <a:rPr lang="en-ZA" dirty="0"/>
              <a:t>t= 4 </a:t>
            </a:r>
          </a:p>
          <a:p>
            <a:r>
              <a:rPr lang="en-ZA" dirty="0"/>
              <a:t>PV = [1-(1+0.008333)^-48]/0.008333 = 2000x 39.42816 =P78856.32</a:t>
            </a:r>
          </a:p>
          <a:p>
            <a:r>
              <a:rPr lang="en-ZA" dirty="0"/>
              <a:t>The Present Value of P2000.00 received monthly for 4 years at an interest rate of 10% compounded monthly is P78856.32</a:t>
            </a:r>
          </a:p>
        </p:txBody>
      </p:sp>
      <p:sp>
        <p:nvSpPr>
          <p:cNvPr id="4" name="Date Placeholder 3"/>
          <p:cNvSpPr>
            <a:spLocks noGrp="1"/>
          </p:cNvSpPr>
          <p:nvPr>
            <p:ph type="dt" sz="half" idx="10"/>
          </p:nvPr>
        </p:nvSpPr>
        <p:spPr/>
        <p:txBody>
          <a:bodyPr/>
          <a:lstStyle/>
          <a:p>
            <a:fld id="{CD857D96-1377-4A51-8D38-1697CFD249BA}"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38</a:t>
            </a:fld>
            <a:endParaRPr lang="en-ZA"/>
          </a:p>
        </p:txBody>
      </p:sp>
    </p:spTree>
    <p:extLst>
      <p:ext uri="{BB962C8B-B14F-4D97-AF65-F5344CB8AC3E}">
        <p14:creationId xmlns:p14="http://schemas.microsoft.com/office/powerpoint/2010/main" val="34656527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sz="quarter"/>
          </p:nvPr>
        </p:nvSpPr>
        <p:spPr>
          <a:xfrm>
            <a:off x="1981200" y="274639"/>
            <a:ext cx="8229600" cy="949325"/>
          </a:xfrm>
        </p:spPr>
        <p:txBody>
          <a:bodyPr>
            <a:normAutofit fontScale="90000"/>
          </a:bodyPr>
          <a:lstStyle/>
          <a:p>
            <a:pPr eaLnBrk="1" hangingPunct="1"/>
            <a:r>
              <a:rPr lang="en-US" altLang="en-US" sz="3200" b="1">
                <a:solidFill>
                  <a:srgbClr val="000099"/>
                </a:solidFill>
              </a:rPr>
              <a:t>7. Equal-Payment Series Capital Recovery Amount</a:t>
            </a:r>
          </a:p>
        </p:txBody>
      </p:sp>
      <p:sp>
        <p:nvSpPr>
          <p:cNvPr id="57347"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7348"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7349" name="Rectangle 5"/>
          <p:cNvSpPr>
            <a:spLocks noChangeArrowheads="1"/>
          </p:cNvSpPr>
          <p:nvPr/>
        </p:nvSpPr>
        <p:spPr bwMode="auto">
          <a:xfrm>
            <a:off x="1685925" y="1914958"/>
            <a:ext cx="883611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357188" indent="-357188">
              <a:spcBef>
                <a:spcPct val="20000"/>
              </a:spcBef>
              <a:buChar char="•"/>
              <a:defRPr sz="3200">
                <a:solidFill>
                  <a:schemeClr val="tx1"/>
                </a:solidFill>
                <a:latin typeface="Arial" panose="020B0604020202020204" pitchFamily="34" charset="0"/>
                <a:cs typeface="Arial" panose="020B0604020202020204" pitchFamily="34" charset="0"/>
              </a:defRPr>
            </a:lvl1pPr>
            <a:lvl2pPr marL="900113" indent="-363538">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 typeface="Wingdings" panose="05000000000000000000" pitchFamily="2" charset="2"/>
              <a:buChar char="v"/>
            </a:pPr>
            <a:r>
              <a:rPr lang="en-US" altLang="en-US" sz="2000" dirty="0"/>
              <a:t>The aim of this mode of investment is to find the annual equivalent amount </a:t>
            </a:r>
            <a:r>
              <a:rPr lang="en-US" altLang="en-US" sz="2000" b="1" i="1" dirty="0"/>
              <a:t>(A)</a:t>
            </a:r>
            <a:r>
              <a:rPr lang="en-US" altLang="en-US" sz="2000" dirty="0"/>
              <a:t> which is to be recovered at the end of every period for </a:t>
            </a:r>
            <a:r>
              <a:rPr lang="en-US" altLang="en-US" sz="2000" b="1" i="1" dirty="0"/>
              <a:t>n</a:t>
            </a:r>
            <a:r>
              <a:rPr lang="en-US" altLang="en-US" sz="2000" dirty="0"/>
              <a:t> periods for a loan </a:t>
            </a:r>
            <a:r>
              <a:rPr lang="en-US" altLang="en-US" sz="2000" b="1" i="1" dirty="0"/>
              <a:t>(P)</a:t>
            </a:r>
            <a:r>
              <a:rPr lang="en-US" altLang="en-US" sz="2000" dirty="0"/>
              <a:t> which is offered now at an interest rate of </a:t>
            </a:r>
            <a:r>
              <a:rPr lang="en-US" altLang="en-US" sz="2000" b="1" i="1" dirty="0" err="1"/>
              <a:t>i</a:t>
            </a:r>
            <a:r>
              <a:rPr lang="en-US" altLang="en-US" sz="2000" dirty="0"/>
              <a:t> compounded at the end of every period</a:t>
            </a:r>
            <a:r>
              <a:rPr lang="en-US" altLang="en-US" sz="2000" b="1" i="1" dirty="0"/>
              <a:t>.</a:t>
            </a:r>
          </a:p>
          <a:p>
            <a:pPr eaLnBrk="1" hangingPunct="1">
              <a:spcBef>
                <a:spcPct val="0"/>
              </a:spcBef>
              <a:buClr>
                <a:srgbClr val="FF0000"/>
              </a:buClr>
              <a:buFont typeface="Wingdings" panose="05000000000000000000" pitchFamily="2" charset="2"/>
              <a:buChar char="v"/>
            </a:pPr>
            <a:r>
              <a:rPr lang="en-US" altLang="en-US" sz="2000" dirty="0"/>
              <a:t>You take a loan for home improvement or to buy a fixed asset e.g. equipment, or a mortgage to buy a house or commercial property. Fixed monthly installments. What is the installment or recovery amount to be paid each period?</a:t>
            </a:r>
          </a:p>
          <a:p>
            <a:pPr eaLnBrk="1" hangingPunct="1">
              <a:spcBef>
                <a:spcPct val="0"/>
              </a:spcBef>
              <a:buClr>
                <a:srgbClr val="FF0000"/>
              </a:buClr>
              <a:buFont typeface="Wingdings" panose="05000000000000000000" pitchFamily="2" charset="2"/>
              <a:buChar char="v"/>
            </a:pPr>
            <a:r>
              <a:rPr lang="en-US" altLang="en-US" sz="2000" i="1" dirty="0">
                <a:solidFill>
                  <a:srgbClr val="FF0000"/>
                </a:solidFill>
              </a:rPr>
              <a:t>A </a:t>
            </a:r>
            <a:r>
              <a:rPr lang="en-US" altLang="en-US" sz="2000" dirty="0"/>
              <a:t>is the annual equivalent payment; </a:t>
            </a:r>
            <a:r>
              <a:rPr lang="en-US" altLang="en-US" sz="2000" i="1" dirty="0">
                <a:solidFill>
                  <a:srgbClr val="FF0000"/>
                </a:solidFill>
              </a:rPr>
              <a:t>P </a:t>
            </a:r>
            <a:r>
              <a:rPr lang="en-US" altLang="en-US" sz="2000" dirty="0"/>
              <a:t>is the present worth; </a:t>
            </a:r>
            <a:r>
              <a:rPr lang="en-US" altLang="en-US" sz="2000" i="1" dirty="0" err="1">
                <a:solidFill>
                  <a:srgbClr val="FF0000"/>
                </a:solidFill>
              </a:rPr>
              <a:t>i</a:t>
            </a:r>
            <a:r>
              <a:rPr lang="en-US" altLang="en-US" sz="2000" i="1" dirty="0">
                <a:solidFill>
                  <a:srgbClr val="FF0000"/>
                </a:solidFill>
              </a:rPr>
              <a:t> </a:t>
            </a:r>
            <a:r>
              <a:rPr lang="en-US" altLang="en-US" sz="2000" dirty="0"/>
              <a:t>is the interest rate per time period; </a:t>
            </a:r>
            <a:r>
              <a:rPr lang="en-US" altLang="en-US" sz="2000" i="1" dirty="0">
                <a:solidFill>
                  <a:srgbClr val="FF0000"/>
                </a:solidFill>
              </a:rPr>
              <a:t>N</a:t>
            </a:r>
            <a:r>
              <a:rPr lang="en-US" altLang="en-US" sz="2000" i="1" dirty="0"/>
              <a:t> </a:t>
            </a:r>
            <a:r>
              <a:rPr lang="en-US" altLang="en-US" sz="2000" dirty="0"/>
              <a:t>is the number of time periods</a:t>
            </a:r>
          </a:p>
        </p:txBody>
      </p:sp>
      <p:sp>
        <p:nvSpPr>
          <p:cNvPr id="57350" name="Content Placeholder 1"/>
          <p:cNvSpPr>
            <a:spLocks noGrp="1"/>
          </p:cNvSpPr>
          <p:nvPr>
            <p:ph sz="quarter" idx="1"/>
          </p:nvPr>
        </p:nvSpPr>
        <p:spPr>
          <a:xfrm>
            <a:off x="2451101" y="5614988"/>
            <a:ext cx="6759575" cy="1668462"/>
          </a:xfrm>
        </p:spPr>
        <p:txBody>
          <a:bodyPr/>
          <a:lstStyle/>
          <a:p>
            <a:pPr marL="0" indent="0" algn="ctr">
              <a:buNone/>
            </a:pPr>
            <a:endParaRPr lang="en-US" altLang="en-US" dirty="0"/>
          </a:p>
          <a:p>
            <a:pPr marL="0" indent="0">
              <a:buNone/>
            </a:pPr>
            <a:r>
              <a:rPr lang="en-US" altLang="en-US" dirty="0"/>
              <a:t>			   </a:t>
            </a:r>
          </a:p>
          <a:p>
            <a:pPr marL="0" indent="0">
              <a:buNone/>
            </a:pPr>
            <a:endParaRPr lang="en-US" altLang="en-US" dirty="0"/>
          </a:p>
        </p:txBody>
      </p:sp>
      <p:sp>
        <p:nvSpPr>
          <p:cNvPr id="2" name="Date Placeholder 1"/>
          <p:cNvSpPr>
            <a:spLocks noGrp="1"/>
          </p:cNvSpPr>
          <p:nvPr>
            <p:ph type="dt" sz="half" idx="10"/>
          </p:nvPr>
        </p:nvSpPr>
        <p:spPr/>
        <p:txBody>
          <a:bodyPr/>
          <a:lstStyle/>
          <a:p>
            <a:pPr>
              <a:defRPr/>
            </a:pPr>
            <a:fld id="{7AF7B22A-9E21-4E6C-9047-2E80FF476C50}"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39</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3264341182"/>
              </p:ext>
            </p:extLst>
          </p:nvPr>
        </p:nvGraphicFramePr>
        <p:xfrm>
          <a:off x="3246438" y="5084763"/>
          <a:ext cx="4724400" cy="1277937"/>
        </p:xfrm>
        <a:graphic>
          <a:graphicData uri="http://schemas.openxmlformats.org/presentationml/2006/ole">
            <mc:AlternateContent xmlns:mc="http://schemas.openxmlformats.org/markup-compatibility/2006">
              <mc:Choice xmlns:v="urn:schemas-microsoft-com:vml" Requires="v">
                <p:oleObj name="Equation" r:id="rId2" imgW="1168200" imgH="685800" progId="Equation.3">
                  <p:embed/>
                </p:oleObj>
              </mc:Choice>
              <mc:Fallback>
                <p:oleObj name="Equation" r:id="rId2" imgW="1168200" imgH="685800" progId="Equation.3">
                  <p:embed/>
                  <p:pic>
                    <p:nvPicPr>
                      <p:cNvPr id="4" name="Object 3"/>
                      <p:cNvPicPr/>
                      <p:nvPr/>
                    </p:nvPicPr>
                    <p:blipFill>
                      <a:blip r:embed="rId3"/>
                      <a:stretch>
                        <a:fillRect/>
                      </a:stretch>
                    </p:blipFill>
                    <p:spPr>
                      <a:xfrm>
                        <a:off x="3246438" y="5084763"/>
                        <a:ext cx="4724400" cy="1277937"/>
                      </a:xfrm>
                      <a:prstGeom prst="rect">
                        <a:avLst/>
                      </a:prstGeom>
                    </p:spPr>
                  </p:pic>
                </p:oleObj>
              </mc:Fallback>
            </mc:AlternateContent>
          </a:graphicData>
        </a:graphic>
      </p:graphicFrame>
    </p:spTree>
    <p:extLst>
      <p:ext uri="{BB962C8B-B14F-4D97-AF65-F5344CB8AC3E}">
        <p14:creationId xmlns:p14="http://schemas.microsoft.com/office/powerpoint/2010/main" val="371354819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sz="quarter"/>
          </p:nvPr>
        </p:nvSpPr>
        <p:spPr>
          <a:xfrm>
            <a:off x="1981200" y="274639"/>
            <a:ext cx="8229600" cy="949325"/>
          </a:xfrm>
        </p:spPr>
        <p:txBody>
          <a:bodyPr>
            <a:normAutofit fontScale="90000"/>
          </a:bodyPr>
          <a:lstStyle/>
          <a:p>
            <a:pPr eaLnBrk="1" hangingPunct="1"/>
            <a:r>
              <a:rPr lang="en-US" altLang="en-US" sz="3200" b="1">
                <a:solidFill>
                  <a:srgbClr val="000099"/>
                </a:solidFill>
              </a:rPr>
              <a:t>7. Equal-Payment Series Capital Recovery Amount</a:t>
            </a:r>
          </a:p>
        </p:txBody>
      </p:sp>
      <p:sp>
        <p:nvSpPr>
          <p:cNvPr id="58371"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8372"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8374" name="Rectangle 2"/>
          <p:cNvSpPr>
            <a:spLocks noChangeArrowheads="1"/>
          </p:cNvSpPr>
          <p:nvPr/>
        </p:nvSpPr>
        <p:spPr bwMode="auto">
          <a:xfrm>
            <a:off x="1981201" y="1719264"/>
            <a:ext cx="8075613"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Tx/>
              <a:buNone/>
            </a:pPr>
            <a:r>
              <a:rPr lang="en-US" altLang="en-US" sz="2400" dirty="0">
                <a:solidFill>
                  <a:srgbClr val="FF0000"/>
                </a:solidFill>
              </a:rPr>
              <a:t>Ex11</a:t>
            </a:r>
            <a:r>
              <a:rPr lang="en-US" altLang="en-US" sz="2400" dirty="0"/>
              <a:t>: A bank gives a loan to a company to purchase an equipment worth P6259331.00 at an interest rate of 15% compounded annually. This amount must be repaid in 20 yearly equal installments. Find the installment amount that the company has to pay to the bank</a:t>
            </a:r>
          </a:p>
        </p:txBody>
      </p:sp>
      <p:sp>
        <p:nvSpPr>
          <p:cNvPr id="2" name="Date Placeholder 1"/>
          <p:cNvSpPr>
            <a:spLocks noGrp="1"/>
          </p:cNvSpPr>
          <p:nvPr>
            <p:ph type="dt" sz="half" idx="10"/>
          </p:nvPr>
        </p:nvSpPr>
        <p:spPr/>
        <p:txBody>
          <a:bodyPr/>
          <a:lstStyle/>
          <a:p>
            <a:pPr>
              <a:defRPr/>
            </a:pPr>
            <a:fld id="{2189430F-5BE8-4B58-B1B8-F4DE7F2167DC}"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40</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4266332268"/>
              </p:ext>
            </p:extLst>
          </p:nvPr>
        </p:nvGraphicFramePr>
        <p:xfrm>
          <a:off x="2627290" y="3953813"/>
          <a:ext cx="5628068" cy="1545465"/>
        </p:xfrm>
        <a:graphic>
          <a:graphicData uri="http://schemas.openxmlformats.org/presentationml/2006/ole">
            <mc:AlternateContent xmlns:mc="http://schemas.openxmlformats.org/markup-compatibility/2006">
              <mc:Choice xmlns:v="urn:schemas-microsoft-com:vml" Requires="v">
                <p:oleObj name="Equation" r:id="rId2" imgW="1168200" imgH="444240" progId="Equation.3">
                  <p:embed/>
                </p:oleObj>
              </mc:Choice>
              <mc:Fallback>
                <p:oleObj name="Equation" r:id="rId2" imgW="1168200" imgH="444240" progId="Equation.3">
                  <p:embed/>
                  <p:pic>
                    <p:nvPicPr>
                      <p:cNvPr id="4" name="Object 3"/>
                      <p:cNvPicPr/>
                      <p:nvPr/>
                    </p:nvPicPr>
                    <p:blipFill>
                      <a:blip r:embed="rId3"/>
                      <a:stretch>
                        <a:fillRect/>
                      </a:stretch>
                    </p:blipFill>
                    <p:spPr>
                      <a:xfrm>
                        <a:off x="2627290" y="3953813"/>
                        <a:ext cx="5628068" cy="1545465"/>
                      </a:xfrm>
                      <a:prstGeom prst="rect">
                        <a:avLst/>
                      </a:prstGeom>
                    </p:spPr>
                  </p:pic>
                </p:oleObj>
              </mc:Fallback>
            </mc:AlternateContent>
          </a:graphicData>
        </a:graphic>
      </p:graphicFrame>
    </p:spTree>
    <p:extLst>
      <p:ext uri="{BB962C8B-B14F-4D97-AF65-F5344CB8AC3E}">
        <p14:creationId xmlns:p14="http://schemas.microsoft.com/office/powerpoint/2010/main" val="3007479261"/>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sz="quarter"/>
          </p:nvPr>
        </p:nvSpPr>
        <p:spPr>
          <a:xfrm>
            <a:off x="1981200" y="274639"/>
            <a:ext cx="8229600" cy="949325"/>
          </a:xfrm>
        </p:spPr>
        <p:txBody>
          <a:bodyPr>
            <a:normAutofit fontScale="90000"/>
          </a:bodyPr>
          <a:lstStyle/>
          <a:p>
            <a:pPr eaLnBrk="1" hangingPunct="1"/>
            <a:r>
              <a:rPr lang="en-US" altLang="en-US" sz="3200" b="1">
                <a:solidFill>
                  <a:srgbClr val="000099"/>
                </a:solidFill>
              </a:rPr>
              <a:t>7. Equal-Payment Series Capital Recovery Amount</a:t>
            </a:r>
          </a:p>
        </p:txBody>
      </p:sp>
      <p:sp>
        <p:nvSpPr>
          <p:cNvPr id="59395" name="Rectangle 3"/>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9396" name="Rectangle 4"/>
          <p:cNvSpPr>
            <a:spLocks noChangeArrowheads="1"/>
          </p:cNvSpPr>
          <p:nvPr/>
        </p:nvSpPr>
        <p:spPr bwMode="auto">
          <a:xfrm>
            <a:off x="1524001" y="-3080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2400"/>
          </a:p>
        </p:txBody>
      </p:sp>
      <p:sp>
        <p:nvSpPr>
          <p:cNvPr id="59397" name="Content Placeholder 1"/>
          <p:cNvSpPr>
            <a:spLocks noGrp="1"/>
          </p:cNvSpPr>
          <p:nvPr>
            <p:ph sz="quarter" idx="1"/>
          </p:nvPr>
        </p:nvSpPr>
        <p:spPr>
          <a:xfrm>
            <a:off x="2451101" y="4133850"/>
            <a:ext cx="6759575" cy="2724150"/>
          </a:xfrm>
        </p:spPr>
        <p:txBody>
          <a:bodyPr/>
          <a:lstStyle/>
          <a:p>
            <a:pPr marL="0" indent="0" algn="ctr">
              <a:buNone/>
            </a:pPr>
            <a:endParaRPr lang="en-US" altLang="en-US" dirty="0"/>
          </a:p>
          <a:p>
            <a:pPr marL="0" indent="0">
              <a:buNone/>
            </a:pPr>
            <a:r>
              <a:rPr lang="en-US" altLang="en-US" dirty="0"/>
              <a:t>			   </a:t>
            </a:r>
          </a:p>
          <a:p>
            <a:pPr marL="0" indent="0">
              <a:buNone/>
            </a:pPr>
            <a:r>
              <a:rPr lang="en-US" altLang="en-US" dirty="0"/>
              <a:t>= 6259331 (0.159761) = P1000000.00</a:t>
            </a:r>
          </a:p>
          <a:p>
            <a:pPr marL="0" indent="0">
              <a:buNone/>
            </a:pPr>
            <a:r>
              <a:rPr lang="en-US" altLang="en-US" b="1" dirty="0">
                <a:solidFill>
                  <a:schemeClr val="tx1"/>
                </a:solidFill>
              </a:rPr>
              <a:t>The annual equivalent installment to be paid by the company to the bank is P1000000</a:t>
            </a:r>
          </a:p>
          <a:p>
            <a:pPr marL="0" indent="0">
              <a:buNone/>
            </a:pPr>
            <a:endParaRPr lang="en-US" altLang="en-US" dirty="0"/>
          </a:p>
        </p:txBody>
      </p:sp>
      <p:sp>
        <p:nvSpPr>
          <p:cNvPr id="59398" name="Rectangle 2"/>
          <p:cNvSpPr>
            <a:spLocks noChangeArrowheads="1"/>
          </p:cNvSpPr>
          <p:nvPr/>
        </p:nvSpPr>
        <p:spPr bwMode="auto">
          <a:xfrm>
            <a:off x="1981201" y="1719264"/>
            <a:ext cx="8075613"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
                <a:srgbClr val="FF0000"/>
              </a:buClr>
              <a:buFontTx/>
              <a:buNone/>
            </a:pPr>
            <a:r>
              <a:rPr lang="en-US" altLang="en-US" sz="2400" dirty="0">
                <a:solidFill>
                  <a:srgbClr val="FF0000"/>
                </a:solidFill>
              </a:rPr>
              <a:t>Ex11</a:t>
            </a:r>
            <a:r>
              <a:rPr lang="en-US" altLang="en-US" sz="2400" dirty="0"/>
              <a:t>: A bank gives a loan to a company to purchase an equipment worth P6259331.00 at an interest rate of 15% compounded annually. This amount must be repaid in 20 yearly equal installments. Find the installment amount that the company has to pay to the bank</a:t>
            </a:r>
          </a:p>
        </p:txBody>
      </p:sp>
      <p:sp>
        <p:nvSpPr>
          <p:cNvPr id="2" name="Date Placeholder 1"/>
          <p:cNvSpPr>
            <a:spLocks noGrp="1"/>
          </p:cNvSpPr>
          <p:nvPr>
            <p:ph type="dt" sz="half" idx="10"/>
          </p:nvPr>
        </p:nvSpPr>
        <p:spPr/>
        <p:txBody>
          <a:bodyPr/>
          <a:lstStyle/>
          <a:p>
            <a:pPr>
              <a:defRPr/>
            </a:pPr>
            <a:fld id="{EA7568AB-5880-4B19-8F93-E3811B92E6EE}" type="datetime1">
              <a:rPr lang="en-ZA" altLang="en-US" smtClean="0"/>
              <a:t>2024/10/07</a:t>
            </a:fld>
            <a:endParaRPr lang="en-US" altLang="en-US"/>
          </a:p>
        </p:txBody>
      </p:sp>
      <p:sp>
        <p:nvSpPr>
          <p:cNvPr id="3" name="Slide Number Placeholder 2"/>
          <p:cNvSpPr>
            <a:spLocks noGrp="1"/>
          </p:cNvSpPr>
          <p:nvPr>
            <p:ph type="sldNum" sz="quarter" idx="12"/>
          </p:nvPr>
        </p:nvSpPr>
        <p:spPr/>
        <p:txBody>
          <a:bodyPr/>
          <a:lstStyle/>
          <a:p>
            <a:pPr>
              <a:defRPr/>
            </a:pPr>
            <a:fld id="{9395706F-8A35-4A7F-B0B2-B2828DC1B16C}" type="slidenum">
              <a:rPr lang="ar-SA" altLang="en-US" smtClean="0"/>
              <a:pPr>
                <a:defRPr/>
              </a:pPr>
              <a:t>41</a:t>
            </a:fld>
            <a:endParaRPr lang="en-US" altLang="en-US"/>
          </a:p>
        </p:txBody>
      </p:sp>
      <p:graphicFrame>
        <p:nvGraphicFramePr>
          <p:cNvPr id="4" name="Object 3"/>
          <p:cNvGraphicFramePr>
            <a:graphicFrameLocks noChangeAspect="1"/>
          </p:cNvGraphicFramePr>
          <p:nvPr>
            <p:extLst>
              <p:ext uri="{D42A27DB-BD31-4B8C-83A1-F6EECF244321}">
                <p14:modId xmlns:p14="http://schemas.microsoft.com/office/powerpoint/2010/main" val="2255576176"/>
              </p:ext>
            </p:extLst>
          </p:nvPr>
        </p:nvGraphicFramePr>
        <p:xfrm>
          <a:off x="3309870" y="3902299"/>
          <a:ext cx="3370330" cy="888642"/>
        </p:xfrm>
        <a:graphic>
          <a:graphicData uri="http://schemas.openxmlformats.org/presentationml/2006/ole">
            <mc:AlternateContent xmlns:mc="http://schemas.openxmlformats.org/markup-compatibility/2006">
              <mc:Choice xmlns:v="urn:schemas-microsoft-com:vml" Requires="v">
                <p:oleObj name="Equation" r:id="rId2" imgW="1168200" imgH="444240" progId="Equation.3">
                  <p:embed/>
                </p:oleObj>
              </mc:Choice>
              <mc:Fallback>
                <p:oleObj name="Equation" r:id="rId2" imgW="1168200" imgH="444240" progId="Equation.3">
                  <p:embed/>
                  <p:pic>
                    <p:nvPicPr>
                      <p:cNvPr id="4" name="Object 3"/>
                      <p:cNvPicPr/>
                      <p:nvPr/>
                    </p:nvPicPr>
                    <p:blipFill>
                      <a:blip r:embed="rId3"/>
                      <a:stretch>
                        <a:fillRect/>
                      </a:stretch>
                    </p:blipFill>
                    <p:spPr>
                      <a:xfrm>
                        <a:off x="3309870" y="3902299"/>
                        <a:ext cx="3370330" cy="888642"/>
                      </a:xfrm>
                      <a:prstGeom prst="rect">
                        <a:avLst/>
                      </a:prstGeom>
                    </p:spPr>
                  </p:pic>
                </p:oleObj>
              </mc:Fallback>
            </mc:AlternateContent>
          </a:graphicData>
        </a:graphic>
      </p:graphicFrame>
    </p:spTree>
    <p:extLst>
      <p:ext uri="{BB962C8B-B14F-4D97-AF65-F5344CB8AC3E}">
        <p14:creationId xmlns:p14="http://schemas.microsoft.com/office/powerpoint/2010/main" val="281042205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 Equivalence</a:t>
            </a:r>
          </a:p>
        </p:txBody>
      </p:sp>
      <p:sp>
        <p:nvSpPr>
          <p:cNvPr id="3" name="Content Placeholder 2"/>
          <p:cNvSpPr>
            <a:spLocks noGrp="1"/>
          </p:cNvSpPr>
          <p:nvPr>
            <p:ph idx="1"/>
          </p:nvPr>
        </p:nvSpPr>
        <p:spPr/>
        <p:txBody>
          <a:bodyPr>
            <a:normAutofit/>
          </a:bodyPr>
          <a:lstStyle/>
          <a:p>
            <a:r>
              <a:rPr lang="en-US" altLang="en-US" dirty="0">
                <a:solidFill>
                  <a:srgbClr val="FF0066"/>
                </a:solidFill>
              </a:rPr>
              <a:t>Economic equivalence</a:t>
            </a:r>
            <a:r>
              <a:rPr lang="en-US" altLang="en-US" dirty="0"/>
              <a:t> exists between cash flows that have the </a:t>
            </a:r>
            <a:r>
              <a:rPr lang="en-US" altLang="en-US" u="sng" dirty="0"/>
              <a:t>same economic effect</a:t>
            </a:r>
            <a:r>
              <a:rPr lang="en-US" altLang="en-US" dirty="0"/>
              <a:t> and could therefore be traded for one another.</a:t>
            </a:r>
          </a:p>
          <a:p>
            <a:r>
              <a:rPr lang="en-US" altLang="en-US" dirty="0"/>
              <a:t>Even though the amounts and timing of the cash flows may differ, the </a:t>
            </a:r>
            <a:r>
              <a:rPr lang="en-US" altLang="en-US" dirty="0">
                <a:solidFill>
                  <a:srgbClr val="FF0066"/>
                </a:solidFill>
              </a:rPr>
              <a:t>appropriate interest rate</a:t>
            </a:r>
            <a:r>
              <a:rPr lang="en-US" altLang="en-US" dirty="0"/>
              <a:t> makes them equal.</a:t>
            </a:r>
          </a:p>
          <a:p>
            <a:r>
              <a:rPr lang="en-US" altLang="en-US" dirty="0"/>
              <a:t>If through an appropriate interest rate the Pula Value today is the same as the Pula Value after two years, not matter the difference in the timing and amount the two values are equivalent</a:t>
            </a:r>
          </a:p>
          <a:p>
            <a:endParaRPr lang="en-ZA" dirty="0"/>
          </a:p>
        </p:txBody>
      </p:sp>
      <p:sp>
        <p:nvSpPr>
          <p:cNvPr id="4" name="Date Placeholder 3"/>
          <p:cNvSpPr>
            <a:spLocks noGrp="1"/>
          </p:cNvSpPr>
          <p:nvPr>
            <p:ph type="dt" sz="half" idx="10"/>
          </p:nvPr>
        </p:nvSpPr>
        <p:spPr/>
        <p:txBody>
          <a:bodyPr/>
          <a:lstStyle/>
          <a:p>
            <a:fld id="{64336113-30AF-4D0B-B9D1-D26EBEBCBD19}"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42</a:t>
            </a:fld>
            <a:endParaRPr lang="en-ZA"/>
          </a:p>
        </p:txBody>
      </p:sp>
    </p:spTree>
    <p:extLst>
      <p:ext uri="{BB962C8B-B14F-4D97-AF65-F5344CB8AC3E}">
        <p14:creationId xmlns:p14="http://schemas.microsoft.com/office/powerpoint/2010/main" val="21375351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 Equivalence</a:t>
            </a:r>
          </a:p>
        </p:txBody>
      </p:sp>
      <p:sp>
        <p:nvSpPr>
          <p:cNvPr id="3" name="Content Placeholder 2"/>
          <p:cNvSpPr>
            <a:spLocks noGrp="1"/>
          </p:cNvSpPr>
          <p:nvPr>
            <p:ph idx="1"/>
          </p:nvPr>
        </p:nvSpPr>
        <p:spPr/>
        <p:txBody>
          <a:bodyPr/>
          <a:lstStyle/>
          <a:p>
            <a:r>
              <a:rPr lang="en-ZA" dirty="0"/>
              <a:t>The lottery story:</a:t>
            </a:r>
          </a:p>
          <a:p>
            <a:r>
              <a:rPr lang="en-ZA" dirty="0"/>
              <a:t>Suppose the interest rate is 10% what will make the lottery winner be indifferent between P100000000.00 and an amount after 10 years?</a:t>
            </a:r>
          </a:p>
          <a:p>
            <a:endParaRPr lang="en-ZA" dirty="0"/>
          </a:p>
        </p:txBody>
      </p:sp>
      <p:sp>
        <p:nvSpPr>
          <p:cNvPr id="4" name="Date Placeholder 3"/>
          <p:cNvSpPr>
            <a:spLocks noGrp="1"/>
          </p:cNvSpPr>
          <p:nvPr>
            <p:ph type="dt" sz="half" idx="10"/>
          </p:nvPr>
        </p:nvSpPr>
        <p:spPr/>
        <p:txBody>
          <a:bodyPr/>
          <a:lstStyle/>
          <a:p>
            <a:fld id="{25B2653D-A8BB-4B1C-B47F-F4C27DC92EC8}"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43</a:t>
            </a:fld>
            <a:endParaRPr lang="en-ZA"/>
          </a:p>
        </p:txBody>
      </p:sp>
      <p:graphicFrame>
        <p:nvGraphicFramePr>
          <p:cNvPr id="6" name="Object 5"/>
          <p:cNvGraphicFramePr>
            <a:graphicFrameLocks noChangeAspect="1"/>
          </p:cNvGraphicFramePr>
          <p:nvPr/>
        </p:nvGraphicFramePr>
        <p:xfrm>
          <a:off x="3865563" y="4776788"/>
          <a:ext cx="227012" cy="376237"/>
        </p:xfrm>
        <a:graphic>
          <a:graphicData uri="http://schemas.openxmlformats.org/presentationml/2006/ole">
            <mc:AlternateContent xmlns:mc="http://schemas.openxmlformats.org/markup-compatibility/2006">
              <mc:Choice xmlns:v="urn:schemas-microsoft-com:vml" Requires="v">
                <p:oleObj name="Equation" r:id="rId2" imgW="114120" imgH="215640" progId="Equation.3">
                  <p:embed/>
                </p:oleObj>
              </mc:Choice>
              <mc:Fallback>
                <p:oleObj name="Equation" r:id="rId2" imgW="114120" imgH="215640" progId="Equation.3">
                  <p:embed/>
                  <p:pic>
                    <p:nvPicPr>
                      <p:cNvPr id="6" name="Object 5"/>
                      <p:cNvPicPr/>
                      <p:nvPr/>
                    </p:nvPicPr>
                    <p:blipFill>
                      <a:blip r:embed="rId3"/>
                      <a:stretch>
                        <a:fillRect/>
                      </a:stretch>
                    </p:blipFill>
                    <p:spPr>
                      <a:xfrm>
                        <a:off x="3865563" y="4776788"/>
                        <a:ext cx="227012" cy="376237"/>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1620838" y="4025134"/>
          <a:ext cx="3494087" cy="1636468"/>
        </p:xfrm>
        <a:graphic>
          <a:graphicData uri="http://schemas.openxmlformats.org/presentationml/2006/ole">
            <mc:AlternateContent xmlns:mc="http://schemas.openxmlformats.org/markup-compatibility/2006">
              <mc:Choice xmlns:v="urn:schemas-microsoft-com:vml" Requires="v">
                <p:oleObj name="Equation" r:id="rId4" imgW="1854000" imgH="774360" progId="Equation.3">
                  <p:embed/>
                </p:oleObj>
              </mc:Choice>
              <mc:Fallback>
                <p:oleObj name="Equation" r:id="rId4" imgW="1854000" imgH="774360" progId="Equation.3">
                  <p:embed/>
                  <p:pic>
                    <p:nvPicPr>
                      <p:cNvPr id="8" name="Object 7"/>
                      <p:cNvPicPr/>
                      <p:nvPr/>
                    </p:nvPicPr>
                    <p:blipFill>
                      <a:blip r:embed="rId5"/>
                      <a:stretch>
                        <a:fillRect/>
                      </a:stretch>
                    </p:blipFill>
                    <p:spPr>
                      <a:xfrm>
                        <a:off x="1620838" y="4025134"/>
                        <a:ext cx="3494087" cy="1636468"/>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5576553" y="4018206"/>
          <a:ext cx="4365938" cy="1950793"/>
        </p:xfrm>
        <a:graphic>
          <a:graphicData uri="http://schemas.openxmlformats.org/presentationml/2006/ole">
            <mc:AlternateContent xmlns:mc="http://schemas.openxmlformats.org/markup-compatibility/2006">
              <mc:Choice xmlns:v="urn:schemas-microsoft-com:vml" Requires="v">
                <p:oleObj name="Equation" r:id="rId6" imgW="1892160" imgH="1282680" progId="Equation.3">
                  <p:embed/>
                </p:oleObj>
              </mc:Choice>
              <mc:Fallback>
                <p:oleObj name="Equation" r:id="rId6" imgW="1892160" imgH="1282680" progId="Equation.3">
                  <p:embed/>
                  <p:pic>
                    <p:nvPicPr>
                      <p:cNvPr id="9" name="Object 8"/>
                      <p:cNvPicPr/>
                      <p:nvPr/>
                    </p:nvPicPr>
                    <p:blipFill>
                      <a:blip r:embed="rId7"/>
                      <a:stretch>
                        <a:fillRect/>
                      </a:stretch>
                    </p:blipFill>
                    <p:spPr>
                      <a:xfrm>
                        <a:off x="5576553" y="4018206"/>
                        <a:ext cx="4365938" cy="1950793"/>
                      </a:xfrm>
                      <a:prstGeom prst="rect">
                        <a:avLst/>
                      </a:prstGeom>
                    </p:spPr>
                  </p:pic>
                </p:oleObj>
              </mc:Fallback>
            </mc:AlternateContent>
          </a:graphicData>
        </a:graphic>
      </p:graphicFrame>
    </p:spTree>
    <p:extLst>
      <p:ext uri="{BB962C8B-B14F-4D97-AF65-F5344CB8AC3E}">
        <p14:creationId xmlns:p14="http://schemas.microsoft.com/office/powerpoint/2010/main" val="26639225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 Equivalence</a:t>
            </a:r>
          </a:p>
        </p:txBody>
      </p:sp>
      <p:sp>
        <p:nvSpPr>
          <p:cNvPr id="3" name="Content Placeholder 2"/>
          <p:cNvSpPr>
            <a:spLocks noGrp="1"/>
          </p:cNvSpPr>
          <p:nvPr>
            <p:ph idx="1"/>
          </p:nvPr>
        </p:nvSpPr>
        <p:spPr/>
        <p:txBody>
          <a:bodyPr>
            <a:normAutofit lnSpcReduction="10000"/>
          </a:bodyPr>
          <a:lstStyle/>
          <a:p>
            <a:r>
              <a:rPr lang="en-ZA" dirty="0"/>
              <a:t>Suppose payment is three years earlier, are the two values still equivalent.</a:t>
            </a:r>
          </a:p>
          <a:p>
            <a:r>
              <a:rPr lang="en-ZA" dirty="0"/>
              <a:t>The solution is two-faceted:</a:t>
            </a:r>
          </a:p>
          <a:p>
            <a:pPr marL="914400" lvl="1" indent="-457200">
              <a:buFont typeface="+mj-lt"/>
              <a:buAutoNum type="arabicPeriod"/>
            </a:pPr>
            <a:r>
              <a:rPr lang="en-ZA" dirty="0"/>
              <a:t>What is F after 7 years at 10%?</a:t>
            </a:r>
          </a:p>
          <a:p>
            <a:pPr marL="914400" lvl="1" indent="-457200">
              <a:buFont typeface="+mj-lt"/>
              <a:buAutoNum type="arabicPeriod"/>
            </a:pPr>
            <a:r>
              <a:rPr lang="en-ZA" dirty="0"/>
              <a:t>Given the sum of (F = 259374246) after 10 years and at 10% (</a:t>
            </a:r>
            <a:r>
              <a:rPr lang="en-ZA" dirty="0" err="1"/>
              <a:t>i</a:t>
            </a:r>
            <a:r>
              <a:rPr lang="en-ZA" dirty="0"/>
              <a:t>) what is the equivalent sum after 7 years</a:t>
            </a:r>
          </a:p>
          <a:p>
            <a:pPr marL="914400" lvl="1" indent="-457200">
              <a:buFont typeface="+mj-lt"/>
              <a:buAutoNum type="arabicPeriod"/>
            </a:pPr>
            <a:r>
              <a:rPr lang="en-ZA" dirty="0"/>
              <a:t>If the two figures are the same there is economic equivalence.</a:t>
            </a:r>
          </a:p>
          <a:p>
            <a:pPr marL="914400" lvl="1" indent="-457200">
              <a:buFont typeface="+mj-lt"/>
              <a:buAutoNum type="arabicPeriod"/>
            </a:pPr>
            <a:r>
              <a:rPr lang="en-ZA" dirty="0"/>
              <a:t>F = 100000000 (1+0.1)^7 = P194871710 and P = 259374246/(1+0.1)^3 = 194871710</a:t>
            </a:r>
          </a:p>
          <a:p>
            <a:endParaRPr lang="en-ZA" dirty="0"/>
          </a:p>
        </p:txBody>
      </p:sp>
      <p:sp>
        <p:nvSpPr>
          <p:cNvPr id="4" name="Date Placeholder 3"/>
          <p:cNvSpPr>
            <a:spLocks noGrp="1"/>
          </p:cNvSpPr>
          <p:nvPr>
            <p:ph type="dt" sz="half" idx="10"/>
          </p:nvPr>
        </p:nvSpPr>
        <p:spPr/>
        <p:txBody>
          <a:bodyPr/>
          <a:lstStyle/>
          <a:p>
            <a:fld id="{23C650D9-75B0-471F-A0FD-D2D1D93EBDCA}"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44</a:t>
            </a:fld>
            <a:endParaRPr lang="en-ZA"/>
          </a:p>
        </p:txBody>
      </p:sp>
    </p:spTree>
    <p:extLst>
      <p:ext uri="{BB962C8B-B14F-4D97-AF65-F5344CB8AC3E}">
        <p14:creationId xmlns:p14="http://schemas.microsoft.com/office/powerpoint/2010/main" val="3778079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 Equivalence</a:t>
            </a:r>
          </a:p>
        </p:txBody>
      </p:sp>
      <p:sp>
        <p:nvSpPr>
          <p:cNvPr id="3" name="Content Placeholder 2"/>
          <p:cNvSpPr>
            <a:spLocks noGrp="1"/>
          </p:cNvSpPr>
          <p:nvPr>
            <p:ph idx="1"/>
          </p:nvPr>
        </p:nvSpPr>
        <p:spPr/>
        <p:txBody>
          <a:bodyPr/>
          <a:lstStyle/>
          <a:p>
            <a:r>
              <a:rPr lang="en-ZA" dirty="0"/>
              <a:t>For any future and present amount at a given interest rate there is an economic equivalence.</a:t>
            </a:r>
          </a:p>
          <a:p>
            <a:r>
              <a:rPr lang="en-ZA" dirty="0"/>
              <a:t>Therefore, the following are the variables to be considered</a:t>
            </a:r>
          </a:p>
          <a:p>
            <a:pPr lvl="1"/>
            <a:r>
              <a:rPr lang="en-ZA" dirty="0"/>
              <a:t>The size of payment/receipt</a:t>
            </a:r>
          </a:p>
          <a:p>
            <a:pPr lvl="1"/>
            <a:r>
              <a:rPr lang="en-ZA" dirty="0"/>
              <a:t>The timing of the payment/receipt</a:t>
            </a:r>
          </a:p>
          <a:p>
            <a:pPr lvl="1"/>
            <a:r>
              <a:rPr lang="en-ZA" dirty="0"/>
              <a:t>The interest rate in operation</a:t>
            </a:r>
          </a:p>
        </p:txBody>
      </p:sp>
      <p:sp>
        <p:nvSpPr>
          <p:cNvPr id="4" name="Date Placeholder 3"/>
          <p:cNvSpPr>
            <a:spLocks noGrp="1"/>
          </p:cNvSpPr>
          <p:nvPr>
            <p:ph type="dt" sz="half" idx="10"/>
          </p:nvPr>
        </p:nvSpPr>
        <p:spPr/>
        <p:txBody>
          <a:bodyPr/>
          <a:lstStyle/>
          <a:p>
            <a:fld id="{F53B53AA-CC40-487B-A005-A8065189254B}"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45</a:t>
            </a:fld>
            <a:endParaRPr lang="en-ZA"/>
          </a:p>
        </p:txBody>
      </p:sp>
    </p:spTree>
    <p:extLst>
      <p:ext uri="{BB962C8B-B14F-4D97-AF65-F5344CB8AC3E}">
        <p14:creationId xmlns:p14="http://schemas.microsoft.com/office/powerpoint/2010/main" val="653961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Economic equivalence</a:t>
            </a:r>
          </a:p>
        </p:txBody>
      </p:sp>
      <p:sp>
        <p:nvSpPr>
          <p:cNvPr id="3" name="Content Placeholder 2"/>
          <p:cNvSpPr>
            <a:spLocks noGrp="1"/>
          </p:cNvSpPr>
          <p:nvPr>
            <p:ph idx="1"/>
          </p:nvPr>
        </p:nvSpPr>
        <p:spPr/>
        <p:txBody>
          <a:bodyPr>
            <a:normAutofit lnSpcReduction="10000"/>
          </a:bodyPr>
          <a:lstStyle/>
          <a:p>
            <a:r>
              <a:rPr lang="en-ZA" dirty="0"/>
              <a:t>Depends on interest rate; therefore change in the interest rate during the payment/receipt period challenges economic equivalence.</a:t>
            </a:r>
          </a:p>
          <a:p>
            <a:r>
              <a:rPr lang="en-ZA" dirty="0"/>
              <a:t>Suppose the interest rate was 8%.</a:t>
            </a:r>
          </a:p>
          <a:p>
            <a:r>
              <a:rPr lang="en-ZA" dirty="0"/>
              <a:t>After 10 years, F = 100000000(1+0.08)^10= P215 892 500.00 and receiving the amount three years earlier will be P171 382 427.00</a:t>
            </a:r>
          </a:p>
          <a:p>
            <a:r>
              <a:rPr lang="en-ZA" dirty="0"/>
              <a:t>If we want to have the same amount (P259 374 246.00) at a lower interest rate then P must be higher. At 8% interest rate P (for F = P259 382 412.00) should be P120 140 426.00 which more than P100 000 000.00.</a:t>
            </a:r>
          </a:p>
        </p:txBody>
      </p:sp>
      <p:sp>
        <p:nvSpPr>
          <p:cNvPr id="4" name="Date Placeholder 3"/>
          <p:cNvSpPr>
            <a:spLocks noGrp="1"/>
          </p:cNvSpPr>
          <p:nvPr>
            <p:ph type="dt" sz="half" idx="10"/>
          </p:nvPr>
        </p:nvSpPr>
        <p:spPr/>
        <p:txBody>
          <a:bodyPr/>
          <a:lstStyle/>
          <a:p>
            <a:fld id="{E191E170-0166-4069-B27E-FAE7FEECE059}" type="datetime1">
              <a:rPr lang="en-ZA" smtClean="0"/>
              <a:t>2024/10/07</a:t>
            </a:fld>
            <a:endParaRPr lang="en-ZA"/>
          </a:p>
        </p:txBody>
      </p:sp>
      <p:sp>
        <p:nvSpPr>
          <p:cNvPr id="5" name="Slide Number Placeholder 4"/>
          <p:cNvSpPr>
            <a:spLocks noGrp="1"/>
          </p:cNvSpPr>
          <p:nvPr>
            <p:ph type="sldNum" sz="quarter" idx="12"/>
          </p:nvPr>
        </p:nvSpPr>
        <p:spPr/>
        <p:txBody>
          <a:bodyPr/>
          <a:lstStyle/>
          <a:p>
            <a:fld id="{AC2845FC-E9D4-4B00-B81C-16D6AF5A4399}" type="slidenum">
              <a:rPr lang="en-ZA" smtClean="0"/>
              <a:t>46</a:t>
            </a:fld>
            <a:endParaRPr lang="en-ZA"/>
          </a:p>
        </p:txBody>
      </p:sp>
    </p:spTree>
    <p:extLst>
      <p:ext uri="{BB962C8B-B14F-4D97-AF65-F5344CB8AC3E}">
        <p14:creationId xmlns:p14="http://schemas.microsoft.com/office/powerpoint/2010/main" val="366683487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28389</TotalTime>
  <Words>3316</Words>
  <Application>Microsoft Office PowerPoint</Application>
  <PresentationFormat>Widescreen</PresentationFormat>
  <Paragraphs>443</Paragraphs>
  <Slides>46</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5" baseType="lpstr">
      <vt:lpstr>宋体</vt:lpstr>
      <vt:lpstr>Arial</vt:lpstr>
      <vt:lpstr>Calibri</vt:lpstr>
      <vt:lpstr>Cambria Math</vt:lpstr>
      <vt:lpstr>Garamond</vt:lpstr>
      <vt:lpstr>Times New Roman</vt:lpstr>
      <vt:lpstr>Wingdings</vt:lpstr>
      <vt:lpstr>Organic</vt:lpstr>
      <vt:lpstr>Equation</vt:lpstr>
      <vt:lpstr>LECTURE 6 (ENGINEERING ECONOMICS)</vt:lpstr>
      <vt:lpstr>Coverage</vt:lpstr>
      <vt:lpstr>Engineering Economic Analysis</vt:lpstr>
      <vt:lpstr>Engineering Economic Decisions</vt:lpstr>
      <vt:lpstr>Common Types of Strategic Engineering Economic Decisions</vt:lpstr>
      <vt:lpstr>Time Value of Money</vt:lpstr>
      <vt:lpstr>Time Value of Money</vt:lpstr>
      <vt:lpstr>Time Value of Money</vt:lpstr>
      <vt:lpstr>Time Value of Money</vt:lpstr>
      <vt:lpstr>Interest Rate</vt:lpstr>
      <vt:lpstr>Simple Interest</vt:lpstr>
      <vt:lpstr>Simple Interest</vt:lpstr>
      <vt:lpstr>Example 1</vt:lpstr>
      <vt:lpstr>Simple Interest</vt:lpstr>
      <vt:lpstr>Compound Interest </vt:lpstr>
      <vt:lpstr>Compound Interest</vt:lpstr>
      <vt:lpstr>Example 2</vt:lpstr>
      <vt:lpstr>Compound Interest</vt:lpstr>
      <vt:lpstr>Excel Format</vt:lpstr>
      <vt:lpstr>PowerPoint Presentation</vt:lpstr>
      <vt:lpstr>Compound Interest</vt:lpstr>
      <vt:lpstr>Loan Repayment</vt:lpstr>
      <vt:lpstr>Single-payment compound interest on other than annual basis </vt:lpstr>
      <vt:lpstr>  Effective Annual Interest Rate (Yield)</vt:lpstr>
      <vt:lpstr>  Effective Annual Interest Rate (Yield)</vt:lpstr>
      <vt:lpstr>PowerPoint Presentation</vt:lpstr>
      <vt:lpstr>4. Equal-Payment Series Compound Amount</vt:lpstr>
      <vt:lpstr>4. Equal-Payment Series Compound Amount</vt:lpstr>
      <vt:lpstr>4. Equal-Payment Series Compound Amount</vt:lpstr>
      <vt:lpstr>5. Equal-Payment Series Sinking Fund</vt:lpstr>
      <vt:lpstr>5. Equal-Payment Series Sinking Fund</vt:lpstr>
      <vt:lpstr>5. Equal-Payment Series Sinking Fund</vt:lpstr>
      <vt:lpstr>6. Equal-Payment Series Present Worth Amount</vt:lpstr>
      <vt:lpstr>6. Equal-Payment Series Present Worth Amount</vt:lpstr>
      <vt:lpstr>6. Equal-Payment Series Present Worth Amount</vt:lpstr>
      <vt:lpstr>Present Value of an Annuity</vt:lpstr>
      <vt:lpstr>Present Value of an Annuity </vt:lpstr>
      <vt:lpstr>Present Value of an Annuity </vt:lpstr>
      <vt:lpstr>7. Equal-Payment Series Capital Recovery Amount</vt:lpstr>
      <vt:lpstr>7. Equal-Payment Series Capital Recovery Amount</vt:lpstr>
      <vt:lpstr>7. Equal-Payment Series Capital Recovery Amount</vt:lpstr>
      <vt:lpstr>Economic Equivalence</vt:lpstr>
      <vt:lpstr>Economic Equivalence</vt:lpstr>
      <vt:lpstr>Economic Equivalence</vt:lpstr>
      <vt:lpstr>Economic Equivalence</vt:lpstr>
      <vt:lpstr>Economic equivalence</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dc:title>
  <dc:creator>James Juana</dc:creator>
  <cp:lastModifiedBy>Dr. James Juana</cp:lastModifiedBy>
  <cp:revision>168</cp:revision>
  <dcterms:created xsi:type="dcterms:W3CDTF">2018-01-23T14:13:40Z</dcterms:created>
  <dcterms:modified xsi:type="dcterms:W3CDTF">2024-10-07T09:10:29Z</dcterms:modified>
</cp:coreProperties>
</file>
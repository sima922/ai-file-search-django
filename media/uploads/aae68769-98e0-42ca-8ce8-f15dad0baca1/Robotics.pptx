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3"/>
  </p:notesMasterIdLst>
  <p:sldIdLst>
    <p:sldId id="256" r:id="rId2"/>
    <p:sldId id="258" r:id="rId3"/>
    <p:sldId id="285" r:id="rId4"/>
    <p:sldId id="286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257" r:id="rId19"/>
    <p:sldId id="301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80" r:id="rId40"/>
    <p:sldId id="281" r:id="rId41"/>
    <p:sldId id="282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67" autoAdjust="0"/>
  </p:normalViewPr>
  <p:slideViewPr>
    <p:cSldViewPr showGuides="1"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0D53A-A3A9-4785-8F95-13CA35C29A76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0FFDE-72E4-4E33-A11F-D22F07A26A2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0FFDE-72E4-4E33-A11F-D22F07A26A20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76962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76962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315200" y="6477000"/>
            <a:ext cx="1676400" cy="228600"/>
          </a:xfrm>
        </p:spPr>
        <p:txBody>
          <a:bodyPr/>
          <a:lstStyle>
            <a:lvl1pPr algn="r">
              <a:defRPr sz="1400"/>
            </a:lvl1pPr>
          </a:lstStyle>
          <a:p>
            <a:fld id="{16ABE80F-7490-42C0-A449-3407161CCB89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52400" y="6477000"/>
            <a:ext cx="1219200" cy="243840"/>
          </a:xfrm>
        </p:spPr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81000" y="3657599"/>
            <a:ext cx="8610600" cy="127063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381000" y="5029200"/>
            <a:ext cx="8610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152400" y="36576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152400" y="502920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00" y="6477000"/>
            <a:ext cx="1676400" cy="245110"/>
          </a:xfrm>
        </p:spPr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477000"/>
            <a:ext cx="4876800" cy="24511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6477000"/>
            <a:ext cx="1981200" cy="245110"/>
          </a:xfrm>
        </p:spPr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52400" y="838200"/>
            <a:ext cx="88392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D53685E-644C-414A-A586-AE66AB65FCF9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3B2-BA6B-4ADC-9D13-AAC5D20DAF33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436F-3862-4EFD-8F38-D77C85427AF9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212FC-0C57-4FEB-A6F7-CBD223A536DE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D7C9-5B0B-48F1-9CE5-90A3A8E1F5CC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D8B8A-36F5-497F-B6DF-146C4D1EB8A8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4F57-1167-4A90-8F8D-68FF089445B1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D90F-3595-4CF9-9750-51133462DAFC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179F-7B42-4D3D-9C7F-8A30689D296C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6C5A4E6-B080-4150-8601-905E77FE1689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E157DED-2631-4FEA-894F-3C72F5E7FC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urton@cse.yorku.c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infolab.stanford.edu/pub/voy/museum/pictures/display/robots/IMG_2404ArmFrontPeekingOut.JPG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obots.epson.com/products/g-series.htm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8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CSE4421/5324: Introduction to Robotics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5143500"/>
            <a:ext cx="7696200" cy="533400"/>
          </a:xfrm>
        </p:spPr>
        <p:txBody>
          <a:bodyPr>
            <a:normAutofit fontScale="47500" lnSpcReduction="20000"/>
          </a:bodyPr>
          <a:lstStyle/>
          <a:p>
            <a:r>
              <a:rPr lang="en-US" dirty="0" err="1"/>
              <a:t>From:Thrun</a:t>
            </a:r>
            <a:r>
              <a:rPr lang="en-US" dirty="0"/>
              <a:t>, </a:t>
            </a:r>
            <a:r>
              <a:rPr lang="en-US" dirty="0" err="1"/>
              <a:t>Burgard</a:t>
            </a:r>
            <a:r>
              <a:rPr lang="en-US" dirty="0"/>
              <a:t> and Fox, Probabilistic Robotics, The MIT Press, 2006, CSEB 1012J, </a:t>
            </a:r>
            <a:r>
              <a:rPr lang="en-US" dirty="0">
                <a:hlinkClick r:id="rId2"/>
              </a:rPr>
              <a:t>burton@cse.yorku.ca</a:t>
            </a:r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6F4E-50B7-4B75-B522-7DC0E842F6F9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>
            <a:normAutofit fontScale="90000"/>
          </a:bodyPr>
          <a:lstStyle/>
          <a:p>
            <a:r>
              <a:rPr lang="en-CA" dirty="0"/>
              <a:t>A150 Robotic Arm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AC31E59-D2CC-4055-8B59-17F4A59E51C8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Content Placeholder 7" descr="a150_joints.png"/>
          <p:cNvPicPr>
            <a:picLocks noGrp="1" noChangeAspect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1016504" y="1343987"/>
            <a:ext cx="7110991" cy="4170025"/>
          </a:xfr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Symbolic Representation of Manipulators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75260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3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86000" y="198120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2</a:t>
            </a:r>
            <a:endParaRPr lang="en-US" dirty="0"/>
          </a:p>
        </p:txBody>
      </p:sp>
      <p:cxnSp>
        <p:nvCxnSpPr>
          <p:cNvPr id="13" name="Straight Connector 12"/>
          <p:cNvCxnSpPr>
            <a:stCxn id="11" idx="2"/>
          </p:cNvCxnSpPr>
          <p:nvPr/>
        </p:nvCxnSpPr>
        <p:spPr>
          <a:xfrm rot="16200000" flipH="1">
            <a:off x="2986770" y="1996170"/>
            <a:ext cx="392668" cy="1101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</p:cNvCxnSpPr>
          <p:nvPr/>
        </p:nvCxnSpPr>
        <p:spPr>
          <a:xfrm rot="5400000">
            <a:off x="5348971" y="1954562"/>
            <a:ext cx="316468" cy="6512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Kinematics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study of motion that ignores the forces that cause the motion</a:t>
            </a:r>
          </a:p>
          <a:p>
            <a:pPr lvl="1"/>
            <a:r>
              <a:rPr lang="en-US" dirty="0"/>
              <a:t>“geometry of motion”</a:t>
            </a:r>
          </a:p>
          <a:p>
            <a:r>
              <a:rPr lang="en-US" dirty="0"/>
              <a:t>interested in position, velocity, acceleration, etc. of the various links of the manipulator</a:t>
            </a:r>
          </a:p>
          <a:p>
            <a:pPr lvl="1"/>
            <a:r>
              <a:rPr lang="en-US" dirty="0"/>
              <a:t>e.g., where is the gripper relative to the base of the manipulator? what direction is it pointing in?</a:t>
            </a:r>
          </a:p>
          <a:p>
            <a:pPr lvl="1"/>
            <a:r>
              <a:rPr lang="en-US" dirty="0"/>
              <a:t>described using rigid transformations of the links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Kinematics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forward kinematics:</a:t>
            </a:r>
          </a:p>
          <a:p>
            <a:pPr lvl="1"/>
            <a:r>
              <a:rPr lang="en-US" dirty="0"/>
              <a:t>given the link lengths and joint angles compute the position and orientation of the gripper relative to the base</a:t>
            </a:r>
          </a:p>
          <a:p>
            <a:pPr lvl="2"/>
            <a:r>
              <a:rPr lang="en-US" dirty="0"/>
              <a:t>for a serial manipulator there is only one solution</a:t>
            </a:r>
          </a:p>
          <a:p>
            <a:r>
              <a:rPr lang="en-US" dirty="0"/>
              <a:t>inverse kinematics:</a:t>
            </a:r>
          </a:p>
          <a:p>
            <a:pPr lvl="1"/>
            <a:r>
              <a:rPr lang="en-CA" dirty="0"/>
              <a:t>given the position (and possibly the orientation) of the gripper and the dimensions of the links, what are the joint variables?</a:t>
            </a:r>
          </a:p>
          <a:p>
            <a:pPr lvl="2"/>
            <a:r>
              <a:rPr lang="en-CA" dirty="0"/>
              <a:t>for a serial manipulator there is often more than one mathematical solution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Wheeled Mobile Robots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robot can have one or more wheels that can provide</a:t>
            </a:r>
          </a:p>
          <a:p>
            <a:pPr lvl="1"/>
            <a:r>
              <a:rPr lang="en-US" dirty="0"/>
              <a:t>steering (directional control)</a:t>
            </a:r>
          </a:p>
          <a:p>
            <a:pPr lvl="1"/>
            <a:r>
              <a:rPr lang="en-US" dirty="0"/>
              <a:t>power (exert a force against the ground)</a:t>
            </a:r>
          </a:p>
          <a:p>
            <a:r>
              <a:rPr lang="en-US" dirty="0"/>
              <a:t>an ideal wheel is</a:t>
            </a:r>
          </a:p>
          <a:p>
            <a:pPr lvl="1"/>
            <a:r>
              <a:rPr lang="en-US" dirty="0"/>
              <a:t>perfectly round (perimeter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moves in the direction perpendicular to its axis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Content Placeholder 6" descr="wheel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915467" y="838200"/>
            <a:ext cx="5313066" cy="54864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Deviations from Ideal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Content Placeholder 6" descr="drifting-techniques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1066800"/>
            <a:ext cx="7086600" cy="503332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two independently driven wheels mounted on a common axis</a:t>
            </a:r>
            <a:endParaRPr lang="en-US" dirty="0"/>
          </a:p>
        </p:txBody>
      </p:sp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Differential Drive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2" name="Picture 11" descr="differentialdriv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741596"/>
            <a:ext cx="9144000" cy="42782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a robot starting with pose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[0  0  0]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/>
              <a:t> moving with velocity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/>
              <a:t> in a direction </a:t>
            </a:r>
            <a:r>
              <a:rPr lang="el-GR" i="1" dirty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/>
              <a:t>:</a:t>
            </a:r>
          </a:p>
        </p:txBody>
      </p:sp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Forward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23553" name="Object 1"/>
          <p:cNvGraphicFramePr>
            <a:graphicFrameLocks noChangeAspect="1"/>
          </p:cNvGraphicFramePr>
          <p:nvPr/>
        </p:nvGraphicFramePr>
        <p:xfrm>
          <a:off x="2997200" y="2387600"/>
          <a:ext cx="31496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Equation" r:id="rId2" imgW="1574640" imgH="1015920" progId="Equation.3">
                  <p:embed/>
                </p:oleObj>
              </mc:Choice>
              <mc:Fallback>
                <p:oleObj name="Equation" r:id="rId2" imgW="1574640" imgH="10159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2387600"/>
                        <a:ext cx="3149600" cy="203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Sensitivity to Wheel Velocity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Content Placeholder 6" descr="diffdrive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rcRect l="9368" r="7292"/>
          <a:stretch>
            <a:fillRect/>
          </a:stretch>
        </p:blipFill>
        <p:spPr>
          <a:xfrm>
            <a:off x="2971800" y="838426"/>
            <a:ext cx="6096000" cy="5485947"/>
          </a:xfrm>
        </p:spPr>
      </p:pic>
      <p:graphicFrame>
        <p:nvGraphicFramePr>
          <p:cNvPr id="52226" name="Object 1"/>
          <p:cNvGraphicFramePr>
            <a:graphicFrameLocks noChangeAspect="1"/>
          </p:cNvGraphicFramePr>
          <p:nvPr/>
        </p:nvGraphicFramePr>
        <p:xfrm>
          <a:off x="279400" y="1143000"/>
          <a:ext cx="25400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Equation" r:id="rId3" imgW="1269720" imgH="1143000" progId="Equation.3">
                  <p:embed/>
                </p:oleObj>
              </mc:Choice>
              <mc:Fallback>
                <p:oleObj name="Equation" r:id="rId3" imgW="1269720" imgH="11430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1143000"/>
                        <a:ext cx="2540000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01000" y="2057400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212068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= 0.01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Localization using Landmarks: </a:t>
            </a:r>
            <a:r>
              <a:rPr lang="en-US" dirty="0" err="1"/>
              <a:t>RoboSoccer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Content Placeholder 6" descr="landmark_robosoccer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199611"/>
            <a:ext cx="8839200" cy="4763578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23744" y="1380744"/>
          <a:ext cx="4096512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03253" y="5126212"/>
            <a:ext cx="620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295400"/>
            <a:ext cx="555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Path Finding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23744" y="1380744"/>
          <a:ext cx="4096512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03253" y="5126212"/>
            <a:ext cx="620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295400"/>
            <a:ext cx="555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Localization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7CA0A33-8D6A-4020-BA1F-B65AE94B6184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23744" y="1380744"/>
          <a:ext cx="4096512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03253" y="5126212"/>
            <a:ext cx="620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295400"/>
            <a:ext cx="555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goal</a:t>
            </a:r>
          </a:p>
        </p:txBody>
      </p:sp>
      <p:sp>
        <p:nvSpPr>
          <p:cNvPr id="11" name="Freeform 10"/>
          <p:cNvSpPr/>
          <p:nvPr/>
        </p:nvSpPr>
        <p:spPr>
          <a:xfrm>
            <a:off x="2640458" y="1510301"/>
            <a:ext cx="3904180" cy="3873357"/>
          </a:xfrm>
          <a:custGeom>
            <a:avLst/>
            <a:gdLst>
              <a:gd name="connsiteX0" fmla="*/ 0 w 3904180"/>
              <a:gd name="connsiteY0" fmla="*/ 3873357 h 3873357"/>
              <a:gd name="connsiteX1" fmla="*/ 215758 w 3904180"/>
              <a:gd name="connsiteY1" fmla="*/ 3863083 h 3873357"/>
              <a:gd name="connsiteX2" fmla="*/ 277403 w 3904180"/>
              <a:gd name="connsiteY2" fmla="*/ 3842535 h 3873357"/>
              <a:gd name="connsiteX3" fmla="*/ 339048 w 3904180"/>
              <a:gd name="connsiteY3" fmla="*/ 3821987 h 3873357"/>
              <a:gd name="connsiteX4" fmla="*/ 369870 w 3904180"/>
              <a:gd name="connsiteY4" fmla="*/ 3811712 h 3873357"/>
              <a:gd name="connsiteX5" fmla="*/ 472612 w 3904180"/>
              <a:gd name="connsiteY5" fmla="*/ 3760342 h 3873357"/>
              <a:gd name="connsiteX6" fmla="*/ 534257 w 3904180"/>
              <a:gd name="connsiteY6" fmla="*/ 3770616 h 3873357"/>
              <a:gd name="connsiteX7" fmla="*/ 606176 w 3904180"/>
              <a:gd name="connsiteY7" fmla="*/ 3791164 h 3873357"/>
              <a:gd name="connsiteX8" fmla="*/ 811659 w 3904180"/>
              <a:gd name="connsiteY8" fmla="*/ 3780890 h 3873357"/>
              <a:gd name="connsiteX9" fmla="*/ 832207 w 3904180"/>
              <a:gd name="connsiteY9" fmla="*/ 3750068 h 3873357"/>
              <a:gd name="connsiteX10" fmla="*/ 986320 w 3904180"/>
              <a:gd name="connsiteY10" fmla="*/ 3760342 h 3873357"/>
              <a:gd name="connsiteX11" fmla="*/ 1047964 w 3904180"/>
              <a:gd name="connsiteY11" fmla="*/ 3801438 h 3873357"/>
              <a:gd name="connsiteX12" fmla="*/ 1078787 w 3904180"/>
              <a:gd name="connsiteY12" fmla="*/ 3811712 h 3873357"/>
              <a:gd name="connsiteX13" fmla="*/ 1130158 w 3904180"/>
              <a:gd name="connsiteY13" fmla="*/ 3801438 h 3873357"/>
              <a:gd name="connsiteX14" fmla="*/ 1181529 w 3904180"/>
              <a:gd name="connsiteY14" fmla="*/ 3750068 h 3873357"/>
              <a:gd name="connsiteX15" fmla="*/ 1202077 w 3904180"/>
              <a:gd name="connsiteY15" fmla="*/ 3719245 h 3873357"/>
              <a:gd name="connsiteX16" fmla="*/ 1253448 w 3904180"/>
              <a:gd name="connsiteY16" fmla="*/ 3708971 h 3873357"/>
              <a:gd name="connsiteX17" fmla="*/ 1294544 w 3904180"/>
              <a:gd name="connsiteY17" fmla="*/ 3698697 h 3873357"/>
              <a:gd name="connsiteX18" fmla="*/ 1407560 w 3904180"/>
              <a:gd name="connsiteY18" fmla="*/ 3708971 h 3873357"/>
              <a:gd name="connsiteX19" fmla="*/ 1438382 w 3904180"/>
              <a:gd name="connsiteY19" fmla="*/ 3770616 h 3873357"/>
              <a:gd name="connsiteX20" fmla="*/ 1500027 w 3904180"/>
              <a:gd name="connsiteY20" fmla="*/ 3801438 h 3873357"/>
              <a:gd name="connsiteX21" fmla="*/ 1561672 w 3904180"/>
              <a:gd name="connsiteY21" fmla="*/ 3791164 h 3873357"/>
              <a:gd name="connsiteX22" fmla="*/ 1582221 w 3904180"/>
              <a:gd name="connsiteY22" fmla="*/ 3760342 h 3873357"/>
              <a:gd name="connsiteX23" fmla="*/ 1602769 w 3904180"/>
              <a:gd name="connsiteY23" fmla="*/ 3739793 h 3873357"/>
              <a:gd name="connsiteX24" fmla="*/ 1633591 w 3904180"/>
              <a:gd name="connsiteY24" fmla="*/ 3729519 h 3873357"/>
              <a:gd name="connsiteX25" fmla="*/ 1756881 w 3904180"/>
              <a:gd name="connsiteY25" fmla="*/ 3719245 h 3873357"/>
              <a:gd name="connsiteX26" fmla="*/ 1797978 w 3904180"/>
              <a:gd name="connsiteY26" fmla="*/ 3708971 h 3873357"/>
              <a:gd name="connsiteX27" fmla="*/ 1859623 w 3904180"/>
              <a:gd name="connsiteY27" fmla="*/ 3667874 h 3873357"/>
              <a:gd name="connsiteX28" fmla="*/ 1890445 w 3904180"/>
              <a:gd name="connsiteY28" fmla="*/ 3647326 h 3873357"/>
              <a:gd name="connsiteX29" fmla="*/ 1921268 w 3904180"/>
              <a:gd name="connsiteY29" fmla="*/ 3637052 h 3873357"/>
              <a:gd name="connsiteX30" fmla="*/ 2003461 w 3904180"/>
              <a:gd name="connsiteY30" fmla="*/ 3657600 h 3873357"/>
              <a:gd name="connsiteX31" fmla="*/ 2034284 w 3904180"/>
              <a:gd name="connsiteY31" fmla="*/ 3688423 h 3873357"/>
              <a:gd name="connsiteX32" fmla="*/ 2106203 w 3904180"/>
              <a:gd name="connsiteY32" fmla="*/ 3719245 h 3873357"/>
              <a:gd name="connsiteX33" fmla="*/ 2280863 w 3904180"/>
              <a:gd name="connsiteY33" fmla="*/ 3729519 h 3873357"/>
              <a:gd name="connsiteX34" fmla="*/ 2301412 w 3904180"/>
              <a:gd name="connsiteY34" fmla="*/ 3708971 h 3873357"/>
              <a:gd name="connsiteX35" fmla="*/ 2363057 w 3904180"/>
              <a:gd name="connsiteY35" fmla="*/ 3667874 h 3873357"/>
              <a:gd name="connsiteX36" fmla="*/ 2465798 w 3904180"/>
              <a:gd name="connsiteY36" fmla="*/ 3637052 h 3873357"/>
              <a:gd name="connsiteX37" fmla="*/ 2599362 w 3904180"/>
              <a:gd name="connsiteY37" fmla="*/ 3626778 h 3873357"/>
              <a:gd name="connsiteX38" fmla="*/ 2979506 w 3904180"/>
              <a:gd name="connsiteY38" fmla="*/ 3647326 h 3873357"/>
              <a:gd name="connsiteX39" fmla="*/ 3041151 w 3904180"/>
              <a:gd name="connsiteY39" fmla="*/ 3667874 h 3873357"/>
              <a:gd name="connsiteX40" fmla="*/ 3102796 w 3904180"/>
              <a:gd name="connsiteY40" fmla="*/ 3678148 h 3873357"/>
              <a:gd name="connsiteX41" fmla="*/ 3143893 w 3904180"/>
              <a:gd name="connsiteY41" fmla="*/ 3729519 h 3873357"/>
              <a:gd name="connsiteX42" fmla="*/ 3226086 w 3904180"/>
              <a:gd name="connsiteY42" fmla="*/ 3719245 h 3873357"/>
              <a:gd name="connsiteX43" fmla="*/ 3359650 w 3904180"/>
              <a:gd name="connsiteY43" fmla="*/ 3708971 h 3873357"/>
              <a:gd name="connsiteX44" fmla="*/ 3390472 w 3904180"/>
              <a:gd name="connsiteY44" fmla="*/ 3698697 h 3873357"/>
              <a:gd name="connsiteX45" fmla="*/ 3452117 w 3904180"/>
              <a:gd name="connsiteY45" fmla="*/ 3657600 h 3873357"/>
              <a:gd name="connsiteX46" fmla="*/ 3534311 w 3904180"/>
              <a:gd name="connsiteY46" fmla="*/ 3637052 h 3873357"/>
              <a:gd name="connsiteX47" fmla="*/ 3554859 w 3904180"/>
              <a:gd name="connsiteY47" fmla="*/ 3616503 h 3873357"/>
              <a:gd name="connsiteX48" fmla="*/ 3595955 w 3904180"/>
              <a:gd name="connsiteY48" fmla="*/ 3534310 h 3873357"/>
              <a:gd name="connsiteX49" fmla="*/ 3606230 w 3904180"/>
              <a:gd name="connsiteY49" fmla="*/ 3503488 h 3873357"/>
              <a:gd name="connsiteX50" fmla="*/ 3626778 w 3904180"/>
              <a:gd name="connsiteY50" fmla="*/ 3431569 h 3873357"/>
              <a:gd name="connsiteX51" fmla="*/ 3637052 w 3904180"/>
              <a:gd name="connsiteY51" fmla="*/ 3359650 h 3873357"/>
              <a:gd name="connsiteX52" fmla="*/ 3647326 w 3904180"/>
              <a:gd name="connsiteY52" fmla="*/ 3318553 h 3873357"/>
              <a:gd name="connsiteX53" fmla="*/ 3678149 w 3904180"/>
              <a:gd name="connsiteY53" fmla="*/ 3308279 h 3873357"/>
              <a:gd name="connsiteX54" fmla="*/ 3750068 w 3904180"/>
              <a:gd name="connsiteY54" fmla="*/ 3287730 h 3873357"/>
              <a:gd name="connsiteX55" fmla="*/ 3780890 w 3904180"/>
              <a:gd name="connsiteY55" fmla="*/ 3267182 h 3873357"/>
              <a:gd name="connsiteX56" fmla="*/ 3760342 w 3904180"/>
              <a:gd name="connsiteY56" fmla="*/ 3092521 h 3873357"/>
              <a:gd name="connsiteX57" fmla="*/ 3729520 w 3904180"/>
              <a:gd name="connsiteY57" fmla="*/ 3030877 h 3873357"/>
              <a:gd name="connsiteX58" fmla="*/ 3657600 w 3904180"/>
              <a:gd name="connsiteY58" fmla="*/ 2989780 h 3873357"/>
              <a:gd name="connsiteX59" fmla="*/ 3626778 w 3904180"/>
              <a:gd name="connsiteY59" fmla="*/ 2969232 h 3873357"/>
              <a:gd name="connsiteX60" fmla="*/ 3606230 w 3904180"/>
              <a:gd name="connsiteY60" fmla="*/ 2948683 h 3873357"/>
              <a:gd name="connsiteX61" fmla="*/ 3575407 w 3904180"/>
              <a:gd name="connsiteY61" fmla="*/ 2938409 h 3873357"/>
              <a:gd name="connsiteX62" fmla="*/ 3554859 w 3904180"/>
              <a:gd name="connsiteY62" fmla="*/ 2907587 h 3873357"/>
              <a:gd name="connsiteX63" fmla="*/ 3462391 w 3904180"/>
              <a:gd name="connsiteY63" fmla="*/ 2866490 h 3873357"/>
              <a:gd name="connsiteX64" fmla="*/ 3431569 w 3904180"/>
              <a:gd name="connsiteY64" fmla="*/ 2856216 h 3873357"/>
              <a:gd name="connsiteX65" fmla="*/ 3400746 w 3904180"/>
              <a:gd name="connsiteY65" fmla="*/ 2845942 h 3873357"/>
              <a:gd name="connsiteX66" fmla="*/ 3369924 w 3904180"/>
              <a:gd name="connsiteY66" fmla="*/ 2835668 h 3873357"/>
              <a:gd name="connsiteX67" fmla="*/ 3287731 w 3904180"/>
              <a:gd name="connsiteY67" fmla="*/ 2825393 h 3873357"/>
              <a:gd name="connsiteX68" fmla="*/ 3246634 w 3904180"/>
              <a:gd name="connsiteY68" fmla="*/ 2815119 h 3873357"/>
              <a:gd name="connsiteX69" fmla="*/ 3143893 w 3904180"/>
              <a:gd name="connsiteY69" fmla="*/ 2804845 h 3873357"/>
              <a:gd name="connsiteX70" fmla="*/ 3071973 w 3904180"/>
              <a:gd name="connsiteY70" fmla="*/ 2794571 h 3873357"/>
              <a:gd name="connsiteX71" fmla="*/ 3041151 w 3904180"/>
              <a:gd name="connsiteY71" fmla="*/ 2784297 h 3873357"/>
              <a:gd name="connsiteX72" fmla="*/ 3000054 w 3904180"/>
              <a:gd name="connsiteY72" fmla="*/ 2722652 h 3873357"/>
              <a:gd name="connsiteX73" fmla="*/ 2928135 w 3904180"/>
              <a:gd name="connsiteY73" fmla="*/ 2702103 h 3873357"/>
              <a:gd name="connsiteX74" fmla="*/ 2835668 w 3904180"/>
              <a:gd name="connsiteY74" fmla="*/ 2671281 h 3873357"/>
              <a:gd name="connsiteX75" fmla="*/ 2804845 w 3904180"/>
              <a:gd name="connsiteY75" fmla="*/ 2661007 h 3873357"/>
              <a:gd name="connsiteX76" fmla="*/ 2774023 w 3904180"/>
              <a:gd name="connsiteY76" fmla="*/ 2650733 h 3873357"/>
              <a:gd name="connsiteX77" fmla="*/ 2753475 w 3904180"/>
              <a:gd name="connsiteY77" fmla="*/ 2630184 h 3873357"/>
              <a:gd name="connsiteX78" fmla="*/ 2702104 w 3904180"/>
              <a:gd name="connsiteY78" fmla="*/ 2619910 h 3873357"/>
              <a:gd name="connsiteX79" fmla="*/ 2599362 w 3904180"/>
              <a:gd name="connsiteY79" fmla="*/ 2599362 h 3873357"/>
              <a:gd name="connsiteX80" fmla="*/ 2537717 w 3904180"/>
              <a:gd name="connsiteY80" fmla="*/ 2578814 h 3873357"/>
              <a:gd name="connsiteX81" fmla="*/ 2455524 w 3904180"/>
              <a:gd name="connsiteY81" fmla="*/ 2517169 h 3873357"/>
              <a:gd name="connsiteX82" fmla="*/ 2424702 w 3904180"/>
              <a:gd name="connsiteY82" fmla="*/ 2506895 h 3873357"/>
              <a:gd name="connsiteX83" fmla="*/ 2373331 w 3904180"/>
              <a:gd name="connsiteY83" fmla="*/ 2476072 h 3873357"/>
              <a:gd name="connsiteX84" fmla="*/ 2321960 w 3904180"/>
              <a:gd name="connsiteY84" fmla="*/ 2434975 h 3873357"/>
              <a:gd name="connsiteX85" fmla="*/ 2280863 w 3904180"/>
              <a:gd name="connsiteY85" fmla="*/ 2342508 h 3873357"/>
              <a:gd name="connsiteX86" fmla="*/ 2260315 w 3904180"/>
              <a:gd name="connsiteY86" fmla="*/ 2208944 h 3873357"/>
              <a:gd name="connsiteX87" fmla="*/ 2239767 w 3904180"/>
              <a:gd name="connsiteY87" fmla="*/ 2178121 h 3873357"/>
              <a:gd name="connsiteX88" fmla="*/ 2208944 w 3904180"/>
              <a:gd name="connsiteY88" fmla="*/ 2167847 h 3873357"/>
              <a:gd name="connsiteX89" fmla="*/ 2178122 w 3904180"/>
              <a:gd name="connsiteY89" fmla="*/ 2137025 h 3873357"/>
              <a:gd name="connsiteX90" fmla="*/ 2157573 w 3904180"/>
              <a:gd name="connsiteY90" fmla="*/ 2075380 h 3873357"/>
              <a:gd name="connsiteX91" fmla="*/ 2137025 w 3904180"/>
              <a:gd name="connsiteY91" fmla="*/ 2013735 h 3873357"/>
              <a:gd name="connsiteX92" fmla="*/ 2126751 w 3904180"/>
              <a:gd name="connsiteY92" fmla="*/ 1982912 h 3873357"/>
              <a:gd name="connsiteX93" fmla="*/ 2106203 w 3904180"/>
              <a:gd name="connsiteY93" fmla="*/ 1900719 h 3873357"/>
              <a:gd name="connsiteX94" fmla="*/ 2054832 w 3904180"/>
              <a:gd name="connsiteY94" fmla="*/ 1849348 h 3873357"/>
              <a:gd name="connsiteX95" fmla="*/ 1952090 w 3904180"/>
              <a:gd name="connsiteY95" fmla="*/ 1818526 h 3873357"/>
              <a:gd name="connsiteX96" fmla="*/ 1890445 w 3904180"/>
              <a:gd name="connsiteY96" fmla="*/ 1777429 h 3873357"/>
              <a:gd name="connsiteX97" fmla="*/ 1859623 w 3904180"/>
              <a:gd name="connsiteY97" fmla="*/ 1756881 h 3873357"/>
              <a:gd name="connsiteX98" fmla="*/ 1818526 w 3904180"/>
              <a:gd name="connsiteY98" fmla="*/ 1736333 h 3873357"/>
              <a:gd name="connsiteX99" fmla="*/ 1756881 w 3904180"/>
              <a:gd name="connsiteY99" fmla="*/ 1695236 h 3873357"/>
              <a:gd name="connsiteX100" fmla="*/ 1726059 w 3904180"/>
              <a:gd name="connsiteY100" fmla="*/ 1592495 h 3873357"/>
              <a:gd name="connsiteX101" fmla="*/ 1705511 w 3904180"/>
              <a:gd name="connsiteY101" fmla="*/ 1479479 h 3873357"/>
              <a:gd name="connsiteX102" fmla="*/ 1684962 w 3904180"/>
              <a:gd name="connsiteY102" fmla="*/ 1417834 h 3873357"/>
              <a:gd name="connsiteX103" fmla="*/ 1654140 w 3904180"/>
              <a:gd name="connsiteY103" fmla="*/ 1387011 h 3873357"/>
              <a:gd name="connsiteX104" fmla="*/ 1633591 w 3904180"/>
              <a:gd name="connsiteY104" fmla="*/ 1325366 h 3873357"/>
              <a:gd name="connsiteX105" fmla="*/ 1602769 w 3904180"/>
              <a:gd name="connsiteY105" fmla="*/ 1171254 h 3873357"/>
              <a:gd name="connsiteX106" fmla="*/ 1541124 w 3904180"/>
              <a:gd name="connsiteY106" fmla="*/ 1130157 h 3873357"/>
              <a:gd name="connsiteX107" fmla="*/ 1510302 w 3904180"/>
              <a:gd name="connsiteY107" fmla="*/ 1109609 h 3873357"/>
              <a:gd name="connsiteX108" fmla="*/ 1438382 w 3904180"/>
              <a:gd name="connsiteY108" fmla="*/ 1068512 h 3873357"/>
              <a:gd name="connsiteX109" fmla="*/ 1376738 w 3904180"/>
              <a:gd name="connsiteY109" fmla="*/ 1047964 h 3873357"/>
              <a:gd name="connsiteX110" fmla="*/ 1366463 w 3904180"/>
              <a:gd name="connsiteY110" fmla="*/ 945223 h 3873357"/>
              <a:gd name="connsiteX111" fmla="*/ 1325367 w 3904180"/>
              <a:gd name="connsiteY111" fmla="*/ 852755 h 3873357"/>
              <a:gd name="connsiteX112" fmla="*/ 1304818 w 3904180"/>
              <a:gd name="connsiteY112" fmla="*/ 780836 h 3873357"/>
              <a:gd name="connsiteX113" fmla="*/ 1315093 w 3904180"/>
              <a:gd name="connsiteY113" fmla="*/ 657546 h 3873357"/>
              <a:gd name="connsiteX114" fmla="*/ 1325367 w 3904180"/>
              <a:gd name="connsiteY114" fmla="*/ 626724 h 3873357"/>
              <a:gd name="connsiteX115" fmla="*/ 1335641 w 3904180"/>
              <a:gd name="connsiteY115" fmla="*/ 575353 h 3873357"/>
              <a:gd name="connsiteX116" fmla="*/ 1376738 w 3904180"/>
              <a:gd name="connsiteY116" fmla="*/ 431515 h 3873357"/>
              <a:gd name="connsiteX117" fmla="*/ 1387012 w 3904180"/>
              <a:gd name="connsiteY117" fmla="*/ 380144 h 3873357"/>
              <a:gd name="connsiteX118" fmla="*/ 1397286 w 3904180"/>
              <a:gd name="connsiteY118" fmla="*/ 308225 h 3873357"/>
              <a:gd name="connsiteX119" fmla="*/ 1777430 w 3904180"/>
              <a:gd name="connsiteY119" fmla="*/ 297951 h 3873357"/>
              <a:gd name="connsiteX120" fmla="*/ 1839075 w 3904180"/>
              <a:gd name="connsiteY120" fmla="*/ 277402 h 3873357"/>
              <a:gd name="connsiteX121" fmla="*/ 1869897 w 3904180"/>
              <a:gd name="connsiteY121" fmla="*/ 267128 h 3873357"/>
              <a:gd name="connsiteX122" fmla="*/ 1941816 w 3904180"/>
              <a:gd name="connsiteY122" fmla="*/ 226032 h 3873357"/>
              <a:gd name="connsiteX123" fmla="*/ 2044558 w 3904180"/>
              <a:gd name="connsiteY123" fmla="*/ 184935 h 3873357"/>
              <a:gd name="connsiteX124" fmla="*/ 2208944 w 3904180"/>
              <a:gd name="connsiteY124" fmla="*/ 154112 h 3873357"/>
              <a:gd name="connsiteX125" fmla="*/ 2393879 w 3904180"/>
              <a:gd name="connsiteY125" fmla="*/ 133564 h 3873357"/>
              <a:gd name="connsiteX126" fmla="*/ 2640459 w 3904180"/>
              <a:gd name="connsiteY126" fmla="*/ 123290 h 3873357"/>
              <a:gd name="connsiteX127" fmla="*/ 2671281 w 3904180"/>
              <a:gd name="connsiteY127" fmla="*/ 102742 h 3873357"/>
              <a:gd name="connsiteX128" fmla="*/ 2702104 w 3904180"/>
              <a:gd name="connsiteY128" fmla="*/ 92468 h 3873357"/>
              <a:gd name="connsiteX129" fmla="*/ 2722652 w 3904180"/>
              <a:gd name="connsiteY129" fmla="*/ 71919 h 3873357"/>
              <a:gd name="connsiteX130" fmla="*/ 2784297 w 3904180"/>
              <a:gd name="connsiteY130" fmla="*/ 51371 h 3873357"/>
              <a:gd name="connsiteX131" fmla="*/ 3287731 w 3904180"/>
              <a:gd name="connsiteY131" fmla="*/ 51371 h 3873357"/>
              <a:gd name="connsiteX132" fmla="*/ 3390472 w 3904180"/>
              <a:gd name="connsiteY132" fmla="*/ 30823 h 3873357"/>
              <a:gd name="connsiteX133" fmla="*/ 3441843 w 3904180"/>
              <a:gd name="connsiteY133" fmla="*/ 20548 h 3873357"/>
              <a:gd name="connsiteX134" fmla="*/ 3770616 w 3904180"/>
              <a:gd name="connsiteY134" fmla="*/ 10274 h 3873357"/>
              <a:gd name="connsiteX135" fmla="*/ 3904180 w 3904180"/>
              <a:gd name="connsiteY135" fmla="*/ 0 h 3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3904180" h="3873357">
                <a:moveTo>
                  <a:pt x="0" y="3873357"/>
                </a:moveTo>
                <a:cubicBezTo>
                  <a:pt x="71919" y="3869932"/>
                  <a:pt x="144198" y="3871034"/>
                  <a:pt x="215758" y="3863083"/>
                </a:cubicBezTo>
                <a:cubicBezTo>
                  <a:pt x="237285" y="3860691"/>
                  <a:pt x="256855" y="3849384"/>
                  <a:pt x="277403" y="3842535"/>
                </a:cubicBezTo>
                <a:lnTo>
                  <a:pt x="339048" y="3821987"/>
                </a:lnTo>
                <a:cubicBezTo>
                  <a:pt x="349322" y="3818562"/>
                  <a:pt x="360859" y="3817719"/>
                  <a:pt x="369870" y="3811712"/>
                </a:cubicBezTo>
                <a:cubicBezTo>
                  <a:pt x="443264" y="3762783"/>
                  <a:pt x="407556" y="3776605"/>
                  <a:pt x="472612" y="3760342"/>
                </a:cubicBezTo>
                <a:cubicBezTo>
                  <a:pt x="493160" y="3763767"/>
                  <a:pt x="513830" y="3766531"/>
                  <a:pt x="534257" y="3770616"/>
                </a:cubicBezTo>
                <a:cubicBezTo>
                  <a:pt x="566507" y="3777066"/>
                  <a:pt x="576801" y="3781373"/>
                  <a:pt x="606176" y="3791164"/>
                </a:cubicBezTo>
                <a:cubicBezTo>
                  <a:pt x="674670" y="3787739"/>
                  <a:pt x="744185" y="3793158"/>
                  <a:pt x="811659" y="3780890"/>
                </a:cubicBezTo>
                <a:cubicBezTo>
                  <a:pt x="823808" y="3778681"/>
                  <a:pt x="819944" y="3751511"/>
                  <a:pt x="832207" y="3750068"/>
                </a:cubicBezTo>
                <a:cubicBezTo>
                  <a:pt x="883339" y="3744053"/>
                  <a:pt x="934949" y="3756917"/>
                  <a:pt x="986320" y="3760342"/>
                </a:cubicBezTo>
                <a:cubicBezTo>
                  <a:pt x="1059609" y="3784772"/>
                  <a:pt x="971002" y="3750131"/>
                  <a:pt x="1047964" y="3801438"/>
                </a:cubicBezTo>
                <a:cubicBezTo>
                  <a:pt x="1056975" y="3807445"/>
                  <a:pt x="1068513" y="3808287"/>
                  <a:pt x="1078787" y="3811712"/>
                </a:cubicBezTo>
                <a:cubicBezTo>
                  <a:pt x="1095911" y="3808287"/>
                  <a:pt x="1115184" y="3810422"/>
                  <a:pt x="1130158" y="3801438"/>
                </a:cubicBezTo>
                <a:cubicBezTo>
                  <a:pt x="1150923" y="3788979"/>
                  <a:pt x="1168097" y="3770217"/>
                  <a:pt x="1181529" y="3750068"/>
                </a:cubicBezTo>
                <a:cubicBezTo>
                  <a:pt x="1188378" y="3739794"/>
                  <a:pt x="1191356" y="3725371"/>
                  <a:pt x="1202077" y="3719245"/>
                </a:cubicBezTo>
                <a:cubicBezTo>
                  <a:pt x="1217239" y="3710581"/>
                  <a:pt x="1236401" y="3712759"/>
                  <a:pt x="1253448" y="3708971"/>
                </a:cubicBezTo>
                <a:cubicBezTo>
                  <a:pt x="1267232" y="3705908"/>
                  <a:pt x="1280845" y="3702122"/>
                  <a:pt x="1294544" y="3698697"/>
                </a:cubicBezTo>
                <a:cubicBezTo>
                  <a:pt x="1332216" y="3702122"/>
                  <a:pt x="1371405" y="3697847"/>
                  <a:pt x="1407560" y="3708971"/>
                </a:cubicBezTo>
                <a:cubicBezTo>
                  <a:pt x="1430538" y="3716041"/>
                  <a:pt x="1427341" y="3756815"/>
                  <a:pt x="1438382" y="3770616"/>
                </a:cubicBezTo>
                <a:cubicBezTo>
                  <a:pt x="1452866" y="3788721"/>
                  <a:pt x="1479723" y="3794670"/>
                  <a:pt x="1500027" y="3801438"/>
                </a:cubicBezTo>
                <a:cubicBezTo>
                  <a:pt x="1520575" y="3798013"/>
                  <a:pt x="1543039" y="3800480"/>
                  <a:pt x="1561672" y="3791164"/>
                </a:cubicBezTo>
                <a:cubicBezTo>
                  <a:pt x="1572716" y="3785642"/>
                  <a:pt x="1574507" y="3769984"/>
                  <a:pt x="1582221" y="3760342"/>
                </a:cubicBezTo>
                <a:cubicBezTo>
                  <a:pt x="1588272" y="3752778"/>
                  <a:pt x="1594463" y="3744777"/>
                  <a:pt x="1602769" y="3739793"/>
                </a:cubicBezTo>
                <a:cubicBezTo>
                  <a:pt x="1612055" y="3734221"/>
                  <a:pt x="1622856" y="3730950"/>
                  <a:pt x="1633591" y="3729519"/>
                </a:cubicBezTo>
                <a:cubicBezTo>
                  <a:pt x="1674468" y="3724069"/>
                  <a:pt x="1715784" y="3722670"/>
                  <a:pt x="1756881" y="3719245"/>
                </a:cubicBezTo>
                <a:cubicBezTo>
                  <a:pt x="1770580" y="3715820"/>
                  <a:pt x="1785348" y="3715286"/>
                  <a:pt x="1797978" y="3708971"/>
                </a:cubicBezTo>
                <a:cubicBezTo>
                  <a:pt x="1820067" y="3697927"/>
                  <a:pt x="1839075" y="3681573"/>
                  <a:pt x="1859623" y="3667874"/>
                </a:cubicBezTo>
                <a:cubicBezTo>
                  <a:pt x="1869897" y="3661025"/>
                  <a:pt x="1878731" y="3651231"/>
                  <a:pt x="1890445" y="3647326"/>
                </a:cubicBezTo>
                <a:lnTo>
                  <a:pt x="1921268" y="3637052"/>
                </a:lnTo>
                <a:cubicBezTo>
                  <a:pt x="1928678" y="3638534"/>
                  <a:pt x="1989921" y="3648573"/>
                  <a:pt x="2003461" y="3657600"/>
                </a:cubicBezTo>
                <a:cubicBezTo>
                  <a:pt x="2015551" y="3665660"/>
                  <a:pt x="2022460" y="3679978"/>
                  <a:pt x="2034284" y="3688423"/>
                </a:cubicBezTo>
                <a:cubicBezTo>
                  <a:pt x="2056502" y="3704293"/>
                  <a:pt x="2081049" y="3710861"/>
                  <a:pt x="2106203" y="3719245"/>
                </a:cubicBezTo>
                <a:cubicBezTo>
                  <a:pt x="2171569" y="3762823"/>
                  <a:pt x="2145928" y="3754819"/>
                  <a:pt x="2280863" y="3729519"/>
                </a:cubicBezTo>
                <a:cubicBezTo>
                  <a:pt x="2290384" y="3727734"/>
                  <a:pt x="2293663" y="3714783"/>
                  <a:pt x="2301412" y="3708971"/>
                </a:cubicBezTo>
                <a:cubicBezTo>
                  <a:pt x="2321169" y="3694153"/>
                  <a:pt x="2339628" y="3675683"/>
                  <a:pt x="2363057" y="3667874"/>
                </a:cubicBezTo>
                <a:cubicBezTo>
                  <a:pt x="2379633" y="3662349"/>
                  <a:pt x="2441802" y="3639875"/>
                  <a:pt x="2465798" y="3637052"/>
                </a:cubicBezTo>
                <a:cubicBezTo>
                  <a:pt x="2510145" y="3631835"/>
                  <a:pt x="2554841" y="3630203"/>
                  <a:pt x="2599362" y="3626778"/>
                </a:cubicBezTo>
                <a:cubicBezTo>
                  <a:pt x="2613858" y="3627382"/>
                  <a:pt x="2914110" y="3637001"/>
                  <a:pt x="2979506" y="3647326"/>
                </a:cubicBezTo>
                <a:cubicBezTo>
                  <a:pt x="3000901" y="3650704"/>
                  <a:pt x="3019786" y="3664313"/>
                  <a:pt x="3041151" y="3667874"/>
                </a:cubicBezTo>
                <a:lnTo>
                  <a:pt x="3102796" y="3678148"/>
                </a:lnTo>
                <a:cubicBezTo>
                  <a:pt x="3104724" y="3681040"/>
                  <a:pt x="3133434" y="3728473"/>
                  <a:pt x="3143893" y="3729519"/>
                </a:cubicBezTo>
                <a:cubicBezTo>
                  <a:pt x="3171367" y="3732266"/>
                  <a:pt x="3198599" y="3721863"/>
                  <a:pt x="3226086" y="3719245"/>
                </a:cubicBezTo>
                <a:cubicBezTo>
                  <a:pt x="3270538" y="3715012"/>
                  <a:pt x="3315129" y="3712396"/>
                  <a:pt x="3359650" y="3708971"/>
                </a:cubicBezTo>
                <a:cubicBezTo>
                  <a:pt x="3369924" y="3705546"/>
                  <a:pt x="3381005" y="3703956"/>
                  <a:pt x="3390472" y="3698697"/>
                </a:cubicBezTo>
                <a:cubicBezTo>
                  <a:pt x="3412060" y="3686703"/>
                  <a:pt x="3428688" y="3665409"/>
                  <a:pt x="3452117" y="3657600"/>
                </a:cubicBezTo>
                <a:cubicBezTo>
                  <a:pt x="3499507" y="3641804"/>
                  <a:pt x="3472320" y="3649450"/>
                  <a:pt x="3534311" y="3637052"/>
                </a:cubicBezTo>
                <a:cubicBezTo>
                  <a:pt x="3541160" y="3630202"/>
                  <a:pt x="3549875" y="3624809"/>
                  <a:pt x="3554859" y="3616503"/>
                </a:cubicBezTo>
                <a:cubicBezTo>
                  <a:pt x="3570619" y="3590237"/>
                  <a:pt x="3586268" y="3563369"/>
                  <a:pt x="3595955" y="3534310"/>
                </a:cubicBezTo>
                <a:cubicBezTo>
                  <a:pt x="3599380" y="3524036"/>
                  <a:pt x="3603255" y="3513901"/>
                  <a:pt x="3606230" y="3503488"/>
                </a:cubicBezTo>
                <a:cubicBezTo>
                  <a:pt x="3632040" y="3413157"/>
                  <a:pt x="3602138" y="3505489"/>
                  <a:pt x="3626778" y="3431569"/>
                </a:cubicBezTo>
                <a:cubicBezTo>
                  <a:pt x="3630203" y="3407596"/>
                  <a:pt x="3632720" y="3383476"/>
                  <a:pt x="3637052" y="3359650"/>
                </a:cubicBezTo>
                <a:cubicBezTo>
                  <a:pt x="3639578" y="3345757"/>
                  <a:pt x="3638505" y="3329579"/>
                  <a:pt x="3647326" y="3318553"/>
                </a:cubicBezTo>
                <a:cubicBezTo>
                  <a:pt x="3654092" y="3310096"/>
                  <a:pt x="3667736" y="3311254"/>
                  <a:pt x="3678149" y="3308279"/>
                </a:cubicBezTo>
                <a:cubicBezTo>
                  <a:pt x="3693517" y="3303888"/>
                  <a:pt x="3733642" y="3295943"/>
                  <a:pt x="3750068" y="3287730"/>
                </a:cubicBezTo>
                <a:cubicBezTo>
                  <a:pt x="3761112" y="3282208"/>
                  <a:pt x="3770616" y="3274031"/>
                  <a:pt x="3780890" y="3267182"/>
                </a:cubicBezTo>
                <a:cubicBezTo>
                  <a:pt x="3773046" y="3165204"/>
                  <a:pt x="3780335" y="3162497"/>
                  <a:pt x="3760342" y="3092521"/>
                </a:cubicBezTo>
                <a:cubicBezTo>
                  <a:pt x="3753657" y="3069124"/>
                  <a:pt x="3747531" y="3048888"/>
                  <a:pt x="3729520" y="3030877"/>
                </a:cubicBezTo>
                <a:cubicBezTo>
                  <a:pt x="3712830" y="3014187"/>
                  <a:pt x="3676406" y="3000526"/>
                  <a:pt x="3657600" y="2989780"/>
                </a:cubicBezTo>
                <a:cubicBezTo>
                  <a:pt x="3646879" y="2983654"/>
                  <a:pt x="3636420" y="2976946"/>
                  <a:pt x="3626778" y="2969232"/>
                </a:cubicBezTo>
                <a:cubicBezTo>
                  <a:pt x="3619214" y="2963181"/>
                  <a:pt x="3614536" y="2953667"/>
                  <a:pt x="3606230" y="2948683"/>
                </a:cubicBezTo>
                <a:cubicBezTo>
                  <a:pt x="3596943" y="2943111"/>
                  <a:pt x="3585681" y="2941834"/>
                  <a:pt x="3575407" y="2938409"/>
                </a:cubicBezTo>
                <a:cubicBezTo>
                  <a:pt x="3568558" y="2928135"/>
                  <a:pt x="3563590" y="2916318"/>
                  <a:pt x="3554859" y="2907587"/>
                </a:cubicBezTo>
                <a:cubicBezTo>
                  <a:pt x="3530435" y="2883163"/>
                  <a:pt x="3492914" y="2876664"/>
                  <a:pt x="3462391" y="2866490"/>
                </a:cubicBezTo>
                <a:lnTo>
                  <a:pt x="3431569" y="2856216"/>
                </a:lnTo>
                <a:lnTo>
                  <a:pt x="3400746" y="2845942"/>
                </a:lnTo>
                <a:cubicBezTo>
                  <a:pt x="3390472" y="2842517"/>
                  <a:pt x="3380670" y="2837011"/>
                  <a:pt x="3369924" y="2835668"/>
                </a:cubicBezTo>
                <a:cubicBezTo>
                  <a:pt x="3342526" y="2832243"/>
                  <a:pt x="3314966" y="2829932"/>
                  <a:pt x="3287731" y="2825393"/>
                </a:cubicBezTo>
                <a:cubicBezTo>
                  <a:pt x="3273803" y="2823072"/>
                  <a:pt x="3260613" y="2817116"/>
                  <a:pt x="3246634" y="2815119"/>
                </a:cubicBezTo>
                <a:cubicBezTo>
                  <a:pt x="3212562" y="2810252"/>
                  <a:pt x="3178075" y="2808866"/>
                  <a:pt x="3143893" y="2804845"/>
                </a:cubicBezTo>
                <a:cubicBezTo>
                  <a:pt x="3119842" y="2802016"/>
                  <a:pt x="3095946" y="2797996"/>
                  <a:pt x="3071973" y="2794571"/>
                </a:cubicBezTo>
                <a:cubicBezTo>
                  <a:pt x="3061699" y="2791146"/>
                  <a:pt x="3048809" y="2791955"/>
                  <a:pt x="3041151" y="2784297"/>
                </a:cubicBezTo>
                <a:cubicBezTo>
                  <a:pt x="3003681" y="2746826"/>
                  <a:pt x="3039396" y="2746257"/>
                  <a:pt x="3000054" y="2722652"/>
                </a:cubicBezTo>
                <a:cubicBezTo>
                  <a:pt x="2988547" y="2715748"/>
                  <a:pt x="2937088" y="2704789"/>
                  <a:pt x="2928135" y="2702103"/>
                </a:cubicBezTo>
                <a:cubicBezTo>
                  <a:pt x="2928118" y="2702098"/>
                  <a:pt x="2851088" y="2676421"/>
                  <a:pt x="2835668" y="2671281"/>
                </a:cubicBezTo>
                <a:lnTo>
                  <a:pt x="2804845" y="2661007"/>
                </a:lnTo>
                <a:lnTo>
                  <a:pt x="2774023" y="2650733"/>
                </a:lnTo>
                <a:cubicBezTo>
                  <a:pt x="2767174" y="2643883"/>
                  <a:pt x="2762378" y="2634000"/>
                  <a:pt x="2753475" y="2630184"/>
                </a:cubicBezTo>
                <a:cubicBezTo>
                  <a:pt x="2737424" y="2623305"/>
                  <a:pt x="2719151" y="2623698"/>
                  <a:pt x="2702104" y="2619910"/>
                </a:cubicBezTo>
                <a:cubicBezTo>
                  <a:pt x="2610144" y="2599475"/>
                  <a:pt x="2720157" y="2619494"/>
                  <a:pt x="2599362" y="2599362"/>
                </a:cubicBezTo>
                <a:cubicBezTo>
                  <a:pt x="2578814" y="2592513"/>
                  <a:pt x="2553032" y="2594130"/>
                  <a:pt x="2537717" y="2578814"/>
                </a:cubicBezTo>
                <a:cubicBezTo>
                  <a:pt x="2513376" y="2554472"/>
                  <a:pt x="2490380" y="2528788"/>
                  <a:pt x="2455524" y="2517169"/>
                </a:cubicBezTo>
                <a:lnTo>
                  <a:pt x="2424702" y="2506895"/>
                </a:lnTo>
                <a:cubicBezTo>
                  <a:pt x="2384566" y="2466759"/>
                  <a:pt x="2426679" y="2502746"/>
                  <a:pt x="2373331" y="2476072"/>
                </a:cubicBezTo>
                <a:cubicBezTo>
                  <a:pt x="2347407" y="2463110"/>
                  <a:pt x="2341074" y="2454090"/>
                  <a:pt x="2321960" y="2434975"/>
                </a:cubicBezTo>
                <a:cubicBezTo>
                  <a:pt x="2297507" y="2361616"/>
                  <a:pt x="2313427" y="2391352"/>
                  <a:pt x="2280863" y="2342508"/>
                </a:cubicBezTo>
                <a:cubicBezTo>
                  <a:pt x="2277916" y="2313040"/>
                  <a:pt x="2278828" y="2245971"/>
                  <a:pt x="2260315" y="2208944"/>
                </a:cubicBezTo>
                <a:cubicBezTo>
                  <a:pt x="2254793" y="2197899"/>
                  <a:pt x="2249409" y="2185835"/>
                  <a:pt x="2239767" y="2178121"/>
                </a:cubicBezTo>
                <a:cubicBezTo>
                  <a:pt x="2231310" y="2171355"/>
                  <a:pt x="2219218" y="2171272"/>
                  <a:pt x="2208944" y="2167847"/>
                </a:cubicBezTo>
                <a:cubicBezTo>
                  <a:pt x="2198670" y="2157573"/>
                  <a:pt x="2185178" y="2149726"/>
                  <a:pt x="2178122" y="2137025"/>
                </a:cubicBezTo>
                <a:cubicBezTo>
                  <a:pt x="2167603" y="2118091"/>
                  <a:pt x="2164423" y="2095928"/>
                  <a:pt x="2157573" y="2075380"/>
                </a:cubicBezTo>
                <a:lnTo>
                  <a:pt x="2137025" y="2013735"/>
                </a:lnTo>
                <a:cubicBezTo>
                  <a:pt x="2133600" y="2003461"/>
                  <a:pt x="2129378" y="1993419"/>
                  <a:pt x="2126751" y="1982912"/>
                </a:cubicBezTo>
                <a:cubicBezTo>
                  <a:pt x="2119902" y="1955514"/>
                  <a:pt x="2126172" y="1920688"/>
                  <a:pt x="2106203" y="1900719"/>
                </a:cubicBezTo>
                <a:cubicBezTo>
                  <a:pt x="2089079" y="1883595"/>
                  <a:pt x="2077806" y="1857006"/>
                  <a:pt x="2054832" y="1849348"/>
                </a:cubicBezTo>
                <a:cubicBezTo>
                  <a:pt x="1979791" y="1824335"/>
                  <a:pt x="2014200" y="1834053"/>
                  <a:pt x="1952090" y="1818526"/>
                </a:cubicBezTo>
                <a:lnTo>
                  <a:pt x="1890445" y="1777429"/>
                </a:lnTo>
                <a:cubicBezTo>
                  <a:pt x="1880171" y="1770580"/>
                  <a:pt x="1870667" y="1762403"/>
                  <a:pt x="1859623" y="1756881"/>
                </a:cubicBezTo>
                <a:cubicBezTo>
                  <a:pt x="1845924" y="1750032"/>
                  <a:pt x="1831659" y="1744213"/>
                  <a:pt x="1818526" y="1736333"/>
                </a:cubicBezTo>
                <a:cubicBezTo>
                  <a:pt x="1797349" y="1723627"/>
                  <a:pt x="1756881" y="1695236"/>
                  <a:pt x="1756881" y="1695236"/>
                </a:cubicBezTo>
                <a:cubicBezTo>
                  <a:pt x="1743777" y="1655925"/>
                  <a:pt x="1733822" y="1631312"/>
                  <a:pt x="1726059" y="1592495"/>
                </a:cubicBezTo>
                <a:cubicBezTo>
                  <a:pt x="1720186" y="1563130"/>
                  <a:pt x="1713774" y="1509778"/>
                  <a:pt x="1705511" y="1479479"/>
                </a:cubicBezTo>
                <a:cubicBezTo>
                  <a:pt x="1699812" y="1458582"/>
                  <a:pt x="1700278" y="1433150"/>
                  <a:pt x="1684962" y="1417834"/>
                </a:cubicBezTo>
                <a:lnTo>
                  <a:pt x="1654140" y="1387011"/>
                </a:lnTo>
                <a:cubicBezTo>
                  <a:pt x="1647290" y="1366463"/>
                  <a:pt x="1635390" y="1346951"/>
                  <a:pt x="1633591" y="1325366"/>
                </a:cubicBezTo>
                <a:cubicBezTo>
                  <a:pt x="1630439" y="1287542"/>
                  <a:pt x="1643752" y="1207115"/>
                  <a:pt x="1602769" y="1171254"/>
                </a:cubicBezTo>
                <a:cubicBezTo>
                  <a:pt x="1584183" y="1154991"/>
                  <a:pt x="1561672" y="1143856"/>
                  <a:pt x="1541124" y="1130157"/>
                </a:cubicBezTo>
                <a:lnTo>
                  <a:pt x="1510302" y="1109609"/>
                </a:lnTo>
                <a:cubicBezTo>
                  <a:pt x="1482503" y="1091077"/>
                  <a:pt x="1470966" y="1081546"/>
                  <a:pt x="1438382" y="1068512"/>
                </a:cubicBezTo>
                <a:cubicBezTo>
                  <a:pt x="1418272" y="1060468"/>
                  <a:pt x="1376738" y="1047964"/>
                  <a:pt x="1376738" y="1047964"/>
                </a:cubicBezTo>
                <a:cubicBezTo>
                  <a:pt x="1373313" y="1013717"/>
                  <a:pt x="1372806" y="979051"/>
                  <a:pt x="1366463" y="945223"/>
                </a:cubicBezTo>
                <a:cubicBezTo>
                  <a:pt x="1350559" y="860403"/>
                  <a:pt x="1353056" y="908134"/>
                  <a:pt x="1325367" y="852755"/>
                </a:cubicBezTo>
                <a:cubicBezTo>
                  <a:pt x="1317998" y="838017"/>
                  <a:pt x="1308109" y="794001"/>
                  <a:pt x="1304818" y="780836"/>
                </a:cubicBezTo>
                <a:cubicBezTo>
                  <a:pt x="1308243" y="739739"/>
                  <a:pt x="1309642" y="698423"/>
                  <a:pt x="1315093" y="657546"/>
                </a:cubicBezTo>
                <a:cubicBezTo>
                  <a:pt x="1316524" y="646811"/>
                  <a:pt x="1322740" y="637230"/>
                  <a:pt x="1325367" y="626724"/>
                </a:cubicBezTo>
                <a:cubicBezTo>
                  <a:pt x="1329602" y="609783"/>
                  <a:pt x="1331046" y="592200"/>
                  <a:pt x="1335641" y="575353"/>
                </a:cubicBezTo>
                <a:cubicBezTo>
                  <a:pt x="1365013" y="467653"/>
                  <a:pt x="1351074" y="559837"/>
                  <a:pt x="1376738" y="431515"/>
                </a:cubicBezTo>
                <a:cubicBezTo>
                  <a:pt x="1380163" y="414391"/>
                  <a:pt x="1384141" y="397369"/>
                  <a:pt x="1387012" y="380144"/>
                </a:cubicBezTo>
                <a:cubicBezTo>
                  <a:pt x="1390993" y="356257"/>
                  <a:pt x="1373589" y="313214"/>
                  <a:pt x="1397286" y="308225"/>
                </a:cubicBezTo>
                <a:cubicBezTo>
                  <a:pt x="1521328" y="282111"/>
                  <a:pt x="1650715" y="301376"/>
                  <a:pt x="1777430" y="297951"/>
                </a:cubicBezTo>
                <a:lnTo>
                  <a:pt x="1839075" y="277402"/>
                </a:lnTo>
                <a:cubicBezTo>
                  <a:pt x="1849349" y="273977"/>
                  <a:pt x="1860886" y="273135"/>
                  <a:pt x="1869897" y="267128"/>
                </a:cubicBezTo>
                <a:cubicBezTo>
                  <a:pt x="1913463" y="238085"/>
                  <a:pt x="1889676" y="252102"/>
                  <a:pt x="1941816" y="226032"/>
                </a:cubicBezTo>
                <a:cubicBezTo>
                  <a:pt x="1986260" y="181586"/>
                  <a:pt x="1941518" y="219281"/>
                  <a:pt x="2044558" y="184935"/>
                </a:cubicBezTo>
                <a:cubicBezTo>
                  <a:pt x="2138855" y="153503"/>
                  <a:pt x="2084651" y="166542"/>
                  <a:pt x="2208944" y="154112"/>
                </a:cubicBezTo>
                <a:cubicBezTo>
                  <a:pt x="2286718" y="128188"/>
                  <a:pt x="2237957" y="141560"/>
                  <a:pt x="2393879" y="133564"/>
                </a:cubicBezTo>
                <a:lnTo>
                  <a:pt x="2640459" y="123290"/>
                </a:lnTo>
                <a:cubicBezTo>
                  <a:pt x="2650733" y="116441"/>
                  <a:pt x="2660237" y="108264"/>
                  <a:pt x="2671281" y="102742"/>
                </a:cubicBezTo>
                <a:cubicBezTo>
                  <a:pt x="2680968" y="97899"/>
                  <a:pt x="2692817" y="98040"/>
                  <a:pt x="2702104" y="92468"/>
                </a:cubicBezTo>
                <a:cubicBezTo>
                  <a:pt x="2710410" y="87484"/>
                  <a:pt x="2713988" y="76251"/>
                  <a:pt x="2722652" y="71919"/>
                </a:cubicBezTo>
                <a:cubicBezTo>
                  <a:pt x="2742025" y="62232"/>
                  <a:pt x="2784297" y="51371"/>
                  <a:pt x="2784297" y="51371"/>
                </a:cubicBezTo>
                <a:cubicBezTo>
                  <a:pt x="3004460" y="65131"/>
                  <a:pt x="3011342" y="70654"/>
                  <a:pt x="3287731" y="51371"/>
                </a:cubicBezTo>
                <a:cubicBezTo>
                  <a:pt x="3322572" y="48940"/>
                  <a:pt x="3356225" y="37673"/>
                  <a:pt x="3390472" y="30823"/>
                </a:cubicBezTo>
                <a:cubicBezTo>
                  <a:pt x="3407596" y="27398"/>
                  <a:pt x="3424389" y="21093"/>
                  <a:pt x="3441843" y="20548"/>
                </a:cubicBezTo>
                <a:lnTo>
                  <a:pt x="3770616" y="10274"/>
                </a:lnTo>
                <a:lnTo>
                  <a:pt x="390418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EKF SLAM Application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AC22-15E6-4073-BF8C-C096DAFEE02F}" type="slidenum">
              <a:rPr lang="en-US"/>
              <a:pPr/>
              <a:t>15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80388" name="Picture 4" descr="jl-rob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1850" y="1219200"/>
            <a:ext cx="755015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80389" name="Text Box 5"/>
          <p:cNvSpPr txBox="1">
            <a:spLocks noChangeArrowheads="1"/>
          </p:cNvSpPr>
          <p:nvPr/>
        </p:nvSpPr>
        <p:spPr bwMode="auto">
          <a:xfrm>
            <a:off x="4976207" y="5715000"/>
            <a:ext cx="363439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/>
              <a:t>[MIT B21, courtesy by John Leonard]</a:t>
            </a:r>
            <a:endParaRPr lang="de-DE" sz="1800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85800" y="5724525"/>
            <a:ext cx="306391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1800" dirty="0"/>
              <a:t>www.probabilistic-robotics.org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EKF SLAM Application</a:t>
            </a:r>
            <a:endParaRPr lang="de-DE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C806-0E5F-4509-BFDD-5F3240FC9A50}" type="slidenum">
              <a:rPr lang="en-US"/>
              <a:pPr/>
              <a:t>16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82436" name="Picture 4" descr="jl-pat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212" y="1232456"/>
            <a:ext cx="4613275" cy="3802062"/>
          </a:xfrm>
          <a:prstGeom prst="rect">
            <a:avLst/>
          </a:prstGeom>
          <a:noFill/>
        </p:spPr>
      </p:pic>
      <p:pic>
        <p:nvPicPr>
          <p:cNvPr id="1682437" name="Picture 5" descr="jl-resul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2225" y="1315006"/>
            <a:ext cx="3813175" cy="3635375"/>
          </a:xfrm>
          <a:prstGeom prst="rect">
            <a:avLst/>
          </a:prstGeom>
          <a:noFill/>
        </p:spPr>
      </p:pic>
      <p:sp>
        <p:nvSpPr>
          <p:cNvPr id="1682438" name="Text Box 6"/>
          <p:cNvSpPr txBox="1">
            <a:spLocks noChangeArrowheads="1"/>
          </p:cNvSpPr>
          <p:nvPr/>
        </p:nvSpPr>
        <p:spPr bwMode="auto">
          <a:xfrm>
            <a:off x="1673225" y="5040868"/>
            <a:ext cx="198317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raw </a:t>
            </a:r>
            <a:r>
              <a:rPr lang="en-US" sz="2400" dirty="0" err="1"/>
              <a:t>odometry</a:t>
            </a:r>
            <a:endParaRPr lang="de-DE" sz="2400" dirty="0"/>
          </a:p>
        </p:txBody>
      </p:sp>
      <p:sp>
        <p:nvSpPr>
          <p:cNvPr id="1682439" name="Text Box 7"/>
          <p:cNvSpPr txBox="1">
            <a:spLocks noChangeArrowheads="1"/>
          </p:cNvSpPr>
          <p:nvPr/>
        </p:nvSpPr>
        <p:spPr bwMode="auto">
          <a:xfrm>
            <a:off x="5353050" y="5040868"/>
            <a:ext cx="3303587" cy="4206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estimated trajectory</a:t>
            </a:r>
            <a:endParaRPr lang="de-DE" sz="2400" dirty="0"/>
          </a:p>
        </p:txBody>
      </p:sp>
      <p:sp>
        <p:nvSpPr>
          <p:cNvPr id="1682440" name="Text Box 8"/>
          <p:cNvSpPr txBox="1">
            <a:spLocks noChangeArrowheads="1"/>
          </p:cNvSpPr>
          <p:nvPr/>
        </p:nvSpPr>
        <p:spPr bwMode="auto">
          <a:xfrm>
            <a:off x="6069013" y="5574268"/>
            <a:ext cx="281939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/>
              <a:t>[courtesy by John Leonard]</a:t>
            </a:r>
            <a:endParaRPr lang="de-DE" sz="1800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82612" y="5574268"/>
            <a:ext cx="306391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de-DE" sz="1800" dirty="0"/>
              <a:t>www.probabilistic-robotics.org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Introduction to manipulator kinematics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6F4E-50B7-4B75-B522-7DC0E842F6F9}" type="datetime1">
              <a:rPr lang="en-US" smtClean="0"/>
              <a:pPr/>
              <a:t>9/2/2024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>
            <a:normAutofit fontScale="90000"/>
          </a:bodyPr>
          <a:lstStyle/>
          <a:p>
            <a:r>
              <a:rPr lang="en-CA" dirty="0"/>
              <a:t>Robotic Manipulators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AC31E59-D2CC-4055-8B59-17F4A59E51C8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a robotic manipulator is a kinematic chain</a:t>
            </a:r>
          </a:p>
          <a:p>
            <a:pPr lvl="1"/>
            <a:r>
              <a:rPr lang="en-CA" dirty="0"/>
              <a:t>i.e. an assembly of pairs of rigid bodies that can move respect to one another via a mechanical constraint</a:t>
            </a:r>
          </a:p>
          <a:p>
            <a:r>
              <a:rPr lang="en-CA" dirty="0"/>
              <a:t>the rigid bodies are called </a:t>
            </a:r>
            <a:r>
              <a:rPr lang="en-CA" i="1" dirty="0"/>
              <a:t>links</a:t>
            </a:r>
          </a:p>
          <a:p>
            <a:r>
              <a:rPr lang="en-CA" dirty="0"/>
              <a:t>the mechanical constraints are called </a:t>
            </a:r>
            <a:r>
              <a:rPr lang="en-CA" i="1" dirty="0"/>
              <a:t>joints</a:t>
            </a:r>
            <a:endParaRPr lang="en-US" i="1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Symbolic Representation of Manipulators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>
            <a:normAutofit fontScale="90000"/>
          </a:bodyPr>
          <a:lstStyle/>
          <a:p>
            <a:r>
              <a:rPr lang="en-CA" dirty="0"/>
              <a:t>A150 Robotic Arm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AC31E59-D2CC-4055-8B59-17F4A59E51C8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" name="Content Placeholder 7" descr="a150_joints.png"/>
          <p:cNvPicPr>
            <a:picLocks noGrp="1" noChangeAspect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1016504" y="1343987"/>
            <a:ext cx="7110991" cy="4170025"/>
          </a:xfr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Symbolic Representation of Manipulators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75260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3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86000" y="198120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2</a:t>
            </a:r>
            <a:endParaRPr lang="en-US" dirty="0"/>
          </a:p>
        </p:txBody>
      </p:sp>
      <p:cxnSp>
        <p:nvCxnSpPr>
          <p:cNvPr id="13" name="Straight Connector 12"/>
          <p:cNvCxnSpPr>
            <a:stCxn id="11" idx="2"/>
          </p:cNvCxnSpPr>
          <p:nvPr/>
        </p:nvCxnSpPr>
        <p:spPr>
          <a:xfrm rot="16200000" flipH="1">
            <a:off x="2986770" y="1996170"/>
            <a:ext cx="392668" cy="1101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</p:cNvCxnSpPr>
          <p:nvPr/>
        </p:nvCxnSpPr>
        <p:spPr>
          <a:xfrm rot="5400000">
            <a:off x="5348971" y="1954562"/>
            <a:ext cx="316468" cy="6512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>
            <a:normAutofit fontScale="90000"/>
          </a:bodyPr>
          <a:lstStyle/>
          <a:p>
            <a:r>
              <a:rPr lang="en-CA" dirty="0"/>
              <a:t>Joints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AC31E59-D2CC-4055-8B59-17F4A59E51C8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Symbolic Representation of Manipulators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most manipulator joints are one of two types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revolute (or rotary)</a:t>
            </a:r>
          </a:p>
          <a:p>
            <a:pPr marL="788670" lvl="1" indent="-514350"/>
            <a:r>
              <a:rPr lang="en-CA" dirty="0"/>
              <a:t>like a hinge</a:t>
            </a:r>
          </a:p>
          <a:p>
            <a:pPr marL="788670" lvl="1" indent="-514350"/>
            <a:r>
              <a:rPr lang="en-CA" dirty="0"/>
              <a:t>allows relative rotation about a fixed axis between two links</a:t>
            </a:r>
          </a:p>
          <a:p>
            <a:pPr marL="1062990" lvl="2" indent="-514350"/>
            <a:r>
              <a:rPr lang="en-CA" dirty="0"/>
              <a:t>axis of rotation is the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dirty="0"/>
              <a:t> axis by convention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prismatic (or linear)</a:t>
            </a:r>
          </a:p>
          <a:p>
            <a:pPr marL="788670" lvl="1" indent="-514350"/>
            <a:r>
              <a:rPr lang="en-CA" dirty="0"/>
              <a:t>like a piston</a:t>
            </a:r>
          </a:p>
          <a:p>
            <a:pPr marL="788670" lvl="1" indent="-514350"/>
            <a:r>
              <a:rPr lang="en-CA" dirty="0"/>
              <a:t>allows relative translation along a fixed axis between two links</a:t>
            </a:r>
          </a:p>
          <a:p>
            <a:pPr marL="1062990" lvl="2" indent="-514350"/>
            <a:r>
              <a:rPr lang="en-CA" dirty="0"/>
              <a:t>axis of translation is the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dirty="0"/>
              <a:t> axis by convention</a:t>
            </a:r>
          </a:p>
          <a:p>
            <a:pPr marL="514350" indent="-514350"/>
            <a:r>
              <a:rPr lang="en-CA" dirty="0"/>
              <a:t>our convention: joint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connects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to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</a:t>
            </a:r>
          </a:p>
          <a:p>
            <a:pPr marL="788670" lvl="1" indent="-514350"/>
            <a:r>
              <a:rPr lang="en-CA" dirty="0"/>
              <a:t>when joint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is actuated,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moves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>
            <a:normAutofit fontScale="90000"/>
          </a:bodyPr>
          <a:lstStyle/>
          <a:p>
            <a:r>
              <a:rPr lang="en-CA" dirty="0"/>
              <a:t>Joint Variables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AC31E59-D2CC-4055-8B59-17F4A59E51C8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Symbolic Representation of Manipulators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/>
            <a:r>
              <a:rPr lang="en-CA" dirty="0"/>
              <a:t>revolute and prismatic joints are one degree of freedom (DOF) joints; thus, they can be described using a single numeric value called a joint variable</a:t>
            </a:r>
          </a:p>
          <a:p>
            <a:pPr marL="514350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: joint variable for joint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revolute</a:t>
            </a:r>
          </a:p>
          <a:p>
            <a:pPr marL="788670" lvl="1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CA" i="1" dirty="0" err="1">
                <a:latin typeface="Symbol" pitchFamily="18" charset="2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/>
              <a:t>: angle of rotation of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relative to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prismatic</a:t>
            </a:r>
          </a:p>
          <a:p>
            <a:pPr marL="788670" lvl="1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: displacement of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relative to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>
            <a:normAutofit fontScale="90000"/>
          </a:bodyPr>
          <a:lstStyle/>
          <a:p>
            <a:r>
              <a:rPr lang="en-CA" dirty="0"/>
              <a:t>Revolute Joint Variable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AC31E59-D2CC-4055-8B59-17F4A59E51C8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Symbolic Representation of Manipulators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/>
            <a:r>
              <a:rPr lang="en-CA" dirty="0"/>
              <a:t>revolute</a:t>
            </a:r>
          </a:p>
          <a:p>
            <a:pPr marL="788670" lvl="1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CA" i="1" dirty="0" err="1">
                <a:latin typeface="Symbol" pitchFamily="18" charset="2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/>
              <a:t>: angle of rotation of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relative to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endCxn id="7" idx="2"/>
          </p:cNvCxnSpPr>
          <p:nvPr/>
        </p:nvCxnSpPr>
        <p:spPr>
          <a:xfrm>
            <a:off x="1828800" y="43434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7" idx="7"/>
          </p:cNvCxnSpPr>
          <p:nvPr/>
        </p:nvCxnSpPr>
        <p:spPr>
          <a:xfrm rot="5400000" flipH="1" flipV="1">
            <a:off x="4895289" y="2514601"/>
            <a:ext cx="1505511" cy="15055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>
            <a:stCxn id="7" idx="6"/>
          </p:cNvCxnSpPr>
          <p:nvPr/>
        </p:nvCxnSpPr>
        <p:spPr>
          <a:xfrm>
            <a:off x="5029200" y="43434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3886200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105400" y="251460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486400" y="373380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>
                <a:latin typeface="Symbol" pitchFamily="18" charset="2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en-US" dirty="0"/>
          </a:p>
        </p:txBody>
      </p:sp>
      <p:sp>
        <p:nvSpPr>
          <p:cNvPr id="27" name="Freeform 26"/>
          <p:cNvSpPr/>
          <p:nvPr/>
        </p:nvSpPr>
        <p:spPr>
          <a:xfrm>
            <a:off x="5218580" y="3696824"/>
            <a:ext cx="281610" cy="646576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>
            <a:normAutofit fontScale="90000"/>
          </a:bodyPr>
          <a:lstStyle/>
          <a:p>
            <a:r>
              <a:rPr lang="en-CA" dirty="0"/>
              <a:t>Prismatic Joint Variable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AC31E59-D2CC-4055-8B59-17F4A59E51C8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Symbolic Representation of Manipulators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/>
            <a:r>
              <a:rPr lang="en-CA" dirty="0"/>
              <a:t>prismatic</a:t>
            </a:r>
          </a:p>
          <a:p>
            <a:pPr marL="788670" lvl="1" indent="-514350"/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: displacement of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relative to 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 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371600" y="36576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28800" y="3200400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477000" y="320040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 </a:t>
            </a:r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CA" dirty="0"/>
              <a:t> 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 rot="5400000">
            <a:off x="3048000" y="3657600"/>
            <a:ext cx="1219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57600" y="30480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657600" y="42672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4953000" y="3657600"/>
            <a:ext cx="1066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486400" y="3657600"/>
            <a:ext cx="228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657600" y="45720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95800" y="46482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Common Manipulator </a:t>
            </a:r>
            <a:r>
              <a:rPr lang="en-CA" dirty="0" err="1"/>
              <a:t>Arrangments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most industrial manipulators have six or fewer joints</a:t>
            </a:r>
          </a:p>
          <a:p>
            <a:pPr lvl="1"/>
            <a:r>
              <a:rPr lang="en-CA" dirty="0"/>
              <a:t>the first three joints are the arm</a:t>
            </a:r>
          </a:p>
          <a:p>
            <a:pPr lvl="1"/>
            <a:r>
              <a:rPr lang="en-CA" dirty="0"/>
              <a:t>the remaining joints are the wrist</a:t>
            </a:r>
          </a:p>
          <a:p>
            <a:r>
              <a:rPr lang="en-CA" dirty="0"/>
              <a:t>it is common to describe such manipulators using the joints of the arm</a:t>
            </a:r>
          </a:p>
          <a:p>
            <a:pPr lvl="1"/>
            <a:r>
              <a:rPr lang="en-CA" dirty="0"/>
              <a:t>R: revolute joint</a:t>
            </a:r>
          </a:p>
          <a:p>
            <a:pPr lvl="1"/>
            <a:r>
              <a:rPr lang="en-CA" dirty="0"/>
              <a:t>P: prismatic joint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Common Manipulator Arrangements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 rot="10800000">
            <a:off x="5715000" y="365760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Articulated Manipulator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RRR (first three joints are all revolute)</a:t>
            </a:r>
          </a:p>
          <a:p>
            <a:r>
              <a:rPr lang="en-CA" dirty="0"/>
              <a:t>joint axes</a:t>
            </a:r>
          </a:p>
          <a:p>
            <a:pPr lvl="1"/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CA" dirty="0"/>
              <a:t> : waist</a:t>
            </a:r>
          </a:p>
          <a:p>
            <a:pPr lvl="1"/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/>
              <a:t> : shoulder (perpendicular to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CA" dirty="0"/>
              <a:t>)</a:t>
            </a:r>
          </a:p>
          <a:p>
            <a:pPr lvl="1"/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/>
              <a:t> : elbow (parallel to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/>
              <a:t>)</a:t>
            </a:r>
          </a:p>
          <a:p>
            <a:pPr lvl="1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Common Manipulator Arrangements</a:t>
            </a:r>
            <a:endParaRPr lang="en-US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4953000" y="5257800"/>
            <a:ext cx="914400" cy="838200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rot="5400000" flipH="1" flipV="1">
            <a:off x="4876800" y="4876800"/>
            <a:ext cx="1066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096000" y="3886200"/>
            <a:ext cx="533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953000" y="3276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800600" y="34290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81600" y="38100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9" idx="3"/>
          </p:cNvCxnSpPr>
          <p:nvPr/>
        </p:nvCxnSpPr>
        <p:spPr>
          <a:xfrm rot="5400000">
            <a:off x="5029200" y="3940082"/>
            <a:ext cx="174718" cy="1747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029200" y="41148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 flipH="1" flipV="1">
            <a:off x="5867400" y="3657600"/>
            <a:ext cx="457200" cy="457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10800000">
            <a:off x="7543800" y="365760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924800" y="3886200"/>
            <a:ext cx="533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781800" y="3276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6629400" y="34290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7010400" y="38100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>
            <a:stCxn id="43" idx="3"/>
          </p:cNvCxnSpPr>
          <p:nvPr/>
        </p:nvCxnSpPr>
        <p:spPr>
          <a:xfrm rot="5400000">
            <a:off x="6858000" y="3940082"/>
            <a:ext cx="174718" cy="1747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858000" y="41148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rot="5400000" flipH="1" flipV="1">
            <a:off x="7696200" y="3657600"/>
            <a:ext cx="457200" cy="457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 flipH="1" flipV="1">
            <a:off x="5715000" y="2971800"/>
            <a:ext cx="457200" cy="4572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 flipH="1" flipV="1">
            <a:off x="7543800" y="2971800"/>
            <a:ext cx="457200" cy="4572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2" idx="0"/>
            <a:endCxn id="22" idx="0"/>
          </p:cNvCxnSpPr>
          <p:nvPr/>
        </p:nvCxnSpPr>
        <p:spPr>
          <a:xfrm rot="5400000" flipH="1" flipV="1">
            <a:off x="5410200" y="3276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5400000">
            <a:off x="5143500" y="3086100"/>
            <a:ext cx="533400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181600" y="23622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6172200" y="25908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7924800" y="25908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4239216" y="548640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waist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3733800" y="3657600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shoulder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6705600" y="4419600"/>
            <a:ext cx="753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elbow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001000" y="4038600"/>
            <a:ext cx="93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forearm</a:t>
            </a:r>
            <a:endParaRPr lang="en-US" dirty="0"/>
          </a:p>
        </p:txBody>
      </p:sp>
      <p:sp>
        <p:nvSpPr>
          <p:cNvPr id="64" name="Freeform 63"/>
          <p:cNvSpPr/>
          <p:nvPr/>
        </p:nvSpPr>
        <p:spPr>
          <a:xfrm>
            <a:off x="4953000" y="4876800"/>
            <a:ext cx="914401" cy="296980"/>
          </a:xfrm>
          <a:custGeom>
            <a:avLst/>
            <a:gdLst>
              <a:gd name="connsiteX0" fmla="*/ 0 w 914400"/>
              <a:gd name="connsiteY0" fmla="*/ 152400 h 304800"/>
              <a:gd name="connsiteX1" fmla="*/ 312621 w 914400"/>
              <a:gd name="connsiteY1" fmla="*/ 7821 h 304800"/>
              <a:gd name="connsiteX2" fmla="*/ 457200 w 914400"/>
              <a:gd name="connsiteY2" fmla="*/ 0 h 304800"/>
              <a:gd name="connsiteX3" fmla="*/ 601780 w 914400"/>
              <a:gd name="connsiteY3" fmla="*/ 7821 h 304800"/>
              <a:gd name="connsiteX4" fmla="*/ 914400 w 914400"/>
              <a:gd name="connsiteY4" fmla="*/ 152401 h 304800"/>
              <a:gd name="connsiteX5" fmla="*/ 601779 w 914400"/>
              <a:gd name="connsiteY5" fmla="*/ 296980 h 304800"/>
              <a:gd name="connsiteX6" fmla="*/ 457200 w 914400"/>
              <a:gd name="connsiteY6" fmla="*/ 304801 h 304800"/>
              <a:gd name="connsiteX7" fmla="*/ 312621 w 914400"/>
              <a:gd name="connsiteY7" fmla="*/ 296980 h 304800"/>
              <a:gd name="connsiteX8" fmla="*/ 1 w 914400"/>
              <a:gd name="connsiteY8" fmla="*/ 152400 h 304800"/>
              <a:gd name="connsiteX9" fmla="*/ 0 w 914400"/>
              <a:gd name="connsiteY9" fmla="*/ 152400 h 304800"/>
              <a:gd name="connsiteX0" fmla="*/ 457200 w 914401"/>
              <a:gd name="connsiteY0" fmla="*/ 0 h 304801"/>
              <a:gd name="connsiteX1" fmla="*/ 601780 w 914401"/>
              <a:gd name="connsiteY1" fmla="*/ 7821 h 304801"/>
              <a:gd name="connsiteX2" fmla="*/ 914400 w 914401"/>
              <a:gd name="connsiteY2" fmla="*/ 152401 h 304801"/>
              <a:gd name="connsiteX3" fmla="*/ 601779 w 914401"/>
              <a:gd name="connsiteY3" fmla="*/ 296980 h 304801"/>
              <a:gd name="connsiteX4" fmla="*/ 457200 w 914401"/>
              <a:gd name="connsiteY4" fmla="*/ 304801 h 304801"/>
              <a:gd name="connsiteX5" fmla="*/ 312621 w 914401"/>
              <a:gd name="connsiteY5" fmla="*/ 296980 h 304801"/>
              <a:gd name="connsiteX6" fmla="*/ 1 w 914401"/>
              <a:gd name="connsiteY6" fmla="*/ 152400 h 304801"/>
              <a:gd name="connsiteX7" fmla="*/ 0 w 914401"/>
              <a:gd name="connsiteY7" fmla="*/ 152400 h 304801"/>
              <a:gd name="connsiteX8" fmla="*/ 312621 w 914401"/>
              <a:gd name="connsiteY8" fmla="*/ 7821 h 304801"/>
              <a:gd name="connsiteX9" fmla="*/ 548640 w 914401"/>
              <a:gd name="connsiteY9" fmla="*/ 91440 h 304801"/>
              <a:gd name="connsiteX0" fmla="*/ 457200 w 914401"/>
              <a:gd name="connsiteY0" fmla="*/ 0 h 304801"/>
              <a:gd name="connsiteX1" fmla="*/ 601780 w 914401"/>
              <a:gd name="connsiteY1" fmla="*/ 7821 h 304801"/>
              <a:gd name="connsiteX2" fmla="*/ 914400 w 914401"/>
              <a:gd name="connsiteY2" fmla="*/ 152401 h 304801"/>
              <a:gd name="connsiteX3" fmla="*/ 601779 w 914401"/>
              <a:gd name="connsiteY3" fmla="*/ 296980 h 304801"/>
              <a:gd name="connsiteX4" fmla="*/ 457200 w 914401"/>
              <a:gd name="connsiteY4" fmla="*/ 304801 h 304801"/>
              <a:gd name="connsiteX5" fmla="*/ 312621 w 914401"/>
              <a:gd name="connsiteY5" fmla="*/ 296980 h 304801"/>
              <a:gd name="connsiteX6" fmla="*/ 1 w 914401"/>
              <a:gd name="connsiteY6" fmla="*/ 152400 h 304801"/>
              <a:gd name="connsiteX7" fmla="*/ 0 w 914401"/>
              <a:gd name="connsiteY7" fmla="*/ 152400 h 304801"/>
              <a:gd name="connsiteX8" fmla="*/ 312621 w 914401"/>
              <a:gd name="connsiteY8" fmla="*/ 7821 h 304801"/>
              <a:gd name="connsiteX0" fmla="*/ 601780 w 914401"/>
              <a:gd name="connsiteY0" fmla="*/ 0 h 296980"/>
              <a:gd name="connsiteX1" fmla="*/ 914400 w 914401"/>
              <a:gd name="connsiteY1" fmla="*/ 144580 h 296980"/>
              <a:gd name="connsiteX2" fmla="*/ 601779 w 914401"/>
              <a:gd name="connsiteY2" fmla="*/ 289159 h 296980"/>
              <a:gd name="connsiteX3" fmla="*/ 457200 w 914401"/>
              <a:gd name="connsiteY3" fmla="*/ 296980 h 296980"/>
              <a:gd name="connsiteX4" fmla="*/ 312621 w 914401"/>
              <a:gd name="connsiteY4" fmla="*/ 289159 h 296980"/>
              <a:gd name="connsiteX5" fmla="*/ 1 w 914401"/>
              <a:gd name="connsiteY5" fmla="*/ 144579 h 296980"/>
              <a:gd name="connsiteX6" fmla="*/ 0 w 914401"/>
              <a:gd name="connsiteY6" fmla="*/ 144579 h 296980"/>
              <a:gd name="connsiteX7" fmla="*/ 312621 w 914401"/>
              <a:gd name="connsiteY7" fmla="*/ 0 h 29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1" h="296980">
                <a:moveTo>
                  <a:pt x="601780" y="0"/>
                </a:moveTo>
                <a:cubicBezTo>
                  <a:pt x="788475" y="20744"/>
                  <a:pt x="914401" y="78982"/>
                  <a:pt x="914400" y="144580"/>
                </a:cubicBezTo>
                <a:cubicBezTo>
                  <a:pt x="914400" y="210178"/>
                  <a:pt x="788473" y="268416"/>
                  <a:pt x="601779" y="289159"/>
                </a:cubicBezTo>
                <a:cubicBezTo>
                  <a:pt x="555160" y="294339"/>
                  <a:pt x="506340" y="296980"/>
                  <a:pt x="457200" y="296980"/>
                </a:cubicBezTo>
                <a:cubicBezTo>
                  <a:pt x="408059" y="296980"/>
                  <a:pt x="359240" y="294339"/>
                  <a:pt x="312621" y="289159"/>
                </a:cubicBezTo>
                <a:cubicBezTo>
                  <a:pt x="125927" y="268415"/>
                  <a:pt x="0" y="210177"/>
                  <a:pt x="1" y="144579"/>
                </a:cubicBezTo>
                <a:lnTo>
                  <a:pt x="0" y="144579"/>
                </a:lnTo>
                <a:cubicBezTo>
                  <a:pt x="1" y="78982"/>
                  <a:pt x="125927" y="20744"/>
                  <a:pt x="312621" y="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/>
          <p:cNvSpPr/>
          <p:nvPr/>
        </p:nvSpPr>
        <p:spPr>
          <a:xfrm>
            <a:off x="5640715" y="3048000"/>
            <a:ext cx="455285" cy="455286"/>
          </a:xfrm>
          <a:custGeom>
            <a:avLst/>
            <a:gdLst>
              <a:gd name="connsiteX0" fmla="*/ 0 w 533400"/>
              <a:gd name="connsiteY0" fmla="*/ 266700 h 533400"/>
              <a:gd name="connsiteX1" fmla="*/ 78115 w 533400"/>
              <a:gd name="connsiteY1" fmla="*/ 78115 h 533400"/>
              <a:gd name="connsiteX2" fmla="*/ 266701 w 533400"/>
              <a:gd name="connsiteY2" fmla="*/ 1 h 533400"/>
              <a:gd name="connsiteX3" fmla="*/ 455286 w 533400"/>
              <a:gd name="connsiteY3" fmla="*/ 78116 h 533400"/>
              <a:gd name="connsiteX4" fmla="*/ 533400 w 533400"/>
              <a:gd name="connsiteY4" fmla="*/ 266702 h 533400"/>
              <a:gd name="connsiteX5" fmla="*/ 455285 w 533400"/>
              <a:gd name="connsiteY5" fmla="*/ 455287 h 533400"/>
              <a:gd name="connsiteX6" fmla="*/ 266700 w 533400"/>
              <a:gd name="connsiteY6" fmla="*/ 533402 h 533400"/>
              <a:gd name="connsiteX7" fmla="*/ 78115 w 533400"/>
              <a:gd name="connsiteY7" fmla="*/ 455287 h 533400"/>
              <a:gd name="connsiteX8" fmla="*/ 1 w 533400"/>
              <a:gd name="connsiteY8" fmla="*/ 266701 h 533400"/>
              <a:gd name="connsiteX9" fmla="*/ 0 w 533400"/>
              <a:gd name="connsiteY9" fmla="*/ 266700 h 533400"/>
              <a:gd name="connsiteX0" fmla="*/ 266700 w 533400"/>
              <a:gd name="connsiteY0" fmla="*/ 533401 h 624841"/>
              <a:gd name="connsiteX1" fmla="*/ 78115 w 533400"/>
              <a:gd name="connsiteY1" fmla="*/ 455286 h 624841"/>
              <a:gd name="connsiteX2" fmla="*/ 1 w 533400"/>
              <a:gd name="connsiteY2" fmla="*/ 266700 h 624841"/>
              <a:gd name="connsiteX3" fmla="*/ 0 w 533400"/>
              <a:gd name="connsiteY3" fmla="*/ 266699 h 624841"/>
              <a:gd name="connsiteX4" fmla="*/ 78115 w 533400"/>
              <a:gd name="connsiteY4" fmla="*/ 78114 h 624841"/>
              <a:gd name="connsiteX5" fmla="*/ 266701 w 533400"/>
              <a:gd name="connsiteY5" fmla="*/ 0 h 624841"/>
              <a:gd name="connsiteX6" fmla="*/ 455286 w 533400"/>
              <a:gd name="connsiteY6" fmla="*/ 78115 h 624841"/>
              <a:gd name="connsiteX7" fmla="*/ 533400 w 533400"/>
              <a:gd name="connsiteY7" fmla="*/ 266701 h 624841"/>
              <a:gd name="connsiteX8" fmla="*/ 455285 w 533400"/>
              <a:gd name="connsiteY8" fmla="*/ 455286 h 624841"/>
              <a:gd name="connsiteX9" fmla="*/ 358140 w 533400"/>
              <a:gd name="connsiteY9" fmla="*/ 624841 h 624841"/>
              <a:gd name="connsiteX0" fmla="*/ 266700 w 533400"/>
              <a:gd name="connsiteY0" fmla="*/ 533401 h 533401"/>
              <a:gd name="connsiteX1" fmla="*/ 78115 w 533400"/>
              <a:gd name="connsiteY1" fmla="*/ 455286 h 533401"/>
              <a:gd name="connsiteX2" fmla="*/ 1 w 533400"/>
              <a:gd name="connsiteY2" fmla="*/ 266700 h 533401"/>
              <a:gd name="connsiteX3" fmla="*/ 0 w 533400"/>
              <a:gd name="connsiteY3" fmla="*/ 266699 h 533401"/>
              <a:gd name="connsiteX4" fmla="*/ 78115 w 533400"/>
              <a:gd name="connsiteY4" fmla="*/ 78114 h 533401"/>
              <a:gd name="connsiteX5" fmla="*/ 266701 w 533400"/>
              <a:gd name="connsiteY5" fmla="*/ 0 h 533401"/>
              <a:gd name="connsiteX6" fmla="*/ 455286 w 533400"/>
              <a:gd name="connsiteY6" fmla="*/ 78115 h 533401"/>
              <a:gd name="connsiteX7" fmla="*/ 533400 w 533400"/>
              <a:gd name="connsiteY7" fmla="*/ 266701 h 533401"/>
              <a:gd name="connsiteX8" fmla="*/ 455285 w 533400"/>
              <a:gd name="connsiteY8" fmla="*/ 455286 h 533401"/>
              <a:gd name="connsiteX0" fmla="*/ 78115 w 533400"/>
              <a:gd name="connsiteY0" fmla="*/ 455286 h 455286"/>
              <a:gd name="connsiteX1" fmla="*/ 1 w 533400"/>
              <a:gd name="connsiteY1" fmla="*/ 266700 h 455286"/>
              <a:gd name="connsiteX2" fmla="*/ 0 w 533400"/>
              <a:gd name="connsiteY2" fmla="*/ 266699 h 455286"/>
              <a:gd name="connsiteX3" fmla="*/ 78115 w 533400"/>
              <a:gd name="connsiteY3" fmla="*/ 78114 h 455286"/>
              <a:gd name="connsiteX4" fmla="*/ 266701 w 533400"/>
              <a:gd name="connsiteY4" fmla="*/ 0 h 455286"/>
              <a:gd name="connsiteX5" fmla="*/ 455286 w 533400"/>
              <a:gd name="connsiteY5" fmla="*/ 78115 h 455286"/>
              <a:gd name="connsiteX6" fmla="*/ 533400 w 533400"/>
              <a:gd name="connsiteY6" fmla="*/ 266701 h 455286"/>
              <a:gd name="connsiteX7" fmla="*/ 455285 w 533400"/>
              <a:gd name="connsiteY7" fmla="*/ 455286 h 455286"/>
              <a:gd name="connsiteX0" fmla="*/ 1 w 533400"/>
              <a:gd name="connsiteY0" fmla="*/ 266700 h 455286"/>
              <a:gd name="connsiteX1" fmla="*/ 0 w 533400"/>
              <a:gd name="connsiteY1" fmla="*/ 266699 h 455286"/>
              <a:gd name="connsiteX2" fmla="*/ 78115 w 533400"/>
              <a:gd name="connsiteY2" fmla="*/ 78114 h 455286"/>
              <a:gd name="connsiteX3" fmla="*/ 266701 w 533400"/>
              <a:gd name="connsiteY3" fmla="*/ 0 h 455286"/>
              <a:gd name="connsiteX4" fmla="*/ 455286 w 533400"/>
              <a:gd name="connsiteY4" fmla="*/ 78115 h 455286"/>
              <a:gd name="connsiteX5" fmla="*/ 533400 w 533400"/>
              <a:gd name="connsiteY5" fmla="*/ 266701 h 455286"/>
              <a:gd name="connsiteX6" fmla="*/ 455285 w 533400"/>
              <a:gd name="connsiteY6" fmla="*/ 455286 h 455286"/>
              <a:gd name="connsiteX0" fmla="*/ 0 w 533399"/>
              <a:gd name="connsiteY0" fmla="*/ 266700 h 455286"/>
              <a:gd name="connsiteX1" fmla="*/ 78114 w 533399"/>
              <a:gd name="connsiteY1" fmla="*/ 78114 h 455286"/>
              <a:gd name="connsiteX2" fmla="*/ 266700 w 533399"/>
              <a:gd name="connsiteY2" fmla="*/ 0 h 455286"/>
              <a:gd name="connsiteX3" fmla="*/ 455285 w 533399"/>
              <a:gd name="connsiteY3" fmla="*/ 78115 h 455286"/>
              <a:gd name="connsiteX4" fmla="*/ 533399 w 533399"/>
              <a:gd name="connsiteY4" fmla="*/ 266701 h 455286"/>
              <a:gd name="connsiteX5" fmla="*/ 455284 w 533399"/>
              <a:gd name="connsiteY5" fmla="*/ 455286 h 455286"/>
              <a:gd name="connsiteX0" fmla="*/ 0 w 455285"/>
              <a:gd name="connsiteY0" fmla="*/ 78114 h 455286"/>
              <a:gd name="connsiteX1" fmla="*/ 188586 w 455285"/>
              <a:gd name="connsiteY1" fmla="*/ 0 h 455286"/>
              <a:gd name="connsiteX2" fmla="*/ 377171 w 455285"/>
              <a:gd name="connsiteY2" fmla="*/ 78115 h 455286"/>
              <a:gd name="connsiteX3" fmla="*/ 455285 w 455285"/>
              <a:gd name="connsiteY3" fmla="*/ 266701 h 455286"/>
              <a:gd name="connsiteX4" fmla="*/ 377170 w 455285"/>
              <a:gd name="connsiteY4" fmla="*/ 455286 h 455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285" h="455286">
                <a:moveTo>
                  <a:pt x="0" y="78114"/>
                </a:moveTo>
                <a:cubicBezTo>
                  <a:pt x="50016" y="28098"/>
                  <a:pt x="117852" y="0"/>
                  <a:pt x="188586" y="0"/>
                </a:cubicBezTo>
                <a:cubicBezTo>
                  <a:pt x="259319" y="0"/>
                  <a:pt x="327155" y="28099"/>
                  <a:pt x="377171" y="78115"/>
                </a:cubicBezTo>
                <a:cubicBezTo>
                  <a:pt x="427187" y="128131"/>
                  <a:pt x="455285" y="195967"/>
                  <a:pt x="455285" y="266701"/>
                </a:cubicBezTo>
                <a:cubicBezTo>
                  <a:pt x="455285" y="337434"/>
                  <a:pt x="427186" y="405270"/>
                  <a:pt x="377170" y="45528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>
            <a:off x="7467600" y="3048000"/>
            <a:ext cx="455285" cy="455286"/>
          </a:xfrm>
          <a:custGeom>
            <a:avLst/>
            <a:gdLst>
              <a:gd name="connsiteX0" fmla="*/ 0 w 533400"/>
              <a:gd name="connsiteY0" fmla="*/ 266700 h 533400"/>
              <a:gd name="connsiteX1" fmla="*/ 78115 w 533400"/>
              <a:gd name="connsiteY1" fmla="*/ 78115 h 533400"/>
              <a:gd name="connsiteX2" fmla="*/ 266701 w 533400"/>
              <a:gd name="connsiteY2" fmla="*/ 1 h 533400"/>
              <a:gd name="connsiteX3" fmla="*/ 455286 w 533400"/>
              <a:gd name="connsiteY3" fmla="*/ 78116 h 533400"/>
              <a:gd name="connsiteX4" fmla="*/ 533400 w 533400"/>
              <a:gd name="connsiteY4" fmla="*/ 266702 h 533400"/>
              <a:gd name="connsiteX5" fmla="*/ 455285 w 533400"/>
              <a:gd name="connsiteY5" fmla="*/ 455287 h 533400"/>
              <a:gd name="connsiteX6" fmla="*/ 266700 w 533400"/>
              <a:gd name="connsiteY6" fmla="*/ 533402 h 533400"/>
              <a:gd name="connsiteX7" fmla="*/ 78115 w 533400"/>
              <a:gd name="connsiteY7" fmla="*/ 455287 h 533400"/>
              <a:gd name="connsiteX8" fmla="*/ 1 w 533400"/>
              <a:gd name="connsiteY8" fmla="*/ 266701 h 533400"/>
              <a:gd name="connsiteX9" fmla="*/ 0 w 533400"/>
              <a:gd name="connsiteY9" fmla="*/ 266700 h 533400"/>
              <a:gd name="connsiteX0" fmla="*/ 266700 w 533400"/>
              <a:gd name="connsiteY0" fmla="*/ 533401 h 624841"/>
              <a:gd name="connsiteX1" fmla="*/ 78115 w 533400"/>
              <a:gd name="connsiteY1" fmla="*/ 455286 h 624841"/>
              <a:gd name="connsiteX2" fmla="*/ 1 w 533400"/>
              <a:gd name="connsiteY2" fmla="*/ 266700 h 624841"/>
              <a:gd name="connsiteX3" fmla="*/ 0 w 533400"/>
              <a:gd name="connsiteY3" fmla="*/ 266699 h 624841"/>
              <a:gd name="connsiteX4" fmla="*/ 78115 w 533400"/>
              <a:gd name="connsiteY4" fmla="*/ 78114 h 624841"/>
              <a:gd name="connsiteX5" fmla="*/ 266701 w 533400"/>
              <a:gd name="connsiteY5" fmla="*/ 0 h 624841"/>
              <a:gd name="connsiteX6" fmla="*/ 455286 w 533400"/>
              <a:gd name="connsiteY6" fmla="*/ 78115 h 624841"/>
              <a:gd name="connsiteX7" fmla="*/ 533400 w 533400"/>
              <a:gd name="connsiteY7" fmla="*/ 266701 h 624841"/>
              <a:gd name="connsiteX8" fmla="*/ 455285 w 533400"/>
              <a:gd name="connsiteY8" fmla="*/ 455286 h 624841"/>
              <a:gd name="connsiteX9" fmla="*/ 358140 w 533400"/>
              <a:gd name="connsiteY9" fmla="*/ 624841 h 624841"/>
              <a:gd name="connsiteX0" fmla="*/ 266700 w 533400"/>
              <a:gd name="connsiteY0" fmla="*/ 533401 h 533401"/>
              <a:gd name="connsiteX1" fmla="*/ 78115 w 533400"/>
              <a:gd name="connsiteY1" fmla="*/ 455286 h 533401"/>
              <a:gd name="connsiteX2" fmla="*/ 1 w 533400"/>
              <a:gd name="connsiteY2" fmla="*/ 266700 h 533401"/>
              <a:gd name="connsiteX3" fmla="*/ 0 w 533400"/>
              <a:gd name="connsiteY3" fmla="*/ 266699 h 533401"/>
              <a:gd name="connsiteX4" fmla="*/ 78115 w 533400"/>
              <a:gd name="connsiteY4" fmla="*/ 78114 h 533401"/>
              <a:gd name="connsiteX5" fmla="*/ 266701 w 533400"/>
              <a:gd name="connsiteY5" fmla="*/ 0 h 533401"/>
              <a:gd name="connsiteX6" fmla="*/ 455286 w 533400"/>
              <a:gd name="connsiteY6" fmla="*/ 78115 h 533401"/>
              <a:gd name="connsiteX7" fmla="*/ 533400 w 533400"/>
              <a:gd name="connsiteY7" fmla="*/ 266701 h 533401"/>
              <a:gd name="connsiteX8" fmla="*/ 455285 w 533400"/>
              <a:gd name="connsiteY8" fmla="*/ 455286 h 533401"/>
              <a:gd name="connsiteX0" fmla="*/ 78115 w 533400"/>
              <a:gd name="connsiteY0" fmla="*/ 455286 h 455286"/>
              <a:gd name="connsiteX1" fmla="*/ 1 w 533400"/>
              <a:gd name="connsiteY1" fmla="*/ 266700 h 455286"/>
              <a:gd name="connsiteX2" fmla="*/ 0 w 533400"/>
              <a:gd name="connsiteY2" fmla="*/ 266699 h 455286"/>
              <a:gd name="connsiteX3" fmla="*/ 78115 w 533400"/>
              <a:gd name="connsiteY3" fmla="*/ 78114 h 455286"/>
              <a:gd name="connsiteX4" fmla="*/ 266701 w 533400"/>
              <a:gd name="connsiteY4" fmla="*/ 0 h 455286"/>
              <a:gd name="connsiteX5" fmla="*/ 455286 w 533400"/>
              <a:gd name="connsiteY5" fmla="*/ 78115 h 455286"/>
              <a:gd name="connsiteX6" fmla="*/ 533400 w 533400"/>
              <a:gd name="connsiteY6" fmla="*/ 266701 h 455286"/>
              <a:gd name="connsiteX7" fmla="*/ 455285 w 533400"/>
              <a:gd name="connsiteY7" fmla="*/ 455286 h 455286"/>
              <a:gd name="connsiteX0" fmla="*/ 1 w 533400"/>
              <a:gd name="connsiteY0" fmla="*/ 266700 h 455286"/>
              <a:gd name="connsiteX1" fmla="*/ 0 w 533400"/>
              <a:gd name="connsiteY1" fmla="*/ 266699 h 455286"/>
              <a:gd name="connsiteX2" fmla="*/ 78115 w 533400"/>
              <a:gd name="connsiteY2" fmla="*/ 78114 h 455286"/>
              <a:gd name="connsiteX3" fmla="*/ 266701 w 533400"/>
              <a:gd name="connsiteY3" fmla="*/ 0 h 455286"/>
              <a:gd name="connsiteX4" fmla="*/ 455286 w 533400"/>
              <a:gd name="connsiteY4" fmla="*/ 78115 h 455286"/>
              <a:gd name="connsiteX5" fmla="*/ 533400 w 533400"/>
              <a:gd name="connsiteY5" fmla="*/ 266701 h 455286"/>
              <a:gd name="connsiteX6" fmla="*/ 455285 w 533400"/>
              <a:gd name="connsiteY6" fmla="*/ 455286 h 455286"/>
              <a:gd name="connsiteX0" fmla="*/ 0 w 533399"/>
              <a:gd name="connsiteY0" fmla="*/ 266700 h 455286"/>
              <a:gd name="connsiteX1" fmla="*/ 78114 w 533399"/>
              <a:gd name="connsiteY1" fmla="*/ 78114 h 455286"/>
              <a:gd name="connsiteX2" fmla="*/ 266700 w 533399"/>
              <a:gd name="connsiteY2" fmla="*/ 0 h 455286"/>
              <a:gd name="connsiteX3" fmla="*/ 455285 w 533399"/>
              <a:gd name="connsiteY3" fmla="*/ 78115 h 455286"/>
              <a:gd name="connsiteX4" fmla="*/ 533399 w 533399"/>
              <a:gd name="connsiteY4" fmla="*/ 266701 h 455286"/>
              <a:gd name="connsiteX5" fmla="*/ 455284 w 533399"/>
              <a:gd name="connsiteY5" fmla="*/ 455286 h 455286"/>
              <a:gd name="connsiteX0" fmla="*/ 0 w 455285"/>
              <a:gd name="connsiteY0" fmla="*/ 78114 h 455286"/>
              <a:gd name="connsiteX1" fmla="*/ 188586 w 455285"/>
              <a:gd name="connsiteY1" fmla="*/ 0 h 455286"/>
              <a:gd name="connsiteX2" fmla="*/ 377171 w 455285"/>
              <a:gd name="connsiteY2" fmla="*/ 78115 h 455286"/>
              <a:gd name="connsiteX3" fmla="*/ 455285 w 455285"/>
              <a:gd name="connsiteY3" fmla="*/ 266701 h 455286"/>
              <a:gd name="connsiteX4" fmla="*/ 377170 w 455285"/>
              <a:gd name="connsiteY4" fmla="*/ 455286 h 455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285" h="455286">
                <a:moveTo>
                  <a:pt x="0" y="78114"/>
                </a:moveTo>
                <a:cubicBezTo>
                  <a:pt x="50016" y="28098"/>
                  <a:pt x="117852" y="0"/>
                  <a:pt x="188586" y="0"/>
                </a:cubicBezTo>
                <a:cubicBezTo>
                  <a:pt x="259319" y="0"/>
                  <a:pt x="327155" y="28099"/>
                  <a:pt x="377171" y="78115"/>
                </a:cubicBezTo>
                <a:cubicBezTo>
                  <a:pt x="427187" y="128131"/>
                  <a:pt x="455285" y="195967"/>
                  <a:pt x="455285" y="266701"/>
                </a:cubicBezTo>
                <a:cubicBezTo>
                  <a:pt x="455285" y="337434"/>
                  <a:pt x="427186" y="405270"/>
                  <a:pt x="377170" y="45528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5943600" y="48006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6172200" y="324433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8001000" y="324433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 rot="10800000">
            <a:off x="3488383" y="365760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Spherical Manipulator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RRP</a:t>
            </a:r>
          </a:p>
          <a:p>
            <a:r>
              <a:rPr lang="en-CA" dirty="0"/>
              <a:t>Stanford arm </a:t>
            </a:r>
          </a:p>
          <a:p>
            <a:pPr lvl="1"/>
            <a:r>
              <a:rPr lang="en-CA" sz="1400" dirty="0">
                <a:hlinkClick r:id="rId2"/>
              </a:rPr>
              <a:t>http://infolab.stanford.edu/pub/voy/museum/pictures/display/robots/IMG_2404ArmFrontPeekingOut.JPG</a:t>
            </a:r>
            <a:r>
              <a:rPr lang="en-CA" dirty="0"/>
              <a:t> 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Common Manipulator Arrangements</a:t>
            </a:r>
            <a:endParaRPr lang="en-US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2726383" y="5257800"/>
            <a:ext cx="914400" cy="838200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rot="5400000" flipH="1" flipV="1">
            <a:off x="2650183" y="4876800"/>
            <a:ext cx="1066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69383" y="3886200"/>
            <a:ext cx="9312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726383" y="3276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573983" y="34290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954983" y="38100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9" idx="3"/>
          </p:cNvCxnSpPr>
          <p:nvPr/>
        </p:nvCxnSpPr>
        <p:spPr>
          <a:xfrm rot="5400000">
            <a:off x="2802583" y="3940082"/>
            <a:ext cx="174718" cy="1747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802583" y="41148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 flipH="1" flipV="1">
            <a:off x="3640783" y="3657600"/>
            <a:ext cx="457200" cy="457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 flipH="1" flipV="1">
            <a:off x="3488383" y="2971800"/>
            <a:ext cx="457200" cy="4572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2" idx="0"/>
            <a:endCxn id="22" idx="0"/>
          </p:cNvCxnSpPr>
          <p:nvPr/>
        </p:nvCxnSpPr>
        <p:spPr>
          <a:xfrm rot="5400000" flipH="1" flipV="1">
            <a:off x="3183583" y="3276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5400000">
            <a:off x="2916883" y="3086100"/>
            <a:ext cx="533400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954983" y="23622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3945583" y="25908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934200" y="3657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2012599" y="5486400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waist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1507183" y="3657600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shoulder</a:t>
            </a:r>
            <a:endParaRPr lang="en-US" dirty="0"/>
          </a:p>
        </p:txBody>
      </p:sp>
      <p:sp>
        <p:nvSpPr>
          <p:cNvPr id="64" name="Freeform 63"/>
          <p:cNvSpPr/>
          <p:nvPr/>
        </p:nvSpPr>
        <p:spPr>
          <a:xfrm>
            <a:off x="2726383" y="4876800"/>
            <a:ext cx="914401" cy="296980"/>
          </a:xfrm>
          <a:custGeom>
            <a:avLst/>
            <a:gdLst>
              <a:gd name="connsiteX0" fmla="*/ 0 w 914400"/>
              <a:gd name="connsiteY0" fmla="*/ 152400 h 304800"/>
              <a:gd name="connsiteX1" fmla="*/ 312621 w 914400"/>
              <a:gd name="connsiteY1" fmla="*/ 7821 h 304800"/>
              <a:gd name="connsiteX2" fmla="*/ 457200 w 914400"/>
              <a:gd name="connsiteY2" fmla="*/ 0 h 304800"/>
              <a:gd name="connsiteX3" fmla="*/ 601780 w 914400"/>
              <a:gd name="connsiteY3" fmla="*/ 7821 h 304800"/>
              <a:gd name="connsiteX4" fmla="*/ 914400 w 914400"/>
              <a:gd name="connsiteY4" fmla="*/ 152401 h 304800"/>
              <a:gd name="connsiteX5" fmla="*/ 601779 w 914400"/>
              <a:gd name="connsiteY5" fmla="*/ 296980 h 304800"/>
              <a:gd name="connsiteX6" fmla="*/ 457200 w 914400"/>
              <a:gd name="connsiteY6" fmla="*/ 304801 h 304800"/>
              <a:gd name="connsiteX7" fmla="*/ 312621 w 914400"/>
              <a:gd name="connsiteY7" fmla="*/ 296980 h 304800"/>
              <a:gd name="connsiteX8" fmla="*/ 1 w 914400"/>
              <a:gd name="connsiteY8" fmla="*/ 152400 h 304800"/>
              <a:gd name="connsiteX9" fmla="*/ 0 w 914400"/>
              <a:gd name="connsiteY9" fmla="*/ 152400 h 304800"/>
              <a:gd name="connsiteX0" fmla="*/ 457200 w 914401"/>
              <a:gd name="connsiteY0" fmla="*/ 0 h 304801"/>
              <a:gd name="connsiteX1" fmla="*/ 601780 w 914401"/>
              <a:gd name="connsiteY1" fmla="*/ 7821 h 304801"/>
              <a:gd name="connsiteX2" fmla="*/ 914400 w 914401"/>
              <a:gd name="connsiteY2" fmla="*/ 152401 h 304801"/>
              <a:gd name="connsiteX3" fmla="*/ 601779 w 914401"/>
              <a:gd name="connsiteY3" fmla="*/ 296980 h 304801"/>
              <a:gd name="connsiteX4" fmla="*/ 457200 w 914401"/>
              <a:gd name="connsiteY4" fmla="*/ 304801 h 304801"/>
              <a:gd name="connsiteX5" fmla="*/ 312621 w 914401"/>
              <a:gd name="connsiteY5" fmla="*/ 296980 h 304801"/>
              <a:gd name="connsiteX6" fmla="*/ 1 w 914401"/>
              <a:gd name="connsiteY6" fmla="*/ 152400 h 304801"/>
              <a:gd name="connsiteX7" fmla="*/ 0 w 914401"/>
              <a:gd name="connsiteY7" fmla="*/ 152400 h 304801"/>
              <a:gd name="connsiteX8" fmla="*/ 312621 w 914401"/>
              <a:gd name="connsiteY8" fmla="*/ 7821 h 304801"/>
              <a:gd name="connsiteX9" fmla="*/ 548640 w 914401"/>
              <a:gd name="connsiteY9" fmla="*/ 91440 h 304801"/>
              <a:gd name="connsiteX0" fmla="*/ 457200 w 914401"/>
              <a:gd name="connsiteY0" fmla="*/ 0 h 304801"/>
              <a:gd name="connsiteX1" fmla="*/ 601780 w 914401"/>
              <a:gd name="connsiteY1" fmla="*/ 7821 h 304801"/>
              <a:gd name="connsiteX2" fmla="*/ 914400 w 914401"/>
              <a:gd name="connsiteY2" fmla="*/ 152401 h 304801"/>
              <a:gd name="connsiteX3" fmla="*/ 601779 w 914401"/>
              <a:gd name="connsiteY3" fmla="*/ 296980 h 304801"/>
              <a:gd name="connsiteX4" fmla="*/ 457200 w 914401"/>
              <a:gd name="connsiteY4" fmla="*/ 304801 h 304801"/>
              <a:gd name="connsiteX5" fmla="*/ 312621 w 914401"/>
              <a:gd name="connsiteY5" fmla="*/ 296980 h 304801"/>
              <a:gd name="connsiteX6" fmla="*/ 1 w 914401"/>
              <a:gd name="connsiteY6" fmla="*/ 152400 h 304801"/>
              <a:gd name="connsiteX7" fmla="*/ 0 w 914401"/>
              <a:gd name="connsiteY7" fmla="*/ 152400 h 304801"/>
              <a:gd name="connsiteX8" fmla="*/ 312621 w 914401"/>
              <a:gd name="connsiteY8" fmla="*/ 7821 h 304801"/>
              <a:gd name="connsiteX0" fmla="*/ 601780 w 914401"/>
              <a:gd name="connsiteY0" fmla="*/ 0 h 296980"/>
              <a:gd name="connsiteX1" fmla="*/ 914400 w 914401"/>
              <a:gd name="connsiteY1" fmla="*/ 144580 h 296980"/>
              <a:gd name="connsiteX2" fmla="*/ 601779 w 914401"/>
              <a:gd name="connsiteY2" fmla="*/ 289159 h 296980"/>
              <a:gd name="connsiteX3" fmla="*/ 457200 w 914401"/>
              <a:gd name="connsiteY3" fmla="*/ 296980 h 296980"/>
              <a:gd name="connsiteX4" fmla="*/ 312621 w 914401"/>
              <a:gd name="connsiteY4" fmla="*/ 289159 h 296980"/>
              <a:gd name="connsiteX5" fmla="*/ 1 w 914401"/>
              <a:gd name="connsiteY5" fmla="*/ 144579 h 296980"/>
              <a:gd name="connsiteX6" fmla="*/ 0 w 914401"/>
              <a:gd name="connsiteY6" fmla="*/ 144579 h 296980"/>
              <a:gd name="connsiteX7" fmla="*/ 312621 w 914401"/>
              <a:gd name="connsiteY7" fmla="*/ 0 h 29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1" h="296980">
                <a:moveTo>
                  <a:pt x="601780" y="0"/>
                </a:moveTo>
                <a:cubicBezTo>
                  <a:pt x="788475" y="20744"/>
                  <a:pt x="914401" y="78982"/>
                  <a:pt x="914400" y="144580"/>
                </a:cubicBezTo>
                <a:cubicBezTo>
                  <a:pt x="914400" y="210178"/>
                  <a:pt x="788473" y="268416"/>
                  <a:pt x="601779" y="289159"/>
                </a:cubicBezTo>
                <a:cubicBezTo>
                  <a:pt x="555160" y="294339"/>
                  <a:pt x="506340" y="296980"/>
                  <a:pt x="457200" y="296980"/>
                </a:cubicBezTo>
                <a:cubicBezTo>
                  <a:pt x="408059" y="296980"/>
                  <a:pt x="359240" y="294339"/>
                  <a:pt x="312621" y="289159"/>
                </a:cubicBezTo>
                <a:cubicBezTo>
                  <a:pt x="125927" y="268415"/>
                  <a:pt x="0" y="210177"/>
                  <a:pt x="1" y="144579"/>
                </a:cubicBezTo>
                <a:lnTo>
                  <a:pt x="0" y="144579"/>
                </a:lnTo>
                <a:cubicBezTo>
                  <a:pt x="1" y="78982"/>
                  <a:pt x="125927" y="20744"/>
                  <a:pt x="312621" y="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/>
          <p:cNvSpPr/>
          <p:nvPr/>
        </p:nvSpPr>
        <p:spPr>
          <a:xfrm>
            <a:off x="3414098" y="3048000"/>
            <a:ext cx="455285" cy="455286"/>
          </a:xfrm>
          <a:custGeom>
            <a:avLst/>
            <a:gdLst>
              <a:gd name="connsiteX0" fmla="*/ 0 w 533400"/>
              <a:gd name="connsiteY0" fmla="*/ 266700 h 533400"/>
              <a:gd name="connsiteX1" fmla="*/ 78115 w 533400"/>
              <a:gd name="connsiteY1" fmla="*/ 78115 h 533400"/>
              <a:gd name="connsiteX2" fmla="*/ 266701 w 533400"/>
              <a:gd name="connsiteY2" fmla="*/ 1 h 533400"/>
              <a:gd name="connsiteX3" fmla="*/ 455286 w 533400"/>
              <a:gd name="connsiteY3" fmla="*/ 78116 h 533400"/>
              <a:gd name="connsiteX4" fmla="*/ 533400 w 533400"/>
              <a:gd name="connsiteY4" fmla="*/ 266702 h 533400"/>
              <a:gd name="connsiteX5" fmla="*/ 455285 w 533400"/>
              <a:gd name="connsiteY5" fmla="*/ 455287 h 533400"/>
              <a:gd name="connsiteX6" fmla="*/ 266700 w 533400"/>
              <a:gd name="connsiteY6" fmla="*/ 533402 h 533400"/>
              <a:gd name="connsiteX7" fmla="*/ 78115 w 533400"/>
              <a:gd name="connsiteY7" fmla="*/ 455287 h 533400"/>
              <a:gd name="connsiteX8" fmla="*/ 1 w 533400"/>
              <a:gd name="connsiteY8" fmla="*/ 266701 h 533400"/>
              <a:gd name="connsiteX9" fmla="*/ 0 w 533400"/>
              <a:gd name="connsiteY9" fmla="*/ 266700 h 533400"/>
              <a:gd name="connsiteX0" fmla="*/ 266700 w 533400"/>
              <a:gd name="connsiteY0" fmla="*/ 533401 h 624841"/>
              <a:gd name="connsiteX1" fmla="*/ 78115 w 533400"/>
              <a:gd name="connsiteY1" fmla="*/ 455286 h 624841"/>
              <a:gd name="connsiteX2" fmla="*/ 1 w 533400"/>
              <a:gd name="connsiteY2" fmla="*/ 266700 h 624841"/>
              <a:gd name="connsiteX3" fmla="*/ 0 w 533400"/>
              <a:gd name="connsiteY3" fmla="*/ 266699 h 624841"/>
              <a:gd name="connsiteX4" fmla="*/ 78115 w 533400"/>
              <a:gd name="connsiteY4" fmla="*/ 78114 h 624841"/>
              <a:gd name="connsiteX5" fmla="*/ 266701 w 533400"/>
              <a:gd name="connsiteY5" fmla="*/ 0 h 624841"/>
              <a:gd name="connsiteX6" fmla="*/ 455286 w 533400"/>
              <a:gd name="connsiteY6" fmla="*/ 78115 h 624841"/>
              <a:gd name="connsiteX7" fmla="*/ 533400 w 533400"/>
              <a:gd name="connsiteY7" fmla="*/ 266701 h 624841"/>
              <a:gd name="connsiteX8" fmla="*/ 455285 w 533400"/>
              <a:gd name="connsiteY8" fmla="*/ 455286 h 624841"/>
              <a:gd name="connsiteX9" fmla="*/ 358140 w 533400"/>
              <a:gd name="connsiteY9" fmla="*/ 624841 h 624841"/>
              <a:gd name="connsiteX0" fmla="*/ 266700 w 533400"/>
              <a:gd name="connsiteY0" fmla="*/ 533401 h 533401"/>
              <a:gd name="connsiteX1" fmla="*/ 78115 w 533400"/>
              <a:gd name="connsiteY1" fmla="*/ 455286 h 533401"/>
              <a:gd name="connsiteX2" fmla="*/ 1 w 533400"/>
              <a:gd name="connsiteY2" fmla="*/ 266700 h 533401"/>
              <a:gd name="connsiteX3" fmla="*/ 0 w 533400"/>
              <a:gd name="connsiteY3" fmla="*/ 266699 h 533401"/>
              <a:gd name="connsiteX4" fmla="*/ 78115 w 533400"/>
              <a:gd name="connsiteY4" fmla="*/ 78114 h 533401"/>
              <a:gd name="connsiteX5" fmla="*/ 266701 w 533400"/>
              <a:gd name="connsiteY5" fmla="*/ 0 h 533401"/>
              <a:gd name="connsiteX6" fmla="*/ 455286 w 533400"/>
              <a:gd name="connsiteY6" fmla="*/ 78115 h 533401"/>
              <a:gd name="connsiteX7" fmla="*/ 533400 w 533400"/>
              <a:gd name="connsiteY7" fmla="*/ 266701 h 533401"/>
              <a:gd name="connsiteX8" fmla="*/ 455285 w 533400"/>
              <a:gd name="connsiteY8" fmla="*/ 455286 h 533401"/>
              <a:gd name="connsiteX0" fmla="*/ 78115 w 533400"/>
              <a:gd name="connsiteY0" fmla="*/ 455286 h 455286"/>
              <a:gd name="connsiteX1" fmla="*/ 1 w 533400"/>
              <a:gd name="connsiteY1" fmla="*/ 266700 h 455286"/>
              <a:gd name="connsiteX2" fmla="*/ 0 w 533400"/>
              <a:gd name="connsiteY2" fmla="*/ 266699 h 455286"/>
              <a:gd name="connsiteX3" fmla="*/ 78115 w 533400"/>
              <a:gd name="connsiteY3" fmla="*/ 78114 h 455286"/>
              <a:gd name="connsiteX4" fmla="*/ 266701 w 533400"/>
              <a:gd name="connsiteY4" fmla="*/ 0 h 455286"/>
              <a:gd name="connsiteX5" fmla="*/ 455286 w 533400"/>
              <a:gd name="connsiteY5" fmla="*/ 78115 h 455286"/>
              <a:gd name="connsiteX6" fmla="*/ 533400 w 533400"/>
              <a:gd name="connsiteY6" fmla="*/ 266701 h 455286"/>
              <a:gd name="connsiteX7" fmla="*/ 455285 w 533400"/>
              <a:gd name="connsiteY7" fmla="*/ 455286 h 455286"/>
              <a:gd name="connsiteX0" fmla="*/ 1 w 533400"/>
              <a:gd name="connsiteY0" fmla="*/ 266700 h 455286"/>
              <a:gd name="connsiteX1" fmla="*/ 0 w 533400"/>
              <a:gd name="connsiteY1" fmla="*/ 266699 h 455286"/>
              <a:gd name="connsiteX2" fmla="*/ 78115 w 533400"/>
              <a:gd name="connsiteY2" fmla="*/ 78114 h 455286"/>
              <a:gd name="connsiteX3" fmla="*/ 266701 w 533400"/>
              <a:gd name="connsiteY3" fmla="*/ 0 h 455286"/>
              <a:gd name="connsiteX4" fmla="*/ 455286 w 533400"/>
              <a:gd name="connsiteY4" fmla="*/ 78115 h 455286"/>
              <a:gd name="connsiteX5" fmla="*/ 533400 w 533400"/>
              <a:gd name="connsiteY5" fmla="*/ 266701 h 455286"/>
              <a:gd name="connsiteX6" fmla="*/ 455285 w 533400"/>
              <a:gd name="connsiteY6" fmla="*/ 455286 h 455286"/>
              <a:gd name="connsiteX0" fmla="*/ 0 w 533399"/>
              <a:gd name="connsiteY0" fmla="*/ 266700 h 455286"/>
              <a:gd name="connsiteX1" fmla="*/ 78114 w 533399"/>
              <a:gd name="connsiteY1" fmla="*/ 78114 h 455286"/>
              <a:gd name="connsiteX2" fmla="*/ 266700 w 533399"/>
              <a:gd name="connsiteY2" fmla="*/ 0 h 455286"/>
              <a:gd name="connsiteX3" fmla="*/ 455285 w 533399"/>
              <a:gd name="connsiteY3" fmla="*/ 78115 h 455286"/>
              <a:gd name="connsiteX4" fmla="*/ 533399 w 533399"/>
              <a:gd name="connsiteY4" fmla="*/ 266701 h 455286"/>
              <a:gd name="connsiteX5" fmla="*/ 455284 w 533399"/>
              <a:gd name="connsiteY5" fmla="*/ 455286 h 455286"/>
              <a:gd name="connsiteX0" fmla="*/ 0 w 455285"/>
              <a:gd name="connsiteY0" fmla="*/ 78114 h 455286"/>
              <a:gd name="connsiteX1" fmla="*/ 188586 w 455285"/>
              <a:gd name="connsiteY1" fmla="*/ 0 h 455286"/>
              <a:gd name="connsiteX2" fmla="*/ 377171 w 455285"/>
              <a:gd name="connsiteY2" fmla="*/ 78115 h 455286"/>
              <a:gd name="connsiteX3" fmla="*/ 455285 w 455285"/>
              <a:gd name="connsiteY3" fmla="*/ 266701 h 455286"/>
              <a:gd name="connsiteX4" fmla="*/ 377170 w 455285"/>
              <a:gd name="connsiteY4" fmla="*/ 455286 h 455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285" h="455286">
                <a:moveTo>
                  <a:pt x="0" y="78114"/>
                </a:moveTo>
                <a:cubicBezTo>
                  <a:pt x="50016" y="28098"/>
                  <a:pt x="117852" y="0"/>
                  <a:pt x="188586" y="0"/>
                </a:cubicBezTo>
                <a:cubicBezTo>
                  <a:pt x="259319" y="0"/>
                  <a:pt x="327155" y="28099"/>
                  <a:pt x="377171" y="78115"/>
                </a:cubicBezTo>
                <a:cubicBezTo>
                  <a:pt x="427187" y="128131"/>
                  <a:pt x="455285" y="195967"/>
                  <a:pt x="455285" y="266701"/>
                </a:cubicBezTo>
                <a:cubicBezTo>
                  <a:pt x="455285" y="337434"/>
                  <a:pt x="427186" y="405270"/>
                  <a:pt x="377170" y="45528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3716983" y="48006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3945583" y="324433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4876800" y="3352800"/>
            <a:ext cx="914400" cy="914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724400" y="3505200"/>
            <a:ext cx="914400" cy="914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54"/>
          <p:cNvSpPr/>
          <p:nvPr/>
        </p:nvSpPr>
        <p:spPr>
          <a:xfrm>
            <a:off x="4724400" y="3352800"/>
            <a:ext cx="1066800" cy="1524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143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429" y="0"/>
                </a:lnTo>
                <a:lnTo>
                  <a:pt x="10000" y="0"/>
                </a:lnTo>
                <a:lnTo>
                  <a:pt x="8571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/>
          <p:cNvSpPr/>
          <p:nvPr/>
        </p:nvSpPr>
        <p:spPr>
          <a:xfrm rot="16200000" flipV="1">
            <a:off x="5181600" y="3810000"/>
            <a:ext cx="1066800" cy="1524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429" y="0"/>
                </a:lnTo>
                <a:lnTo>
                  <a:pt x="10000" y="0"/>
                </a:lnTo>
                <a:lnTo>
                  <a:pt x="8571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/>
          <p:cNvSpPr/>
          <p:nvPr/>
        </p:nvSpPr>
        <p:spPr>
          <a:xfrm rot="16200000" flipV="1">
            <a:off x="5410200" y="3810000"/>
            <a:ext cx="1066800" cy="1524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429" y="0"/>
                </a:lnTo>
                <a:lnTo>
                  <a:pt x="10000" y="0"/>
                </a:lnTo>
                <a:lnTo>
                  <a:pt x="8571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/>
          <p:cNvCxnSpPr/>
          <p:nvPr/>
        </p:nvCxnSpPr>
        <p:spPr>
          <a:xfrm>
            <a:off x="5943600" y="3886200"/>
            <a:ext cx="9312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800600" y="3200400"/>
            <a:ext cx="1143000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181600" y="2743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Straight Connector 80"/>
          <p:cNvCxnSpPr/>
          <p:nvPr/>
        </p:nvCxnSpPr>
        <p:spPr>
          <a:xfrm>
            <a:off x="4876800" y="3886200"/>
            <a:ext cx="1219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rot="5400000">
            <a:off x="6087591" y="4961409"/>
            <a:ext cx="9312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6019800" y="4419600"/>
            <a:ext cx="1066800" cy="1524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143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429" y="0"/>
                </a:lnTo>
                <a:lnTo>
                  <a:pt x="10000" y="0"/>
                </a:lnTo>
                <a:lnTo>
                  <a:pt x="8571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SCARA Manipulator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RRP</a:t>
            </a:r>
          </a:p>
          <a:p>
            <a:r>
              <a:rPr lang="en-CA" dirty="0"/>
              <a:t>Selective Compliant Articulated Robot for Assembly </a:t>
            </a:r>
          </a:p>
          <a:p>
            <a:pPr lvl="1"/>
            <a:r>
              <a:rPr lang="en-CA" sz="1400" dirty="0">
                <a:hlinkClick r:id="rId2"/>
              </a:rPr>
              <a:t>http://www.robots.epson.com/products/g-series.htm</a:t>
            </a:r>
            <a:r>
              <a:rPr lang="en-CA" dirty="0"/>
              <a:t> 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Common Manipulator Arrangements</a:t>
            </a:r>
            <a:endParaRPr lang="en-US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1887347" y="5257800"/>
            <a:ext cx="914400" cy="838200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rot="5400000" flipH="1" flipV="1">
            <a:off x="1590955" y="4639792"/>
            <a:ext cx="1524000" cy="168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5400000">
            <a:off x="2094664" y="3467100"/>
            <a:ext cx="533400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132764" y="27432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4037764" y="22098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400800" y="22098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64" name="Freeform 63"/>
          <p:cNvSpPr/>
          <p:nvPr/>
        </p:nvSpPr>
        <p:spPr>
          <a:xfrm>
            <a:off x="1887347" y="4876800"/>
            <a:ext cx="914401" cy="296980"/>
          </a:xfrm>
          <a:custGeom>
            <a:avLst/>
            <a:gdLst>
              <a:gd name="connsiteX0" fmla="*/ 0 w 914400"/>
              <a:gd name="connsiteY0" fmla="*/ 152400 h 304800"/>
              <a:gd name="connsiteX1" fmla="*/ 312621 w 914400"/>
              <a:gd name="connsiteY1" fmla="*/ 7821 h 304800"/>
              <a:gd name="connsiteX2" fmla="*/ 457200 w 914400"/>
              <a:gd name="connsiteY2" fmla="*/ 0 h 304800"/>
              <a:gd name="connsiteX3" fmla="*/ 601780 w 914400"/>
              <a:gd name="connsiteY3" fmla="*/ 7821 h 304800"/>
              <a:gd name="connsiteX4" fmla="*/ 914400 w 914400"/>
              <a:gd name="connsiteY4" fmla="*/ 152401 h 304800"/>
              <a:gd name="connsiteX5" fmla="*/ 601779 w 914400"/>
              <a:gd name="connsiteY5" fmla="*/ 296980 h 304800"/>
              <a:gd name="connsiteX6" fmla="*/ 457200 w 914400"/>
              <a:gd name="connsiteY6" fmla="*/ 304801 h 304800"/>
              <a:gd name="connsiteX7" fmla="*/ 312621 w 914400"/>
              <a:gd name="connsiteY7" fmla="*/ 296980 h 304800"/>
              <a:gd name="connsiteX8" fmla="*/ 1 w 914400"/>
              <a:gd name="connsiteY8" fmla="*/ 152400 h 304800"/>
              <a:gd name="connsiteX9" fmla="*/ 0 w 914400"/>
              <a:gd name="connsiteY9" fmla="*/ 152400 h 304800"/>
              <a:gd name="connsiteX0" fmla="*/ 457200 w 914401"/>
              <a:gd name="connsiteY0" fmla="*/ 0 h 304801"/>
              <a:gd name="connsiteX1" fmla="*/ 601780 w 914401"/>
              <a:gd name="connsiteY1" fmla="*/ 7821 h 304801"/>
              <a:gd name="connsiteX2" fmla="*/ 914400 w 914401"/>
              <a:gd name="connsiteY2" fmla="*/ 152401 h 304801"/>
              <a:gd name="connsiteX3" fmla="*/ 601779 w 914401"/>
              <a:gd name="connsiteY3" fmla="*/ 296980 h 304801"/>
              <a:gd name="connsiteX4" fmla="*/ 457200 w 914401"/>
              <a:gd name="connsiteY4" fmla="*/ 304801 h 304801"/>
              <a:gd name="connsiteX5" fmla="*/ 312621 w 914401"/>
              <a:gd name="connsiteY5" fmla="*/ 296980 h 304801"/>
              <a:gd name="connsiteX6" fmla="*/ 1 w 914401"/>
              <a:gd name="connsiteY6" fmla="*/ 152400 h 304801"/>
              <a:gd name="connsiteX7" fmla="*/ 0 w 914401"/>
              <a:gd name="connsiteY7" fmla="*/ 152400 h 304801"/>
              <a:gd name="connsiteX8" fmla="*/ 312621 w 914401"/>
              <a:gd name="connsiteY8" fmla="*/ 7821 h 304801"/>
              <a:gd name="connsiteX9" fmla="*/ 548640 w 914401"/>
              <a:gd name="connsiteY9" fmla="*/ 91440 h 304801"/>
              <a:gd name="connsiteX0" fmla="*/ 457200 w 914401"/>
              <a:gd name="connsiteY0" fmla="*/ 0 h 304801"/>
              <a:gd name="connsiteX1" fmla="*/ 601780 w 914401"/>
              <a:gd name="connsiteY1" fmla="*/ 7821 h 304801"/>
              <a:gd name="connsiteX2" fmla="*/ 914400 w 914401"/>
              <a:gd name="connsiteY2" fmla="*/ 152401 h 304801"/>
              <a:gd name="connsiteX3" fmla="*/ 601779 w 914401"/>
              <a:gd name="connsiteY3" fmla="*/ 296980 h 304801"/>
              <a:gd name="connsiteX4" fmla="*/ 457200 w 914401"/>
              <a:gd name="connsiteY4" fmla="*/ 304801 h 304801"/>
              <a:gd name="connsiteX5" fmla="*/ 312621 w 914401"/>
              <a:gd name="connsiteY5" fmla="*/ 296980 h 304801"/>
              <a:gd name="connsiteX6" fmla="*/ 1 w 914401"/>
              <a:gd name="connsiteY6" fmla="*/ 152400 h 304801"/>
              <a:gd name="connsiteX7" fmla="*/ 0 w 914401"/>
              <a:gd name="connsiteY7" fmla="*/ 152400 h 304801"/>
              <a:gd name="connsiteX8" fmla="*/ 312621 w 914401"/>
              <a:gd name="connsiteY8" fmla="*/ 7821 h 304801"/>
              <a:gd name="connsiteX0" fmla="*/ 601780 w 914401"/>
              <a:gd name="connsiteY0" fmla="*/ 0 h 296980"/>
              <a:gd name="connsiteX1" fmla="*/ 914400 w 914401"/>
              <a:gd name="connsiteY1" fmla="*/ 144580 h 296980"/>
              <a:gd name="connsiteX2" fmla="*/ 601779 w 914401"/>
              <a:gd name="connsiteY2" fmla="*/ 289159 h 296980"/>
              <a:gd name="connsiteX3" fmla="*/ 457200 w 914401"/>
              <a:gd name="connsiteY3" fmla="*/ 296980 h 296980"/>
              <a:gd name="connsiteX4" fmla="*/ 312621 w 914401"/>
              <a:gd name="connsiteY4" fmla="*/ 289159 h 296980"/>
              <a:gd name="connsiteX5" fmla="*/ 1 w 914401"/>
              <a:gd name="connsiteY5" fmla="*/ 144579 h 296980"/>
              <a:gd name="connsiteX6" fmla="*/ 0 w 914401"/>
              <a:gd name="connsiteY6" fmla="*/ 144579 h 296980"/>
              <a:gd name="connsiteX7" fmla="*/ 312621 w 914401"/>
              <a:gd name="connsiteY7" fmla="*/ 0 h 29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1" h="296980">
                <a:moveTo>
                  <a:pt x="601780" y="0"/>
                </a:moveTo>
                <a:cubicBezTo>
                  <a:pt x="788475" y="20744"/>
                  <a:pt x="914401" y="78982"/>
                  <a:pt x="914400" y="144580"/>
                </a:cubicBezTo>
                <a:cubicBezTo>
                  <a:pt x="914400" y="210178"/>
                  <a:pt x="788473" y="268416"/>
                  <a:pt x="601779" y="289159"/>
                </a:cubicBezTo>
                <a:cubicBezTo>
                  <a:pt x="555160" y="294339"/>
                  <a:pt x="506340" y="296980"/>
                  <a:pt x="457200" y="296980"/>
                </a:cubicBezTo>
                <a:cubicBezTo>
                  <a:pt x="408059" y="296980"/>
                  <a:pt x="359240" y="294339"/>
                  <a:pt x="312621" y="289159"/>
                </a:cubicBezTo>
                <a:cubicBezTo>
                  <a:pt x="125927" y="268415"/>
                  <a:pt x="0" y="210177"/>
                  <a:pt x="1" y="144579"/>
                </a:cubicBezTo>
                <a:lnTo>
                  <a:pt x="0" y="144579"/>
                </a:lnTo>
                <a:cubicBezTo>
                  <a:pt x="1" y="78982"/>
                  <a:pt x="125927" y="20744"/>
                  <a:pt x="312621" y="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2877947" y="48006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4723564" y="28956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019800" y="3505200"/>
            <a:ext cx="914400" cy="91439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54"/>
          <p:cNvSpPr/>
          <p:nvPr/>
        </p:nvSpPr>
        <p:spPr>
          <a:xfrm>
            <a:off x="6019800" y="3352800"/>
            <a:ext cx="1066800" cy="1524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143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429" y="0"/>
                </a:lnTo>
                <a:lnTo>
                  <a:pt x="10000" y="0"/>
                </a:lnTo>
                <a:lnTo>
                  <a:pt x="8571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/>
          <p:cNvSpPr/>
          <p:nvPr/>
        </p:nvSpPr>
        <p:spPr>
          <a:xfrm rot="16200000" flipV="1">
            <a:off x="6477001" y="3809999"/>
            <a:ext cx="1066798" cy="1524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429 w 10000"/>
              <a:gd name="connsiteY1" fmla="*/ 0 h 10000"/>
              <a:gd name="connsiteX2" fmla="*/ 10000 w 10000"/>
              <a:gd name="connsiteY2" fmla="*/ 0 h 10000"/>
              <a:gd name="connsiteX3" fmla="*/ 857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429" y="0"/>
                </a:lnTo>
                <a:lnTo>
                  <a:pt x="10000" y="0"/>
                </a:lnTo>
                <a:lnTo>
                  <a:pt x="8571" y="10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/>
          <p:cNvCxnSpPr/>
          <p:nvPr/>
        </p:nvCxnSpPr>
        <p:spPr>
          <a:xfrm rot="5400000">
            <a:off x="6743700" y="4000500"/>
            <a:ext cx="1142999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467600" y="3733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39" name="Flowchart: Magnetic Disk 38"/>
          <p:cNvSpPr/>
          <p:nvPr/>
        </p:nvSpPr>
        <p:spPr>
          <a:xfrm>
            <a:off x="3732964" y="3429000"/>
            <a:ext cx="914400" cy="914400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endCxn id="39" idx="2"/>
          </p:cNvCxnSpPr>
          <p:nvPr/>
        </p:nvCxnSpPr>
        <p:spPr>
          <a:xfrm>
            <a:off x="2361364" y="3886200"/>
            <a:ext cx="1371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9" idx="3"/>
          </p:cNvCxnSpPr>
          <p:nvPr/>
        </p:nvCxnSpPr>
        <p:spPr>
          <a:xfrm rot="5400000">
            <a:off x="4152064" y="4381500"/>
            <a:ext cx="76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4075864" y="3467100"/>
            <a:ext cx="228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190164" y="3352800"/>
            <a:ext cx="685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4190164" y="4419600"/>
            <a:ext cx="685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rot="5400000">
            <a:off x="4342564" y="3886200"/>
            <a:ext cx="1066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rot="5400000">
            <a:off x="3923464" y="2933700"/>
            <a:ext cx="533400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rot="5400000">
            <a:off x="6286500" y="2933700"/>
            <a:ext cx="533400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3732964" y="2971800"/>
            <a:ext cx="914401" cy="296980"/>
          </a:xfrm>
          <a:custGeom>
            <a:avLst/>
            <a:gdLst>
              <a:gd name="connsiteX0" fmla="*/ 0 w 914400"/>
              <a:gd name="connsiteY0" fmla="*/ 152400 h 304800"/>
              <a:gd name="connsiteX1" fmla="*/ 312621 w 914400"/>
              <a:gd name="connsiteY1" fmla="*/ 7821 h 304800"/>
              <a:gd name="connsiteX2" fmla="*/ 457200 w 914400"/>
              <a:gd name="connsiteY2" fmla="*/ 0 h 304800"/>
              <a:gd name="connsiteX3" fmla="*/ 601780 w 914400"/>
              <a:gd name="connsiteY3" fmla="*/ 7821 h 304800"/>
              <a:gd name="connsiteX4" fmla="*/ 914400 w 914400"/>
              <a:gd name="connsiteY4" fmla="*/ 152401 h 304800"/>
              <a:gd name="connsiteX5" fmla="*/ 601779 w 914400"/>
              <a:gd name="connsiteY5" fmla="*/ 296980 h 304800"/>
              <a:gd name="connsiteX6" fmla="*/ 457200 w 914400"/>
              <a:gd name="connsiteY6" fmla="*/ 304801 h 304800"/>
              <a:gd name="connsiteX7" fmla="*/ 312621 w 914400"/>
              <a:gd name="connsiteY7" fmla="*/ 296980 h 304800"/>
              <a:gd name="connsiteX8" fmla="*/ 1 w 914400"/>
              <a:gd name="connsiteY8" fmla="*/ 152400 h 304800"/>
              <a:gd name="connsiteX9" fmla="*/ 0 w 914400"/>
              <a:gd name="connsiteY9" fmla="*/ 152400 h 304800"/>
              <a:gd name="connsiteX0" fmla="*/ 457200 w 914401"/>
              <a:gd name="connsiteY0" fmla="*/ 0 h 304801"/>
              <a:gd name="connsiteX1" fmla="*/ 601780 w 914401"/>
              <a:gd name="connsiteY1" fmla="*/ 7821 h 304801"/>
              <a:gd name="connsiteX2" fmla="*/ 914400 w 914401"/>
              <a:gd name="connsiteY2" fmla="*/ 152401 h 304801"/>
              <a:gd name="connsiteX3" fmla="*/ 601779 w 914401"/>
              <a:gd name="connsiteY3" fmla="*/ 296980 h 304801"/>
              <a:gd name="connsiteX4" fmla="*/ 457200 w 914401"/>
              <a:gd name="connsiteY4" fmla="*/ 304801 h 304801"/>
              <a:gd name="connsiteX5" fmla="*/ 312621 w 914401"/>
              <a:gd name="connsiteY5" fmla="*/ 296980 h 304801"/>
              <a:gd name="connsiteX6" fmla="*/ 1 w 914401"/>
              <a:gd name="connsiteY6" fmla="*/ 152400 h 304801"/>
              <a:gd name="connsiteX7" fmla="*/ 0 w 914401"/>
              <a:gd name="connsiteY7" fmla="*/ 152400 h 304801"/>
              <a:gd name="connsiteX8" fmla="*/ 312621 w 914401"/>
              <a:gd name="connsiteY8" fmla="*/ 7821 h 304801"/>
              <a:gd name="connsiteX9" fmla="*/ 548640 w 914401"/>
              <a:gd name="connsiteY9" fmla="*/ 91440 h 304801"/>
              <a:gd name="connsiteX0" fmla="*/ 457200 w 914401"/>
              <a:gd name="connsiteY0" fmla="*/ 0 h 304801"/>
              <a:gd name="connsiteX1" fmla="*/ 601780 w 914401"/>
              <a:gd name="connsiteY1" fmla="*/ 7821 h 304801"/>
              <a:gd name="connsiteX2" fmla="*/ 914400 w 914401"/>
              <a:gd name="connsiteY2" fmla="*/ 152401 h 304801"/>
              <a:gd name="connsiteX3" fmla="*/ 601779 w 914401"/>
              <a:gd name="connsiteY3" fmla="*/ 296980 h 304801"/>
              <a:gd name="connsiteX4" fmla="*/ 457200 w 914401"/>
              <a:gd name="connsiteY4" fmla="*/ 304801 h 304801"/>
              <a:gd name="connsiteX5" fmla="*/ 312621 w 914401"/>
              <a:gd name="connsiteY5" fmla="*/ 296980 h 304801"/>
              <a:gd name="connsiteX6" fmla="*/ 1 w 914401"/>
              <a:gd name="connsiteY6" fmla="*/ 152400 h 304801"/>
              <a:gd name="connsiteX7" fmla="*/ 0 w 914401"/>
              <a:gd name="connsiteY7" fmla="*/ 152400 h 304801"/>
              <a:gd name="connsiteX8" fmla="*/ 312621 w 914401"/>
              <a:gd name="connsiteY8" fmla="*/ 7821 h 304801"/>
              <a:gd name="connsiteX0" fmla="*/ 601780 w 914401"/>
              <a:gd name="connsiteY0" fmla="*/ 0 h 296980"/>
              <a:gd name="connsiteX1" fmla="*/ 914400 w 914401"/>
              <a:gd name="connsiteY1" fmla="*/ 144580 h 296980"/>
              <a:gd name="connsiteX2" fmla="*/ 601779 w 914401"/>
              <a:gd name="connsiteY2" fmla="*/ 289159 h 296980"/>
              <a:gd name="connsiteX3" fmla="*/ 457200 w 914401"/>
              <a:gd name="connsiteY3" fmla="*/ 296980 h 296980"/>
              <a:gd name="connsiteX4" fmla="*/ 312621 w 914401"/>
              <a:gd name="connsiteY4" fmla="*/ 289159 h 296980"/>
              <a:gd name="connsiteX5" fmla="*/ 1 w 914401"/>
              <a:gd name="connsiteY5" fmla="*/ 144579 h 296980"/>
              <a:gd name="connsiteX6" fmla="*/ 0 w 914401"/>
              <a:gd name="connsiteY6" fmla="*/ 144579 h 296980"/>
              <a:gd name="connsiteX7" fmla="*/ 312621 w 914401"/>
              <a:gd name="connsiteY7" fmla="*/ 0 h 29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1" h="296980">
                <a:moveTo>
                  <a:pt x="601780" y="0"/>
                </a:moveTo>
                <a:cubicBezTo>
                  <a:pt x="788475" y="20744"/>
                  <a:pt x="914401" y="78982"/>
                  <a:pt x="914400" y="144580"/>
                </a:cubicBezTo>
                <a:cubicBezTo>
                  <a:pt x="914400" y="210178"/>
                  <a:pt x="788473" y="268416"/>
                  <a:pt x="601779" y="289159"/>
                </a:cubicBezTo>
                <a:cubicBezTo>
                  <a:pt x="555160" y="294339"/>
                  <a:pt x="506340" y="296980"/>
                  <a:pt x="457200" y="296980"/>
                </a:cubicBezTo>
                <a:cubicBezTo>
                  <a:pt x="408059" y="296980"/>
                  <a:pt x="359240" y="294339"/>
                  <a:pt x="312621" y="289159"/>
                </a:cubicBezTo>
                <a:cubicBezTo>
                  <a:pt x="125927" y="268415"/>
                  <a:pt x="0" y="210177"/>
                  <a:pt x="1" y="144579"/>
                </a:cubicBezTo>
                <a:lnTo>
                  <a:pt x="0" y="144579"/>
                </a:lnTo>
                <a:cubicBezTo>
                  <a:pt x="1" y="78982"/>
                  <a:pt x="125927" y="20744"/>
                  <a:pt x="312621" y="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Forward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given the joint variables and dimensions of the links what is the position and orientation of the end </a:t>
            </a:r>
            <a:r>
              <a:rPr lang="en-CA" dirty="0" err="1"/>
              <a:t>effector</a:t>
            </a:r>
            <a:r>
              <a:rPr lang="en-CA" dirty="0"/>
              <a:t>?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Forward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8428" y="48768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25" name="Freeform 24"/>
          <p:cNvSpPr/>
          <p:nvPr/>
        </p:nvSpPr>
        <p:spPr>
          <a:xfrm>
            <a:off x="2819400" y="49530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Forward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choose the base coordinate frame of the robot</a:t>
            </a:r>
          </a:p>
          <a:p>
            <a:pPr lvl="1"/>
            <a:r>
              <a:rPr lang="en-CA" dirty="0"/>
              <a:t>we want (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CA" dirty="0"/>
              <a:t>) to be expressed in this frame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Forward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8428" y="48768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25" name="Freeform 24"/>
          <p:cNvSpPr/>
          <p:nvPr/>
        </p:nvSpPr>
        <p:spPr>
          <a:xfrm>
            <a:off x="2819400" y="49530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29400" y="22860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y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?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Forward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notice that link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/>
              <a:t> moves in a circle centered on the base frame origin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Forward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8428" y="48768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25" name="Freeform 24"/>
          <p:cNvSpPr/>
          <p:nvPr/>
        </p:nvSpPr>
        <p:spPr>
          <a:xfrm>
            <a:off x="2819400" y="49530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29400" y="22860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y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?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05400" y="495300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sin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8" name="Straight Arrow Connector 37"/>
          <p:cNvCxnSpPr>
            <a:stCxn id="36" idx="1"/>
          </p:cNvCxnSpPr>
          <p:nvPr/>
        </p:nvCxnSpPr>
        <p:spPr>
          <a:xfrm rot="10800000">
            <a:off x="4572000" y="4419600"/>
            <a:ext cx="533400" cy="718066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Forward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choose a coordinate frame with origin located on joint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/>
              <a:t> with the same orientation as the base frame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Forward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8428" y="48768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25" name="Freeform 24"/>
          <p:cNvSpPr/>
          <p:nvPr/>
        </p:nvSpPr>
        <p:spPr>
          <a:xfrm>
            <a:off x="2819400" y="49530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29400" y="22860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y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?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05400" y="495300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sin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8" name="Straight Arrow Connector 37"/>
          <p:cNvCxnSpPr>
            <a:stCxn id="36" idx="1"/>
          </p:cNvCxnSpPr>
          <p:nvPr/>
        </p:nvCxnSpPr>
        <p:spPr>
          <a:xfrm rot="10800000">
            <a:off x="4572000" y="4419600"/>
            <a:ext cx="533400" cy="718066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5029200" y="43434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71628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41" name="Freeform 40"/>
          <p:cNvSpPr/>
          <p:nvPr/>
        </p:nvSpPr>
        <p:spPr>
          <a:xfrm>
            <a:off x="5562600" y="40386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/>
          <p:nvPr/>
        </p:nvCxnSpPr>
        <p:spPr>
          <a:xfrm rot="5400000" flipH="1" flipV="1">
            <a:off x="3810000" y="3581400"/>
            <a:ext cx="15240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10800000" flipH="1" flipV="1">
            <a:off x="4572000" y="4343400"/>
            <a:ext cx="15240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791200" y="4343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14800" y="2743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Forward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notice that link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/>
              <a:t> moves in a circle centered on frame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Forward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8428" y="48768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25" name="Freeform 24"/>
          <p:cNvSpPr/>
          <p:nvPr/>
        </p:nvSpPr>
        <p:spPr>
          <a:xfrm>
            <a:off x="2819400" y="49530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29400" y="22860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y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?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19600" y="502920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sin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rot="5400000" flipH="1" flipV="1">
            <a:off x="4267200" y="4724400"/>
            <a:ext cx="609600" cy="15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5029200" y="43434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71628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41" name="Freeform 40"/>
          <p:cNvSpPr/>
          <p:nvPr/>
        </p:nvSpPr>
        <p:spPr>
          <a:xfrm>
            <a:off x="5562600" y="40386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/>
          <p:nvPr/>
        </p:nvCxnSpPr>
        <p:spPr>
          <a:xfrm rot="5400000" flipH="1" flipV="1">
            <a:off x="3810000" y="3581400"/>
            <a:ext cx="15240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10800000" flipH="1" flipV="1">
            <a:off x="4572000" y="4343400"/>
            <a:ext cx="15240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791200" y="4343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14800" y="2743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24600" y="3059668"/>
            <a:ext cx="1843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</a:t>
            </a:r>
          </a:p>
          <a:p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a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sin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rot="5400000" flipH="1" flipV="1">
            <a:off x="6134100" y="2857500"/>
            <a:ext cx="5334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Forward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because the base frame and frame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/>
              <a:t> have the same orientation, we can sum the coordinates to find the position of the end </a:t>
            </a:r>
            <a:r>
              <a:rPr lang="en-CA" dirty="0" err="1"/>
              <a:t>effector</a:t>
            </a:r>
            <a:r>
              <a:rPr lang="en-CA" dirty="0"/>
              <a:t> in the base frame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Forward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8428" y="48768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25" name="Freeform 24"/>
          <p:cNvSpPr/>
          <p:nvPr/>
        </p:nvSpPr>
        <p:spPr>
          <a:xfrm>
            <a:off x="2819400" y="49530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19600" y="502920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sin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rot="5400000" flipH="1" flipV="1">
            <a:off x="4267200" y="4724400"/>
            <a:ext cx="609600" cy="15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5029200" y="43434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71628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41" name="Freeform 40"/>
          <p:cNvSpPr/>
          <p:nvPr/>
        </p:nvSpPr>
        <p:spPr>
          <a:xfrm>
            <a:off x="5562600" y="40386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/>
          <p:nvPr/>
        </p:nvCxnSpPr>
        <p:spPr>
          <a:xfrm rot="5400000" flipH="1" flipV="1">
            <a:off x="3810000" y="3581400"/>
            <a:ext cx="15240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10800000" flipH="1" flipV="1">
            <a:off x="4572000" y="4343400"/>
            <a:ext cx="15240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791200" y="4343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14800" y="2743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24600" y="3059668"/>
            <a:ext cx="1843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</a:t>
            </a:r>
          </a:p>
          <a:p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a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sin</a:t>
            </a:r>
            <a:r>
              <a:rPr lang="en-C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rot="5400000" flipH="1" flipV="1">
            <a:off x="6134100" y="2857500"/>
            <a:ext cx="5334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19800" y="1752600"/>
            <a:ext cx="2882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+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),</a:t>
            </a:r>
          </a:p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sin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+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sin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 )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Forward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we also want the orientation of frame 2 with respect to the base frame</a:t>
            </a:r>
          </a:p>
          <a:p>
            <a:pPr lvl="1"/>
            <a:r>
              <a:rPr lang="en-CA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/>
              <a:t> and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/>
              <a:t> expressed in terms</a:t>
            </a:r>
            <a:br>
              <a:rPr lang="en-US" dirty="0"/>
            </a:br>
            <a:r>
              <a:rPr lang="en-US" dirty="0"/>
              <a:t>of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/>
              <a:t> and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/>
              <a:t> </a:t>
            </a:r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Forward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8428" y="48768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25" name="Freeform 24"/>
          <p:cNvSpPr/>
          <p:nvPr/>
        </p:nvSpPr>
        <p:spPr>
          <a:xfrm>
            <a:off x="2819400" y="49530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5029200" y="43434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71628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41" name="Freeform 40"/>
          <p:cNvSpPr/>
          <p:nvPr/>
        </p:nvSpPr>
        <p:spPr>
          <a:xfrm>
            <a:off x="5562600" y="40386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/>
          <p:cNvCxnSpPr/>
          <p:nvPr/>
        </p:nvCxnSpPr>
        <p:spPr>
          <a:xfrm rot="16200000" flipV="1">
            <a:off x="5486400" y="1600200"/>
            <a:ext cx="914400" cy="91440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rot="5400000" flipH="1" flipV="1">
            <a:off x="6400800" y="1524000"/>
            <a:ext cx="990600" cy="99060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15200" y="1752600"/>
            <a:ext cx="36420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05400" y="1676400"/>
            <a:ext cx="36420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Forward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without proof I claim: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Forward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8428" y="48768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25" name="Freeform 24"/>
          <p:cNvSpPr/>
          <p:nvPr/>
        </p:nvSpPr>
        <p:spPr>
          <a:xfrm>
            <a:off x="2819400" y="49530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5029200" y="43434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71628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41" name="Freeform 40"/>
          <p:cNvSpPr/>
          <p:nvPr/>
        </p:nvSpPr>
        <p:spPr>
          <a:xfrm>
            <a:off x="5562600" y="40386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85800" y="1524000"/>
            <a:ext cx="1959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),</a:t>
            </a:r>
          </a:p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sin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 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2286000"/>
            <a:ext cx="1997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(-sin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),</a:t>
            </a:r>
          </a:p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CA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CA" i="1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 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rot="16200000" flipV="1">
            <a:off x="5486400" y="1600200"/>
            <a:ext cx="914400" cy="91440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5400000" flipH="1" flipV="1">
            <a:off x="6400800" y="1524000"/>
            <a:ext cx="990600" cy="99060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15200" y="1752600"/>
            <a:ext cx="36420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05400" y="1676400"/>
            <a:ext cx="36420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Inverse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given the position (and possibly</a:t>
            </a:r>
            <a:br>
              <a:rPr lang="en-CA" dirty="0"/>
            </a:br>
            <a:r>
              <a:rPr lang="en-CA" dirty="0"/>
              <a:t>the orientation) of the end</a:t>
            </a:r>
            <a:br>
              <a:rPr lang="en-CA" dirty="0"/>
            </a:br>
            <a:r>
              <a:rPr lang="en-CA" dirty="0" err="1"/>
              <a:t>effector</a:t>
            </a:r>
            <a:r>
              <a:rPr lang="en-CA" dirty="0"/>
              <a:t>, and the dimensions</a:t>
            </a:r>
            <a:br>
              <a:rPr lang="en-CA" dirty="0"/>
            </a:br>
            <a:r>
              <a:rPr lang="en-CA" dirty="0"/>
              <a:t>of the links, what are the joint</a:t>
            </a:r>
            <a:br>
              <a:rPr lang="en-CA" dirty="0"/>
            </a:br>
            <a:r>
              <a:rPr lang="en-CA" dirty="0"/>
              <a:t>variables?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Inverse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?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8428" y="487680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 ?</a:t>
            </a:r>
            <a:endParaRPr lang="en-US" dirty="0"/>
          </a:p>
        </p:txBody>
      </p:sp>
      <p:sp>
        <p:nvSpPr>
          <p:cNvPr id="25" name="Freeform 24"/>
          <p:cNvSpPr/>
          <p:nvPr/>
        </p:nvSpPr>
        <p:spPr>
          <a:xfrm>
            <a:off x="2819400" y="4953000"/>
            <a:ext cx="45719" cy="3048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rot="16200000" flipV="1">
            <a:off x="5486400" y="1600200"/>
            <a:ext cx="914400" cy="91440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5400000" flipH="1" flipV="1">
            <a:off x="6400800" y="1524000"/>
            <a:ext cx="990600" cy="99060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15200" y="1752600"/>
            <a:ext cx="36420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05400" y="1676400"/>
            <a:ext cx="36420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29400" y="228600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y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/>
          <p:cNvCxnSpPr/>
          <p:nvPr/>
        </p:nvCxnSpPr>
        <p:spPr>
          <a:xfrm flipV="1">
            <a:off x="3962400" y="2514600"/>
            <a:ext cx="2438400" cy="762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1828800" y="3276600"/>
            <a:ext cx="2133600" cy="19812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4097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Inverse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harder than forward kinematics because there is often more than one possible solution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Inverse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526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048000" y="4267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81600" y="2895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29400" y="228600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y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3505200" y="28194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886200" y="3200400"/>
            <a:ext cx="152400" cy="1524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endCxn id="22" idx="4"/>
          </p:cNvCxnSpPr>
          <p:nvPr/>
        </p:nvCxnSpPr>
        <p:spPr>
          <a:xfrm rot="5400000" flipH="1" flipV="1">
            <a:off x="1181100" y="5753100"/>
            <a:ext cx="838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0" y="3886200"/>
            <a:ext cx="1295400" cy="4572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572000" y="2514602"/>
            <a:ext cx="1828800" cy="1828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828800" y="4343400"/>
            <a:ext cx="274320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Inverse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CA" dirty="0"/>
              <a:t>law of cosines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Inverse Kinematics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14800" y="38862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562600" y="34290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CA" i="1" dirty="0">
                <a:latin typeface="Times New Roman" pitchFamily="18" charset="0"/>
                <a:cs typeface="Times New Roman" pitchFamily="18" charset="0"/>
              </a:rPr>
              <a:t>?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5410200" y="3581400"/>
            <a:ext cx="166190" cy="381000"/>
          </a:xfrm>
          <a:custGeom>
            <a:avLst/>
            <a:gdLst>
              <a:gd name="connsiteX0" fmla="*/ 0 w 1828800"/>
              <a:gd name="connsiteY0" fmla="*/ 914400 h 1828800"/>
              <a:gd name="connsiteX1" fmla="*/ 267822 w 1828800"/>
              <a:gd name="connsiteY1" fmla="*/ 267822 h 1828800"/>
              <a:gd name="connsiteX2" fmla="*/ 914401 w 1828800"/>
              <a:gd name="connsiteY2" fmla="*/ 1 h 1828800"/>
              <a:gd name="connsiteX3" fmla="*/ 1560979 w 1828800"/>
              <a:gd name="connsiteY3" fmla="*/ 267823 h 1828800"/>
              <a:gd name="connsiteX4" fmla="*/ 1828800 w 1828800"/>
              <a:gd name="connsiteY4" fmla="*/ 914402 h 1828800"/>
              <a:gd name="connsiteX5" fmla="*/ 1560978 w 1828800"/>
              <a:gd name="connsiteY5" fmla="*/ 1560981 h 1828800"/>
              <a:gd name="connsiteX6" fmla="*/ 914399 w 1828800"/>
              <a:gd name="connsiteY6" fmla="*/ 1828802 h 1828800"/>
              <a:gd name="connsiteX7" fmla="*/ 267821 w 1828800"/>
              <a:gd name="connsiteY7" fmla="*/ 1560980 h 1828800"/>
              <a:gd name="connsiteX8" fmla="*/ 0 w 1828800"/>
              <a:gd name="connsiteY8" fmla="*/ 914401 h 1828800"/>
              <a:gd name="connsiteX9" fmla="*/ 0 w 1828800"/>
              <a:gd name="connsiteY9" fmla="*/ 914400 h 1828800"/>
              <a:gd name="connsiteX0" fmla="*/ 1828800 w 1920240"/>
              <a:gd name="connsiteY0" fmla="*/ 914401 h 1828802"/>
              <a:gd name="connsiteX1" fmla="*/ 1560978 w 1920240"/>
              <a:gd name="connsiteY1" fmla="*/ 1560980 h 1828802"/>
              <a:gd name="connsiteX2" fmla="*/ 914399 w 1920240"/>
              <a:gd name="connsiteY2" fmla="*/ 1828801 h 1828802"/>
              <a:gd name="connsiteX3" fmla="*/ 267821 w 1920240"/>
              <a:gd name="connsiteY3" fmla="*/ 1560979 h 1828802"/>
              <a:gd name="connsiteX4" fmla="*/ 0 w 1920240"/>
              <a:gd name="connsiteY4" fmla="*/ 914400 h 1828802"/>
              <a:gd name="connsiteX5" fmla="*/ 0 w 1920240"/>
              <a:gd name="connsiteY5" fmla="*/ 914399 h 1828802"/>
              <a:gd name="connsiteX6" fmla="*/ 267822 w 1920240"/>
              <a:gd name="connsiteY6" fmla="*/ 267821 h 1828802"/>
              <a:gd name="connsiteX7" fmla="*/ 914401 w 1920240"/>
              <a:gd name="connsiteY7" fmla="*/ 0 h 1828802"/>
              <a:gd name="connsiteX8" fmla="*/ 1560979 w 1920240"/>
              <a:gd name="connsiteY8" fmla="*/ 267822 h 1828802"/>
              <a:gd name="connsiteX9" fmla="*/ 1920240 w 1920240"/>
              <a:gd name="connsiteY9" fmla="*/ 1005841 h 1828802"/>
              <a:gd name="connsiteX0" fmla="*/ 1560978 w 1920240"/>
              <a:gd name="connsiteY0" fmla="*/ 1560980 h 1828802"/>
              <a:gd name="connsiteX1" fmla="*/ 914399 w 1920240"/>
              <a:gd name="connsiteY1" fmla="*/ 1828801 h 1828802"/>
              <a:gd name="connsiteX2" fmla="*/ 267821 w 1920240"/>
              <a:gd name="connsiteY2" fmla="*/ 1560979 h 1828802"/>
              <a:gd name="connsiteX3" fmla="*/ 0 w 1920240"/>
              <a:gd name="connsiteY3" fmla="*/ 914400 h 1828802"/>
              <a:gd name="connsiteX4" fmla="*/ 0 w 1920240"/>
              <a:gd name="connsiteY4" fmla="*/ 914399 h 1828802"/>
              <a:gd name="connsiteX5" fmla="*/ 267822 w 1920240"/>
              <a:gd name="connsiteY5" fmla="*/ 267821 h 1828802"/>
              <a:gd name="connsiteX6" fmla="*/ 914401 w 1920240"/>
              <a:gd name="connsiteY6" fmla="*/ 0 h 1828802"/>
              <a:gd name="connsiteX7" fmla="*/ 1560979 w 1920240"/>
              <a:gd name="connsiteY7" fmla="*/ 267822 h 1828802"/>
              <a:gd name="connsiteX8" fmla="*/ 1920240 w 1920240"/>
              <a:gd name="connsiteY8" fmla="*/ 1005841 h 1828802"/>
              <a:gd name="connsiteX0" fmla="*/ 1560978 w 1828800"/>
              <a:gd name="connsiteY0" fmla="*/ 1560980 h 1828802"/>
              <a:gd name="connsiteX1" fmla="*/ 914399 w 1828800"/>
              <a:gd name="connsiteY1" fmla="*/ 1828801 h 1828802"/>
              <a:gd name="connsiteX2" fmla="*/ 267821 w 1828800"/>
              <a:gd name="connsiteY2" fmla="*/ 1560979 h 1828802"/>
              <a:gd name="connsiteX3" fmla="*/ 0 w 1828800"/>
              <a:gd name="connsiteY3" fmla="*/ 914400 h 1828802"/>
              <a:gd name="connsiteX4" fmla="*/ 0 w 1828800"/>
              <a:gd name="connsiteY4" fmla="*/ 914399 h 1828802"/>
              <a:gd name="connsiteX5" fmla="*/ 267822 w 1828800"/>
              <a:gd name="connsiteY5" fmla="*/ 267821 h 1828802"/>
              <a:gd name="connsiteX6" fmla="*/ 914401 w 1828800"/>
              <a:gd name="connsiteY6" fmla="*/ 0 h 1828802"/>
              <a:gd name="connsiteX7" fmla="*/ 1560979 w 1828800"/>
              <a:gd name="connsiteY7" fmla="*/ 267822 h 1828802"/>
              <a:gd name="connsiteX8" fmla="*/ 1828800 w 1828800"/>
              <a:gd name="connsiteY8" fmla="*/ 914398 h 1828802"/>
              <a:gd name="connsiteX0" fmla="*/ 1560978 w 1842589"/>
              <a:gd name="connsiteY0" fmla="*/ 1560980 h 1828802"/>
              <a:gd name="connsiteX1" fmla="*/ 914399 w 1842589"/>
              <a:gd name="connsiteY1" fmla="*/ 1828801 h 1828802"/>
              <a:gd name="connsiteX2" fmla="*/ 267821 w 1842589"/>
              <a:gd name="connsiteY2" fmla="*/ 1560979 h 1828802"/>
              <a:gd name="connsiteX3" fmla="*/ 0 w 1842589"/>
              <a:gd name="connsiteY3" fmla="*/ 914400 h 1828802"/>
              <a:gd name="connsiteX4" fmla="*/ 0 w 1842589"/>
              <a:gd name="connsiteY4" fmla="*/ 914399 h 1828802"/>
              <a:gd name="connsiteX5" fmla="*/ 267822 w 1842589"/>
              <a:gd name="connsiteY5" fmla="*/ 267821 h 1828802"/>
              <a:gd name="connsiteX6" fmla="*/ 914401 w 1842589"/>
              <a:gd name="connsiteY6" fmla="*/ 0 h 1828802"/>
              <a:gd name="connsiteX7" fmla="*/ 1560979 w 1842589"/>
              <a:gd name="connsiteY7" fmla="*/ 267822 h 1828802"/>
              <a:gd name="connsiteX8" fmla="*/ 1828800 w 1842589"/>
              <a:gd name="connsiteY8" fmla="*/ 914398 h 1828802"/>
              <a:gd name="connsiteX0" fmla="*/ 914399 w 1842589"/>
              <a:gd name="connsiteY0" fmla="*/ 1828801 h 1828801"/>
              <a:gd name="connsiteX1" fmla="*/ 267821 w 1842589"/>
              <a:gd name="connsiteY1" fmla="*/ 1560979 h 1828801"/>
              <a:gd name="connsiteX2" fmla="*/ 0 w 1842589"/>
              <a:gd name="connsiteY2" fmla="*/ 914400 h 1828801"/>
              <a:gd name="connsiteX3" fmla="*/ 0 w 1842589"/>
              <a:gd name="connsiteY3" fmla="*/ 914399 h 1828801"/>
              <a:gd name="connsiteX4" fmla="*/ 267822 w 1842589"/>
              <a:gd name="connsiteY4" fmla="*/ 267821 h 1828801"/>
              <a:gd name="connsiteX5" fmla="*/ 914401 w 1842589"/>
              <a:gd name="connsiteY5" fmla="*/ 0 h 1828801"/>
              <a:gd name="connsiteX6" fmla="*/ 1560979 w 1842589"/>
              <a:gd name="connsiteY6" fmla="*/ 267822 h 1828801"/>
              <a:gd name="connsiteX7" fmla="*/ 1828800 w 1842589"/>
              <a:gd name="connsiteY7" fmla="*/ 914398 h 1828801"/>
              <a:gd name="connsiteX0" fmla="*/ 267821 w 1842589"/>
              <a:gd name="connsiteY0" fmla="*/ 1560979 h 1560979"/>
              <a:gd name="connsiteX1" fmla="*/ 0 w 1842589"/>
              <a:gd name="connsiteY1" fmla="*/ 914400 h 1560979"/>
              <a:gd name="connsiteX2" fmla="*/ 0 w 1842589"/>
              <a:gd name="connsiteY2" fmla="*/ 914399 h 1560979"/>
              <a:gd name="connsiteX3" fmla="*/ 267822 w 1842589"/>
              <a:gd name="connsiteY3" fmla="*/ 267821 h 1560979"/>
              <a:gd name="connsiteX4" fmla="*/ 914401 w 1842589"/>
              <a:gd name="connsiteY4" fmla="*/ 0 h 1560979"/>
              <a:gd name="connsiteX5" fmla="*/ 1560979 w 1842589"/>
              <a:gd name="connsiteY5" fmla="*/ 267822 h 1560979"/>
              <a:gd name="connsiteX6" fmla="*/ 1828800 w 1842589"/>
              <a:gd name="connsiteY6" fmla="*/ 914398 h 1560979"/>
              <a:gd name="connsiteX0" fmla="*/ 0 w 1842589"/>
              <a:gd name="connsiteY0" fmla="*/ 914400 h 914400"/>
              <a:gd name="connsiteX1" fmla="*/ 0 w 1842589"/>
              <a:gd name="connsiteY1" fmla="*/ 914399 h 914400"/>
              <a:gd name="connsiteX2" fmla="*/ 267822 w 1842589"/>
              <a:gd name="connsiteY2" fmla="*/ 267821 h 914400"/>
              <a:gd name="connsiteX3" fmla="*/ 914401 w 1842589"/>
              <a:gd name="connsiteY3" fmla="*/ 0 h 914400"/>
              <a:gd name="connsiteX4" fmla="*/ 1560979 w 1842589"/>
              <a:gd name="connsiteY4" fmla="*/ 267822 h 914400"/>
              <a:gd name="connsiteX5" fmla="*/ 1828800 w 1842589"/>
              <a:gd name="connsiteY5" fmla="*/ 914398 h 914400"/>
              <a:gd name="connsiteX0" fmla="*/ 0 w 1842589"/>
              <a:gd name="connsiteY0" fmla="*/ 914400 h 914400"/>
              <a:gd name="connsiteX1" fmla="*/ 267822 w 1842589"/>
              <a:gd name="connsiteY1" fmla="*/ 267821 h 914400"/>
              <a:gd name="connsiteX2" fmla="*/ 914401 w 1842589"/>
              <a:gd name="connsiteY2" fmla="*/ 0 h 914400"/>
              <a:gd name="connsiteX3" fmla="*/ 1560979 w 1842589"/>
              <a:gd name="connsiteY3" fmla="*/ 267822 h 914400"/>
              <a:gd name="connsiteX4" fmla="*/ 1828800 w 1842589"/>
              <a:gd name="connsiteY4" fmla="*/ 914398 h 914400"/>
              <a:gd name="connsiteX0" fmla="*/ 0 w 1574767"/>
              <a:gd name="connsiteY0" fmla="*/ 267821 h 914398"/>
              <a:gd name="connsiteX1" fmla="*/ 646579 w 1574767"/>
              <a:gd name="connsiteY1" fmla="*/ 0 h 914398"/>
              <a:gd name="connsiteX2" fmla="*/ 1293157 w 1574767"/>
              <a:gd name="connsiteY2" fmla="*/ 267822 h 914398"/>
              <a:gd name="connsiteX3" fmla="*/ 1560978 w 1574767"/>
              <a:gd name="connsiteY3" fmla="*/ 914398 h 914398"/>
              <a:gd name="connsiteX0" fmla="*/ 0 w 1574767"/>
              <a:gd name="connsiteY0" fmla="*/ 107762 h 754339"/>
              <a:gd name="connsiteX1" fmla="*/ 1293157 w 1574767"/>
              <a:gd name="connsiteY1" fmla="*/ 107763 h 754339"/>
              <a:gd name="connsiteX2" fmla="*/ 1560978 w 1574767"/>
              <a:gd name="connsiteY2" fmla="*/ 754339 h 754339"/>
              <a:gd name="connsiteX0" fmla="*/ 0 w 281610"/>
              <a:gd name="connsiteY0" fmla="*/ 0 h 646576"/>
              <a:gd name="connsiteX1" fmla="*/ 267821 w 281610"/>
              <a:gd name="connsiteY1" fmla="*/ 646576 h 64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10" h="646576">
                <a:moveTo>
                  <a:pt x="0" y="0"/>
                </a:moveTo>
                <a:cubicBezTo>
                  <a:pt x="152400" y="152400"/>
                  <a:pt x="281610" y="396079"/>
                  <a:pt x="267821" y="646576"/>
                </a:cubicBezTo>
              </a:path>
            </a:pathLst>
          </a:custGeom>
          <a:noFill/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4800600"/>
            <a:ext cx="914400" cy="9144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524000" y="5181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86000" y="5257800"/>
            <a:ext cx="9144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00400" y="4724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67400" y="2971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1066800" y="4495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0800000" flipH="1" flipV="1">
            <a:off x="1828800" y="5257800"/>
            <a:ext cx="15240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48000" y="5257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495800" y="4267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324600" y="2438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29400" y="228600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i="1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y</a:t>
            </a:r>
            <a:r>
              <a:rPr lang="en-CA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1828800" y="2514600"/>
            <a:ext cx="4572000" cy="27432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Object 38"/>
          <p:cNvGraphicFramePr>
            <a:graphicFrameLocks noChangeAspect="1"/>
          </p:cNvGraphicFramePr>
          <p:nvPr/>
        </p:nvGraphicFramePr>
        <p:xfrm>
          <a:off x="685800" y="1371600"/>
          <a:ext cx="500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640" imgH="228600" progId="Equation.3">
                  <p:embed/>
                </p:oleObj>
              </mc:Choice>
              <mc:Fallback>
                <p:oleObj name="Equation" r:id="rId2" imgW="2501640" imgH="228600" progId="Equation.3">
                  <p:embed/>
                  <p:pic>
                    <p:nvPicPr>
                      <p:cNvPr id="39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371600"/>
                        <a:ext cx="5003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4056142" y="32443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Inverse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Inverse Kinematics</a:t>
            </a:r>
            <a:endParaRPr lang="en-US" dirty="0"/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/>
        </p:nvGraphicFramePr>
        <p:xfrm>
          <a:off x="762000" y="1219200"/>
          <a:ext cx="4013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280" imgH="457200" progId="Equation.3">
                  <p:embed/>
                </p:oleObj>
              </mc:Choice>
              <mc:Fallback>
                <p:oleObj name="Equation" r:id="rId2" imgW="2006280" imgH="457200" progId="Equation.3">
                  <p:embed/>
                  <p:pic>
                    <p:nvPicPr>
                      <p:cNvPr id="39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19200"/>
                        <a:ext cx="4013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2"/>
          <p:cNvGraphicFramePr>
            <a:graphicFrameLocks noChangeAspect="1"/>
          </p:cNvGraphicFramePr>
          <p:nvPr/>
        </p:nvGraphicFramePr>
        <p:xfrm>
          <a:off x="762000" y="2667000"/>
          <a:ext cx="284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215640" progId="Equation.3">
                  <p:embed/>
                </p:oleObj>
              </mc:Choice>
              <mc:Fallback>
                <p:oleObj name="Equation" r:id="rId4" imgW="1422360" imgH="215640" progId="Equation.3">
                  <p:embed/>
                  <p:pic>
                    <p:nvPicPr>
                      <p:cNvPr id="307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667000"/>
                        <a:ext cx="2844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33400" y="2209800"/>
            <a:ext cx="381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and we have the trigonometric identity</a:t>
            </a:r>
            <a:endParaRPr lang="en-US" dirty="0"/>
          </a:p>
        </p:txBody>
      </p:sp>
      <p:graphicFrame>
        <p:nvGraphicFramePr>
          <p:cNvPr id="3076" name="Object 2"/>
          <p:cNvGraphicFramePr>
            <a:graphicFrameLocks noChangeAspect="1"/>
          </p:cNvGraphicFramePr>
          <p:nvPr/>
        </p:nvGraphicFramePr>
        <p:xfrm>
          <a:off x="723900" y="3733800"/>
          <a:ext cx="3759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457200" progId="Equation.3">
                  <p:embed/>
                </p:oleObj>
              </mc:Choice>
              <mc:Fallback>
                <p:oleObj name="Equation" r:id="rId6" imgW="1879560" imgH="457200" progId="Equation.3">
                  <p:embed/>
                  <p:pic>
                    <p:nvPicPr>
                      <p:cNvPr id="307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3733800"/>
                        <a:ext cx="3759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33400" y="3288268"/>
            <a:ext cx="1120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therefore,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33400" y="4888468"/>
            <a:ext cx="7423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 could take the inverse cosine, but this gives only one of the two solutions.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Inverse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Inverse Kinematics</a:t>
            </a:r>
            <a:endParaRPr lang="en-US" dirty="0"/>
          </a:p>
        </p:txBody>
      </p:sp>
      <p:graphicFrame>
        <p:nvGraphicFramePr>
          <p:cNvPr id="3075" name="Object 2"/>
          <p:cNvGraphicFramePr>
            <a:graphicFrameLocks noChangeAspect="1"/>
          </p:cNvGraphicFramePr>
          <p:nvPr/>
        </p:nvGraphicFramePr>
        <p:xfrm>
          <a:off x="762000" y="1600200"/>
          <a:ext cx="231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28600" progId="Equation.3">
                  <p:embed/>
                </p:oleObj>
              </mc:Choice>
              <mc:Fallback>
                <p:oleObj name="Equation" r:id="rId2" imgW="1155600" imgH="228600" progId="Equation.3">
                  <p:embed/>
                  <p:pic>
                    <p:nvPicPr>
                      <p:cNvPr id="307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00200"/>
                        <a:ext cx="2311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33400" y="2514600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to obtain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33400" y="1078468"/>
            <a:ext cx="437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Instead, use the two trigonometric identities:</a:t>
            </a:r>
            <a:endParaRPr lang="en-US" dirty="0"/>
          </a:p>
        </p:txBody>
      </p:sp>
      <p:graphicFrame>
        <p:nvGraphicFramePr>
          <p:cNvPr id="4101" name="Object 2"/>
          <p:cNvGraphicFramePr>
            <a:graphicFrameLocks noChangeAspect="1"/>
          </p:cNvGraphicFramePr>
          <p:nvPr/>
        </p:nvGraphicFramePr>
        <p:xfrm>
          <a:off x="3810000" y="1447800"/>
          <a:ext cx="1676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080" imgH="393480" progId="Equation.3">
                  <p:embed/>
                </p:oleObj>
              </mc:Choice>
              <mc:Fallback>
                <p:oleObj name="Equation" r:id="rId4" imgW="838080" imgH="393480" progId="Equation.3">
                  <p:embed/>
                  <p:pic>
                    <p:nvPicPr>
                      <p:cNvPr id="410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447800"/>
                        <a:ext cx="1676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2"/>
          <p:cNvGraphicFramePr>
            <a:graphicFrameLocks noChangeAspect="1"/>
          </p:cNvGraphicFramePr>
          <p:nvPr/>
        </p:nvGraphicFramePr>
        <p:xfrm>
          <a:off x="762000" y="2870200"/>
          <a:ext cx="2514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495000" progId="Equation.3">
                  <p:embed/>
                </p:oleObj>
              </mc:Choice>
              <mc:Fallback>
                <p:oleObj name="Equation" r:id="rId6" imgW="1257120" imgH="495000" progId="Equation.3">
                  <p:embed/>
                  <p:pic>
                    <p:nvPicPr>
                      <p:cNvPr id="41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870200"/>
                        <a:ext cx="25146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3400" y="4050268"/>
            <a:ext cx="82204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which yields both solutions for </a:t>
            </a:r>
            <a:r>
              <a:rPr lang="en-CA" i="1" dirty="0">
                <a:latin typeface="Symbol" pitchFamily="18" charset="2"/>
              </a:rPr>
              <a:t>q</a:t>
            </a:r>
            <a:r>
              <a:rPr lang="en-CA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dirty="0"/>
              <a:t> . In many programming languages you would use the</a:t>
            </a:r>
          </a:p>
          <a:p>
            <a:r>
              <a:rPr lang="en-CA" dirty="0"/>
              <a:t>four quadrant inverse tangent function 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atan2</a:t>
            </a:r>
          </a:p>
          <a:p>
            <a:endParaRPr lang="en-CA" dirty="0">
              <a:latin typeface="Courier New" pitchFamily="49" charset="0"/>
              <a:cs typeface="Courier New" pitchFamily="49" charset="0"/>
            </a:endParaRPr>
          </a:p>
          <a:p>
            <a:r>
              <a:rPr lang="en-CA" dirty="0">
                <a:latin typeface="Courier New" pitchFamily="49" charset="0"/>
                <a:cs typeface="Courier New" pitchFamily="49" charset="0"/>
              </a:rPr>
              <a:t>c2 = (x*x + y*y – a1*a1 – a2*a2) / (2*a1*a2);</a:t>
            </a:r>
          </a:p>
          <a:p>
            <a:r>
              <a:rPr lang="en-CA" dirty="0">
                <a:latin typeface="Courier New" pitchFamily="49" charset="0"/>
                <a:cs typeface="Courier New" pitchFamily="49" charset="0"/>
              </a:rPr>
              <a:t>s2 = </a:t>
            </a:r>
            <a:r>
              <a:rPr lang="en-CA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CA" dirty="0">
                <a:latin typeface="Courier New" pitchFamily="49" charset="0"/>
                <a:cs typeface="Courier New" pitchFamily="49" charset="0"/>
              </a:rPr>
              <a:t>(1 – c2*c2);</a:t>
            </a:r>
          </a:p>
          <a:p>
            <a:r>
              <a:rPr lang="en-CA" dirty="0">
                <a:latin typeface="Courier New" pitchFamily="49" charset="0"/>
                <a:cs typeface="Courier New" pitchFamily="49" charset="0"/>
              </a:rPr>
              <a:t>theta21 = atan2(s2, c2);</a:t>
            </a:r>
          </a:p>
          <a:p>
            <a:r>
              <a:rPr lang="en-CA" dirty="0">
                <a:latin typeface="Courier New" pitchFamily="49" charset="0"/>
                <a:cs typeface="Courier New" pitchFamily="49" charset="0"/>
              </a:rPr>
              <a:t>theta22 = atan2(-s2, c2);</a:t>
            </a:r>
            <a:r>
              <a:rPr lang="en-CA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Inverse Kinematics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E29327D7-175D-4C42-8077-2268929F14E5}" type="datetime1">
              <a:rPr lang="en-US" smtClean="0"/>
              <a:pPr algn="r"/>
              <a:t>9/2/2024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57DED-2631-4FEA-894F-3C72F5E7FC9E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Exercise for the student: show that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Inverse Kinematics</a:t>
            </a:r>
            <a:endParaRPr lang="en-US" dirty="0"/>
          </a:p>
        </p:txBody>
      </p:sp>
      <p:graphicFrame>
        <p:nvGraphicFramePr>
          <p:cNvPr id="4102" name="Object 2"/>
          <p:cNvGraphicFramePr>
            <a:graphicFrameLocks noChangeAspect="1"/>
          </p:cNvGraphicFramePr>
          <p:nvPr/>
        </p:nvGraphicFramePr>
        <p:xfrm>
          <a:off x="838200" y="1524000"/>
          <a:ext cx="4521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482400" progId="Equation.3">
                  <p:embed/>
                </p:oleObj>
              </mc:Choice>
              <mc:Fallback>
                <p:oleObj name="Equation" r:id="rId2" imgW="2260440" imgH="482400" progId="Equation.3">
                  <p:embed/>
                  <p:pic>
                    <p:nvPicPr>
                      <p:cNvPr id="41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45212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667</TotalTime>
  <Words>1486</Words>
  <Application>Microsoft Office PowerPoint</Application>
  <PresentationFormat>On-screen Show (4:3)</PresentationFormat>
  <Paragraphs>392</Paragraphs>
  <Slides>41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Bookman Old Style</vt:lpstr>
      <vt:lpstr>Calibri</vt:lpstr>
      <vt:lpstr>Courier New</vt:lpstr>
      <vt:lpstr>Gill Sans MT</vt:lpstr>
      <vt:lpstr>Symbol</vt:lpstr>
      <vt:lpstr>Times New Roman</vt:lpstr>
      <vt:lpstr>Wingdings</vt:lpstr>
      <vt:lpstr>Wingdings 3</vt:lpstr>
      <vt:lpstr>Origin</vt:lpstr>
      <vt:lpstr>Equation</vt:lpstr>
      <vt:lpstr>CSE4421/5324: Introduction to Robotics</vt:lpstr>
      <vt:lpstr>A150 Robotic Arm</vt:lpstr>
      <vt:lpstr>Kinematics</vt:lpstr>
      <vt:lpstr>Kinematics</vt:lpstr>
      <vt:lpstr>Wheeled Mobile Robots</vt:lpstr>
      <vt:lpstr>Wheel</vt:lpstr>
      <vt:lpstr>Deviations from Ideal</vt:lpstr>
      <vt:lpstr>Differential Drive</vt:lpstr>
      <vt:lpstr>Forward Kinematics</vt:lpstr>
      <vt:lpstr>Sensitivity to Wheel Velocity</vt:lpstr>
      <vt:lpstr>Localization using Landmarks: RoboSoccer</vt:lpstr>
      <vt:lpstr>Maps</vt:lpstr>
      <vt:lpstr>Path Finding</vt:lpstr>
      <vt:lpstr>Localization</vt:lpstr>
      <vt:lpstr>EKF SLAM Application</vt:lpstr>
      <vt:lpstr>EKF SLAM Application</vt:lpstr>
      <vt:lpstr>PowerPoint Presentation</vt:lpstr>
      <vt:lpstr>Robotic Manipulators</vt:lpstr>
      <vt:lpstr>A150 Robotic Arm</vt:lpstr>
      <vt:lpstr>Joints</vt:lpstr>
      <vt:lpstr>Joint Variables</vt:lpstr>
      <vt:lpstr>Revolute Joint Variable</vt:lpstr>
      <vt:lpstr>Prismatic Joint Variable</vt:lpstr>
      <vt:lpstr>Common Manipulator Arrangments</vt:lpstr>
      <vt:lpstr>Articulated Manipulator</vt:lpstr>
      <vt:lpstr>Spherical Manipulator</vt:lpstr>
      <vt:lpstr>SCARA Manipulator</vt:lpstr>
      <vt:lpstr>Forward Kinematics</vt:lpstr>
      <vt:lpstr>Forward Kinematics</vt:lpstr>
      <vt:lpstr>Forward Kinematics</vt:lpstr>
      <vt:lpstr>Forward Kinematics</vt:lpstr>
      <vt:lpstr>Forward Kinematics</vt:lpstr>
      <vt:lpstr>Forward Kinematics</vt:lpstr>
      <vt:lpstr>Forward Kinematics</vt:lpstr>
      <vt:lpstr>Forward Kinematics</vt:lpstr>
      <vt:lpstr>Inverse Kinematics</vt:lpstr>
      <vt:lpstr>Inverse Kinematics</vt:lpstr>
      <vt:lpstr>Inverse Kinematics</vt:lpstr>
      <vt:lpstr>Inverse Kinematics</vt:lpstr>
      <vt:lpstr>Inverse Kinematics</vt:lpstr>
      <vt:lpstr>Inverse Kinematics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02</dc:title>
  <dc:creator>mab</dc:creator>
  <cp:lastModifiedBy>Boyce Sigweni</cp:lastModifiedBy>
  <cp:revision>8</cp:revision>
  <dcterms:created xsi:type="dcterms:W3CDTF">2011-01-07T01:27:12Z</dcterms:created>
  <dcterms:modified xsi:type="dcterms:W3CDTF">2024-09-02T11:14:04Z</dcterms:modified>
</cp:coreProperties>
</file>
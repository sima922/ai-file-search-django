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3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4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5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6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7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8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9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10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11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12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13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44"/>
  </p:notesMasterIdLst>
  <p:sldIdLst>
    <p:sldId id="256" r:id="rId2"/>
    <p:sldId id="358" r:id="rId3"/>
    <p:sldId id="359" r:id="rId4"/>
    <p:sldId id="360" r:id="rId5"/>
    <p:sldId id="257" r:id="rId6"/>
    <p:sldId id="258" r:id="rId7"/>
    <p:sldId id="283" r:id="rId8"/>
    <p:sldId id="262" r:id="rId9"/>
    <p:sldId id="263" r:id="rId10"/>
    <p:sldId id="299" r:id="rId11"/>
    <p:sldId id="370" r:id="rId12"/>
    <p:sldId id="371" r:id="rId13"/>
    <p:sldId id="319" r:id="rId14"/>
    <p:sldId id="338" r:id="rId15"/>
    <p:sldId id="300" r:id="rId16"/>
    <p:sldId id="301" r:id="rId17"/>
    <p:sldId id="361" r:id="rId18"/>
    <p:sldId id="362" r:id="rId19"/>
    <p:sldId id="292" r:id="rId20"/>
    <p:sldId id="293" r:id="rId21"/>
    <p:sldId id="363" r:id="rId22"/>
    <p:sldId id="364" r:id="rId23"/>
    <p:sldId id="309" r:id="rId24"/>
    <p:sldId id="369" r:id="rId25"/>
    <p:sldId id="259" r:id="rId26"/>
    <p:sldId id="365" r:id="rId27"/>
    <p:sldId id="260" r:id="rId28"/>
    <p:sldId id="346" r:id="rId29"/>
    <p:sldId id="347" r:id="rId30"/>
    <p:sldId id="348" r:id="rId31"/>
    <p:sldId id="349" r:id="rId32"/>
    <p:sldId id="350" r:id="rId33"/>
    <p:sldId id="351" r:id="rId34"/>
    <p:sldId id="352" r:id="rId35"/>
    <p:sldId id="353" r:id="rId36"/>
    <p:sldId id="354" r:id="rId37"/>
    <p:sldId id="366" r:id="rId38"/>
    <p:sldId id="355" r:id="rId39"/>
    <p:sldId id="367" r:id="rId40"/>
    <p:sldId id="356" r:id="rId41"/>
    <p:sldId id="357" r:id="rId42"/>
    <p:sldId id="368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C2DF36-51E0-4E00-9212-9345006B9A59}" v="6" dt="2023-11-01T12:51:56.3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motsaletswe Moalosi" userId="a3f8274a-0ae2-4e14-946e-a2b704a97a52" providerId="ADAL" clId="{CEC2DF36-51E0-4E00-9212-9345006B9A59}"/>
    <pc:docChg chg="undo custSel addSld delSld modSld">
      <pc:chgData name="Remotsaletswe Moalosi" userId="a3f8274a-0ae2-4e14-946e-a2b704a97a52" providerId="ADAL" clId="{CEC2DF36-51E0-4E00-9212-9345006B9A59}" dt="2023-11-01T13:45:36.251" v="486" actId="207"/>
      <pc:docMkLst>
        <pc:docMk/>
      </pc:docMkLst>
      <pc:sldChg chg="modSp mod">
        <pc:chgData name="Remotsaletswe Moalosi" userId="a3f8274a-0ae2-4e14-946e-a2b704a97a52" providerId="ADAL" clId="{CEC2DF36-51E0-4E00-9212-9345006B9A59}" dt="2023-11-01T12:51:09.297" v="102" actId="14100"/>
        <pc:sldMkLst>
          <pc:docMk/>
          <pc:sldMk cId="0" sldId="257"/>
        </pc:sldMkLst>
        <pc:spChg chg="mod">
          <ac:chgData name="Remotsaletswe Moalosi" userId="a3f8274a-0ae2-4e14-946e-a2b704a97a52" providerId="ADAL" clId="{CEC2DF36-51E0-4E00-9212-9345006B9A59}" dt="2023-11-01T12:48:44.928" v="92" actId="313"/>
          <ac:spMkLst>
            <pc:docMk/>
            <pc:sldMk cId="0" sldId="257"/>
            <ac:spMk id="3075" creationId="{B87575C5-F2D5-4D2A-BCAD-D6F3843040F8}"/>
          </ac:spMkLst>
        </pc:spChg>
        <pc:spChg chg="mod">
          <ac:chgData name="Remotsaletswe Moalosi" userId="a3f8274a-0ae2-4e14-946e-a2b704a97a52" providerId="ADAL" clId="{CEC2DF36-51E0-4E00-9212-9345006B9A59}" dt="2023-11-01T12:48:38.775" v="91" actId="1076"/>
          <ac:spMkLst>
            <pc:docMk/>
            <pc:sldMk cId="0" sldId="257"/>
            <ac:spMk id="3077" creationId="{32DD28DB-46CF-4D83-A89B-211B5FC0B014}"/>
          </ac:spMkLst>
        </pc:spChg>
        <pc:spChg chg="mod">
          <ac:chgData name="Remotsaletswe Moalosi" userId="a3f8274a-0ae2-4e14-946e-a2b704a97a52" providerId="ADAL" clId="{CEC2DF36-51E0-4E00-9212-9345006B9A59}" dt="2023-11-01T12:51:04.174" v="101" actId="14100"/>
          <ac:spMkLst>
            <pc:docMk/>
            <pc:sldMk cId="0" sldId="257"/>
            <ac:spMk id="3080" creationId="{F4ADCBFE-868F-4EFC-A718-7E5BE1111772}"/>
          </ac:spMkLst>
        </pc:spChg>
        <pc:spChg chg="mod">
          <ac:chgData name="Remotsaletswe Moalosi" userId="a3f8274a-0ae2-4e14-946e-a2b704a97a52" providerId="ADAL" clId="{CEC2DF36-51E0-4E00-9212-9345006B9A59}" dt="2023-11-01T12:51:09.297" v="102" actId="14100"/>
          <ac:spMkLst>
            <pc:docMk/>
            <pc:sldMk cId="0" sldId="257"/>
            <ac:spMk id="3082" creationId="{2C2322F2-2A76-4F29-96C5-949D142119B8}"/>
          </ac:spMkLst>
        </pc:spChg>
      </pc:sldChg>
      <pc:sldChg chg="modSp">
        <pc:chgData name="Remotsaletswe Moalosi" userId="a3f8274a-0ae2-4e14-946e-a2b704a97a52" providerId="ADAL" clId="{CEC2DF36-51E0-4E00-9212-9345006B9A59}" dt="2023-11-01T12:51:56.345" v="105" actId="14100"/>
        <pc:sldMkLst>
          <pc:docMk/>
          <pc:sldMk cId="0" sldId="258"/>
        </pc:sldMkLst>
        <pc:spChg chg="mod">
          <ac:chgData name="Remotsaletswe Moalosi" userId="a3f8274a-0ae2-4e14-946e-a2b704a97a52" providerId="ADAL" clId="{CEC2DF36-51E0-4E00-9212-9345006B9A59}" dt="2023-11-01T12:51:56.345" v="105" actId="14100"/>
          <ac:spMkLst>
            <pc:docMk/>
            <pc:sldMk cId="0" sldId="258"/>
            <ac:spMk id="4106" creationId="{D04CFDC5-6CCE-4175-9977-0CAD2FB082D8}"/>
          </ac:spMkLst>
        </pc:spChg>
        <pc:spChg chg="mod">
          <ac:chgData name="Remotsaletswe Moalosi" userId="a3f8274a-0ae2-4e14-946e-a2b704a97a52" providerId="ADAL" clId="{CEC2DF36-51E0-4E00-9212-9345006B9A59}" dt="2023-11-01T12:51:47.987" v="104" actId="14100"/>
          <ac:spMkLst>
            <pc:docMk/>
            <pc:sldMk cId="0" sldId="258"/>
            <ac:spMk id="4107" creationId="{B10CF57C-FE63-4764-947A-386D78C7855C}"/>
          </ac:spMkLst>
        </pc:spChg>
      </pc:sldChg>
      <pc:sldChg chg="add del">
        <pc:chgData name="Remotsaletswe Moalosi" userId="a3f8274a-0ae2-4e14-946e-a2b704a97a52" providerId="ADAL" clId="{CEC2DF36-51E0-4E00-9212-9345006B9A59}" dt="2023-11-01T13:25:10.851" v="273" actId="47"/>
        <pc:sldMkLst>
          <pc:docMk/>
          <pc:sldMk cId="0" sldId="302"/>
        </pc:sldMkLst>
      </pc:sldChg>
      <pc:sldChg chg="modSp mod">
        <pc:chgData name="Remotsaletswe Moalosi" userId="a3f8274a-0ae2-4e14-946e-a2b704a97a52" providerId="ADAL" clId="{CEC2DF36-51E0-4E00-9212-9345006B9A59}" dt="2023-11-01T13:24:04.324" v="270" actId="20577"/>
        <pc:sldMkLst>
          <pc:docMk/>
          <pc:sldMk cId="0" sldId="319"/>
        </pc:sldMkLst>
        <pc:spChg chg="mod">
          <ac:chgData name="Remotsaletswe Moalosi" userId="a3f8274a-0ae2-4e14-946e-a2b704a97a52" providerId="ADAL" clId="{CEC2DF36-51E0-4E00-9212-9345006B9A59}" dt="2023-11-01T13:24:04.324" v="270" actId="20577"/>
          <ac:spMkLst>
            <pc:docMk/>
            <pc:sldMk cId="0" sldId="319"/>
            <ac:spMk id="36869" creationId="{5A61CA05-06F4-4C3A-A965-22976683D2CB}"/>
          </ac:spMkLst>
        </pc:spChg>
      </pc:sldChg>
      <pc:sldChg chg="modSp mod">
        <pc:chgData name="Remotsaletswe Moalosi" userId="a3f8274a-0ae2-4e14-946e-a2b704a97a52" providerId="ADAL" clId="{CEC2DF36-51E0-4E00-9212-9345006B9A59}" dt="2023-11-01T13:45:36.251" v="486" actId="207"/>
        <pc:sldMkLst>
          <pc:docMk/>
          <pc:sldMk cId="2075755391" sldId="355"/>
        </pc:sldMkLst>
        <pc:spChg chg="mod">
          <ac:chgData name="Remotsaletswe Moalosi" userId="a3f8274a-0ae2-4e14-946e-a2b704a97a52" providerId="ADAL" clId="{CEC2DF36-51E0-4E00-9212-9345006B9A59}" dt="2023-11-01T13:45:36.251" v="486" actId="207"/>
          <ac:spMkLst>
            <pc:docMk/>
            <pc:sldMk cId="2075755391" sldId="355"/>
            <ac:spMk id="8194" creationId="{00000000-0000-0000-0000-000000000000}"/>
          </ac:spMkLst>
        </pc:spChg>
      </pc:sldChg>
      <pc:sldChg chg="modSp mod">
        <pc:chgData name="Remotsaletswe Moalosi" userId="a3f8274a-0ae2-4e14-946e-a2b704a97a52" providerId="ADAL" clId="{CEC2DF36-51E0-4E00-9212-9345006B9A59}" dt="2023-11-01T13:25:25.815" v="274" actId="255"/>
        <pc:sldMkLst>
          <pc:docMk/>
          <pc:sldMk cId="1771173215" sldId="361"/>
        </pc:sldMkLst>
        <pc:spChg chg="mod">
          <ac:chgData name="Remotsaletswe Moalosi" userId="a3f8274a-0ae2-4e14-946e-a2b704a97a52" providerId="ADAL" clId="{CEC2DF36-51E0-4E00-9212-9345006B9A59}" dt="2023-11-01T13:25:25.815" v="274" actId="255"/>
          <ac:spMkLst>
            <pc:docMk/>
            <pc:sldMk cId="1771173215" sldId="361"/>
            <ac:spMk id="3" creationId="{930C0094-4259-441F-9FCD-F9D25E26AD07}"/>
          </ac:spMkLst>
        </pc:spChg>
      </pc:sldChg>
      <pc:sldChg chg="addSp modSp mod">
        <pc:chgData name="Remotsaletswe Moalosi" userId="a3f8274a-0ae2-4e14-946e-a2b704a97a52" providerId="ADAL" clId="{CEC2DF36-51E0-4E00-9212-9345006B9A59}" dt="2023-11-01T13:33:32.137" v="277" actId="255"/>
        <pc:sldMkLst>
          <pc:docMk/>
          <pc:sldMk cId="434000874" sldId="362"/>
        </pc:sldMkLst>
        <pc:spChg chg="mod">
          <ac:chgData name="Remotsaletswe Moalosi" userId="a3f8274a-0ae2-4e14-946e-a2b704a97a52" providerId="ADAL" clId="{CEC2DF36-51E0-4E00-9212-9345006B9A59}" dt="2023-11-01T13:33:32.137" v="277" actId="255"/>
          <ac:spMkLst>
            <pc:docMk/>
            <pc:sldMk cId="434000874" sldId="362"/>
            <ac:spMk id="3" creationId="{EB595CDB-DEC8-4BB9-8AE0-5EC98C8C36DF}"/>
          </ac:spMkLst>
        </pc:spChg>
        <pc:spChg chg="mod">
          <ac:chgData name="Remotsaletswe Moalosi" userId="a3f8274a-0ae2-4e14-946e-a2b704a97a52" providerId="ADAL" clId="{CEC2DF36-51E0-4E00-9212-9345006B9A59}" dt="2023-11-01T13:05:32.951" v="106" actId="20577"/>
          <ac:spMkLst>
            <pc:docMk/>
            <pc:sldMk cId="434000874" sldId="362"/>
            <ac:spMk id="5" creationId="{28F8A81D-62B6-4558-AA59-0011F8310480}"/>
          </ac:spMkLst>
        </pc:spChg>
        <pc:picChg chg="add mod">
          <ac:chgData name="Remotsaletswe Moalosi" userId="a3f8274a-0ae2-4e14-946e-a2b704a97a52" providerId="ADAL" clId="{CEC2DF36-51E0-4E00-9212-9345006B9A59}" dt="2023-11-01T13:05:45.900" v="110" actId="14100"/>
          <ac:picMkLst>
            <pc:docMk/>
            <pc:sldMk cId="434000874" sldId="362"/>
            <ac:picMk id="6" creationId="{0CA009DB-ABBB-247B-729C-6B06B312A0F9}"/>
          </ac:picMkLst>
        </pc:picChg>
      </pc:sldChg>
      <pc:sldChg chg="modSp mod">
        <pc:chgData name="Remotsaletswe Moalosi" userId="a3f8274a-0ae2-4e14-946e-a2b704a97a52" providerId="ADAL" clId="{CEC2DF36-51E0-4E00-9212-9345006B9A59}" dt="2023-11-01T13:33:59.490" v="278" actId="255"/>
        <pc:sldMkLst>
          <pc:docMk/>
          <pc:sldMk cId="3416771545" sldId="363"/>
        </pc:sldMkLst>
        <pc:spChg chg="mod">
          <ac:chgData name="Remotsaletswe Moalosi" userId="a3f8274a-0ae2-4e14-946e-a2b704a97a52" providerId="ADAL" clId="{CEC2DF36-51E0-4E00-9212-9345006B9A59}" dt="2023-11-01T13:33:59.490" v="278" actId="255"/>
          <ac:spMkLst>
            <pc:docMk/>
            <pc:sldMk cId="3416771545" sldId="363"/>
            <ac:spMk id="3" creationId="{AFFA2DAD-1FAC-4F19-953A-4882E0A6EE15}"/>
          </ac:spMkLst>
        </pc:spChg>
      </pc:sldChg>
      <pc:sldChg chg="modSp mod">
        <pc:chgData name="Remotsaletswe Moalosi" userId="a3f8274a-0ae2-4e14-946e-a2b704a97a52" providerId="ADAL" clId="{CEC2DF36-51E0-4E00-9212-9345006B9A59}" dt="2023-11-01T13:34:23.693" v="280" actId="1076"/>
        <pc:sldMkLst>
          <pc:docMk/>
          <pc:sldMk cId="387221574" sldId="364"/>
        </pc:sldMkLst>
        <pc:spChg chg="mod">
          <ac:chgData name="Remotsaletswe Moalosi" userId="a3f8274a-0ae2-4e14-946e-a2b704a97a52" providerId="ADAL" clId="{CEC2DF36-51E0-4E00-9212-9345006B9A59}" dt="2023-11-01T13:34:19.610" v="279" actId="255"/>
          <ac:spMkLst>
            <pc:docMk/>
            <pc:sldMk cId="387221574" sldId="364"/>
            <ac:spMk id="3" creationId="{1428A062-32E2-4AE5-8826-051704C9FC44}"/>
          </ac:spMkLst>
        </pc:spChg>
        <pc:graphicFrameChg chg="mod">
          <ac:chgData name="Remotsaletswe Moalosi" userId="a3f8274a-0ae2-4e14-946e-a2b704a97a52" providerId="ADAL" clId="{CEC2DF36-51E0-4E00-9212-9345006B9A59}" dt="2023-11-01T13:34:23.693" v="280" actId="1076"/>
          <ac:graphicFrameMkLst>
            <pc:docMk/>
            <pc:sldMk cId="387221574" sldId="364"/>
            <ac:graphicFrameMk id="10" creationId="{F2755435-023C-4C73-BDC7-1C3DFEC09CA8}"/>
          </ac:graphicFrameMkLst>
        </pc:graphicFrameChg>
      </pc:sldChg>
      <pc:sldChg chg="modSp mod">
        <pc:chgData name="Remotsaletswe Moalosi" userId="a3f8274a-0ae2-4e14-946e-a2b704a97a52" providerId="ADAL" clId="{CEC2DF36-51E0-4E00-9212-9345006B9A59}" dt="2023-11-01T13:45:20.702" v="482" actId="207"/>
        <pc:sldMkLst>
          <pc:docMk/>
          <pc:sldMk cId="0" sldId="366"/>
        </pc:sldMkLst>
        <pc:spChg chg="mod">
          <ac:chgData name="Remotsaletswe Moalosi" userId="a3f8274a-0ae2-4e14-946e-a2b704a97a52" providerId="ADAL" clId="{CEC2DF36-51E0-4E00-9212-9345006B9A59}" dt="2023-11-01T13:45:20.702" v="482" actId="207"/>
          <ac:spMkLst>
            <pc:docMk/>
            <pc:sldMk cId="0" sldId="366"/>
            <ac:spMk id="9220" creationId="{922584C6-3EA7-4D49-B3E0-8F701591C211}"/>
          </ac:spMkLst>
        </pc:spChg>
        <pc:spChg chg="mod">
          <ac:chgData name="Remotsaletswe Moalosi" userId="a3f8274a-0ae2-4e14-946e-a2b704a97a52" providerId="ADAL" clId="{CEC2DF36-51E0-4E00-9212-9345006B9A59}" dt="2023-11-01T13:45:09.647" v="481" actId="27636"/>
          <ac:spMkLst>
            <pc:docMk/>
            <pc:sldMk cId="0" sldId="366"/>
            <ac:spMk id="9221" creationId="{AC939366-1461-4F0F-A4D5-303C5916CAB5}"/>
          </ac:spMkLst>
        </pc:spChg>
      </pc:sldChg>
      <pc:sldChg chg="modSp mod">
        <pc:chgData name="Remotsaletswe Moalosi" userId="a3f8274a-0ae2-4e14-946e-a2b704a97a52" providerId="ADAL" clId="{CEC2DF36-51E0-4E00-9212-9345006B9A59}" dt="2023-11-01T13:38:31.614" v="283" actId="207"/>
        <pc:sldMkLst>
          <pc:docMk/>
          <pc:sldMk cId="0" sldId="369"/>
        </pc:sldMkLst>
        <pc:spChg chg="mod">
          <ac:chgData name="Remotsaletswe Moalosi" userId="a3f8274a-0ae2-4e14-946e-a2b704a97a52" providerId="ADAL" clId="{CEC2DF36-51E0-4E00-9212-9345006B9A59}" dt="2023-11-01T13:38:31.614" v="283" actId="207"/>
          <ac:spMkLst>
            <pc:docMk/>
            <pc:sldMk cId="0" sldId="369"/>
            <ac:spMk id="24580" creationId="{1BBF73FB-B787-4C54-B717-A34667CC3A3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CB7891-3022-4FCD-A52A-2C310378F506}" type="datetimeFigureOut">
              <a:rPr lang="en-BW" smtClean="0"/>
              <a:t>01/11/2023</a:t>
            </a:fld>
            <a:endParaRPr lang="en-B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3C9D04-FD31-4A65-9E70-1521AB552650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1743290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67236379-0C53-4986-8A71-C78730AECB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DC3503B-F0AA-458A-91E7-BE8F9B928AEE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FE7276DB-BD85-4BF3-A8D7-EDB800DF98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BB63FF38-F73A-48AC-9DA5-30D1447423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40DB9532-5551-48E6-9CEC-E82BD3E9D1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B7955DA-F589-4365-9435-4D8396CF052A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AB9776DA-377A-4C90-938B-2DE076B9AA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222FF253-4EA3-4131-9346-11904A1467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DE41AC84-2F06-4CB8-ABD9-E847585973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8E93871-1F5D-4CCB-90EF-D721568DB962}" type="slidenum">
              <a:rPr lang="en-US" altLang="en-US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D0AC5D68-BF6A-4369-BA17-7B5EC4C584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E8A55689-2B19-4230-AFEC-2DC7439088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C9579820-1798-43EC-A5EE-B2F08DF41D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A42F65B-58C6-4934-9BF5-2C1A230D638D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75A0826C-5C3D-4677-BD15-956C2D1246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F8EA6780-4944-49B3-AA1C-67BF3813AD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DC8EE5E4-3EAE-47E0-8C8A-3BF88DC8A3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391069B-9D23-401C-A73A-4A5718463EE9}" type="slidenum">
              <a:rPr lang="en-US" altLang="en-US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EC4C15FF-6A8C-42CD-A4CF-8B948B848D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C1234333-B62B-443F-A684-FDBDDAEAFA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49233F6D-75BE-4393-84B2-BB11E8BEB4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84990C8-39A9-419F-80BB-0D795EE81094}" type="slidenum">
              <a:rPr lang="en-US" altLang="en-US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C94B214F-7B69-490B-ADA0-10B72E6106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FD4C8EF0-29EF-4923-BAB5-999951AAF6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297F6FF1-085B-44CC-87ED-12B1958189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80DF84-3938-46E2-B61B-F02B456B3824}" type="slidenum">
              <a:rPr lang="en-US" altLang="en-US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8B37060D-9FC9-486F-A782-FEBFF5C58C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377F93F6-D64D-46CB-9840-F2DC749359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6FEF2429-C3C9-4F21-84A1-541AEFA65D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6D7F0C9-BDC1-4D92-B8AE-AD052B9B2844}" type="slidenum">
              <a:rPr lang="en-US" altLang="en-US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1D03210F-37E6-4896-91BD-A1331F0452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002BEE89-AA74-407F-ACD5-F752280E71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1580C48B-10EB-40D2-A3AC-5B2194F013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46E4C18-76C1-436E-ABAD-86A81319B6C2}" type="slidenum">
              <a:rPr lang="en-US" altLang="en-US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4B45BC9A-29B8-4B74-8816-CDCDC8E7ED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92F24B5C-6965-4554-91FF-C6948C2A3C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F6A12D33-C093-475E-ACF7-3F08DD34F6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6FA7570-1B13-4C6A-AC51-1B7C584EAF44}" type="slidenum">
              <a:rPr lang="en-US" altLang="en-US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47BBBFE0-84B5-4F45-A746-D1CABA8D73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35833C7A-58DB-49A8-88D5-EE99B64CFE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B179E017-A2AF-46DD-A71D-551AFDAC8F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520D2BB-58B4-42AF-A36E-23F25104414B}" type="slidenum">
              <a:rPr lang="en-US" altLang="en-US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26EBF4E5-F44A-4C2E-AB41-B42A562492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96B39CAE-2E03-4AA5-BE60-476EC4A8ED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11603D2A-6FC8-42B9-B679-323458B219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05815D0-6915-4B55-B145-4C06BD7310BD}" type="slidenum">
              <a:rPr lang="en-US" altLang="en-US"/>
              <a:pPr eaLnBrk="1" hangingPunct="1">
                <a:spcBef>
                  <a:spcPct val="0"/>
                </a:spcBef>
              </a:pPr>
              <a:t>27</a:t>
            </a:fld>
            <a:endParaRPr lang="en-US" altLang="en-US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53614B6C-5241-4BD0-9976-A0F882B26B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2C783729-64D7-4FC9-82DF-3E5C6F8493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0F2D05C6-8269-41DC-AF08-BF7AD1D741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67DAF25-7065-4BDA-84FC-F88617C56765}" type="slidenum">
              <a:rPr lang="en-US" altLang="en-US"/>
              <a:pPr eaLnBrk="1" hangingPunct="1">
                <a:spcBef>
                  <a:spcPct val="0"/>
                </a:spcBef>
              </a:pPr>
              <a:t>37</a:t>
            </a:fld>
            <a:endParaRPr lang="en-US" altLang="en-US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33CB98D2-A166-4DE5-B35F-68E3D1982E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9A2E6C43-318E-47E3-A479-22555633B5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BF351A1B-B269-4E94-BAFE-777FCE2D5B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B2A7DE0-9E77-4E37-AF84-762C5D52E7B0}" type="slidenum">
              <a:rPr lang="en-US" altLang="en-US"/>
              <a:pPr eaLnBrk="1" hangingPunct="1">
                <a:spcBef>
                  <a:spcPct val="0"/>
                </a:spcBef>
              </a:pPr>
              <a:t>39</a:t>
            </a:fld>
            <a:endParaRPr lang="en-US" altLang="en-US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B64E28F9-9506-4069-8C55-6A6C4C2462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06BD448C-E994-49FD-8186-FEC9B3FB35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D9726-394B-4F3A-B256-6ABF7D96F894}" type="datetimeFigureOut">
              <a:rPr lang="en-BW" smtClean="0"/>
              <a:t>01/11/2023</a:t>
            </a:fld>
            <a:endParaRPr lang="en-B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83034D0A-F57B-4502-8E2D-E55264234E28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1481668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D9726-394B-4F3A-B256-6ABF7D96F894}" type="datetimeFigureOut">
              <a:rPr lang="en-BW" smtClean="0"/>
              <a:t>01/11/2023</a:t>
            </a:fld>
            <a:endParaRPr lang="en-B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34D0A-F57B-4502-8E2D-E55264234E28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2636038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FC7D9726-394B-4F3A-B256-6ABF7D96F894}" type="datetimeFigureOut">
              <a:rPr lang="en-BW" smtClean="0"/>
              <a:t>01/11/2023</a:t>
            </a:fld>
            <a:endParaRPr lang="en-B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BW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83034D0A-F57B-4502-8E2D-E55264234E28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482494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D9726-394B-4F3A-B256-6ABF7D96F894}" type="datetimeFigureOut">
              <a:rPr lang="en-BW" smtClean="0"/>
              <a:t>01/11/2023</a:t>
            </a:fld>
            <a:endParaRPr lang="en-B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34D0A-F57B-4502-8E2D-E55264234E28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100732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D9726-394B-4F3A-B256-6ABF7D96F894}" type="datetimeFigureOut">
              <a:rPr lang="en-BW" smtClean="0"/>
              <a:t>01/11/2023</a:t>
            </a:fld>
            <a:endParaRPr lang="en-B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34D0A-F57B-4502-8E2D-E55264234E28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3515382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D9726-394B-4F3A-B256-6ABF7D96F894}" type="datetimeFigureOut">
              <a:rPr lang="en-BW" smtClean="0"/>
              <a:t>01/11/2023</a:t>
            </a:fld>
            <a:endParaRPr lang="en-B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W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34D0A-F57B-4502-8E2D-E55264234E28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2030960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D9726-394B-4F3A-B256-6ABF7D96F894}" type="datetimeFigureOut">
              <a:rPr lang="en-BW" smtClean="0"/>
              <a:t>01/11/2023</a:t>
            </a:fld>
            <a:endParaRPr lang="en-B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34D0A-F57B-4502-8E2D-E55264234E28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2738661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D9726-394B-4F3A-B256-6ABF7D96F894}" type="datetimeFigureOut">
              <a:rPr lang="en-BW" smtClean="0"/>
              <a:t>01/11/2023</a:t>
            </a:fld>
            <a:endParaRPr lang="en-B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W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34D0A-F57B-4502-8E2D-E55264234E28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4013594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D9726-394B-4F3A-B256-6ABF7D96F894}" type="datetimeFigureOut">
              <a:rPr lang="en-BW" smtClean="0"/>
              <a:t>01/11/2023</a:t>
            </a:fld>
            <a:endParaRPr lang="en-BW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34D0A-F57B-4502-8E2D-E55264234E28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3327532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D9726-394B-4F3A-B256-6ABF7D96F894}" type="datetimeFigureOut">
              <a:rPr lang="en-BW" smtClean="0"/>
              <a:t>01/11/2023</a:t>
            </a:fld>
            <a:endParaRPr lang="en-B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34D0A-F57B-4502-8E2D-E55264234E28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3621249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D9726-394B-4F3A-B256-6ABF7D96F894}" type="datetimeFigureOut">
              <a:rPr lang="en-BW" smtClean="0"/>
              <a:t>01/11/2023</a:t>
            </a:fld>
            <a:endParaRPr lang="en-B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34D0A-F57B-4502-8E2D-E55264234E28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13893070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944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219200"/>
            <a:ext cx="5384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219200"/>
            <a:ext cx="53848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733800"/>
            <a:ext cx="53848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BBE5B5D-6442-4D44-A47C-D1ADA68690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1BD107-D7F6-4332-AFAD-BAF411671969}" type="datetime1">
              <a:rPr lang="en-US"/>
              <a:pPr>
                <a:defRPr/>
              </a:pPr>
              <a:t>11/1/2023</a:t>
            </a:fld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54A2A46-59CD-46AA-B9D6-82F46326DE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D7DB617-C17D-4352-8AA0-F8F0B02C1B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813FB8-CAE5-43E3-9811-77B72E84E3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99397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944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219200"/>
            <a:ext cx="5384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19200"/>
            <a:ext cx="5384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EA00CA-886E-4CFF-A07F-FB5DB2E56A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5E7CB9-BF1E-4532-A030-E8D1F4AF49AE}" type="datetime1">
              <a:rPr lang="en-US"/>
              <a:pPr>
                <a:defRPr/>
              </a:pPr>
              <a:t>11/1/2023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105AF8-6538-4FE1-9118-D560D6A576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5A7ED3-1762-4D04-A527-D922F20B68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5A5CD7-F2D8-43A9-AF4B-E35F793DCF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53589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944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19200"/>
            <a:ext cx="5384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219200"/>
            <a:ext cx="53848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733800"/>
            <a:ext cx="53848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CACD039-5E12-4D36-B7C8-4D90BFAB2D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805531-7EE3-45D8-9E16-FDC34BED387B}" type="datetime1">
              <a:rPr lang="en-US"/>
              <a:pPr>
                <a:defRPr/>
              </a:pPr>
              <a:t>11/1/2023</a:t>
            </a:fld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3C6CA28-D61E-41AD-A2E2-1468D1A190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B9F9A436-0E9A-4C58-9DC6-AF81C2B7AA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51FFA3-FCE0-41A3-8B1A-D33BA04D11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69160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944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219200"/>
            <a:ext cx="5384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6197600" y="1219200"/>
            <a:ext cx="53848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B68672-121E-4FC6-B146-A6A185A8CA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FBD395-79ED-44BD-88C1-6842AB052B55}" type="datetime1">
              <a:rPr lang="en-US"/>
              <a:pPr>
                <a:defRPr/>
              </a:pPr>
              <a:t>11/1/2023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29AB05-006C-44F2-8680-4ABBB0C122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81CD83-6DBE-430D-87AA-B56AE17A3C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8C230C-309C-4236-B773-127C042ED4F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8934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FC7D9726-394B-4F3A-B256-6ABF7D96F894}" type="datetimeFigureOut">
              <a:rPr lang="en-BW" smtClean="0"/>
              <a:t>01/11/2023</a:t>
            </a:fld>
            <a:endParaRPr lang="en-B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BW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7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8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83034D0A-F57B-4502-8E2D-E55264234E28}" type="slidenum">
              <a:rPr lang="en-BW" smtClean="0"/>
              <a:t>‹#›</a:t>
            </a:fld>
            <a:endParaRPr lang="en-BW"/>
          </a:p>
        </p:txBody>
      </p:sp>
    </p:spTree>
    <p:extLst>
      <p:ext uri="{BB962C8B-B14F-4D97-AF65-F5344CB8AC3E}">
        <p14:creationId xmlns:p14="http://schemas.microsoft.com/office/powerpoint/2010/main" val="1320840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3" Type="http://schemas.openxmlformats.org/officeDocument/2006/relationships/tags" Target="../tags/tag7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9.jpe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image" Target="../media/image8.wmf"/><Relationship Id="rId5" Type="http://schemas.openxmlformats.org/officeDocument/2006/relationships/tags" Target="../tags/tag9.xml"/><Relationship Id="rId10" Type="http://schemas.openxmlformats.org/officeDocument/2006/relationships/image" Target="../media/image7.wmf"/><Relationship Id="rId4" Type="http://schemas.openxmlformats.org/officeDocument/2006/relationships/tags" Target="../tags/tag8.xml"/><Relationship Id="rId9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gif"/><Relationship Id="rId4" Type="http://schemas.openxmlformats.org/officeDocument/2006/relationships/image" Target="../media/image12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tags" Target="../tags/tag17.xml"/><Relationship Id="rId7" Type="http://schemas.openxmlformats.org/officeDocument/2006/relationships/oleObject" Target="../embeddings/oleObject2.bin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3" Type="http://schemas.openxmlformats.org/officeDocument/2006/relationships/tags" Target="../tags/tag21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17.jpe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image" Target="../media/image16.wmf"/><Relationship Id="rId5" Type="http://schemas.openxmlformats.org/officeDocument/2006/relationships/tags" Target="../tags/tag23.xml"/><Relationship Id="rId10" Type="http://schemas.openxmlformats.org/officeDocument/2006/relationships/image" Target="../media/image15.wmf"/><Relationship Id="rId4" Type="http://schemas.openxmlformats.org/officeDocument/2006/relationships/tags" Target="../tags/tag22.xml"/><Relationship Id="rId9" Type="http://schemas.openxmlformats.org/officeDocument/2006/relationships/oleObject" Target="../embeddings/oleObject3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18" Type="http://schemas.openxmlformats.org/officeDocument/2006/relationships/slideLayout" Target="../slideLayouts/slideLayout12.xml"/><Relationship Id="rId3" Type="http://schemas.openxmlformats.org/officeDocument/2006/relationships/tags" Target="../tags/tag27.xml"/><Relationship Id="rId21" Type="http://schemas.openxmlformats.org/officeDocument/2006/relationships/image" Target="../media/image18.wmf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tags" Target="../tags/tag41.xml"/><Relationship Id="rId2" Type="http://schemas.openxmlformats.org/officeDocument/2006/relationships/tags" Target="../tags/tag26.xml"/><Relationship Id="rId16" Type="http://schemas.openxmlformats.org/officeDocument/2006/relationships/tags" Target="../tags/tag40.xml"/><Relationship Id="rId20" Type="http://schemas.openxmlformats.org/officeDocument/2006/relationships/oleObject" Target="../embeddings/oleObject4.bin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24" Type="http://schemas.openxmlformats.org/officeDocument/2006/relationships/image" Target="../media/image20.wmf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23" Type="http://schemas.openxmlformats.org/officeDocument/2006/relationships/image" Target="../media/image19.wmf"/><Relationship Id="rId10" Type="http://schemas.openxmlformats.org/officeDocument/2006/relationships/tags" Target="../tags/tag34.xml"/><Relationship Id="rId19" Type="http://schemas.openxmlformats.org/officeDocument/2006/relationships/notesSlide" Target="../notesSlides/notesSlide6.xml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Relationship Id="rId22" Type="http://schemas.openxmlformats.org/officeDocument/2006/relationships/oleObject" Target="../embeddings/oleObject5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tags" Target="../tags/tag45.xml"/><Relationship Id="rId7" Type="http://schemas.openxmlformats.org/officeDocument/2006/relationships/notesSlide" Target="../notesSlides/notesSlide7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47.xml"/><Relationship Id="rId10" Type="http://schemas.openxmlformats.org/officeDocument/2006/relationships/image" Target="../media/image24.wmf"/><Relationship Id="rId4" Type="http://schemas.openxmlformats.org/officeDocument/2006/relationships/tags" Target="../tags/tag46.xml"/><Relationship Id="rId9" Type="http://schemas.openxmlformats.org/officeDocument/2006/relationships/image" Target="../media/image23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tags" Target="../tags/tag50.xml"/><Relationship Id="rId7" Type="http://schemas.openxmlformats.org/officeDocument/2006/relationships/notesSlide" Target="../notesSlides/notesSlide8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52.xml"/><Relationship Id="rId10" Type="http://schemas.openxmlformats.org/officeDocument/2006/relationships/image" Target="../media/image26.wmf"/><Relationship Id="rId4" Type="http://schemas.openxmlformats.org/officeDocument/2006/relationships/tags" Target="../tags/tag51.xml"/><Relationship Id="rId9" Type="http://schemas.openxmlformats.org/officeDocument/2006/relationships/oleObject" Target="../embeddings/oleObject7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5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54.xml"/><Relationship Id="rId5" Type="http://schemas.openxmlformats.org/officeDocument/2006/relationships/image" Target="../media/image29.wmf"/><Relationship Id="rId4" Type="http://schemas.openxmlformats.org/officeDocument/2006/relationships/oleObject" Target="../embeddings/oleObject8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tags" Target="../tags/tag57.xml"/><Relationship Id="rId7" Type="http://schemas.openxmlformats.org/officeDocument/2006/relationships/notesSlide" Target="../notesSlides/notesSlide9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9.xml"/><Relationship Id="rId10" Type="http://schemas.openxmlformats.org/officeDocument/2006/relationships/image" Target="../media/image31.wmf"/><Relationship Id="rId4" Type="http://schemas.openxmlformats.org/officeDocument/2006/relationships/tags" Target="../tags/tag58.xml"/><Relationship Id="rId9" Type="http://schemas.openxmlformats.org/officeDocument/2006/relationships/oleObject" Target="../embeddings/oleObject9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wmf"/><Relationship Id="rId4" Type="http://schemas.openxmlformats.org/officeDocument/2006/relationships/oleObject" Target="../embeddings/oleObject11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7" Type="http://schemas.openxmlformats.org/officeDocument/2006/relationships/notesSlide" Target="../notesSlides/notesSlide13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75.xml"/><Relationship Id="rId4" Type="http://schemas.openxmlformats.org/officeDocument/2006/relationships/tags" Target="../tags/tag7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image" Target="../media/image4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wm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Wi-Fi">
            <a:extLst>
              <a:ext uri="{FF2B5EF4-FFF2-40B4-BE49-F238E27FC236}">
                <a16:creationId xmlns:a16="http://schemas.microsoft.com/office/drawing/2014/main" id="{F0F85C53-68DD-4153-ADE8-110D3C735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1239" y="1525536"/>
            <a:ext cx="3775459" cy="37754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AEB384-B866-40CC-8C15-3DDE312C6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75961" y="962526"/>
            <a:ext cx="5384800" cy="3210689"/>
          </a:xfrm>
        </p:spPr>
        <p:txBody>
          <a:bodyPr anchor="b">
            <a:normAutofit/>
          </a:bodyPr>
          <a:lstStyle/>
          <a:p>
            <a:pPr algn="l"/>
            <a:r>
              <a:rPr lang="en-GB" sz="7200"/>
              <a:t>SIGNAL PROCESSING </a:t>
            </a:r>
            <a:endParaRPr lang="en-BW" sz="72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86B679-A88E-4DE8-8C05-0B6A98A57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961" y="4269462"/>
            <a:ext cx="4048760" cy="1095017"/>
          </a:xfrm>
        </p:spPr>
        <p:txBody>
          <a:bodyPr anchor="t">
            <a:normAutofit/>
          </a:bodyPr>
          <a:lstStyle/>
          <a:p>
            <a:pPr algn="l"/>
            <a:r>
              <a:rPr lang="en-GB" sz="2000"/>
              <a:t>ANALOG SIGNAL PROCESSING </a:t>
            </a:r>
          </a:p>
          <a:p>
            <a:pPr algn="l"/>
            <a:r>
              <a:rPr lang="en-GB" sz="2000"/>
              <a:t>DIGITAL SIGNAL PROCESSING </a:t>
            </a:r>
            <a:endParaRPr lang="en-BW" sz="2000"/>
          </a:p>
        </p:txBody>
      </p:sp>
    </p:spTree>
    <p:extLst>
      <p:ext uri="{BB962C8B-B14F-4D97-AF65-F5344CB8AC3E}">
        <p14:creationId xmlns:p14="http://schemas.microsoft.com/office/powerpoint/2010/main" val="2689238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2A7DA5F9-C3D9-47EF-92F3-D5585FDC2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W" altLang="en-BW" b="1" dirty="0">
                <a:latin typeface="Trebuchet MS" panose="020B0603020202020204" pitchFamily="34" charset="0"/>
                <a:ea typeface="Trebuchet MS" panose="020B0603020202020204" pitchFamily="34" charset="0"/>
                <a:cs typeface="Trebuchet MS" panose="020B0603020202020204" pitchFamily="34" charset="0"/>
              </a:rPr>
              <a:t>Signal processing</a:t>
            </a:r>
            <a:br>
              <a:rPr lang="en-BW" altLang="en-BW" dirty="0">
                <a:latin typeface="Trebuchet MS" panose="020B0603020202020204" pitchFamily="34" charset="0"/>
                <a:ea typeface="Trebuchet MS" panose="020B0603020202020204" pitchFamily="34" charset="0"/>
                <a:cs typeface="Trebuchet MS" panose="020B0603020202020204" pitchFamily="34" charset="0"/>
              </a:rPr>
            </a:br>
            <a:endParaRPr lang="en-BW" altLang="en-BW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78B0E29-41D3-4447-B569-9CE40D08F97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-1571626" y="1333501"/>
            <a:ext cx="13446177" cy="2648033"/>
          </a:xfrm>
        </p:spPr>
        <p:txBody>
          <a:bodyPr vert="horz" wrap="square" lIns="0" tIns="13335" rIns="0" bIns="0" rtlCol="0">
            <a:spAutoFit/>
          </a:bodyPr>
          <a:lstStyle/>
          <a:p>
            <a:pPr marL="2859088"/>
            <a:endParaRPr lang="en-BW" altLang="en-B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9088">
              <a:buFont typeface="Wingdings" panose="05000000000000000000" pitchFamily="2" charset="2"/>
              <a:buChar char=""/>
            </a:pPr>
            <a:r>
              <a:rPr lang="en-BW" altLang="en-BW" sz="2400" dirty="0">
                <a:cs typeface="Arial" panose="020B0604020202020204" pitchFamily="34" charset="0"/>
              </a:rPr>
              <a:t>Signal processing is concerned with improving the quality of  the reading or signal at the output of a measurement system,  and one particular aim is to attenuate any noise in the  measurement signal that has not been eliminated by careful design of the measurement system</a:t>
            </a:r>
          </a:p>
          <a:p>
            <a:pPr marL="2859088">
              <a:spcBef>
                <a:spcPts val="575"/>
              </a:spcBef>
              <a:buFont typeface="Wingdings" panose="05000000000000000000" pitchFamily="2" charset="2"/>
              <a:buChar char=""/>
            </a:pPr>
            <a:r>
              <a:rPr lang="en-BW" altLang="en-BW" sz="2400" dirty="0">
                <a:cs typeface="Arial" panose="020B0604020202020204" pitchFamily="34" charset="0"/>
              </a:rPr>
              <a:t>Analog signal processing</a:t>
            </a:r>
          </a:p>
          <a:p>
            <a:pPr marL="2859088">
              <a:spcBef>
                <a:spcPts val="575"/>
              </a:spcBef>
              <a:buFont typeface="Wingdings" panose="05000000000000000000" pitchFamily="2" charset="2"/>
              <a:buChar char=""/>
            </a:pPr>
            <a:r>
              <a:rPr lang="en-BW" altLang="en-BW" sz="2400" dirty="0">
                <a:cs typeface="Arial" panose="020B0604020202020204" pitchFamily="34" charset="0"/>
              </a:rPr>
              <a:t>Digital signal processing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796A2-FF58-4FEC-9752-CD2631C1B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652D08-3400-4AE4-B216-94CD28797F8D}" type="datetime1">
              <a:rPr lang="en-US" smtClean="0"/>
              <a:pPr>
                <a:defRPr/>
              </a:pPr>
              <a:t>11/1/2023</a:t>
            </a:fld>
            <a:endParaRPr lang="en-US"/>
          </a:p>
        </p:txBody>
      </p:sp>
      <p:sp>
        <p:nvSpPr>
          <p:cNvPr id="18436" name="Slide Number Placeholder 4">
            <a:extLst>
              <a:ext uri="{FF2B5EF4-FFF2-40B4-BE49-F238E27FC236}">
                <a16:creationId xmlns:a16="http://schemas.microsoft.com/office/drawing/2014/main" id="{D2D33AF7-1823-490B-A937-F0D2CFA86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AE8EF25-AF38-40CC-B09D-67FB0827F9EC}" type="slidenum">
              <a:rPr lang="en-US" altLang="en-US"/>
              <a:pPr/>
              <a:t>2</a:t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E4E40151-1566-4A3F-975C-2E7672D8F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spc="15" dirty="0">
                <a:latin typeface="Trebuchet MS"/>
                <a:cs typeface="Trebuchet MS"/>
              </a:rPr>
              <a:t>Signal</a:t>
            </a:r>
            <a:r>
              <a:rPr lang="en-GB" b="1" spc="-240" dirty="0">
                <a:latin typeface="Trebuchet MS"/>
                <a:cs typeface="Trebuchet MS"/>
              </a:rPr>
              <a:t> </a:t>
            </a:r>
            <a:r>
              <a:rPr lang="en-GB" b="1" spc="10" dirty="0">
                <a:latin typeface="Trebuchet MS"/>
                <a:cs typeface="Trebuchet MS"/>
              </a:rPr>
              <a:t>processing</a:t>
            </a:r>
            <a:br>
              <a:rPr lang="en-GB" dirty="0">
                <a:latin typeface="Trebuchet MS"/>
                <a:cs typeface="Trebuchet MS"/>
              </a:rPr>
            </a:br>
            <a:endParaRPr lang="en-BW" altLang="en-BW" dirty="0"/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DA6BEA9B-AB57-46C8-ABAE-45B38DBF2B7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524000" y="1787525"/>
            <a:ext cx="3797508" cy="2708434"/>
          </a:xfrm>
        </p:spPr>
        <p:txBody>
          <a:bodyPr vert="horz" wrap="square" lIns="0" tIns="12700" rIns="0" bIns="0" rtlCol="0">
            <a:spAutoFit/>
          </a:bodyPr>
          <a:lstStyle/>
          <a:p>
            <a:pPr marL="349885">
              <a:lnSpc>
                <a:spcPts val="1485"/>
              </a:lnSpc>
              <a:defRPr/>
            </a:pPr>
            <a:r>
              <a:rPr sz="2000" b="1" spc="10" dirty="0">
                <a:cs typeface="Trebuchet MS"/>
              </a:rPr>
              <a:t>Analog </a:t>
            </a:r>
            <a:r>
              <a:rPr sz="2000" b="1" spc="5" dirty="0">
                <a:cs typeface="Trebuchet MS"/>
              </a:rPr>
              <a:t>Signal</a:t>
            </a:r>
            <a:r>
              <a:rPr sz="2000" b="1" spc="-275" dirty="0">
                <a:cs typeface="Trebuchet MS"/>
              </a:rPr>
              <a:t> </a:t>
            </a:r>
            <a:r>
              <a:rPr sz="2000" b="1" spc="5" dirty="0">
                <a:cs typeface="Trebuchet MS"/>
              </a:rPr>
              <a:t>Processing</a:t>
            </a:r>
            <a:endParaRPr sz="2000" dirty="0">
              <a:cs typeface="Trebuchet MS"/>
            </a:endParaRPr>
          </a:p>
          <a:p>
            <a:pPr marL="102235" indent="-89535">
              <a:spcBef>
                <a:spcPts val="780"/>
              </a:spcBef>
              <a:buFont typeface="Wingdings"/>
              <a:buChar char=""/>
              <a:tabLst>
                <a:tab pos="102870" algn="l"/>
              </a:tabLst>
              <a:defRPr/>
            </a:pPr>
            <a:r>
              <a:rPr sz="2000" spc="-5" dirty="0">
                <a:cs typeface="Arial"/>
              </a:rPr>
              <a:t>Signal</a:t>
            </a:r>
            <a:r>
              <a:rPr sz="2000" spc="-20" dirty="0">
                <a:cs typeface="Arial"/>
              </a:rPr>
              <a:t> </a:t>
            </a:r>
            <a:r>
              <a:rPr sz="2000" spc="-5" dirty="0">
                <a:cs typeface="Arial"/>
              </a:rPr>
              <a:t>Integration</a:t>
            </a:r>
            <a:endParaRPr sz="2000" dirty="0">
              <a:cs typeface="Arial"/>
            </a:endParaRPr>
          </a:p>
          <a:p>
            <a:pPr marL="102235" indent="-89535">
              <a:spcBef>
                <a:spcPts val="575"/>
              </a:spcBef>
              <a:buFont typeface="Wingdings"/>
              <a:buChar char=""/>
              <a:tabLst>
                <a:tab pos="102870" algn="l"/>
              </a:tabLst>
              <a:defRPr/>
            </a:pPr>
            <a:r>
              <a:rPr sz="2000" spc="-5" dirty="0">
                <a:cs typeface="Arial"/>
              </a:rPr>
              <a:t>Voltage follower</a:t>
            </a:r>
            <a:r>
              <a:rPr sz="2000" spc="-40" dirty="0">
                <a:cs typeface="Arial"/>
              </a:rPr>
              <a:t> </a:t>
            </a:r>
            <a:r>
              <a:rPr sz="2000" dirty="0">
                <a:cs typeface="Arial"/>
              </a:rPr>
              <a:t>(pre-amplifier)</a:t>
            </a:r>
          </a:p>
          <a:p>
            <a:pPr marL="102235" indent="-89535">
              <a:spcBef>
                <a:spcPts val="580"/>
              </a:spcBef>
              <a:buFont typeface="Wingdings"/>
              <a:buChar char=""/>
              <a:tabLst>
                <a:tab pos="102870" algn="l"/>
              </a:tabLst>
              <a:defRPr/>
            </a:pPr>
            <a:r>
              <a:rPr sz="2000" spc="-5" dirty="0">
                <a:cs typeface="Arial"/>
              </a:rPr>
              <a:t>Voltage</a:t>
            </a:r>
            <a:r>
              <a:rPr sz="2000" spc="-25" dirty="0">
                <a:cs typeface="Arial"/>
              </a:rPr>
              <a:t> </a:t>
            </a:r>
            <a:r>
              <a:rPr sz="2000" dirty="0">
                <a:cs typeface="Arial"/>
              </a:rPr>
              <a:t>comparator</a:t>
            </a:r>
          </a:p>
          <a:p>
            <a:pPr marL="102235" indent="-89535">
              <a:spcBef>
                <a:spcPts val="575"/>
              </a:spcBef>
              <a:buFont typeface="Wingdings"/>
              <a:buChar char=""/>
              <a:tabLst>
                <a:tab pos="102870" algn="l"/>
              </a:tabLst>
              <a:defRPr/>
            </a:pPr>
            <a:r>
              <a:rPr sz="2000" spc="-5" dirty="0">
                <a:cs typeface="Arial"/>
              </a:rPr>
              <a:t>Phase-sensitive</a:t>
            </a:r>
            <a:r>
              <a:rPr sz="2000" spc="-25" dirty="0">
                <a:cs typeface="Arial"/>
              </a:rPr>
              <a:t> </a:t>
            </a:r>
            <a:r>
              <a:rPr sz="2000" dirty="0">
                <a:cs typeface="Arial"/>
              </a:rPr>
              <a:t>detector</a:t>
            </a:r>
          </a:p>
          <a:p>
            <a:pPr marL="102235" indent="-89535">
              <a:spcBef>
                <a:spcPts val="575"/>
              </a:spcBef>
              <a:buFont typeface="Wingdings"/>
              <a:buChar char=""/>
              <a:tabLst>
                <a:tab pos="102870" algn="l"/>
              </a:tabLst>
              <a:defRPr/>
            </a:pPr>
            <a:r>
              <a:rPr sz="2000" spc="-5" dirty="0">
                <a:cs typeface="Arial"/>
              </a:rPr>
              <a:t>Lock-in</a:t>
            </a:r>
            <a:r>
              <a:rPr sz="2000" spc="-15" dirty="0">
                <a:cs typeface="Arial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amplifier</a:t>
            </a:r>
          </a:p>
          <a:p>
            <a:pPr marL="102235" indent="-89535">
              <a:spcBef>
                <a:spcPts val="575"/>
              </a:spcBef>
              <a:buFont typeface="Wingdings"/>
              <a:buChar char=""/>
              <a:tabLst>
                <a:tab pos="102870" algn="l"/>
              </a:tabLst>
              <a:defRPr/>
            </a:pPr>
            <a:r>
              <a:rPr sz="2000" spc="-5" dirty="0">
                <a:cs typeface="Arial"/>
              </a:rPr>
              <a:t>Signal</a:t>
            </a:r>
            <a:r>
              <a:rPr sz="2000" spc="-20" dirty="0">
                <a:cs typeface="Arial"/>
              </a:rPr>
              <a:t> </a:t>
            </a:r>
            <a:r>
              <a:rPr sz="2000" spc="-5" dirty="0">
                <a:cs typeface="Arial"/>
              </a:rPr>
              <a:t>addition</a:t>
            </a:r>
            <a:endParaRPr sz="2000" dirty="0">
              <a:cs typeface="Arial"/>
            </a:endParaRPr>
          </a:p>
          <a:p>
            <a:pPr marL="102235" indent="-89535">
              <a:spcBef>
                <a:spcPts val="580"/>
              </a:spcBef>
              <a:buFont typeface="Wingdings"/>
              <a:buChar char=""/>
              <a:tabLst>
                <a:tab pos="102870" algn="l"/>
              </a:tabLst>
              <a:defRPr/>
            </a:pPr>
            <a:r>
              <a:rPr sz="2000" spc="-5" dirty="0">
                <a:cs typeface="Arial"/>
              </a:rPr>
              <a:t>Signal</a:t>
            </a:r>
            <a:r>
              <a:rPr sz="2000" spc="-20" dirty="0">
                <a:cs typeface="Arial"/>
              </a:rPr>
              <a:t> </a:t>
            </a:r>
            <a:r>
              <a:rPr sz="2000" dirty="0">
                <a:cs typeface="Arial"/>
              </a:rPr>
              <a:t>multiplication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59D99-8DCA-418B-8CB1-48E4F29FF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652D08-3400-4AE4-B216-94CD28797F8D}" type="datetime1">
              <a:rPr lang="en-US" smtClean="0"/>
              <a:pPr>
                <a:defRPr/>
              </a:pPr>
              <a:t>11/1/2023</a:t>
            </a:fld>
            <a:endParaRPr lang="en-US"/>
          </a:p>
        </p:txBody>
      </p:sp>
      <p:sp>
        <p:nvSpPr>
          <p:cNvPr id="19460" name="Slide Number Placeholder 4">
            <a:extLst>
              <a:ext uri="{FF2B5EF4-FFF2-40B4-BE49-F238E27FC236}">
                <a16:creationId xmlns:a16="http://schemas.microsoft.com/office/drawing/2014/main" id="{285F61E8-9AEC-498E-9228-5D54817AB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C53785C-C568-4CDA-A00F-A78BA8206559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AACDECF1-04C9-4DDC-BDE1-8458875FE06C}"/>
              </a:ext>
            </a:extLst>
          </p:cNvPr>
          <p:cNvSpPr txBox="1"/>
          <p:nvPr/>
        </p:nvSpPr>
        <p:spPr>
          <a:xfrm>
            <a:off x="6096000" y="1388823"/>
            <a:ext cx="3200400" cy="3465692"/>
          </a:xfrm>
          <a:prstGeom prst="rect">
            <a:avLst/>
          </a:prstGeom>
        </p:spPr>
        <p:txBody>
          <a:bodyPr lIns="0" tIns="92075" rIns="0" bIns="0">
            <a:spAutoFit/>
          </a:bodyPr>
          <a:lstStyle/>
          <a:p>
            <a:pPr marL="12700">
              <a:spcBef>
                <a:spcPts val="725"/>
              </a:spcBef>
              <a:tabLst>
                <a:tab pos="102870" algn="l"/>
              </a:tabLst>
              <a:defRPr/>
            </a:pPr>
            <a:endParaRPr lang="en-GB" sz="2000" spc="-5" dirty="0">
              <a:latin typeface="Arial"/>
              <a:cs typeface="Arial"/>
            </a:endParaRPr>
          </a:p>
          <a:p>
            <a:pPr marL="12700">
              <a:spcBef>
                <a:spcPts val="725"/>
              </a:spcBef>
              <a:tabLst>
                <a:tab pos="102870" algn="l"/>
              </a:tabLst>
              <a:defRPr/>
            </a:pPr>
            <a:r>
              <a:rPr sz="2000" spc="-5" dirty="0">
                <a:latin typeface="Arial"/>
                <a:cs typeface="Arial"/>
              </a:rPr>
              <a:t>Filters</a:t>
            </a:r>
            <a:endParaRPr sz="2000" dirty="0">
              <a:latin typeface="Arial"/>
              <a:cs typeface="Arial"/>
            </a:endParaRPr>
          </a:p>
          <a:p>
            <a:pPr marL="234950" lvl="1" indent="-130810">
              <a:spcBef>
                <a:spcPts val="585"/>
              </a:spcBef>
              <a:buFontTx/>
              <a:buChar char="–"/>
              <a:tabLst>
                <a:tab pos="235585" algn="l"/>
              </a:tabLst>
              <a:defRPr/>
            </a:pPr>
            <a:r>
              <a:rPr sz="2000" spc="-5" dirty="0">
                <a:latin typeface="Arial"/>
                <a:cs typeface="Arial"/>
              </a:rPr>
              <a:t>Passive</a:t>
            </a:r>
            <a:endParaRPr sz="2000" dirty="0">
              <a:latin typeface="Arial"/>
              <a:cs typeface="Arial"/>
            </a:endParaRPr>
          </a:p>
          <a:p>
            <a:pPr marL="234950" lvl="1" indent="-130810">
              <a:spcBef>
                <a:spcPts val="525"/>
              </a:spcBef>
              <a:buFontTx/>
              <a:buChar char="–"/>
              <a:tabLst>
                <a:tab pos="235585" algn="l"/>
              </a:tabLst>
              <a:defRPr/>
            </a:pPr>
            <a:r>
              <a:rPr sz="2000" spc="-5" dirty="0">
                <a:latin typeface="Arial"/>
                <a:cs typeface="Arial"/>
              </a:rPr>
              <a:t>Active</a:t>
            </a:r>
            <a:endParaRPr sz="2000" dirty="0">
              <a:latin typeface="Arial"/>
              <a:cs typeface="Arial"/>
            </a:endParaRPr>
          </a:p>
          <a:p>
            <a:pPr marL="102235" indent="-89535">
              <a:spcBef>
                <a:spcPts val="525"/>
              </a:spcBef>
              <a:buFont typeface="Wingdings"/>
              <a:buChar char=""/>
              <a:tabLst>
                <a:tab pos="102870" algn="l"/>
              </a:tabLst>
              <a:defRPr/>
            </a:pPr>
            <a:r>
              <a:rPr sz="2000" spc="-5" dirty="0">
                <a:latin typeface="Arial"/>
                <a:cs typeface="Arial"/>
              </a:rPr>
              <a:t>Signal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amplification</a:t>
            </a:r>
          </a:p>
          <a:p>
            <a:pPr marL="102235" indent="-89535">
              <a:spcBef>
                <a:spcPts val="575"/>
              </a:spcBef>
              <a:buFont typeface="Wingdings"/>
              <a:buChar char=""/>
              <a:tabLst>
                <a:tab pos="102870" algn="l"/>
              </a:tabLst>
              <a:defRPr/>
            </a:pPr>
            <a:r>
              <a:rPr sz="2000" spc="-5" dirty="0">
                <a:latin typeface="Arial"/>
                <a:cs typeface="Arial"/>
              </a:rPr>
              <a:t>Signal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attenuation</a:t>
            </a:r>
            <a:endParaRPr sz="2000" dirty="0">
              <a:latin typeface="Arial"/>
              <a:cs typeface="Arial"/>
            </a:endParaRPr>
          </a:p>
          <a:p>
            <a:pPr marL="102235" indent="-89535">
              <a:spcBef>
                <a:spcPts val="580"/>
              </a:spcBef>
              <a:buFont typeface="Wingdings"/>
              <a:buChar char=""/>
              <a:tabLst>
                <a:tab pos="102870" algn="l"/>
              </a:tabLst>
              <a:defRPr/>
            </a:pPr>
            <a:r>
              <a:rPr sz="2000" dirty="0">
                <a:latin typeface="Arial"/>
                <a:cs typeface="Arial"/>
              </a:rPr>
              <a:t>Differential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amplification</a:t>
            </a:r>
          </a:p>
          <a:p>
            <a:pPr marL="102235" indent="-89535">
              <a:spcBef>
                <a:spcPts val="575"/>
              </a:spcBef>
              <a:buFont typeface="Wingdings"/>
              <a:buChar char=""/>
              <a:tabLst>
                <a:tab pos="102870" algn="l"/>
              </a:tabLst>
              <a:defRPr/>
            </a:pPr>
            <a:r>
              <a:rPr sz="2000" spc="-5" dirty="0">
                <a:latin typeface="Arial"/>
                <a:cs typeface="Arial"/>
              </a:rPr>
              <a:t>Signal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linearization</a:t>
            </a:r>
            <a:endParaRPr sz="2000" dirty="0">
              <a:latin typeface="Arial"/>
              <a:cs typeface="Arial"/>
            </a:endParaRPr>
          </a:p>
          <a:p>
            <a:pPr marL="102235" indent="-89535">
              <a:spcBef>
                <a:spcPts val="575"/>
              </a:spcBef>
              <a:buFont typeface="Wingdings"/>
              <a:buChar char=""/>
              <a:tabLst>
                <a:tab pos="102870" algn="l"/>
              </a:tabLst>
              <a:defRPr/>
            </a:pPr>
            <a:r>
              <a:rPr sz="2000" spc="-5" dirty="0">
                <a:latin typeface="Arial"/>
                <a:cs typeface="Arial"/>
              </a:rPr>
              <a:t>Bias (zero </a:t>
            </a:r>
            <a:r>
              <a:rPr sz="2000" dirty="0">
                <a:latin typeface="Arial"/>
                <a:cs typeface="Arial"/>
              </a:rPr>
              <a:t>drift)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removal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8EEACC55-A7C1-47FE-94BB-02F278D0F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spc="15" dirty="0">
                <a:latin typeface="Trebuchet MS"/>
                <a:cs typeface="Trebuchet MS"/>
              </a:rPr>
              <a:t>Signal</a:t>
            </a:r>
            <a:r>
              <a:rPr lang="en-GB" b="1" spc="-240" dirty="0">
                <a:latin typeface="Trebuchet MS"/>
                <a:cs typeface="Trebuchet MS"/>
              </a:rPr>
              <a:t> </a:t>
            </a:r>
            <a:r>
              <a:rPr lang="en-GB" b="1" spc="10" dirty="0">
                <a:latin typeface="Trebuchet MS"/>
                <a:cs typeface="Trebuchet MS"/>
              </a:rPr>
              <a:t>processing</a:t>
            </a:r>
            <a:br>
              <a:rPr lang="en-GB" dirty="0">
                <a:latin typeface="Trebuchet MS"/>
                <a:cs typeface="Trebuchet MS"/>
              </a:rPr>
            </a:br>
            <a:endParaRPr lang="en-BW" altLang="en-BW" dirty="0"/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A36B7A27-DB25-4BF7-826D-702452A78F7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981200" y="1219201"/>
            <a:ext cx="8229600" cy="3096873"/>
          </a:xfrm>
        </p:spPr>
        <p:txBody>
          <a:bodyPr vert="horz" lIns="0" tIns="13335" rIns="0" bIns="0" rtlCol="0">
            <a:spAutoFit/>
          </a:bodyPr>
          <a:lstStyle/>
          <a:p>
            <a:pPr marL="2092960" indent="0">
              <a:lnSpc>
                <a:spcPts val="1485"/>
              </a:lnSpc>
              <a:buNone/>
              <a:defRPr/>
            </a:pPr>
            <a:r>
              <a:rPr sz="2400" b="1" spc="10" dirty="0">
                <a:latin typeface="Trebuchet MS"/>
                <a:cs typeface="Trebuchet MS"/>
              </a:rPr>
              <a:t>Digital </a:t>
            </a:r>
            <a:r>
              <a:rPr sz="2400" b="1" spc="15" dirty="0">
                <a:latin typeface="Trebuchet MS"/>
                <a:cs typeface="Trebuchet MS"/>
              </a:rPr>
              <a:t>signal</a:t>
            </a:r>
            <a:r>
              <a:rPr sz="2400" b="1" spc="-26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processing</a:t>
            </a:r>
            <a:endParaRPr sz="2400" dirty="0">
              <a:latin typeface="Trebuchet MS"/>
              <a:cs typeface="Trebuchet MS"/>
            </a:endParaRPr>
          </a:p>
          <a:p>
            <a:pPr marL="102235" indent="-89535">
              <a:spcBef>
                <a:spcPts val="775"/>
              </a:spcBef>
              <a:buFont typeface="Wingdings"/>
              <a:buChar char=""/>
              <a:tabLst>
                <a:tab pos="102870" algn="l"/>
              </a:tabLst>
              <a:defRPr/>
            </a:pPr>
            <a:r>
              <a:rPr sz="2400" spc="-5" dirty="0">
                <a:cs typeface="Arial"/>
              </a:rPr>
              <a:t>Signal</a:t>
            </a:r>
            <a:r>
              <a:rPr sz="2400" spc="-20" dirty="0">
                <a:cs typeface="Arial"/>
              </a:rPr>
              <a:t> </a:t>
            </a:r>
            <a:r>
              <a:rPr sz="2400" spc="-5" dirty="0">
                <a:cs typeface="Arial"/>
              </a:rPr>
              <a:t>Integration</a:t>
            </a:r>
            <a:endParaRPr sz="2400" dirty="0">
              <a:cs typeface="Arial"/>
            </a:endParaRPr>
          </a:p>
          <a:p>
            <a:pPr marL="102235" indent="-89535">
              <a:spcBef>
                <a:spcPts val="575"/>
              </a:spcBef>
              <a:buFont typeface="Wingdings"/>
              <a:buChar char=""/>
              <a:tabLst>
                <a:tab pos="102870" algn="l"/>
              </a:tabLst>
              <a:defRPr/>
            </a:pPr>
            <a:r>
              <a:rPr sz="2400" dirty="0">
                <a:cs typeface="Arial"/>
              </a:rPr>
              <a:t>Sample </a:t>
            </a:r>
            <a:r>
              <a:rPr sz="2400" spc="-5" dirty="0">
                <a:cs typeface="Arial"/>
              </a:rPr>
              <a:t>and hold</a:t>
            </a:r>
            <a:r>
              <a:rPr sz="2400" spc="-55" dirty="0">
                <a:cs typeface="Arial"/>
              </a:rPr>
              <a:t> </a:t>
            </a:r>
            <a:r>
              <a:rPr sz="2400" spc="-5" dirty="0">
                <a:cs typeface="Arial"/>
              </a:rPr>
              <a:t>circuit</a:t>
            </a:r>
            <a:endParaRPr sz="2400" dirty="0">
              <a:cs typeface="Arial"/>
            </a:endParaRPr>
          </a:p>
          <a:p>
            <a:pPr marL="102235" indent="-89535">
              <a:spcBef>
                <a:spcPts val="575"/>
              </a:spcBef>
              <a:buFont typeface="Wingdings"/>
              <a:buChar char=""/>
              <a:tabLst>
                <a:tab pos="102870" algn="l"/>
              </a:tabLst>
              <a:defRPr/>
            </a:pPr>
            <a:r>
              <a:rPr sz="2400" spc="-5" dirty="0">
                <a:cs typeface="Arial"/>
              </a:rPr>
              <a:t>Analog-to-digital (A/D)</a:t>
            </a:r>
            <a:r>
              <a:rPr sz="2400" spc="10" dirty="0">
                <a:cs typeface="Arial"/>
              </a:rPr>
              <a:t> </a:t>
            </a:r>
            <a:r>
              <a:rPr sz="2400" spc="-5" dirty="0">
                <a:cs typeface="Arial"/>
              </a:rPr>
              <a:t>conversion</a:t>
            </a:r>
            <a:endParaRPr sz="2400" dirty="0">
              <a:cs typeface="Arial"/>
            </a:endParaRPr>
          </a:p>
          <a:p>
            <a:pPr marL="102235" indent="-89535">
              <a:spcBef>
                <a:spcPts val="580"/>
              </a:spcBef>
              <a:buFont typeface="Wingdings"/>
              <a:buChar char=""/>
              <a:tabLst>
                <a:tab pos="102870" algn="l"/>
              </a:tabLst>
              <a:defRPr/>
            </a:pPr>
            <a:r>
              <a:rPr sz="2400" spc="-5" dirty="0">
                <a:cs typeface="Arial"/>
              </a:rPr>
              <a:t>Digital-to-analog </a:t>
            </a:r>
            <a:r>
              <a:rPr sz="2400" dirty="0">
                <a:cs typeface="Arial"/>
              </a:rPr>
              <a:t>(D/A)</a:t>
            </a:r>
            <a:r>
              <a:rPr sz="2400" spc="-20" dirty="0">
                <a:cs typeface="Arial"/>
              </a:rPr>
              <a:t> </a:t>
            </a:r>
            <a:r>
              <a:rPr sz="2400" spc="-5" dirty="0">
                <a:cs typeface="Arial"/>
              </a:rPr>
              <a:t>conversion</a:t>
            </a:r>
            <a:endParaRPr sz="2400" dirty="0">
              <a:cs typeface="Arial"/>
            </a:endParaRPr>
          </a:p>
          <a:p>
            <a:pPr marL="102235" indent="-89535">
              <a:spcBef>
                <a:spcPts val="575"/>
              </a:spcBef>
              <a:buFont typeface="Wingdings"/>
              <a:buChar char=""/>
              <a:tabLst>
                <a:tab pos="102870" algn="l"/>
              </a:tabLst>
              <a:defRPr/>
            </a:pPr>
            <a:r>
              <a:rPr sz="2400" spc="-5" dirty="0">
                <a:cs typeface="Arial"/>
              </a:rPr>
              <a:t>Digital filtering</a:t>
            </a:r>
            <a:endParaRPr sz="2400" dirty="0">
              <a:cs typeface="Arial"/>
            </a:endParaRPr>
          </a:p>
          <a:p>
            <a:pPr marL="102235" indent="-89535">
              <a:spcBef>
                <a:spcPts val="575"/>
              </a:spcBef>
              <a:buFont typeface="Wingdings"/>
              <a:buChar char=""/>
              <a:tabLst>
                <a:tab pos="102870" algn="l"/>
              </a:tabLst>
              <a:defRPr/>
            </a:pPr>
            <a:r>
              <a:rPr sz="2400" spc="-5" dirty="0">
                <a:cs typeface="Arial"/>
              </a:rPr>
              <a:t>Autocorrelation</a:t>
            </a:r>
            <a:endParaRPr sz="2400" dirty="0">
              <a:cs typeface="Arial"/>
            </a:endParaRPr>
          </a:p>
          <a:p>
            <a:pPr marL="102235" indent="-89535">
              <a:spcBef>
                <a:spcPts val="580"/>
              </a:spcBef>
              <a:buFont typeface="Wingdings"/>
              <a:buChar char=""/>
              <a:tabLst>
                <a:tab pos="102870" algn="l"/>
              </a:tabLst>
              <a:defRPr/>
            </a:pPr>
            <a:r>
              <a:rPr sz="2400" dirty="0">
                <a:cs typeface="Arial"/>
              </a:rPr>
              <a:t>Other </a:t>
            </a:r>
            <a:r>
              <a:rPr sz="2400" spc="-5" dirty="0">
                <a:cs typeface="Arial"/>
              </a:rPr>
              <a:t>digital signal processing</a:t>
            </a:r>
            <a:r>
              <a:rPr sz="2400" spc="-15" dirty="0">
                <a:cs typeface="Arial"/>
              </a:rPr>
              <a:t> </a:t>
            </a:r>
            <a:r>
              <a:rPr sz="2400" dirty="0">
                <a:cs typeface="Arial"/>
              </a:rPr>
              <a:t>operations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4A258-234D-4530-95B8-8CB931D1D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652D08-3400-4AE4-B216-94CD28797F8D}" type="datetime1">
              <a:rPr lang="en-US" smtClean="0"/>
              <a:pPr>
                <a:defRPr/>
              </a:pPr>
              <a:t>11/1/2023</a:t>
            </a:fld>
            <a:endParaRPr lang="en-US"/>
          </a:p>
        </p:txBody>
      </p:sp>
      <p:sp>
        <p:nvSpPr>
          <p:cNvPr id="20484" name="Slide Number Placeholder 4">
            <a:extLst>
              <a:ext uri="{FF2B5EF4-FFF2-40B4-BE49-F238E27FC236}">
                <a16:creationId xmlns:a16="http://schemas.microsoft.com/office/drawing/2014/main" id="{E1CD8330-45ED-4F2F-87A3-5C744032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2759D25-030B-43F3-A6B8-6FA3F8652077}" type="slidenum">
              <a:rPr lang="en-US" altLang="en-US"/>
              <a:pPr/>
              <a:t>4</a:t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>
            <a:extLst>
              <a:ext uri="{FF2B5EF4-FFF2-40B4-BE49-F238E27FC236}">
                <a16:creationId xmlns:a16="http://schemas.microsoft.com/office/drawing/2014/main" id="{9CECCADF-8076-4E46-88BA-C340628D4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7165" y="149225"/>
            <a:ext cx="1446358" cy="707886"/>
          </a:xfrm>
          <a:prstGeom prst="rect">
            <a:avLst/>
          </a:prstGeom>
          <a:solidFill>
            <a:srgbClr val="FFCC00"/>
          </a:solidFill>
          <a:ln w="57150">
            <a:solidFill>
              <a:srgbClr val="66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BW" sz="4000"/>
              <a:t>Filters</a:t>
            </a:r>
          </a:p>
        </p:txBody>
      </p:sp>
      <p:sp>
        <p:nvSpPr>
          <p:cNvPr id="3075" name="Text Box 3">
            <a:extLst>
              <a:ext uri="{FF2B5EF4-FFF2-40B4-BE49-F238E27FC236}">
                <a16:creationId xmlns:a16="http://schemas.microsoft.com/office/drawing/2014/main" id="{B87575C5-F2D5-4D2A-BCAD-D6F3843040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1651" y="1108076"/>
            <a:ext cx="9422388" cy="830997"/>
          </a:xfrm>
          <a:prstGeom prst="rect">
            <a:avLst/>
          </a:prstGeom>
          <a:solidFill>
            <a:srgbClr val="FFFF66"/>
          </a:solidFill>
          <a:ln w="38100">
            <a:solidFill>
              <a:srgbClr val="66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BW" sz="2400" dirty="0"/>
              <a:t>Background; Filtering is commonly used to reject noise outside of </a:t>
            </a:r>
          </a:p>
          <a:p>
            <a:r>
              <a:rPr lang="en-US" altLang="en-BW" sz="2400" dirty="0"/>
              <a:t>predefined frequency range</a:t>
            </a:r>
          </a:p>
        </p:txBody>
      </p:sp>
      <p:sp>
        <p:nvSpPr>
          <p:cNvPr id="3077" name="Text Box 5">
            <a:extLst>
              <a:ext uri="{FF2B5EF4-FFF2-40B4-BE49-F238E27FC236}">
                <a16:creationId xmlns:a16="http://schemas.microsoft.com/office/drawing/2014/main" id="{32DD28DB-46CF-4D83-A89B-211B5FC0B0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5139" y="2049346"/>
            <a:ext cx="8399463" cy="701675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BW" sz="4000" dirty="0"/>
              <a:t> .  </a:t>
            </a:r>
            <a:r>
              <a:rPr lang="en-US" altLang="en-BW" sz="2400" dirty="0"/>
              <a:t>Filters may be classified as either digital or analog.</a:t>
            </a:r>
            <a:r>
              <a:rPr lang="en-US" altLang="en-BW" dirty="0"/>
              <a:t> </a:t>
            </a:r>
            <a:endParaRPr lang="en-US" altLang="en-BW" sz="4000" dirty="0"/>
          </a:p>
        </p:txBody>
      </p:sp>
      <p:sp>
        <p:nvSpPr>
          <p:cNvPr id="3079" name="Text Box 7">
            <a:extLst>
              <a:ext uri="{FF2B5EF4-FFF2-40B4-BE49-F238E27FC236}">
                <a16:creationId xmlns:a16="http://schemas.microsoft.com/office/drawing/2014/main" id="{DAE2F0D1-8BD1-4496-96DD-C90AA6FF35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5477" y="2587626"/>
            <a:ext cx="3397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BW" altLang="en-BW" sz="4000"/>
          </a:p>
        </p:txBody>
      </p:sp>
      <p:sp>
        <p:nvSpPr>
          <p:cNvPr id="3080" name="Text Box 8">
            <a:extLst>
              <a:ext uri="{FF2B5EF4-FFF2-40B4-BE49-F238E27FC236}">
                <a16:creationId xmlns:a16="http://schemas.microsoft.com/office/drawing/2014/main" id="{F4ADCBFE-868F-4EFC-A718-7E5BE11117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5137" y="2971801"/>
            <a:ext cx="8561385" cy="1323439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BW" sz="4000" dirty="0"/>
              <a:t> .</a:t>
            </a:r>
            <a:r>
              <a:rPr lang="en-US" altLang="en-BW" sz="2400" dirty="0"/>
              <a:t>   </a:t>
            </a:r>
            <a:r>
              <a:rPr lang="en-US" altLang="en-BW" sz="2400" i="1" u="sng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Digital filters</a:t>
            </a:r>
            <a:r>
              <a:rPr lang="en-US" altLang="en-BW" sz="2400" dirty="0"/>
              <a:t> are implemented using a digital compute       or special purpose digital hardware.     </a:t>
            </a:r>
            <a:r>
              <a:rPr lang="en-US" altLang="en-BW" sz="4000" dirty="0"/>
              <a:t>    </a:t>
            </a:r>
          </a:p>
        </p:txBody>
      </p:sp>
      <p:sp>
        <p:nvSpPr>
          <p:cNvPr id="3082" name="Text Box 10">
            <a:extLst>
              <a:ext uri="{FF2B5EF4-FFF2-40B4-BE49-F238E27FC236}">
                <a16:creationId xmlns:a16="http://schemas.microsoft.com/office/drawing/2014/main" id="{2C2322F2-2A76-4F29-96C5-949D14211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5139" y="4724399"/>
            <a:ext cx="8561383" cy="144655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BW" sz="4000" dirty="0"/>
              <a:t> . </a:t>
            </a:r>
            <a:r>
              <a:rPr lang="en-US" altLang="en-BW" sz="2400" dirty="0"/>
              <a:t> </a:t>
            </a:r>
            <a:r>
              <a:rPr lang="en-US" altLang="en-BW" sz="2400" i="1" u="sng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Analog filters</a:t>
            </a:r>
            <a:r>
              <a:rPr lang="en-US" altLang="en-BW" sz="2400" dirty="0"/>
              <a:t> may be classified as either passive or </a:t>
            </a:r>
          </a:p>
          <a:p>
            <a:r>
              <a:rPr lang="en-US" altLang="en-BW" sz="2400" dirty="0"/>
              <a:t>      active and are usually implemented with R, L, and C</a:t>
            </a:r>
          </a:p>
          <a:p>
            <a:r>
              <a:rPr lang="en-US" altLang="en-BW" sz="2400" dirty="0"/>
              <a:t>      components and operational amplifiers.  </a:t>
            </a:r>
            <a:endParaRPr lang="en-US" altLang="en-BW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>
            <a:extLst>
              <a:ext uri="{FF2B5EF4-FFF2-40B4-BE49-F238E27FC236}">
                <a16:creationId xmlns:a16="http://schemas.microsoft.com/office/drawing/2014/main" id="{177A4930-E62F-4A21-96E2-CD40C598F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7165" y="149225"/>
            <a:ext cx="1446358" cy="707886"/>
          </a:xfrm>
          <a:prstGeom prst="rect">
            <a:avLst/>
          </a:prstGeom>
          <a:solidFill>
            <a:srgbClr val="FFCC00"/>
          </a:solidFill>
          <a:ln w="57150">
            <a:solidFill>
              <a:srgbClr val="66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BW" sz="4000"/>
              <a:t>Filters</a:t>
            </a:r>
          </a:p>
        </p:txBody>
      </p:sp>
      <p:sp>
        <p:nvSpPr>
          <p:cNvPr id="4099" name="Text Box 3">
            <a:extLst>
              <a:ext uri="{FF2B5EF4-FFF2-40B4-BE49-F238E27FC236}">
                <a16:creationId xmlns:a16="http://schemas.microsoft.com/office/drawing/2014/main" id="{A283B536-D47B-4B16-BB8F-0ACCDB818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1651" y="1108076"/>
            <a:ext cx="1744260" cy="461665"/>
          </a:xfrm>
          <a:prstGeom prst="rect">
            <a:avLst/>
          </a:prstGeom>
          <a:solidFill>
            <a:srgbClr val="FFFF66"/>
          </a:solidFill>
          <a:ln w="38100">
            <a:solidFill>
              <a:srgbClr val="66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BW" sz="2400" dirty="0"/>
              <a:t>Background:</a:t>
            </a:r>
          </a:p>
        </p:txBody>
      </p:sp>
      <p:sp>
        <p:nvSpPr>
          <p:cNvPr id="4106" name="Text Box 10">
            <a:extLst>
              <a:ext uri="{FF2B5EF4-FFF2-40B4-BE49-F238E27FC236}">
                <a16:creationId xmlns:a16="http://schemas.microsoft.com/office/drawing/2014/main" id="{D04CFDC5-6CCE-4175-9977-0CAD2FB08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2" y="2057399"/>
            <a:ext cx="9040813" cy="144655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BW" sz="4000" dirty="0"/>
              <a:t>.  </a:t>
            </a:r>
            <a:r>
              <a:rPr lang="en-US" altLang="en-BW" sz="2400" dirty="0"/>
              <a:t>An </a:t>
            </a:r>
            <a:r>
              <a:rPr lang="en-US" altLang="en-BW" sz="2400" i="1" u="sng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active filter</a:t>
            </a:r>
            <a:r>
              <a:rPr lang="en-US" altLang="en-BW" sz="2400" dirty="0"/>
              <a:t> is one that, along with R, L, and C</a:t>
            </a:r>
          </a:p>
          <a:p>
            <a:r>
              <a:rPr lang="en-US" altLang="en-BW" sz="2400" dirty="0"/>
              <a:t>  components, also contains an energy source, such as that derived from an operational amplifier.</a:t>
            </a:r>
          </a:p>
        </p:txBody>
      </p:sp>
      <p:sp>
        <p:nvSpPr>
          <p:cNvPr id="4107" name="Text Box 11">
            <a:extLst>
              <a:ext uri="{FF2B5EF4-FFF2-40B4-BE49-F238E27FC236}">
                <a16:creationId xmlns:a16="http://schemas.microsoft.com/office/drawing/2014/main" id="{B10CF57C-FE63-4764-947A-386D78C78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1987" y="3959226"/>
            <a:ext cx="9040813" cy="2554545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BW" sz="2400" dirty="0"/>
              <a:t>  </a:t>
            </a:r>
            <a:r>
              <a:rPr lang="en-US" altLang="en-BW" sz="4000" dirty="0"/>
              <a:t>.</a:t>
            </a:r>
            <a:r>
              <a:rPr lang="en-US" altLang="en-BW" sz="2400" dirty="0"/>
              <a:t>   A </a:t>
            </a:r>
            <a:r>
              <a:rPr lang="en-US" altLang="en-BW" sz="2400" i="1" u="sng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passive filter</a:t>
            </a:r>
            <a:r>
              <a:rPr lang="en-US" altLang="en-BW" sz="2400" dirty="0"/>
              <a:t> is one that contains only R, L, and</a:t>
            </a:r>
          </a:p>
          <a:p>
            <a:r>
              <a:rPr lang="en-US" altLang="en-BW" sz="2400" dirty="0"/>
              <a:t>       C components.  It is not necessary that all three be</a:t>
            </a:r>
          </a:p>
          <a:p>
            <a:r>
              <a:rPr lang="en-US" altLang="en-BW" sz="2400" dirty="0"/>
              <a:t>       present.  L is often omitted (on purpose) from </a:t>
            </a:r>
          </a:p>
          <a:p>
            <a:r>
              <a:rPr lang="en-US" altLang="en-BW" sz="2400" dirty="0"/>
              <a:t>       passive filter design because of the size and cost</a:t>
            </a:r>
          </a:p>
          <a:p>
            <a:r>
              <a:rPr lang="en-US" altLang="en-BW" sz="2400" dirty="0"/>
              <a:t>       of inductors – and they also carry along an R that</a:t>
            </a:r>
          </a:p>
          <a:p>
            <a:r>
              <a:rPr lang="en-US" altLang="en-BW" sz="2400" dirty="0"/>
              <a:t>       must be included in the design.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2">
            <a:extLst>
              <a:ext uri="{FF2B5EF4-FFF2-40B4-BE49-F238E27FC236}">
                <a16:creationId xmlns:a16="http://schemas.microsoft.com/office/drawing/2014/main" id="{D3CB2A06-CAAE-4C89-8EBC-4B9A4A03ED49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2006601" y="801647"/>
            <a:ext cx="5398540" cy="787310"/>
          </a:xfrm>
        </p:spPr>
        <p:txBody>
          <a:bodyPr anchor="ctr">
            <a:normAutofit fontScale="90000"/>
          </a:bodyPr>
          <a:lstStyle/>
          <a:p>
            <a:pPr eaLnBrk="1" hangingPunct="1"/>
            <a:r>
              <a:rPr lang="en-US" altLang="en-US" b="1"/>
              <a:t>Analogue signal  Filters</a:t>
            </a:r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6CC6A933-6F56-4453-A3C4-82F922931F61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504445" y="1476205"/>
            <a:ext cx="8898729" cy="5224724"/>
          </a:xfrm>
        </p:spPr>
        <p:txBody>
          <a:bodyPr anchor="ctr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Low-pass  filter (passes low frequencies and blocks high frequencies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High-pass filter (passes high frequencies and blocks low frequencies)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Band-pass  filter (blocks below a low limit and above a high limit passing all frequencies between them)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Band-reject (Notch) filter (block or reject a particular range of frequencies)</a:t>
            </a:r>
          </a:p>
        </p:txBody>
      </p:sp>
      <p:sp>
        <p:nvSpPr>
          <p:cNvPr id="38914" name="Date Placeholder 3">
            <a:extLst>
              <a:ext uri="{FF2B5EF4-FFF2-40B4-BE49-F238E27FC236}">
                <a16:creationId xmlns:a16="http://schemas.microsoft.com/office/drawing/2014/main" id="{EC4F9980-0104-4218-9883-6F83FA18115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927850" y="6041363"/>
            <a:ext cx="683955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lnSpcReduction="10000"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/>
            </a:pPr>
            <a:fld id="{B64BCEDE-80B4-42C9-9A7F-6FDEF3458B9F}" type="datetime1">
              <a:rPr lang="en-US" altLang="en-US" sz="1000"/>
              <a:pPr eaLnBrk="1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None/>
                <a:defRPr/>
              </a:pPr>
              <a:t>11/1/2023</a:t>
            </a:fld>
            <a:endParaRPr lang="en-US" altLang="en-US" sz="1000"/>
          </a:p>
        </p:txBody>
      </p:sp>
      <p:sp>
        <p:nvSpPr>
          <p:cNvPr id="32771" name="Slide Number Placeholder 5">
            <a:extLst>
              <a:ext uri="{FF2B5EF4-FFF2-40B4-BE49-F238E27FC236}">
                <a16:creationId xmlns:a16="http://schemas.microsoft.com/office/drawing/2014/main" id="{CDA3DFC4-1878-4B71-955E-A6A1733CF7C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966997" y="6041363"/>
            <a:ext cx="512504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fld id="{5550AC51-16D5-4B1B-A9A8-6A348C894039}" type="slidenum">
              <a:rPr lang="en-US" altLang="en-US" sz="18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None/>
              </a:pPr>
              <a:t>7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>
            <a:extLst>
              <a:ext uri="{FF2B5EF4-FFF2-40B4-BE49-F238E27FC236}">
                <a16:creationId xmlns:a16="http://schemas.microsoft.com/office/drawing/2014/main" id="{F7911964-04FF-4047-9A5C-25253D0B2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2419" y="150884"/>
            <a:ext cx="6057901" cy="707886"/>
          </a:xfrm>
          <a:prstGeom prst="rect">
            <a:avLst/>
          </a:prstGeom>
          <a:solidFill>
            <a:srgbClr val="FFCC00"/>
          </a:solidFill>
          <a:ln w="76200">
            <a:solidFill>
              <a:srgbClr val="66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BW" sz="4000" dirty="0"/>
              <a:t>Passive Analog Filters</a:t>
            </a:r>
          </a:p>
        </p:txBody>
      </p:sp>
      <p:sp>
        <p:nvSpPr>
          <p:cNvPr id="8195" name="Text Box 3">
            <a:extLst>
              <a:ext uri="{FF2B5EF4-FFF2-40B4-BE49-F238E27FC236}">
                <a16:creationId xmlns:a16="http://schemas.microsoft.com/office/drawing/2014/main" id="{8BAB4E3C-2DBC-4552-9E4D-DAA7B1B03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76" y="990600"/>
            <a:ext cx="2007922" cy="523220"/>
          </a:xfrm>
          <a:prstGeom prst="rect">
            <a:avLst/>
          </a:prstGeom>
          <a:solidFill>
            <a:srgbClr val="FFFF66"/>
          </a:solidFill>
          <a:ln w="38100">
            <a:solidFill>
              <a:srgbClr val="66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BW" sz="2800"/>
              <a:t>Background:</a:t>
            </a:r>
          </a:p>
        </p:txBody>
      </p:sp>
      <p:sp>
        <p:nvSpPr>
          <p:cNvPr id="8196" name="Text Box 4">
            <a:extLst>
              <a:ext uri="{FF2B5EF4-FFF2-40B4-BE49-F238E27FC236}">
                <a16:creationId xmlns:a16="http://schemas.microsoft.com/office/drawing/2014/main" id="{DEE75191-6A60-4EB9-975E-1569479F41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0227" y="981075"/>
            <a:ext cx="442492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BW" sz="2800" i="1" u="sng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Four types of filters  </a:t>
            </a:r>
            <a:r>
              <a:rPr lang="en-US" altLang="en-BW" sz="2800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  “Ideal”</a:t>
            </a:r>
          </a:p>
        </p:txBody>
      </p:sp>
      <p:sp>
        <p:nvSpPr>
          <p:cNvPr id="8198" name="Line 6">
            <a:extLst>
              <a:ext uri="{FF2B5EF4-FFF2-40B4-BE49-F238E27FC236}">
                <a16:creationId xmlns:a16="http://schemas.microsoft.com/office/drawing/2014/main" id="{1296043D-A15D-46BE-A0A0-731D9BCB2B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9013" y="2438400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00" name="Line 8">
            <a:extLst>
              <a:ext uri="{FF2B5EF4-FFF2-40B4-BE49-F238E27FC236}">
                <a16:creationId xmlns:a16="http://schemas.microsoft.com/office/drawing/2014/main" id="{B9484386-5DBE-40BB-8C37-7E1E4C3B62A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5401" y="2514600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02" name="Line 10">
            <a:extLst>
              <a:ext uri="{FF2B5EF4-FFF2-40B4-BE49-F238E27FC236}">
                <a16:creationId xmlns:a16="http://schemas.microsoft.com/office/drawing/2014/main" id="{58C3077D-9760-4C26-9B4A-9F51294EFB0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5401" y="3810000"/>
            <a:ext cx="29527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03" name="Line 11">
            <a:extLst>
              <a:ext uri="{FF2B5EF4-FFF2-40B4-BE49-F238E27FC236}">
                <a16:creationId xmlns:a16="http://schemas.microsoft.com/office/drawing/2014/main" id="{6E14D9F7-1938-47ED-A461-6148ABD6127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9013" y="3733800"/>
            <a:ext cx="3028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06" name="Line 14">
            <a:extLst>
              <a:ext uri="{FF2B5EF4-FFF2-40B4-BE49-F238E27FC236}">
                <a16:creationId xmlns:a16="http://schemas.microsoft.com/office/drawing/2014/main" id="{99732654-A90C-4DC8-8788-E2CD191A36B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9013" y="4724400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07" name="Line 15">
            <a:extLst>
              <a:ext uri="{FF2B5EF4-FFF2-40B4-BE49-F238E27FC236}">
                <a16:creationId xmlns:a16="http://schemas.microsoft.com/office/drawing/2014/main" id="{E27CDA0B-43D2-4E1B-B281-D2159C9328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9013" y="6019800"/>
            <a:ext cx="3028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08" name="Line 16">
            <a:extLst>
              <a:ext uri="{FF2B5EF4-FFF2-40B4-BE49-F238E27FC236}">
                <a16:creationId xmlns:a16="http://schemas.microsoft.com/office/drawing/2014/main" id="{730AC612-973F-4F90-8995-E43812D4AF4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5401" y="4724400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09" name="Line 17">
            <a:extLst>
              <a:ext uri="{FF2B5EF4-FFF2-40B4-BE49-F238E27FC236}">
                <a16:creationId xmlns:a16="http://schemas.microsoft.com/office/drawing/2014/main" id="{431ED7F3-7819-4171-BBC0-8B52C7DB5E88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5402" y="6019800"/>
            <a:ext cx="30305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10" name="Line 18">
            <a:extLst>
              <a:ext uri="{FF2B5EF4-FFF2-40B4-BE49-F238E27FC236}">
                <a16:creationId xmlns:a16="http://schemas.microsoft.com/office/drawing/2014/main" id="{C8EC2BD7-B23E-4768-90B4-170068A696E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9013" y="2743200"/>
            <a:ext cx="1087438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11" name="Line 19">
            <a:extLst>
              <a:ext uri="{FF2B5EF4-FFF2-40B4-BE49-F238E27FC236}">
                <a16:creationId xmlns:a16="http://schemas.microsoft.com/office/drawing/2014/main" id="{37143520-4BD8-4AEF-AB21-E4BD84D1CB6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6451" y="2743200"/>
            <a:ext cx="0" cy="9906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12" name="Line 20">
            <a:extLst>
              <a:ext uri="{FF2B5EF4-FFF2-40B4-BE49-F238E27FC236}">
                <a16:creationId xmlns:a16="http://schemas.microsoft.com/office/drawing/2014/main" id="{E3F96F06-E84D-4421-B998-2D180F2AA182}"/>
              </a:ext>
            </a:extLst>
          </p:cNvPr>
          <p:cNvSpPr>
            <a:spLocks noChangeShapeType="1"/>
          </p:cNvSpPr>
          <p:nvPr/>
        </p:nvSpPr>
        <p:spPr bwMode="auto">
          <a:xfrm>
            <a:off x="7851776" y="2743200"/>
            <a:ext cx="0" cy="10668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13" name="Line 21">
            <a:extLst>
              <a:ext uri="{FF2B5EF4-FFF2-40B4-BE49-F238E27FC236}">
                <a16:creationId xmlns:a16="http://schemas.microsoft.com/office/drawing/2014/main" id="{4A4A3B67-A3CB-456B-A017-92581B65FA9B}"/>
              </a:ext>
            </a:extLst>
          </p:cNvPr>
          <p:cNvSpPr>
            <a:spLocks noChangeShapeType="1"/>
          </p:cNvSpPr>
          <p:nvPr/>
        </p:nvSpPr>
        <p:spPr bwMode="auto">
          <a:xfrm>
            <a:off x="7851777" y="2743200"/>
            <a:ext cx="1476375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15" name="Line 23">
            <a:extLst>
              <a:ext uri="{FF2B5EF4-FFF2-40B4-BE49-F238E27FC236}">
                <a16:creationId xmlns:a16="http://schemas.microsoft.com/office/drawing/2014/main" id="{734E50D7-8D6C-40AB-81AE-D97C8B39274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8663" y="5029200"/>
            <a:ext cx="0" cy="9906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16" name="Line 24">
            <a:extLst>
              <a:ext uri="{FF2B5EF4-FFF2-40B4-BE49-F238E27FC236}">
                <a16:creationId xmlns:a16="http://schemas.microsoft.com/office/drawing/2014/main" id="{81CB5101-5404-4507-AF3C-5D0EEF7E6F1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8313" y="5029200"/>
            <a:ext cx="0" cy="9906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17" name="Line 25">
            <a:extLst>
              <a:ext uri="{FF2B5EF4-FFF2-40B4-BE49-F238E27FC236}">
                <a16:creationId xmlns:a16="http://schemas.microsoft.com/office/drawing/2014/main" id="{A421BF27-D769-4EB7-9BF2-6E51A765BA39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8851" y="5029200"/>
            <a:ext cx="0" cy="9906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18" name="Line 26">
            <a:extLst>
              <a:ext uri="{FF2B5EF4-FFF2-40B4-BE49-F238E27FC236}">
                <a16:creationId xmlns:a16="http://schemas.microsoft.com/office/drawing/2014/main" id="{DF45E6BF-B09D-4E0C-8ACC-8B6B1597D18F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8501" y="5029200"/>
            <a:ext cx="0" cy="9906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19" name="Line 27">
            <a:extLst>
              <a:ext uri="{FF2B5EF4-FFF2-40B4-BE49-F238E27FC236}">
                <a16:creationId xmlns:a16="http://schemas.microsoft.com/office/drawing/2014/main" id="{100F8CDC-0529-4C21-B655-D4E48D7EC7D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8663" y="5029200"/>
            <a:ext cx="100965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21" name="Line 29">
            <a:extLst>
              <a:ext uri="{FF2B5EF4-FFF2-40B4-BE49-F238E27FC236}">
                <a16:creationId xmlns:a16="http://schemas.microsoft.com/office/drawing/2014/main" id="{FEDD7CA6-E053-46A8-85F7-E91E8DB5E0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75401" y="5029200"/>
            <a:ext cx="93345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22" name="Line 30">
            <a:extLst>
              <a:ext uri="{FF2B5EF4-FFF2-40B4-BE49-F238E27FC236}">
                <a16:creationId xmlns:a16="http://schemas.microsoft.com/office/drawing/2014/main" id="{CE89E99D-1FE9-4A37-9E33-F0CF61C93090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8501" y="5029200"/>
            <a:ext cx="100965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23" name="Text Box 31">
            <a:extLst>
              <a:ext uri="{FF2B5EF4-FFF2-40B4-BE49-F238E27FC236}">
                <a16:creationId xmlns:a16="http://schemas.microsoft.com/office/drawing/2014/main" id="{534D4FB9-1F56-48BA-A13F-88C4606AD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02" y="2047876"/>
            <a:ext cx="13541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BW" sz="2800" i="1" u="sng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lowpass</a:t>
            </a:r>
          </a:p>
        </p:txBody>
      </p:sp>
      <p:sp>
        <p:nvSpPr>
          <p:cNvPr id="8224" name="Line 32">
            <a:extLst>
              <a:ext uri="{FF2B5EF4-FFF2-40B4-BE49-F238E27FC236}">
                <a16:creationId xmlns:a16="http://schemas.microsoft.com/office/drawing/2014/main" id="{69C545D5-687B-4A25-9E61-B5971EAC3F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36801" y="2895600"/>
            <a:ext cx="233362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25" name="Line 33">
            <a:extLst>
              <a:ext uri="{FF2B5EF4-FFF2-40B4-BE49-F238E27FC236}">
                <a16:creationId xmlns:a16="http://schemas.microsoft.com/office/drawing/2014/main" id="{146EAAB4-3ECD-4200-ADF2-3C80CED2CA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36801" y="2895600"/>
            <a:ext cx="544512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26" name="Line 34">
            <a:extLst>
              <a:ext uri="{FF2B5EF4-FFF2-40B4-BE49-F238E27FC236}">
                <a16:creationId xmlns:a16="http://schemas.microsoft.com/office/drawing/2014/main" id="{D9EE7250-1A8F-4034-B6ED-E147445A13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14588" y="2971800"/>
            <a:ext cx="6985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28" name="Line 36">
            <a:extLst>
              <a:ext uri="{FF2B5EF4-FFF2-40B4-BE49-F238E27FC236}">
                <a16:creationId xmlns:a16="http://schemas.microsoft.com/office/drawing/2014/main" id="{FE415C15-C032-465F-848E-CEECA2B26F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25739" y="3124200"/>
            <a:ext cx="542925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29" name="Line 37">
            <a:extLst>
              <a:ext uri="{FF2B5EF4-FFF2-40B4-BE49-F238E27FC236}">
                <a16:creationId xmlns:a16="http://schemas.microsoft.com/office/drawing/2014/main" id="{57928D45-D229-4618-9589-7EB2FC4174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35301" y="3429000"/>
            <a:ext cx="233362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30" name="Line 38">
            <a:extLst>
              <a:ext uri="{FF2B5EF4-FFF2-40B4-BE49-F238E27FC236}">
                <a16:creationId xmlns:a16="http://schemas.microsoft.com/office/drawing/2014/main" id="{9630374C-0461-4D21-8C0F-0E82C6B1A8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29564" y="2819400"/>
            <a:ext cx="233363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31" name="Line 39">
            <a:extLst>
              <a:ext uri="{FF2B5EF4-FFF2-40B4-BE49-F238E27FC236}">
                <a16:creationId xmlns:a16="http://schemas.microsoft.com/office/drawing/2014/main" id="{8024ED76-747C-4F72-935A-828DF7C0C5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29564" y="2895600"/>
            <a:ext cx="466725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32" name="Line 40">
            <a:extLst>
              <a:ext uri="{FF2B5EF4-FFF2-40B4-BE49-F238E27FC236}">
                <a16:creationId xmlns:a16="http://schemas.microsoft.com/office/drawing/2014/main" id="{01ACD7D4-C62B-4091-B813-B69C7E75F1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29564" y="2895600"/>
            <a:ext cx="8540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33" name="Line 41">
            <a:extLst>
              <a:ext uri="{FF2B5EF4-FFF2-40B4-BE49-F238E27FC236}">
                <a16:creationId xmlns:a16="http://schemas.microsoft.com/office/drawing/2014/main" id="{EB66FEBC-A4F9-4894-A404-B45CF2246F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62926" y="2895600"/>
            <a:ext cx="100965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34" name="Line 42">
            <a:extLst>
              <a:ext uri="{FF2B5EF4-FFF2-40B4-BE49-F238E27FC236}">
                <a16:creationId xmlns:a16="http://schemas.microsoft.com/office/drawing/2014/main" id="{4F84A240-56C3-41CD-9108-99AB25F937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85138" y="3657600"/>
            <a:ext cx="77788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35" name="Line 43">
            <a:extLst>
              <a:ext uri="{FF2B5EF4-FFF2-40B4-BE49-F238E27FC236}">
                <a16:creationId xmlns:a16="http://schemas.microsoft.com/office/drawing/2014/main" id="{7E42A257-9121-423C-AB4D-18F6547FC6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96289" y="3048000"/>
            <a:ext cx="931863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39" name="Line 47">
            <a:extLst>
              <a:ext uri="{FF2B5EF4-FFF2-40B4-BE49-F238E27FC236}">
                <a16:creationId xmlns:a16="http://schemas.microsoft.com/office/drawing/2014/main" id="{61E20073-9460-4A59-8C68-BB32431F21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939214" y="3276600"/>
            <a:ext cx="466725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40" name="Line 48">
            <a:extLst>
              <a:ext uri="{FF2B5EF4-FFF2-40B4-BE49-F238E27FC236}">
                <a16:creationId xmlns:a16="http://schemas.microsoft.com/office/drawing/2014/main" id="{EE940101-A443-4F66-A252-7CF0FD9CFB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46451" y="5105400"/>
            <a:ext cx="233362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41" name="Line 49">
            <a:extLst>
              <a:ext uri="{FF2B5EF4-FFF2-40B4-BE49-F238E27FC236}">
                <a16:creationId xmlns:a16="http://schemas.microsoft.com/office/drawing/2014/main" id="{AE6E0503-1E52-4CBC-AF30-608819A0B0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46451" y="5105400"/>
            <a:ext cx="544512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42" name="Line 50">
            <a:extLst>
              <a:ext uri="{FF2B5EF4-FFF2-40B4-BE49-F238E27FC236}">
                <a16:creationId xmlns:a16="http://schemas.microsoft.com/office/drawing/2014/main" id="{AE375A3F-C129-49CE-B069-B3DC2F00AB7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2026" y="5181600"/>
            <a:ext cx="6985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44" name="Line 52">
            <a:extLst>
              <a:ext uri="{FF2B5EF4-FFF2-40B4-BE49-F238E27FC236}">
                <a16:creationId xmlns:a16="http://schemas.microsoft.com/office/drawing/2014/main" id="{14F6B226-4674-40A5-BBD5-3C9177F5CE9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90964" y="5486400"/>
            <a:ext cx="309563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45" name="Line 53">
            <a:extLst>
              <a:ext uri="{FF2B5EF4-FFF2-40B4-BE49-F238E27FC236}">
                <a16:creationId xmlns:a16="http://schemas.microsoft.com/office/drawing/2014/main" id="{55616F2D-4CBA-45D2-AC91-1B56EDF4D9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53189" y="5105400"/>
            <a:ext cx="155575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46" name="Line 54">
            <a:extLst>
              <a:ext uri="{FF2B5EF4-FFF2-40B4-BE49-F238E27FC236}">
                <a16:creationId xmlns:a16="http://schemas.microsoft.com/office/drawing/2014/main" id="{A1CE0DB7-4065-4E96-92E8-1481064AD9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53189" y="5105400"/>
            <a:ext cx="466725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50" name="Line 58">
            <a:extLst>
              <a:ext uri="{FF2B5EF4-FFF2-40B4-BE49-F238E27FC236}">
                <a16:creationId xmlns:a16="http://schemas.microsoft.com/office/drawing/2014/main" id="{2792879B-B043-4555-9E24-C02160AA2D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96288" y="5105400"/>
            <a:ext cx="153988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51" name="Line 59">
            <a:extLst>
              <a:ext uri="{FF2B5EF4-FFF2-40B4-BE49-F238E27FC236}">
                <a16:creationId xmlns:a16="http://schemas.microsoft.com/office/drawing/2014/main" id="{990E30FF-BC48-4EA0-9B5D-94C90959F6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96288" y="5105400"/>
            <a:ext cx="38735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52" name="Line 60">
            <a:extLst>
              <a:ext uri="{FF2B5EF4-FFF2-40B4-BE49-F238E27FC236}">
                <a16:creationId xmlns:a16="http://schemas.microsoft.com/office/drawing/2014/main" id="{43581800-C67E-4C66-B8DD-69C24F5018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96288" y="5105400"/>
            <a:ext cx="6985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53" name="Line 61">
            <a:extLst>
              <a:ext uri="{FF2B5EF4-FFF2-40B4-BE49-F238E27FC236}">
                <a16:creationId xmlns:a16="http://schemas.microsoft.com/office/drawing/2014/main" id="{5F0F8935-387D-4004-ACD7-556BF7085A4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50277" y="5257800"/>
            <a:ext cx="700087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54" name="Line 62">
            <a:extLst>
              <a:ext uri="{FF2B5EF4-FFF2-40B4-BE49-F238E27FC236}">
                <a16:creationId xmlns:a16="http://schemas.microsoft.com/office/drawing/2014/main" id="{CDC7F977-3A8C-40B0-94AD-729BAAEFDC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61427" y="5486400"/>
            <a:ext cx="466725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55" name="Line 63">
            <a:extLst>
              <a:ext uri="{FF2B5EF4-FFF2-40B4-BE49-F238E27FC236}">
                <a16:creationId xmlns:a16="http://schemas.microsoft.com/office/drawing/2014/main" id="{E3BBA296-EB20-4E5B-98A1-39B018F25A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172576" y="5715000"/>
            <a:ext cx="233362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56" name="Line 64">
            <a:extLst>
              <a:ext uri="{FF2B5EF4-FFF2-40B4-BE49-F238E27FC236}">
                <a16:creationId xmlns:a16="http://schemas.microsoft.com/office/drawing/2014/main" id="{2D18AA13-B165-48AA-AF2E-C3E1B420F5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53188" y="5181600"/>
            <a:ext cx="700088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59" name="Line 67">
            <a:extLst>
              <a:ext uri="{FF2B5EF4-FFF2-40B4-BE49-F238E27FC236}">
                <a16:creationId xmlns:a16="http://schemas.microsoft.com/office/drawing/2014/main" id="{C870F5D8-FF14-4A4A-BA62-EC371173FA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86551" y="5410200"/>
            <a:ext cx="544512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61" name="Line 69">
            <a:extLst>
              <a:ext uri="{FF2B5EF4-FFF2-40B4-BE49-F238E27FC236}">
                <a16:creationId xmlns:a16="http://schemas.microsoft.com/office/drawing/2014/main" id="{25B5C6E7-97EC-42F1-95ED-28097073C6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97701" y="5715000"/>
            <a:ext cx="233362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62" name="Text Box 70">
            <a:extLst>
              <a:ext uri="{FF2B5EF4-FFF2-40B4-BE49-F238E27FC236}">
                <a16:creationId xmlns:a16="http://schemas.microsoft.com/office/drawing/2014/main" id="{7D9DF096-0708-43D4-8F98-8C8678ECCA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1826" y="2047876"/>
            <a:ext cx="1517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BW" sz="2800" i="1" u="sng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highpass</a:t>
            </a:r>
          </a:p>
        </p:txBody>
      </p:sp>
      <p:sp>
        <p:nvSpPr>
          <p:cNvPr id="8263" name="Line 71">
            <a:extLst>
              <a:ext uri="{FF2B5EF4-FFF2-40B4-BE49-F238E27FC236}">
                <a16:creationId xmlns:a16="http://schemas.microsoft.com/office/drawing/2014/main" id="{0C1C1325-41F3-418A-A35D-6E37C00016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6452" y="3733800"/>
            <a:ext cx="1863725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64" name="Line 72">
            <a:extLst>
              <a:ext uri="{FF2B5EF4-FFF2-40B4-BE49-F238E27FC236}">
                <a16:creationId xmlns:a16="http://schemas.microsoft.com/office/drawing/2014/main" id="{027D8CB8-BFD1-41C0-A902-2A6E89ECF30D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5402" y="3810000"/>
            <a:ext cx="1476375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65" name="Line 73">
            <a:extLst>
              <a:ext uri="{FF2B5EF4-FFF2-40B4-BE49-F238E27FC236}">
                <a16:creationId xmlns:a16="http://schemas.microsoft.com/office/drawing/2014/main" id="{F6952606-E85F-4188-A2C3-FDA1F460A96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9013" y="6019800"/>
            <a:ext cx="100965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66" name="Line 74">
            <a:extLst>
              <a:ext uri="{FF2B5EF4-FFF2-40B4-BE49-F238E27FC236}">
                <a16:creationId xmlns:a16="http://schemas.microsoft.com/office/drawing/2014/main" id="{4AD8AA9D-61B6-4F55-9A12-77534FAA31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8313" y="6019800"/>
            <a:ext cx="1087438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67" name="Line 75">
            <a:extLst>
              <a:ext uri="{FF2B5EF4-FFF2-40B4-BE49-F238E27FC236}">
                <a16:creationId xmlns:a16="http://schemas.microsoft.com/office/drawing/2014/main" id="{1341BFEC-935D-4E57-9A28-8B7B81F0B439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8851" y="6019800"/>
            <a:ext cx="100965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8268" name="Text Box 76">
            <a:extLst>
              <a:ext uri="{FF2B5EF4-FFF2-40B4-BE49-F238E27FC236}">
                <a16:creationId xmlns:a16="http://schemas.microsoft.com/office/drawing/2014/main" id="{D6087C7D-A46E-479D-BB17-0D309A038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7214" y="4257676"/>
            <a:ext cx="1577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BW" sz="2800" i="1" u="sng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bandpass</a:t>
            </a:r>
          </a:p>
        </p:txBody>
      </p:sp>
      <p:sp>
        <p:nvSpPr>
          <p:cNvPr id="8269" name="Text Box 77">
            <a:extLst>
              <a:ext uri="{FF2B5EF4-FFF2-40B4-BE49-F238E27FC236}">
                <a16:creationId xmlns:a16="http://schemas.microsoft.com/office/drawing/2014/main" id="{E3AA6F7F-53D3-4C15-872E-E9936F1C2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1827" y="4257676"/>
            <a:ext cx="187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BW" altLang="en-BW" sz="2800"/>
          </a:p>
        </p:txBody>
      </p:sp>
      <p:sp>
        <p:nvSpPr>
          <p:cNvPr id="8270" name="Text Box 78">
            <a:extLst>
              <a:ext uri="{FF2B5EF4-FFF2-40B4-BE49-F238E27FC236}">
                <a16:creationId xmlns:a16="http://schemas.microsoft.com/office/drawing/2014/main" id="{7FE8DF01-E8C6-4F29-B7EA-7B45DF916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1826" y="4257676"/>
            <a:ext cx="1536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BW" sz="2800" i="1" u="sng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bandstop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>
            <a:extLst>
              <a:ext uri="{FF2B5EF4-FFF2-40B4-BE49-F238E27FC236}">
                <a16:creationId xmlns:a16="http://schemas.microsoft.com/office/drawing/2014/main" id="{8D1674AD-7AD4-4248-9E26-CF0084D583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76" y="990600"/>
            <a:ext cx="2007922" cy="523220"/>
          </a:xfrm>
          <a:prstGeom prst="rect">
            <a:avLst/>
          </a:prstGeom>
          <a:solidFill>
            <a:srgbClr val="FFFF66"/>
          </a:solidFill>
          <a:ln w="38100">
            <a:solidFill>
              <a:srgbClr val="66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BW" sz="2800" dirty="0"/>
              <a:t>Background:</a:t>
            </a:r>
          </a:p>
        </p:txBody>
      </p:sp>
      <p:sp>
        <p:nvSpPr>
          <p:cNvPr id="10243" name="Text Box 3">
            <a:extLst>
              <a:ext uri="{FF2B5EF4-FFF2-40B4-BE49-F238E27FC236}">
                <a16:creationId xmlns:a16="http://schemas.microsoft.com/office/drawing/2014/main" id="{34801A77-6061-4C90-B592-7443C06E1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0227" y="981075"/>
            <a:ext cx="251889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BW" sz="2800" i="1" u="sng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Realistic  Filters:</a:t>
            </a:r>
          </a:p>
        </p:txBody>
      </p:sp>
      <p:sp>
        <p:nvSpPr>
          <p:cNvPr id="10244" name="Line 4">
            <a:extLst>
              <a:ext uri="{FF2B5EF4-FFF2-40B4-BE49-F238E27FC236}">
                <a16:creationId xmlns:a16="http://schemas.microsoft.com/office/drawing/2014/main" id="{7E821FC5-1F27-47E9-9424-2BA15BE366E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9013" y="2438400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45" name="Line 5">
            <a:extLst>
              <a:ext uri="{FF2B5EF4-FFF2-40B4-BE49-F238E27FC236}">
                <a16:creationId xmlns:a16="http://schemas.microsoft.com/office/drawing/2014/main" id="{962B89BD-F99F-4C2D-B8CF-FE651AD436BD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5401" y="2514600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46" name="Line 6">
            <a:extLst>
              <a:ext uri="{FF2B5EF4-FFF2-40B4-BE49-F238E27FC236}">
                <a16:creationId xmlns:a16="http://schemas.microsoft.com/office/drawing/2014/main" id="{B6EF3358-E388-424C-89AC-679615A4E6B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5401" y="3810000"/>
            <a:ext cx="29527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47" name="Line 7">
            <a:extLst>
              <a:ext uri="{FF2B5EF4-FFF2-40B4-BE49-F238E27FC236}">
                <a16:creationId xmlns:a16="http://schemas.microsoft.com/office/drawing/2014/main" id="{11193A29-B98E-4ADB-8CF5-AAADEC7A329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9013" y="3733800"/>
            <a:ext cx="3028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48" name="Line 8">
            <a:extLst>
              <a:ext uri="{FF2B5EF4-FFF2-40B4-BE49-F238E27FC236}">
                <a16:creationId xmlns:a16="http://schemas.microsoft.com/office/drawing/2014/main" id="{96ED30FA-4C26-404D-84AD-F3656C3417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9013" y="4724400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49" name="Line 9">
            <a:extLst>
              <a:ext uri="{FF2B5EF4-FFF2-40B4-BE49-F238E27FC236}">
                <a16:creationId xmlns:a16="http://schemas.microsoft.com/office/drawing/2014/main" id="{9607D834-DD1C-4936-B35D-0831EA22D4C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9013" y="6019800"/>
            <a:ext cx="3028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50" name="Line 10">
            <a:extLst>
              <a:ext uri="{FF2B5EF4-FFF2-40B4-BE49-F238E27FC236}">
                <a16:creationId xmlns:a16="http://schemas.microsoft.com/office/drawing/2014/main" id="{A75D614A-AAF4-44B2-AC84-28C457377DAB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5401" y="4724400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51" name="Line 11">
            <a:extLst>
              <a:ext uri="{FF2B5EF4-FFF2-40B4-BE49-F238E27FC236}">
                <a16:creationId xmlns:a16="http://schemas.microsoft.com/office/drawing/2014/main" id="{2011D054-FFB1-45FF-88FF-B737CC8E39D6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5402" y="6019800"/>
            <a:ext cx="30305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52" name="Line 12">
            <a:extLst>
              <a:ext uri="{FF2B5EF4-FFF2-40B4-BE49-F238E27FC236}">
                <a16:creationId xmlns:a16="http://schemas.microsoft.com/office/drawing/2014/main" id="{13EE724B-A789-4E85-82CE-A0137662B0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9013" y="2743200"/>
            <a:ext cx="1087438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53" name="Line 13">
            <a:extLst>
              <a:ext uri="{FF2B5EF4-FFF2-40B4-BE49-F238E27FC236}">
                <a16:creationId xmlns:a16="http://schemas.microsoft.com/office/drawing/2014/main" id="{5FF0A954-D288-4FBA-94D9-10EAD17F3BE1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6451" y="2743200"/>
            <a:ext cx="0" cy="9906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54" name="Line 14">
            <a:extLst>
              <a:ext uri="{FF2B5EF4-FFF2-40B4-BE49-F238E27FC236}">
                <a16:creationId xmlns:a16="http://schemas.microsoft.com/office/drawing/2014/main" id="{1B94BFE5-542C-4975-A307-D15694181D18}"/>
              </a:ext>
            </a:extLst>
          </p:cNvPr>
          <p:cNvSpPr>
            <a:spLocks noChangeShapeType="1"/>
          </p:cNvSpPr>
          <p:nvPr/>
        </p:nvSpPr>
        <p:spPr bwMode="auto">
          <a:xfrm>
            <a:off x="7851776" y="2743200"/>
            <a:ext cx="0" cy="10668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55" name="Line 15">
            <a:extLst>
              <a:ext uri="{FF2B5EF4-FFF2-40B4-BE49-F238E27FC236}">
                <a16:creationId xmlns:a16="http://schemas.microsoft.com/office/drawing/2014/main" id="{25D49F4E-8844-4B4A-A2E1-EE54B250417A}"/>
              </a:ext>
            </a:extLst>
          </p:cNvPr>
          <p:cNvSpPr>
            <a:spLocks noChangeShapeType="1"/>
          </p:cNvSpPr>
          <p:nvPr/>
        </p:nvSpPr>
        <p:spPr bwMode="auto">
          <a:xfrm>
            <a:off x="7851777" y="2743200"/>
            <a:ext cx="1476375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56" name="Line 16">
            <a:extLst>
              <a:ext uri="{FF2B5EF4-FFF2-40B4-BE49-F238E27FC236}">
                <a16:creationId xmlns:a16="http://schemas.microsoft.com/office/drawing/2014/main" id="{C50C834B-C0A9-49DB-BA27-27FA9679338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8663" y="5029200"/>
            <a:ext cx="0" cy="9906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57" name="Line 17">
            <a:extLst>
              <a:ext uri="{FF2B5EF4-FFF2-40B4-BE49-F238E27FC236}">
                <a16:creationId xmlns:a16="http://schemas.microsoft.com/office/drawing/2014/main" id="{2FA69021-6B57-464B-8A19-230C675CB1A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8313" y="5029200"/>
            <a:ext cx="0" cy="9906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58" name="Line 18">
            <a:extLst>
              <a:ext uri="{FF2B5EF4-FFF2-40B4-BE49-F238E27FC236}">
                <a16:creationId xmlns:a16="http://schemas.microsoft.com/office/drawing/2014/main" id="{7788C8D7-F67C-4397-B758-DB5B1BC98DD8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8851" y="5029200"/>
            <a:ext cx="0" cy="9906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59" name="Line 19">
            <a:extLst>
              <a:ext uri="{FF2B5EF4-FFF2-40B4-BE49-F238E27FC236}">
                <a16:creationId xmlns:a16="http://schemas.microsoft.com/office/drawing/2014/main" id="{2C2D421F-EE60-4A62-B1A9-EEC1451A237B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8501" y="5029200"/>
            <a:ext cx="0" cy="9906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60" name="Line 20">
            <a:extLst>
              <a:ext uri="{FF2B5EF4-FFF2-40B4-BE49-F238E27FC236}">
                <a16:creationId xmlns:a16="http://schemas.microsoft.com/office/drawing/2014/main" id="{CE5B6B51-3815-4F31-9706-1633EFF854F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8663" y="5029200"/>
            <a:ext cx="100965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61" name="Line 21">
            <a:extLst>
              <a:ext uri="{FF2B5EF4-FFF2-40B4-BE49-F238E27FC236}">
                <a16:creationId xmlns:a16="http://schemas.microsoft.com/office/drawing/2014/main" id="{768C7DB1-F341-482B-9F40-09492F5A97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75401" y="5029200"/>
            <a:ext cx="93345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62" name="Line 22">
            <a:extLst>
              <a:ext uri="{FF2B5EF4-FFF2-40B4-BE49-F238E27FC236}">
                <a16:creationId xmlns:a16="http://schemas.microsoft.com/office/drawing/2014/main" id="{4680C5C0-DEBD-4978-886C-C8E0B23218F9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8501" y="5029200"/>
            <a:ext cx="100965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63" name="Text Box 23">
            <a:extLst>
              <a:ext uri="{FF2B5EF4-FFF2-40B4-BE49-F238E27FC236}">
                <a16:creationId xmlns:a16="http://schemas.microsoft.com/office/drawing/2014/main" id="{B56B1A2C-30CE-45CC-A8B8-FE50F7B1D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02" y="2047876"/>
            <a:ext cx="13541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BW" sz="2800" i="1" u="sng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lowpass</a:t>
            </a:r>
          </a:p>
        </p:txBody>
      </p:sp>
      <p:sp>
        <p:nvSpPr>
          <p:cNvPr id="10264" name="Line 24">
            <a:extLst>
              <a:ext uri="{FF2B5EF4-FFF2-40B4-BE49-F238E27FC236}">
                <a16:creationId xmlns:a16="http://schemas.microsoft.com/office/drawing/2014/main" id="{74560F46-3199-4FE1-BC6E-732B74A65A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36801" y="2895600"/>
            <a:ext cx="233362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65" name="Line 25">
            <a:extLst>
              <a:ext uri="{FF2B5EF4-FFF2-40B4-BE49-F238E27FC236}">
                <a16:creationId xmlns:a16="http://schemas.microsoft.com/office/drawing/2014/main" id="{4A0DC350-074F-4E51-819B-10C44307964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36801" y="2895600"/>
            <a:ext cx="544512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66" name="Line 26">
            <a:extLst>
              <a:ext uri="{FF2B5EF4-FFF2-40B4-BE49-F238E27FC236}">
                <a16:creationId xmlns:a16="http://schemas.microsoft.com/office/drawing/2014/main" id="{B8C31916-9F3C-43AF-8E4B-35CEED29AE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14588" y="2971800"/>
            <a:ext cx="6985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67" name="Line 27">
            <a:extLst>
              <a:ext uri="{FF2B5EF4-FFF2-40B4-BE49-F238E27FC236}">
                <a16:creationId xmlns:a16="http://schemas.microsoft.com/office/drawing/2014/main" id="{1ACAFB5B-0DC4-494A-B1CF-76E454FD32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25739" y="3124200"/>
            <a:ext cx="542925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68" name="Line 28">
            <a:extLst>
              <a:ext uri="{FF2B5EF4-FFF2-40B4-BE49-F238E27FC236}">
                <a16:creationId xmlns:a16="http://schemas.microsoft.com/office/drawing/2014/main" id="{37E0D44E-C15E-4138-B6C7-6ADCF2DF6C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35301" y="3429000"/>
            <a:ext cx="233362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69" name="Line 29">
            <a:extLst>
              <a:ext uri="{FF2B5EF4-FFF2-40B4-BE49-F238E27FC236}">
                <a16:creationId xmlns:a16="http://schemas.microsoft.com/office/drawing/2014/main" id="{78DDF6F5-0B4F-41BE-9EA9-CE9982096CB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29564" y="2819400"/>
            <a:ext cx="233363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70" name="Line 30">
            <a:extLst>
              <a:ext uri="{FF2B5EF4-FFF2-40B4-BE49-F238E27FC236}">
                <a16:creationId xmlns:a16="http://schemas.microsoft.com/office/drawing/2014/main" id="{5743ECC2-EE00-4B94-B9B3-8927C5AA3B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29564" y="2895600"/>
            <a:ext cx="466725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71" name="Line 31">
            <a:extLst>
              <a:ext uri="{FF2B5EF4-FFF2-40B4-BE49-F238E27FC236}">
                <a16:creationId xmlns:a16="http://schemas.microsoft.com/office/drawing/2014/main" id="{58E22035-FBCE-4067-AE55-F4B2CEB3E2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29564" y="2895600"/>
            <a:ext cx="8540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72" name="Line 32">
            <a:extLst>
              <a:ext uri="{FF2B5EF4-FFF2-40B4-BE49-F238E27FC236}">
                <a16:creationId xmlns:a16="http://schemas.microsoft.com/office/drawing/2014/main" id="{6E65C448-2140-4B95-B4FA-1A038CFB57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62926" y="2895600"/>
            <a:ext cx="100965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73" name="Line 33">
            <a:extLst>
              <a:ext uri="{FF2B5EF4-FFF2-40B4-BE49-F238E27FC236}">
                <a16:creationId xmlns:a16="http://schemas.microsoft.com/office/drawing/2014/main" id="{D969376E-6260-433D-A636-DA7D7C49E5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85138" y="3657600"/>
            <a:ext cx="77788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74" name="Line 34">
            <a:extLst>
              <a:ext uri="{FF2B5EF4-FFF2-40B4-BE49-F238E27FC236}">
                <a16:creationId xmlns:a16="http://schemas.microsoft.com/office/drawing/2014/main" id="{B741B004-4266-4CAF-BBAA-EC7D069CAD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96289" y="3048000"/>
            <a:ext cx="931863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75" name="Line 35">
            <a:extLst>
              <a:ext uri="{FF2B5EF4-FFF2-40B4-BE49-F238E27FC236}">
                <a16:creationId xmlns:a16="http://schemas.microsoft.com/office/drawing/2014/main" id="{504C1B51-A854-4EAB-8AE3-0FBA56D49E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939214" y="3276600"/>
            <a:ext cx="466725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76" name="Line 36">
            <a:extLst>
              <a:ext uri="{FF2B5EF4-FFF2-40B4-BE49-F238E27FC236}">
                <a16:creationId xmlns:a16="http://schemas.microsoft.com/office/drawing/2014/main" id="{D5972284-CC53-4977-BCD2-9A339DDA54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46451" y="5105400"/>
            <a:ext cx="233362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77" name="Line 37">
            <a:extLst>
              <a:ext uri="{FF2B5EF4-FFF2-40B4-BE49-F238E27FC236}">
                <a16:creationId xmlns:a16="http://schemas.microsoft.com/office/drawing/2014/main" id="{83E2C164-691E-4CED-9D15-75476EE2D7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46451" y="5105400"/>
            <a:ext cx="544512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78" name="Line 38">
            <a:extLst>
              <a:ext uri="{FF2B5EF4-FFF2-40B4-BE49-F238E27FC236}">
                <a16:creationId xmlns:a16="http://schemas.microsoft.com/office/drawing/2014/main" id="{ACF22235-3698-4841-92C8-F6D87CAB82A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2026" y="5181600"/>
            <a:ext cx="6985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79" name="Line 39">
            <a:extLst>
              <a:ext uri="{FF2B5EF4-FFF2-40B4-BE49-F238E27FC236}">
                <a16:creationId xmlns:a16="http://schemas.microsoft.com/office/drawing/2014/main" id="{3DC5354A-13C3-4B66-B5B2-24124889C1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90964" y="5486400"/>
            <a:ext cx="309563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80" name="Line 40">
            <a:extLst>
              <a:ext uri="{FF2B5EF4-FFF2-40B4-BE49-F238E27FC236}">
                <a16:creationId xmlns:a16="http://schemas.microsoft.com/office/drawing/2014/main" id="{A76FBD19-DF68-4D51-9873-136C8419E4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53189" y="5105400"/>
            <a:ext cx="155575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81" name="Line 41">
            <a:extLst>
              <a:ext uri="{FF2B5EF4-FFF2-40B4-BE49-F238E27FC236}">
                <a16:creationId xmlns:a16="http://schemas.microsoft.com/office/drawing/2014/main" id="{D9ABD491-C73E-4F12-9BCC-0FB4F70AEC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53189" y="5105400"/>
            <a:ext cx="466725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82" name="Line 42">
            <a:extLst>
              <a:ext uri="{FF2B5EF4-FFF2-40B4-BE49-F238E27FC236}">
                <a16:creationId xmlns:a16="http://schemas.microsoft.com/office/drawing/2014/main" id="{750E984B-5347-424A-8B70-0D84DDE691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96288" y="5105400"/>
            <a:ext cx="153988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83" name="Line 43">
            <a:extLst>
              <a:ext uri="{FF2B5EF4-FFF2-40B4-BE49-F238E27FC236}">
                <a16:creationId xmlns:a16="http://schemas.microsoft.com/office/drawing/2014/main" id="{762AF4A9-0082-4E9F-99CD-E9638956867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96288" y="5105400"/>
            <a:ext cx="38735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84" name="Line 44">
            <a:extLst>
              <a:ext uri="{FF2B5EF4-FFF2-40B4-BE49-F238E27FC236}">
                <a16:creationId xmlns:a16="http://schemas.microsoft.com/office/drawing/2014/main" id="{C0E7E51F-7E25-46EE-A531-58D395E068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96288" y="5105400"/>
            <a:ext cx="6985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85" name="Line 45">
            <a:extLst>
              <a:ext uri="{FF2B5EF4-FFF2-40B4-BE49-F238E27FC236}">
                <a16:creationId xmlns:a16="http://schemas.microsoft.com/office/drawing/2014/main" id="{9BC8B9AD-F979-4ACE-9BF5-87F96CAFBB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50277" y="5257800"/>
            <a:ext cx="700087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86" name="Line 46">
            <a:extLst>
              <a:ext uri="{FF2B5EF4-FFF2-40B4-BE49-F238E27FC236}">
                <a16:creationId xmlns:a16="http://schemas.microsoft.com/office/drawing/2014/main" id="{BBB7594D-25FE-4224-844C-03B2805259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61427" y="5486400"/>
            <a:ext cx="466725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87" name="Line 47">
            <a:extLst>
              <a:ext uri="{FF2B5EF4-FFF2-40B4-BE49-F238E27FC236}">
                <a16:creationId xmlns:a16="http://schemas.microsoft.com/office/drawing/2014/main" id="{E13D39B5-8F4B-475C-A5A2-C16975D04F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172576" y="5715000"/>
            <a:ext cx="233362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88" name="Line 48">
            <a:extLst>
              <a:ext uri="{FF2B5EF4-FFF2-40B4-BE49-F238E27FC236}">
                <a16:creationId xmlns:a16="http://schemas.microsoft.com/office/drawing/2014/main" id="{2662B4EE-06C6-4A51-82FA-A240799502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53188" y="5181600"/>
            <a:ext cx="700088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89" name="Line 49">
            <a:extLst>
              <a:ext uri="{FF2B5EF4-FFF2-40B4-BE49-F238E27FC236}">
                <a16:creationId xmlns:a16="http://schemas.microsoft.com/office/drawing/2014/main" id="{86EC87E5-9388-4324-AA9F-4A09DFD72B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86551" y="5410200"/>
            <a:ext cx="544512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90" name="Line 50">
            <a:extLst>
              <a:ext uri="{FF2B5EF4-FFF2-40B4-BE49-F238E27FC236}">
                <a16:creationId xmlns:a16="http://schemas.microsoft.com/office/drawing/2014/main" id="{D56D247A-C7B7-4C51-9373-B94D1DB364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97701" y="5715000"/>
            <a:ext cx="233362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91" name="Text Box 51">
            <a:extLst>
              <a:ext uri="{FF2B5EF4-FFF2-40B4-BE49-F238E27FC236}">
                <a16:creationId xmlns:a16="http://schemas.microsoft.com/office/drawing/2014/main" id="{58F16F07-1747-408A-9F30-A9750C992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1826" y="2047876"/>
            <a:ext cx="1517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BW" sz="2800" i="1" u="sng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highpass</a:t>
            </a:r>
            <a:endParaRPr lang="en-US" altLang="en-BW" sz="2800" i="1" u="sng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292" name="Line 52">
            <a:extLst>
              <a:ext uri="{FF2B5EF4-FFF2-40B4-BE49-F238E27FC236}">
                <a16:creationId xmlns:a16="http://schemas.microsoft.com/office/drawing/2014/main" id="{25F20DA6-4799-4CB5-B15C-6EB28DAA580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6452" y="3733800"/>
            <a:ext cx="1863725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93" name="Line 53">
            <a:extLst>
              <a:ext uri="{FF2B5EF4-FFF2-40B4-BE49-F238E27FC236}">
                <a16:creationId xmlns:a16="http://schemas.microsoft.com/office/drawing/2014/main" id="{40FC81E8-C55C-4F11-9EF6-8C9DC02A2EAD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5402" y="3810000"/>
            <a:ext cx="1476375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94" name="Line 54">
            <a:extLst>
              <a:ext uri="{FF2B5EF4-FFF2-40B4-BE49-F238E27FC236}">
                <a16:creationId xmlns:a16="http://schemas.microsoft.com/office/drawing/2014/main" id="{73F01C50-64C2-4E40-BAED-1FC55E9419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9013" y="6019800"/>
            <a:ext cx="100965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95" name="Line 55">
            <a:extLst>
              <a:ext uri="{FF2B5EF4-FFF2-40B4-BE49-F238E27FC236}">
                <a16:creationId xmlns:a16="http://schemas.microsoft.com/office/drawing/2014/main" id="{134D8DAB-3B6D-4793-85AF-7111C10DAA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8313" y="6019800"/>
            <a:ext cx="1087438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96" name="Line 56">
            <a:extLst>
              <a:ext uri="{FF2B5EF4-FFF2-40B4-BE49-F238E27FC236}">
                <a16:creationId xmlns:a16="http://schemas.microsoft.com/office/drawing/2014/main" id="{6E6CA9C9-D97C-402B-A37B-5F54F44A0F3D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8851" y="6019800"/>
            <a:ext cx="100965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297" name="Text Box 57">
            <a:extLst>
              <a:ext uri="{FF2B5EF4-FFF2-40B4-BE49-F238E27FC236}">
                <a16:creationId xmlns:a16="http://schemas.microsoft.com/office/drawing/2014/main" id="{AC1690CB-11AD-47C0-9E97-8448FB23B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7214" y="4257676"/>
            <a:ext cx="1577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BW" sz="2800" i="1" u="sng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bandpass</a:t>
            </a:r>
          </a:p>
        </p:txBody>
      </p:sp>
      <p:sp>
        <p:nvSpPr>
          <p:cNvPr id="10298" name="Text Box 58">
            <a:extLst>
              <a:ext uri="{FF2B5EF4-FFF2-40B4-BE49-F238E27FC236}">
                <a16:creationId xmlns:a16="http://schemas.microsoft.com/office/drawing/2014/main" id="{B12B60FF-AD86-4CDA-B870-7CFC6FCAC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1827" y="4257676"/>
            <a:ext cx="187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BW" altLang="en-BW" sz="2800"/>
          </a:p>
        </p:txBody>
      </p:sp>
      <p:sp>
        <p:nvSpPr>
          <p:cNvPr id="10299" name="Text Box 59">
            <a:extLst>
              <a:ext uri="{FF2B5EF4-FFF2-40B4-BE49-F238E27FC236}">
                <a16:creationId xmlns:a16="http://schemas.microsoft.com/office/drawing/2014/main" id="{EC9120B6-E9DA-4277-B2F3-371F66000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1826" y="4257676"/>
            <a:ext cx="1536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BW" sz="2800" i="1" u="sng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bandstop</a:t>
            </a:r>
          </a:p>
        </p:txBody>
      </p:sp>
      <p:sp>
        <p:nvSpPr>
          <p:cNvPr id="10300" name="Text Box 60">
            <a:extLst>
              <a:ext uri="{FF2B5EF4-FFF2-40B4-BE49-F238E27FC236}">
                <a16:creationId xmlns:a16="http://schemas.microsoft.com/office/drawing/2014/main" id="{F1583CD9-FF4D-44B3-A4D4-2777F48D9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5887" y="0"/>
            <a:ext cx="5330691" cy="707886"/>
          </a:xfrm>
          <a:prstGeom prst="rect">
            <a:avLst/>
          </a:prstGeom>
          <a:solidFill>
            <a:srgbClr val="FFCC00"/>
          </a:solidFill>
          <a:ln w="76200">
            <a:solidFill>
              <a:srgbClr val="66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BW" sz="4000" dirty="0"/>
              <a:t>Passive Analog Filters</a:t>
            </a:r>
          </a:p>
        </p:txBody>
      </p:sp>
      <p:sp>
        <p:nvSpPr>
          <p:cNvPr id="10306" name="Line 66">
            <a:extLst>
              <a:ext uri="{FF2B5EF4-FFF2-40B4-BE49-F238E27FC236}">
                <a16:creationId xmlns:a16="http://schemas.microsoft.com/office/drawing/2014/main" id="{3CA31AA5-4306-4AA2-9D01-FA7B610290D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9013" y="2743200"/>
            <a:ext cx="7778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323" name="Freeform 83">
            <a:extLst>
              <a:ext uri="{FF2B5EF4-FFF2-40B4-BE49-F238E27FC236}">
                <a16:creationId xmlns:a16="http://schemas.microsoft.com/office/drawing/2014/main" id="{82D20BB6-434B-4CC5-81DE-06A159F6262C}"/>
              </a:ext>
            </a:extLst>
          </p:cNvPr>
          <p:cNvSpPr>
            <a:spLocks/>
          </p:cNvSpPr>
          <p:nvPr/>
        </p:nvSpPr>
        <p:spPr bwMode="auto">
          <a:xfrm>
            <a:off x="2287588" y="2778126"/>
            <a:ext cx="2984500" cy="949325"/>
          </a:xfrm>
          <a:custGeom>
            <a:avLst/>
            <a:gdLst>
              <a:gd name="T0" fmla="*/ 0 w 1844"/>
              <a:gd name="T1" fmla="*/ 0 h 598"/>
              <a:gd name="T2" fmla="*/ 284 w 1844"/>
              <a:gd name="T3" fmla="*/ 29 h 598"/>
              <a:gd name="T4" fmla="*/ 423 w 1844"/>
              <a:gd name="T5" fmla="*/ 73 h 598"/>
              <a:gd name="T6" fmla="*/ 466 w 1844"/>
              <a:gd name="T7" fmla="*/ 95 h 598"/>
              <a:gd name="T8" fmla="*/ 612 w 1844"/>
              <a:gd name="T9" fmla="*/ 211 h 598"/>
              <a:gd name="T10" fmla="*/ 656 w 1844"/>
              <a:gd name="T11" fmla="*/ 255 h 598"/>
              <a:gd name="T12" fmla="*/ 700 w 1844"/>
              <a:gd name="T13" fmla="*/ 284 h 598"/>
              <a:gd name="T14" fmla="*/ 875 w 1844"/>
              <a:gd name="T15" fmla="*/ 386 h 598"/>
              <a:gd name="T16" fmla="*/ 984 w 1844"/>
              <a:gd name="T17" fmla="*/ 459 h 598"/>
              <a:gd name="T18" fmla="*/ 1137 w 1844"/>
              <a:gd name="T19" fmla="*/ 510 h 598"/>
              <a:gd name="T20" fmla="*/ 1385 w 1844"/>
              <a:gd name="T21" fmla="*/ 576 h 598"/>
              <a:gd name="T22" fmla="*/ 1662 w 1844"/>
              <a:gd name="T23" fmla="*/ 590 h 598"/>
              <a:gd name="T24" fmla="*/ 1728 w 1844"/>
              <a:gd name="T25" fmla="*/ 598 h 598"/>
              <a:gd name="T26" fmla="*/ 1844 w 1844"/>
              <a:gd name="T27" fmla="*/ 590 h 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844" h="598">
                <a:moveTo>
                  <a:pt x="0" y="0"/>
                </a:moveTo>
                <a:cubicBezTo>
                  <a:pt x="91" y="22"/>
                  <a:pt x="192" y="24"/>
                  <a:pt x="284" y="29"/>
                </a:cubicBezTo>
                <a:cubicBezTo>
                  <a:pt x="329" y="43"/>
                  <a:pt x="382" y="52"/>
                  <a:pt x="423" y="73"/>
                </a:cubicBezTo>
                <a:cubicBezTo>
                  <a:pt x="479" y="102"/>
                  <a:pt x="409" y="74"/>
                  <a:pt x="466" y="95"/>
                </a:cubicBezTo>
                <a:cubicBezTo>
                  <a:pt x="515" y="133"/>
                  <a:pt x="566" y="170"/>
                  <a:pt x="612" y="211"/>
                </a:cubicBezTo>
                <a:cubicBezTo>
                  <a:pt x="628" y="225"/>
                  <a:pt x="641" y="240"/>
                  <a:pt x="656" y="255"/>
                </a:cubicBezTo>
                <a:cubicBezTo>
                  <a:pt x="668" y="267"/>
                  <a:pt x="700" y="284"/>
                  <a:pt x="700" y="284"/>
                </a:cubicBezTo>
                <a:cubicBezTo>
                  <a:pt x="735" y="338"/>
                  <a:pt x="820" y="355"/>
                  <a:pt x="875" y="386"/>
                </a:cubicBezTo>
                <a:cubicBezTo>
                  <a:pt x="913" y="407"/>
                  <a:pt x="947" y="436"/>
                  <a:pt x="984" y="459"/>
                </a:cubicBezTo>
                <a:cubicBezTo>
                  <a:pt x="1027" y="486"/>
                  <a:pt x="1088" y="496"/>
                  <a:pt x="1137" y="510"/>
                </a:cubicBezTo>
                <a:cubicBezTo>
                  <a:pt x="1219" y="534"/>
                  <a:pt x="1300" y="566"/>
                  <a:pt x="1385" y="576"/>
                </a:cubicBezTo>
                <a:cubicBezTo>
                  <a:pt x="1471" y="586"/>
                  <a:pt x="1582" y="587"/>
                  <a:pt x="1662" y="590"/>
                </a:cubicBezTo>
                <a:cubicBezTo>
                  <a:pt x="1684" y="593"/>
                  <a:pt x="1706" y="598"/>
                  <a:pt x="1728" y="598"/>
                </a:cubicBezTo>
                <a:cubicBezTo>
                  <a:pt x="1767" y="598"/>
                  <a:pt x="1844" y="590"/>
                  <a:pt x="1844" y="590"/>
                </a:cubicBez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329" name="Freeform 89">
            <a:extLst>
              <a:ext uri="{FF2B5EF4-FFF2-40B4-BE49-F238E27FC236}">
                <a16:creationId xmlns:a16="http://schemas.microsoft.com/office/drawing/2014/main" id="{82FF3C2B-D9E7-4142-8CBC-334D42C3C758}"/>
              </a:ext>
            </a:extLst>
          </p:cNvPr>
          <p:cNvSpPr>
            <a:spLocks/>
          </p:cNvSpPr>
          <p:nvPr/>
        </p:nvSpPr>
        <p:spPr bwMode="auto">
          <a:xfrm>
            <a:off x="2274888" y="5035551"/>
            <a:ext cx="3151188" cy="1019175"/>
          </a:xfrm>
          <a:custGeom>
            <a:avLst/>
            <a:gdLst>
              <a:gd name="T0" fmla="*/ 0 w 1947"/>
              <a:gd name="T1" fmla="*/ 612 h 642"/>
              <a:gd name="T2" fmla="*/ 219 w 1947"/>
              <a:gd name="T3" fmla="*/ 605 h 642"/>
              <a:gd name="T4" fmla="*/ 299 w 1947"/>
              <a:gd name="T5" fmla="*/ 568 h 642"/>
              <a:gd name="T6" fmla="*/ 365 w 1947"/>
              <a:gd name="T7" fmla="*/ 532 h 642"/>
              <a:gd name="T8" fmla="*/ 540 w 1947"/>
              <a:gd name="T9" fmla="*/ 379 h 642"/>
              <a:gd name="T10" fmla="*/ 693 w 1947"/>
              <a:gd name="T11" fmla="*/ 182 h 642"/>
              <a:gd name="T12" fmla="*/ 766 w 1947"/>
              <a:gd name="T13" fmla="*/ 80 h 642"/>
              <a:gd name="T14" fmla="*/ 832 w 1947"/>
              <a:gd name="T15" fmla="*/ 36 h 642"/>
              <a:gd name="T16" fmla="*/ 883 w 1947"/>
              <a:gd name="T17" fmla="*/ 29 h 642"/>
              <a:gd name="T18" fmla="*/ 1007 w 1947"/>
              <a:gd name="T19" fmla="*/ 0 h 642"/>
              <a:gd name="T20" fmla="*/ 1276 w 1947"/>
              <a:gd name="T21" fmla="*/ 233 h 642"/>
              <a:gd name="T22" fmla="*/ 1349 w 1947"/>
              <a:gd name="T23" fmla="*/ 350 h 642"/>
              <a:gd name="T24" fmla="*/ 1393 w 1947"/>
              <a:gd name="T25" fmla="*/ 393 h 642"/>
              <a:gd name="T26" fmla="*/ 1422 w 1947"/>
              <a:gd name="T27" fmla="*/ 408 h 642"/>
              <a:gd name="T28" fmla="*/ 1488 w 1947"/>
              <a:gd name="T29" fmla="*/ 474 h 642"/>
              <a:gd name="T30" fmla="*/ 1575 w 1947"/>
              <a:gd name="T31" fmla="*/ 532 h 642"/>
              <a:gd name="T32" fmla="*/ 1626 w 1947"/>
              <a:gd name="T33" fmla="*/ 568 h 642"/>
              <a:gd name="T34" fmla="*/ 1881 w 1947"/>
              <a:gd name="T35" fmla="*/ 634 h 642"/>
              <a:gd name="T36" fmla="*/ 1947 w 1947"/>
              <a:gd name="T37" fmla="*/ 619 h 6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947" h="642">
                <a:moveTo>
                  <a:pt x="0" y="612"/>
                </a:moveTo>
                <a:cubicBezTo>
                  <a:pt x="75" y="620"/>
                  <a:pt x="145" y="614"/>
                  <a:pt x="219" y="605"/>
                </a:cubicBezTo>
                <a:cubicBezTo>
                  <a:pt x="245" y="587"/>
                  <a:pt x="272" y="584"/>
                  <a:pt x="299" y="568"/>
                </a:cubicBezTo>
                <a:cubicBezTo>
                  <a:pt x="359" y="532"/>
                  <a:pt x="322" y="546"/>
                  <a:pt x="365" y="532"/>
                </a:cubicBezTo>
                <a:cubicBezTo>
                  <a:pt x="407" y="477"/>
                  <a:pt x="494" y="435"/>
                  <a:pt x="540" y="379"/>
                </a:cubicBezTo>
                <a:cubicBezTo>
                  <a:pt x="592" y="316"/>
                  <a:pt x="645" y="248"/>
                  <a:pt x="693" y="182"/>
                </a:cubicBezTo>
                <a:cubicBezTo>
                  <a:pt x="716" y="151"/>
                  <a:pt x="736" y="106"/>
                  <a:pt x="766" y="80"/>
                </a:cubicBezTo>
                <a:cubicBezTo>
                  <a:pt x="786" y="63"/>
                  <a:pt x="810" y="51"/>
                  <a:pt x="832" y="36"/>
                </a:cubicBezTo>
                <a:cubicBezTo>
                  <a:pt x="846" y="26"/>
                  <a:pt x="866" y="32"/>
                  <a:pt x="883" y="29"/>
                </a:cubicBezTo>
                <a:cubicBezTo>
                  <a:pt x="925" y="22"/>
                  <a:pt x="966" y="10"/>
                  <a:pt x="1007" y="0"/>
                </a:cubicBezTo>
                <a:cubicBezTo>
                  <a:pt x="1124" y="39"/>
                  <a:pt x="1206" y="138"/>
                  <a:pt x="1276" y="233"/>
                </a:cubicBezTo>
                <a:cubicBezTo>
                  <a:pt x="1304" y="270"/>
                  <a:pt x="1318" y="315"/>
                  <a:pt x="1349" y="350"/>
                </a:cubicBezTo>
                <a:cubicBezTo>
                  <a:pt x="1363" y="365"/>
                  <a:pt x="1375" y="384"/>
                  <a:pt x="1393" y="393"/>
                </a:cubicBezTo>
                <a:cubicBezTo>
                  <a:pt x="1403" y="398"/>
                  <a:pt x="1414" y="401"/>
                  <a:pt x="1422" y="408"/>
                </a:cubicBezTo>
                <a:cubicBezTo>
                  <a:pt x="1446" y="428"/>
                  <a:pt x="1462" y="457"/>
                  <a:pt x="1488" y="474"/>
                </a:cubicBezTo>
                <a:cubicBezTo>
                  <a:pt x="1514" y="490"/>
                  <a:pt x="1555" y="512"/>
                  <a:pt x="1575" y="532"/>
                </a:cubicBezTo>
                <a:cubicBezTo>
                  <a:pt x="1601" y="558"/>
                  <a:pt x="1591" y="553"/>
                  <a:pt x="1626" y="568"/>
                </a:cubicBezTo>
                <a:cubicBezTo>
                  <a:pt x="1707" y="603"/>
                  <a:pt x="1797" y="612"/>
                  <a:pt x="1881" y="634"/>
                </a:cubicBezTo>
                <a:cubicBezTo>
                  <a:pt x="1944" y="627"/>
                  <a:pt x="1927" y="642"/>
                  <a:pt x="1947" y="619"/>
                </a:cubicBezTo>
              </a:path>
            </a:pathLst>
          </a:custGeom>
          <a:noFill/>
          <a:ln w="571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332" name="Freeform 92">
            <a:extLst>
              <a:ext uri="{FF2B5EF4-FFF2-40B4-BE49-F238E27FC236}">
                <a16:creationId xmlns:a16="http://schemas.microsoft.com/office/drawing/2014/main" id="{215D04A1-90FC-4BE0-84D4-DED603DD8116}"/>
              </a:ext>
            </a:extLst>
          </p:cNvPr>
          <p:cNvSpPr>
            <a:spLocks/>
          </p:cNvSpPr>
          <p:nvPr/>
        </p:nvSpPr>
        <p:spPr bwMode="auto">
          <a:xfrm>
            <a:off x="6399213" y="2778125"/>
            <a:ext cx="2897188" cy="1030288"/>
          </a:xfrm>
          <a:custGeom>
            <a:avLst/>
            <a:gdLst>
              <a:gd name="T0" fmla="*/ 4 w 1791"/>
              <a:gd name="T1" fmla="*/ 649 h 649"/>
              <a:gd name="T2" fmla="*/ 216 w 1791"/>
              <a:gd name="T3" fmla="*/ 634 h 649"/>
              <a:gd name="T4" fmla="*/ 558 w 1791"/>
              <a:gd name="T5" fmla="*/ 554 h 649"/>
              <a:gd name="T6" fmla="*/ 733 w 1791"/>
              <a:gd name="T7" fmla="*/ 445 h 649"/>
              <a:gd name="T8" fmla="*/ 799 w 1791"/>
              <a:gd name="T9" fmla="*/ 394 h 649"/>
              <a:gd name="T10" fmla="*/ 821 w 1791"/>
              <a:gd name="T11" fmla="*/ 379 h 649"/>
              <a:gd name="T12" fmla="*/ 850 w 1791"/>
              <a:gd name="T13" fmla="*/ 335 h 649"/>
              <a:gd name="T14" fmla="*/ 872 w 1791"/>
              <a:gd name="T15" fmla="*/ 321 h 649"/>
              <a:gd name="T16" fmla="*/ 937 w 1791"/>
              <a:gd name="T17" fmla="*/ 255 h 649"/>
              <a:gd name="T18" fmla="*/ 974 w 1791"/>
              <a:gd name="T19" fmla="*/ 211 h 649"/>
              <a:gd name="T20" fmla="*/ 1025 w 1791"/>
              <a:gd name="T21" fmla="*/ 160 h 649"/>
              <a:gd name="T22" fmla="*/ 1105 w 1791"/>
              <a:gd name="T23" fmla="*/ 102 h 649"/>
              <a:gd name="T24" fmla="*/ 1171 w 1791"/>
              <a:gd name="T25" fmla="*/ 58 h 649"/>
              <a:gd name="T26" fmla="*/ 1411 w 1791"/>
              <a:gd name="T27" fmla="*/ 22 h 649"/>
              <a:gd name="T28" fmla="*/ 1543 w 1791"/>
              <a:gd name="T29" fmla="*/ 0 h 649"/>
              <a:gd name="T30" fmla="*/ 1791 w 1791"/>
              <a:gd name="T31" fmla="*/ 0 h 6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791" h="649">
                <a:moveTo>
                  <a:pt x="4" y="649"/>
                </a:moveTo>
                <a:cubicBezTo>
                  <a:pt x="88" y="619"/>
                  <a:pt x="0" y="648"/>
                  <a:pt x="216" y="634"/>
                </a:cubicBezTo>
                <a:cubicBezTo>
                  <a:pt x="332" y="627"/>
                  <a:pt x="448" y="589"/>
                  <a:pt x="558" y="554"/>
                </a:cubicBezTo>
                <a:cubicBezTo>
                  <a:pt x="614" y="516"/>
                  <a:pt x="680" y="491"/>
                  <a:pt x="733" y="445"/>
                </a:cubicBezTo>
                <a:cubicBezTo>
                  <a:pt x="793" y="393"/>
                  <a:pt x="703" y="458"/>
                  <a:pt x="799" y="394"/>
                </a:cubicBezTo>
                <a:cubicBezTo>
                  <a:pt x="806" y="389"/>
                  <a:pt x="821" y="379"/>
                  <a:pt x="821" y="379"/>
                </a:cubicBezTo>
                <a:cubicBezTo>
                  <a:pt x="831" y="364"/>
                  <a:pt x="840" y="350"/>
                  <a:pt x="850" y="335"/>
                </a:cubicBezTo>
                <a:cubicBezTo>
                  <a:pt x="855" y="328"/>
                  <a:pt x="865" y="327"/>
                  <a:pt x="872" y="321"/>
                </a:cubicBezTo>
                <a:cubicBezTo>
                  <a:pt x="895" y="301"/>
                  <a:pt x="920" y="281"/>
                  <a:pt x="937" y="255"/>
                </a:cubicBezTo>
                <a:cubicBezTo>
                  <a:pt x="992" y="174"/>
                  <a:pt x="905" y="299"/>
                  <a:pt x="974" y="211"/>
                </a:cubicBezTo>
                <a:cubicBezTo>
                  <a:pt x="1015" y="159"/>
                  <a:pt x="983" y="175"/>
                  <a:pt x="1025" y="160"/>
                </a:cubicBezTo>
                <a:cubicBezTo>
                  <a:pt x="1041" y="137"/>
                  <a:pt x="1078" y="110"/>
                  <a:pt x="1105" y="102"/>
                </a:cubicBezTo>
                <a:cubicBezTo>
                  <a:pt x="1156" y="68"/>
                  <a:pt x="1134" y="83"/>
                  <a:pt x="1171" y="58"/>
                </a:cubicBezTo>
                <a:cubicBezTo>
                  <a:pt x="1211" y="31"/>
                  <a:pt x="1364" y="26"/>
                  <a:pt x="1411" y="22"/>
                </a:cubicBezTo>
                <a:cubicBezTo>
                  <a:pt x="1454" y="7"/>
                  <a:pt x="1499" y="10"/>
                  <a:pt x="1543" y="0"/>
                </a:cubicBezTo>
                <a:cubicBezTo>
                  <a:pt x="1782" y="7"/>
                  <a:pt x="1706" y="40"/>
                  <a:pt x="1791" y="0"/>
                </a:cubicBezTo>
              </a:path>
            </a:pathLst>
          </a:custGeom>
          <a:noFill/>
          <a:ln w="571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337" name="Freeform 97">
            <a:extLst>
              <a:ext uri="{FF2B5EF4-FFF2-40B4-BE49-F238E27FC236}">
                <a16:creationId xmlns:a16="http://schemas.microsoft.com/office/drawing/2014/main" id="{A89CD167-05E8-437C-9A71-A4D2F9907FE3}"/>
              </a:ext>
            </a:extLst>
          </p:cNvPr>
          <p:cNvSpPr>
            <a:spLocks/>
          </p:cNvSpPr>
          <p:nvPr/>
        </p:nvSpPr>
        <p:spPr bwMode="auto">
          <a:xfrm>
            <a:off x="6357938" y="5046664"/>
            <a:ext cx="2890838" cy="960437"/>
          </a:xfrm>
          <a:custGeom>
            <a:avLst/>
            <a:gdLst>
              <a:gd name="T0" fmla="*/ 0 w 1786"/>
              <a:gd name="T1" fmla="*/ 7 h 605"/>
              <a:gd name="T2" fmla="*/ 204 w 1786"/>
              <a:gd name="T3" fmla="*/ 29 h 605"/>
              <a:gd name="T4" fmla="*/ 248 w 1786"/>
              <a:gd name="T5" fmla="*/ 36 h 605"/>
              <a:gd name="T6" fmla="*/ 292 w 1786"/>
              <a:gd name="T7" fmla="*/ 66 h 605"/>
              <a:gd name="T8" fmla="*/ 314 w 1786"/>
              <a:gd name="T9" fmla="*/ 73 h 605"/>
              <a:gd name="T10" fmla="*/ 532 w 1786"/>
              <a:gd name="T11" fmla="*/ 255 h 605"/>
              <a:gd name="T12" fmla="*/ 707 w 1786"/>
              <a:gd name="T13" fmla="*/ 488 h 605"/>
              <a:gd name="T14" fmla="*/ 780 w 1786"/>
              <a:gd name="T15" fmla="*/ 569 h 605"/>
              <a:gd name="T16" fmla="*/ 919 w 1786"/>
              <a:gd name="T17" fmla="*/ 605 h 605"/>
              <a:gd name="T18" fmla="*/ 1035 w 1786"/>
              <a:gd name="T19" fmla="*/ 583 h 605"/>
              <a:gd name="T20" fmla="*/ 1079 w 1786"/>
              <a:gd name="T21" fmla="*/ 554 h 605"/>
              <a:gd name="T22" fmla="*/ 1167 w 1786"/>
              <a:gd name="T23" fmla="*/ 423 h 605"/>
              <a:gd name="T24" fmla="*/ 1189 w 1786"/>
              <a:gd name="T25" fmla="*/ 357 h 605"/>
              <a:gd name="T26" fmla="*/ 1291 w 1786"/>
              <a:gd name="T27" fmla="*/ 255 h 605"/>
              <a:gd name="T28" fmla="*/ 1349 w 1786"/>
              <a:gd name="T29" fmla="*/ 175 h 605"/>
              <a:gd name="T30" fmla="*/ 1429 w 1786"/>
              <a:gd name="T31" fmla="*/ 109 h 605"/>
              <a:gd name="T32" fmla="*/ 1531 w 1786"/>
              <a:gd name="T33" fmla="*/ 51 h 605"/>
              <a:gd name="T34" fmla="*/ 1786 w 1786"/>
              <a:gd name="T35" fmla="*/ 0 h 6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786" h="605">
                <a:moveTo>
                  <a:pt x="0" y="7"/>
                </a:moveTo>
                <a:cubicBezTo>
                  <a:pt x="70" y="14"/>
                  <a:pt x="134" y="24"/>
                  <a:pt x="204" y="29"/>
                </a:cubicBezTo>
                <a:cubicBezTo>
                  <a:pt x="219" y="31"/>
                  <a:pt x="234" y="30"/>
                  <a:pt x="248" y="36"/>
                </a:cubicBezTo>
                <a:cubicBezTo>
                  <a:pt x="264" y="43"/>
                  <a:pt x="275" y="61"/>
                  <a:pt x="292" y="66"/>
                </a:cubicBezTo>
                <a:cubicBezTo>
                  <a:pt x="299" y="68"/>
                  <a:pt x="307" y="71"/>
                  <a:pt x="314" y="73"/>
                </a:cubicBezTo>
                <a:cubicBezTo>
                  <a:pt x="392" y="126"/>
                  <a:pt x="452" y="204"/>
                  <a:pt x="532" y="255"/>
                </a:cubicBezTo>
                <a:cubicBezTo>
                  <a:pt x="586" y="335"/>
                  <a:pt x="647" y="411"/>
                  <a:pt x="707" y="488"/>
                </a:cubicBezTo>
                <a:cubicBezTo>
                  <a:pt x="730" y="517"/>
                  <a:pt x="746" y="550"/>
                  <a:pt x="780" y="569"/>
                </a:cubicBezTo>
                <a:cubicBezTo>
                  <a:pt x="819" y="590"/>
                  <a:pt x="877" y="597"/>
                  <a:pt x="919" y="605"/>
                </a:cubicBezTo>
                <a:cubicBezTo>
                  <a:pt x="955" y="602"/>
                  <a:pt x="1001" y="602"/>
                  <a:pt x="1035" y="583"/>
                </a:cubicBezTo>
                <a:cubicBezTo>
                  <a:pt x="1050" y="574"/>
                  <a:pt x="1079" y="554"/>
                  <a:pt x="1079" y="554"/>
                </a:cubicBezTo>
                <a:cubicBezTo>
                  <a:pt x="1109" y="510"/>
                  <a:pt x="1128" y="462"/>
                  <a:pt x="1167" y="423"/>
                </a:cubicBezTo>
                <a:cubicBezTo>
                  <a:pt x="1174" y="401"/>
                  <a:pt x="1176" y="376"/>
                  <a:pt x="1189" y="357"/>
                </a:cubicBezTo>
                <a:cubicBezTo>
                  <a:pt x="1216" y="316"/>
                  <a:pt x="1257" y="289"/>
                  <a:pt x="1291" y="255"/>
                </a:cubicBezTo>
                <a:cubicBezTo>
                  <a:pt x="1305" y="210"/>
                  <a:pt x="1312" y="200"/>
                  <a:pt x="1349" y="175"/>
                </a:cubicBezTo>
                <a:cubicBezTo>
                  <a:pt x="1369" y="146"/>
                  <a:pt x="1402" y="133"/>
                  <a:pt x="1429" y="109"/>
                </a:cubicBezTo>
                <a:cubicBezTo>
                  <a:pt x="1480" y="64"/>
                  <a:pt x="1468" y="63"/>
                  <a:pt x="1531" y="51"/>
                </a:cubicBezTo>
                <a:cubicBezTo>
                  <a:pt x="1617" y="6"/>
                  <a:pt x="1687" y="0"/>
                  <a:pt x="1786" y="0"/>
                </a:cubicBezTo>
              </a:path>
            </a:pathLst>
          </a:custGeom>
          <a:noFill/>
          <a:ln w="571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10338" name="Freeform 98">
            <a:extLst>
              <a:ext uri="{FF2B5EF4-FFF2-40B4-BE49-F238E27FC236}">
                <a16:creationId xmlns:a16="http://schemas.microsoft.com/office/drawing/2014/main" id="{E91CFA4E-57ED-48C9-8BEA-6720A9B98113}"/>
              </a:ext>
            </a:extLst>
          </p:cNvPr>
          <p:cNvSpPr>
            <a:spLocks/>
          </p:cNvSpPr>
          <p:nvPr/>
        </p:nvSpPr>
        <p:spPr bwMode="auto">
          <a:xfrm>
            <a:off x="7289801" y="1296988"/>
            <a:ext cx="577850" cy="23812"/>
          </a:xfrm>
          <a:custGeom>
            <a:avLst/>
            <a:gdLst>
              <a:gd name="T0" fmla="*/ 0 w 357"/>
              <a:gd name="T1" fmla="*/ 14 h 15"/>
              <a:gd name="T2" fmla="*/ 190 w 357"/>
              <a:gd name="T3" fmla="*/ 7 h 15"/>
              <a:gd name="T4" fmla="*/ 212 w 357"/>
              <a:gd name="T5" fmla="*/ 14 h 15"/>
              <a:gd name="T6" fmla="*/ 255 w 357"/>
              <a:gd name="T7" fmla="*/ 0 h 15"/>
              <a:gd name="T8" fmla="*/ 335 w 357"/>
              <a:gd name="T9" fmla="*/ 7 h 15"/>
              <a:gd name="T10" fmla="*/ 357 w 357"/>
              <a:gd name="T11" fmla="*/ 14 h 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57" h="15">
                <a:moveTo>
                  <a:pt x="0" y="14"/>
                </a:moveTo>
                <a:cubicBezTo>
                  <a:pt x="70" y="5"/>
                  <a:pt x="117" y="1"/>
                  <a:pt x="190" y="7"/>
                </a:cubicBezTo>
                <a:cubicBezTo>
                  <a:pt x="197" y="9"/>
                  <a:pt x="204" y="15"/>
                  <a:pt x="212" y="14"/>
                </a:cubicBezTo>
                <a:cubicBezTo>
                  <a:pt x="227" y="12"/>
                  <a:pt x="255" y="0"/>
                  <a:pt x="255" y="0"/>
                </a:cubicBezTo>
                <a:cubicBezTo>
                  <a:pt x="282" y="2"/>
                  <a:pt x="308" y="3"/>
                  <a:pt x="335" y="7"/>
                </a:cubicBezTo>
                <a:cubicBezTo>
                  <a:pt x="343" y="8"/>
                  <a:pt x="357" y="14"/>
                  <a:pt x="357" y="14"/>
                </a:cubicBezTo>
              </a:path>
            </a:pathLst>
          </a:custGeom>
          <a:noFill/>
          <a:ln w="571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BW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>
            <a:extLst>
              <a:ext uri="{FF2B5EF4-FFF2-40B4-BE49-F238E27FC236}">
                <a16:creationId xmlns:a16="http://schemas.microsoft.com/office/drawing/2014/main" id="{97E3FC6B-54E4-461F-9A44-A8C59813A16B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981200" y="274638"/>
            <a:ext cx="8229600" cy="639762"/>
          </a:xfrm>
        </p:spPr>
        <p:txBody>
          <a:bodyPr/>
          <a:lstStyle/>
          <a:p>
            <a:pPr eaLnBrk="1" hangingPunct="1"/>
            <a:r>
              <a:rPr lang="en-US" altLang="en-US" sz="3500" b="1">
                <a:solidFill>
                  <a:schemeClr val="accent2"/>
                </a:solidFill>
              </a:rPr>
              <a:t>Low-pass RC Filter</a:t>
            </a:r>
          </a:p>
        </p:txBody>
      </p:sp>
      <p:sp>
        <p:nvSpPr>
          <p:cNvPr id="34821" name="Rectangle 9">
            <a:extLst>
              <a:ext uri="{FF2B5EF4-FFF2-40B4-BE49-F238E27FC236}">
                <a16:creationId xmlns:a16="http://schemas.microsoft.com/office/drawing/2014/main" id="{86E7AB7D-6F99-4182-8F24-F34528DBEC4F}"/>
              </a:ext>
            </a:extLst>
          </p:cNvPr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1981200" y="1219200"/>
            <a:ext cx="3429000" cy="4876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fc = 1/(2</a:t>
            </a:r>
            <a:r>
              <a:rPr lang="en-US" altLang="en-US" sz="2400" dirty="0">
                <a:sym typeface="Symbol" panose="05050102010706020507" pitchFamily="18" charset="2"/>
              </a:rPr>
              <a:t>RC)</a:t>
            </a:r>
          </a:p>
          <a:p>
            <a:pPr eaLnBrk="1" hangingPunct="1"/>
            <a:endParaRPr lang="en-US" altLang="en-US" sz="2400" dirty="0">
              <a:sym typeface="Symbol" panose="05050102010706020507" pitchFamily="18" charset="2"/>
            </a:endParaRPr>
          </a:p>
          <a:p>
            <a:pPr eaLnBrk="1" hangingPunct="1"/>
            <a:endParaRPr lang="en-US" altLang="en-US" sz="2400" dirty="0">
              <a:sym typeface="Symbol" panose="05050102010706020507" pitchFamily="18" charset="2"/>
            </a:endParaRPr>
          </a:p>
          <a:p>
            <a:pPr eaLnBrk="1" hangingPunct="1"/>
            <a:endParaRPr lang="en-US" altLang="en-US" sz="2400" dirty="0">
              <a:sym typeface="Symbol" panose="05050102010706020507" pitchFamily="18" charset="2"/>
            </a:endParaRPr>
          </a:p>
          <a:p>
            <a:pPr eaLnBrk="1" hangingPunct="1"/>
            <a:r>
              <a:rPr lang="en-US" altLang="en-US" sz="2400" dirty="0">
                <a:sym typeface="Symbol" panose="05050102010706020507" pitchFamily="18" charset="2"/>
              </a:rPr>
              <a:t>C in F to pF range</a:t>
            </a:r>
          </a:p>
          <a:p>
            <a:pPr eaLnBrk="1" hangingPunct="1"/>
            <a:r>
              <a:rPr lang="en-US" altLang="en-US" sz="2400" dirty="0">
                <a:sym typeface="Symbol" panose="05050102010706020507" pitchFamily="18" charset="2"/>
              </a:rPr>
              <a:t>1K  R  1 M</a:t>
            </a:r>
          </a:p>
          <a:p>
            <a:pPr eaLnBrk="1" hangingPunct="1"/>
            <a:r>
              <a:rPr lang="en-US" altLang="en-US" sz="2400" dirty="0">
                <a:sym typeface="Symbol" panose="05050102010706020507" pitchFamily="18" charset="2"/>
              </a:rPr>
              <a:t>Use standard values for R</a:t>
            </a:r>
          </a:p>
          <a:p>
            <a:pPr eaLnBrk="1" hangingPunct="1"/>
            <a:r>
              <a:rPr lang="en-US" altLang="en-US" sz="2400" dirty="0">
                <a:sym typeface="Symbol" panose="05050102010706020507" pitchFamily="18" charset="2"/>
              </a:rPr>
              <a:t>Capacitors have a tolerance as high as </a:t>
            </a:r>
            <a:r>
              <a:rPr lang="en-US" altLang="en-US" sz="2400" dirty="0">
                <a:cs typeface="Arial" panose="020B0604020202020204" pitchFamily="34" charset="0"/>
                <a:sym typeface="Symbol" panose="05050102010706020507" pitchFamily="18" charset="2"/>
              </a:rPr>
              <a:t>± 20%</a:t>
            </a:r>
            <a:endParaRPr lang="en-US" altLang="en-US" sz="2400" dirty="0">
              <a:sym typeface="Symbol" panose="05050102010706020507" pitchFamily="18" charset="2"/>
            </a:endParaRPr>
          </a:p>
        </p:txBody>
      </p:sp>
      <p:graphicFrame>
        <p:nvGraphicFramePr>
          <p:cNvPr id="34822" name="Object 0">
            <a:extLst>
              <a:ext uri="{FF2B5EF4-FFF2-40B4-BE49-F238E27FC236}">
                <a16:creationId xmlns:a16="http://schemas.microsoft.com/office/drawing/2014/main" id="{902AB933-7C0B-484C-A676-F1B9AAB55B7C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2133600" y="1752600"/>
          <a:ext cx="2946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46400" imgH="838200" progId="Equation.3">
                  <p:embed/>
                </p:oleObj>
              </mc:Choice>
              <mc:Fallback>
                <p:oleObj name="Equation" r:id="rId9" imgW="2946400" imgH="838200" progId="Equation.3">
                  <p:embed/>
                  <p:pic>
                    <p:nvPicPr>
                      <p:cNvPr id="34822" name="Object 0">
                        <a:extLst>
                          <a:ext uri="{FF2B5EF4-FFF2-40B4-BE49-F238E27FC236}">
                            <a16:creationId xmlns:a16="http://schemas.microsoft.com/office/drawing/2014/main" id="{902AB933-7C0B-484C-A676-F1B9AAB55B7C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752600"/>
                        <a:ext cx="2946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38" name="Date Placeholder 5">
            <a:extLst>
              <a:ext uri="{FF2B5EF4-FFF2-40B4-BE49-F238E27FC236}">
                <a16:creationId xmlns:a16="http://schemas.microsoft.com/office/drawing/2014/main" id="{E4116539-6367-4C5A-856B-91DDB054DBBE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fld id="{56EDD539-25AB-421A-B936-C5487412471F}" type="datetime1">
              <a:rPr lang="en-US" altLang="en-US" sz="1400"/>
              <a:pPr eaLnBrk="1" hangingPunct="1">
                <a:spcBef>
                  <a:spcPct val="0"/>
                </a:spcBef>
                <a:buFontTx/>
                <a:buNone/>
                <a:defRPr/>
              </a:pPr>
              <a:t>11/1/2023</a:t>
            </a:fld>
            <a:endParaRPr lang="en-US" altLang="en-US" sz="1400"/>
          </a:p>
        </p:txBody>
      </p:sp>
      <p:sp>
        <p:nvSpPr>
          <p:cNvPr id="34819" name="Slide Number Placeholder 7">
            <a:extLst>
              <a:ext uri="{FF2B5EF4-FFF2-40B4-BE49-F238E27FC236}">
                <a16:creationId xmlns:a16="http://schemas.microsoft.com/office/drawing/2014/main" id="{75BD7345-84F2-43D8-9944-38A200D025D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DD04CDB-7F48-4738-A7B5-D2ACE80B82EE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/>
          </a:p>
        </p:txBody>
      </p:sp>
      <p:pic>
        <p:nvPicPr>
          <p:cNvPr id="34823" name="Picture 14">
            <a:extLst>
              <a:ext uri="{FF2B5EF4-FFF2-40B4-BE49-F238E27FC236}">
                <a16:creationId xmlns:a16="http://schemas.microsoft.com/office/drawing/2014/main" id="{26FE7835-B1C2-4BCC-99C5-F7D6548374AB}"/>
              </a:ext>
            </a:extLst>
          </p:cNvPr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038225"/>
            <a:ext cx="3200400" cy="189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4824" name="Group 20">
            <a:extLst>
              <a:ext uri="{FF2B5EF4-FFF2-40B4-BE49-F238E27FC236}">
                <a16:creationId xmlns:a16="http://schemas.microsoft.com/office/drawing/2014/main" id="{CBA2516F-FB77-4539-8F2E-BCE55666AFCB}"/>
              </a:ext>
            </a:extLst>
          </p:cNvPr>
          <p:cNvGrpSpPr>
            <a:grpSpLocks/>
          </p:cNvGrpSpPr>
          <p:nvPr>
            <p:custDataLst>
              <p:tags r:id="rId6"/>
            </p:custDataLst>
          </p:nvPr>
        </p:nvGrpSpPr>
        <p:grpSpPr bwMode="auto">
          <a:xfrm>
            <a:off x="5638800" y="3505201"/>
            <a:ext cx="4495800" cy="2805113"/>
            <a:chOff x="2592" y="2208"/>
            <a:chExt cx="2832" cy="1767"/>
          </a:xfrm>
        </p:grpSpPr>
        <p:pic>
          <p:nvPicPr>
            <p:cNvPr id="34825" name="Picture 15" descr="F:\Ciein_Texto_Final_3\Tech167-Handouts-Lectures\PPT-Lectures\FF33.jpg">
              <a:extLst>
                <a:ext uri="{FF2B5EF4-FFF2-40B4-BE49-F238E27FC236}">
                  <a16:creationId xmlns:a16="http://schemas.microsoft.com/office/drawing/2014/main" id="{680B00E9-2006-447A-AB73-15ECAF6676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48" y="2208"/>
              <a:ext cx="2576" cy="1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826" name="Text Box 16">
              <a:extLst>
                <a:ext uri="{FF2B5EF4-FFF2-40B4-BE49-F238E27FC236}">
                  <a16:creationId xmlns:a16="http://schemas.microsoft.com/office/drawing/2014/main" id="{B8FBB66D-1361-47BE-92B3-70EF7E2842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3744"/>
              <a:ext cx="3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n-US" sz="1800">
                  <a:solidFill>
                    <a:srgbClr val="FF3300"/>
                  </a:solidFill>
                </a:rPr>
                <a:t>f/fc</a:t>
              </a:r>
            </a:p>
          </p:txBody>
        </p:sp>
        <p:sp>
          <p:nvSpPr>
            <p:cNvPr id="34827" name="Text Box 17">
              <a:extLst>
                <a:ext uri="{FF2B5EF4-FFF2-40B4-BE49-F238E27FC236}">
                  <a16:creationId xmlns:a16="http://schemas.microsoft.com/office/drawing/2014/main" id="{F644D7D7-3619-4571-AACA-4840D397DA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2349" y="2979"/>
              <a:ext cx="71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n-US" sz="1800">
                  <a:solidFill>
                    <a:srgbClr val="FF3300"/>
                  </a:solidFill>
                  <a:latin typeface="Symbol" panose="05050102010706020507" pitchFamily="18" charset="2"/>
                </a:rPr>
                <a:t>|</a:t>
              </a:r>
              <a:r>
                <a:rPr lang="es-ES" altLang="en-US" sz="1800">
                  <a:solidFill>
                    <a:srgbClr val="FF3300"/>
                  </a:solidFill>
                </a:rPr>
                <a:t>Vout/Vin</a:t>
              </a:r>
              <a:r>
                <a:rPr lang="es-ES" altLang="en-US" sz="1800">
                  <a:solidFill>
                    <a:srgbClr val="FF3300"/>
                  </a:solidFill>
                  <a:latin typeface="Symbol" panose="05050102010706020507" pitchFamily="18" charset="2"/>
                </a:rPr>
                <a:t>|</a:t>
              </a:r>
              <a:endParaRPr lang="es-ES" altLang="en-US" sz="1800">
                <a:solidFill>
                  <a:srgbClr val="FF3300"/>
                </a:solidFill>
              </a:endParaRPr>
            </a:p>
          </p:txBody>
        </p:sp>
        <p:sp>
          <p:nvSpPr>
            <p:cNvPr id="34828" name="Freeform 19">
              <a:extLst>
                <a:ext uri="{FF2B5EF4-FFF2-40B4-BE49-F238E27FC236}">
                  <a16:creationId xmlns:a16="http://schemas.microsoft.com/office/drawing/2014/main" id="{6D47F5EF-468E-4193-AA1F-E1EDEB699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2455"/>
              <a:ext cx="2076" cy="1235"/>
            </a:xfrm>
            <a:custGeom>
              <a:avLst/>
              <a:gdLst>
                <a:gd name="T0" fmla="*/ 0 w 2076"/>
                <a:gd name="T1" fmla="*/ 11 h 1235"/>
                <a:gd name="T2" fmla="*/ 402 w 2076"/>
                <a:gd name="T3" fmla="*/ 29 h 1235"/>
                <a:gd name="T4" fmla="*/ 726 w 2076"/>
                <a:gd name="T5" fmla="*/ 185 h 1235"/>
                <a:gd name="T6" fmla="*/ 900 w 2076"/>
                <a:gd name="T7" fmla="*/ 431 h 1235"/>
                <a:gd name="T8" fmla="*/ 1170 w 2076"/>
                <a:gd name="T9" fmla="*/ 851 h 1235"/>
                <a:gd name="T10" fmla="*/ 1446 w 2076"/>
                <a:gd name="T11" fmla="*/ 1097 h 1235"/>
                <a:gd name="T12" fmla="*/ 1728 w 2076"/>
                <a:gd name="T13" fmla="*/ 1193 h 1235"/>
                <a:gd name="T14" fmla="*/ 2076 w 2076"/>
                <a:gd name="T15" fmla="*/ 1235 h 123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076"/>
                <a:gd name="T25" fmla="*/ 0 h 1235"/>
                <a:gd name="T26" fmla="*/ 2076 w 2076"/>
                <a:gd name="T27" fmla="*/ 1235 h 123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076" h="1235">
                  <a:moveTo>
                    <a:pt x="0" y="11"/>
                  </a:moveTo>
                  <a:cubicBezTo>
                    <a:pt x="66" y="14"/>
                    <a:pt x="281" y="0"/>
                    <a:pt x="402" y="29"/>
                  </a:cubicBezTo>
                  <a:cubicBezTo>
                    <a:pt x="523" y="58"/>
                    <a:pt x="643" y="118"/>
                    <a:pt x="726" y="185"/>
                  </a:cubicBezTo>
                  <a:cubicBezTo>
                    <a:pt x="809" y="252"/>
                    <a:pt x="826" y="320"/>
                    <a:pt x="900" y="431"/>
                  </a:cubicBezTo>
                  <a:cubicBezTo>
                    <a:pt x="974" y="542"/>
                    <a:pt x="1079" y="740"/>
                    <a:pt x="1170" y="851"/>
                  </a:cubicBezTo>
                  <a:cubicBezTo>
                    <a:pt x="1261" y="962"/>
                    <a:pt x="1353" y="1040"/>
                    <a:pt x="1446" y="1097"/>
                  </a:cubicBezTo>
                  <a:cubicBezTo>
                    <a:pt x="1539" y="1154"/>
                    <a:pt x="1623" y="1170"/>
                    <a:pt x="1728" y="1193"/>
                  </a:cubicBezTo>
                  <a:cubicBezTo>
                    <a:pt x="1833" y="1216"/>
                    <a:pt x="2004" y="1226"/>
                    <a:pt x="2076" y="1235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BW"/>
            </a:p>
          </p:txBody>
        </p:sp>
      </p:grp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1C5C9-4C19-461C-A85D-256A829F7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Low-Pass </a:t>
            </a:r>
            <a:r>
              <a:rPr lang="en-GB" dirty="0" err="1"/>
              <a:t>Rc</a:t>
            </a:r>
            <a:r>
              <a:rPr lang="en-GB" dirty="0"/>
              <a:t> Filter</a:t>
            </a:r>
            <a:endParaRPr lang="en-BW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60A16-A4CE-4F0F-A0C9-CFAE8DBAD5D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09599" y="1219200"/>
            <a:ext cx="11410765" cy="3592497"/>
          </a:xfrm>
        </p:spPr>
        <p:txBody>
          <a:bodyPr>
            <a:normAutofit/>
          </a:bodyPr>
          <a:lstStyle/>
          <a:p>
            <a:endParaRPr lang="en-GB" b="0" i="0" dirty="0">
              <a:solidFill>
                <a:srgbClr val="414042"/>
              </a:solidFill>
              <a:effectLst/>
              <a:latin typeface="Lato"/>
            </a:endParaRPr>
          </a:p>
          <a:p>
            <a:r>
              <a:rPr lang="en-GB" b="0" i="0" dirty="0">
                <a:solidFill>
                  <a:srgbClr val="414042"/>
                </a:solidFill>
                <a:effectLst/>
                <a:latin typeface="Lato"/>
              </a:rPr>
              <a:t>Problem 1</a:t>
            </a:r>
          </a:p>
          <a:p>
            <a:pPr marL="0" indent="0">
              <a:buNone/>
            </a:pPr>
            <a:r>
              <a:rPr lang="en-GB" b="0" i="0" dirty="0">
                <a:solidFill>
                  <a:srgbClr val="414042"/>
                </a:solidFill>
                <a:effectLst/>
                <a:latin typeface="Lato"/>
              </a:rPr>
              <a:t>A </a:t>
            </a:r>
            <a:r>
              <a:rPr lang="en-GB" b="1" i="0" dirty="0">
                <a:solidFill>
                  <a:srgbClr val="414042"/>
                </a:solidFill>
                <a:effectLst/>
                <a:latin typeface="Lato"/>
              </a:rPr>
              <a:t>Low Pass Filter</a:t>
            </a:r>
            <a:r>
              <a:rPr lang="en-GB" b="0" i="0" dirty="0">
                <a:solidFill>
                  <a:srgbClr val="414042"/>
                </a:solidFill>
                <a:effectLst/>
                <a:latin typeface="Lato"/>
              </a:rPr>
              <a:t> circuit consisting of a resistor of </a:t>
            </a:r>
            <a:r>
              <a:rPr lang="en-GB" b="0" i="0" u="none" strike="noStrike" dirty="0">
                <a:solidFill>
                  <a:srgbClr val="414143"/>
                </a:solidFill>
                <a:effectLst/>
                <a:latin typeface="Lato"/>
              </a:rPr>
              <a:t>4k7Ω</a:t>
            </a:r>
            <a:r>
              <a:rPr lang="en-GB" b="0" i="0" dirty="0">
                <a:solidFill>
                  <a:srgbClr val="414042"/>
                </a:solidFill>
                <a:effectLst/>
                <a:latin typeface="Lato"/>
              </a:rPr>
              <a:t> in series with a capacitor of </a:t>
            </a:r>
            <a:r>
              <a:rPr lang="en-GB" b="0" i="0" u="none" strike="noStrike" dirty="0">
                <a:solidFill>
                  <a:srgbClr val="414143"/>
                </a:solidFill>
                <a:effectLst/>
                <a:latin typeface="Lato"/>
              </a:rPr>
              <a:t>47nF</a:t>
            </a:r>
            <a:r>
              <a:rPr lang="en-GB" b="0" i="0" dirty="0">
                <a:solidFill>
                  <a:srgbClr val="414042"/>
                </a:solidFill>
                <a:effectLst/>
                <a:latin typeface="Lato"/>
              </a:rPr>
              <a:t> is connected across a </a:t>
            </a:r>
            <a:r>
              <a:rPr lang="en-GB" b="0" i="0" u="none" strike="noStrike" dirty="0">
                <a:solidFill>
                  <a:srgbClr val="414143"/>
                </a:solidFill>
                <a:effectLst/>
                <a:latin typeface="Lato"/>
              </a:rPr>
              <a:t>10v</a:t>
            </a:r>
            <a:r>
              <a:rPr lang="en-GB" b="0" i="0" dirty="0">
                <a:solidFill>
                  <a:srgbClr val="414042"/>
                </a:solidFill>
                <a:effectLst/>
                <a:latin typeface="Lato"/>
              </a:rPr>
              <a:t> sinusoidal supply. Calculate the output voltage ( </a:t>
            </a:r>
            <a:r>
              <a:rPr lang="en-GB" b="0" i="0" u="none" strike="noStrike" dirty="0">
                <a:solidFill>
                  <a:srgbClr val="414143"/>
                </a:solidFill>
                <a:effectLst/>
                <a:latin typeface="Lato"/>
              </a:rPr>
              <a:t>V</a:t>
            </a:r>
            <a:r>
              <a:rPr lang="en-GB" b="0" i="0" u="none" strike="noStrike" baseline="-25000" dirty="0">
                <a:solidFill>
                  <a:srgbClr val="414143"/>
                </a:solidFill>
                <a:effectLst/>
                <a:latin typeface="Lato"/>
              </a:rPr>
              <a:t>OUT</a:t>
            </a:r>
            <a:r>
              <a:rPr lang="en-GB" b="0" i="0" dirty="0">
                <a:solidFill>
                  <a:srgbClr val="414042"/>
                </a:solidFill>
                <a:effectLst/>
                <a:latin typeface="Lato"/>
              </a:rPr>
              <a:t> ) at a frequency of 100Hz and again at frequency of 10,000Hz or 10kHz.</a:t>
            </a:r>
            <a:endParaRPr lang="en-BW" dirty="0"/>
          </a:p>
        </p:txBody>
      </p:sp>
    </p:spTree>
    <p:extLst>
      <p:ext uri="{BB962C8B-B14F-4D97-AF65-F5344CB8AC3E}">
        <p14:creationId xmlns:p14="http://schemas.microsoft.com/office/powerpoint/2010/main" val="1152333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55876-F4B5-43A4-A9FB-0F9A01386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W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1A090-6218-4B63-BF22-9E13EE5791CD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09599" y="1219200"/>
            <a:ext cx="6989685" cy="4876800"/>
          </a:xfrm>
        </p:spPr>
        <p:txBody>
          <a:bodyPr/>
          <a:lstStyle/>
          <a:p>
            <a:r>
              <a:rPr lang="en-GB" dirty="0"/>
              <a:t>SOLUTION</a:t>
            </a:r>
          </a:p>
          <a:p>
            <a:r>
              <a:rPr kumimoji="0" lang="en-BW" altLang="en-BW" sz="2000" b="1" i="0" u="none" strike="noStrike" cap="none" normalizeH="0" baseline="0" dirty="0">
                <a:ln>
                  <a:noFill/>
                </a:ln>
                <a:solidFill>
                  <a:srgbClr val="404041"/>
                </a:solidFill>
                <a:effectLst/>
                <a:latin typeface="Lato"/>
              </a:rPr>
              <a:t>Voltage Output at a Frequency of 100Hz.</a:t>
            </a:r>
            <a:endParaRPr kumimoji="0" lang="en-GB" altLang="en-BW" sz="2000" b="1" i="0" u="none" strike="noStrike" cap="none" normalizeH="0" baseline="0" dirty="0">
              <a:ln>
                <a:noFill/>
              </a:ln>
              <a:solidFill>
                <a:srgbClr val="404041"/>
              </a:solidFill>
              <a:effectLst/>
              <a:latin typeface="Lato"/>
            </a:endParaRPr>
          </a:p>
          <a:p>
            <a:endParaRPr lang="en-GB" altLang="en-BW" b="1" dirty="0">
              <a:solidFill>
                <a:srgbClr val="404041"/>
              </a:solidFill>
              <a:latin typeface="Lato"/>
            </a:endParaRPr>
          </a:p>
          <a:p>
            <a:endParaRPr kumimoji="0" lang="en-BW" altLang="en-BW" sz="2000" b="1" i="0" u="none" strike="noStrike" cap="none" normalizeH="0" baseline="0" dirty="0">
              <a:ln>
                <a:noFill/>
              </a:ln>
              <a:solidFill>
                <a:srgbClr val="404041"/>
              </a:solidFill>
              <a:effectLst/>
              <a:latin typeface="Lato"/>
            </a:endParaRPr>
          </a:p>
          <a:p>
            <a:r>
              <a:rPr lang="en-GB" dirty="0"/>
              <a:t> 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717D2E1-0FAE-4C1D-976C-B816E0382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645958"/>
            <a:ext cx="4994957" cy="1749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044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BW" altLang="en-BW" sz="3400" b="0" i="0" u="none" strike="noStrike" cap="none" normalizeH="0" baseline="0">
                <a:ln>
                  <a:noFill/>
                </a:ln>
                <a:solidFill>
                  <a:srgbClr val="414042"/>
                </a:solidFill>
                <a:effectLst/>
                <a:latin typeface="Lato"/>
              </a:rPr>
              <a:t>                                   </a:t>
            </a:r>
            <a:endParaRPr kumimoji="0" lang="en-BW" altLang="en-BW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BW" altLang="en-BW" sz="1200" b="0" i="0" u="none" strike="noStrike" cap="none" normalizeH="0" baseline="0">
                <a:ln>
                  <a:noFill/>
                </a:ln>
                <a:solidFill>
                  <a:srgbClr val="414042"/>
                </a:solidFill>
                <a:effectLst/>
                <a:latin typeface="Lato"/>
              </a:rPr>
              <a:t> </a:t>
            </a:r>
            <a:endParaRPr kumimoji="0" lang="en-BW" altLang="en-BW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BW" altLang="en-BW" sz="1300" b="0" i="0" u="none" strike="noStrike" cap="none" normalizeH="0" baseline="0">
                <a:ln>
                  <a:noFill/>
                </a:ln>
                <a:solidFill>
                  <a:srgbClr val="414042"/>
                </a:solidFill>
                <a:effectLst/>
                <a:latin typeface="Lato"/>
              </a:rPr>
              <a:t>  </a:t>
            </a:r>
            <a:r>
              <a:rPr kumimoji="0" lang="en-BW" altLang="en-BW" sz="3900" b="0" i="0" u="none" strike="noStrike" cap="none" normalizeH="0" baseline="0">
                <a:ln>
                  <a:noFill/>
                </a:ln>
                <a:solidFill>
                  <a:srgbClr val="414042"/>
                </a:solidFill>
                <a:effectLst/>
                <a:latin typeface="Lato"/>
              </a:rPr>
              <a:t>                                    </a:t>
            </a:r>
            <a:endParaRPr kumimoji="0" lang="en-BW" altLang="en-BW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BW" altLang="en-BW" sz="1200" b="0" i="0" u="none" strike="noStrike" cap="none" normalizeH="0" baseline="0">
                <a:ln>
                  <a:noFill/>
                </a:ln>
                <a:solidFill>
                  <a:srgbClr val="414042"/>
                </a:solidFill>
                <a:effectLst/>
                <a:latin typeface="Lato"/>
              </a:rPr>
              <a:t> </a:t>
            </a:r>
            <a:endParaRPr kumimoji="0" lang="en-BW" altLang="en-B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6" name="Picture 2" descr="capacitive reactance at 100hz">
            <a:extLst>
              <a:ext uri="{FF2B5EF4-FFF2-40B4-BE49-F238E27FC236}">
                <a16:creationId xmlns:a16="http://schemas.microsoft.com/office/drawing/2014/main" id="{1A042412-3C2E-4113-B667-F4735EC8E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300" y="2323329"/>
            <a:ext cx="4095750" cy="55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7" name="Picture 3" descr="potential divider at 100hz">
            <a:extLst>
              <a:ext uri="{FF2B5EF4-FFF2-40B4-BE49-F238E27FC236}">
                <a16:creationId xmlns:a16="http://schemas.microsoft.com/office/drawing/2014/main" id="{16191D3A-B141-4FDE-8B34-7C09357A5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300" y="3504336"/>
            <a:ext cx="485775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F5423A4E-07F0-41DD-84D2-CC98D1ADC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5175" y="536820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044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BW" altLang="en-BW" sz="1500" b="1" i="0" u="none" strike="noStrike" cap="none" normalizeH="0" baseline="0">
                <a:ln>
                  <a:noFill/>
                </a:ln>
                <a:solidFill>
                  <a:srgbClr val="404041"/>
                </a:solidFill>
                <a:effectLst/>
                <a:latin typeface="Lato"/>
              </a:rPr>
              <a:t>Voltage Output at a Frequency of 10,000Hz (10kHz).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BW" altLang="en-BW" sz="1300" b="0" i="0" u="none" strike="noStrike" cap="none" normalizeH="0" baseline="0">
                <a:ln>
                  <a:noFill/>
                </a:ln>
                <a:solidFill>
                  <a:srgbClr val="414042"/>
                </a:solidFill>
                <a:effectLst/>
                <a:latin typeface="Lato"/>
              </a:rPr>
              <a:t>  </a:t>
            </a:r>
            <a:r>
              <a:rPr kumimoji="0" lang="en-BW" altLang="en-BW" sz="3400" b="0" i="0" u="none" strike="noStrike" cap="none" normalizeH="0" baseline="0">
                <a:ln>
                  <a:noFill/>
                </a:ln>
                <a:solidFill>
                  <a:srgbClr val="414042"/>
                </a:solidFill>
                <a:effectLst/>
                <a:latin typeface="Lato"/>
              </a:rPr>
              <a:t>                                    </a:t>
            </a:r>
            <a:endParaRPr kumimoji="0" lang="en-BW" altLang="en-BW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BW" altLang="en-BW" sz="1200" b="0" i="0" u="none" strike="noStrike" cap="none" normalizeH="0" baseline="0">
                <a:ln>
                  <a:noFill/>
                </a:ln>
                <a:solidFill>
                  <a:srgbClr val="414042"/>
                </a:solidFill>
                <a:effectLst/>
                <a:latin typeface="Lato"/>
              </a:rPr>
              <a:t> </a:t>
            </a:r>
            <a:endParaRPr kumimoji="0" lang="en-BW" altLang="en-BW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BW" altLang="en-BW" sz="1300" b="0" i="0" u="none" strike="noStrike" cap="none" normalizeH="0" baseline="0">
                <a:ln>
                  <a:noFill/>
                </a:ln>
                <a:solidFill>
                  <a:srgbClr val="414042"/>
                </a:solidFill>
                <a:effectLst/>
                <a:latin typeface="Lato"/>
              </a:rPr>
              <a:t>  </a:t>
            </a:r>
            <a:r>
              <a:rPr kumimoji="0" lang="en-BW" altLang="en-BW" sz="4000" b="0" i="0" u="none" strike="noStrike" cap="none" normalizeH="0" baseline="0">
                <a:ln>
                  <a:noFill/>
                </a:ln>
                <a:solidFill>
                  <a:srgbClr val="414042"/>
                </a:solidFill>
                <a:effectLst/>
                <a:latin typeface="Lato"/>
              </a:rPr>
              <a:t>                                    </a:t>
            </a:r>
            <a:endParaRPr kumimoji="0" lang="en-BW" altLang="en-B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9" name="Picture 5" descr="capacitive reactance at 10khz">
            <a:extLst>
              <a:ext uri="{FF2B5EF4-FFF2-40B4-BE49-F238E27FC236}">
                <a16:creationId xmlns:a16="http://schemas.microsoft.com/office/drawing/2014/main" id="{ACBDE419-C872-4A09-8638-2034FB5AF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0" y="4890370"/>
            <a:ext cx="4267200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potential divider at 10khz">
            <a:extLst>
              <a:ext uri="{FF2B5EF4-FFF2-40B4-BE49-F238E27FC236}">
                <a16:creationId xmlns:a16="http://schemas.microsoft.com/office/drawing/2014/main" id="{04FB5E4F-46F7-498A-B3A1-282BCDA9F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025" y="5592046"/>
            <a:ext cx="5029200" cy="64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6117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>
            <a:extLst>
              <a:ext uri="{FF2B5EF4-FFF2-40B4-BE49-F238E27FC236}">
                <a16:creationId xmlns:a16="http://schemas.microsoft.com/office/drawing/2014/main" id="{F1E776D2-2742-4D51-BAD3-8C64E1EABC6A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981200" y="274638"/>
            <a:ext cx="8229600" cy="639762"/>
          </a:xfrm>
        </p:spPr>
        <p:txBody>
          <a:bodyPr/>
          <a:lstStyle/>
          <a:p>
            <a:pPr eaLnBrk="1" hangingPunct="1"/>
            <a:r>
              <a:rPr lang="en-US" altLang="en-US" sz="3500" b="1" dirty="0">
                <a:solidFill>
                  <a:schemeClr val="tx1"/>
                </a:solidFill>
                <a:sym typeface="Symbol" panose="05050102010706020507" pitchFamily="18" charset="2"/>
              </a:rPr>
              <a:t>Problem 2</a:t>
            </a:r>
          </a:p>
        </p:txBody>
      </p:sp>
      <p:sp>
        <p:nvSpPr>
          <p:cNvPr id="36869" name="Rectangle 3">
            <a:extLst>
              <a:ext uri="{FF2B5EF4-FFF2-40B4-BE49-F238E27FC236}">
                <a16:creationId xmlns:a16="http://schemas.microsoft.com/office/drawing/2014/main" id="{5A61CA05-06F4-4C3A-A965-22976683D2CB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23333" y="1185333"/>
            <a:ext cx="9177867" cy="3767667"/>
          </a:xfrm>
        </p:spPr>
        <p:txBody>
          <a:bodyPr>
            <a:normAutofit/>
          </a:bodyPr>
          <a:lstStyle/>
          <a:p>
            <a:pPr marL="4763" indent="-4763">
              <a:buNone/>
            </a:pPr>
            <a:r>
              <a:rPr lang="en-US" altLang="zh-TW" dirty="0">
                <a:ea typeface="PMingLiU" panose="020B0604030504040204" pitchFamily="18" charset="-120"/>
              </a:rPr>
              <a:t>Attenuation is the process of decreasing the input amplitude for example, to get it to fit within the optimal range of the device digitizer.</a:t>
            </a:r>
          </a:p>
          <a:p>
            <a:pPr marL="4763" indent="-4763">
              <a:buNone/>
            </a:pPr>
            <a:endParaRPr lang="en-US" altLang="zh-TW" dirty="0">
              <a:ea typeface="PMingLiU" panose="020B0604030504040204" pitchFamily="18" charset="-120"/>
            </a:endParaRPr>
          </a:p>
          <a:p>
            <a:pPr marL="4763" indent="-4763">
              <a:buNone/>
            </a:pPr>
            <a:r>
              <a:rPr lang="en-US" altLang="zh-TW" dirty="0">
                <a:ea typeface="PMingLiU" panose="020B0604030504040204" pitchFamily="18" charset="-120"/>
              </a:rPr>
              <a:t>A low-pass RC filter has fc = 2.5 kHz. Find the attenuation of a 2-kHz signal. </a:t>
            </a:r>
          </a:p>
          <a:p>
            <a:pPr marL="4763" indent="-4763">
              <a:buNone/>
            </a:pPr>
            <a:endParaRPr lang="en-US" altLang="en-US" dirty="0">
              <a:ea typeface="PMingLiU" panose="020B0604030504040204" pitchFamily="18" charset="-120"/>
            </a:endParaRPr>
          </a:p>
          <a:p>
            <a:pPr marL="4763" indent="-4763">
              <a:buNone/>
            </a:pPr>
            <a:endParaRPr lang="en-US" altLang="en-US" dirty="0">
              <a:ea typeface="PMingLiU" panose="020B0604030504040204" pitchFamily="18" charset="-120"/>
            </a:endParaRPr>
          </a:p>
          <a:p>
            <a:pPr marL="4763" indent="-4763">
              <a:buNone/>
            </a:pPr>
            <a:endParaRPr lang="en-US" altLang="en-US" dirty="0"/>
          </a:p>
        </p:txBody>
      </p:sp>
      <p:sp>
        <p:nvSpPr>
          <p:cNvPr id="40962" name="Date Placeholder 3">
            <a:extLst>
              <a:ext uri="{FF2B5EF4-FFF2-40B4-BE49-F238E27FC236}">
                <a16:creationId xmlns:a16="http://schemas.microsoft.com/office/drawing/2014/main" id="{52968E55-78CF-4DD3-B036-2DB75D049C52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fld id="{5100468F-3125-42EA-AD5B-22F7A60F676C}" type="datetime1">
              <a:rPr lang="en-US" altLang="en-US" sz="1400"/>
              <a:pPr eaLnBrk="1" hangingPunct="1">
                <a:spcBef>
                  <a:spcPct val="0"/>
                </a:spcBef>
                <a:buFontTx/>
                <a:buNone/>
                <a:defRPr/>
              </a:pPr>
              <a:t>11/1/2023</a:t>
            </a:fld>
            <a:endParaRPr lang="en-US" altLang="en-US" sz="1400"/>
          </a:p>
        </p:txBody>
      </p:sp>
      <p:sp>
        <p:nvSpPr>
          <p:cNvPr id="36867" name="Slide Number Placeholder 5">
            <a:extLst>
              <a:ext uri="{FF2B5EF4-FFF2-40B4-BE49-F238E27FC236}">
                <a16:creationId xmlns:a16="http://schemas.microsoft.com/office/drawing/2014/main" id="{3A752385-FC6C-4BA0-ADEE-BCFF686D801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153C79A-91DF-40A6-B2AF-B34AB74A01E3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2">
            <a:extLst>
              <a:ext uri="{FF2B5EF4-FFF2-40B4-BE49-F238E27FC236}">
                <a16:creationId xmlns:a16="http://schemas.microsoft.com/office/drawing/2014/main" id="{0F4B4773-6673-4AC0-9197-9BDDB5ACEED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981200" y="274638"/>
            <a:ext cx="8229600" cy="639762"/>
          </a:xfrm>
        </p:spPr>
        <p:txBody>
          <a:bodyPr/>
          <a:lstStyle/>
          <a:p>
            <a:pPr eaLnBrk="1" hangingPunct="1"/>
            <a:r>
              <a:rPr lang="en-US" altLang="en-US" sz="3500" b="1" dirty="0">
                <a:solidFill>
                  <a:schemeClr val="accent2"/>
                </a:solidFill>
                <a:sym typeface="Symbol" panose="05050102010706020507" pitchFamily="18" charset="2"/>
              </a:rPr>
              <a:t>Problem 1 - Solution</a:t>
            </a:r>
          </a:p>
        </p:txBody>
      </p:sp>
      <p:sp>
        <p:nvSpPr>
          <p:cNvPr id="38917" name="Rectangle 3">
            <a:extLst>
              <a:ext uri="{FF2B5EF4-FFF2-40B4-BE49-F238E27FC236}">
                <a16:creationId xmlns:a16="http://schemas.microsoft.com/office/drawing/2014/main" id="{54E9D08F-6074-4088-90DF-194BE50223B7}"/>
              </a:ext>
            </a:extLst>
          </p:cNvPr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1981200" y="1219200"/>
            <a:ext cx="8001000" cy="4876800"/>
          </a:xfrm>
        </p:spPr>
        <p:txBody>
          <a:bodyPr/>
          <a:lstStyle/>
          <a:p>
            <a:pPr marL="0" indent="0">
              <a:buNone/>
            </a:pPr>
            <a:r>
              <a:rPr lang="en-US" altLang="zh-TW">
                <a:ea typeface="PMingLiU" panose="020B0604030504040204" pitchFamily="18" charset="-120"/>
              </a:rPr>
              <a:t>A low-pass RC filter has fc = 2.5 kHz. Find the attenuation of a 2-kHz signal. </a:t>
            </a:r>
          </a:p>
          <a:p>
            <a:pPr marL="0" indent="0">
              <a:buNone/>
            </a:pPr>
            <a:endParaRPr lang="en-US" altLang="en-US">
              <a:solidFill>
                <a:srgbClr val="3333CC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rgbClr val="3333CC"/>
                </a:solidFill>
              </a:rPr>
              <a:t>Solution:</a:t>
            </a:r>
          </a:p>
          <a:p>
            <a:pPr marL="0" indent="0">
              <a:buNone/>
            </a:pPr>
            <a:r>
              <a:rPr lang="en-US" altLang="en-US"/>
              <a:t>The attenuation is found from:</a:t>
            </a:r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So the attenuation is 1 – 0.781 = 0.219</a:t>
            </a:r>
          </a:p>
        </p:txBody>
      </p:sp>
      <p:graphicFrame>
        <p:nvGraphicFramePr>
          <p:cNvPr id="38918" name="Object 0">
            <a:extLst>
              <a:ext uri="{FF2B5EF4-FFF2-40B4-BE49-F238E27FC236}">
                <a16:creationId xmlns:a16="http://schemas.microsoft.com/office/drawing/2014/main" id="{5711616B-BE96-40E1-B929-1FFB4E8583A3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88663704"/>
              </p:ext>
            </p:extLst>
          </p:nvPr>
        </p:nvGraphicFramePr>
        <p:xfrm>
          <a:off x="2463384" y="3103562"/>
          <a:ext cx="6675437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7" imgW="3060700" imgH="508000" progId="Equation.3">
                  <p:embed/>
                </p:oleObj>
              </mc:Choice>
              <mc:Fallback>
                <p:oleObj name="Ecuación" r:id="rId7" imgW="3060700" imgH="508000" progId="Equation.3">
                  <p:embed/>
                  <p:pic>
                    <p:nvPicPr>
                      <p:cNvPr id="38918" name="Object 0">
                        <a:extLst>
                          <a:ext uri="{FF2B5EF4-FFF2-40B4-BE49-F238E27FC236}">
                            <a16:creationId xmlns:a16="http://schemas.microsoft.com/office/drawing/2014/main" id="{5711616B-BE96-40E1-B929-1FFB4E8583A3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384" y="3103562"/>
                        <a:ext cx="6675437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6" name="Date Placeholder 4">
            <a:extLst>
              <a:ext uri="{FF2B5EF4-FFF2-40B4-BE49-F238E27FC236}">
                <a16:creationId xmlns:a16="http://schemas.microsoft.com/office/drawing/2014/main" id="{B5FC1C8F-6F57-41D6-AE61-BDA9B1D7213A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fld id="{15F89789-10B5-4047-8846-D3D13B8DBDF4}" type="datetime1">
              <a:rPr lang="en-US" altLang="en-US" sz="1400"/>
              <a:pPr eaLnBrk="1" hangingPunct="1">
                <a:spcBef>
                  <a:spcPct val="0"/>
                </a:spcBef>
                <a:buFontTx/>
                <a:buNone/>
                <a:defRPr/>
              </a:pPr>
              <a:t>11/1/2023</a:t>
            </a:fld>
            <a:endParaRPr lang="en-US" altLang="en-US" sz="1400"/>
          </a:p>
        </p:txBody>
      </p:sp>
      <p:sp>
        <p:nvSpPr>
          <p:cNvPr id="38915" name="Slide Number Placeholder 6">
            <a:extLst>
              <a:ext uri="{FF2B5EF4-FFF2-40B4-BE49-F238E27FC236}">
                <a16:creationId xmlns:a16="http://schemas.microsoft.com/office/drawing/2014/main" id="{F9FF63C7-80A9-4BFE-BB99-42A788A4136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6B67C78-9258-44C9-80B0-4317BEAE00D8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Rectangle 2">
            <a:extLst>
              <a:ext uri="{FF2B5EF4-FFF2-40B4-BE49-F238E27FC236}">
                <a16:creationId xmlns:a16="http://schemas.microsoft.com/office/drawing/2014/main" id="{4DD3164C-5E66-4840-86C0-03534A5610B2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981200" y="274638"/>
            <a:ext cx="8229600" cy="639762"/>
          </a:xfrm>
        </p:spPr>
        <p:txBody>
          <a:bodyPr/>
          <a:lstStyle/>
          <a:p>
            <a:pPr eaLnBrk="1" hangingPunct="1"/>
            <a:r>
              <a:rPr lang="en-US" altLang="en-US" sz="3500" b="1">
                <a:solidFill>
                  <a:schemeClr val="accent2"/>
                </a:solidFill>
              </a:rPr>
              <a:t>High-pass RC Filter</a:t>
            </a:r>
          </a:p>
        </p:txBody>
      </p:sp>
      <p:sp>
        <p:nvSpPr>
          <p:cNvPr id="40965" name="Rectangle 3">
            <a:extLst>
              <a:ext uri="{FF2B5EF4-FFF2-40B4-BE49-F238E27FC236}">
                <a16:creationId xmlns:a16="http://schemas.microsoft.com/office/drawing/2014/main" id="{32C5CF92-A66D-4FCA-8157-BE2002ED72A8}"/>
              </a:ext>
            </a:extLst>
          </p:cNvPr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1905000" y="1219200"/>
            <a:ext cx="3429000" cy="4876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/>
              <a:t>fc = 1/(2</a:t>
            </a:r>
            <a:r>
              <a:rPr lang="en-US" altLang="en-US" sz="2400">
                <a:sym typeface="Symbol" panose="05050102010706020507" pitchFamily="18" charset="2"/>
              </a:rPr>
              <a:t>RC)</a:t>
            </a:r>
          </a:p>
          <a:p>
            <a:pPr eaLnBrk="1" hangingPunct="1"/>
            <a:endParaRPr lang="en-US" altLang="en-US" sz="2400">
              <a:sym typeface="Symbol" panose="05050102010706020507" pitchFamily="18" charset="2"/>
            </a:endParaRPr>
          </a:p>
          <a:p>
            <a:pPr eaLnBrk="1" hangingPunct="1"/>
            <a:endParaRPr lang="en-US" altLang="en-US" sz="2400">
              <a:sym typeface="Symbol" panose="05050102010706020507" pitchFamily="18" charset="2"/>
            </a:endParaRPr>
          </a:p>
          <a:p>
            <a:pPr eaLnBrk="1" hangingPunct="1"/>
            <a:endParaRPr lang="en-US" altLang="en-US" sz="2400">
              <a:sym typeface="Symbol" panose="05050102010706020507" pitchFamily="18" charset="2"/>
            </a:endParaRPr>
          </a:p>
          <a:p>
            <a:pPr eaLnBrk="1" hangingPunct="1"/>
            <a:r>
              <a:rPr lang="en-US" altLang="en-US" sz="2400">
                <a:solidFill>
                  <a:srgbClr val="FF3300"/>
                </a:solidFill>
                <a:sym typeface="Symbol" panose="05050102010706020507" pitchFamily="18" charset="2"/>
              </a:rPr>
              <a:t>C in F to pF range</a:t>
            </a:r>
          </a:p>
          <a:p>
            <a:pPr eaLnBrk="1" hangingPunct="1"/>
            <a:r>
              <a:rPr lang="en-US" altLang="en-US" sz="2400">
                <a:solidFill>
                  <a:srgbClr val="FF3300"/>
                </a:solidFill>
                <a:sym typeface="Symbol" panose="05050102010706020507" pitchFamily="18" charset="2"/>
              </a:rPr>
              <a:t>1K  R  1 M</a:t>
            </a:r>
          </a:p>
          <a:p>
            <a:pPr eaLnBrk="1" hangingPunct="1"/>
            <a:r>
              <a:rPr lang="en-US" altLang="en-US" sz="2400">
                <a:sym typeface="Symbol" panose="05050102010706020507" pitchFamily="18" charset="2"/>
              </a:rPr>
              <a:t>Use standard values for R</a:t>
            </a:r>
          </a:p>
          <a:p>
            <a:pPr eaLnBrk="1" hangingPunct="1"/>
            <a:r>
              <a:rPr lang="en-US" altLang="en-US" sz="2400">
                <a:sym typeface="Symbol" panose="05050102010706020507" pitchFamily="18" charset="2"/>
              </a:rPr>
              <a:t>Capacitors have a tolerance as high as 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± 20%</a:t>
            </a:r>
            <a:endParaRPr lang="en-US" altLang="en-US" sz="2400">
              <a:sym typeface="Symbol" panose="05050102010706020507" pitchFamily="18" charset="2"/>
            </a:endParaRPr>
          </a:p>
        </p:txBody>
      </p:sp>
      <p:graphicFrame>
        <p:nvGraphicFramePr>
          <p:cNvPr id="40966" name="Object 0">
            <a:extLst>
              <a:ext uri="{FF2B5EF4-FFF2-40B4-BE49-F238E27FC236}">
                <a16:creationId xmlns:a16="http://schemas.microsoft.com/office/drawing/2014/main" id="{FB07AB3D-5141-4156-B4D5-4BE96D0654F9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2209800" y="1905000"/>
          <a:ext cx="2946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46400" imgH="838200" progId="Equation.3">
                  <p:embed/>
                </p:oleObj>
              </mc:Choice>
              <mc:Fallback>
                <p:oleObj name="Equation" r:id="rId9" imgW="2946400" imgH="838200" progId="Equation.3">
                  <p:embed/>
                  <p:pic>
                    <p:nvPicPr>
                      <p:cNvPr id="40966" name="Object 0">
                        <a:extLst>
                          <a:ext uri="{FF2B5EF4-FFF2-40B4-BE49-F238E27FC236}">
                            <a16:creationId xmlns:a16="http://schemas.microsoft.com/office/drawing/2014/main" id="{FB07AB3D-5141-4156-B4D5-4BE96D0654F9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905000"/>
                        <a:ext cx="2946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0" name="Date Placeholder 5">
            <a:extLst>
              <a:ext uri="{FF2B5EF4-FFF2-40B4-BE49-F238E27FC236}">
                <a16:creationId xmlns:a16="http://schemas.microsoft.com/office/drawing/2014/main" id="{F8E53C3A-C291-4EF7-89C1-68B7B62EB4B6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fld id="{0327A867-572C-492B-8A75-E850E5D6A76F}" type="datetime1">
              <a:rPr lang="en-US" altLang="en-US" sz="1400"/>
              <a:pPr eaLnBrk="1" hangingPunct="1">
                <a:spcBef>
                  <a:spcPct val="0"/>
                </a:spcBef>
                <a:buFontTx/>
                <a:buNone/>
                <a:defRPr/>
              </a:pPr>
              <a:t>11/1/2023</a:t>
            </a:fld>
            <a:endParaRPr lang="en-US" altLang="en-US" sz="1400"/>
          </a:p>
        </p:txBody>
      </p:sp>
      <p:sp>
        <p:nvSpPr>
          <p:cNvPr id="40963" name="Slide Number Placeholder 7">
            <a:extLst>
              <a:ext uri="{FF2B5EF4-FFF2-40B4-BE49-F238E27FC236}">
                <a16:creationId xmlns:a16="http://schemas.microsoft.com/office/drawing/2014/main" id="{305481FE-74B0-41A9-9E97-1F7B633A461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3F2C659-5DB1-42D1-8720-913E300138FE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/>
          </a:p>
        </p:txBody>
      </p:sp>
      <p:pic>
        <p:nvPicPr>
          <p:cNvPr id="40967" name="Picture 12">
            <a:extLst>
              <a:ext uri="{FF2B5EF4-FFF2-40B4-BE49-F238E27FC236}">
                <a16:creationId xmlns:a16="http://schemas.microsoft.com/office/drawing/2014/main" id="{D3304DFF-5113-43AD-B773-8B6569F7E29F}"/>
              </a:ext>
            </a:extLst>
          </p:cNvPr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009650"/>
            <a:ext cx="3429000" cy="219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0968" name="Group 20">
            <a:extLst>
              <a:ext uri="{FF2B5EF4-FFF2-40B4-BE49-F238E27FC236}">
                <a16:creationId xmlns:a16="http://schemas.microsoft.com/office/drawing/2014/main" id="{31EFB320-2115-4CAD-8C04-60AFE4CA2791}"/>
              </a:ext>
            </a:extLst>
          </p:cNvPr>
          <p:cNvGrpSpPr>
            <a:grpSpLocks/>
          </p:cNvGrpSpPr>
          <p:nvPr>
            <p:custDataLst>
              <p:tags r:id="rId6"/>
            </p:custDataLst>
          </p:nvPr>
        </p:nvGrpSpPr>
        <p:grpSpPr bwMode="auto">
          <a:xfrm>
            <a:off x="5715000" y="3505201"/>
            <a:ext cx="4660900" cy="2957513"/>
            <a:chOff x="2640" y="2208"/>
            <a:chExt cx="2936" cy="1863"/>
          </a:xfrm>
        </p:grpSpPr>
        <p:pic>
          <p:nvPicPr>
            <p:cNvPr id="40969" name="Picture 13" descr="F:\Ciein_Texto_Final_3\Tech167-Handouts-Lectures\PPT-Lectures\FF34.jpg">
              <a:extLst>
                <a:ext uri="{FF2B5EF4-FFF2-40B4-BE49-F238E27FC236}">
                  <a16:creationId xmlns:a16="http://schemas.microsoft.com/office/drawing/2014/main" id="{C5458E9E-FB6B-47F5-B8C7-4EAFDA0158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0" y="2208"/>
              <a:ext cx="2696" cy="1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970" name="Freeform 14">
              <a:extLst>
                <a:ext uri="{FF2B5EF4-FFF2-40B4-BE49-F238E27FC236}">
                  <a16:creationId xmlns:a16="http://schemas.microsoft.com/office/drawing/2014/main" id="{25CC1DD2-C2D3-4474-ACBD-F880D7485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2478"/>
              <a:ext cx="2592" cy="1314"/>
            </a:xfrm>
            <a:custGeom>
              <a:avLst/>
              <a:gdLst>
                <a:gd name="T0" fmla="*/ 0 w 2592"/>
                <a:gd name="T1" fmla="*/ 1314 h 1314"/>
                <a:gd name="T2" fmla="*/ 336 w 2592"/>
                <a:gd name="T3" fmla="*/ 1266 h 1314"/>
                <a:gd name="T4" fmla="*/ 714 w 2592"/>
                <a:gd name="T5" fmla="*/ 1134 h 1314"/>
                <a:gd name="T6" fmla="*/ 1044 w 2592"/>
                <a:gd name="T7" fmla="*/ 786 h 1314"/>
                <a:gd name="T8" fmla="*/ 1392 w 2592"/>
                <a:gd name="T9" fmla="*/ 258 h 1314"/>
                <a:gd name="T10" fmla="*/ 1686 w 2592"/>
                <a:gd name="T11" fmla="*/ 42 h 1314"/>
                <a:gd name="T12" fmla="*/ 2166 w 2592"/>
                <a:gd name="T13" fmla="*/ 6 h 1314"/>
                <a:gd name="T14" fmla="*/ 2592 w 2592"/>
                <a:gd name="T15" fmla="*/ 18 h 13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592"/>
                <a:gd name="T25" fmla="*/ 0 h 1314"/>
                <a:gd name="T26" fmla="*/ 2592 w 2592"/>
                <a:gd name="T27" fmla="*/ 1314 h 131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592" h="1314">
                  <a:moveTo>
                    <a:pt x="0" y="1314"/>
                  </a:moveTo>
                  <a:cubicBezTo>
                    <a:pt x="112" y="1302"/>
                    <a:pt x="217" y="1296"/>
                    <a:pt x="336" y="1266"/>
                  </a:cubicBezTo>
                  <a:cubicBezTo>
                    <a:pt x="455" y="1236"/>
                    <a:pt x="596" y="1214"/>
                    <a:pt x="714" y="1134"/>
                  </a:cubicBezTo>
                  <a:cubicBezTo>
                    <a:pt x="832" y="1054"/>
                    <a:pt x="931" y="932"/>
                    <a:pt x="1044" y="786"/>
                  </a:cubicBezTo>
                  <a:cubicBezTo>
                    <a:pt x="1157" y="640"/>
                    <a:pt x="1285" y="382"/>
                    <a:pt x="1392" y="258"/>
                  </a:cubicBezTo>
                  <a:cubicBezTo>
                    <a:pt x="1499" y="134"/>
                    <a:pt x="1557" y="84"/>
                    <a:pt x="1686" y="42"/>
                  </a:cubicBezTo>
                  <a:cubicBezTo>
                    <a:pt x="1815" y="0"/>
                    <a:pt x="2015" y="10"/>
                    <a:pt x="2166" y="6"/>
                  </a:cubicBezTo>
                  <a:cubicBezTo>
                    <a:pt x="2317" y="2"/>
                    <a:pt x="2521" y="16"/>
                    <a:pt x="2592" y="18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BW"/>
            </a:p>
          </p:txBody>
        </p:sp>
        <p:sp>
          <p:nvSpPr>
            <p:cNvPr id="40971" name="Text Box 17">
              <a:extLst>
                <a:ext uri="{FF2B5EF4-FFF2-40B4-BE49-F238E27FC236}">
                  <a16:creationId xmlns:a16="http://schemas.microsoft.com/office/drawing/2014/main" id="{61D7C200-4773-4029-A126-7E40AEF971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3840"/>
              <a:ext cx="3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n-US" sz="1800">
                  <a:solidFill>
                    <a:srgbClr val="FF3300"/>
                  </a:solidFill>
                </a:rPr>
                <a:t>f/fc</a:t>
              </a:r>
            </a:p>
          </p:txBody>
        </p:sp>
        <p:sp>
          <p:nvSpPr>
            <p:cNvPr id="40972" name="Text Box 18">
              <a:extLst>
                <a:ext uri="{FF2B5EF4-FFF2-40B4-BE49-F238E27FC236}">
                  <a16:creationId xmlns:a16="http://schemas.microsoft.com/office/drawing/2014/main" id="{6A334B42-1ACD-488A-AB2D-302564EBEB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2397" y="2931"/>
              <a:ext cx="71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n-US" sz="1800">
                  <a:solidFill>
                    <a:srgbClr val="FF3300"/>
                  </a:solidFill>
                  <a:latin typeface="Symbol" panose="05050102010706020507" pitchFamily="18" charset="2"/>
                </a:rPr>
                <a:t>|</a:t>
              </a:r>
              <a:r>
                <a:rPr lang="es-ES" altLang="en-US" sz="1800">
                  <a:solidFill>
                    <a:srgbClr val="FF3300"/>
                  </a:solidFill>
                </a:rPr>
                <a:t>Vout/Vin</a:t>
              </a:r>
              <a:r>
                <a:rPr lang="es-ES" altLang="en-US" sz="1800">
                  <a:solidFill>
                    <a:srgbClr val="FF3300"/>
                  </a:solidFill>
                  <a:latin typeface="Symbol" panose="05050102010706020507" pitchFamily="18" charset="2"/>
                </a:rPr>
                <a:t>|</a:t>
              </a:r>
              <a:endParaRPr lang="es-ES" altLang="en-US" sz="1800">
                <a:solidFill>
                  <a:srgbClr val="FF3300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2">
            <a:extLst>
              <a:ext uri="{FF2B5EF4-FFF2-40B4-BE49-F238E27FC236}">
                <a16:creationId xmlns:a16="http://schemas.microsoft.com/office/drawing/2014/main" id="{23ECC3FF-F32D-4017-950E-A991F1CB4F76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981200" y="274638"/>
            <a:ext cx="8229600" cy="639762"/>
          </a:xfrm>
        </p:spPr>
        <p:txBody>
          <a:bodyPr/>
          <a:lstStyle/>
          <a:p>
            <a:pPr eaLnBrk="1" hangingPunct="1"/>
            <a:r>
              <a:rPr lang="en-US" altLang="en-US" sz="3500" b="1">
                <a:solidFill>
                  <a:schemeClr val="accent2"/>
                </a:solidFill>
              </a:rPr>
              <a:t>Band-pass RC Filter</a:t>
            </a:r>
          </a:p>
        </p:txBody>
      </p:sp>
      <p:sp>
        <p:nvSpPr>
          <p:cNvPr id="43013" name="Rectangle 3">
            <a:extLst>
              <a:ext uri="{FF2B5EF4-FFF2-40B4-BE49-F238E27FC236}">
                <a16:creationId xmlns:a16="http://schemas.microsoft.com/office/drawing/2014/main" id="{AB7B0599-33D8-4810-B003-047B9A77BDA2}"/>
              </a:ext>
            </a:extLst>
          </p:cNvPr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1905000" y="1219200"/>
            <a:ext cx="3429000" cy="1828800"/>
          </a:xfrm>
        </p:spPr>
        <p:txBody>
          <a:bodyPr/>
          <a:lstStyle/>
          <a:p>
            <a:pPr eaLnBrk="1" hangingPunct="1"/>
            <a:r>
              <a:rPr lang="en-US" altLang="en-US">
                <a:sym typeface="Symbol" panose="05050102010706020507" pitchFamily="18" charset="2"/>
              </a:rPr>
              <a:t>f</a:t>
            </a:r>
            <a:r>
              <a:rPr lang="en-US" altLang="en-US" baseline="-25000">
                <a:sym typeface="Symbol" panose="05050102010706020507" pitchFamily="18" charset="2"/>
              </a:rPr>
              <a:t>H</a:t>
            </a:r>
            <a:r>
              <a:rPr lang="en-US" altLang="en-US">
                <a:sym typeface="Symbol" panose="05050102010706020507" pitchFamily="18" charset="2"/>
              </a:rPr>
              <a:t> = </a:t>
            </a:r>
          </a:p>
          <a:p>
            <a:pPr eaLnBrk="1" hangingPunct="1"/>
            <a:endParaRPr lang="en-US" altLang="en-US">
              <a:sym typeface="Symbol" panose="05050102010706020507" pitchFamily="18" charset="2"/>
            </a:endParaRPr>
          </a:p>
          <a:p>
            <a:pPr eaLnBrk="1" hangingPunct="1"/>
            <a:r>
              <a:rPr lang="en-US" altLang="en-US">
                <a:sym typeface="Symbol" panose="05050102010706020507" pitchFamily="18" charset="2"/>
              </a:rPr>
              <a:t>f</a:t>
            </a:r>
            <a:r>
              <a:rPr lang="en-US" altLang="en-US" baseline="-25000">
                <a:sym typeface="Symbol" panose="05050102010706020507" pitchFamily="18" charset="2"/>
              </a:rPr>
              <a:t>L</a:t>
            </a:r>
            <a:r>
              <a:rPr lang="en-US" altLang="en-US">
                <a:sym typeface="Symbol" panose="05050102010706020507" pitchFamily="18" charset="2"/>
              </a:rPr>
              <a:t> = </a:t>
            </a:r>
          </a:p>
          <a:p>
            <a:pPr eaLnBrk="1" hangingPunct="1">
              <a:buFontTx/>
              <a:buNone/>
            </a:pPr>
            <a:endParaRPr lang="en-US" altLang="en-US">
              <a:sym typeface="Symbol" panose="05050102010706020507" pitchFamily="18" charset="2"/>
            </a:endParaRPr>
          </a:p>
        </p:txBody>
      </p:sp>
      <p:graphicFrame>
        <p:nvGraphicFramePr>
          <p:cNvPr id="43014" name="Object 0">
            <a:extLst>
              <a:ext uri="{FF2B5EF4-FFF2-40B4-BE49-F238E27FC236}">
                <a16:creationId xmlns:a16="http://schemas.microsoft.com/office/drawing/2014/main" id="{ACCC0ABE-73EA-4425-8002-D96A9B8242BE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3048000" y="1066800"/>
          <a:ext cx="11176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17600" imgH="800100" progId="Equation.3">
                  <p:embed/>
                </p:oleObj>
              </mc:Choice>
              <mc:Fallback>
                <p:oleObj name="Equation" r:id="rId20" imgW="1117600" imgH="800100" progId="Equation.3">
                  <p:embed/>
                  <p:pic>
                    <p:nvPicPr>
                      <p:cNvPr id="43014" name="Object 0">
                        <a:extLst>
                          <a:ext uri="{FF2B5EF4-FFF2-40B4-BE49-F238E27FC236}">
                            <a16:creationId xmlns:a16="http://schemas.microsoft.com/office/drawing/2014/main" id="{ACCC0ABE-73EA-4425-8002-D96A9B8242BE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066800"/>
                        <a:ext cx="11176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4" name="Date Placeholder 5">
            <a:extLst>
              <a:ext uri="{FF2B5EF4-FFF2-40B4-BE49-F238E27FC236}">
                <a16:creationId xmlns:a16="http://schemas.microsoft.com/office/drawing/2014/main" id="{C2CB228A-C8C9-4513-B509-CE2228E6AE11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fld id="{CF2DD4F0-7D1A-4C3D-AB3F-67427B79FB8D}" type="datetime1">
              <a:rPr lang="en-US" altLang="en-US" sz="1400"/>
              <a:pPr eaLnBrk="1" hangingPunct="1">
                <a:spcBef>
                  <a:spcPct val="0"/>
                </a:spcBef>
                <a:buFontTx/>
                <a:buNone/>
                <a:defRPr/>
              </a:pPr>
              <a:t>11/1/2023</a:t>
            </a:fld>
            <a:endParaRPr lang="en-US" altLang="en-US" sz="1400"/>
          </a:p>
        </p:txBody>
      </p:sp>
      <p:sp>
        <p:nvSpPr>
          <p:cNvPr id="43011" name="Slide Number Placeholder 7">
            <a:extLst>
              <a:ext uri="{FF2B5EF4-FFF2-40B4-BE49-F238E27FC236}">
                <a16:creationId xmlns:a16="http://schemas.microsoft.com/office/drawing/2014/main" id="{1374B609-3669-4E15-B5B3-38A6E1E1CD6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14DFBED-DDB2-4FD4-B15A-1404D9DE85DA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/>
          </a:p>
        </p:txBody>
      </p:sp>
      <p:graphicFrame>
        <p:nvGraphicFramePr>
          <p:cNvPr id="43015" name="Object 1">
            <a:extLst>
              <a:ext uri="{FF2B5EF4-FFF2-40B4-BE49-F238E27FC236}">
                <a16:creationId xmlns:a16="http://schemas.microsoft.com/office/drawing/2014/main" id="{DAC086D7-1A8D-49B8-87D6-E2F4BE5C63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2133600"/>
          <a:ext cx="11684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168400" imgH="800100" progId="Equation.3">
                  <p:embed/>
                </p:oleObj>
              </mc:Choice>
              <mc:Fallback>
                <p:oleObj name="Equation" r:id="rId22" imgW="1168400" imgH="800100" progId="Equation.3">
                  <p:embed/>
                  <p:pic>
                    <p:nvPicPr>
                      <p:cNvPr id="43015" name="Object 1">
                        <a:extLst>
                          <a:ext uri="{FF2B5EF4-FFF2-40B4-BE49-F238E27FC236}">
                            <a16:creationId xmlns:a16="http://schemas.microsoft.com/office/drawing/2014/main" id="{DAC086D7-1A8D-49B8-87D6-E2F4BE5C63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133600"/>
                        <a:ext cx="11684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3016" name="Picture 15">
            <a:extLst>
              <a:ext uri="{FF2B5EF4-FFF2-40B4-BE49-F238E27FC236}">
                <a16:creationId xmlns:a16="http://schemas.microsoft.com/office/drawing/2014/main" id="{2020A088-E5F8-4C40-A6CC-8A9CA4593891}"/>
              </a:ext>
            </a:extLst>
          </p:cNvPr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990601"/>
            <a:ext cx="5448300" cy="228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7" name="Line 16">
            <a:extLst>
              <a:ext uri="{FF2B5EF4-FFF2-40B4-BE49-F238E27FC236}">
                <a16:creationId xmlns:a16="http://schemas.microsoft.com/office/drawing/2014/main" id="{37D18A6D-9125-4E54-AB91-8D329480508E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3886200" y="3581400"/>
            <a:ext cx="0" cy="205740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43018" name="Line 17">
            <a:extLst>
              <a:ext uri="{FF2B5EF4-FFF2-40B4-BE49-F238E27FC236}">
                <a16:creationId xmlns:a16="http://schemas.microsoft.com/office/drawing/2014/main" id="{F1D10E17-E38E-4721-8845-DC33A502BF78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3886200" y="5638800"/>
            <a:ext cx="5105400" cy="0"/>
          </a:xfrm>
          <a:prstGeom prst="line">
            <a:avLst/>
          </a:prstGeom>
          <a:noFill/>
          <a:ln w="15875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43019" name="Freeform 18">
            <a:extLst>
              <a:ext uri="{FF2B5EF4-FFF2-40B4-BE49-F238E27FC236}">
                <a16:creationId xmlns:a16="http://schemas.microsoft.com/office/drawing/2014/main" id="{A1A3D652-7FE9-4ECB-BA33-80EE54501623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4419600" y="3878264"/>
            <a:ext cx="3962400" cy="1760537"/>
          </a:xfrm>
          <a:custGeom>
            <a:avLst/>
            <a:gdLst>
              <a:gd name="T0" fmla="*/ 0 w 2496"/>
              <a:gd name="T1" fmla="*/ 2147483646 h 1109"/>
              <a:gd name="T2" fmla="*/ 846772500 w 2496"/>
              <a:gd name="T3" fmla="*/ 2147483646 h 1109"/>
              <a:gd name="T4" fmla="*/ 1376005313 w 2496"/>
              <a:gd name="T5" fmla="*/ 1827111969 h 1109"/>
              <a:gd name="T6" fmla="*/ 1935480000 w 2496"/>
              <a:gd name="T7" fmla="*/ 708162911 h 1109"/>
              <a:gd name="T8" fmla="*/ 2147483646 w 2496"/>
              <a:gd name="T9" fmla="*/ 178930249 h 1109"/>
              <a:gd name="T10" fmla="*/ 2147483646 w 2496"/>
              <a:gd name="T11" fmla="*/ 12599984 h 1109"/>
              <a:gd name="T12" fmla="*/ 2147483646 w 2496"/>
              <a:gd name="T13" fmla="*/ 254534915 h 1109"/>
              <a:gd name="T14" fmla="*/ 2147483646 w 2496"/>
              <a:gd name="T15" fmla="*/ 1025702509 h 1109"/>
              <a:gd name="T16" fmla="*/ 2147483646 w 2496"/>
              <a:gd name="T17" fmla="*/ 1948079434 h 1109"/>
              <a:gd name="T18" fmla="*/ 2147483646 w 2496"/>
              <a:gd name="T19" fmla="*/ 2147483646 h 1109"/>
              <a:gd name="T20" fmla="*/ 2147483646 w 2496"/>
              <a:gd name="T21" fmla="*/ 2147483646 h 110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496"/>
              <a:gd name="T34" fmla="*/ 0 h 1109"/>
              <a:gd name="T35" fmla="*/ 2496 w 2496"/>
              <a:gd name="T36" fmla="*/ 1109 h 110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496" h="1109">
                <a:moveTo>
                  <a:pt x="0" y="1109"/>
                </a:moveTo>
                <a:cubicBezTo>
                  <a:pt x="124" y="1069"/>
                  <a:pt x="245" y="1029"/>
                  <a:pt x="336" y="965"/>
                </a:cubicBezTo>
                <a:cubicBezTo>
                  <a:pt x="427" y="901"/>
                  <a:pt x="474" y="839"/>
                  <a:pt x="546" y="725"/>
                </a:cubicBezTo>
                <a:cubicBezTo>
                  <a:pt x="618" y="611"/>
                  <a:pt x="701" y="390"/>
                  <a:pt x="768" y="281"/>
                </a:cubicBezTo>
                <a:cubicBezTo>
                  <a:pt x="835" y="172"/>
                  <a:pt x="852" y="117"/>
                  <a:pt x="948" y="71"/>
                </a:cubicBezTo>
                <a:cubicBezTo>
                  <a:pt x="1044" y="25"/>
                  <a:pt x="1230" y="0"/>
                  <a:pt x="1344" y="5"/>
                </a:cubicBezTo>
                <a:cubicBezTo>
                  <a:pt x="1458" y="10"/>
                  <a:pt x="1552" y="34"/>
                  <a:pt x="1632" y="101"/>
                </a:cubicBezTo>
                <a:cubicBezTo>
                  <a:pt x="1712" y="168"/>
                  <a:pt x="1760" y="295"/>
                  <a:pt x="1824" y="407"/>
                </a:cubicBezTo>
                <a:cubicBezTo>
                  <a:pt x="1888" y="519"/>
                  <a:pt x="1952" y="680"/>
                  <a:pt x="2016" y="773"/>
                </a:cubicBezTo>
                <a:cubicBezTo>
                  <a:pt x="2080" y="866"/>
                  <a:pt x="2128" y="909"/>
                  <a:pt x="2208" y="965"/>
                </a:cubicBezTo>
                <a:cubicBezTo>
                  <a:pt x="2288" y="1021"/>
                  <a:pt x="2392" y="1065"/>
                  <a:pt x="2496" y="1109"/>
                </a:cubicBezTo>
              </a:path>
            </a:pathLst>
          </a:cu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43020" name="Line 19">
            <a:extLst>
              <a:ext uri="{FF2B5EF4-FFF2-40B4-BE49-F238E27FC236}">
                <a16:creationId xmlns:a16="http://schemas.microsoft.com/office/drawing/2014/main" id="{9F289686-BFB8-4E36-9A3C-FC309382B8C4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3810000" y="4191000"/>
            <a:ext cx="4419600" cy="0"/>
          </a:xfrm>
          <a:prstGeom prst="line">
            <a:avLst/>
          </a:prstGeom>
          <a:noFill/>
          <a:ln w="2222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43021" name="Line 20">
            <a:extLst>
              <a:ext uri="{FF2B5EF4-FFF2-40B4-BE49-F238E27FC236}">
                <a16:creationId xmlns:a16="http://schemas.microsoft.com/office/drawing/2014/main" id="{E7C44971-ACBC-42B9-8874-CEF00FE5CBF3}"/>
              </a:ext>
            </a:extLst>
          </p:cNvPr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5715000" y="4191000"/>
            <a:ext cx="0" cy="1600200"/>
          </a:xfrm>
          <a:prstGeom prst="line">
            <a:avLst/>
          </a:prstGeom>
          <a:noFill/>
          <a:ln w="22225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43022" name="Line 21">
            <a:extLst>
              <a:ext uri="{FF2B5EF4-FFF2-40B4-BE49-F238E27FC236}">
                <a16:creationId xmlns:a16="http://schemas.microsoft.com/office/drawing/2014/main" id="{D290ECDC-58EA-4408-9A69-BB05735A8665}"/>
              </a:ext>
            </a:extLst>
          </p:cNvPr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7162800" y="4191000"/>
            <a:ext cx="0" cy="1600200"/>
          </a:xfrm>
          <a:prstGeom prst="line">
            <a:avLst/>
          </a:prstGeom>
          <a:noFill/>
          <a:ln w="22225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BW"/>
          </a:p>
        </p:txBody>
      </p:sp>
      <p:sp>
        <p:nvSpPr>
          <p:cNvPr id="43023" name="Text Box 22">
            <a:extLst>
              <a:ext uri="{FF2B5EF4-FFF2-40B4-BE49-F238E27FC236}">
                <a16:creationId xmlns:a16="http://schemas.microsoft.com/office/drawing/2014/main" id="{BBFD447D-CFB4-4E4F-85C0-3B8692AA03DF}"/>
              </a:ext>
            </a:extLst>
          </p:cNvPr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2971800" y="4052889"/>
            <a:ext cx="908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n-US" sz="2000">
                <a:solidFill>
                  <a:srgbClr val="3333CC"/>
                </a:solidFill>
              </a:rPr>
              <a:t>0.707</a:t>
            </a:r>
          </a:p>
        </p:txBody>
      </p:sp>
      <p:sp>
        <p:nvSpPr>
          <p:cNvPr id="43024" name="Text Box 23">
            <a:extLst>
              <a:ext uri="{FF2B5EF4-FFF2-40B4-BE49-F238E27FC236}">
                <a16:creationId xmlns:a16="http://schemas.microsoft.com/office/drawing/2014/main" id="{3C371C13-BC40-499B-904D-DD998A700891}"/>
              </a:ext>
            </a:extLst>
          </p:cNvPr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5568950" y="5842001"/>
            <a:ext cx="395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n-US" sz="2000">
                <a:solidFill>
                  <a:srgbClr val="FF3300"/>
                </a:solidFill>
              </a:rPr>
              <a:t>fL</a:t>
            </a:r>
          </a:p>
        </p:txBody>
      </p:sp>
      <p:sp>
        <p:nvSpPr>
          <p:cNvPr id="43025" name="Text Box 24">
            <a:extLst>
              <a:ext uri="{FF2B5EF4-FFF2-40B4-BE49-F238E27FC236}">
                <a16:creationId xmlns:a16="http://schemas.microsoft.com/office/drawing/2014/main" id="{316CB561-66F7-4C47-8B02-9D66D1C0C6A7}"/>
              </a:ext>
            </a:extLst>
          </p:cNvPr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7072313" y="5851526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n-US" sz="2000">
                <a:solidFill>
                  <a:srgbClr val="FF3300"/>
                </a:solidFill>
              </a:rPr>
              <a:t>fH</a:t>
            </a:r>
          </a:p>
        </p:txBody>
      </p:sp>
      <p:sp>
        <p:nvSpPr>
          <p:cNvPr id="43026" name="Text Box 25">
            <a:extLst>
              <a:ext uri="{FF2B5EF4-FFF2-40B4-BE49-F238E27FC236}">
                <a16:creationId xmlns:a16="http://schemas.microsoft.com/office/drawing/2014/main" id="{F6003A62-FC0A-4517-B778-DD8BA212AC42}"/>
              </a:ext>
            </a:extLst>
          </p:cNvPr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3581400" y="5470526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n-US" sz="2000">
                <a:solidFill>
                  <a:srgbClr val="3333CC"/>
                </a:solidFill>
              </a:rPr>
              <a:t>0</a:t>
            </a:r>
          </a:p>
        </p:txBody>
      </p:sp>
      <p:sp>
        <p:nvSpPr>
          <p:cNvPr id="43027" name="Text Box 26">
            <a:extLst>
              <a:ext uri="{FF2B5EF4-FFF2-40B4-BE49-F238E27FC236}">
                <a16:creationId xmlns:a16="http://schemas.microsoft.com/office/drawing/2014/main" id="{60290C4A-EA0B-4B12-9117-441A0F5D8C4B}"/>
              </a:ext>
            </a:extLst>
          </p:cNvPr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8686800" y="5622926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n-US" sz="2000">
                <a:solidFill>
                  <a:srgbClr val="3333CC"/>
                </a:solidFill>
              </a:rPr>
              <a:t>f</a:t>
            </a:r>
          </a:p>
        </p:txBody>
      </p:sp>
      <p:sp>
        <p:nvSpPr>
          <p:cNvPr id="43028" name="Text Box 31">
            <a:extLst>
              <a:ext uri="{FF2B5EF4-FFF2-40B4-BE49-F238E27FC236}">
                <a16:creationId xmlns:a16="http://schemas.microsoft.com/office/drawing/2014/main" id="{6E77FF27-13A8-45C4-9190-4EFF4D4FD723}"/>
              </a:ext>
            </a:extLst>
          </p:cNvPr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2209801" y="4729163"/>
            <a:ext cx="11398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n-US" sz="1800">
                <a:solidFill>
                  <a:srgbClr val="FF3300"/>
                </a:solidFill>
                <a:latin typeface="Symbol" panose="05050102010706020507" pitchFamily="18" charset="2"/>
              </a:rPr>
              <a:t>|</a:t>
            </a:r>
            <a:r>
              <a:rPr lang="es-ES" altLang="en-US" sz="1800">
                <a:solidFill>
                  <a:srgbClr val="FF3300"/>
                </a:solidFill>
              </a:rPr>
              <a:t>Vout/Vin</a:t>
            </a:r>
            <a:r>
              <a:rPr lang="es-ES" altLang="en-US" sz="1800">
                <a:solidFill>
                  <a:srgbClr val="FF3300"/>
                </a:solidFill>
                <a:latin typeface="Symbol" panose="05050102010706020507" pitchFamily="18" charset="2"/>
              </a:rPr>
              <a:t>|</a:t>
            </a:r>
            <a:endParaRPr lang="es-ES" altLang="en-US" sz="1800">
              <a:solidFill>
                <a:srgbClr val="FF3300"/>
              </a:solidFill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C8638-7E9E-44A4-B099-217D320BA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Signal Amplification</a:t>
            </a:r>
            <a:endParaRPr lang="en-B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C0094-4259-441F-9FCD-F9D25E26AD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219200"/>
            <a:ext cx="9803363" cy="4033935"/>
          </a:xfrm>
        </p:spPr>
        <p:txBody>
          <a:bodyPr/>
          <a:lstStyle/>
          <a:p>
            <a:pPr algn="l"/>
            <a:r>
              <a:rPr lang="en-GB" sz="2800" b="0" i="0" u="none" strike="noStrike" baseline="0" dirty="0">
                <a:latin typeface="Times-Roman"/>
              </a:rPr>
              <a:t>Signal amplification is carried out when the typical signal output level of a measurement  transducer is considered to be too low.</a:t>
            </a:r>
          </a:p>
          <a:p>
            <a:pPr algn="l"/>
            <a:r>
              <a:rPr lang="en-GB" sz="2800" b="0" i="0" u="none" strike="noStrike" baseline="0" dirty="0">
                <a:latin typeface="Times-Roman"/>
              </a:rPr>
              <a:t>Amplification by analogue means is carried out by an operational amplifier. </a:t>
            </a:r>
          </a:p>
          <a:p>
            <a:pPr algn="l"/>
            <a:r>
              <a:rPr lang="en-GB" sz="2800" b="0" i="0" u="none" strike="noStrike" baseline="0" dirty="0">
                <a:latin typeface="Times-Roman"/>
              </a:rPr>
              <a:t>This is normally required to have a high input impedance so that its loading effect on the transducer output signal is minimized.</a:t>
            </a:r>
          </a:p>
          <a:p>
            <a:pPr algn="l"/>
            <a:endParaRPr lang="en-GB" sz="1800" b="0" i="0" u="none" strike="noStrike" baseline="0" dirty="0">
              <a:latin typeface="Times-Roman"/>
            </a:endParaRPr>
          </a:p>
          <a:p>
            <a:pPr marL="0" indent="0" algn="l">
              <a:buNone/>
            </a:pPr>
            <a:endParaRPr lang="en-BW" dirty="0"/>
          </a:p>
        </p:txBody>
      </p:sp>
    </p:spTree>
    <p:extLst>
      <p:ext uri="{BB962C8B-B14F-4D97-AF65-F5344CB8AC3E}">
        <p14:creationId xmlns:p14="http://schemas.microsoft.com/office/powerpoint/2010/main" val="17711732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50B27-2389-4455-ACF0-9AD151230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Operational Amplifier (OP-AMP)</a:t>
            </a:r>
            <a:endParaRPr lang="en-B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95CDB-DEC8-4BB9-8AE0-5EC98C8C36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219200"/>
            <a:ext cx="5860774" cy="5748130"/>
          </a:xfrm>
        </p:spPr>
        <p:txBody>
          <a:bodyPr>
            <a:normAutofit/>
          </a:bodyPr>
          <a:lstStyle/>
          <a:p>
            <a:pPr algn="l"/>
            <a:r>
              <a:rPr lang="en-GB" sz="2400" b="0" i="0" u="none" strike="noStrike" baseline="0" dirty="0">
                <a:latin typeface="Times-Roman"/>
              </a:rPr>
              <a:t>The operational amplifier is an electronic device that has two input terminals and one output terminal, the two inputs being known as the inverting input and non-inverting  input respectively.</a:t>
            </a:r>
          </a:p>
          <a:p>
            <a:pPr algn="l"/>
            <a:r>
              <a:rPr lang="en-GB" sz="2400" b="0" i="0" u="none" strike="noStrike" baseline="0" dirty="0">
                <a:latin typeface="Times-Roman"/>
              </a:rPr>
              <a:t>The raw (unprocessed) signal </a:t>
            </a:r>
            <a:r>
              <a:rPr lang="en-GB" sz="2400" b="0" i="0" u="none" strike="noStrike" baseline="0" dirty="0">
                <a:latin typeface="LW-FINAL"/>
              </a:rPr>
              <a:t>V</a:t>
            </a:r>
            <a:r>
              <a:rPr lang="en-GB" sz="2400" b="0" i="0" u="none" strike="noStrike" baseline="0" dirty="0">
                <a:latin typeface="Times-Roman"/>
              </a:rPr>
              <a:t>i is connected to the inverting input through a resistor </a:t>
            </a:r>
            <a:r>
              <a:rPr lang="en-GB" sz="2400" b="0" i="0" u="none" strike="noStrike" baseline="0" dirty="0">
                <a:latin typeface="LW-FINAL"/>
              </a:rPr>
              <a:t>R</a:t>
            </a:r>
            <a:r>
              <a:rPr lang="en-GB" sz="2400" b="0" i="0" u="none" strike="noStrike" baseline="0" dirty="0">
                <a:latin typeface="Times-Roman"/>
              </a:rPr>
              <a:t>1 and the non-inverting input is connected to ground. A feedback path is provided from the output terminal through a resistor </a:t>
            </a:r>
            <a:r>
              <a:rPr lang="en-GB" sz="2400" b="0" i="0" u="none" strike="noStrike" baseline="0" dirty="0">
                <a:latin typeface="LW-FINAL"/>
              </a:rPr>
              <a:t>R</a:t>
            </a:r>
            <a:r>
              <a:rPr lang="en-GB" sz="2400" b="0" i="0" u="none" strike="noStrike" baseline="0" dirty="0">
                <a:latin typeface="Times-Roman"/>
              </a:rPr>
              <a:t>2 to the inverting input terminal. </a:t>
            </a:r>
          </a:p>
          <a:p>
            <a:pPr algn="l"/>
            <a:r>
              <a:rPr lang="en-GB" sz="2400" b="0" i="0" u="none" strike="noStrike" baseline="0" dirty="0">
                <a:latin typeface="Times-Roman"/>
              </a:rPr>
              <a:t>Assuming ideal operational amplifier characteristics, the processed signal </a:t>
            </a:r>
            <a:r>
              <a:rPr lang="en-GB" sz="2400" b="0" i="0" u="none" strike="noStrike" baseline="0" dirty="0">
                <a:latin typeface="LW-FINAL"/>
              </a:rPr>
              <a:t>V</a:t>
            </a:r>
            <a:r>
              <a:rPr lang="en-GB" sz="2400" b="0" i="0" u="none" strike="noStrike" baseline="0" dirty="0">
                <a:latin typeface="Times-Roman"/>
              </a:rPr>
              <a:t>0 at the output terminal is then related to the voltage </a:t>
            </a:r>
            <a:r>
              <a:rPr lang="en-GB" sz="2400" b="0" i="0" u="none" strike="noStrike" baseline="0" dirty="0">
                <a:latin typeface="LW-FINAL"/>
              </a:rPr>
              <a:t>V</a:t>
            </a:r>
            <a:r>
              <a:rPr lang="en-GB" sz="2400" b="0" i="0" u="none" strike="noStrike" baseline="0" dirty="0">
                <a:latin typeface="Times-Roman"/>
              </a:rPr>
              <a:t>i at the input terminal by the expression:</a:t>
            </a:r>
          </a:p>
          <a:p>
            <a:pPr algn="l"/>
            <a:endParaRPr lang="en-GB" sz="1800" dirty="0">
              <a:latin typeface="Times-Roman"/>
            </a:endParaRPr>
          </a:p>
          <a:p>
            <a:pPr algn="l"/>
            <a:endParaRPr lang="en-BW" dirty="0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064AEE76-DF98-4548-92B1-1B5CBCA444FD}"/>
              </a:ext>
            </a:extLst>
          </p:cNvPr>
          <p:cNvPicPr>
            <a:picLocks noGrp="1" noChangeAspect="1" noChangeArrowheads="1"/>
          </p:cNvPicPr>
          <p:nvPr>
            <p:ph sz="quarter" idx="2"/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9111" y="1690687"/>
            <a:ext cx="3498664" cy="204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F8A81D-62B6-4558-AA59-0011F8310480}"/>
              </a:ext>
            </a:extLst>
          </p:cNvPr>
          <p:cNvSpPr>
            <a:spLocks noGrp="1"/>
          </p:cNvSpPr>
          <p:nvPr>
            <p:ph sz="quarter" idx="3"/>
          </p:nvPr>
        </p:nvSpPr>
        <p:spPr/>
        <p:txBody>
          <a:bodyPr/>
          <a:lstStyle/>
          <a:p>
            <a:pPr algn="l"/>
            <a:r>
              <a:rPr lang="en-GB" sz="1800" b="0" i="0" u="none" strike="noStrike" baseline="0" dirty="0">
                <a:latin typeface="Times-Roman"/>
              </a:rPr>
              <a:t>This ratio between </a:t>
            </a:r>
            <a:r>
              <a:rPr lang="en-GB" sz="1800" b="0" i="0" u="none" strike="noStrike" baseline="0" dirty="0">
                <a:latin typeface="LW-FINAL"/>
              </a:rPr>
              <a:t>R</a:t>
            </a:r>
            <a:r>
              <a:rPr lang="en-GB" sz="1800" b="0" i="0" u="none" strike="noStrike" baseline="0" dirty="0">
                <a:latin typeface="Times-Roman"/>
              </a:rPr>
              <a:t>1 and </a:t>
            </a:r>
            <a:r>
              <a:rPr lang="en-GB" sz="1800" b="0" i="0" u="none" strike="noStrike" baseline="0" dirty="0">
                <a:latin typeface="LW-FINAL"/>
              </a:rPr>
              <a:t>R</a:t>
            </a:r>
            <a:r>
              <a:rPr lang="en-GB" sz="1800" b="0" i="0" u="none" strike="noStrike" baseline="0" dirty="0">
                <a:latin typeface="Times-Roman"/>
              </a:rPr>
              <a:t>2 in the amplifier configuration is often known as  the </a:t>
            </a:r>
            <a:r>
              <a:rPr lang="en-GB" sz="1800" b="0" i="1" u="none" strike="noStrike" baseline="0" dirty="0">
                <a:solidFill>
                  <a:srgbClr val="FF0000"/>
                </a:solidFill>
                <a:latin typeface="Times-Italic"/>
              </a:rPr>
              <a:t>amplifier gain </a:t>
            </a:r>
            <a:r>
              <a:rPr lang="en-GB" sz="1800" b="0" i="0" u="none" strike="noStrike" baseline="0" dirty="0">
                <a:solidFill>
                  <a:srgbClr val="FF0000"/>
                </a:solidFill>
                <a:latin typeface="Times-Roman"/>
              </a:rPr>
              <a:t>or </a:t>
            </a:r>
            <a:r>
              <a:rPr lang="en-GB" sz="1800" b="0" i="1" u="none" strike="noStrike" baseline="0" dirty="0">
                <a:solidFill>
                  <a:srgbClr val="FF0000"/>
                </a:solidFill>
                <a:latin typeface="Times-Italic"/>
              </a:rPr>
              <a:t>closed-loop gain</a:t>
            </a:r>
            <a:r>
              <a:rPr lang="en-GB" sz="1800" b="0" i="0" u="none" strike="noStrike" baseline="0" dirty="0">
                <a:solidFill>
                  <a:srgbClr val="FF0000"/>
                </a:solidFill>
                <a:latin typeface="Times-Roman"/>
              </a:rPr>
              <a:t>.</a:t>
            </a:r>
          </a:p>
          <a:p>
            <a:pPr algn="l"/>
            <a:endParaRPr lang="en-BW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A009DB-ABBB-247B-729C-6B06B312A0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4347" y="4900612"/>
            <a:ext cx="3281570" cy="134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0008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Rectangle 2">
            <a:extLst>
              <a:ext uri="{FF2B5EF4-FFF2-40B4-BE49-F238E27FC236}">
                <a16:creationId xmlns:a16="http://schemas.microsoft.com/office/drawing/2014/main" id="{CEA5F0EA-09B7-4FD7-9378-08DA6C2D10F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981200" y="274638"/>
            <a:ext cx="8229600" cy="715962"/>
          </a:xfrm>
        </p:spPr>
        <p:txBody>
          <a:bodyPr/>
          <a:lstStyle/>
          <a:p>
            <a:pPr eaLnBrk="1" hangingPunct="1"/>
            <a:r>
              <a:rPr lang="en-US" altLang="en-US" sz="3500" b="1">
                <a:solidFill>
                  <a:schemeClr val="accent2"/>
                </a:solidFill>
              </a:rPr>
              <a:t>Summing Amplifier</a:t>
            </a:r>
          </a:p>
        </p:txBody>
      </p:sp>
      <p:graphicFrame>
        <p:nvGraphicFramePr>
          <p:cNvPr id="53255" name="Object 1">
            <a:extLst>
              <a:ext uri="{FF2B5EF4-FFF2-40B4-BE49-F238E27FC236}">
                <a16:creationId xmlns:a16="http://schemas.microsoft.com/office/drawing/2014/main" id="{82A9ADEE-DB75-4322-89AE-18987AF2A874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4572000" y="2355850"/>
          <a:ext cx="3962400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8" imgW="1663700" imgH="482600" progId="Equation.3">
                  <p:embed/>
                </p:oleObj>
              </mc:Choice>
              <mc:Fallback>
                <p:oleObj name="Ecuación" r:id="rId8" imgW="1663700" imgH="482600" progId="Equation.3">
                  <p:embed/>
                  <p:pic>
                    <p:nvPicPr>
                      <p:cNvPr id="53255" name="Object 1">
                        <a:extLst>
                          <a:ext uri="{FF2B5EF4-FFF2-40B4-BE49-F238E27FC236}">
                            <a16:creationId xmlns:a16="http://schemas.microsoft.com/office/drawing/2014/main" id="{82A9ADEE-DB75-4322-89AE-18987AF2A874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355850"/>
                        <a:ext cx="3962400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4" name="Date Placeholder 5">
            <a:extLst>
              <a:ext uri="{FF2B5EF4-FFF2-40B4-BE49-F238E27FC236}">
                <a16:creationId xmlns:a16="http://schemas.microsoft.com/office/drawing/2014/main" id="{B4F54155-F85B-4D98-BBA3-392A119F3B5D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fld id="{47F0FA6E-8E4B-4B97-97D0-1DE4F763CCAB}" type="datetime1">
              <a:rPr lang="en-US" altLang="en-US" sz="1400"/>
              <a:pPr eaLnBrk="1" hangingPunct="1">
                <a:spcBef>
                  <a:spcPct val="0"/>
                </a:spcBef>
                <a:buFontTx/>
                <a:buNone/>
                <a:defRPr/>
              </a:pPr>
              <a:t>11/1/2023</a:t>
            </a:fld>
            <a:endParaRPr lang="en-US" altLang="en-US" sz="1400"/>
          </a:p>
        </p:txBody>
      </p:sp>
      <p:sp>
        <p:nvSpPr>
          <p:cNvPr id="53251" name="Slide Number Placeholder 7">
            <a:extLst>
              <a:ext uri="{FF2B5EF4-FFF2-40B4-BE49-F238E27FC236}">
                <a16:creationId xmlns:a16="http://schemas.microsoft.com/office/drawing/2014/main" id="{619D2088-85EE-48D5-A927-83D2E0AC086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293C55E-CFF3-4D04-A131-F0EF107214DA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/>
          </a:p>
        </p:txBody>
      </p:sp>
      <p:pic>
        <p:nvPicPr>
          <p:cNvPr id="53252" name="Picture 15">
            <a:extLst>
              <a:ext uri="{FF2B5EF4-FFF2-40B4-BE49-F238E27FC236}">
                <a16:creationId xmlns:a16="http://schemas.microsoft.com/office/drawing/2014/main" id="{8B917F7B-C8F3-4FFB-B5CC-889856CB20C3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945836"/>
            <a:ext cx="4661700" cy="3001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6" name="Text Box 13">
            <a:extLst>
              <a:ext uri="{FF2B5EF4-FFF2-40B4-BE49-F238E27FC236}">
                <a16:creationId xmlns:a16="http://schemas.microsoft.com/office/drawing/2014/main" id="{FF0B1C2F-529B-4DE4-B3EE-224EED47DA5F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057400" y="1295400"/>
            <a:ext cx="822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/>
              <a:t>Common modification of inverting amplifier which adds two or more applied voltages.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1" name="Rectangle 2">
            <a:extLst>
              <a:ext uri="{FF2B5EF4-FFF2-40B4-BE49-F238E27FC236}">
                <a16:creationId xmlns:a16="http://schemas.microsoft.com/office/drawing/2014/main" id="{5F271C28-3652-46E5-A79D-9CF6916EA5DD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981200" y="274638"/>
            <a:ext cx="8229600" cy="715962"/>
          </a:xfrm>
        </p:spPr>
        <p:txBody>
          <a:bodyPr/>
          <a:lstStyle/>
          <a:p>
            <a:pPr eaLnBrk="1" hangingPunct="1"/>
            <a:r>
              <a:rPr lang="en-US" altLang="en-US" sz="3500" b="1" dirty="0"/>
              <a:t>Noninverting Amplifier</a:t>
            </a:r>
          </a:p>
        </p:txBody>
      </p:sp>
      <p:sp>
        <p:nvSpPr>
          <p:cNvPr id="55302" name="Rectangle 4">
            <a:extLst>
              <a:ext uri="{FF2B5EF4-FFF2-40B4-BE49-F238E27FC236}">
                <a16:creationId xmlns:a16="http://schemas.microsoft.com/office/drawing/2014/main" id="{F06AA1FD-5437-4710-8130-A2B6A0DD7C29}"/>
              </a:ext>
            </a:extLst>
          </p:cNvPr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1905000" y="1981200"/>
            <a:ext cx="3657600" cy="3200400"/>
          </a:xfrm>
        </p:spPr>
        <p:txBody>
          <a:bodyPr/>
          <a:lstStyle/>
          <a:p>
            <a:pPr eaLnBrk="1" hangingPunct="1"/>
            <a:r>
              <a:rPr lang="en-US" altLang="en-US" dirty="0"/>
              <a:t>A</a:t>
            </a:r>
            <a:r>
              <a:rPr lang="en-US" altLang="en-US" baseline="-25000" dirty="0"/>
              <a:t>v</a:t>
            </a:r>
            <a:r>
              <a:rPr lang="en-US" altLang="en-US" dirty="0"/>
              <a:t> = 1 + R</a:t>
            </a:r>
            <a:r>
              <a:rPr lang="en-US" altLang="en-US" baseline="-25000" dirty="0"/>
              <a:t>2</a:t>
            </a:r>
            <a:r>
              <a:rPr lang="en-US" altLang="en-US" dirty="0"/>
              <a:t>/R</a:t>
            </a:r>
            <a:r>
              <a:rPr lang="en-US" altLang="en-US" baseline="-25000" dirty="0"/>
              <a:t>1</a:t>
            </a:r>
          </a:p>
          <a:p>
            <a:pPr eaLnBrk="1" hangingPunct="1"/>
            <a:r>
              <a:rPr lang="en-US" altLang="en-US" dirty="0"/>
              <a:t>Z</a:t>
            </a:r>
            <a:r>
              <a:rPr lang="en-US" altLang="en-US" baseline="-25000" dirty="0"/>
              <a:t>in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 10 M</a:t>
            </a:r>
          </a:p>
          <a:p>
            <a:pPr eaLnBrk="1" hangingPunct="1"/>
            <a:r>
              <a:rPr lang="en-US" altLang="en-US" dirty="0" err="1">
                <a:sym typeface="Symbol" panose="05050102010706020507" pitchFamily="18" charset="2"/>
              </a:rPr>
              <a:t>Z</a:t>
            </a:r>
            <a:r>
              <a:rPr lang="en-US" altLang="en-US" baseline="-25000" dirty="0" err="1">
                <a:sym typeface="Symbol" panose="05050102010706020507" pitchFamily="18" charset="2"/>
              </a:rPr>
              <a:t>out</a:t>
            </a:r>
            <a:r>
              <a:rPr lang="en-US" altLang="en-US" dirty="0">
                <a:sym typeface="Symbol" panose="05050102010706020507" pitchFamily="18" charset="2"/>
              </a:rPr>
              <a:t>  1</a:t>
            </a:r>
          </a:p>
          <a:p>
            <a:pPr eaLnBrk="1" hangingPunct="1"/>
            <a:r>
              <a:rPr lang="en-US" altLang="en-US" dirty="0">
                <a:solidFill>
                  <a:srgbClr val="3333CC"/>
                </a:solidFill>
                <a:sym typeface="Symbol" panose="05050102010706020507" pitchFamily="18" charset="2"/>
              </a:rPr>
              <a:t>Gain can be found by summing currents at point S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</a:p>
        </p:txBody>
      </p:sp>
      <p:sp>
        <p:nvSpPr>
          <p:cNvPr id="50178" name="Date Placeholder 4">
            <a:extLst>
              <a:ext uri="{FF2B5EF4-FFF2-40B4-BE49-F238E27FC236}">
                <a16:creationId xmlns:a16="http://schemas.microsoft.com/office/drawing/2014/main" id="{2FB2DD99-AEA6-48D5-8365-95011BCC06E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fld id="{807E592E-ADCD-42E0-B425-CD2664440B4C}" type="datetime1">
              <a:rPr lang="en-US" altLang="en-US" sz="1400"/>
              <a:pPr eaLnBrk="1" hangingPunct="1">
                <a:spcBef>
                  <a:spcPct val="0"/>
                </a:spcBef>
                <a:buFontTx/>
                <a:buNone/>
                <a:defRPr/>
              </a:pPr>
              <a:t>11/1/2023</a:t>
            </a:fld>
            <a:endParaRPr lang="en-US" altLang="en-US" sz="1400"/>
          </a:p>
        </p:txBody>
      </p:sp>
      <p:sp>
        <p:nvSpPr>
          <p:cNvPr id="55299" name="Slide Number Placeholder 6">
            <a:extLst>
              <a:ext uri="{FF2B5EF4-FFF2-40B4-BE49-F238E27FC236}">
                <a16:creationId xmlns:a16="http://schemas.microsoft.com/office/drawing/2014/main" id="{C9F16B2F-5FCF-4142-B2BE-5A7E387C558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40E04CD-EDDD-44DC-AA49-BA9B3BCE5458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/>
          </a:p>
        </p:txBody>
      </p:sp>
      <p:pic>
        <p:nvPicPr>
          <p:cNvPr id="55300" name="Picture 12">
            <a:extLst>
              <a:ext uri="{FF2B5EF4-FFF2-40B4-BE49-F238E27FC236}">
                <a16:creationId xmlns:a16="http://schemas.microsoft.com/office/drawing/2014/main" id="{AF7145E0-A7FD-416A-9BB7-5D23F62AA298}"/>
              </a:ext>
            </a:extLst>
          </p:cNvPr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6113" y="1143000"/>
            <a:ext cx="4525962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5303" name="Object 0">
            <a:extLst>
              <a:ext uri="{FF2B5EF4-FFF2-40B4-BE49-F238E27FC236}">
                <a16:creationId xmlns:a16="http://schemas.microsoft.com/office/drawing/2014/main" id="{F0D7EEED-BDB6-4F53-B336-4EBB52CE08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2400" y="4343400"/>
          <a:ext cx="2286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9" imgW="1244600" imgH="393700" progId="Equation.3">
                  <p:embed/>
                </p:oleObj>
              </mc:Choice>
              <mc:Fallback>
                <p:oleObj name="Ecuación" r:id="rId9" imgW="1244600" imgH="393700" progId="Equation.3">
                  <p:embed/>
                  <p:pic>
                    <p:nvPicPr>
                      <p:cNvPr id="55303" name="Object 0">
                        <a:extLst>
                          <a:ext uri="{FF2B5EF4-FFF2-40B4-BE49-F238E27FC236}">
                            <a16:creationId xmlns:a16="http://schemas.microsoft.com/office/drawing/2014/main" id="{F0D7EEED-BDB6-4F53-B336-4EBB52CE08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4343400"/>
                        <a:ext cx="22860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2BEE4-9D7D-4BA2-A3A8-AE6F024C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Instrumentation amplifier </a:t>
            </a:r>
            <a:endParaRPr lang="en-BW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A2DAD-1FAC-4F19-953A-4882E0A6EE15}"/>
              </a:ext>
            </a:extLst>
          </p:cNvPr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pPr algn="l"/>
            <a:r>
              <a:rPr lang="en-GB" sz="2400" b="0" i="0" u="none" strike="noStrike" baseline="0" dirty="0">
                <a:latin typeface="Times-Roman"/>
              </a:rPr>
              <a:t>For some applications requiring the amplification of very low level signals, a special type of amplifier known as an </a:t>
            </a:r>
            <a:r>
              <a:rPr lang="en-GB" sz="2400" b="0" i="1" u="none" strike="noStrike" baseline="0" dirty="0">
                <a:solidFill>
                  <a:srgbClr val="FF0000"/>
                </a:solidFill>
                <a:latin typeface="Times-Italic"/>
              </a:rPr>
              <a:t>instrumentation amplifier </a:t>
            </a:r>
            <a:r>
              <a:rPr lang="en-GB" sz="2400" b="0" i="0" u="none" strike="noStrike" baseline="0" dirty="0">
                <a:latin typeface="Times-Roman"/>
              </a:rPr>
              <a:t>is used. </a:t>
            </a:r>
          </a:p>
          <a:p>
            <a:pPr algn="l"/>
            <a:r>
              <a:rPr lang="en-GB" sz="2400" b="0" i="0" u="none" strike="noStrike" baseline="0" dirty="0">
                <a:latin typeface="Times-Roman"/>
              </a:rPr>
              <a:t>This consists of a circuit containing three standard operational amplifiers, as shown in Figure</a:t>
            </a:r>
          </a:p>
          <a:p>
            <a:pPr algn="l"/>
            <a:r>
              <a:rPr lang="en-GB" sz="2400" b="0" i="0" u="none" strike="noStrike" baseline="0" dirty="0">
                <a:latin typeface="Times-Roman"/>
              </a:rPr>
              <a:t>The advantage of the instrumentation amplifier compared with a standard operational amplifier is that its differential input impedance is much higher.</a:t>
            </a:r>
          </a:p>
          <a:p>
            <a:pPr algn="l"/>
            <a:endParaRPr lang="en-BW" dirty="0"/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F40EB869-759F-4E50-93C7-542CFE5CD4F0}"/>
              </a:ext>
            </a:extLst>
          </p:cNvPr>
          <p:cNvPicPr>
            <a:picLocks noGrp="1" noChangeAspect="1" noChangeArrowheads="1"/>
          </p:cNvPicPr>
          <p:nvPr>
            <p:ph type="clipArt" sz="half" idx="2"/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70725" y="1438183"/>
            <a:ext cx="4239426" cy="3600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6771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2AD1B-8CF6-4872-93EA-754AAB7EB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Differential Amplification</a:t>
            </a:r>
            <a:endParaRPr lang="en-BW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8A062-32E2-4AE5-8826-051704C9FC44}"/>
              </a:ext>
            </a:extLst>
          </p:cNvPr>
          <p:cNvSpPr>
            <a:spLocks noGrp="1"/>
          </p:cNvSpPr>
          <p:nvPr>
            <p:ph type="body" sz="half" idx="1"/>
          </p:nvPr>
        </p:nvSpPr>
        <p:spPr/>
        <p:txBody>
          <a:bodyPr>
            <a:normAutofit/>
          </a:bodyPr>
          <a:lstStyle/>
          <a:p>
            <a:pPr algn="l"/>
            <a:r>
              <a:rPr lang="en-GB" dirty="0">
                <a:latin typeface="Times-Roman"/>
              </a:rPr>
              <a:t>The figure S</a:t>
            </a:r>
            <a:r>
              <a:rPr lang="en-GB" b="0" i="0" u="none" strike="noStrike" baseline="0" dirty="0">
                <a:latin typeface="Times-Roman"/>
              </a:rPr>
              <a:t>hows a common amplifier configuration that is used to amplify the small difference that may exist between two voltage signals </a:t>
            </a:r>
            <a:r>
              <a:rPr lang="en-GB" b="0" i="0" u="none" strike="noStrike" baseline="0" dirty="0">
                <a:latin typeface="LW-FINAL"/>
              </a:rPr>
              <a:t>V1 </a:t>
            </a:r>
            <a:r>
              <a:rPr lang="en-GB" b="0" i="0" u="none" strike="noStrike" baseline="0" dirty="0">
                <a:latin typeface="Times-Roman"/>
              </a:rPr>
              <a:t>and </a:t>
            </a:r>
            <a:r>
              <a:rPr lang="en-GB" b="0" i="0" u="none" strike="noStrike" baseline="0" dirty="0">
                <a:latin typeface="LW-FINAL"/>
              </a:rPr>
              <a:t>V2</a:t>
            </a:r>
            <a:r>
              <a:rPr lang="en-GB" b="0" i="0" u="none" strike="noStrike" baseline="0" dirty="0">
                <a:latin typeface="Times-Roman"/>
              </a:rPr>
              <a:t>.</a:t>
            </a:r>
          </a:p>
          <a:p>
            <a:pPr algn="l"/>
            <a:r>
              <a:rPr lang="en-GB" b="0" i="0" u="none" strike="noStrike" baseline="0" dirty="0">
                <a:latin typeface="Times-Roman"/>
              </a:rPr>
              <a:t>The output voltage  </a:t>
            </a:r>
            <a:r>
              <a:rPr lang="en-GB" b="0" i="0" u="none" strike="noStrike" baseline="0" dirty="0" err="1">
                <a:latin typeface="LW-FINAL"/>
              </a:rPr>
              <a:t>V</a:t>
            </a:r>
            <a:r>
              <a:rPr lang="en-GB" dirty="0" err="1">
                <a:latin typeface="Times-Roman"/>
              </a:rPr>
              <a:t>out</a:t>
            </a:r>
            <a:r>
              <a:rPr lang="en-GB" dirty="0">
                <a:latin typeface="Times-Roman"/>
              </a:rPr>
              <a:t> </a:t>
            </a:r>
            <a:r>
              <a:rPr lang="en-GB" b="0" i="0" u="none" strike="noStrike" baseline="0" dirty="0">
                <a:latin typeface="Times-Roman"/>
              </a:rPr>
              <a:t> is given by:</a:t>
            </a:r>
          </a:p>
          <a:p>
            <a:pPr algn="l"/>
            <a:endParaRPr lang="en-GB" dirty="0">
              <a:latin typeface="Times-Roman"/>
            </a:endParaRPr>
          </a:p>
          <a:p>
            <a:pPr algn="l"/>
            <a:endParaRPr lang="en-GB" dirty="0"/>
          </a:p>
          <a:p>
            <a:pPr marL="0" indent="0" algn="l">
              <a:buNone/>
            </a:pPr>
            <a:endParaRPr lang="en-GB" dirty="0"/>
          </a:p>
          <a:p>
            <a:pPr algn="l"/>
            <a:r>
              <a:rPr lang="en-GB" b="0" i="0" u="none" strike="noStrike" baseline="0" dirty="0">
                <a:latin typeface="Times-Roman"/>
              </a:rPr>
              <a:t>A differential amplifier is also very useful for removing common mode noise voltages.</a:t>
            </a:r>
            <a:endParaRPr lang="en-BW" dirty="0"/>
          </a:p>
        </p:txBody>
      </p:sp>
      <p:pic>
        <p:nvPicPr>
          <p:cNvPr id="8" name="Picture 14">
            <a:extLst>
              <a:ext uri="{FF2B5EF4-FFF2-40B4-BE49-F238E27FC236}">
                <a16:creationId xmlns:a16="http://schemas.microsoft.com/office/drawing/2014/main" id="{EBD7AFF3-08EA-437A-A2C6-93CF51E10E37}"/>
              </a:ext>
            </a:extLst>
          </p:cNvPr>
          <p:cNvPicPr>
            <a:picLocks noGrp="1" noChangeAspect="1" noChangeArrowheads="1"/>
          </p:cNvPicPr>
          <p:nvPr>
            <p:ph type="clipArt" sz="half" idx="2"/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220" y="1777124"/>
            <a:ext cx="4210179" cy="3289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Object 0">
            <a:extLst>
              <a:ext uri="{FF2B5EF4-FFF2-40B4-BE49-F238E27FC236}">
                <a16:creationId xmlns:a16="http://schemas.microsoft.com/office/drawing/2014/main" id="{F2755435-023C-4C73-BDC7-1C3DFEC09C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5493703"/>
              </p:ext>
            </p:extLst>
          </p:nvPr>
        </p:nvGraphicFramePr>
        <p:xfrm>
          <a:off x="1484513" y="3023727"/>
          <a:ext cx="289560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1269449" imgH="431613" progId="Equation.3">
                  <p:embed/>
                </p:oleObj>
              </mc:Choice>
              <mc:Fallback>
                <p:oleObj name="Ecuación" r:id="rId4" imgW="1269449" imgH="431613" progId="Equation.3">
                  <p:embed/>
                  <p:pic>
                    <p:nvPicPr>
                      <p:cNvPr id="10" name="Object 0">
                        <a:extLst>
                          <a:ext uri="{FF2B5EF4-FFF2-40B4-BE49-F238E27FC236}">
                            <a16:creationId xmlns:a16="http://schemas.microsoft.com/office/drawing/2014/main" id="{F2755435-023C-4C73-BDC7-1C3DFEC09C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4513" y="3023727"/>
                        <a:ext cx="2895600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72215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9" name="Rectangle 2">
            <a:extLst>
              <a:ext uri="{FF2B5EF4-FFF2-40B4-BE49-F238E27FC236}">
                <a16:creationId xmlns:a16="http://schemas.microsoft.com/office/drawing/2014/main" id="{1E13A4C7-0D79-4BAB-81AF-56BDA852D86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981200" y="274638"/>
            <a:ext cx="8229600" cy="639762"/>
          </a:xfrm>
        </p:spPr>
        <p:txBody>
          <a:bodyPr/>
          <a:lstStyle/>
          <a:p>
            <a:pPr eaLnBrk="1" hangingPunct="1"/>
            <a:r>
              <a:rPr lang="en-US" altLang="en-US" sz="3500" b="1">
                <a:solidFill>
                  <a:schemeClr val="accent2"/>
                </a:solidFill>
              </a:rPr>
              <a:t>Integrator</a:t>
            </a:r>
          </a:p>
        </p:txBody>
      </p:sp>
      <p:sp>
        <p:nvSpPr>
          <p:cNvPr id="56322" name="Date Placeholder 3">
            <a:extLst>
              <a:ext uri="{FF2B5EF4-FFF2-40B4-BE49-F238E27FC236}">
                <a16:creationId xmlns:a16="http://schemas.microsoft.com/office/drawing/2014/main" id="{63332C88-5D9E-4A9B-8AD1-349B99C033F8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fld id="{237E4ACD-7261-44C1-96AC-858B345C4ED6}" type="datetime1">
              <a:rPr lang="en-US" altLang="en-US" sz="1400"/>
              <a:pPr eaLnBrk="1" hangingPunct="1">
                <a:spcBef>
                  <a:spcPct val="0"/>
                </a:spcBef>
                <a:buFontTx/>
                <a:buNone/>
                <a:defRPr/>
              </a:pPr>
              <a:t>11/1/2023</a:t>
            </a:fld>
            <a:endParaRPr lang="en-US" altLang="en-US" sz="1400"/>
          </a:p>
        </p:txBody>
      </p:sp>
      <p:sp>
        <p:nvSpPr>
          <p:cNvPr id="129027" name="Slide Number Placeholder 5">
            <a:extLst>
              <a:ext uri="{FF2B5EF4-FFF2-40B4-BE49-F238E27FC236}">
                <a16:creationId xmlns:a16="http://schemas.microsoft.com/office/drawing/2014/main" id="{22265D7C-AB49-4CBD-9868-CB7B248C7B3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5661A1-591C-47F4-857A-111FBD85D62B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/>
          </a:p>
        </p:txBody>
      </p:sp>
      <p:pic>
        <p:nvPicPr>
          <p:cNvPr id="129028" name="Picture 12">
            <a:extLst>
              <a:ext uri="{FF2B5EF4-FFF2-40B4-BE49-F238E27FC236}">
                <a16:creationId xmlns:a16="http://schemas.microsoft.com/office/drawing/2014/main" id="{56619802-C808-4313-AE7E-296C3397608D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790700"/>
            <a:ext cx="5562600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030" name="Text Box 7">
            <a:extLst>
              <a:ext uri="{FF2B5EF4-FFF2-40B4-BE49-F238E27FC236}">
                <a16:creationId xmlns:a16="http://schemas.microsoft.com/office/drawing/2014/main" id="{FA4B3A2C-64F6-44AF-84DD-3C670C3AA27A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514600" y="1143001"/>
            <a:ext cx="7543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/>
              <a:t>Output varies as an integral of input with a scale factor of -1/RC.</a:t>
            </a:r>
          </a:p>
        </p:txBody>
      </p:sp>
      <p:graphicFrame>
        <p:nvGraphicFramePr>
          <p:cNvPr id="129031" name="Object 0">
            <a:extLst>
              <a:ext uri="{FF2B5EF4-FFF2-40B4-BE49-F238E27FC236}">
                <a16:creationId xmlns:a16="http://schemas.microsoft.com/office/drawing/2014/main" id="{5F27D1E2-05B8-4690-9CCA-5A3B0D6579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0" y="4730750"/>
          <a:ext cx="30480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9" imgW="1320227" imgH="393529" progId="Equation.3">
                  <p:embed/>
                </p:oleObj>
              </mc:Choice>
              <mc:Fallback>
                <p:oleObj name="Ecuación" r:id="rId9" imgW="1320227" imgH="393529" progId="Equation.3">
                  <p:embed/>
                  <p:pic>
                    <p:nvPicPr>
                      <p:cNvPr id="129031" name="Object 0">
                        <a:extLst>
                          <a:ext uri="{FF2B5EF4-FFF2-40B4-BE49-F238E27FC236}">
                            <a16:creationId xmlns:a16="http://schemas.microsoft.com/office/drawing/2014/main" id="{5F27D1E2-05B8-4690-9CCA-5A3B0D6579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4730750"/>
                        <a:ext cx="3048000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3">
            <a:extLst>
              <a:ext uri="{FF2B5EF4-FFF2-40B4-BE49-F238E27FC236}">
                <a16:creationId xmlns:a16="http://schemas.microsoft.com/office/drawing/2014/main" id="{1BBF73FB-B787-4C54-B717-A34667CC3A3B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511628" y="629816"/>
            <a:ext cx="8747782" cy="5029200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altLang="en-US" sz="2400" dirty="0">
                <a:solidFill>
                  <a:srgbClr val="C00000"/>
                </a:solidFill>
              </a:rPr>
              <a:t>Signal conditioning</a:t>
            </a:r>
          </a:p>
          <a:p>
            <a:pPr marL="0" indent="0" eaLnBrk="1" hangingPunct="1">
              <a:buNone/>
            </a:pPr>
            <a:endParaRPr lang="en-US" altLang="en-US" dirty="0">
              <a:solidFill>
                <a:srgbClr val="3333CC"/>
              </a:solidFill>
            </a:endParaRPr>
          </a:p>
          <a:p>
            <a:pPr eaLnBrk="1" hangingPunct="1"/>
            <a:r>
              <a:rPr lang="en-US" altLang="en-US" dirty="0"/>
              <a:t>refers to operations performed on signals to convert them to a form suitable for interfacing with other elements in the process-control loop.</a:t>
            </a:r>
          </a:p>
          <a:p>
            <a:pPr eaLnBrk="1" hangingPunct="1">
              <a:buFontTx/>
              <a:buNone/>
            </a:pPr>
            <a:endParaRPr lang="en-US" altLang="en-US" sz="1000" dirty="0"/>
          </a:p>
          <a:p>
            <a:pPr eaLnBrk="1" hangingPunct="1"/>
            <a:r>
              <a:rPr lang="en-US" altLang="en-US" dirty="0"/>
              <a:t>Output is still an analog representation of the variable.</a:t>
            </a:r>
          </a:p>
          <a:p>
            <a:pPr eaLnBrk="1" hangingPunct="1">
              <a:buFontTx/>
              <a:buNone/>
            </a:pPr>
            <a:endParaRPr lang="en-US" altLang="en-US" sz="1000" dirty="0"/>
          </a:p>
          <a:p>
            <a:pPr eaLnBrk="1" hangingPunct="1"/>
            <a:r>
              <a:rPr lang="en-US" altLang="en-US" dirty="0"/>
              <a:t>Every application, including digital processing, requires some type of analog conditioning before analog-to-digital conversion is made.</a:t>
            </a:r>
          </a:p>
        </p:txBody>
      </p:sp>
      <p:sp>
        <p:nvSpPr>
          <p:cNvPr id="5122" name="Date Placeholder 3">
            <a:extLst>
              <a:ext uri="{FF2B5EF4-FFF2-40B4-BE49-F238E27FC236}">
                <a16:creationId xmlns:a16="http://schemas.microsoft.com/office/drawing/2014/main" id="{D8C986A3-5EEF-4027-A9C7-551C93015773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fld id="{5B061264-CAFF-4455-B536-D7CEF01DB23C}" type="datetime1">
              <a:rPr lang="en-US" altLang="en-US" sz="1400"/>
              <a:pPr eaLnBrk="1" hangingPunct="1">
                <a:spcBef>
                  <a:spcPct val="0"/>
                </a:spcBef>
                <a:buFontTx/>
                <a:buNone/>
                <a:defRPr/>
              </a:pPr>
              <a:t>11/1/2023</a:t>
            </a:fld>
            <a:endParaRPr lang="en-US" altLang="en-US" sz="1400"/>
          </a:p>
        </p:txBody>
      </p:sp>
      <p:sp>
        <p:nvSpPr>
          <p:cNvPr id="24579" name="Slide Number Placeholder 5">
            <a:extLst>
              <a:ext uri="{FF2B5EF4-FFF2-40B4-BE49-F238E27FC236}">
                <a16:creationId xmlns:a16="http://schemas.microsoft.com/office/drawing/2014/main" id="{BE4B2B45-68FA-424E-8918-3D7418A21AB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A6046A-A6EC-478A-96EC-B5675AFD9594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2">
            <a:extLst>
              <a:ext uri="{FF2B5EF4-FFF2-40B4-BE49-F238E27FC236}">
                <a16:creationId xmlns:a16="http://schemas.microsoft.com/office/drawing/2014/main" id="{F910B346-4D2A-428C-9136-0A06777B50E8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981200" y="274638"/>
            <a:ext cx="8229600" cy="71596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b="1">
                <a:solidFill>
                  <a:schemeClr val="accent2"/>
                </a:solidFill>
              </a:rPr>
              <a:t>Principles of Analog Signal Conditioning</a:t>
            </a:r>
          </a:p>
        </p:txBody>
      </p:sp>
      <p:sp>
        <p:nvSpPr>
          <p:cNvPr id="26629" name="Rectangle 3">
            <a:extLst>
              <a:ext uri="{FF2B5EF4-FFF2-40B4-BE49-F238E27FC236}">
                <a16:creationId xmlns:a16="http://schemas.microsoft.com/office/drawing/2014/main" id="{D8427397-5D75-4A4E-80A9-9F2698474BCC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981200" y="1295400"/>
            <a:ext cx="8229600" cy="480060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600" dirty="0"/>
              <a:t>A </a:t>
            </a:r>
            <a:r>
              <a:rPr lang="en-US" altLang="en-US" sz="2600" dirty="0">
                <a:solidFill>
                  <a:srgbClr val="FF3300"/>
                </a:solidFill>
              </a:rPr>
              <a:t>sensor</a:t>
            </a:r>
            <a:r>
              <a:rPr lang="en-US" altLang="en-US" sz="2600" dirty="0"/>
              <a:t> measures a variable by converting information about that variable into a dependent signal of either electrical or pneumatic nature.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>
                <a:solidFill>
                  <a:srgbClr val="FF3300"/>
                </a:solidFill>
              </a:rPr>
              <a:t>Signal conditioning</a:t>
            </a:r>
            <a:r>
              <a:rPr lang="en-US" altLang="en-US" sz="2600" dirty="0"/>
              <a:t> </a:t>
            </a:r>
            <a:r>
              <a:rPr lang="en-US" altLang="en-US" sz="2600" dirty="0">
                <a:solidFill>
                  <a:srgbClr val="3333CC"/>
                </a:solidFill>
              </a:rPr>
              <a:t>is referred by the term</a:t>
            </a:r>
            <a:r>
              <a:rPr lang="en-US" altLang="en-US" sz="2600" dirty="0"/>
              <a:t> </a:t>
            </a:r>
            <a:r>
              <a:rPr lang="en-US" altLang="en-US" sz="2600" i="1" dirty="0">
                <a:solidFill>
                  <a:srgbClr val="FF3300"/>
                </a:solidFill>
              </a:rPr>
              <a:t>transfer function.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000" i="1" dirty="0">
              <a:solidFill>
                <a:srgbClr val="FF33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600" i="1" dirty="0"/>
              <a:t>A </a:t>
            </a:r>
            <a:r>
              <a:rPr lang="en-US" altLang="en-US" sz="2600" i="1" dirty="0">
                <a:solidFill>
                  <a:srgbClr val="FF3300"/>
                </a:solidFill>
              </a:rPr>
              <a:t>transfer function</a:t>
            </a:r>
            <a:r>
              <a:rPr lang="en-US" altLang="en-US" sz="2600" i="1" dirty="0"/>
              <a:t> is a mathematical representation of the relation between the input and output of a system.</a:t>
            </a:r>
            <a:r>
              <a:rPr lang="en-US" altLang="en-US" sz="2600" dirty="0"/>
              <a:t> </a:t>
            </a:r>
            <a:endParaRPr lang="en-US" altLang="en-US" sz="2600" i="1" dirty="0"/>
          </a:p>
          <a:p>
            <a:pPr eaLnBrk="1" hangingPunct="1">
              <a:lnSpc>
                <a:spcPct val="90000"/>
              </a:lnSpc>
            </a:pPr>
            <a:endParaRPr lang="en-US" altLang="en-US" sz="1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/>
              <a:t>Ex: A voltage amplifier has a transfer function of some constant that, when multiplied by the input voltage, gives the output voltage</a:t>
            </a:r>
          </a:p>
        </p:txBody>
      </p:sp>
      <p:sp>
        <p:nvSpPr>
          <p:cNvPr id="6146" name="Date Placeholder 3">
            <a:extLst>
              <a:ext uri="{FF2B5EF4-FFF2-40B4-BE49-F238E27FC236}">
                <a16:creationId xmlns:a16="http://schemas.microsoft.com/office/drawing/2014/main" id="{8E62A187-7DDA-4A06-A5F4-10CF7458AA38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fld id="{47EBB2D1-A3EE-4502-BD42-FBC5BAE15E22}" type="datetime1">
              <a:rPr lang="en-US" altLang="en-US" sz="1400"/>
              <a:pPr eaLnBrk="1" hangingPunct="1">
                <a:spcBef>
                  <a:spcPct val="0"/>
                </a:spcBef>
                <a:buFontTx/>
                <a:buNone/>
                <a:defRPr/>
              </a:pPr>
              <a:t>11/1/2023</a:t>
            </a:fld>
            <a:endParaRPr lang="en-US" altLang="en-US" sz="1400"/>
          </a:p>
        </p:txBody>
      </p:sp>
      <p:sp>
        <p:nvSpPr>
          <p:cNvPr id="26627" name="Slide Number Placeholder 5">
            <a:extLst>
              <a:ext uri="{FF2B5EF4-FFF2-40B4-BE49-F238E27FC236}">
                <a16:creationId xmlns:a16="http://schemas.microsoft.com/office/drawing/2014/main" id="{820DA9C0-724F-45AF-B92D-EDC776E725E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E2689FE-89CA-4812-832F-B8C9FC50D984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solidFill>
                  <a:srgbClr val="FF0000"/>
                </a:solidFill>
              </a:rPr>
              <a:t>Signal conditioning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3200" dirty="0"/>
              <a:t>Now, let us discuss the following signal conditioning categories:</a:t>
            </a:r>
          </a:p>
          <a:p>
            <a:pPr algn="l" rtl="0"/>
            <a:endParaRPr lang="en-US" dirty="0"/>
          </a:p>
          <a:p>
            <a:pPr lvl="1" algn="l" rtl="0">
              <a:buFont typeface="Wingdings" pitchFamily="2" charset="2"/>
              <a:buChar char="q"/>
            </a:pPr>
            <a:r>
              <a:rPr lang="en-US" b="1" dirty="0"/>
              <a:t>Signal-range and offset changes</a:t>
            </a:r>
          </a:p>
          <a:p>
            <a:pPr marL="777240" lvl="2" indent="0">
              <a:buNone/>
            </a:pPr>
            <a:r>
              <a:rPr lang="en-US" sz="2200" dirty="0"/>
              <a:t>i.e. amplification and zero adjustment </a:t>
            </a:r>
          </a:p>
          <a:p>
            <a:pPr marL="777240" lvl="2" indent="0">
              <a:buNone/>
            </a:pPr>
            <a:endParaRPr lang="en-US" sz="2200" dirty="0"/>
          </a:p>
          <a:p>
            <a:pPr lvl="1" algn="l" rtl="0">
              <a:buFont typeface="Wingdings" pitchFamily="2" charset="2"/>
              <a:buChar char="q"/>
            </a:pPr>
            <a:r>
              <a:rPr lang="en-US" b="1" dirty="0"/>
              <a:t> Signal Linearization</a:t>
            </a:r>
          </a:p>
          <a:p>
            <a:pPr marL="411480" lvl="1" indent="0">
              <a:buNone/>
            </a:pPr>
            <a:endParaRPr lang="en-US" b="1" dirty="0"/>
          </a:p>
          <a:p>
            <a:pPr lvl="1" algn="l" rtl="0">
              <a:buFont typeface="Wingdings" pitchFamily="2" charset="2"/>
              <a:buChar char="q"/>
            </a:pPr>
            <a:r>
              <a:rPr lang="en-US" b="1" dirty="0"/>
              <a:t> Conversions</a:t>
            </a:r>
            <a:r>
              <a:rPr lang="en-US" dirty="0"/>
              <a:t> </a:t>
            </a:r>
          </a:p>
          <a:p>
            <a:pPr marL="777240" lvl="2" indent="0">
              <a:buNone/>
            </a:pPr>
            <a:r>
              <a:rPr lang="en-US" sz="2200" dirty="0"/>
              <a:t>e.g. current to voltage and voltage to current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C522C-A1E4-4254-BFF3-9729D494B76C}" type="slidenum">
              <a:rPr lang="ar-EG" smtClean="0"/>
              <a:t>26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2052481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>
            <a:extLst>
              <a:ext uri="{FF2B5EF4-FFF2-40B4-BE49-F238E27FC236}">
                <a16:creationId xmlns:a16="http://schemas.microsoft.com/office/drawing/2014/main" id="{FEE46CE2-D3E0-4E33-9FEE-FB282D5DF67A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981200" y="274638"/>
            <a:ext cx="8229600" cy="715962"/>
          </a:xfrm>
        </p:spPr>
        <p:txBody>
          <a:bodyPr/>
          <a:lstStyle/>
          <a:p>
            <a:pPr eaLnBrk="1" hangingPunct="1"/>
            <a:r>
              <a:rPr lang="en-US" altLang="en-US" sz="3500" b="1" dirty="0"/>
              <a:t>Signal-Level and Bias Changes</a:t>
            </a:r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71C103B3-C33A-4C0E-89BF-AE379A5537E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981200" y="1524000"/>
            <a:ext cx="8229600" cy="4495800"/>
          </a:xfrm>
        </p:spPr>
        <p:txBody>
          <a:bodyPr/>
          <a:lstStyle/>
          <a:p>
            <a:pPr marL="114300" indent="0">
              <a:buNone/>
            </a:pPr>
            <a:r>
              <a:rPr lang="en-US" altLang="en-US" dirty="0"/>
              <a:t>A common type of signal conditioning involves adjusting the level (magnitude) and bias (zero value) of some voltage representing a process variable.</a:t>
            </a:r>
          </a:p>
          <a:p>
            <a:pPr marL="114300" indent="0">
              <a:buNone/>
            </a:pPr>
            <a:endParaRPr lang="en-US" altLang="en-US" sz="1000" dirty="0"/>
          </a:p>
          <a:p>
            <a:pPr marL="114300" indent="0">
              <a:buNone/>
            </a:pPr>
            <a:r>
              <a:rPr lang="en-US" altLang="en-US" dirty="0"/>
              <a:t>Ex: A sensor output voltage may vary from 0.3 to 0.8 V as a process variable changes from 20</a:t>
            </a:r>
            <a:r>
              <a:rPr lang="en-US" altLang="en-US" dirty="0">
                <a:cs typeface="Arial" panose="020B0604020202020204" pitchFamily="34" charset="0"/>
              </a:rPr>
              <a:t>ºC to 80ºC</a:t>
            </a:r>
          </a:p>
          <a:p>
            <a:pPr marL="114300" indent="0">
              <a:buNone/>
            </a:pPr>
            <a:endParaRPr lang="en-US" altLang="en-US" sz="1000" dirty="0">
              <a:cs typeface="Arial" panose="020B0604020202020204" pitchFamily="34" charset="0"/>
            </a:endParaRPr>
          </a:p>
          <a:p>
            <a:pPr marL="114300" indent="0">
              <a:buNone/>
            </a:pPr>
            <a:r>
              <a:rPr lang="en-US" altLang="en-US" dirty="0">
                <a:cs typeface="Arial" panose="020B0604020202020204" pitchFamily="34" charset="0"/>
              </a:rPr>
              <a:t>However, the circuitry requires a voltage that varies from 0 to 5 V for the same variation </a:t>
            </a:r>
            <a:r>
              <a:rPr lang="en-US" altLang="en-US" dirty="0"/>
              <a:t>from 20</a:t>
            </a:r>
            <a:r>
              <a:rPr lang="en-US" altLang="en-US" dirty="0">
                <a:cs typeface="Arial" panose="020B0604020202020204" pitchFamily="34" charset="0"/>
              </a:rPr>
              <a:t>ºC to 80ºC</a:t>
            </a:r>
          </a:p>
        </p:txBody>
      </p:sp>
      <p:sp>
        <p:nvSpPr>
          <p:cNvPr id="7170" name="Date Placeholder 3">
            <a:extLst>
              <a:ext uri="{FF2B5EF4-FFF2-40B4-BE49-F238E27FC236}">
                <a16:creationId xmlns:a16="http://schemas.microsoft.com/office/drawing/2014/main" id="{9757EC2C-C583-428A-A21D-CCCF5B2361D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7FA0B5D-AF67-4B36-9890-A2EB058FA4CD}" type="datetime1">
              <a:rPr lang="en-US" altLang="en-US" sz="1400"/>
              <a:pPr eaLnBrk="1" hangingPunct="1">
                <a:spcBef>
                  <a:spcPct val="0"/>
                </a:spcBef>
                <a:buFontTx/>
                <a:buNone/>
              </a:pPr>
              <a:t>11/1/2023</a:t>
            </a:fld>
            <a:endParaRPr lang="en-US" altLang="en-US" sz="1400"/>
          </a:p>
        </p:txBody>
      </p:sp>
      <p:sp>
        <p:nvSpPr>
          <p:cNvPr id="7171" name="Slide Number Placeholder 5">
            <a:extLst>
              <a:ext uri="{FF2B5EF4-FFF2-40B4-BE49-F238E27FC236}">
                <a16:creationId xmlns:a16="http://schemas.microsoft.com/office/drawing/2014/main" id="{99AD403F-BA93-4216-81DB-1D8593E9EFD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99DE063-2148-427B-BEF1-1EB89FE0BB86}" type="slidenum">
              <a:rPr lang="en-US" altLang="en-US" sz="1400"/>
              <a:pPr eaLnBrk="1" hangingPunct="1"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7859216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Signal-range and offset (bias)</a:t>
            </a:r>
            <a:endParaRPr 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854600" y="1700808"/>
            <a:ext cx="8363272" cy="4873728"/>
          </a:xfrm>
        </p:spPr>
        <p:txBody>
          <a:bodyPr/>
          <a:lstStyle/>
          <a:p>
            <a:pPr marL="109728" indent="0">
              <a:buNone/>
            </a:pPr>
            <a:endParaRPr lang="en-US" b="1" dirty="0"/>
          </a:p>
          <a:p>
            <a:pPr marL="109728" indent="0">
              <a:buNone/>
            </a:pPr>
            <a:r>
              <a:rPr lang="en-US" sz="2400" b="1" dirty="0"/>
              <a:t>Example</a:t>
            </a:r>
          </a:p>
          <a:p>
            <a:pPr marL="109728" indent="0">
              <a:buNone/>
            </a:pPr>
            <a:endParaRPr lang="en-US" dirty="0"/>
          </a:p>
          <a:p>
            <a:pPr marL="109728" indent="0">
              <a:buNone/>
            </a:pPr>
            <a:r>
              <a:rPr lang="en-US" sz="2400" dirty="0"/>
              <a:t>Design a circuit to achieve the following voltage conversion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C522C-A1E4-4254-BFF3-9729D494B76C}" type="slidenum">
              <a:rPr lang="ar-EG" smtClean="0"/>
              <a:t>28</a:t>
            </a:fld>
            <a:endParaRPr lang="ar-EG"/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4655840" y="4654326"/>
            <a:ext cx="2952328" cy="11509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Signal conditioning circuit</a:t>
            </a:r>
          </a:p>
        </p:txBody>
      </p:sp>
      <p:sp>
        <p:nvSpPr>
          <p:cNvPr id="6149" name="Line 6"/>
          <p:cNvSpPr>
            <a:spLocks noChangeShapeType="1"/>
          </p:cNvSpPr>
          <p:nvPr/>
        </p:nvSpPr>
        <p:spPr bwMode="auto">
          <a:xfrm>
            <a:off x="2838225" y="5302026"/>
            <a:ext cx="180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r-EG"/>
          </a:p>
        </p:txBody>
      </p:sp>
      <p:sp>
        <p:nvSpPr>
          <p:cNvPr id="6150" name="Line 7"/>
          <p:cNvSpPr>
            <a:spLocks noChangeShapeType="1"/>
          </p:cNvSpPr>
          <p:nvPr/>
        </p:nvSpPr>
        <p:spPr bwMode="auto">
          <a:xfrm>
            <a:off x="7608169" y="5267101"/>
            <a:ext cx="180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r-EG"/>
          </a:p>
        </p:txBody>
      </p:sp>
      <p:sp>
        <p:nvSpPr>
          <p:cNvPr id="6151" name="Text Box 8"/>
          <p:cNvSpPr txBox="1">
            <a:spLocks noChangeArrowheads="1"/>
          </p:cNvSpPr>
          <p:nvPr/>
        </p:nvSpPr>
        <p:spPr bwMode="auto">
          <a:xfrm>
            <a:off x="2986961" y="4900389"/>
            <a:ext cx="15183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dirty="0"/>
              <a:t>0.2 V – 0.7 V</a:t>
            </a:r>
          </a:p>
        </p:txBody>
      </p:sp>
      <p:sp>
        <p:nvSpPr>
          <p:cNvPr id="6152" name="Text Box 9"/>
          <p:cNvSpPr txBox="1">
            <a:spLocks noChangeArrowheads="1"/>
          </p:cNvSpPr>
          <p:nvPr/>
        </p:nvSpPr>
        <p:spPr bwMode="auto">
          <a:xfrm>
            <a:off x="7759700" y="4900389"/>
            <a:ext cx="1123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0 V – 5 V</a:t>
            </a:r>
          </a:p>
        </p:txBody>
      </p:sp>
    </p:spTree>
    <p:extLst>
      <p:ext uri="{BB962C8B-B14F-4D97-AF65-F5344CB8AC3E}">
        <p14:creationId xmlns:p14="http://schemas.microsoft.com/office/powerpoint/2010/main" val="27280127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ChangeArrowheads="1"/>
          </p:cNvSpPr>
          <p:nvPr/>
        </p:nvSpPr>
        <p:spPr bwMode="auto">
          <a:xfrm>
            <a:off x="4008438" y="3429000"/>
            <a:ext cx="1223962" cy="11509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Zero shift</a:t>
            </a:r>
          </a:p>
        </p:txBody>
      </p:sp>
      <p:sp>
        <p:nvSpPr>
          <p:cNvPr id="7171" name="Line 5"/>
          <p:cNvSpPr>
            <a:spLocks noChangeShapeType="1"/>
          </p:cNvSpPr>
          <p:nvPr/>
        </p:nvSpPr>
        <p:spPr bwMode="auto">
          <a:xfrm>
            <a:off x="2778126" y="4076700"/>
            <a:ext cx="12303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r-EG"/>
          </a:p>
        </p:txBody>
      </p:sp>
      <p:sp>
        <p:nvSpPr>
          <p:cNvPr id="7172" name="Line 6"/>
          <p:cNvSpPr>
            <a:spLocks noChangeShapeType="1"/>
          </p:cNvSpPr>
          <p:nvPr/>
        </p:nvSpPr>
        <p:spPr bwMode="auto">
          <a:xfrm>
            <a:off x="7753351" y="4041775"/>
            <a:ext cx="180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r-EG"/>
          </a:p>
        </p:txBody>
      </p:sp>
      <p:sp>
        <p:nvSpPr>
          <p:cNvPr id="7173" name="Text Box 7"/>
          <p:cNvSpPr txBox="1">
            <a:spLocks noChangeArrowheads="1"/>
          </p:cNvSpPr>
          <p:nvPr/>
        </p:nvSpPr>
        <p:spPr bwMode="auto">
          <a:xfrm>
            <a:off x="2490074" y="3675063"/>
            <a:ext cx="15183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dirty="0"/>
              <a:t>0.2 V – 0.7 V</a:t>
            </a:r>
          </a:p>
        </p:txBody>
      </p:sp>
      <p:sp>
        <p:nvSpPr>
          <p:cNvPr id="7174" name="Text Box 8"/>
          <p:cNvSpPr txBox="1">
            <a:spLocks noChangeArrowheads="1"/>
          </p:cNvSpPr>
          <p:nvPr/>
        </p:nvSpPr>
        <p:spPr bwMode="auto">
          <a:xfrm>
            <a:off x="8429625" y="3675063"/>
            <a:ext cx="1123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0 V – 5 V</a:t>
            </a:r>
          </a:p>
        </p:txBody>
      </p:sp>
      <p:sp>
        <p:nvSpPr>
          <p:cNvPr id="7175" name="Rectangle 9"/>
          <p:cNvSpPr>
            <a:spLocks noChangeArrowheads="1"/>
          </p:cNvSpPr>
          <p:nvPr/>
        </p:nvSpPr>
        <p:spPr bwMode="auto">
          <a:xfrm>
            <a:off x="6546851" y="3446464"/>
            <a:ext cx="1584325" cy="11509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Amplification</a:t>
            </a:r>
          </a:p>
        </p:txBody>
      </p:sp>
      <p:sp>
        <p:nvSpPr>
          <p:cNvPr id="7176" name="Line 10"/>
          <p:cNvSpPr>
            <a:spLocks noChangeShapeType="1"/>
          </p:cNvSpPr>
          <p:nvPr/>
        </p:nvSpPr>
        <p:spPr bwMode="auto">
          <a:xfrm>
            <a:off x="5232400" y="4041775"/>
            <a:ext cx="1314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ar-EG"/>
          </a:p>
        </p:txBody>
      </p:sp>
      <p:sp>
        <p:nvSpPr>
          <p:cNvPr id="7177" name="Text Box 11"/>
          <p:cNvSpPr txBox="1">
            <a:spLocks noChangeArrowheads="1"/>
          </p:cNvSpPr>
          <p:nvPr/>
        </p:nvSpPr>
        <p:spPr bwMode="auto">
          <a:xfrm>
            <a:off x="5220846" y="3675063"/>
            <a:ext cx="13260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dirty="0"/>
              <a:t>0 V – 0.5 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79577" y="980728"/>
            <a:ext cx="7273999" cy="200054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2800" b="1" dirty="0">
                <a:solidFill>
                  <a:srgbClr val="FF0000"/>
                </a:solidFill>
              </a:rPr>
              <a:t>Answer</a:t>
            </a:r>
          </a:p>
          <a:p>
            <a:pPr algn="l" rtl="0"/>
            <a:endParaRPr lang="en-US" sz="2400" dirty="0">
              <a:solidFill>
                <a:srgbClr val="FF0000"/>
              </a:solidFill>
            </a:endParaRPr>
          </a:p>
          <a:p>
            <a:pPr algn="l" rtl="0"/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It is clear that we need to subtract 0.2V, then multiply the signal by 10.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79577" y="5027692"/>
            <a:ext cx="7273999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This looks like a differential amplifier with a gain of 10 and a fixed input of 0.2 volts to the inverting side. The following circuit shows how this could be done using an instrumentation amplifier.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C522C-A1E4-4254-BFF3-9729D494B76C}" type="slidenum">
              <a:rPr lang="ar-EG" smtClean="0"/>
              <a:t>29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072779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animBg="1"/>
      <p:bldP spid="7171" grpId="0" animBg="1"/>
      <p:bldP spid="7172" grpId="0" animBg="1"/>
      <p:bldP spid="7173" grpId="0"/>
      <p:bldP spid="7174" grpId="0"/>
      <p:bldP spid="7175" grpId="0" animBg="1"/>
      <p:bldP spid="7176" grpId="0" animBg="1"/>
      <p:bldP spid="717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5517232"/>
            <a:ext cx="7571184" cy="1057304"/>
          </a:xfrm>
        </p:spPr>
        <p:txBody>
          <a:bodyPr>
            <a:noAutofit/>
          </a:bodyPr>
          <a:lstStyle/>
          <a:p>
            <a:pPr marL="109728" indent="0">
              <a:buNone/>
            </a:pPr>
            <a:r>
              <a:rPr lang="en-US" sz="2400" dirty="0"/>
              <a:t>Note that a voltage divider is used to provide the 0.2V offset. The </a:t>
            </a:r>
            <a:r>
              <a:rPr lang="en-US" sz="2400" dirty="0" err="1"/>
              <a:t>zener</a:t>
            </a:r>
            <a:r>
              <a:rPr lang="en-US" sz="2400" dirty="0"/>
              <a:t> diode is used to keep the bias voltage constant against changes of the supply. </a:t>
            </a:r>
          </a:p>
          <a:p>
            <a:pPr marL="109728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C522C-A1E4-4254-BFF3-9729D494B76C}" type="slidenum">
              <a:rPr lang="ar-EG" smtClean="0"/>
              <a:t>30</a:t>
            </a:fld>
            <a:endParaRPr lang="ar-EG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7714" y="1719264"/>
            <a:ext cx="5619750" cy="3419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080" y="459257"/>
            <a:ext cx="2590800" cy="408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9871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556792"/>
            <a:ext cx="7643192" cy="5040560"/>
          </a:xfrm>
        </p:spPr>
        <p:txBody>
          <a:bodyPr>
            <a:noAutofit/>
          </a:bodyPr>
          <a:lstStyle/>
          <a:p>
            <a:pPr marL="109728" indent="0">
              <a:buNone/>
            </a:pPr>
            <a:r>
              <a:rPr lang="en-US" sz="2400" dirty="0"/>
              <a:t>A sensor output a range of 20 to 250 mV as a variable varies over its range.  Develop signal conditioning so that this become 0 to 5 V.  The circuit must have very high input impedance.</a:t>
            </a:r>
          </a:p>
          <a:p>
            <a:pPr algn="l" rtl="0">
              <a:buNone/>
            </a:pPr>
            <a:endParaRPr lang="en-US" sz="2400" b="1" dirty="0">
              <a:solidFill>
                <a:srgbClr val="FF0000"/>
              </a:solidFill>
            </a:endParaRPr>
          </a:p>
          <a:p>
            <a:pPr algn="l" rtl="0">
              <a:buNone/>
            </a:pPr>
            <a:r>
              <a:rPr lang="en-US" sz="2400" b="1" dirty="0">
                <a:solidFill>
                  <a:srgbClr val="FF0000"/>
                </a:solidFill>
              </a:rPr>
              <a:t>Answer</a:t>
            </a:r>
          </a:p>
          <a:p>
            <a:pPr marL="109728" indent="0">
              <a:buNone/>
            </a:pPr>
            <a:r>
              <a:rPr lang="en-US" sz="2400" dirty="0"/>
              <a:t>Let us develop an linear equation for the output in terms of the input</a:t>
            </a:r>
          </a:p>
          <a:p>
            <a:pPr algn="l" rtl="0">
              <a:buNone/>
            </a:pPr>
            <a:r>
              <a:rPr lang="en-US" sz="2400" dirty="0"/>
              <a:t>				</a:t>
            </a:r>
          </a:p>
          <a:p>
            <a:pPr algn="l" rtl="0">
              <a:buNone/>
            </a:pPr>
            <a:r>
              <a:rPr lang="en-US" sz="2400" i="1" dirty="0"/>
              <a:t>				</a:t>
            </a:r>
            <a:r>
              <a:rPr lang="en-US" sz="2400" i="1" dirty="0" err="1"/>
              <a:t>V</a:t>
            </a:r>
            <a:r>
              <a:rPr lang="en-US" sz="2400" baseline="-25000" dirty="0" err="1"/>
              <a:t>out</a:t>
            </a:r>
            <a:r>
              <a:rPr lang="en-US" sz="2400" dirty="0"/>
              <a:t> = </a:t>
            </a:r>
            <a:r>
              <a:rPr lang="en-US" sz="2400" i="1" dirty="0" err="1"/>
              <a:t>aV</a:t>
            </a:r>
            <a:r>
              <a:rPr lang="en-US" sz="2400" baseline="-25000" dirty="0" err="1"/>
              <a:t>in</a:t>
            </a:r>
            <a:r>
              <a:rPr lang="en-US" sz="2400" dirty="0" err="1"/>
              <a:t>+</a:t>
            </a:r>
            <a:r>
              <a:rPr lang="en-US" sz="2400" i="1" dirty="0" err="1"/>
              <a:t>b</a:t>
            </a:r>
            <a:endParaRPr lang="en-US" sz="2400" i="1" dirty="0"/>
          </a:p>
          <a:p>
            <a:pPr algn="l" rtl="0">
              <a:buNone/>
            </a:pPr>
            <a:endParaRPr lang="en-US" sz="2400" dirty="0"/>
          </a:p>
          <a:p>
            <a:pPr algn="l" rtl="0">
              <a:buNone/>
            </a:pPr>
            <a:r>
              <a:rPr lang="en-US" sz="2400" dirty="0"/>
              <a:t>where </a:t>
            </a:r>
            <a:r>
              <a:rPr lang="en-US" sz="2400" i="1" dirty="0"/>
              <a:t>a</a:t>
            </a:r>
            <a:r>
              <a:rPr lang="en-US" sz="2400" dirty="0"/>
              <a:t> and </a:t>
            </a:r>
            <a:r>
              <a:rPr lang="en-US" sz="2400" i="1" dirty="0"/>
              <a:t>b</a:t>
            </a:r>
            <a:r>
              <a:rPr lang="en-US" sz="2400" dirty="0"/>
              <a:t> are to be found. </a:t>
            </a:r>
          </a:p>
          <a:p>
            <a:pPr algn="l" rtl="0" eaLnBrk="1" hangingPunct="1">
              <a:buFontTx/>
              <a:buNone/>
            </a:pPr>
            <a:endParaRPr lang="en-US" sz="2400" dirty="0"/>
          </a:p>
          <a:p>
            <a:pPr algn="l" rtl="0" eaLnBrk="1" hangingPunct="1">
              <a:buFontTx/>
              <a:buNone/>
            </a:pPr>
            <a:endParaRPr lang="en-US" sz="2400" dirty="0"/>
          </a:p>
          <a:p>
            <a:pPr algn="l" rtl="0">
              <a:buNone/>
            </a:pPr>
            <a:endParaRPr 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C522C-A1E4-4254-BFF3-9729D494B76C}" type="slidenum">
              <a:rPr lang="ar-EG" smtClean="0"/>
              <a:t>31</a:t>
            </a:fld>
            <a:endParaRPr lang="ar-EG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933184" y="548680"/>
            <a:ext cx="8229600" cy="648072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r" rtl="1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r" rtl="1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r" rtl="1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r" rtl="1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r" rtl="1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r" rtl="1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r" rtl="1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r" rtl="1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r" rtl="1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>
              <a:buFontTx/>
              <a:buNone/>
            </a:pPr>
            <a:r>
              <a:rPr lang="en-US" sz="3200" b="1" dirty="0"/>
              <a:t>Example 2-20 (Johnson, page 89)</a:t>
            </a:r>
          </a:p>
        </p:txBody>
      </p:sp>
    </p:spTree>
    <p:extLst>
      <p:ext uri="{BB962C8B-B14F-4D97-AF65-F5344CB8AC3E}">
        <p14:creationId xmlns:p14="http://schemas.microsoft.com/office/powerpoint/2010/main" val="4430464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3"/>
          <p:cNvSpPr>
            <a:spLocks noGrp="1" noChangeArrowheads="1"/>
          </p:cNvSpPr>
          <p:nvPr>
            <p:ph idx="1"/>
          </p:nvPr>
        </p:nvSpPr>
        <p:spPr>
          <a:xfrm>
            <a:off x="1775520" y="548680"/>
            <a:ext cx="7992888" cy="6264696"/>
          </a:xfrm>
        </p:spPr>
        <p:txBody>
          <a:bodyPr>
            <a:noAutofit/>
          </a:bodyPr>
          <a:lstStyle/>
          <a:p>
            <a:pPr algn="l" rtl="0"/>
            <a:r>
              <a:rPr lang="en-US" sz="2400" dirty="0"/>
              <a:t>For the two conditions we have in this problem we can write</a:t>
            </a:r>
          </a:p>
          <a:p>
            <a:pPr algn="l" rtl="0">
              <a:buNone/>
            </a:pPr>
            <a:r>
              <a:rPr lang="en-US" sz="2400" dirty="0"/>
              <a:t> 				0 = </a:t>
            </a:r>
            <a:r>
              <a:rPr lang="en-US" sz="2400" i="1" dirty="0"/>
              <a:t>a</a:t>
            </a:r>
            <a:r>
              <a:rPr lang="en-US" sz="2400" dirty="0"/>
              <a:t>(0.020)+</a:t>
            </a:r>
            <a:r>
              <a:rPr lang="en-US" sz="2400" i="1" dirty="0"/>
              <a:t>b</a:t>
            </a:r>
          </a:p>
          <a:p>
            <a:pPr algn="l" rtl="0">
              <a:buNone/>
            </a:pPr>
            <a:r>
              <a:rPr lang="en-US" sz="2400" i="1" dirty="0"/>
              <a:t>				</a:t>
            </a:r>
            <a:r>
              <a:rPr lang="en-US" sz="2400" dirty="0"/>
              <a:t>5 = </a:t>
            </a:r>
            <a:r>
              <a:rPr lang="en-US" sz="2400" i="1" dirty="0"/>
              <a:t>a</a:t>
            </a:r>
            <a:r>
              <a:rPr lang="en-US" sz="2400" dirty="0"/>
              <a:t>(0.250)+</a:t>
            </a:r>
            <a:r>
              <a:rPr lang="en-US" sz="2400" i="1" dirty="0"/>
              <a:t>b</a:t>
            </a:r>
          </a:p>
          <a:p>
            <a:pPr algn="l" rtl="0">
              <a:buNone/>
            </a:pPr>
            <a:endParaRPr lang="en-US" sz="2400" dirty="0"/>
          </a:p>
          <a:p>
            <a:pPr algn="l" rtl="0"/>
            <a:r>
              <a:rPr lang="en-US" sz="2400" dirty="0"/>
              <a:t>Solving these two equations gives</a:t>
            </a:r>
            <a:r>
              <a:rPr lang="en-US" sz="2400" i="1" dirty="0"/>
              <a:t> a = </a:t>
            </a:r>
            <a:r>
              <a:rPr lang="en-US" sz="2400" dirty="0"/>
              <a:t>21.7</a:t>
            </a:r>
            <a:r>
              <a:rPr lang="en-US" sz="2400" i="1" dirty="0"/>
              <a:t> </a:t>
            </a:r>
            <a:r>
              <a:rPr lang="en-US" sz="2400" dirty="0"/>
              <a:t>and</a:t>
            </a:r>
            <a:r>
              <a:rPr lang="en-US" sz="2400" i="1" dirty="0"/>
              <a:t> b = </a:t>
            </a:r>
            <a:r>
              <a:rPr lang="en-US" sz="2400" dirty="0"/>
              <a:t>-0.434</a:t>
            </a:r>
            <a:r>
              <a:rPr lang="en-US" sz="2400" i="1" dirty="0"/>
              <a:t>. </a:t>
            </a:r>
          </a:p>
          <a:p>
            <a:pPr algn="l" rtl="0"/>
            <a:r>
              <a:rPr lang="en-US" sz="2400" dirty="0"/>
              <a:t>Hence, the required equation is  </a:t>
            </a:r>
          </a:p>
          <a:p>
            <a:pPr algn="l" rtl="0">
              <a:buNone/>
            </a:pPr>
            <a:r>
              <a:rPr lang="en-US" sz="2400" dirty="0"/>
              <a:t>				</a:t>
            </a:r>
            <a:r>
              <a:rPr lang="en-US" sz="2400" i="1" dirty="0"/>
              <a:t> </a:t>
            </a:r>
            <a:r>
              <a:rPr lang="en-US" sz="2400" b="1" i="1" dirty="0" err="1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b="1" baseline="-25000" dirty="0" err="1">
                <a:latin typeface="Times New Roman" pitchFamily="18" charset="0"/>
                <a:cs typeface="Times New Roman" pitchFamily="18" charset="0"/>
              </a:rPr>
              <a:t>out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= 21.7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-0.434</a:t>
            </a:r>
          </a:p>
          <a:p>
            <a:pPr algn="l" rtl="0"/>
            <a:r>
              <a:rPr lang="en-US" sz="2400" dirty="0"/>
              <a:t>This can also be written as</a:t>
            </a:r>
          </a:p>
          <a:p>
            <a:pPr algn="l" rtl="0">
              <a:buNone/>
            </a:pPr>
            <a:r>
              <a:rPr lang="en-US" sz="2400" i="1" dirty="0"/>
              <a:t>				</a:t>
            </a:r>
            <a:r>
              <a:rPr lang="en-US" sz="2400" b="1" i="1" dirty="0" err="1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b="1" baseline="-25000" dirty="0" err="1">
                <a:latin typeface="Times New Roman" pitchFamily="18" charset="0"/>
                <a:cs typeface="Times New Roman" pitchFamily="18" charset="0"/>
              </a:rPr>
              <a:t>out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= 21.7(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-0.02)</a:t>
            </a:r>
          </a:p>
          <a:p>
            <a:pPr marL="0" indent="0" algn="l" rtl="0">
              <a:lnSpc>
                <a:spcPct val="80000"/>
              </a:lnSpc>
              <a:buNone/>
            </a:pPr>
            <a:r>
              <a:rPr lang="en-US" sz="2400" dirty="0"/>
              <a:t>This looks like a differential amplifier with a gain of 21.7 and a fixed input of 0.02V to the inverting side. The following circuit shows how this could be done using an instrumentation amplifier.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C522C-A1E4-4254-BFF3-9729D494B76C}" type="slidenum">
              <a:rPr lang="ar-EG" smtClean="0"/>
              <a:t>32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550657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6" y="1114772"/>
            <a:ext cx="7677150" cy="476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C522C-A1E4-4254-BFF3-9729D494B76C}" type="slidenum">
              <a:rPr lang="ar-EG" smtClean="0"/>
              <a:t>33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2919928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3"/>
          <p:cNvSpPr>
            <a:spLocks noGrp="1" noChangeArrowheads="1"/>
          </p:cNvSpPr>
          <p:nvPr>
            <p:ph idx="1"/>
          </p:nvPr>
        </p:nvSpPr>
        <p:spPr>
          <a:xfrm>
            <a:off x="1847528" y="332657"/>
            <a:ext cx="7848872" cy="5793507"/>
          </a:xfrm>
        </p:spPr>
        <p:txBody>
          <a:bodyPr/>
          <a:lstStyle/>
          <a:p>
            <a:pPr algn="l" rtl="0" eaLnBrk="1" hangingPunct="1">
              <a:buFontTx/>
              <a:buNone/>
            </a:pPr>
            <a:r>
              <a:rPr lang="en-US" b="1" dirty="0"/>
              <a:t>Example 2.21</a:t>
            </a:r>
          </a:p>
          <a:p>
            <a:pPr algn="l" rtl="0" eaLnBrk="1" hangingPunct="1">
              <a:buFontTx/>
              <a:buNone/>
            </a:pPr>
            <a:r>
              <a:rPr lang="en-US" sz="2400" dirty="0"/>
              <a:t>	</a:t>
            </a:r>
          </a:p>
          <a:p>
            <a:pPr marL="45720" algn="just">
              <a:buNone/>
            </a:pPr>
            <a:r>
              <a:rPr lang="en-US" dirty="0"/>
              <a:t>	</a:t>
            </a:r>
            <a:r>
              <a:rPr lang="en-US" sz="2400" dirty="0"/>
              <a:t>A bridge circuit for which R4 varies from 100</a:t>
            </a:r>
            <a:r>
              <a:rPr lang="en-US" sz="2400" dirty="0">
                <a:sym typeface="Symbol" pitchFamily="18" charset="2"/>
              </a:rPr>
              <a:t> to 102 is shown below.  Show how the given instrumentation amplifier could be used to provide an output of 0 to 2.5V for that change of </a:t>
            </a:r>
            <a:r>
              <a:rPr lang="en-US" sz="2400" dirty="0"/>
              <a:t>R4</a:t>
            </a:r>
            <a:r>
              <a:rPr lang="en-US" sz="2400" dirty="0">
                <a:sym typeface="Symbol" pitchFamily="18" charset="2"/>
              </a:rPr>
              <a:t>.  Assume that, in the instrumentation amplifier circuit,  R2 = R3 = 1 k and R1 = 100 k.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C522C-A1E4-4254-BFF3-9729D494B76C}" type="slidenum">
              <a:rPr lang="ar-EG" smtClean="0"/>
              <a:t>34</a:t>
            </a:fld>
            <a:endParaRPr lang="ar-EG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528" y="3561016"/>
            <a:ext cx="2664296" cy="310834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936" y="3645025"/>
            <a:ext cx="4235202" cy="2878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3211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3512" y="125760"/>
            <a:ext cx="7620000" cy="1143000"/>
          </a:xfrm>
        </p:spPr>
        <p:txBody>
          <a:bodyPr/>
          <a:lstStyle/>
          <a:p>
            <a:r>
              <a:rPr lang="en-US" dirty="0"/>
              <a:t>Answer</a:t>
            </a:r>
            <a:endParaRPr lang="ar-E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340768"/>
            <a:ext cx="7620000" cy="3672408"/>
          </a:xfrm>
        </p:spPr>
        <p:txBody>
          <a:bodyPr>
            <a:normAutofit/>
          </a:bodyPr>
          <a:lstStyle/>
          <a:p>
            <a:pPr algn="l" rtl="0"/>
            <a:r>
              <a:rPr lang="en-US" dirty="0"/>
              <a:t>Clearly, the bridge is at null when R4=100 </a:t>
            </a:r>
            <a:r>
              <a:rPr lang="el-GR" dirty="0"/>
              <a:t>Ω</a:t>
            </a:r>
            <a:r>
              <a:rPr lang="en-US" dirty="0"/>
              <a:t>. </a:t>
            </a:r>
          </a:p>
          <a:p>
            <a:pPr algn="l" rtl="0"/>
            <a:r>
              <a:rPr lang="en-US" dirty="0"/>
              <a:t>When R4 = 102</a:t>
            </a:r>
            <a:r>
              <a:rPr lang="el-GR" dirty="0"/>
              <a:t>Ω</a:t>
            </a:r>
            <a:r>
              <a:rPr lang="en-US" dirty="0"/>
              <a:t> the bridge offset voltage is found as</a:t>
            </a:r>
          </a:p>
          <a:p>
            <a:pPr algn="l" rtl="0"/>
            <a:endParaRPr lang="en-US" dirty="0"/>
          </a:p>
          <a:p>
            <a:pPr algn="l" rtl="0"/>
            <a:endParaRPr lang="en-US" dirty="0"/>
          </a:p>
          <a:p>
            <a:pPr algn="l" rtl="0"/>
            <a:endParaRPr lang="en-US" dirty="0"/>
          </a:p>
          <a:p>
            <a:pPr algn="l" rtl="0"/>
            <a:r>
              <a:rPr lang="en-US" dirty="0"/>
              <a:t>To get an output of 2.5V at 102</a:t>
            </a:r>
            <a:r>
              <a:rPr lang="el-GR" dirty="0"/>
              <a:t>Ω</a:t>
            </a:r>
            <a:r>
              <a:rPr lang="en-US" dirty="0"/>
              <a:t> means that we need a differential gain of (2.5 V/24.75 mV) = 101.</a:t>
            </a:r>
          </a:p>
          <a:p>
            <a:pPr algn="l" rtl="0"/>
            <a:r>
              <a:rPr lang="en-US" dirty="0"/>
              <a:t>For the instrumentation amplifier we have</a:t>
            </a:r>
          </a:p>
          <a:p>
            <a:pPr marL="109728" indent="0">
              <a:buNone/>
            </a:pPr>
            <a:endParaRPr lang="en-US" dirty="0"/>
          </a:p>
          <a:p>
            <a:pPr marL="109728" indent="0">
              <a:buNone/>
            </a:pPr>
            <a:endParaRPr lang="en-US" dirty="0"/>
          </a:p>
          <a:p>
            <a:pPr marL="109728" indent="0">
              <a:buNone/>
            </a:pPr>
            <a:endParaRPr lang="en-US" dirty="0"/>
          </a:p>
          <a:p>
            <a:pPr marL="109728" indent="0" algn="ctr">
              <a:buNone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C522C-A1E4-4254-BFF3-9729D494B76C}" type="slidenum">
              <a:rPr lang="ar-EG" smtClean="0"/>
              <a:t>35</a:t>
            </a:fld>
            <a:endParaRPr lang="ar-EG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732089" y="2374776"/>
          <a:ext cx="62960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38200" imgH="431640" progId="Equation.3">
                  <p:embed/>
                </p:oleObj>
              </mc:Choice>
              <mc:Fallback>
                <p:oleObj name="Equation" r:id="rId2" imgW="3238200" imgH="43164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2089" y="2374776"/>
                        <a:ext cx="62960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4295776" y="4671268"/>
          <a:ext cx="3095625" cy="207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03240" imgH="1206360" progId="Equation.3">
                  <p:embed/>
                </p:oleObj>
              </mc:Choice>
              <mc:Fallback>
                <p:oleObj name="Equation" r:id="rId4" imgW="1803240" imgH="120636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776" y="4671268"/>
                        <a:ext cx="3095625" cy="207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61678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797" y="1576368"/>
            <a:ext cx="7798603" cy="4012873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C522C-A1E4-4254-BFF3-9729D494B76C}" type="slidenum">
              <a:rPr lang="ar-EG" smtClean="0"/>
              <a:t>36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4159437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>
            <a:extLst>
              <a:ext uri="{FF2B5EF4-FFF2-40B4-BE49-F238E27FC236}">
                <a16:creationId xmlns:a16="http://schemas.microsoft.com/office/drawing/2014/main" id="{922584C6-3EA7-4D49-B3E0-8F701591C211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2133600" y="152401"/>
            <a:ext cx="3429000" cy="639763"/>
          </a:xfrm>
        </p:spPr>
        <p:txBody>
          <a:bodyPr/>
          <a:lstStyle/>
          <a:p>
            <a:pPr algn="l" eaLnBrk="1" hangingPunct="1"/>
            <a:r>
              <a:rPr lang="en-US" altLang="en-US" sz="3200" b="1" dirty="0">
                <a:solidFill>
                  <a:srgbClr val="C00000"/>
                </a:solidFill>
              </a:rPr>
              <a:t>Linearization</a:t>
            </a:r>
          </a:p>
        </p:txBody>
      </p:sp>
      <p:sp>
        <p:nvSpPr>
          <p:cNvPr id="9221" name="Rectangle 4">
            <a:extLst>
              <a:ext uri="{FF2B5EF4-FFF2-40B4-BE49-F238E27FC236}">
                <a16:creationId xmlns:a16="http://schemas.microsoft.com/office/drawing/2014/main" id="{AC939366-1461-4F0F-A4D5-303C5916CAB5}"/>
              </a:ext>
            </a:extLst>
          </p:cNvPr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240793" y="1143001"/>
            <a:ext cx="6236208" cy="525779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altLang="en-US" sz="2400" dirty="0"/>
              <a:t>linearization is the process of interpreting the signal from the sensor. It is necessary when sensors are not linearly aligned to the physical measurement.</a:t>
            </a:r>
          </a:p>
          <a:p>
            <a:pPr marL="114300" indent="0">
              <a:buNone/>
            </a:pPr>
            <a:r>
              <a:rPr lang="en-US" altLang="en-US" sz="2400" dirty="0"/>
              <a:t>Linearization circuits are difficult to design and usually operate only within narrow limits</a:t>
            </a:r>
          </a:p>
          <a:p>
            <a:pPr marL="114300" indent="0">
              <a:buNone/>
            </a:pPr>
            <a:r>
              <a:rPr lang="en-US" altLang="en-US" sz="2400" dirty="0"/>
              <a:t>The approach is to provide the nonlinear signal as input to a computer and perform the linearization using software.</a:t>
            </a:r>
          </a:p>
          <a:p>
            <a:pPr marL="114300" indent="0">
              <a:buNone/>
            </a:pPr>
            <a:r>
              <a:rPr lang="en-US" altLang="en-US" sz="2400" dirty="0">
                <a:solidFill>
                  <a:srgbClr val="3333CC"/>
                </a:solidFill>
              </a:rPr>
              <a:t>With speed at which modern computers operate linearization can be done real-time.</a:t>
            </a:r>
          </a:p>
        </p:txBody>
      </p:sp>
      <p:sp>
        <p:nvSpPr>
          <p:cNvPr id="9218" name="Date Placeholder 4">
            <a:extLst>
              <a:ext uri="{FF2B5EF4-FFF2-40B4-BE49-F238E27FC236}">
                <a16:creationId xmlns:a16="http://schemas.microsoft.com/office/drawing/2014/main" id="{E1D1170C-6E59-489E-AB1F-D497F30464DD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0945A56-6851-4654-8326-9CF5D56FC511}" type="datetime1">
              <a:rPr lang="en-US" altLang="en-US" sz="1400"/>
              <a:pPr eaLnBrk="1" hangingPunct="1">
                <a:spcBef>
                  <a:spcPct val="0"/>
                </a:spcBef>
                <a:buFontTx/>
                <a:buNone/>
              </a:pPr>
              <a:t>11/1/2023</a:t>
            </a:fld>
            <a:endParaRPr lang="en-US" altLang="en-US" sz="1400"/>
          </a:p>
        </p:txBody>
      </p:sp>
      <p:sp>
        <p:nvSpPr>
          <p:cNvPr id="9219" name="Slide Number Placeholder 6">
            <a:extLst>
              <a:ext uri="{FF2B5EF4-FFF2-40B4-BE49-F238E27FC236}">
                <a16:creationId xmlns:a16="http://schemas.microsoft.com/office/drawing/2014/main" id="{FF50A2D3-3F5F-499A-A79F-14B680F77F0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1632BEF-E945-4E76-B0A2-0547584BFBDB}" type="slidenum">
              <a:rPr lang="en-US" altLang="en-US" sz="1400"/>
              <a:pPr eaLnBrk="1" hangingPunct="1"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400"/>
          </a:p>
        </p:txBody>
      </p:sp>
      <p:grpSp>
        <p:nvGrpSpPr>
          <p:cNvPr id="9222" name="Group 31">
            <a:extLst>
              <a:ext uri="{FF2B5EF4-FFF2-40B4-BE49-F238E27FC236}">
                <a16:creationId xmlns:a16="http://schemas.microsoft.com/office/drawing/2014/main" id="{F4F3C83A-2161-40A2-986F-6B87472113B1}"/>
              </a:ext>
            </a:extLst>
          </p:cNvPr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6400800" y="609601"/>
            <a:ext cx="3962400" cy="5413375"/>
            <a:chOff x="3072" y="240"/>
            <a:chExt cx="2496" cy="3410"/>
          </a:xfrm>
        </p:grpSpPr>
        <p:sp>
          <p:nvSpPr>
            <p:cNvPr id="9223" name="Line 6">
              <a:extLst>
                <a:ext uri="{FF2B5EF4-FFF2-40B4-BE49-F238E27FC236}">
                  <a16:creationId xmlns:a16="http://schemas.microsoft.com/office/drawing/2014/main" id="{A121EB4B-6481-4917-A54B-CA679618F3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0" y="240"/>
              <a:ext cx="0" cy="960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W"/>
            </a:p>
          </p:txBody>
        </p:sp>
        <p:sp>
          <p:nvSpPr>
            <p:cNvPr id="9224" name="Line 7">
              <a:extLst>
                <a:ext uri="{FF2B5EF4-FFF2-40B4-BE49-F238E27FC236}">
                  <a16:creationId xmlns:a16="http://schemas.microsoft.com/office/drawing/2014/main" id="{9ABE80E8-03C6-4D84-B1EC-BFEC34FB66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200"/>
              <a:ext cx="2160" cy="0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W"/>
            </a:p>
          </p:txBody>
        </p:sp>
        <p:sp>
          <p:nvSpPr>
            <p:cNvPr id="9225" name="Line 8">
              <a:extLst>
                <a:ext uri="{FF2B5EF4-FFF2-40B4-BE49-F238E27FC236}">
                  <a16:creationId xmlns:a16="http://schemas.microsoft.com/office/drawing/2014/main" id="{17268647-DD90-46A6-B14D-506BEBEC82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4" y="288"/>
              <a:ext cx="0" cy="912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W"/>
            </a:p>
          </p:txBody>
        </p:sp>
        <p:sp>
          <p:nvSpPr>
            <p:cNvPr id="9226" name="Line 9">
              <a:extLst>
                <a:ext uri="{FF2B5EF4-FFF2-40B4-BE49-F238E27FC236}">
                  <a16:creationId xmlns:a16="http://schemas.microsoft.com/office/drawing/2014/main" id="{51A04CC2-87B0-4486-8617-4D06F9FFBE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32" y="288"/>
              <a:ext cx="0" cy="912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W"/>
            </a:p>
          </p:txBody>
        </p:sp>
        <p:sp>
          <p:nvSpPr>
            <p:cNvPr id="9227" name="Freeform 10">
              <a:extLst>
                <a:ext uri="{FF2B5EF4-FFF2-40B4-BE49-F238E27FC236}">
                  <a16:creationId xmlns:a16="http://schemas.microsoft.com/office/drawing/2014/main" id="{E54E33B1-1BA2-4A19-918E-3FBF3987C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384"/>
              <a:ext cx="1488" cy="768"/>
            </a:xfrm>
            <a:custGeom>
              <a:avLst/>
              <a:gdLst>
                <a:gd name="T0" fmla="*/ 0 w 1488"/>
                <a:gd name="T1" fmla="*/ 0 h 768"/>
                <a:gd name="T2" fmla="*/ 328 w 1488"/>
                <a:gd name="T3" fmla="*/ 232 h 768"/>
                <a:gd name="T4" fmla="*/ 800 w 1488"/>
                <a:gd name="T5" fmla="*/ 376 h 768"/>
                <a:gd name="T6" fmla="*/ 1080 w 1488"/>
                <a:gd name="T7" fmla="*/ 456 h 768"/>
                <a:gd name="T8" fmla="*/ 1344 w 1488"/>
                <a:gd name="T9" fmla="*/ 600 h 768"/>
                <a:gd name="T10" fmla="*/ 1488 w 1488"/>
                <a:gd name="T11" fmla="*/ 768 h 7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88"/>
                <a:gd name="T19" fmla="*/ 0 h 768"/>
                <a:gd name="T20" fmla="*/ 1488 w 1488"/>
                <a:gd name="T21" fmla="*/ 768 h 76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88" h="768">
                  <a:moveTo>
                    <a:pt x="0" y="0"/>
                  </a:moveTo>
                  <a:cubicBezTo>
                    <a:pt x="55" y="39"/>
                    <a:pt x="195" y="169"/>
                    <a:pt x="328" y="232"/>
                  </a:cubicBezTo>
                  <a:cubicBezTo>
                    <a:pt x="461" y="295"/>
                    <a:pt x="675" y="339"/>
                    <a:pt x="800" y="376"/>
                  </a:cubicBezTo>
                  <a:cubicBezTo>
                    <a:pt x="925" y="413"/>
                    <a:pt x="989" y="419"/>
                    <a:pt x="1080" y="456"/>
                  </a:cubicBezTo>
                  <a:cubicBezTo>
                    <a:pt x="1171" y="493"/>
                    <a:pt x="1276" y="548"/>
                    <a:pt x="1344" y="600"/>
                  </a:cubicBezTo>
                  <a:cubicBezTo>
                    <a:pt x="1412" y="652"/>
                    <a:pt x="1458" y="733"/>
                    <a:pt x="1488" y="768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BW"/>
            </a:p>
          </p:txBody>
        </p:sp>
        <p:sp>
          <p:nvSpPr>
            <p:cNvPr id="9228" name="Text Box 11">
              <a:extLst>
                <a:ext uri="{FF2B5EF4-FFF2-40B4-BE49-F238E27FC236}">
                  <a16:creationId xmlns:a16="http://schemas.microsoft.com/office/drawing/2014/main" id="{0DFB9412-F28E-4E46-B8DA-D49F7793AB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0" y="1152"/>
              <a:ext cx="37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n-US" sz="2000">
                  <a:solidFill>
                    <a:srgbClr val="993300"/>
                  </a:solidFill>
                </a:rPr>
                <a:t>c</a:t>
              </a:r>
              <a:r>
                <a:rPr lang="es-ES" altLang="en-US" sz="2000" baseline="-25000">
                  <a:solidFill>
                    <a:srgbClr val="993300"/>
                  </a:solidFill>
                </a:rPr>
                <a:t>min</a:t>
              </a:r>
            </a:p>
          </p:txBody>
        </p:sp>
        <p:sp>
          <p:nvSpPr>
            <p:cNvPr id="9229" name="Text Box 12">
              <a:extLst>
                <a:ext uri="{FF2B5EF4-FFF2-40B4-BE49-F238E27FC236}">
                  <a16:creationId xmlns:a16="http://schemas.microsoft.com/office/drawing/2014/main" id="{5C6E4390-7E1D-460D-8D87-D58E9B4883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9" y="1152"/>
              <a:ext cx="40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n-US" sz="2000">
                  <a:solidFill>
                    <a:srgbClr val="993300"/>
                  </a:solidFill>
                </a:rPr>
                <a:t>c</a:t>
              </a:r>
              <a:r>
                <a:rPr lang="es-ES" altLang="en-US" sz="2000" baseline="-25000">
                  <a:solidFill>
                    <a:srgbClr val="993300"/>
                  </a:solidFill>
                </a:rPr>
                <a:t>max</a:t>
              </a:r>
            </a:p>
          </p:txBody>
        </p:sp>
        <p:sp>
          <p:nvSpPr>
            <p:cNvPr id="9230" name="Text Box 13">
              <a:extLst>
                <a:ext uri="{FF2B5EF4-FFF2-40B4-BE49-F238E27FC236}">
                  <a16:creationId xmlns:a16="http://schemas.microsoft.com/office/drawing/2014/main" id="{E0A49438-F76D-45CA-8A6D-ECA33353D5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576"/>
              <a:ext cx="20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n-US" sz="2000">
                  <a:solidFill>
                    <a:srgbClr val="993300"/>
                  </a:solidFill>
                </a:rPr>
                <a:t>b</a:t>
              </a:r>
              <a:endParaRPr lang="es-ES" altLang="en-US" sz="2000" baseline="-25000">
                <a:solidFill>
                  <a:srgbClr val="993300"/>
                </a:solidFill>
              </a:endParaRPr>
            </a:p>
          </p:txBody>
        </p:sp>
        <p:sp>
          <p:nvSpPr>
            <p:cNvPr id="9231" name="Line 14">
              <a:extLst>
                <a:ext uri="{FF2B5EF4-FFF2-40B4-BE49-F238E27FC236}">
                  <a16:creationId xmlns:a16="http://schemas.microsoft.com/office/drawing/2014/main" id="{BE2EDA00-1FAA-4411-9055-D9457AE35A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2" y="2486"/>
              <a:ext cx="0" cy="960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W"/>
            </a:p>
          </p:txBody>
        </p:sp>
        <p:sp>
          <p:nvSpPr>
            <p:cNvPr id="9232" name="Line 15">
              <a:extLst>
                <a:ext uri="{FF2B5EF4-FFF2-40B4-BE49-F238E27FC236}">
                  <a16:creationId xmlns:a16="http://schemas.microsoft.com/office/drawing/2014/main" id="{75BBC93D-CBEF-4EE9-87C1-B18591DE74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446"/>
              <a:ext cx="2160" cy="0"/>
            </a:xfrm>
            <a:prstGeom prst="line">
              <a:avLst/>
            </a:prstGeom>
            <a:noFill/>
            <a:ln w="15875">
              <a:solidFill>
                <a:srgbClr val="008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W"/>
            </a:p>
          </p:txBody>
        </p:sp>
        <p:sp>
          <p:nvSpPr>
            <p:cNvPr id="9233" name="Line 16">
              <a:extLst>
                <a:ext uri="{FF2B5EF4-FFF2-40B4-BE49-F238E27FC236}">
                  <a16:creationId xmlns:a16="http://schemas.microsoft.com/office/drawing/2014/main" id="{D7DB1F76-C054-4805-B01D-FA8DCDA1CE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2534"/>
              <a:ext cx="0" cy="912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W"/>
            </a:p>
          </p:txBody>
        </p:sp>
        <p:sp>
          <p:nvSpPr>
            <p:cNvPr id="9234" name="Line 17">
              <a:extLst>
                <a:ext uri="{FF2B5EF4-FFF2-40B4-BE49-F238E27FC236}">
                  <a16:creationId xmlns:a16="http://schemas.microsoft.com/office/drawing/2014/main" id="{F0CBF933-986C-4106-BD46-0DD0FB8AD7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2534"/>
              <a:ext cx="0" cy="912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W"/>
            </a:p>
          </p:txBody>
        </p:sp>
        <p:sp>
          <p:nvSpPr>
            <p:cNvPr id="9235" name="Text Box 19">
              <a:extLst>
                <a:ext uri="{FF2B5EF4-FFF2-40B4-BE49-F238E27FC236}">
                  <a16:creationId xmlns:a16="http://schemas.microsoft.com/office/drawing/2014/main" id="{8685C4D2-DF7D-47F4-AC65-7B84E2C73C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2" y="3398"/>
              <a:ext cx="37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n-US" sz="2000">
                  <a:solidFill>
                    <a:srgbClr val="993300"/>
                  </a:solidFill>
                </a:rPr>
                <a:t>c</a:t>
              </a:r>
              <a:r>
                <a:rPr lang="es-ES" altLang="en-US" sz="2000" baseline="-25000">
                  <a:solidFill>
                    <a:srgbClr val="993300"/>
                  </a:solidFill>
                </a:rPr>
                <a:t>min</a:t>
              </a:r>
            </a:p>
          </p:txBody>
        </p:sp>
        <p:sp>
          <p:nvSpPr>
            <p:cNvPr id="9236" name="Text Box 20">
              <a:extLst>
                <a:ext uri="{FF2B5EF4-FFF2-40B4-BE49-F238E27FC236}">
                  <a16:creationId xmlns:a16="http://schemas.microsoft.com/office/drawing/2014/main" id="{D4D4B0A4-403F-4C30-B43E-A9AF1BA369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1" y="3398"/>
              <a:ext cx="40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n-US" sz="2000">
                  <a:solidFill>
                    <a:srgbClr val="993300"/>
                  </a:solidFill>
                </a:rPr>
                <a:t>c</a:t>
              </a:r>
              <a:r>
                <a:rPr lang="es-ES" altLang="en-US" sz="2000" baseline="-25000">
                  <a:solidFill>
                    <a:srgbClr val="993300"/>
                  </a:solidFill>
                </a:rPr>
                <a:t>max</a:t>
              </a:r>
            </a:p>
          </p:txBody>
        </p:sp>
        <p:sp>
          <p:nvSpPr>
            <p:cNvPr id="9237" name="Text Box 21">
              <a:extLst>
                <a:ext uri="{FF2B5EF4-FFF2-40B4-BE49-F238E27FC236}">
                  <a16:creationId xmlns:a16="http://schemas.microsoft.com/office/drawing/2014/main" id="{4DE53F8C-4ED2-46FA-8837-FA34362B0D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2822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n-US" sz="2000">
                  <a:solidFill>
                    <a:srgbClr val="993300"/>
                  </a:solidFill>
                </a:rPr>
                <a:t>V</a:t>
              </a:r>
              <a:endParaRPr lang="es-ES" altLang="en-US" sz="2000" baseline="-25000">
                <a:solidFill>
                  <a:srgbClr val="993300"/>
                </a:solidFill>
              </a:endParaRPr>
            </a:p>
          </p:txBody>
        </p:sp>
        <p:sp>
          <p:nvSpPr>
            <p:cNvPr id="9238" name="Line 22">
              <a:extLst>
                <a:ext uri="{FF2B5EF4-FFF2-40B4-BE49-F238E27FC236}">
                  <a16:creationId xmlns:a16="http://schemas.microsoft.com/office/drawing/2014/main" id="{BDA0BB74-893F-4DBE-A50B-27CF7A1AB2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2688"/>
              <a:ext cx="1488" cy="52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W"/>
            </a:p>
          </p:txBody>
        </p:sp>
        <p:sp>
          <p:nvSpPr>
            <p:cNvPr id="9239" name="Text Box 23">
              <a:extLst>
                <a:ext uri="{FF2B5EF4-FFF2-40B4-BE49-F238E27FC236}">
                  <a16:creationId xmlns:a16="http://schemas.microsoft.com/office/drawing/2014/main" id="{50519F33-EA63-42E1-A6A4-079E35D26A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728"/>
              <a:ext cx="1024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n-US" sz="2000">
                  <a:solidFill>
                    <a:srgbClr val="3333CC"/>
                  </a:solidFill>
                </a:rPr>
                <a:t>Linearization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n-US" sz="2000">
                  <a:solidFill>
                    <a:srgbClr val="3333CC"/>
                  </a:solidFill>
                </a:rPr>
                <a:t>circuit</a:t>
              </a:r>
            </a:p>
          </p:txBody>
        </p:sp>
        <p:sp>
          <p:nvSpPr>
            <p:cNvPr id="9240" name="Rectangle 24">
              <a:extLst>
                <a:ext uri="{FF2B5EF4-FFF2-40B4-BE49-F238E27FC236}">
                  <a16:creationId xmlns:a16="http://schemas.microsoft.com/office/drawing/2014/main" id="{EBB4EDEC-7364-496B-885A-894888590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1680"/>
              <a:ext cx="1104" cy="528"/>
            </a:xfrm>
            <a:prstGeom prst="rect">
              <a:avLst/>
            </a:prstGeom>
            <a:noFill/>
            <a:ln w="25400">
              <a:solidFill>
                <a:srgbClr val="008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9241" name="Line 26">
              <a:extLst>
                <a:ext uri="{FF2B5EF4-FFF2-40B4-BE49-F238E27FC236}">
                  <a16:creationId xmlns:a16="http://schemas.microsoft.com/office/drawing/2014/main" id="{C8CF2C06-936D-4D16-8748-6FEB92DEEB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920"/>
              <a:ext cx="576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W"/>
            </a:p>
          </p:txBody>
        </p:sp>
        <p:sp>
          <p:nvSpPr>
            <p:cNvPr id="9242" name="Line 27">
              <a:extLst>
                <a:ext uri="{FF2B5EF4-FFF2-40B4-BE49-F238E27FC236}">
                  <a16:creationId xmlns:a16="http://schemas.microsoft.com/office/drawing/2014/main" id="{C0052ABE-0F9F-4452-A58D-48150A647F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1920"/>
              <a:ext cx="576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W"/>
            </a:p>
          </p:txBody>
        </p:sp>
        <p:sp>
          <p:nvSpPr>
            <p:cNvPr id="9243" name="Text Box 28">
              <a:extLst>
                <a:ext uri="{FF2B5EF4-FFF2-40B4-BE49-F238E27FC236}">
                  <a16:creationId xmlns:a16="http://schemas.microsoft.com/office/drawing/2014/main" id="{D28C712D-55DF-4966-AC71-D5442E2696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1" y="1680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n-US" sz="2000">
                  <a:solidFill>
                    <a:srgbClr val="993300"/>
                  </a:solidFill>
                </a:rPr>
                <a:t>V</a:t>
              </a:r>
              <a:endParaRPr lang="es-ES" altLang="en-US" sz="2000" baseline="-25000">
                <a:solidFill>
                  <a:srgbClr val="993300"/>
                </a:solidFill>
              </a:endParaRPr>
            </a:p>
          </p:txBody>
        </p:sp>
        <p:sp>
          <p:nvSpPr>
            <p:cNvPr id="9244" name="Text Box 29">
              <a:extLst>
                <a:ext uri="{FF2B5EF4-FFF2-40B4-BE49-F238E27FC236}">
                  <a16:creationId xmlns:a16="http://schemas.microsoft.com/office/drawing/2014/main" id="{841F8910-9AE5-4371-89C5-F7E145FA76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" y="1670"/>
              <a:ext cx="20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n-US" sz="2000">
                  <a:solidFill>
                    <a:srgbClr val="993300"/>
                  </a:solidFill>
                </a:rPr>
                <a:t>b</a:t>
              </a:r>
              <a:endParaRPr lang="es-ES" altLang="en-US" sz="2000" baseline="-25000">
                <a:solidFill>
                  <a:srgbClr val="993300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1" y="548679"/>
            <a:ext cx="4469296" cy="10018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rgbClr val="C00000"/>
                </a:solidFill>
              </a:rPr>
              <a:t>Linearization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783358"/>
            <a:ext cx="8291264" cy="4525963"/>
          </a:xfrm>
        </p:spPr>
        <p:txBody>
          <a:bodyPr/>
          <a:lstStyle/>
          <a:p>
            <a:pPr algn="l" rtl="0" eaLnBrk="1" hangingPunct="1"/>
            <a:r>
              <a:rPr lang="en-US" dirty="0"/>
              <a:t>Often, the characteristic of a sensor is nonlinear</a:t>
            </a:r>
          </a:p>
          <a:p>
            <a:pPr algn="l" rtl="0" eaLnBrk="1" hangingPunct="1"/>
            <a:r>
              <a:rPr lang="en-US" dirty="0"/>
              <a:t>Special circuits were devised to linearize signals</a:t>
            </a:r>
          </a:p>
          <a:p>
            <a:pPr algn="l" rtl="0" eaLnBrk="1" hangingPunct="1"/>
            <a:r>
              <a:rPr lang="en-US" dirty="0"/>
              <a:t>Modern approach is to use computer software for linearization.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C522C-A1E4-4254-BFF3-9729D494B76C}" type="slidenum">
              <a:rPr lang="ar-EG" smtClean="0"/>
              <a:t>38</a:t>
            </a:fld>
            <a:endParaRPr lang="ar-EG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6" y="3717033"/>
            <a:ext cx="7886700" cy="246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57553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>
            <a:extLst>
              <a:ext uri="{FF2B5EF4-FFF2-40B4-BE49-F238E27FC236}">
                <a16:creationId xmlns:a16="http://schemas.microsoft.com/office/drawing/2014/main" id="{165EA5E6-11DF-416C-A6D9-35B28F860959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981200" y="274638"/>
            <a:ext cx="8229600" cy="5635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500" b="1" dirty="0"/>
              <a:t>Conversions</a:t>
            </a:r>
          </a:p>
        </p:txBody>
      </p:sp>
      <p:sp>
        <p:nvSpPr>
          <p:cNvPr id="10245" name="Rectangle 3">
            <a:extLst>
              <a:ext uri="{FF2B5EF4-FFF2-40B4-BE49-F238E27FC236}">
                <a16:creationId xmlns:a16="http://schemas.microsoft.com/office/drawing/2014/main" id="{0A12A94B-D6A7-46BA-9D12-23CD738A61D2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2362200" y="1295400"/>
            <a:ext cx="7620000" cy="4648200"/>
          </a:xfrm>
        </p:spPr>
        <p:txBody>
          <a:bodyPr/>
          <a:lstStyle/>
          <a:p>
            <a:pPr marL="114300" indent="0">
              <a:buNone/>
            </a:pPr>
            <a:r>
              <a:rPr lang="en-US" altLang="en-US" dirty="0"/>
              <a:t>Often, signal conditioning is used to convert one type of electrical variation into another</a:t>
            </a:r>
          </a:p>
          <a:p>
            <a:pPr marL="114300" indent="0">
              <a:buNone/>
            </a:pPr>
            <a:endParaRPr lang="en-US" altLang="en-US" sz="1200" dirty="0"/>
          </a:p>
          <a:p>
            <a:pPr marL="114300" indent="0">
              <a:buNone/>
            </a:pPr>
            <a:r>
              <a:rPr lang="en-US" altLang="en-US" dirty="0"/>
              <a:t>Many sensors exhibit changes of resistance with changes in a dynamic variable</a:t>
            </a:r>
          </a:p>
          <a:p>
            <a:pPr marL="114300" indent="0">
              <a:buNone/>
            </a:pPr>
            <a:endParaRPr lang="en-US" altLang="en-US" sz="1200" dirty="0"/>
          </a:p>
          <a:p>
            <a:pPr marL="114300" indent="0">
              <a:buNone/>
            </a:pPr>
            <a:r>
              <a:rPr lang="en-US" altLang="en-US" dirty="0"/>
              <a:t>A circuit is then needed to convert this resistance change to a voltage or a current signal</a:t>
            </a:r>
          </a:p>
          <a:p>
            <a:pPr marL="114300" indent="0">
              <a:buNone/>
            </a:pPr>
            <a:endParaRPr lang="en-US" altLang="en-US" sz="1200" dirty="0"/>
          </a:p>
          <a:p>
            <a:pPr marL="114300" indent="0">
              <a:buNone/>
            </a:pPr>
            <a:r>
              <a:rPr lang="en-US" altLang="en-US" dirty="0"/>
              <a:t>This is accomplished by bridges </a:t>
            </a:r>
          </a:p>
        </p:txBody>
      </p:sp>
      <p:sp>
        <p:nvSpPr>
          <p:cNvPr id="10242" name="Date Placeholder 3">
            <a:extLst>
              <a:ext uri="{FF2B5EF4-FFF2-40B4-BE49-F238E27FC236}">
                <a16:creationId xmlns:a16="http://schemas.microsoft.com/office/drawing/2014/main" id="{0601EDC1-A12B-47F7-B243-81500899AC62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613568F-E11A-476D-8B86-8C9A51BF7986}" type="datetime1">
              <a:rPr lang="en-US" altLang="en-US" sz="1400"/>
              <a:pPr eaLnBrk="1" hangingPunct="1">
                <a:spcBef>
                  <a:spcPct val="0"/>
                </a:spcBef>
                <a:buFontTx/>
                <a:buNone/>
              </a:pPr>
              <a:t>11/1/2023</a:t>
            </a:fld>
            <a:endParaRPr lang="en-US" altLang="en-US" sz="1400"/>
          </a:p>
        </p:txBody>
      </p:sp>
      <p:sp>
        <p:nvSpPr>
          <p:cNvPr id="10243" name="Slide Number Placeholder 5">
            <a:extLst>
              <a:ext uri="{FF2B5EF4-FFF2-40B4-BE49-F238E27FC236}">
                <a16:creationId xmlns:a16="http://schemas.microsoft.com/office/drawing/2014/main" id="{BD998F05-B600-4AB5-8C34-57584EEEFAB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DDF5035-74FB-41B1-A428-8536A4D60A96}" type="slidenum">
              <a:rPr lang="en-US" altLang="en-US" sz="1400"/>
              <a:pPr eaLnBrk="1" hangingPunct="1"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400"/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Conversion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 eaLnBrk="1" hangingPunct="1">
              <a:buFont typeface="Wingdings" pitchFamily="2" charset="2"/>
              <a:buChar char="q"/>
            </a:pPr>
            <a:r>
              <a:rPr lang="en-US" sz="2400" dirty="0"/>
              <a:t> In many situations it is required to convert one form of signal or physical value into another form such as</a:t>
            </a:r>
          </a:p>
          <a:p>
            <a:pPr lvl="1" algn="l" rtl="0" eaLnBrk="1" hangingPunct="1">
              <a:buFont typeface="Courier New" pitchFamily="49" charset="0"/>
              <a:buChar char="o"/>
            </a:pPr>
            <a:r>
              <a:rPr lang="en-US" dirty="0"/>
              <a:t>resistance to voltage</a:t>
            </a:r>
          </a:p>
          <a:p>
            <a:pPr lvl="1" algn="l" rtl="0">
              <a:buFont typeface="Courier New" pitchFamily="49" charset="0"/>
              <a:buChar char="o"/>
            </a:pPr>
            <a:r>
              <a:rPr lang="en-US" dirty="0"/>
              <a:t>voltage-to-current </a:t>
            </a:r>
          </a:p>
          <a:p>
            <a:pPr lvl="1" algn="l" rtl="0">
              <a:buFont typeface="Courier New" pitchFamily="49" charset="0"/>
              <a:buChar char="o"/>
            </a:pPr>
            <a:r>
              <a:rPr lang="en-US" dirty="0"/>
              <a:t>current-to-voltage </a:t>
            </a:r>
          </a:p>
          <a:p>
            <a:pPr lvl="1" algn="l" rtl="0" eaLnBrk="1" hangingPunct="1">
              <a:buFont typeface="Wingdings" pitchFamily="2" charset="2"/>
              <a:buChar char="q"/>
            </a:pPr>
            <a:endParaRPr lang="en-US" dirty="0"/>
          </a:p>
          <a:p>
            <a:pPr algn="l" rtl="0" eaLnBrk="1" hangingPunct="1">
              <a:buFont typeface="Wingdings" pitchFamily="2" charset="2"/>
              <a:buChar char="q"/>
            </a:pPr>
            <a:r>
              <a:rPr lang="en-US" sz="2400" dirty="0"/>
              <a:t> A typical standard in process control systems is to use current signals in the range 4 to 20 mA for transmission. This requires conversion from voltage to current at the sending end and a conversion from current to voltage at the receiving end.</a:t>
            </a:r>
          </a:p>
          <a:p>
            <a:pPr algn="l" rtl="0" eaLnBrk="1" hangingPunct="1">
              <a:buFont typeface="Wingdings" pitchFamily="2" charset="2"/>
              <a:buChar char="q"/>
            </a:pPr>
            <a:endParaRPr 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C522C-A1E4-4254-BFF3-9729D494B76C}" type="slidenum">
              <a:rPr lang="ar-EG" smtClean="0"/>
              <a:t>40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9922271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to voltage converter</a:t>
            </a:r>
            <a:endParaRPr lang="ar-E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C522C-A1E4-4254-BFF3-9729D494B76C}" type="slidenum">
              <a:rPr lang="ar-EG" smtClean="0"/>
              <a:t>41</a:t>
            </a:fld>
            <a:endParaRPr lang="ar-EG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649" y="1700809"/>
            <a:ext cx="5686425" cy="3533775"/>
          </a:xfrm>
          <a:prstGeom prst="rect">
            <a:avLst/>
          </a:prstGeom>
        </p:spPr>
      </p:pic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4871864" y="5949280"/>
          <a:ext cx="15557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99920" imgH="228600" progId="Equation.3">
                  <p:embed/>
                </p:oleObj>
              </mc:Choice>
              <mc:Fallback>
                <p:oleObj name="Equation" r:id="rId3" imgW="799920" imgH="228600" progId="Equation.3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1864" y="5949280"/>
                        <a:ext cx="155575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206882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1504" y="53752"/>
            <a:ext cx="8496944" cy="1143000"/>
          </a:xfrm>
        </p:spPr>
        <p:txBody>
          <a:bodyPr/>
          <a:lstStyle/>
          <a:p>
            <a:r>
              <a:rPr lang="en-US" sz="3600" dirty="0"/>
              <a:t>Voltage to current converter: an example</a:t>
            </a:r>
            <a:endParaRPr lang="ar-EG" sz="3600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1979414"/>
            <a:ext cx="4511469" cy="405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C522C-A1E4-4254-BFF3-9729D494B76C}" type="slidenum">
              <a:rPr lang="ar-EG" smtClean="0"/>
              <a:t>42</a:t>
            </a:fld>
            <a:endParaRPr lang="ar-EG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524000" y="1484784"/>
            <a:ext cx="4283968" cy="504056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228600" algn="r" defTabSz="914400" rtl="1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r" defTabSz="914400" rtl="1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r" defTabSz="914400" rtl="1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r" defTabSz="914400" rtl="1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r" defTabSz="914400" rtl="1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r" defTabSz="914400" rtl="1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r" defTabSz="914400" rtl="1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r" defTabSz="914400" rtl="1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r" defTabSz="914400" rtl="1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rtl="0"/>
            <a:r>
              <a:rPr lang="en-US" sz="2400" dirty="0"/>
              <a:t>In the circuit shown, the op-amp is used as a voltage follower. Therefore, the op-amp output voltage is </a:t>
            </a:r>
            <a:r>
              <a:rPr lang="en-US" sz="2400" i="1" dirty="0"/>
              <a:t>V</a:t>
            </a:r>
            <a:r>
              <a:rPr lang="en-US" sz="2400" i="1" baseline="-25000" dirty="0"/>
              <a:t>in</a:t>
            </a:r>
            <a:r>
              <a:rPr lang="en-US" sz="2400" dirty="0"/>
              <a:t>. </a:t>
            </a:r>
          </a:p>
          <a:p>
            <a:pPr algn="just" rtl="0"/>
            <a:endParaRPr lang="en-US" sz="2400" dirty="0"/>
          </a:p>
          <a:p>
            <a:pPr algn="just" rtl="0"/>
            <a:r>
              <a:rPr lang="en-US" sz="2400" dirty="0"/>
              <a:t>The current through the load resistor, </a:t>
            </a:r>
            <a:r>
              <a:rPr lang="en-US" sz="2400" i="1" dirty="0"/>
              <a:t>R</a:t>
            </a:r>
            <a:r>
              <a:rPr lang="en-US" sz="2400" i="1" baseline="-25000" dirty="0"/>
              <a:t>L</a:t>
            </a:r>
            <a:r>
              <a:rPr lang="en-US" sz="2400" dirty="0"/>
              <a:t>, the transistor and </a:t>
            </a:r>
            <a:r>
              <a:rPr lang="en-US" sz="2400" i="1" dirty="0"/>
              <a:t>R</a:t>
            </a:r>
            <a:r>
              <a:rPr lang="en-US" sz="2400" dirty="0"/>
              <a:t> is consequently equal to </a:t>
            </a:r>
            <a:r>
              <a:rPr lang="en-US" sz="2400" i="1" dirty="0"/>
              <a:t>V</a:t>
            </a:r>
            <a:r>
              <a:rPr lang="en-US" sz="2400" i="1" baseline="-25000" dirty="0"/>
              <a:t>in</a:t>
            </a:r>
            <a:r>
              <a:rPr lang="en-US" sz="2400" i="1" dirty="0"/>
              <a:t>/R</a:t>
            </a:r>
            <a:r>
              <a:rPr lang="en-US" sz="2400" dirty="0"/>
              <a:t>. No matter what value of the load resistor </a:t>
            </a:r>
            <a:r>
              <a:rPr lang="en-US" sz="2400" i="1" dirty="0"/>
              <a:t>R</a:t>
            </a:r>
            <a:r>
              <a:rPr lang="en-US" sz="2400" i="1" baseline="-25000" dirty="0"/>
              <a:t>L</a:t>
            </a:r>
            <a:r>
              <a:rPr lang="en-US" sz="2400" dirty="0"/>
              <a:t> is, the current through it will be function of </a:t>
            </a:r>
            <a:r>
              <a:rPr lang="en-US" sz="2400" i="1" dirty="0"/>
              <a:t>V</a:t>
            </a:r>
            <a:r>
              <a:rPr lang="en-US" sz="2400" i="1" baseline="-25000" dirty="0"/>
              <a:t>in</a:t>
            </a:r>
            <a:r>
              <a:rPr lang="en-US" sz="2400" dirty="0"/>
              <a:t> only.</a:t>
            </a:r>
          </a:p>
          <a:p>
            <a:pPr algn="just" rtl="0"/>
            <a:endParaRPr lang="en-US" sz="2400" dirty="0"/>
          </a:p>
          <a:p>
            <a:pPr algn="just" rtl="0"/>
            <a:r>
              <a:rPr lang="en-US" sz="2400" dirty="0"/>
              <a:t>The transistor is used at the output of the op-amp since the transistor is a high current gain stage (often a typical op-amp has a fairly small output current limit). </a:t>
            </a:r>
            <a:endParaRPr lang="ar-EG" sz="2400" dirty="0"/>
          </a:p>
        </p:txBody>
      </p:sp>
    </p:spTree>
    <p:extLst>
      <p:ext uri="{BB962C8B-B14F-4D97-AF65-F5344CB8AC3E}">
        <p14:creationId xmlns:p14="http://schemas.microsoft.com/office/powerpoint/2010/main" val="37187660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257</TotalTime>
  <Words>2158</Words>
  <Application>Microsoft Office PowerPoint</Application>
  <PresentationFormat>Widescreen</PresentationFormat>
  <Paragraphs>353</Paragraphs>
  <Slides>42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59" baseType="lpstr">
      <vt:lpstr>Arial</vt:lpstr>
      <vt:lpstr>Calibri</vt:lpstr>
      <vt:lpstr>Cambria</vt:lpstr>
      <vt:lpstr>Courier New</vt:lpstr>
      <vt:lpstr>Lato</vt:lpstr>
      <vt:lpstr>LW-FINAL</vt:lpstr>
      <vt:lpstr>Rockwell</vt:lpstr>
      <vt:lpstr>Rockwell Condensed</vt:lpstr>
      <vt:lpstr>Symbol</vt:lpstr>
      <vt:lpstr>Times New Roman</vt:lpstr>
      <vt:lpstr>Times-Italic</vt:lpstr>
      <vt:lpstr>Times-Roman</vt:lpstr>
      <vt:lpstr>Trebuchet MS</vt:lpstr>
      <vt:lpstr>Wingdings</vt:lpstr>
      <vt:lpstr>Wood Type</vt:lpstr>
      <vt:lpstr>Equation</vt:lpstr>
      <vt:lpstr>Ecuación</vt:lpstr>
      <vt:lpstr>SIGNAL PROCESSING </vt:lpstr>
      <vt:lpstr>Signal processing </vt:lpstr>
      <vt:lpstr>Signal processing </vt:lpstr>
      <vt:lpstr>Signal processing </vt:lpstr>
      <vt:lpstr>PowerPoint Presentation</vt:lpstr>
      <vt:lpstr>PowerPoint Presentation</vt:lpstr>
      <vt:lpstr>Analogue signal  Filters</vt:lpstr>
      <vt:lpstr>PowerPoint Presentation</vt:lpstr>
      <vt:lpstr>PowerPoint Presentation</vt:lpstr>
      <vt:lpstr>Low-pass RC Filter</vt:lpstr>
      <vt:lpstr>Low-Pass Rc Filter</vt:lpstr>
      <vt:lpstr>PowerPoint Presentation</vt:lpstr>
      <vt:lpstr>Problem 2</vt:lpstr>
      <vt:lpstr>Problem 1 - Solution</vt:lpstr>
      <vt:lpstr>High-pass RC Filter</vt:lpstr>
      <vt:lpstr>Band-pass RC Filter</vt:lpstr>
      <vt:lpstr>Signal Amplification</vt:lpstr>
      <vt:lpstr>Operational Amplifier (OP-AMP)</vt:lpstr>
      <vt:lpstr>Summing Amplifier</vt:lpstr>
      <vt:lpstr>Noninverting Amplifier</vt:lpstr>
      <vt:lpstr>Instrumentation amplifier </vt:lpstr>
      <vt:lpstr>Differential Amplification</vt:lpstr>
      <vt:lpstr>Integrator</vt:lpstr>
      <vt:lpstr>PowerPoint Presentation</vt:lpstr>
      <vt:lpstr>Principles of Analog Signal Conditioning</vt:lpstr>
      <vt:lpstr>Signal conditioning</vt:lpstr>
      <vt:lpstr>Signal-Level and Bias Changes</vt:lpstr>
      <vt:lpstr>Signal-range and offset (bias)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Answer</vt:lpstr>
      <vt:lpstr>PowerPoint Presentation</vt:lpstr>
      <vt:lpstr>Linearization</vt:lpstr>
      <vt:lpstr>Linearization</vt:lpstr>
      <vt:lpstr>Conversions</vt:lpstr>
      <vt:lpstr>Conversion</vt:lpstr>
      <vt:lpstr>Current to voltage converter</vt:lpstr>
      <vt:lpstr>Voltage to current converter: an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 PROCESSING </dc:title>
  <dc:creator>Remotsaletswe Moalosi</dc:creator>
  <cp:lastModifiedBy>Remotsaletswe Moalosi</cp:lastModifiedBy>
  <cp:revision>7</cp:revision>
  <dcterms:created xsi:type="dcterms:W3CDTF">2020-10-30T09:37:34Z</dcterms:created>
  <dcterms:modified xsi:type="dcterms:W3CDTF">2023-11-01T13:45:41Z</dcterms:modified>
</cp:coreProperties>
</file>
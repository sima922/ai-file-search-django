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81" r:id="rId14"/>
    <p:sldId id="287" r:id="rId15"/>
    <p:sldId id="288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285" r:id="rId24"/>
    <p:sldId id="28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2" r:id="rId39"/>
    <p:sldId id="283" r:id="rId40"/>
    <p:sldId id="284" r:id="rId41"/>
  </p:sldIdLst>
  <p:sldSz cx="9144000" cy="6858000" type="screen4x3"/>
  <p:notesSz cx="9144000" cy="6858000"/>
  <p:defaultTextStyle>
    <a:defPPr>
      <a:defRPr lang="en-B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773D2-AE3D-4AEE-9314-0E1AC6143493}" v="2" dt="2024-09-05T04:03:12.29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otsaletswe Moalosi" userId="a3f8274a-0ae2-4e14-946e-a2b704a97a52" providerId="ADAL" clId="{207773D2-AE3D-4AEE-9314-0E1AC6143493}"/>
    <pc:docChg chg="addSld delSld modSld">
      <pc:chgData name="Remotsaletswe Moalosi" userId="a3f8274a-0ae2-4e14-946e-a2b704a97a52" providerId="ADAL" clId="{207773D2-AE3D-4AEE-9314-0E1AC6143493}" dt="2024-09-05T04:03:12.289" v="32"/>
      <pc:docMkLst>
        <pc:docMk/>
      </pc:docMkLst>
      <pc:sldChg chg="del">
        <pc:chgData name="Remotsaletswe Moalosi" userId="a3f8274a-0ae2-4e14-946e-a2b704a97a52" providerId="ADAL" clId="{207773D2-AE3D-4AEE-9314-0E1AC6143493}" dt="2024-09-05T04:02:50.159" v="31" actId="2696"/>
        <pc:sldMkLst>
          <pc:docMk/>
          <pc:sldMk cId="0" sldId="281"/>
        </pc:sldMkLst>
      </pc:sldChg>
      <pc:sldChg chg="add">
        <pc:chgData name="Remotsaletswe Moalosi" userId="a3f8274a-0ae2-4e14-946e-a2b704a97a52" providerId="ADAL" clId="{207773D2-AE3D-4AEE-9314-0E1AC6143493}" dt="2024-09-05T04:03:12.289" v="32"/>
        <pc:sldMkLst>
          <pc:docMk/>
          <pc:sldMk cId="2683890648" sldId="281"/>
        </pc:sldMkLst>
      </pc:sldChg>
      <pc:sldChg chg="modSp mod">
        <pc:chgData name="Remotsaletswe Moalosi" userId="a3f8274a-0ae2-4e14-946e-a2b704a97a52" providerId="ADAL" clId="{207773D2-AE3D-4AEE-9314-0E1AC6143493}" dt="2024-09-05T04:02:04.923" v="30" actId="1076"/>
        <pc:sldMkLst>
          <pc:docMk/>
          <pc:sldMk cId="0" sldId="285"/>
        </pc:sldMkLst>
        <pc:spChg chg="mod">
          <ac:chgData name="Remotsaletswe Moalosi" userId="a3f8274a-0ae2-4e14-946e-a2b704a97a52" providerId="ADAL" clId="{207773D2-AE3D-4AEE-9314-0E1AC6143493}" dt="2024-09-05T04:00:26.276" v="24" actId="1076"/>
          <ac:spMkLst>
            <pc:docMk/>
            <pc:sldMk cId="0" sldId="285"/>
            <ac:spMk id="2" creationId="{00000000-0000-0000-0000-000000000000}"/>
          </ac:spMkLst>
        </pc:spChg>
        <pc:picChg chg="mod">
          <ac:chgData name="Remotsaletswe Moalosi" userId="a3f8274a-0ae2-4e14-946e-a2b704a97a52" providerId="ADAL" clId="{207773D2-AE3D-4AEE-9314-0E1AC6143493}" dt="2024-09-05T04:00:35.121" v="26" actId="1076"/>
          <ac:picMkLst>
            <pc:docMk/>
            <pc:sldMk cId="0" sldId="285"/>
            <ac:picMk id="3" creationId="{00000000-0000-0000-0000-000000000000}"/>
          </ac:picMkLst>
        </pc:picChg>
        <pc:picChg chg="mod">
          <ac:chgData name="Remotsaletswe Moalosi" userId="a3f8274a-0ae2-4e14-946e-a2b704a97a52" providerId="ADAL" clId="{207773D2-AE3D-4AEE-9314-0E1AC6143493}" dt="2024-09-05T04:00:43.159" v="28" actId="14100"/>
          <ac:picMkLst>
            <pc:docMk/>
            <pc:sldMk cId="0" sldId="285"/>
            <ac:picMk id="4" creationId="{00000000-0000-0000-0000-000000000000}"/>
          </ac:picMkLst>
        </pc:picChg>
        <pc:picChg chg="mod">
          <ac:chgData name="Remotsaletswe Moalosi" userId="a3f8274a-0ae2-4e14-946e-a2b704a97a52" providerId="ADAL" clId="{207773D2-AE3D-4AEE-9314-0E1AC6143493}" dt="2024-09-05T04:00:38.134" v="27" actId="1076"/>
          <ac:picMkLst>
            <pc:docMk/>
            <pc:sldMk cId="0" sldId="285"/>
            <ac:picMk id="5" creationId="{00000000-0000-0000-0000-000000000000}"/>
          </ac:picMkLst>
        </pc:picChg>
        <pc:picChg chg="mod">
          <ac:chgData name="Remotsaletswe Moalosi" userId="a3f8274a-0ae2-4e14-946e-a2b704a97a52" providerId="ADAL" clId="{207773D2-AE3D-4AEE-9314-0E1AC6143493}" dt="2024-09-05T04:00:48.694" v="29" actId="14100"/>
          <ac:picMkLst>
            <pc:docMk/>
            <pc:sldMk cId="0" sldId="285"/>
            <ac:picMk id="6" creationId="{00000000-0000-0000-0000-000000000000}"/>
          </ac:picMkLst>
        </pc:picChg>
        <pc:picChg chg="mod">
          <ac:chgData name="Remotsaletswe Moalosi" userId="a3f8274a-0ae2-4e14-946e-a2b704a97a52" providerId="ADAL" clId="{207773D2-AE3D-4AEE-9314-0E1AC6143493}" dt="2024-09-05T04:02:04.923" v="30" actId="1076"/>
          <ac:picMkLst>
            <pc:docMk/>
            <pc:sldMk cId="0" sldId="285"/>
            <ac:picMk id="7" creationId="{00000000-0000-0000-0000-000000000000}"/>
          </ac:picMkLst>
        </pc:picChg>
      </pc:sldChg>
      <pc:sldChg chg="modSp mod">
        <pc:chgData name="Remotsaletswe Moalosi" userId="a3f8274a-0ae2-4e14-946e-a2b704a97a52" providerId="ADAL" clId="{207773D2-AE3D-4AEE-9314-0E1AC6143493}" dt="2024-09-05T03:54:35.026" v="6" actId="20577"/>
        <pc:sldMkLst>
          <pc:docMk/>
          <pc:sldMk cId="0" sldId="287"/>
        </pc:sldMkLst>
        <pc:spChg chg="mod">
          <ac:chgData name="Remotsaletswe Moalosi" userId="a3f8274a-0ae2-4e14-946e-a2b704a97a52" providerId="ADAL" clId="{207773D2-AE3D-4AEE-9314-0E1AC6143493}" dt="2024-09-05T03:54:35.026" v="6" actId="20577"/>
          <ac:spMkLst>
            <pc:docMk/>
            <pc:sldMk cId="0" sldId="287"/>
            <ac:spMk id="18435" creationId="{721E93BA-35EB-E139-8F99-5C23DD990BC3}"/>
          </ac:spMkLst>
        </pc:spChg>
      </pc:sldChg>
      <pc:sldChg chg="modSp mod">
        <pc:chgData name="Remotsaletswe Moalosi" userId="a3f8274a-0ae2-4e14-946e-a2b704a97a52" providerId="ADAL" clId="{207773D2-AE3D-4AEE-9314-0E1AC6143493}" dt="2024-09-05T03:56:04.807" v="18" actId="1076"/>
        <pc:sldMkLst>
          <pc:docMk/>
          <pc:sldMk cId="0" sldId="288"/>
        </pc:sldMkLst>
        <pc:spChg chg="mod">
          <ac:chgData name="Remotsaletswe Moalosi" userId="a3f8274a-0ae2-4e14-946e-a2b704a97a52" providerId="ADAL" clId="{207773D2-AE3D-4AEE-9314-0E1AC6143493}" dt="2024-09-05T03:55:53.481" v="16" actId="20577"/>
          <ac:spMkLst>
            <pc:docMk/>
            <pc:sldMk cId="0" sldId="288"/>
            <ac:spMk id="19459" creationId="{022A96E3-8F0B-509D-EF67-DEDF9ACDC92F}"/>
          </ac:spMkLst>
        </pc:spChg>
        <pc:graphicFrameChg chg="mod">
          <ac:chgData name="Remotsaletswe Moalosi" userId="a3f8274a-0ae2-4e14-946e-a2b704a97a52" providerId="ADAL" clId="{207773D2-AE3D-4AEE-9314-0E1AC6143493}" dt="2024-09-05T03:55:11.995" v="7" actId="1076"/>
          <ac:graphicFrameMkLst>
            <pc:docMk/>
            <pc:sldMk cId="0" sldId="288"/>
            <ac:graphicFrameMk id="19461" creationId="{77F6D356-B84D-CE3B-E4CB-967BE5A57FC3}"/>
          </ac:graphicFrameMkLst>
        </pc:graphicFrameChg>
        <pc:graphicFrameChg chg="mod">
          <ac:chgData name="Remotsaletswe Moalosi" userId="a3f8274a-0ae2-4e14-946e-a2b704a97a52" providerId="ADAL" clId="{207773D2-AE3D-4AEE-9314-0E1AC6143493}" dt="2024-09-05T03:55:43.223" v="8" actId="1076"/>
          <ac:graphicFrameMkLst>
            <pc:docMk/>
            <pc:sldMk cId="0" sldId="288"/>
            <ac:graphicFrameMk id="19462" creationId="{146BFE0B-C477-6D5D-C421-B45D6E129AC6}"/>
          </ac:graphicFrameMkLst>
        </pc:graphicFrameChg>
        <pc:graphicFrameChg chg="mod">
          <ac:chgData name="Remotsaletswe Moalosi" userId="a3f8274a-0ae2-4e14-946e-a2b704a97a52" providerId="ADAL" clId="{207773D2-AE3D-4AEE-9314-0E1AC6143493}" dt="2024-09-05T03:56:04.807" v="18" actId="1076"/>
          <ac:graphicFrameMkLst>
            <pc:docMk/>
            <pc:sldMk cId="0" sldId="288"/>
            <ac:graphicFrameMk id="19464" creationId="{D94EECE3-66FD-AD58-19D0-50D48ACD3C7D}"/>
          </ac:graphicFrameMkLst>
        </pc:graphicFrameChg>
      </pc:sldChg>
      <pc:sldChg chg="modSp mod">
        <pc:chgData name="Remotsaletswe Moalosi" userId="a3f8274a-0ae2-4e14-946e-a2b704a97a52" providerId="ADAL" clId="{207773D2-AE3D-4AEE-9314-0E1AC6143493}" dt="2024-09-05T03:58:02.530" v="22" actId="1076"/>
        <pc:sldMkLst>
          <pc:docMk/>
          <pc:sldMk cId="0" sldId="297"/>
        </pc:sldMkLst>
        <pc:graphicFrameChg chg="mod">
          <ac:chgData name="Remotsaletswe Moalosi" userId="a3f8274a-0ae2-4e14-946e-a2b704a97a52" providerId="ADAL" clId="{207773D2-AE3D-4AEE-9314-0E1AC6143493}" dt="2024-09-05T03:57:27.424" v="19" actId="1076"/>
          <ac:graphicFrameMkLst>
            <pc:docMk/>
            <pc:sldMk cId="0" sldId="297"/>
            <ac:graphicFrameMk id="21508" creationId="{2BF5BE13-3377-9808-5BFD-95ED3DB00584}"/>
          </ac:graphicFrameMkLst>
        </pc:graphicFrameChg>
        <pc:graphicFrameChg chg="mod">
          <ac:chgData name="Remotsaletswe Moalosi" userId="a3f8274a-0ae2-4e14-946e-a2b704a97a52" providerId="ADAL" clId="{207773D2-AE3D-4AEE-9314-0E1AC6143493}" dt="2024-09-05T03:57:44.429" v="20" actId="1076"/>
          <ac:graphicFrameMkLst>
            <pc:docMk/>
            <pc:sldMk cId="0" sldId="297"/>
            <ac:graphicFrameMk id="21509" creationId="{917C2E12-385A-0A3E-8B1F-84A8D4A5296F}"/>
          </ac:graphicFrameMkLst>
        </pc:graphicFrameChg>
        <pc:graphicFrameChg chg="mod">
          <ac:chgData name="Remotsaletswe Moalosi" userId="a3f8274a-0ae2-4e14-946e-a2b704a97a52" providerId="ADAL" clId="{207773D2-AE3D-4AEE-9314-0E1AC6143493}" dt="2024-09-05T03:57:54.232" v="21" actId="1076"/>
          <ac:graphicFrameMkLst>
            <pc:docMk/>
            <pc:sldMk cId="0" sldId="297"/>
            <ac:graphicFrameMk id="21510" creationId="{B232F478-977A-88CD-F0B1-3328097AA88D}"/>
          </ac:graphicFrameMkLst>
        </pc:graphicFrameChg>
        <pc:graphicFrameChg chg="mod">
          <ac:chgData name="Remotsaletswe Moalosi" userId="a3f8274a-0ae2-4e14-946e-a2b704a97a52" providerId="ADAL" clId="{207773D2-AE3D-4AEE-9314-0E1AC6143493}" dt="2024-09-05T03:58:02.530" v="22" actId="1076"/>
          <ac:graphicFrameMkLst>
            <pc:docMk/>
            <pc:sldMk cId="0" sldId="297"/>
            <ac:graphicFrameMk id="21511" creationId="{7C7F0AE6-C17D-1108-C735-E272A18587B1}"/>
          </ac:graphicFrameMkLst>
        </pc:graphicFrameChg>
      </pc:sldChg>
      <pc:sldChg chg="modSp mod">
        <pc:chgData name="Remotsaletswe Moalosi" userId="a3f8274a-0ae2-4e14-946e-a2b704a97a52" providerId="ADAL" clId="{207773D2-AE3D-4AEE-9314-0E1AC6143493}" dt="2024-09-05T03:58:32.067" v="23" actId="1076"/>
        <pc:sldMkLst>
          <pc:docMk/>
          <pc:sldMk cId="0" sldId="298"/>
        </pc:sldMkLst>
        <pc:graphicFrameChg chg="mod">
          <ac:chgData name="Remotsaletswe Moalosi" userId="a3f8274a-0ae2-4e14-946e-a2b704a97a52" providerId="ADAL" clId="{207773D2-AE3D-4AEE-9314-0E1AC6143493}" dt="2024-09-05T03:58:32.067" v="23" actId="1076"/>
          <ac:graphicFrameMkLst>
            <pc:docMk/>
            <pc:sldMk cId="0" sldId="298"/>
            <ac:graphicFrameMk id="22571" creationId="{5B4641A5-34B7-A86B-03E7-04DC99C1DFE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EE553-7917-44A6-873A-62704DF60AFB}" type="datetimeFigureOut">
              <a:rPr lang="en-BW" smtClean="0"/>
              <a:t>05/09/2024</a:t>
            </a:fld>
            <a:endParaRPr lang="en-B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7D5AA-F20D-48D5-A8FA-DD69E06970CA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49441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>
            <a:extLst>
              <a:ext uri="{FF2B5EF4-FFF2-40B4-BE49-F238E27FC236}">
                <a16:creationId xmlns:a16="http://schemas.microsoft.com/office/drawing/2014/main" id="{1CF87190-DDDD-9384-F4D2-B88E395440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Espace réservé des commentaires 2">
            <a:extLst>
              <a:ext uri="{FF2B5EF4-FFF2-40B4-BE49-F238E27FC236}">
                <a16:creationId xmlns:a16="http://schemas.microsoft.com/office/drawing/2014/main" id="{9B5CEF4F-7B86-20EB-0D3E-2CC1B3FFA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>
              <a:latin typeface="Arial" panose="020B0604020202020204" pitchFamily="34" charset="0"/>
            </a:endParaRPr>
          </a:p>
        </p:txBody>
      </p:sp>
      <p:sp>
        <p:nvSpPr>
          <p:cNvPr id="23556" name="Espace réservé du numéro de diapositive 3">
            <a:extLst>
              <a:ext uri="{FF2B5EF4-FFF2-40B4-BE49-F238E27FC236}">
                <a16:creationId xmlns:a16="http://schemas.microsoft.com/office/drawing/2014/main" id="{3F063F67-D380-A453-FAE0-1AC1316E0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343016-8B57-4B9E-A9B4-9065153049D7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10609" y="497840"/>
            <a:ext cx="192278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19430" y="3817620"/>
            <a:ext cx="8105139" cy="1203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40B6054E-E568-0638-5789-E3CB4306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C6F5D7D-4307-5B8B-2914-F840789F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6548B19B-7872-0CC2-81C7-E39676FF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CC4DC7-FA0F-42C0-8343-6BDB38FD12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289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4130" y="528320"/>
            <a:ext cx="655573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heavy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030" y="1537970"/>
            <a:ext cx="7901939" cy="4157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0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330200"/>
            <a:ext cx="73647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640" marR="5080" indent="-2186940">
              <a:lnSpc>
                <a:spcPct val="100000"/>
              </a:lnSpc>
              <a:spcBef>
                <a:spcPts val="100"/>
              </a:spcBef>
              <a:tabLst>
                <a:tab pos="1934210" algn="l"/>
                <a:tab pos="2612390" algn="l"/>
                <a:tab pos="2977515" algn="l"/>
              </a:tabLst>
            </a:pPr>
            <a:r>
              <a:rPr sz="5400" spc="45" dirty="0">
                <a:latin typeface="Times New Roman"/>
                <a:cs typeface="Times New Roman"/>
              </a:rPr>
              <a:t>Errors	</a:t>
            </a:r>
            <a:r>
              <a:rPr sz="5400" spc="-105" dirty="0">
                <a:latin typeface="Times New Roman"/>
                <a:cs typeface="Times New Roman"/>
              </a:rPr>
              <a:t>in	</a:t>
            </a:r>
            <a:r>
              <a:rPr sz="5400" spc="-100" dirty="0">
                <a:latin typeface="Times New Roman"/>
                <a:cs typeface="Times New Roman"/>
              </a:rPr>
              <a:t>Measurement</a:t>
            </a:r>
            <a:r>
              <a:rPr sz="5400" spc="-85" dirty="0">
                <a:latin typeface="Times New Roman"/>
                <a:cs typeface="Times New Roman"/>
              </a:rPr>
              <a:t> </a:t>
            </a:r>
            <a:r>
              <a:rPr sz="5400" spc="-55" dirty="0">
                <a:latin typeface="Times New Roman"/>
                <a:cs typeface="Times New Roman"/>
              </a:rPr>
              <a:t>and </a:t>
            </a:r>
            <a:r>
              <a:rPr sz="5400" spc="-1335" dirty="0">
                <a:latin typeface="Times New Roman"/>
                <a:cs typeface="Times New Roman"/>
              </a:rPr>
              <a:t> </a:t>
            </a:r>
            <a:r>
              <a:rPr sz="5400" spc="-110" dirty="0">
                <a:latin typeface="Times New Roman"/>
                <a:cs typeface="Times New Roman"/>
              </a:rPr>
              <a:t>its	</a:t>
            </a:r>
            <a:r>
              <a:rPr sz="5400" spc="-210" dirty="0">
                <a:latin typeface="Times New Roman"/>
                <a:cs typeface="Times New Roman"/>
              </a:rPr>
              <a:t>Analysis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0960" y="497840"/>
            <a:ext cx="64725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5505" algn="l"/>
              </a:tabLst>
            </a:pPr>
            <a:r>
              <a:rPr sz="4400" u="none" spc="125" dirty="0"/>
              <a:t>No	</a:t>
            </a:r>
            <a:r>
              <a:rPr sz="4400" u="none" spc="-80" dirty="0"/>
              <a:t>Measurement</a:t>
            </a:r>
            <a:r>
              <a:rPr sz="4400" u="none" spc="-30" dirty="0"/>
              <a:t> </a:t>
            </a:r>
            <a:r>
              <a:rPr sz="4400" u="none" spc="-165" dirty="0"/>
              <a:t>is</a:t>
            </a:r>
            <a:r>
              <a:rPr sz="4400" u="none" spc="-30" dirty="0"/>
              <a:t> </a:t>
            </a:r>
            <a:r>
              <a:rPr sz="4400" u="none" spc="-140" dirty="0"/>
              <a:t>Accurate!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645159" y="2052320"/>
            <a:ext cx="3646170" cy="43180"/>
            <a:chOff x="645159" y="2052320"/>
            <a:chExt cx="3646170" cy="43180"/>
          </a:xfrm>
        </p:grpSpPr>
        <p:sp>
          <p:nvSpPr>
            <p:cNvPr id="4" name="object 4"/>
            <p:cNvSpPr/>
            <p:nvPr/>
          </p:nvSpPr>
          <p:spPr>
            <a:xfrm>
              <a:off x="662939" y="2082800"/>
              <a:ext cx="3628390" cy="0"/>
            </a:xfrm>
            <a:custGeom>
              <a:avLst/>
              <a:gdLst/>
              <a:ahLst/>
              <a:cxnLst/>
              <a:rect l="l" t="t" r="r" b="b"/>
              <a:pathLst>
                <a:path w="3628390">
                  <a:moveTo>
                    <a:pt x="0" y="0"/>
                  </a:moveTo>
                  <a:lnTo>
                    <a:pt x="3628390" y="0"/>
                  </a:lnTo>
                </a:path>
              </a:pathLst>
            </a:custGeom>
            <a:ln w="254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159" y="2065020"/>
              <a:ext cx="3628390" cy="0"/>
            </a:xfrm>
            <a:custGeom>
              <a:avLst/>
              <a:gdLst/>
              <a:ahLst/>
              <a:cxnLst/>
              <a:rect l="l" t="t" r="r" b="b"/>
              <a:pathLst>
                <a:path w="3628390">
                  <a:moveTo>
                    <a:pt x="0" y="0"/>
                  </a:moveTo>
                  <a:lnTo>
                    <a:pt x="362839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850"/>
              </a:spcBef>
            </a:pPr>
            <a:r>
              <a:rPr spc="10" dirty="0"/>
              <a:t>Errors</a:t>
            </a:r>
            <a:r>
              <a:rPr spc="-15" dirty="0"/>
              <a:t> </a:t>
            </a:r>
            <a:r>
              <a:rPr spc="-40" dirty="0"/>
              <a:t>occur</a:t>
            </a:r>
            <a:r>
              <a:rPr spc="-20" dirty="0"/>
              <a:t> </a:t>
            </a:r>
            <a:r>
              <a:rPr spc="-65" dirty="0"/>
              <a:t>because</a:t>
            </a:r>
            <a:r>
              <a:rPr spc="-20" dirty="0"/>
              <a:t> </a:t>
            </a:r>
            <a:r>
              <a:rPr spc="-65" dirty="0"/>
              <a:t>of:</a:t>
            </a:r>
          </a:p>
          <a:p>
            <a:pPr marL="690880" indent="-30734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692150" algn="l"/>
              </a:tabLst>
            </a:pPr>
            <a:r>
              <a:rPr sz="2600" spc="-85" dirty="0"/>
              <a:t>Parallax</a:t>
            </a:r>
            <a:r>
              <a:rPr sz="2600" spc="5" dirty="0"/>
              <a:t> </a:t>
            </a:r>
            <a:r>
              <a:rPr sz="2600" spc="-15" dirty="0"/>
              <a:t>error</a:t>
            </a:r>
            <a:r>
              <a:rPr sz="2600" spc="-5" dirty="0"/>
              <a:t> </a:t>
            </a:r>
            <a:r>
              <a:rPr sz="2600" spc="-65" dirty="0"/>
              <a:t>(incorrectly</a:t>
            </a:r>
            <a:r>
              <a:rPr sz="2600" spc="-10" dirty="0"/>
              <a:t> </a:t>
            </a:r>
            <a:r>
              <a:rPr sz="2600" spc="-65" dirty="0"/>
              <a:t>sighting</a:t>
            </a:r>
            <a:r>
              <a:rPr sz="2600" dirty="0"/>
              <a:t> </a:t>
            </a:r>
            <a:r>
              <a:rPr sz="2600" spc="-5" dirty="0"/>
              <a:t>the</a:t>
            </a:r>
            <a:r>
              <a:rPr sz="2600" spc="-15" dirty="0"/>
              <a:t> </a:t>
            </a:r>
            <a:r>
              <a:rPr sz="2600" spc="-50" dirty="0"/>
              <a:t>measurement).</a:t>
            </a:r>
            <a:endParaRPr sz="2600" dirty="0"/>
          </a:p>
          <a:p>
            <a:pPr marL="690880" indent="-30734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692150" algn="l"/>
              </a:tabLst>
            </a:pPr>
            <a:r>
              <a:rPr sz="2600" spc="-55" dirty="0"/>
              <a:t>Calibration</a:t>
            </a:r>
            <a:r>
              <a:rPr sz="2600" spc="5" dirty="0"/>
              <a:t> </a:t>
            </a:r>
            <a:r>
              <a:rPr sz="2600" spc="-15" dirty="0"/>
              <a:t>error</a:t>
            </a:r>
            <a:r>
              <a:rPr sz="2600" spc="-5" dirty="0"/>
              <a:t> </a:t>
            </a:r>
            <a:r>
              <a:rPr sz="2600" spc="-90" dirty="0"/>
              <a:t>(if</a:t>
            </a:r>
            <a:r>
              <a:rPr sz="2600" dirty="0"/>
              <a:t> </a:t>
            </a:r>
            <a:r>
              <a:rPr sz="2600" spc="-10" dirty="0"/>
              <a:t>the</a:t>
            </a:r>
            <a:r>
              <a:rPr sz="2600" dirty="0"/>
              <a:t> </a:t>
            </a:r>
            <a:r>
              <a:rPr sz="2600" spc="-95" dirty="0"/>
              <a:t>scale</a:t>
            </a:r>
            <a:r>
              <a:rPr sz="2600" dirty="0"/>
              <a:t> </a:t>
            </a:r>
            <a:r>
              <a:rPr sz="2600" spc="-100" dirty="0"/>
              <a:t>is</a:t>
            </a:r>
            <a:r>
              <a:rPr sz="2600" dirty="0"/>
              <a:t> </a:t>
            </a:r>
            <a:r>
              <a:rPr sz="2600" spc="25" dirty="0"/>
              <a:t>not</a:t>
            </a:r>
            <a:r>
              <a:rPr sz="2600" dirty="0"/>
              <a:t> </a:t>
            </a:r>
            <a:r>
              <a:rPr sz="2600" spc="-80" dirty="0"/>
              <a:t>accurately</a:t>
            </a:r>
            <a:r>
              <a:rPr sz="2600" dirty="0"/>
              <a:t> </a:t>
            </a:r>
            <a:r>
              <a:rPr sz="2600" spc="-60" dirty="0"/>
              <a:t>drawn).</a:t>
            </a:r>
            <a:endParaRPr sz="2600" dirty="0"/>
          </a:p>
          <a:p>
            <a:pPr marL="669925" marR="598805" indent="-28575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692150" algn="l"/>
              </a:tabLst>
            </a:pPr>
            <a:r>
              <a:rPr sz="2600" spc="15" dirty="0"/>
              <a:t>Zero</a:t>
            </a:r>
            <a:r>
              <a:rPr sz="2600" spc="-5" dirty="0"/>
              <a:t> </a:t>
            </a:r>
            <a:r>
              <a:rPr sz="2600" spc="-15" dirty="0"/>
              <a:t>error</a:t>
            </a:r>
            <a:r>
              <a:rPr sz="2600" dirty="0"/>
              <a:t> </a:t>
            </a:r>
            <a:r>
              <a:rPr sz="2600" spc="-95" dirty="0"/>
              <a:t>(if</a:t>
            </a:r>
            <a:r>
              <a:rPr sz="2600" dirty="0"/>
              <a:t> </a:t>
            </a:r>
            <a:r>
              <a:rPr sz="2600" spc="-5" dirty="0"/>
              <a:t>the </a:t>
            </a:r>
            <a:r>
              <a:rPr sz="2600" spc="-75" dirty="0"/>
              <a:t>device</a:t>
            </a:r>
            <a:r>
              <a:rPr sz="2600" spc="-5" dirty="0"/>
              <a:t> </a:t>
            </a:r>
            <a:r>
              <a:rPr sz="2600" spc="-55" dirty="0"/>
              <a:t>doesn’t</a:t>
            </a:r>
            <a:r>
              <a:rPr sz="2600" spc="5" dirty="0"/>
              <a:t> </a:t>
            </a:r>
            <a:r>
              <a:rPr sz="2600" spc="-60" dirty="0"/>
              <a:t>have</a:t>
            </a:r>
            <a:r>
              <a:rPr sz="2600" spc="-15" dirty="0"/>
              <a:t> </a:t>
            </a:r>
            <a:r>
              <a:rPr sz="2600" spc="-100" dirty="0"/>
              <a:t>a</a:t>
            </a:r>
            <a:r>
              <a:rPr sz="2600" spc="5" dirty="0"/>
              <a:t> </a:t>
            </a:r>
            <a:r>
              <a:rPr sz="2600" spc="-25" dirty="0"/>
              <a:t>zero</a:t>
            </a:r>
            <a:r>
              <a:rPr sz="2600" dirty="0"/>
              <a:t> </a:t>
            </a:r>
            <a:r>
              <a:rPr sz="2600" spc="10" dirty="0"/>
              <a:t>or</a:t>
            </a:r>
            <a:r>
              <a:rPr sz="2600" spc="-10" dirty="0"/>
              <a:t> </a:t>
            </a:r>
            <a:r>
              <a:rPr sz="2600" spc="-90" dirty="0"/>
              <a:t>isn’t </a:t>
            </a:r>
            <a:r>
              <a:rPr sz="2600" spc="-635" dirty="0"/>
              <a:t> </a:t>
            </a:r>
            <a:r>
              <a:rPr sz="2600" spc="-60" dirty="0"/>
              <a:t>correctly</a:t>
            </a:r>
            <a:r>
              <a:rPr sz="2600" spc="-10" dirty="0"/>
              <a:t> </a:t>
            </a:r>
            <a:r>
              <a:rPr sz="2600" spc="-40" dirty="0"/>
              <a:t>set</a:t>
            </a:r>
            <a:r>
              <a:rPr sz="2600" spc="-15" dirty="0"/>
              <a:t> </a:t>
            </a:r>
            <a:r>
              <a:rPr sz="2600" spc="25" dirty="0"/>
              <a:t>to</a:t>
            </a:r>
            <a:r>
              <a:rPr sz="2600" dirty="0"/>
              <a:t> </a:t>
            </a:r>
            <a:r>
              <a:rPr sz="2600" spc="-50" dirty="0"/>
              <a:t>zero).</a:t>
            </a:r>
            <a:endParaRPr sz="2600" dirty="0"/>
          </a:p>
          <a:p>
            <a:pPr marL="690880" indent="-30734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692150" algn="l"/>
              </a:tabLst>
            </a:pPr>
            <a:r>
              <a:rPr sz="2600" spc="-55" dirty="0"/>
              <a:t>Damage</a:t>
            </a:r>
            <a:r>
              <a:rPr sz="2600" spc="-10" dirty="0"/>
              <a:t> </a:t>
            </a:r>
            <a:r>
              <a:rPr sz="2600" spc="-95" dirty="0"/>
              <a:t>(if</a:t>
            </a:r>
            <a:r>
              <a:rPr sz="2600" spc="-5" dirty="0"/>
              <a:t> the </a:t>
            </a:r>
            <a:r>
              <a:rPr sz="2600" spc="-75" dirty="0"/>
              <a:t>device</a:t>
            </a:r>
            <a:r>
              <a:rPr sz="2600" spc="-10" dirty="0"/>
              <a:t> </a:t>
            </a:r>
            <a:r>
              <a:rPr sz="2600" spc="-100" dirty="0"/>
              <a:t>is</a:t>
            </a:r>
            <a:r>
              <a:rPr sz="2600" spc="-15" dirty="0"/>
              <a:t> </a:t>
            </a:r>
            <a:r>
              <a:rPr sz="2600" spc="-65" dirty="0"/>
              <a:t>damaged</a:t>
            </a:r>
            <a:r>
              <a:rPr sz="2600" spc="5" dirty="0"/>
              <a:t> </a:t>
            </a:r>
            <a:r>
              <a:rPr sz="2600" spc="10" dirty="0"/>
              <a:t>or</a:t>
            </a:r>
            <a:r>
              <a:rPr sz="2600" spc="-10" dirty="0"/>
              <a:t> </a:t>
            </a:r>
            <a:r>
              <a:rPr sz="2600" spc="-85" dirty="0"/>
              <a:t>faulty).</a:t>
            </a:r>
            <a:endParaRPr sz="2600" dirty="0"/>
          </a:p>
          <a:p>
            <a:pPr marL="669925" marR="5080" indent="-28575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692150" algn="l"/>
              </a:tabLst>
            </a:pPr>
            <a:r>
              <a:rPr sz="2600" spc="-70" dirty="0"/>
              <a:t>Limit</a:t>
            </a:r>
            <a:r>
              <a:rPr sz="2600" spc="-15" dirty="0"/>
              <a:t> </a:t>
            </a:r>
            <a:r>
              <a:rPr sz="2600" dirty="0"/>
              <a:t>of</a:t>
            </a:r>
            <a:r>
              <a:rPr sz="2600" spc="-5" dirty="0"/>
              <a:t> </a:t>
            </a:r>
            <a:r>
              <a:rPr sz="2600" spc="-60" dirty="0"/>
              <a:t>reading</a:t>
            </a:r>
            <a:r>
              <a:rPr sz="2600" spc="-10" dirty="0"/>
              <a:t> </a:t>
            </a:r>
            <a:r>
              <a:rPr sz="2600" dirty="0"/>
              <a:t>of</a:t>
            </a:r>
            <a:r>
              <a:rPr sz="2600" spc="-15" dirty="0"/>
              <a:t> </a:t>
            </a:r>
            <a:r>
              <a:rPr sz="2600" spc="-5" dirty="0"/>
              <a:t>the </a:t>
            </a:r>
            <a:r>
              <a:rPr sz="2600" spc="-40" dirty="0"/>
              <a:t>measurement</a:t>
            </a:r>
            <a:r>
              <a:rPr sz="2600" spc="-10" dirty="0"/>
              <a:t> </a:t>
            </a:r>
            <a:r>
              <a:rPr sz="2600" spc="-75" dirty="0"/>
              <a:t>device</a:t>
            </a:r>
            <a:r>
              <a:rPr sz="2600" spc="-20" dirty="0"/>
              <a:t> </a:t>
            </a:r>
            <a:r>
              <a:rPr sz="2600" spc="-35" dirty="0"/>
              <a:t>(the </a:t>
            </a:r>
            <a:r>
              <a:rPr sz="2600" spc="-30" dirty="0"/>
              <a:t> </a:t>
            </a:r>
            <a:r>
              <a:rPr sz="2600" spc="-40" dirty="0"/>
              <a:t>measurement</a:t>
            </a:r>
            <a:r>
              <a:rPr sz="2600" spc="-15" dirty="0"/>
              <a:t> </a:t>
            </a:r>
            <a:r>
              <a:rPr sz="2600" spc="-50" dirty="0"/>
              <a:t>can</a:t>
            </a:r>
            <a:r>
              <a:rPr sz="2600" dirty="0"/>
              <a:t> </a:t>
            </a:r>
            <a:r>
              <a:rPr sz="2600" spc="-75" dirty="0"/>
              <a:t>only</a:t>
            </a:r>
            <a:r>
              <a:rPr sz="2600" spc="-5" dirty="0"/>
              <a:t> </a:t>
            </a:r>
            <a:r>
              <a:rPr sz="2600" spc="-25" dirty="0"/>
              <a:t>be</a:t>
            </a:r>
            <a:r>
              <a:rPr sz="2600" spc="-5" dirty="0"/>
              <a:t> </a:t>
            </a:r>
            <a:r>
              <a:rPr sz="2600" spc="-85" dirty="0"/>
              <a:t>as</a:t>
            </a:r>
            <a:r>
              <a:rPr sz="2600" spc="-10" dirty="0"/>
              <a:t> </a:t>
            </a:r>
            <a:r>
              <a:rPr sz="2600" spc="-55" dirty="0"/>
              <a:t>accurate</a:t>
            </a:r>
            <a:r>
              <a:rPr sz="2600" spc="-20" dirty="0"/>
              <a:t> </a:t>
            </a:r>
            <a:r>
              <a:rPr sz="2600" spc="-85" dirty="0"/>
              <a:t>as</a:t>
            </a:r>
            <a:r>
              <a:rPr sz="2600" spc="-5" dirty="0"/>
              <a:t> </a:t>
            </a:r>
            <a:r>
              <a:rPr sz="2600" spc="-10" dirty="0"/>
              <a:t>the</a:t>
            </a:r>
            <a:r>
              <a:rPr sz="2600" spc="-5" dirty="0"/>
              <a:t> </a:t>
            </a:r>
            <a:r>
              <a:rPr sz="2600" spc="-70" dirty="0"/>
              <a:t>smallest</a:t>
            </a:r>
            <a:r>
              <a:rPr sz="2600" spc="-10" dirty="0"/>
              <a:t> </a:t>
            </a:r>
            <a:r>
              <a:rPr sz="2600" spc="-25" dirty="0"/>
              <a:t>unit </a:t>
            </a:r>
            <a:r>
              <a:rPr sz="2600" spc="-635" dirty="0"/>
              <a:t> </a:t>
            </a:r>
            <a:r>
              <a:rPr sz="2600" dirty="0"/>
              <a:t>of</a:t>
            </a:r>
            <a:r>
              <a:rPr sz="2600" spc="-10" dirty="0"/>
              <a:t> </a:t>
            </a:r>
            <a:r>
              <a:rPr sz="2600" spc="-40" dirty="0"/>
              <a:t>measurement</a:t>
            </a:r>
            <a:r>
              <a:rPr sz="2600" spc="-10" dirty="0"/>
              <a:t> </a:t>
            </a:r>
            <a:r>
              <a:rPr sz="2600" dirty="0"/>
              <a:t>of</a:t>
            </a:r>
            <a:r>
              <a:rPr sz="2600" spc="-5" dirty="0"/>
              <a:t> the</a:t>
            </a:r>
            <a:r>
              <a:rPr sz="2600" spc="-10" dirty="0"/>
              <a:t> </a:t>
            </a:r>
            <a:r>
              <a:rPr sz="2600" spc="-80" dirty="0"/>
              <a:t>device).</a:t>
            </a:r>
            <a:endParaRPr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3750" y="497840"/>
            <a:ext cx="2472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none" spc="-55" dirty="0"/>
              <a:t>Definitions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929639" y="2080895"/>
            <a:ext cx="2688590" cy="45720"/>
            <a:chOff x="929639" y="2080895"/>
            <a:chExt cx="2688590" cy="45720"/>
          </a:xfrm>
        </p:grpSpPr>
        <p:sp>
          <p:nvSpPr>
            <p:cNvPr id="4" name="object 4"/>
            <p:cNvSpPr/>
            <p:nvPr/>
          </p:nvSpPr>
          <p:spPr>
            <a:xfrm>
              <a:off x="948689" y="2113280"/>
              <a:ext cx="2669540" cy="0"/>
            </a:xfrm>
            <a:custGeom>
              <a:avLst/>
              <a:gdLst/>
              <a:ahLst/>
              <a:cxnLst/>
              <a:rect l="l" t="t" r="r" b="b"/>
              <a:pathLst>
                <a:path w="2669540">
                  <a:moveTo>
                    <a:pt x="0" y="0"/>
                  </a:moveTo>
                  <a:lnTo>
                    <a:pt x="2669540" y="0"/>
                  </a:lnTo>
                </a:path>
              </a:pathLst>
            </a:custGeom>
            <a:ln w="2667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9639" y="2094230"/>
              <a:ext cx="2669540" cy="0"/>
            </a:xfrm>
            <a:custGeom>
              <a:avLst/>
              <a:gdLst/>
              <a:ahLst/>
              <a:cxnLst/>
              <a:rect l="l" t="t" r="r" b="b"/>
              <a:pathLst>
                <a:path w="2669540">
                  <a:moveTo>
                    <a:pt x="0" y="0"/>
                  </a:moveTo>
                  <a:lnTo>
                    <a:pt x="2669540" y="0"/>
                  </a:lnTo>
                </a:path>
              </a:pathLst>
            </a:custGeom>
            <a:ln w="26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658620" y="3157854"/>
            <a:ext cx="3837940" cy="45720"/>
            <a:chOff x="1658620" y="3157854"/>
            <a:chExt cx="3837940" cy="45720"/>
          </a:xfrm>
        </p:grpSpPr>
        <p:sp>
          <p:nvSpPr>
            <p:cNvPr id="7" name="object 7"/>
            <p:cNvSpPr/>
            <p:nvPr/>
          </p:nvSpPr>
          <p:spPr>
            <a:xfrm>
              <a:off x="1677670" y="3190239"/>
              <a:ext cx="3818890" cy="0"/>
            </a:xfrm>
            <a:custGeom>
              <a:avLst/>
              <a:gdLst/>
              <a:ahLst/>
              <a:cxnLst/>
              <a:rect l="l" t="t" r="r" b="b"/>
              <a:pathLst>
                <a:path w="3818890">
                  <a:moveTo>
                    <a:pt x="0" y="0"/>
                  </a:moveTo>
                  <a:lnTo>
                    <a:pt x="3818890" y="0"/>
                  </a:lnTo>
                </a:path>
              </a:pathLst>
            </a:custGeom>
            <a:ln w="2667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58620" y="3171189"/>
              <a:ext cx="3818890" cy="0"/>
            </a:xfrm>
            <a:custGeom>
              <a:avLst/>
              <a:gdLst/>
              <a:ahLst/>
              <a:cxnLst/>
              <a:rect l="l" t="t" r="r" b="b"/>
              <a:pathLst>
                <a:path w="3818890">
                  <a:moveTo>
                    <a:pt x="0" y="0"/>
                  </a:moveTo>
                  <a:lnTo>
                    <a:pt x="3818890" y="0"/>
                  </a:lnTo>
                </a:path>
              </a:pathLst>
            </a:custGeom>
            <a:ln w="26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58620" y="4721225"/>
            <a:ext cx="3924300" cy="45720"/>
            <a:chOff x="1658620" y="4721225"/>
            <a:chExt cx="3924300" cy="45720"/>
          </a:xfrm>
        </p:grpSpPr>
        <p:sp>
          <p:nvSpPr>
            <p:cNvPr id="10" name="object 10"/>
            <p:cNvSpPr/>
            <p:nvPr/>
          </p:nvSpPr>
          <p:spPr>
            <a:xfrm>
              <a:off x="1677670" y="4753609"/>
              <a:ext cx="3905250" cy="0"/>
            </a:xfrm>
            <a:custGeom>
              <a:avLst/>
              <a:gdLst/>
              <a:ahLst/>
              <a:cxnLst/>
              <a:rect l="l" t="t" r="r" b="b"/>
              <a:pathLst>
                <a:path w="3905250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ln w="2667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58620" y="4734559"/>
              <a:ext cx="3905250" cy="0"/>
            </a:xfrm>
            <a:custGeom>
              <a:avLst/>
              <a:gdLst/>
              <a:ahLst/>
              <a:cxnLst/>
              <a:rect l="l" t="t" r="r" b="b"/>
              <a:pathLst>
                <a:path w="3905250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ln w="26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5940" y="1633220"/>
            <a:ext cx="7912100" cy="412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15010" indent="-3429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393700" algn="l"/>
              </a:tabLst>
            </a:pPr>
            <a:r>
              <a:rPr dirty="0"/>
              <a:t>	</a:t>
            </a:r>
            <a:r>
              <a:rPr sz="3200" spc="-85" dirty="0">
                <a:latin typeface="Times New Roman"/>
                <a:cs typeface="Times New Roman"/>
              </a:rPr>
              <a:t>Limit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Reading: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smallest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unit</a:t>
            </a:r>
            <a:r>
              <a:rPr sz="3200" dirty="0">
                <a:latin typeface="Times New Roman"/>
                <a:cs typeface="Times New Roman"/>
              </a:rPr>
              <a:t> of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measurement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30" dirty="0">
                <a:latin typeface="Times New Roman"/>
                <a:cs typeface="Times New Roman"/>
              </a:rPr>
              <a:t>on</a:t>
            </a:r>
            <a:r>
              <a:rPr sz="3200" spc="-10" dirty="0">
                <a:latin typeface="Times New Roman"/>
                <a:cs typeface="Times New Roman"/>
              </a:rPr>
              <a:t> 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measuring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instrument.</a:t>
            </a:r>
            <a:endParaRPr sz="3200">
              <a:latin typeface="Times New Roman"/>
              <a:cs typeface="Times New Roman"/>
            </a:endParaRPr>
          </a:p>
          <a:p>
            <a:pPr marL="355600" marR="640080" indent="-342900">
              <a:lnSpc>
                <a:spcPct val="100000"/>
              </a:lnSpc>
              <a:spcBef>
                <a:spcPts val="800"/>
              </a:spcBef>
              <a:buFont typeface="Times New Roman"/>
              <a:buAutoNum type="arabicPeriod"/>
              <a:tabLst>
                <a:tab pos="393065" algn="l"/>
              </a:tabLst>
            </a:pPr>
            <a:r>
              <a:rPr dirty="0"/>
              <a:t>	</a:t>
            </a:r>
            <a:r>
              <a:rPr sz="3200" spc="-20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Greatest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Possible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30" dirty="0">
                <a:latin typeface="Times New Roman"/>
                <a:cs typeface="Times New Roman"/>
              </a:rPr>
              <a:t>Error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(also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called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absolute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error):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equal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half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limit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reading.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90"/>
              </a:spcBef>
              <a:buFont typeface="Times New Roman"/>
              <a:buAutoNum type="arabicPeriod"/>
              <a:tabLst>
                <a:tab pos="393065" algn="l"/>
              </a:tabLst>
            </a:pPr>
            <a:r>
              <a:rPr dirty="0"/>
              <a:t>	</a:t>
            </a:r>
            <a:r>
              <a:rPr sz="3200" spc="-20" dirty="0">
                <a:latin typeface="Times New Roman"/>
                <a:cs typeface="Times New Roman"/>
              </a:rPr>
              <a:t>The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Upper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and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Lower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Limits: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are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smallest 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and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85" dirty="0">
                <a:latin typeface="Times New Roman"/>
                <a:cs typeface="Times New Roman"/>
              </a:rPr>
              <a:t>largest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value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between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which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measurement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can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30" dirty="0">
                <a:latin typeface="Times New Roman"/>
                <a:cs typeface="Times New Roman"/>
              </a:rPr>
              <a:t>lie.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9560" y="497840"/>
            <a:ext cx="3479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10" dirty="0"/>
              <a:t>Types</a:t>
            </a:r>
            <a:r>
              <a:rPr sz="4400" spc="-35" dirty="0"/>
              <a:t> </a:t>
            </a:r>
            <a:r>
              <a:rPr sz="4400" spc="-5" dirty="0"/>
              <a:t>of</a:t>
            </a:r>
            <a:r>
              <a:rPr sz="4400" spc="-45" dirty="0"/>
              <a:t> </a:t>
            </a:r>
            <a:r>
              <a:rPr sz="4400" spc="15" dirty="0"/>
              <a:t>Errors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12140" y="1638300"/>
            <a:ext cx="5127625" cy="183261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860"/>
              </a:spcBef>
            </a:pPr>
            <a:r>
              <a:rPr sz="2400" spc="-114" dirty="0">
                <a:latin typeface="Times New Roman"/>
                <a:cs typeface="Times New Roman"/>
              </a:rPr>
              <a:t>Basically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Three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types</a:t>
            </a:r>
            <a:r>
              <a:rPr sz="2400" spc="-5" dirty="0">
                <a:latin typeface="Times New Roman"/>
                <a:cs typeface="Times New Roman"/>
              </a:rPr>
              <a:t> of </a:t>
            </a:r>
            <a:r>
              <a:rPr sz="2400" spc="-20" dirty="0">
                <a:latin typeface="Times New Roman"/>
                <a:cs typeface="Times New Roman"/>
              </a:rPr>
              <a:t>errors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studied:-</a:t>
            </a:r>
            <a:endParaRPr sz="2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299720" algn="l"/>
              </a:tabLst>
            </a:pPr>
            <a:r>
              <a:rPr sz="2400" dirty="0">
                <a:latin typeface="Times New Roman"/>
                <a:cs typeface="Times New Roman"/>
              </a:rPr>
              <a:t>Gross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Errors</a:t>
            </a:r>
            <a:endParaRPr sz="2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99720" algn="l"/>
              </a:tabLst>
            </a:pPr>
            <a:r>
              <a:rPr sz="2400" spc="-80" dirty="0">
                <a:latin typeface="Times New Roman"/>
                <a:cs typeface="Times New Roman"/>
              </a:rPr>
              <a:t>Systematic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Errors</a:t>
            </a:r>
            <a:endParaRPr sz="240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299720" algn="l"/>
              </a:tabLst>
            </a:pPr>
            <a:r>
              <a:rPr sz="2400" spc="-30" dirty="0">
                <a:latin typeface="Times New Roman"/>
                <a:cs typeface="Times New Roman"/>
              </a:rPr>
              <a:t>Random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Errors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739" y="497840"/>
            <a:ext cx="28879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5" dirty="0"/>
              <a:t>Gross</a:t>
            </a:r>
            <a:r>
              <a:rPr sz="4400" spc="-70" dirty="0"/>
              <a:t> </a:t>
            </a:r>
            <a:r>
              <a:rPr sz="4400" spc="15" dirty="0"/>
              <a:t>Errors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8839" y="1684020"/>
            <a:ext cx="7723505" cy="22567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68910" algn="just">
              <a:lnSpc>
                <a:spcPct val="101200"/>
              </a:lnSpc>
              <a:spcBef>
                <a:spcPts val="60"/>
              </a:spcBef>
            </a:pPr>
            <a:r>
              <a:rPr sz="2800" dirty="0">
                <a:latin typeface="Times New Roman"/>
                <a:cs typeface="Times New Roman"/>
              </a:rPr>
              <a:t>Gross </a:t>
            </a:r>
            <a:r>
              <a:rPr sz="2800" spc="10" dirty="0">
                <a:latin typeface="Times New Roman"/>
                <a:cs typeface="Times New Roman"/>
              </a:rPr>
              <a:t>Errors </a:t>
            </a:r>
            <a:r>
              <a:rPr sz="2800" spc="-110" dirty="0">
                <a:latin typeface="Times New Roman"/>
                <a:cs typeface="Times New Roman"/>
              </a:rPr>
              <a:t>mainly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covers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 </a:t>
            </a:r>
            <a:r>
              <a:rPr sz="2800" spc="-25" dirty="0">
                <a:latin typeface="Times New Roman"/>
                <a:cs typeface="Times New Roman"/>
              </a:rPr>
              <a:t>human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mistakes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in 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reading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instruments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recording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calculating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measurement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results.</a:t>
            </a:r>
            <a:endParaRPr sz="2800">
              <a:latin typeface="Times New Roman"/>
              <a:cs typeface="Times New Roman"/>
            </a:endParaRPr>
          </a:p>
          <a:p>
            <a:pPr marL="12700" marR="9525" indent="16510" algn="just">
              <a:lnSpc>
                <a:spcPct val="100000"/>
              </a:lnSpc>
              <a:spcBef>
                <a:spcPts val="690"/>
              </a:spcBef>
            </a:pPr>
            <a:r>
              <a:rPr sz="2800" spc="-65" dirty="0">
                <a:latin typeface="Times New Roman"/>
                <a:cs typeface="Times New Roman"/>
              </a:rPr>
              <a:t>Example:- </a:t>
            </a:r>
            <a:r>
              <a:rPr sz="2800" spc="5" dirty="0">
                <a:latin typeface="Times New Roman"/>
                <a:cs typeface="Times New Roman"/>
              </a:rPr>
              <a:t>Due </a:t>
            </a:r>
            <a:r>
              <a:rPr sz="2800" spc="30" dirty="0">
                <a:latin typeface="Times New Roman"/>
                <a:cs typeface="Times New Roman"/>
              </a:rPr>
              <a:t>to </a:t>
            </a:r>
            <a:r>
              <a:rPr sz="2800" spc="-60" dirty="0">
                <a:latin typeface="Times New Roman"/>
                <a:cs typeface="Times New Roman"/>
              </a:rPr>
              <a:t>oversight, </a:t>
            </a:r>
            <a:r>
              <a:rPr sz="2800" spc="-20" dirty="0">
                <a:latin typeface="Times New Roman"/>
                <a:cs typeface="Times New Roman"/>
              </a:rPr>
              <a:t>The </a:t>
            </a:r>
            <a:r>
              <a:rPr sz="2800" spc="-50" dirty="0">
                <a:latin typeface="Times New Roman"/>
                <a:cs typeface="Times New Roman"/>
              </a:rPr>
              <a:t>read </a:t>
            </a:r>
            <a:r>
              <a:rPr sz="2800" spc="-5" dirty="0">
                <a:latin typeface="Times New Roman"/>
                <a:cs typeface="Times New Roman"/>
              </a:rPr>
              <a:t>of </a:t>
            </a:r>
            <a:r>
              <a:rPr sz="2800" spc="-35" dirty="0">
                <a:latin typeface="Times New Roman"/>
                <a:cs typeface="Times New Roman"/>
              </a:rPr>
              <a:t>Temperature 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90" dirty="0">
                <a:latin typeface="Times New Roman"/>
                <a:cs typeface="Times New Roman"/>
              </a:rPr>
              <a:t>as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31.5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2775" dirty="0">
                <a:latin typeface="Arial MT"/>
                <a:cs typeface="Arial MT"/>
              </a:rPr>
              <a:t>̊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while</a:t>
            </a:r>
            <a:r>
              <a:rPr sz="2800" spc="-10" dirty="0">
                <a:latin typeface="Times New Roman"/>
                <a:cs typeface="Times New Roman"/>
              </a:rPr>
              <a:t> the </a:t>
            </a:r>
            <a:r>
              <a:rPr sz="2800" spc="-75" dirty="0">
                <a:latin typeface="Times New Roman"/>
                <a:cs typeface="Times New Roman"/>
              </a:rPr>
              <a:t>actual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reading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may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be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21.5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63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150" y="600709"/>
            <a:ext cx="7074534" cy="318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812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Gross </a:t>
            </a:r>
            <a:r>
              <a:rPr sz="2800" spc="10" dirty="0">
                <a:latin typeface="Times New Roman"/>
                <a:cs typeface="Times New Roman"/>
              </a:rPr>
              <a:t>Errors</a:t>
            </a:r>
            <a:r>
              <a:rPr sz="2800" spc="72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may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be </a:t>
            </a:r>
            <a:r>
              <a:rPr sz="2800" spc="-5" dirty="0">
                <a:latin typeface="Times New Roman"/>
                <a:cs typeface="Times New Roman"/>
              </a:rPr>
              <a:t>of </a:t>
            </a:r>
            <a:r>
              <a:rPr sz="2800" spc="-110" dirty="0">
                <a:latin typeface="Times New Roman"/>
                <a:cs typeface="Times New Roman"/>
              </a:rPr>
              <a:t>any </a:t>
            </a:r>
            <a:r>
              <a:rPr sz="2800" spc="-15" dirty="0">
                <a:latin typeface="Times New Roman"/>
                <a:cs typeface="Times New Roman"/>
              </a:rPr>
              <a:t>amount </a:t>
            </a:r>
            <a:r>
              <a:rPr sz="2800" spc="-30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then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their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mathematical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analysis</a:t>
            </a:r>
            <a:r>
              <a:rPr sz="2800" spc="-105" dirty="0">
                <a:latin typeface="Times New Roman"/>
                <a:cs typeface="Times New Roman"/>
              </a:rPr>
              <a:t> is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impossible.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Then 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these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avoided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adopting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40" dirty="0">
                <a:latin typeface="Times New Roman"/>
                <a:cs typeface="Times New Roman"/>
              </a:rPr>
              <a:t>two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75" dirty="0">
                <a:latin typeface="Times New Roman"/>
                <a:cs typeface="Times New Roman"/>
              </a:rPr>
              <a:t>means:-</a:t>
            </a:r>
            <a:endParaRPr sz="2800">
              <a:latin typeface="Times New Roman"/>
              <a:cs typeface="Times New Roman"/>
            </a:endParaRPr>
          </a:p>
          <a:p>
            <a:pPr marL="12700" marR="501650" indent="187960" algn="just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533400" algn="l"/>
              </a:tabLst>
            </a:pPr>
            <a:r>
              <a:rPr sz="2800" spc="-10" dirty="0">
                <a:latin typeface="Times New Roman"/>
                <a:cs typeface="Times New Roman"/>
              </a:rPr>
              <a:t>Great </a:t>
            </a:r>
            <a:r>
              <a:rPr sz="2800" spc="-70" dirty="0">
                <a:latin typeface="Times New Roman"/>
                <a:cs typeface="Times New Roman"/>
              </a:rPr>
              <a:t>care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is </a:t>
            </a:r>
            <a:r>
              <a:rPr sz="2800" spc="-30" dirty="0">
                <a:latin typeface="Times New Roman"/>
                <a:cs typeface="Times New Roman"/>
              </a:rPr>
              <a:t>must </a:t>
            </a:r>
            <a:r>
              <a:rPr sz="2800" spc="-65" dirty="0">
                <a:latin typeface="Times New Roman"/>
                <a:cs typeface="Times New Roman"/>
              </a:rPr>
              <a:t>in </a:t>
            </a:r>
            <a:r>
              <a:rPr sz="2800" spc="-70" dirty="0">
                <a:latin typeface="Times New Roman"/>
                <a:cs typeface="Times New Roman"/>
              </a:rPr>
              <a:t>reading </a:t>
            </a:r>
            <a:r>
              <a:rPr sz="2800" spc="-35" dirty="0">
                <a:latin typeface="Times New Roman"/>
                <a:cs typeface="Times New Roman"/>
              </a:rPr>
              <a:t>and </a:t>
            </a:r>
            <a:r>
              <a:rPr sz="2800" spc="-50" dirty="0">
                <a:latin typeface="Times New Roman"/>
                <a:cs typeface="Times New Roman"/>
              </a:rPr>
              <a:t>recording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data.</a:t>
            </a:r>
            <a:endParaRPr sz="2800">
              <a:latin typeface="Times New Roman"/>
              <a:cs typeface="Times New Roman"/>
            </a:endParaRPr>
          </a:p>
          <a:p>
            <a:pPr marL="12700" marR="377825" indent="187960" algn="just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533400" algn="l"/>
              </a:tabLst>
            </a:pPr>
            <a:r>
              <a:rPr sz="2800" spc="-50" dirty="0">
                <a:latin typeface="Times New Roman"/>
                <a:cs typeface="Times New Roman"/>
              </a:rPr>
              <a:t>Two </a:t>
            </a:r>
            <a:r>
              <a:rPr sz="2800" spc="-90" dirty="0">
                <a:latin typeface="Times New Roman"/>
                <a:cs typeface="Times New Roman"/>
              </a:rPr>
              <a:t>, </a:t>
            </a:r>
            <a:r>
              <a:rPr sz="2800" spc="-30" dirty="0">
                <a:latin typeface="Times New Roman"/>
                <a:cs typeface="Times New Roman"/>
              </a:rPr>
              <a:t>Three </a:t>
            </a:r>
            <a:r>
              <a:rPr sz="2800" spc="10" dirty="0">
                <a:latin typeface="Times New Roman"/>
                <a:cs typeface="Times New Roman"/>
              </a:rPr>
              <a:t>or </a:t>
            </a:r>
            <a:r>
              <a:rPr sz="2800" spc="-60" dirty="0">
                <a:latin typeface="Times New Roman"/>
                <a:cs typeface="Times New Roman"/>
              </a:rPr>
              <a:t>even </a:t>
            </a:r>
            <a:r>
              <a:rPr sz="2800" spc="-25" dirty="0">
                <a:latin typeface="Times New Roman"/>
                <a:cs typeface="Times New Roman"/>
              </a:rPr>
              <a:t>more </a:t>
            </a:r>
            <a:r>
              <a:rPr sz="2800" spc="-70" dirty="0">
                <a:latin typeface="Times New Roman"/>
                <a:cs typeface="Times New Roman"/>
              </a:rPr>
              <a:t>reading </a:t>
            </a:r>
            <a:r>
              <a:rPr sz="2800" spc="-40" dirty="0">
                <a:latin typeface="Times New Roman"/>
                <a:cs typeface="Times New Roman"/>
              </a:rPr>
              <a:t>should </a:t>
            </a:r>
            <a:r>
              <a:rPr sz="2800" spc="-30" dirty="0">
                <a:latin typeface="Times New Roman"/>
                <a:cs typeface="Times New Roman"/>
              </a:rPr>
              <a:t>be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Times New Roman"/>
                <a:cs typeface="Times New Roman"/>
              </a:rPr>
              <a:t>taken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quantity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under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measurement.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0329" y="497840"/>
            <a:ext cx="38595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40" dirty="0"/>
              <a:t>Systematic</a:t>
            </a:r>
            <a:r>
              <a:rPr sz="4400" spc="-45" dirty="0"/>
              <a:t> </a:t>
            </a:r>
            <a:r>
              <a:rPr sz="4400" spc="15" dirty="0"/>
              <a:t>Errors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31620"/>
            <a:ext cx="8030845" cy="23812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3003550" algn="l"/>
              </a:tabLst>
            </a:pPr>
            <a:r>
              <a:rPr sz="3200" spc="-105" dirty="0">
                <a:latin typeface="Times New Roman"/>
                <a:cs typeface="Times New Roman"/>
              </a:rPr>
              <a:t>Systematic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Errors	</a:t>
            </a:r>
            <a:r>
              <a:rPr sz="3200" spc="-100" dirty="0">
                <a:latin typeface="Times New Roman"/>
                <a:cs typeface="Times New Roman"/>
              </a:rPr>
              <a:t>classified</a:t>
            </a:r>
            <a:r>
              <a:rPr sz="3200" spc="-15" dirty="0">
                <a:latin typeface="Times New Roman"/>
                <a:cs typeface="Times New Roman"/>
              </a:rPr>
              <a:t> into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three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categories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35" dirty="0">
                <a:latin typeface="Times New Roman"/>
                <a:cs typeface="Times New Roman"/>
              </a:rPr>
              <a:t>:-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355600" algn="l"/>
              </a:tabLst>
            </a:pPr>
            <a:r>
              <a:rPr sz="3200" spc="-30" dirty="0">
                <a:latin typeface="Times New Roman"/>
                <a:cs typeface="Times New Roman"/>
              </a:rPr>
              <a:t>Instrumental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Errors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355600" algn="l"/>
              </a:tabLst>
            </a:pPr>
            <a:r>
              <a:rPr sz="3200" spc="-30" dirty="0">
                <a:latin typeface="Times New Roman"/>
                <a:cs typeface="Times New Roman"/>
              </a:rPr>
              <a:t>Environmental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Errors</a:t>
            </a:r>
            <a:endParaRPr sz="3200">
              <a:latin typeface="Times New Roman"/>
              <a:cs typeface="Times New Roman"/>
            </a:endParaRPr>
          </a:p>
          <a:p>
            <a:pPr marL="494030" indent="-481965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493395" algn="l"/>
                <a:tab pos="494665" algn="l"/>
              </a:tabLst>
            </a:pPr>
            <a:r>
              <a:rPr sz="3200" spc="-45" dirty="0">
                <a:latin typeface="Times New Roman"/>
                <a:cs typeface="Times New Roman"/>
              </a:rPr>
              <a:t>Observational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Errors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2679" y="497840"/>
            <a:ext cx="43522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5" dirty="0"/>
              <a:t>Instrumental</a:t>
            </a:r>
            <a:r>
              <a:rPr sz="4400" spc="-70" dirty="0"/>
              <a:t> </a:t>
            </a:r>
            <a:r>
              <a:rPr sz="4400" spc="15" dirty="0"/>
              <a:t>Errors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39240"/>
            <a:ext cx="8063230" cy="37884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80"/>
              </a:spcBef>
            </a:pPr>
            <a:r>
              <a:rPr sz="3000" spc="-45" dirty="0">
                <a:latin typeface="Times New Roman"/>
                <a:cs typeface="Times New Roman"/>
              </a:rPr>
              <a:t>These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errors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imes New Roman"/>
                <a:cs typeface="Times New Roman"/>
              </a:rPr>
              <a:t>arises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due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30" dirty="0">
                <a:latin typeface="Times New Roman"/>
                <a:cs typeface="Times New Roman"/>
              </a:rPr>
              <a:t>to</a:t>
            </a:r>
            <a:r>
              <a:rPr sz="3000" spc="1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three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imes New Roman"/>
                <a:cs typeface="Times New Roman"/>
              </a:rPr>
              <a:t>main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reasons.</a:t>
            </a:r>
            <a:endParaRPr sz="30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Due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3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inherent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shortcoming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imes New Roman"/>
                <a:cs typeface="Times New Roman"/>
              </a:rPr>
              <a:t>in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instrument.</a:t>
            </a:r>
            <a:endParaRPr sz="3000">
              <a:latin typeface="Times New Roman"/>
              <a:cs typeface="Times New Roman"/>
            </a:endParaRPr>
          </a:p>
          <a:p>
            <a:pPr marL="355600" marR="5080" indent="142240" algn="just">
              <a:lnSpc>
                <a:spcPct val="89900"/>
              </a:lnSpc>
              <a:spcBef>
                <a:spcPts val="750"/>
              </a:spcBef>
            </a:pPr>
            <a:r>
              <a:rPr sz="3000" u="heavy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Example:-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Times New Roman"/>
                <a:cs typeface="Times New Roman"/>
              </a:rPr>
              <a:t>If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spc="-55" dirty="0">
                <a:latin typeface="Times New Roman"/>
                <a:cs typeface="Times New Roman"/>
              </a:rPr>
              <a:t>spring used </a:t>
            </a:r>
            <a:r>
              <a:rPr sz="3000" spc="-60" dirty="0">
                <a:latin typeface="Times New Roman"/>
                <a:cs typeface="Times New Roman"/>
              </a:rPr>
              <a:t>in </a:t>
            </a:r>
            <a:r>
              <a:rPr sz="3000" spc="-25" dirty="0">
                <a:latin typeface="Times New Roman"/>
                <a:cs typeface="Times New Roman"/>
              </a:rPr>
              <a:t>permanent </a:t>
            </a:r>
            <a:r>
              <a:rPr sz="3000" spc="-55" dirty="0">
                <a:latin typeface="Times New Roman"/>
                <a:cs typeface="Times New Roman"/>
              </a:rPr>
              <a:t>magnet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instrument </a:t>
            </a:r>
            <a:r>
              <a:rPr sz="3000" spc="-55" dirty="0">
                <a:latin typeface="Times New Roman"/>
                <a:cs typeface="Times New Roman"/>
              </a:rPr>
              <a:t>has </a:t>
            </a:r>
            <a:r>
              <a:rPr sz="3000" spc="-40" dirty="0">
                <a:latin typeface="Times New Roman"/>
                <a:cs typeface="Times New Roman"/>
              </a:rPr>
              <a:t>become </a:t>
            </a:r>
            <a:r>
              <a:rPr sz="3000" spc="-120" dirty="0">
                <a:latin typeface="Times New Roman"/>
                <a:cs typeface="Times New Roman"/>
              </a:rPr>
              <a:t>weak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then </a:t>
            </a:r>
            <a:r>
              <a:rPr sz="3000" spc="-30" dirty="0">
                <a:latin typeface="Times New Roman"/>
                <a:cs typeface="Times New Roman"/>
              </a:rPr>
              <a:t>instrument </a:t>
            </a:r>
            <a:r>
              <a:rPr sz="3000" spc="-160" dirty="0">
                <a:latin typeface="Times New Roman"/>
                <a:cs typeface="Times New Roman"/>
              </a:rPr>
              <a:t>will 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150" dirty="0">
                <a:latin typeface="Times New Roman"/>
                <a:cs typeface="Times New Roman"/>
              </a:rPr>
              <a:t>always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read </a:t>
            </a:r>
            <a:r>
              <a:rPr sz="3000" spc="-70" dirty="0">
                <a:latin typeface="Times New Roman"/>
                <a:cs typeface="Times New Roman"/>
              </a:rPr>
              <a:t>high. </a:t>
            </a:r>
            <a:r>
              <a:rPr sz="3000" spc="10" dirty="0">
                <a:latin typeface="Times New Roman"/>
                <a:cs typeface="Times New Roman"/>
              </a:rPr>
              <a:t>Errors</a:t>
            </a:r>
            <a:r>
              <a:rPr sz="3000" spc="775" dirty="0">
                <a:latin typeface="Times New Roman"/>
                <a:cs typeface="Times New Roman"/>
              </a:rPr>
              <a:t> </a:t>
            </a:r>
            <a:r>
              <a:rPr sz="3000" spc="-130" dirty="0">
                <a:latin typeface="Times New Roman"/>
                <a:cs typeface="Times New Roman"/>
              </a:rPr>
              <a:t>may </a:t>
            </a:r>
            <a:r>
              <a:rPr sz="3000" spc="-70" dirty="0">
                <a:latin typeface="Times New Roman"/>
                <a:cs typeface="Times New Roman"/>
              </a:rPr>
              <a:t>caused because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friction</a:t>
            </a:r>
            <a:r>
              <a:rPr sz="3000" spc="60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imes New Roman"/>
                <a:cs typeface="Times New Roman"/>
              </a:rPr>
              <a:t>,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imes New Roman"/>
                <a:cs typeface="Times New Roman"/>
              </a:rPr>
              <a:t>hysteresis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imes New Roman"/>
                <a:cs typeface="Times New Roman"/>
              </a:rPr>
              <a:t>,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15" dirty="0">
                <a:latin typeface="Times New Roman"/>
                <a:cs typeface="Times New Roman"/>
              </a:rPr>
              <a:t>or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imes New Roman"/>
                <a:cs typeface="Times New Roman"/>
              </a:rPr>
              <a:t>even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imes New Roman"/>
                <a:cs typeface="Times New Roman"/>
              </a:rPr>
              <a:t>gear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backlash.</a:t>
            </a:r>
            <a:endParaRPr sz="30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390"/>
              </a:spcBef>
              <a:buAutoNum type="arabicPeriod" startAt="2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Due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35" dirty="0">
                <a:latin typeface="Times New Roman"/>
                <a:cs typeface="Times New Roman"/>
              </a:rPr>
              <a:t>to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80" dirty="0">
                <a:latin typeface="Times New Roman"/>
                <a:cs typeface="Times New Roman"/>
              </a:rPr>
              <a:t>misuse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instruments.</a:t>
            </a:r>
            <a:endParaRPr sz="30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380"/>
              </a:spcBef>
              <a:buAutoNum type="arabicPeriod" startAt="2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Due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35" dirty="0">
                <a:latin typeface="Times New Roman"/>
                <a:cs typeface="Times New Roman"/>
              </a:rPr>
              <a:t>to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imes New Roman"/>
                <a:cs typeface="Times New Roman"/>
              </a:rPr>
              <a:t>Loading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effects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instruments.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8839" y="497840"/>
            <a:ext cx="4838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0" dirty="0"/>
              <a:t>Environmental</a:t>
            </a:r>
            <a:r>
              <a:rPr sz="4400" spc="-65" dirty="0"/>
              <a:t> </a:t>
            </a:r>
            <a:r>
              <a:rPr sz="4400" spc="15" dirty="0"/>
              <a:t>Errors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8839" y="1633220"/>
            <a:ext cx="7722870" cy="305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indent="231140" algn="just">
              <a:lnSpc>
                <a:spcPct val="100000"/>
              </a:lnSpc>
              <a:spcBef>
                <a:spcPts val="100"/>
              </a:spcBef>
            </a:pPr>
            <a:r>
              <a:rPr sz="3200" spc="-45" dirty="0">
                <a:latin typeface="Times New Roman"/>
                <a:cs typeface="Times New Roman"/>
              </a:rPr>
              <a:t>These </a:t>
            </a:r>
            <a:r>
              <a:rPr sz="3200" spc="-30" dirty="0">
                <a:latin typeface="Times New Roman"/>
                <a:cs typeface="Times New Roman"/>
              </a:rPr>
              <a:t>errors </a:t>
            </a:r>
            <a:r>
              <a:rPr sz="3200" spc="-75" dirty="0">
                <a:latin typeface="Times New Roman"/>
                <a:cs typeface="Times New Roman"/>
              </a:rPr>
              <a:t>are </a:t>
            </a:r>
            <a:r>
              <a:rPr sz="3200" spc="-40" dirty="0">
                <a:latin typeface="Times New Roman"/>
                <a:cs typeface="Times New Roman"/>
              </a:rPr>
              <a:t>due </a:t>
            </a:r>
            <a:r>
              <a:rPr sz="3200" spc="35" dirty="0">
                <a:latin typeface="Times New Roman"/>
                <a:cs typeface="Times New Roman"/>
              </a:rPr>
              <a:t>to </a:t>
            </a:r>
            <a:r>
              <a:rPr sz="3200" spc="-35" dirty="0">
                <a:latin typeface="Times New Roman"/>
                <a:cs typeface="Times New Roman"/>
              </a:rPr>
              <a:t>conditions </a:t>
            </a:r>
            <a:r>
              <a:rPr sz="3200" spc="-70" dirty="0">
                <a:latin typeface="Times New Roman"/>
                <a:cs typeface="Times New Roman"/>
              </a:rPr>
              <a:t>external </a:t>
            </a:r>
            <a:r>
              <a:rPr sz="3200" spc="35" dirty="0">
                <a:latin typeface="Times New Roman"/>
                <a:cs typeface="Times New Roman"/>
              </a:rPr>
              <a:t>to </a:t>
            </a:r>
            <a:r>
              <a:rPr sz="3200" spc="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measuring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Device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including</a:t>
            </a:r>
            <a:r>
              <a:rPr sz="3200" spc="64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conditions</a:t>
            </a:r>
            <a:r>
              <a:rPr sz="3200" spc="73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in 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are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surrounding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instrument.</a:t>
            </a:r>
            <a:endParaRPr sz="3200">
              <a:latin typeface="Times New Roman"/>
              <a:cs typeface="Times New Roman"/>
            </a:endParaRPr>
          </a:p>
          <a:p>
            <a:pPr marL="12700" marR="5080" indent="121920" algn="just">
              <a:lnSpc>
                <a:spcPct val="100000"/>
              </a:lnSpc>
              <a:spcBef>
                <a:spcPts val="790"/>
              </a:spcBef>
            </a:pPr>
            <a:r>
              <a:rPr sz="3200" spc="-45" dirty="0">
                <a:latin typeface="Times New Roman"/>
                <a:cs typeface="Times New Roman"/>
              </a:rPr>
              <a:t>These </a:t>
            </a:r>
            <a:r>
              <a:rPr sz="3200" spc="-140" dirty="0">
                <a:latin typeface="Times New Roman"/>
                <a:cs typeface="Times New Roman"/>
              </a:rPr>
              <a:t>may </a:t>
            </a:r>
            <a:r>
              <a:rPr sz="3200" spc="-30" dirty="0">
                <a:latin typeface="Times New Roman"/>
                <a:cs typeface="Times New Roman"/>
              </a:rPr>
              <a:t>be </a:t>
            </a:r>
            <a:r>
              <a:rPr sz="3200" spc="-55" dirty="0">
                <a:latin typeface="Times New Roman"/>
                <a:cs typeface="Times New Roman"/>
              </a:rPr>
              <a:t>effects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40" dirty="0">
                <a:latin typeface="Times New Roman"/>
                <a:cs typeface="Times New Roman"/>
              </a:rPr>
              <a:t>Temperature, </a:t>
            </a:r>
            <a:r>
              <a:rPr sz="3200" spc="-55" dirty="0">
                <a:latin typeface="Times New Roman"/>
                <a:cs typeface="Times New Roman"/>
              </a:rPr>
              <a:t>Pressure, 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Humidity,</a:t>
            </a:r>
            <a:r>
              <a:rPr sz="3200" spc="6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Dust,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Vibrations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or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external 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magnetic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15" dirty="0">
                <a:latin typeface="Times New Roman"/>
                <a:cs typeface="Times New Roman"/>
              </a:rPr>
              <a:t>or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electrostatic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95" dirty="0">
                <a:latin typeface="Times New Roman"/>
                <a:cs typeface="Times New Roman"/>
              </a:rPr>
              <a:t>fields.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6789" y="497840"/>
            <a:ext cx="46240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60" dirty="0"/>
              <a:t>Observational</a:t>
            </a:r>
            <a:r>
              <a:rPr sz="4400" spc="-40" dirty="0"/>
              <a:t> </a:t>
            </a:r>
            <a:r>
              <a:rPr sz="4400" spc="15" dirty="0"/>
              <a:t>Errors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1620"/>
            <a:ext cx="7752080" cy="44323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2672715" algn="l"/>
              </a:tabLst>
            </a:pPr>
            <a:r>
              <a:rPr sz="3200" spc="-30" dirty="0">
                <a:latin typeface="Times New Roman"/>
                <a:cs typeface="Times New Roman"/>
              </a:rPr>
              <a:t>There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many	</a:t>
            </a:r>
            <a:r>
              <a:rPr sz="3200" spc="-55" dirty="0">
                <a:latin typeface="Times New Roman"/>
                <a:cs typeface="Times New Roman"/>
              </a:rPr>
              <a:t>sources</a:t>
            </a:r>
            <a:r>
              <a:rPr sz="3200" spc="-10" dirty="0">
                <a:latin typeface="Times New Roman"/>
                <a:cs typeface="Times New Roman"/>
              </a:rPr>
              <a:t> 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observational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errors:-</a:t>
            </a:r>
            <a:endParaRPr sz="3200" dirty="0">
              <a:latin typeface="Times New Roman"/>
              <a:cs typeface="Times New Roman"/>
            </a:endParaRPr>
          </a:p>
          <a:p>
            <a:pPr marL="355600" marR="223520" indent="-342900">
              <a:lnSpc>
                <a:spcPct val="100000"/>
              </a:lnSpc>
              <a:spcBef>
                <a:spcPts val="800"/>
              </a:spcBef>
            </a:pPr>
            <a:r>
              <a:rPr sz="3200" spc="-75" dirty="0">
                <a:latin typeface="Times New Roman"/>
                <a:cs typeface="Times New Roman"/>
              </a:rPr>
              <a:t>--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Parallax,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i.e.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Apparent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displacement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when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line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vision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Times New Roman"/>
                <a:cs typeface="Times New Roman"/>
              </a:rPr>
              <a:t>not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normal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scale.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3200" spc="-75" dirty="0">
                <a:latin typeface="Times New Roman"/>
                <a:cs typeface="Times New Roman"/>
              </a:rPr>
              <a:t>--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Inaccurate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estimate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average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reading.</a:t>
            </a:r>
            <a:endParaRPr sz="3200" dirty="0">
              <a:latin typeface="Times New Roman"/>
              <a:cs typeface="Times New Roman"/>
            </a:endParaRPr>
          </a:p>
          <a:p>
            <a:pPr marL="355600" marR="200660" indent="-342900">
              <a:lnSpc>
                <a:spcPct val="100000"/>
              </a:lnSpc>
              <a:spcBef>
                <a:spcPts val="800"/>
              </a:spcBef>
            </a:pPr>
            <a:r>
              <a:rPr sz="3200" spc="-75" dirty="0">
                <a:latin typeface="Times New Roman"/>
                <a:cs typeface="Times New Roman"/>
              </a:rPr>
              <a:t>--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Wrong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scale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reading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wrong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recording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data.</a:t>
            </a:r>
            <a:endParaRPr sz="3200" dirty="0">
              <a:latin typeface="Times New Roman"/>
              <a:cs typeface="Times New Roman"/>
            </a:endParaRPr>
          </a:p>
          <a:p>
            <a:pPr marL="355600" marR="1365885" indent="-342900">
              <a:lnSpc>
                <a:spcPts val="3829"/>
              </a:lnSpc>
              <a:spcBef>
                <a:spcPts val="910"/>
              </a:spcBef>
            </a:pPr>
            <a:r>
              <a:rPr sz="3200" spc="-75" dirty="0">
                <a:latin typeface="Times New Roman"/>
                <a:cs typeface="Times New Roman"/>
              </a:rPr>
              <a:t>--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Incorrect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conversion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units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between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consecutive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reading.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685800"/>
            <a:ext cx="5271135" cy="68720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525" spc="244" dirty="0"/>
              <a:t> </a:t>
            </a:r>
            <a:r>
              <a:rPr sz="3525" spc="131" dirty="0"/>
              <a:t>Th</a:t>
            </a:r>
            <a:r>
              <a:rPr sz="4400" spc="131" dirty="0"/>
              <a:t>eoretical</a:t>
            </a:r>
            <a:r>
              <a:rPr sz="4400" spc="244" dirty="0"/>
              <a:t> </a:t>
            </a:r>
            <a:r>
              <a:rPr sz="4400" spc="169" dirty="0"/>
              <a:t>Errors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1676400"/>
            <a:ext cx="7074694" cy="444108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049">
              <a:spcBef>
                <a:spcPts val="75"/>
              </a:spcBef>
              <a:buClr>
                <a:srgbClr val="D24717"/>
              </a:buClr>
              <a:buSzPct val="95238"/>
              <a:tabLst>
                <a:tab pos="188595" algn="l"/>
              </a:tabLst>
            </a:pP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</a:t>
            </a:r>
            <a:r>
              <a:rPr sz="3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sz="32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caused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simplification</a:t>
            </a:r>
            <a:r>
              <a:rPr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32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48" marR="3810">
              <a:lnSpc>
                <a:spcPct val="110000"/>
              </a:lnSpc>
              <a:spcBef>
                <a:spcPts val="1054"/>
              </a:spcBef>
              <a:buClr>
                <a:srgbClr val="D24717"/>
              </a:buClr>
              <a:buSzPct val="95238"/>
              <a:tabLst>
                <a:tab pos="188595" algn="l"/>
              </a:tabLst>
            </a:pPr>
            <a:r>
              <a:rPr sz="3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sz="3200" spc="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sz="3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surrounding</a:t>
            </a:r>
            <a:r>
              <a:rPr sz="3200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3200" spc="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3200" spc="-3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sz="3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readings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3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49">
              <a:spcBef>
                <a:spcPts val="1241"/>
              </a:spcBef>
              <a:buClr>
                <a:srgbClr val="D24717"/>
              </a:buClr>
              <a:buSzPct val="95238"/>
              <a:tabLst>
                <a:tab pos="188595" algn="l"/>
              </a:tabLst>
            </a:pP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this </a:t>
            </a:r>
            <a:r>
              <a:rPr sz="3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32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sz="3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32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</a:t>
            </a:r>
            <a:r>
              <a:rPr sz="3200" spc="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791" y="512489"/>
            <a:ext cx="5304687" cy="39203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3150" y="4895850"/>
            <a:ext cx="584898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sz="1800" b="1" spc="-195" dirty="0">
                <a:latin typeface="Georgia"/>
                <a:cs typeface="Georgia"/>
              </a:rPr>
              <a:t>Here</a:t>
            </a:r>
            <a:r>
              <a:rPr sz="1800" b="1" spc="45" dirty="0">
                <a:latin typeface="Georgia"/>
                <a:cs typeface="Georgia"/>
              </a:rPr>
              <a:t> </a:t>
            </a:r>
            <a:r>
              <a:rPr sz="1800" b="1" spc="-190" dirty="0">
                <a:latin typeface="Georgia"/>
                <a:cs typeface="Georgia"/>
              </a:rPr>
              <a:t>in</a:t>
            </a:r>
            <a:r>
              <a:rPr sz="1800" b="1" spc="60" dirty="0">
                <a:latin typeface="Georgia"/>
                <a:cs typeface="Georgia"/>
              </a:rPr>
              <a:t> </a:t>
            </a:r>
            <a:r>
              <a:rPr sz="1800" b="1" spc="-204" dirty="0">
                <a:latin typeface="Georgia"/>
                <a:cs typeface="Georgia"/>
              </a:rPr>
              <a:t>Graph,</a:t>
            </a:r>
            <a:r>
              <a:rPr sz="1800" b="1" spc="-200" dirty="0">
                <a:latin typeface="Georgia"/>
                <a:cs typeface="Georgia"/>
              </a:rPr>
              <a:t> </a:t>
            </a:r>
            <a:r>
              <a:rPr sz="1800" b="1" spc="-160" dirty="0">
                <a:latin typeface="Georgia"/>
                <a:cs typeface="Georgia"/>
              </a:rPr>
              <a:t>Full</a:t>
            </a:r>
            <a:r>
              <a:rPr sz="1800" b="1" spc="45" dirty="0">
                <a:latin typeface="Georgia"/>
                <a:cs typeface="Georgia"/>
              </a:rPr>
              <a:t> </a:t>
            </a:r>
            <a:r>
              <a:rPr sz="1800" b="1" spc="-170" dirty="0">
                <a:latin typeface="Georgia"/>
                <a:cs typeface="Georgia"/>
              </a:rPr>
              <a:t>Line</a:t>
            </a:r>
            <a:r>
              <a:rPr sz="1800" b="1" spc="50" dirty="0">
                <a:latin typeface="Georgia"/>
                <a:cs typeface="Georgia"/>
              </a:rPr>
              <a:t> </a:t>
            </a:r>
            <a:r>
              <a:rPr sz="1800" b="1" spc="-220" dirty="0">
                <a:latin typeface="Georgia"/>
                <a:cs typeface="Georgia"/>
              </a:rPr>
              <a:t>shows</a:t>
            </a:r>
            <a:r>
              <a:rPr sz="1800" b="1" spc="-185" dirty="0">
                <a:latin typeface="Georgia"/>
                <a:cs typeface="Georgia"/>
              </a:rPr>
              <a:t> </a:t>
            </a:r>
            <a:r>
              <a:rPr sz="1800" b="1" spc="-190" dirty="0">
                <a:latin typeface="Georgia"/>
                <a:cs typeface="Georgia"/>
              </a:rPr>
              <a:t>the</a:t>
            </a:r>
            <a:r>
              <a:rPr sz="1800" b="1" spc="50" dirty="0">
                <a:latin typeface="Georgia"/>
                <a:cs typeface="Georgia"/>
              </a:rPr>
              <a:t> </a:t>
            </a:r>
            <a:r>
              <a:rPr sz="1800" b="1" spc="-185" dirty="0">
                <a:latin typeface="Georgia"/>
                <a:cs typeface="Georgia"/>
              </a:rPr>
              <a:t>systematic</a:t>
            </a:r>
            <a:r>
              <a:rPr sz="1800" b="1" spc="45" dirty="0">
                <a:latin typeface="Georgia"/>
                <a:cs typeface="Georgia"/>
              </a:rPr>
              <a:t> </a:t>
            </a:r>
            <a:r>
              <a:rPr sz="1800" b="1" spc="-240" dirty="0">
                <a:latin typeface="Georgia"/>
                <a:cs typeface="Georgia"/>
              </a:rPr>
              <a:t>Error</a:t>
            </a:r>
            <a:r>
              <a:rPr sz="1800" b="1" spc="-165" dirty="0">
                <a:latin typeface="Georgia"/>
                <a:cs typeface="Georgia"/>
              </a:rPr>
              <a:t> </a:t>
            </a:r>
            <a:r>
              <a:rPr sz="1800" b="1" spc="-190" dirty="0">
                <a:latin typeface="Georgia"/>
                <a:cs typeface="Georgia"/>
              </a:rPr>
              <a:t>in</a:t>
            </a:r>
            <a:r>
              <a:rPr sz="1800" b="1" spc="60" dirty="0">
                <a:latin typeface="Georgia"/>
                <a:cs typeface="Georgia"/>
              </a:rPr>
              <a:t> </a:t>
            </a:r>
            <a:r>
              <a:rPr sz="1800" b="1" spc="-240" dirty="0">
                <a:latin typeface="Georgia"/>
                <a:cs typeface="Georgia"/>
              </a:rPr>
              <a:t>non </a:t>
            </a:r>
            <a:r>
              <a:rPr sz="1800" b="1" spc="-445" dirty="0">
                <a:latin typeface="Georgia"/>
                <a:cs typeface="Georgia"/>
              </a:rPr>
              <a:t> </a:t>
            </a:r>
            <a:r>
              <a:rPr sz="1800" b="1" spc="-100" dirty="0">
                <a:latin typeface="Georgia"/>
                <a:cs typeface="Georgia"/>
              </a:rPr>
              <a:t>L</a:t>
            </a:r>
            <a:r>
              <a:rPr sz="1800" b="1" spc="-135" dirty="0">
                <a:latin typeface="Georgia"/>
                <a:cs typeface="Georgia"/>
              </a:rPr>
              <a:t>i</a:t>
            </a:r>
            <a:r>
              <a:rPr sz="1800" b="1" spc="-254" dirty="0">
                <a:latin typeface="Georgia"/>
                <a:cs typeface="Georgia"/>
              </a:rPr>
              <a:t>n</a:t>
            </a:r>
            <a:r>
              <a:rPr sz="1800" b="1" spc="-190" dirty="0">
                <a:latin typeface="Georgia"/>
                <a:cs typeface="Georgia"/>
              </a:rPr>
              <a:t>e</a:t>
            </a:r>
            <a:r>
              <a:rPr sz="1800" b="1" spc="-220" dirty="0">
                <a:latin typeface="Georgia"/>
                <a:cs typeface="Georgia"/>
              </a:rPr>
              <a:t>a</a:t>
            </a:r>
            <a:r>
              <a:rPr sz="1800" b="1" spc="-320" dirty="0">
                <a:latin typeface="Georgia"/>
                <a:cs typeface="Georgia"/>
              </a:rPr>
              <a:t>r</a:t>
            </a:r>
            <a:r>
              <a:rPr sz="1800" b="1" spc="-5" dirty="0">
                <a:latin typeface="Georgia"/>
                <a:cs typeface="Georgia"/>
              </a:rPr>
              <a:t> </a:t>
            </a:r>
            <a:r>
              <a:rPr sz="1800" b="1" spc="-95" dirty="0">
                <a:latin typeface="Georgia"/>
                <a:cs typeface="Georgia"/>
              </a:rPr>
              <a:t>I</a:t>
            </a:r>
            <a:r>
              <a:rPr sz="1800" b="1" spc="-254" dirty="0">
                <a:latin typeface="Georgia"/>
                <a:cs typeface="Georgia"/>
              </a:rPr>
              <a:t>n</a:t>
            </a:r>
            <a:r>
              <a:rPr sz="1800" b="1" spc="-170" dirty="0">
                <a:latin typeface="Georgia"/>
                <a:cs typeface="Georgia"/>
              </a:rPr>
              <a:t>st</a:t>
            </a:r>
            <a:r>
              <a:rPr sz="1800" b="1" spc="-245" dirty="0">
                <a:latin typeface="Georgia"/>
                <a:cs typeface="Georgia"/>
              </a:rPr>
              <a:t>r</a:t>
            </a:r>
            <a:r>
              <a:rPr sz="1800" b="1" spc="-310" dirty="0">
                <a:latin typeface="Georgia"/>
                <a:cs typeface="Georgia"/>
              </a:rPr>
              <a:t>u</a:t>
            </a:r>
            <a:r>
              <a:rPr sz="1800" b="1" spc="-325" dirty="0">
                <a:latin typeface="Georgia"/>
                <a:cs typeface="Georgia"/>
              </a:rPr>
              <a:t>m</a:t>
            </a:r>
            <a:r>
              <a:rPr sz="1800" b="1" spc="-180" dirty="0">
                <a:latin typeface="Georgia"/>
                <a:cs typeface="Georgia"/>
              </a:rPr>
              <a:t>e</a:t>
            </a:r>
            <a:r>
              <a:rPr sz="1800" b="1" spc="-254" dirty="0">
                <a:latin typeface="Georgia"/>
                <a:cs typeface="Georgia"/>
              </a:rPr>
              <a:t>n</a:t>
            </a:r>
            <a:r>
              <a:rPr sz="1800" b="1" spc="-150" dirty="0">
                <a:latin typeface="Georgia"/>
                <a:cs typeface="Georgia"/>
              </a:rPr>
              <a:t>t</a:t>
            </a:r>
            <a:r>
              <a:rPr sz="1800" b="1" spc="-125" dirty="0"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9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229" dirty="0">
                <a:latin typeface="Georgia"/>
                <a:cs typeface="Georgia"/>
              </a:rPr>
              <a:t>While</a:t>
            </a:r>
            <a:r>
              <a:rPr sz="1800" b="1" spc="-225" dirty="0">
                <a:latin typeface="Georgia"/>
                <a:cs typeface="Georgia"/>
              </a:rPr>
              <a:t> </a:t>
            </a:r>
            <a:r>
              <a:rPr sz="1800" b="1" spc="-220" dirty="0">
                <a:latin typeface="Georgia"/>
                <a:cs typeface="Georgia"/>
              </a:rPr>
              <a:t>Broken</a:t>
            </a:r>
            <a:r>
              <a:rPr sz="1800" b="1" spc="-215" dirty="0">
                <a:latin typeface="Georgia"/>
                <a:cs typeface="Georgia"/>
              </a:rPr>
              <a:t> </a:t>
            </a:r>
            <a:r>
              <a:rPr sz="1800" b="1" spc="-170" dirty="0">
                <a:latin typeface="Georgia"/>
                <a:cs typeface="Georgia"/>
              </a:rPr>
              <a:t>Line</a:t>
            </a:r>
            <a:r>
              <a:rPr sz="1800" b="1" spc="-165" dirty="0">
                <a:latin typeface="Georgia"/>
                <a:cs typeface="Georgia"/>
              </a:rPr>
              <a:t> </a:t>
            </a:r>
            <a:r>
              <a:rPr sz="1800" b="1" spc="-220" dirty="0">
                <a:latin typeface="Georgia"/>
                <a:cs typeface="Georgia"/>
              </a:rPr>
              <a:t>shows</a:t>
            </a:r>
            <a:r>
              <a:rPr sz="1800" b="1" spc="-215" dirty="0">
                <a:latin typeface="Georgia"/>
                <a:cs typeface="Georgia"/>
              </a:rPr>
              <a:t> response</a:t>
            </a:r>
            <a:r>
              <a:rPr sz="1800" b="1" spc="-210" dirty="0">
                <a:latin typeface="Georgia"/>
                <a:cs typeface="Georgia"/>
              </a:rPr>
              <a:t> </a:t>
            </a:r>
            <a:r>
              <a:rPr sz="1800" b="1" spc="-190" dirty="0">
                <a:latin typeface="Georgia"/>
                <a:cs typeface="Georgia"/>
              </a:rPr>
              <a:t>of</a:t>
            </a:r>
            <a:r>
              <a:rPr sz="1800" b="1" spc="-185" dirty="0">
                <a:latin typeface="Georgia"/>
                <a:cs typeface="Georgia"/>
              </a:rPr>
              <a:t> </a:t>
            </a:r>
            <a:r>
              <a:rPr sz="1800" b="1" spc="-235" dirty="0">
                <a:latin typeface="Georgia"/>
                <a:cs typeface="Georgia"/>
              </a:rPr>
              <a:t>an</a:t>
            </a:r>
            <a:r>
              <a:rPr sz="1800" b="1" spc="-229" dirty="0">
                <a:latin typeface="Georgia"/>
                <a:cs typeface="Georgia"/>
              </a:rPr>
              <a:t> </a:t>
            </a:r>
            <a:r>
              <a:rPr sz="1800" b="1" spc="-180" dirty="0">
                <a:latin typeface="Georgia"/>
                <a:cs typeface="Georgia"/>
              </a:rPr>
              <a:t>ideal</a:t>
            </a:r>
            <a:r>
              <a:rPr sz="1800" b="1" spc="-175" dirty="0">
                <a:latin typeface="Georgia"/>
                <a:cs typeface="Georgia"/>
              </a:rPr>
              <a:t> </a:t>
            </a:r>
            <a:r>
              <a:rPr sz="1800" b="1" spc="-220" dirty="0">
                <a:latin typeface="Georgia"/>
                <a:cs typeface="Georgia"/>
              </a:rPr>
              <a:t>instrument </a:t>
            </a:r>
            <a:r>
              <a:rPr sz="1800" b="1" spc="-445" dirty="0">
                <a:latin typeface="Georgia"/>
                <a:cs typeface="Georgia"/>
              </a:rPr>
              <a:t> </a:t>
            </a:r>
            <a:r>
              <a:rPr sz="1800" b="1" spc="-280" dirty="0">
                <a:latin typeface="Georgia"/>
                <a:cs typeface="Georgia"/>
              </a:rPr>
              <a:t>w</a:t>
            </a:r>
            <a:r>
              <a:rPr sz="1800" b="1" spc="-145" dirty="0">
                <a:latin typeface="Georgia"/>
                <a:cs typeface="Georgia"/>
              </a:rPr>
              <a:t>i</a:t>
            </a:r>
            <a:r>
              <a:rPr sz="1800" b="1" spc="-150" dirty="0">
                <a:latin typeface="Georgia"/>
                <a:cs typeface="Georgia"/>
              </a:rPr>
              <a:t>t</a:t>
            </a:r>
            <a:r>
              <a:rPr sz="1800" b="1" spc="-235" dirty="0">
                <a:latin typeface="Georgia"/>
                <a:cs typeface="Georgia"/>
              </a:rPr>
              <a:t>h</a:t>
            </a:r>
            <a:r>
              <a:rPr sz="1800" b="1" spc="-210" dirty="0">
                <a:latin typeface="Georgia"/>
                <a:cs typeface="Georgia"/>
              </a:rPr>
              <a:t>o</a:t>
            </a:r>
            <a:r>
              <a:rPr sz="1800" b="1" spc="-229" dirty="0">
                <a:latin typeface="Georgia"/>
                <a:cs typeface="Georgia"/>
              </a:rPr>
              <a:t>u</a:t>
            </a:r>
            <a:r>
              <a:rPr sz="1800" b="1" spc="-155" dirty="0">
                <a:latin typeface="Georgia"/>
                <a:cs typeface="Georgia"/>
              </a:rPr>
              <a:t>t</a:t>
            </a:r>
            <a:r>
              <a:rPr sz="1800" b="1" spc="-5" dirty="0">
                <a:latin typeface="Georgia"/>
                <a:cs typeface="Georgia"/>
              </a:rPr>
              <a:t> </a:t>
            </a:r>
            <a:r>
              <a:rPr sz="1800" b="1" spc="-30" dirty="0">
                <a:latin typeface="Georgia"/>
                <a:cs typeface="Georgia"/>
              </a:rPr>
              <a:t>E</a:t>
            </a:r>
            <a:r>
              <a:rPr sz="1800" b="1" spc="-315" dirty="0">
                <a:latin typeface="Georgia"/>
                <a:cs typeface="Georgia"/>
              </a:rPr>
              <a:t>r</a:t>
            </a:r>
            <a:r>
              <a:rPr sz="1800" b="1" spc="-245" dirty="0">
                <a:latin typeface="Georgia"/>
                <a:cs typeface="Georgia"/>
              </a:rPr>
              <a:t>r</a:t>
            </a:r>
            <a:r>
              <a:rPr sz="1800" b="1" spc="-290" dirty="0">
                <a:latin typeface="Georgia"/>
                <a:cs typeface="Georgia"/>
              </a:rPr>
              <a:t>o</a:t>
            </a:r>
            <a:r>
              <a:rPr sz="1800" b="1" spc="-225" dirty="0">
                <a:latin typeface="Georgia"/>
                <a:cs typeface="Georgia"/>
              </a:rPr>
              <a:t>r.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7645" y="2819387"/>
            <a:ext cx="2156460" cy="1171955"/>
          </a:xfrm>
          <a:prstGeom prst="rect">
            <a:avLst/>
          </a:prstGeom>
        </p:spPr>
        <p:txBody>
          <a:bodyPr vert="horz" wrap="square" lIns="0" tIns="55721" rIns="0" bIns="0" rtlCol="0">
            <a:spAutoFit/>
          </a:bodyPr>
          <a:lstStyle/>
          <a:p>
            <a:pPr marL="9525" marR="3810" algn="just">
              <a:lnSpc>
                <a:spcPts val="2918"/>
              </a:lnSpc>
              <a:spcBef>
                <a:spcPts val="439"/>
              </a:spcBef>
            </a:pPr>
            <a:r>
              <a:rPr sz="2700" spc="307" dirty="0">
                <a:solidFill>
                  <a:srgbClr val="FFFFFF"/>
                </a:solidFill>
                <a:latin typeface="Cambria"/>
                <a:cs typeface="Cambria"/>
              </a:rPr>
              <a:t>B.</a:t>
            </a:r>
            <a:r>
              <a:rPr sz="2700" spc="12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00" spc="146" dirty="0">
                <a:solidFill>
                  <a:srgbClr val="FFFFFF"/>
                </a:solidFill>
                <a:latin typeface="Cambria"/>
                <a:cs typeface="Cambria"/>
              </a:rPr>
              <a:t>Reduction </a:t>
            </a:r>
            <a:r>
              <a:rPr sz="2700" spc="-5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00" spc="41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2700" spc="135" dirty="0">
                <a:solidFill>
                  <a:srgbClr val="FFFFFF"/>
                </a:solidFill>
                <a:latin typeface="Cambria"/>
                <a:cs typeface="Cambria"/>
              </a:rPr>
              <a:t>systematic </a:t>
            </a:r>
            <a:r>
              <a:rPr sz="2700" spc="-5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700" spc="64" dirty="0">
                <a:solidFill>
                  <a:srgbClr val="FFFFFF"/>
                </a:solidFill>
                <a:latin typeface="Cambria"/>
                <a:cs typeface="Cambria"/>
              </a:rPr>
              <a:t>errors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629" y="5769026"/>
            <a:ext cx="311944" cy="1019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00" dirty="0">
                <a:solidFill>
                  <a:srgbClr val="FFFFFF"/>
                </a:solidFill>
                <a:latin typeface="Calibri"/>
                <a:cs typeface="Calibri"/>
              </a:rPr>
              <a:t>4/6/2022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3757" y="5769026"/>
            <a:ext cx="387191" cy="1019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00" spc="-4" dirty="0">
                <a:solidFill>
                  <a:srgbClr val="696363"/>
                </a:solidFill>
                <a:latin typeface="Calibri"/>
                <a:cs typeface="Calibri"/>
              </a:rPr>
              <a:t>LE</a:t>
            </a:r>
            <a:r>
              <a:rPr sz="600" dirty="0">
                <a:solidFill>
                  <a:srgbClr val="696363"/>
                </a:solidFill>
                <a:latin typeface="Calibri"/>
                <a:cs typeface="Calibri"/>
              </a:rPr>
              <a:t>CTU</a:t>
            </a:r>
            <a:r>
              <a:rPr sz="600" spc="-4" dirty="0">
                <a:solidFill>
                  <a:srgbClr val="696363"/>
                </a:solidFill>
                <a:latin typeface="Calibri"/>
                <a:cs typeface="Calibri"/>
              </a:rPr>
              <a:t>R</a:t>
            </a:r>
            <a:r>
              <a:rPr sz="600" dirty="0">
                <a:solidFill>
                  <a:srgbClr val="696363"/>
                </a:solidFill>
                <a:latin typeface="Calibri"/>
                <a:cs typeface="Calibri"/>
              </a:rPr>
              <a:t>E</a:t>
            </a:r>
            <a:r>
              <a:rPr sz="600" spc="-26" dirty="0">
                <a:solidFill>
                  <a:srgbClr val="696363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696363"/>
                </a:solidFill>
                <a:latin typeface="Calibri"/>
                <a:cs typeface="Calibri"/>
              </a:rPr>
              <a:t>04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5324" y="5769254"/>
            <a:ext cx="97154" cy="1019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00" dirty="0">
                <a:solidFill>
                  <a:srgbClr val="696363"/>
                </a:solidFill>
                <a:latin typeface="Calibri"/>
                <a:cs typeface="Calibri"/>
              </a:rPr>
              <a:t>15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36700" y="1462848"/>
            <a:ext cx="809625" cy="809625"/>
            <a:chOff x="5806440" y="1117091"/>
            <a:chExt cx="1079500" cy="1079500"/>
          </a:xfrm>
        </p:grpSpPr>
        <p:sp>
          <p:nvSpPr>
            <p:cNvPr id="8" name="object 8"/>
            <p:cNvSpPr/>
            <p:nvPr/>
          </p:nvSpPr>
          <p:spPr>
            <a:xfrm>
              <a:off x="5806440" y="1117091"/>
              <a:ext cx="1079500" cy="1079500"/>
            </a:xfrm>
            <a:custGeom>
              <a:avLst/>
              <a:gdLst/>
              <a:ahLst/>
              <a:cxnLst/>
              <a:rect l="l" t="t" r="r" b="b"/>
              <a:pathLst>
                <a:path w="1079500" h="1079500">
                  <a:moveTo>
                    <a:pt x="1078991" y="0"/>
                  </a:moveTo>
                  <a:lnTo>
                    <a:pt x="320801" y="0"/>
                  </a:lnTo>
                  <a:lnTo>
                    <a:pt x="273398" y="3478"/>
                  </a:lnTo>
                  <a:lnTo>
                    <a:pt x="228153" y="13583"/>
                  </a:lnTo>
                  <a:lnTo>
                    <a:pt x="185563" y="29817"/>
                  </a:lnTo>
                  <a:lnTo>
                    <a:pt x="146125" y="51685"/>
                  </a:lnTo>
                  <a:lnTo>
                    <a:pt x="110335" y="78690"/>
                  </a:lnTo>
                  <a:lnTo>
                    <a:pt x="78690" y="110335"/>
                  </a:lnTo>
                  <a:lnTo>
                    <a:pt x="51685" y="146125"/>
                  </a:lnTo>
                  <a:lnTo>
                    <a:pt x="29817" y="185563"/>
                  </a:lnTo>
                  <a:lnTo>
                    <a:pt x="13583" y="228153"/>
                  </a:lnTo>
                  <a:lnTo>
                    <a:pt x="3478" y="273398"/>
                  </a:lnTo>
                  <a:lnTo>
                    <a:pt x="0" y="320802"/>
                  </a:lnTo>
                  <a:lnTo>
                    <a:pt x="0" y="1078992"/>
                  </a:lnTo>
                  <a:lnTo>
                    <a:pt x="758189" y="1078992"/>
                  </a:lnTo>
                  <a:lnTo>
                    <a:pt x="805593" y="1075513"/>
                  </a:lnTo>
                  <a:lnTo>
                    <a:pt x="850838" y="1065408"/>
                  </a:lnTo>
                  <a:lnTo>
                    <a:pt x="893428" y="1049174"/>
                  </a:lnTo>
                  <a:lnTo>
                    <a:pt x="932866" y="1027306"/>
                  </a:lnTo>
                  <a:lnTo>
                    <a:pt x="968656" y="1000301"/>
                  </a:lnTo>
                  <a:lnTo>
                    <a:pt x="1000301" y="968656"/>
                  </a:lnTo>
                  <a:lnTo>
                    <a:pt x="1027306" y="932866"/>
                  </a:lnTo>
                  <a:lnTo>
                    <a:pt x="1049174" y="893428"/>
                  </a:lnTo>
                  <a:lnTo>
                    <a:pt x="1065408" y="850838"/>
                  </a:lnTo>
                  <a:lnTo>
                    <a:pt x="1075513" y="805593"/>
                  </a:lnTo>
                  <a:lnTo>
                    <a:pt x="1078991" y="758190"/>
                  </a:lnTo>
                  <a:lnTo>
                    <a:pt x="1078991" y="0"/>
                  </a:lnTo>
                  <a:close/>
                </a:path>
              </a:pathLst>
            </a:custGeom>
            <a:solidFill>
              <a:srgbClr val="EECF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6564" y="1347215"/>
              <a:ext cx="618743" cy="618743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15512" y="2607959"/>
            <a:ext cx="1226058" cy="619112"/>
          </a:xfrm>
          <a:prstGeom prst="rect">
            <a:avLst/>
          </a:prstGeom>
        </p:spPr>
        <p:txBody>
          <a:bodyPr vert="horz" wrap="square" lIns="0" tIns="24288" rIns="0" bIns="0" rtlCol="0">
            <a:spAutoFit/>
          </a:bodyPr>
          <a:lstStyle/>
          <a:p>
            <a:pPr marL="9525" marR="3810" indent="-476" algn="ctr">
              <a:lnSpc>
                <a:spcPct val="91600"/>
              </a:lnSpc>
              <a:spcBef>
                <a:spcPts val="191"/>
              </a:spcBef>
            </a:pPr>
            <a:r>
              <a:rPr sz="1400" spc="-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CAREFUL </a:t>
            </a:r>
            <a:r>
              <a:rPr sz="1400" spc="-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  <a:r>
              <a:rPr sz="1400" spc="-1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400" spc="-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TRUMENT  DESIGN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36700" y="3704167"/>
            <a:ext cx="809625" cy="809625"/>
            <a:chOff x="7883652" y="1117091"/>
            <a:chExt cx="1079500" cy="1079500"/>
          </a:xfrm>
        </p:grpSpPr>
        <p:sp>
          <p:nvSpPr>
            <p:cNvPr id="12" name="object 12"/>
            <p:cNvSpPr/>
            <p:nvPr/>
          </p:nvSpPr>
          <p:spPr>
            <a:xfrm>
              <a:off x="7883652" y="1117091"/>
              <a:ext cx="1079500" cy="1079500"/>
            </a:xfrm>
            <a:custGeom>
              <a:avLst/>
              <a:gdLst/>
              <a:ahLst/>
              <a:cxnLst/>
              <a:rect l="l" t="t" r="r" b="b"/>
              <a:pathLst>
                <a:path w="1079500" h="1079500">
                  <a:moveTo>
                    <a:pt x="1078992" y="0"/>
                  </a:moveTo>
                  <a:lnTo>
                    <a:pt x="320801" y="0"/>
                  </a:lnTo>
                  <a:lnTo>
                    <a:pt x="273398" y="3478"/>
                  </a:lnTo>
                  <a:lnTo>
                    <a:pt x="228153" y="13583"/>
                  </a:lnTo>
                  <a:lnTo>
                    <a:pt x="185563" y="29817"/>
                  </a:lnTo>
                  <a:lnTo>
                    <a:pt x="146125" y="51685"/>
                  </a:lnTo>
                  <a:lnTo>
                    <a:pt x="110335" y="78690"/>
                  </a:lnTo>
                  <a:lnTo>
                    <a:pt x="78690" y="110335"/>
                  </a:lnTo>
                  <a:lnTo>
                    <a:pt x="51685" y="146125"/>
                  </a:lnTo>
                  <a:lnTo>
                    <a:pt x="29817" y="185563"/>
                  </a:lnTo>
                  <a:lnTo>
                    <a:pt x="13583" y="228153"/>
                  </a:lnTo>
                  <a:lnTo>
                    <a:pt x="3478" y="273398"/>
                  </a:lnTo>
                  <a:lnTo>
                    <a:pt x="0" y="320802"/>
                  </a:lnTo>
                  <a:lnTo>
                    <a:pt x="0" y="1078992"/>
                  </a:lnTo>
                  <a:lnTo>
                    <a:pt x="758190" y="1078992"/>
                  </a:lnTo>
                  <a:lnTo>
                    <a:pt x="805593" y="1075513"/>
                  </a:lnTo>
                  <a:lnTo>
                    <a:pt x="850838" y="1065408"/>
                  </a:lnTo>
                  <a:lnTo>
                    <a:pt x="893428" y="1049174"/>
                  </a:lnTo>
                  <a:lnTo>
                    <a:pt x="932866" y="1027306"/>
                  </a:lnTo>
                  <a:lnTo>
                    <a:pt x="968656" y="1000301"/>
                  </a:lnTo>
                  <a:lnTo>
                    <a:pt x="1000301" y="968656"/>
                  </a:lnTo>
                  <a:lnTo>
                    <a:pt x="1027306" y="932866"/>
                  </a:lnTo>
                  <a:lnTo>
                    <a:pt x="1049174" y="893428"/>
                  </a:lnTo>
                  <a:lnTo>
                    <a:pt x="1065408" y="850838"/>
                  </a:lnTo>
                  <a:lnTo>
                    <a:pt x="1075513" y="805593"/>
                  </a:lnTo>
                  <a:lnTo>
                    <a:pt x="1078992" y="758190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EECF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3776" y="1347215"/>
              <a:ext cx="618744" cy="61874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97601" y="4605349"/>
            <a:ext cx="1226058" cy="528960"/>
          </a:xfrm>
          <a:prstGeom prst="rect">
            <a:avLst/>
          </a:prstGeom>
        </p:spPr>
        <p:txBody>
          <a:bodyPr vert="horz" wrap="square" lIns="0" tIns="28099" rIns="0" bIns="0" rtlCol="0">
            <a:spAutoFit/>
          </a:bodyPr>
          <a:lstStyle/>
          <a:p>
            <a:pPr marL="9525" marR="3810" indent="188595">
              <a:lnSpc>
                <a:spcPts val="1313"/>
              </a:lnSpc>
              <a:spcBef>
                <a:spcPts val="221"/>
              </a:spcBef>
            </a:pP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</a:t>
            </a:r>
            <a:r>
              <a:rPr sz="1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OPPOSING</a:t>
            </a:r>
            <a:r>
              <a:rPr sz="1400" spc="-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30037" y="1659455"/>
            <a:ext cx="808196" cy="765125"/>
            <a:chOff x="9962388" y="1117091"/>
            <a:chExt cx="1077595" cy="1079500"/>
          </a:xfrm>
        </p:grpSpPr>
        <p:sp>
          <p:nvSpPr>
            <p:cNvPr id="16" name="object 16"/>
            <p:cNvSpPr/>
            <p:nvPr/>
          </p:nvSpPr>
          <p:spPr>
            <a:xfrm>
              <a:off x="9962388" y="1117091"/>
              <a:ext cx="1077595" cy="1079500"/>
            </a:xfrm>
            <a:custGeom>
              <a:avLst/>
              <a:gdLst/>
              <a:ahLst/>
              <a:cxnLst/>
              <a:rect l="l" t="t" r="r" b="b"/>
              <a:pathLst>
                <a:path w="1077595" h="1079500">
                  <a:moveTo>
                    <a:pt x="1077467" y="0"/>
                  </a:moveTo>
                  <a:lnTo>
                    <a:pt x="320293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8992"/>
                  </a:lnTo>
                  <a:lnTo>
                    <a:pt x="757173" y="1078992"/>
                  </a:lnTo>
                  <a:lnTo>
                    <a:pt x="804508" y="1075519"/>
                  </a:lnTo>
                  <a:lnTo>
                    <a:pt x="849685" y="1065432"/>
                  </a:lnTo>
                  <a:lnTo>
                    <a:pt x="892209" y="1049225"/>
                  </a:lnTo>
                  <a:lnTo>
                    <a:pt x="931585" y="1027395"/>
                  </a:lnTo>
                  <a:lnTo>
                    <a:pt x="967317" y="1000435"/>
                  </a:lnTo>
                  <a:lnTo>
                    <a:pt x="998911" y="968841"/>
                  </a:lnTo>
                  <a:lnTo>
                    <a:pt x="1025871" y="933109"/>
                  </a:lnTo>
                  <a:lnTo>
                    <a:pt x="1047701" y="893733"/>
                  </a:lnTo>
                  <a:lnTo>
                    <a:pt x="1063908" y="851209"/>
                  </a:lnTo>
                  <a:lnTo>
                    <a:pt x="1073995" y="806032"/>
                  </a:lnTo>
                  <a:lnTo>
                    <a:pt x="1077467" y="758698"/>
                  </a:lnTo>
                  <a:lnTo>
                    <a:pt x="1077467" y="0"/>
                  </a:lnTo>
                  <a:close/>
                </a:path>
              </a:pathLst>
            </a:custGeom>
            <a:solidFill>
              <a:srgbClr val="EECF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90988" y="1347215"/>
              <a:ext cx="618744" cy="61874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624208" y="2736391"/>
            <a:ext cx="1098156" cy="362247"/>
          </a:xfrm>
          <a:prstGeom prst="rect">
            <a:avLst/>
          </a:prstGeom>
        </p:spPr>
        <p:txBody>
          <a:bodyPr vert="horz" wrap="square" lIns="0" tIns="28099" rIns="0" bIns="0" rtlCol="0">
            <a:spAutoFit/>
          </a:bodyPr>
          <a:lstStyle/>
          <a:p>
            <a:pPr marL="35719" marR="3810" indent="-26670">
              <a:lnSpc>
                <a:spcPts val="1313"/>
              </a:lnSpc>
              <a:spcBef>
                <a:spcPts val="221"/>
              </a:spcBef>
            </a:pPr>
            <a:r>
              <a:rPr sz="1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-GA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sz="1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24200" y="1423987"/>
            <a:ext cx="809625" cy="808196"/>
            <a:chOff x="5806440" y="3681984"/>
            <a:chExt cx="1079500" cy="1077595"/>
          </a:xfrm>
        </p:grpSpPr>
        <p:sp>
          <p:nvSpPr>
            <p:cNvPr id="20" name="object 20"/>
            <p:cNvSpPr/>
            <p:nvPr/>
          </p:nvSpPr>
          <p:spPr>
            <a:xfrm>
              <a:off x="5806440" y="3681984"/>
              <a:ext cx="1079500" cy="1077595"/>
            </a:xfrm>
            <a:custGeom>
              <a:avLst/>
              <a:gdLst/>
              <a:ahLst/>
              <a:cxnLst/>
              <a:rect l="l" t="t" r="r" b="b"/>
              <a:pathLst>
                <a:path w="1079500" h="1077595">
                  <a:moveTo>
                    <a:pt x="1078991" y="0"/>
                  </a:moveTo>
                  <a:lnTo>
                    <a:pt x="320294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8698" y="1077468"/>
                  </a:lnTo>
                  <a:lnTo>
                    <a:pt x="806032" y="1073995"/>
                  </a:lnTo>
                  <a:lnTo>
                    <a:pt x="851209" y="1063908"/>
                  </a:lnTo>
                  <a:lnTo>
                    <a:pt x="893733" y="1047701"/>
                  </a:lnTo>
                  <a:lnTo>
                    <a:pt x="933109" y="1025871"/>
                  </a:lnTo>
                  <a:lnTo>
                    <a:pt x="968841" y="998911"/>
                  </a:lnTo>
                  <a:lnTo>
                    <a:pt x="1000435" y="967317"/>
                  </a:lnTo>
                  <a:lnTo>
                    <a:pt x="1027395" y="931585"/>
                  </a:lnTo>
                  <a:lnTo>
                    <a:pt x="1049225" y="892209"/>
                  </a:lnTo>
                  <a:lnTo>
                    <a:pt x="1065432" y="849685"/>
                  </a:lnTo>
                  <a:lnTo>
                    <a:pt x="1075519" y="804508"/>
                  </a:lnTo>
                  <a:lnTo>
                    <a:pt x="1078991" y="757174"/>
                  </a:lnTo>
                  <a:lnTo>
                    <a:pt x="1078991" y="0"/>
                  </a:lnTo>
                  <a:close/>
                </a:path>
              </a:pathLst>
            </a:custGeom>
            <a:solidFill>
              <a:srgbClr val="EECF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6564" y="3910584"/>
              <a:ext cx="618743" cy="61874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915792" y="2585065"/>
            <a:ext cx="1226058" cy="224581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69719" y="3837052"/>
            <a:ext cx="809625" cy="808196"/>
            <a:chOff x="7883652" y="3681984"/>
            <a:chExt cx="1079500" cy="1077595"/>
          </a:xfrm>
        </p:grpSpPr>
        <p:sp>
          <p:nvSpPr>
            <p:cNvPr id="24" name="object 24"/>
            <p:cNvSpPr/>
            <p:nvPr/>
          </p:nvSpPr>
          <p:spPr>
            <a:xfrm>
              <a:off x="7883652" y="3681984"/>
              <a:ext cx="1079500" cy="1077595"/>
            </a:xfrm>
            <a:custGeom>
              <a:avLst/>
              <a:gdLst/>
              <a:ahLst/>
              <a:cxnLst/>
              <a:rect l="l" t="t" r="r" b="b"/>
              <a:pathLst>
                <a:path w="1079500" h="1077595">
                  <a:moveTo>
                    <a:pt x="1078992" y="0"/>
                  </a:moveTo>
                  <a:lnTo>
                    <a:pt x="320294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8698" y="1077468"/>
                  </a:lnTo>
                  <a:lnTo>
                    <a:pt x="806032" y="1073995"/>
                  </a:lnTo>
                  <a:lnTo>
                    <a:pt x="851209" y="1063908"/>
                  </a:lnTo>
                  <a:lnTo>
                    <a:pt x="893733" y="1047701"/>
                  </a:lnTo>
                  <a:lnTo>
                    <a:pt x="933109" y="1025871"/>
                  </a:lnTo>
                  <a:lnTo>
                    <a:pt x="968841" y="998911"/>
                  </a:lnTo>
                  <a:lnTo>
                    <a:pt x="1000435" y="967317"/>
                  </a:lnTo>
                  <a:lnTo>
                    <a:pt x="1027395" y="931585"/>
                  </a:lnTo>
                  <a:lnTo>
                    <a:pt x="1049225" y="892209"/>
                  </a:lnTo>
                  <a:lnTo>
                    <a:pt x="1065432" y="849685"/>
                  </a:lnTo>
                  <a:lnTo>
                    <a:pt x="1075519" y="804508"/>
                  </a:lnTo>
                  <a:lnTo>
                    <a:pt x="1078992" y="757174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EECF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13776" y="3910584"/>
              <a:ext cx="618744" cy="61874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810828" y="4816698"/>
            <a:ext cx="1342929" cy="817306"/>
          </a:xfrm>
          <a:prstGeom prst="rect">
            <a:avLst/>
          </a:prstGeom>
        </p:spPr>
        <p:txBody>
          <a:bodyPr vert="horz" wrap="square" lIns="0" tIns="24288" rIns="0" bIns="0" rtlCol="0">
            <a:spAutoFit/>
          </a:bodyPr>
          <a:lstStyle/>
          <a:p>
            <a:pPr marL="9525" marR="3810" indent="1429" algn="ctr">
              <a:lnSpc>
                <a:spcPct val="91600"/>
              </a:lnSpc>
              <a:spcBef>
                <a:spcPts val="191"/>
              </a:spcBef>
            </a:pPr>
            <a:r>
              <a:rPr sz="1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CORRECTION OF 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</a:t>
            </a:r>
            <a:r>
              <a:rPr sz="1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877920" y="3759363"/>
            <a:ext cx="808196" cy="808196"/>
            <a:chOff x="9962388" y="3681984"/>
            <a:chExt cx="1077595" cy="1077595"/>
          </a:xfrm>
        </p:grpSpPr>
        <p:sp>
          <p:nvSpPr>
            <p:cNvPr id="28" name="object 28"/>
            <p:cNvSpPr/>
            <p:nvPr/>
          </p:nvSpPr>
          <p:spPr>
            <a:xfrm>
              <a:off x="9962388" y="3681984"/>
              <a:ext cx="1077595" cy="1077595"/>
            </a:xfrm>
            <a:custGeom>
              <a:avLst/>
              <a:gdLst/>
              <a:ahLst/>
              <a:cxnLst/>
              <a:rect l="l" t="t" r="r" b="b"/>
              <a:pathLst>
                <a:path w="1077595" h="1077595">
                  <a:moveTo>
                    <a:pt x="1077467" y="0"/>
                  </a:moveTo>
                  <a:lnTo>
                    <a:pt x="320293" y="0"/>
                  </a:lnTo>
                  <a:lnTo>
                    <a:pt x="272959" y="3472"/>
                  </a:lnTo>
                  <a:lnTo>
                    <a:pt x="227782" y="13559"/>
                  </a:lnTo>
                  <a:lnTo>
                    <a:pt x="185258" y="29766"/>
                  </a:lnTo>
                  <a:lnTo>
                    <a:pt x="145882" y="51596"/>
                  </a:lnTo>
                  <a:lnTo>
                    <a:pt x="110150" y="78556"/>
                  </a:lnTo>
                  <a:lnTo>
                    <a:pt x="78556" y="110150"/>
                  </a:lnTo>
                  <a:lnTo>
                    <a:pt x="51596" y="145882"/>
                  </a:lnTo>
                  <a:lnTo>
                    <a:pt x="29766" y="185258"/>
                  </a:lnTo>
                  <a:lnTo>
                    <a:pt x="13559" y="227782"/>
                  </a:lnTo>
                  <a:lnTo>
                    <a:pt x="3472" y="272959"/>
                  </a:lnTo>
                  <a:lnTo>
                    <a:pt x="0" y="320294"/>
                  </a:lnTo>
                  <a:lnTo>
                    <a:pt x="0" y="1077468"/>
                  </a:lnTo>
                  <a:lnTo>
                    <a:pt x="757173" y="1077468"/>
                  </a:lnTo>
                  <a:lnTo>
                    <a:pt x="804508" y="1073995"/>
                  </a:lnTo>
                  <a:lnTo>
                    <a:pt x="849685" y="1063908"/>
                  </a:lnTo>
                  <a:lnTo>
                    <a:pt x="892209" y="1047701"/>
                  </a:lnTo>
                  <a:lnTo>
                    <a:pt x="931585" y="1025871"/>
                  </a:lnTo>
                  <a:lnTo>
                    <a:pt x="967317" y="998911"/>
                  </a:lnTo>
                  <a:lnTo>
                    <a:pt x="998911" y="967317"/>
                  </a:lnTo>
                  <a:lnTo>
                    <a:pt x="1025871" y="931585"/>
                  </a:lnTo>
                  <a:lnTo>
                    <a:pt x="1047701" y="892209"/>
                  </a:lnTo>
                  <a:lnTo>
                    <a:pt x="1063908" y="849685"/>
                  </a:lnTo>
                  <a:lnTo>
                    <a:pt x="1073995" y="804508"/>
                  </a:lnTo>
                  <a:lnTo>
                    <a:pt x="1077467" y="757174"/>
                  </a:lnTo>
                  <a:lnTo>
                    <a:pt x="1077467" y="0"/>
                  </a:lnTo>
                  <a:close/>
                </a:path>
              </a:pathLst>
            </a:custGeom>
            <a:solidFill>
              <a:srgbClr val="EECFC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90988" y="3910584"/>
              <a:ext cx="618744" cy="61874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730037" y="4727416"/>
            <a:ext cx="1251889" cy="36821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64294">
              <a:lnSpc>
                <a:spcPts val="1376"/>
              </a:lnSpc>
              <a:spcBef>
                <a:spcPts val="71"/>
              </a:spcBef>
            </a:pP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">
              <a:lnSpc>
                <a:spcPts val="1376"/>
              </a:lnSpc>
            </a:pP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4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sz="14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</a:t>
            </a:r>
            <a:r>
              <a:rPr sz="14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4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1B1CE1-8526-B487-162A-97F68579C688}"/>
              </a:ext>
            </a:extLst>
          </p:cNvPr>
          <p:cNvSpPr txBox="1"/>
          <p:nvPr/>
        </p:nvSpPr>
        <p:spPr>
          <a:xfrm>
            <a:off x="1101546" y="87375"/>
            <a:ext cx="6975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</a:t>
            </a:r>
            <a:r>
              <a:rPr lang="en-GB" sz="3200" spc="-7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GB" sz="32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systematic </a:t>
            </a:r>
            <a:r>
              <a:rPr lang="en-GB" sz="3200" spc="-7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endParaRPr lang="en-B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890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>
            <a:extLst>
              <a:ext uri="{FF2B5EF4-FFF2-40B4-BE49-F238E27FC236}">
                <a16:creationId xmlns:a16="http://schemas.microsoft.com/office/drawing/2014/main" id="{268063C4-DF9F-7489-406C-441A066C0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688975"/>
            <a:ext cx="7772400" cy="5111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ERROR IN MEASUREMENT</a:t>
            </a:r>
            <a:endParaRPr lang="en-US" sz="4000"/>
          </a:p>
        </p:txBody>
      </p:sp>
      <p:sp>
        <p:nvSpPr>
          <p:cNvPr id="1843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1E93BA-35EB-E139-8F99-5C23DD990B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341632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Measurement always introduce error </a:t>
            </a:r>
          </a:p>
          <a:p>
            <a:pPr eaLnBrk="1" hangingPunct="1"/>
            <a:r>
              <a:rPr lang="en-US" altLang="en-US" sz="2200" dirty="0"/>
              <a:t>Error may be expressed either as absolute or percentage of error</a:t>
            </a:r>
          </a:p>
          <a:p>
            <a:pPr eaLnBrk="1" hangingPunct="1"/>
            <a:endParaRPr lang="en-US" altLang="en-US" sz="2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	Absolute error, e =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		where        – expected value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	                               – measured value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       	% error =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	</a:t>
            </a:r>
          </a:p>
        </p:txBody>
      </p:sp>
      <p:graphicFrame>
        <p:nvGraphicFramePr>
          <p:cNvPr id="18436" name="Object 5">
            <a:extLst>
              <a:ext uri="{FF2B5EF4-FFF2-40B4-BE49-F238E27FC236}">
                <a16:creationId xmlns:a16="http://schemas.microsoft.com/office/drawing/2014/main" id="{6C8F01DC-4FA9-B129-413A-539C18D50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18436" name="Object 5">
                        <a:extLst>
                          <a:ext uri="{FF2B5EF4-FFF2-40B4-BE49-F238E27FC236}">
                            <a16:creationId xmlns:a16="http://schemas.microsoft.com/office/drawing/2014/main" id="{6C8F01DC-4FA9-B129-413A-539C18D502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11">
            <a:extLst>
              <a:ext uri="{FF2B5EF4-FFF2-40B4-BE49-F238E27FC236}">
                <a16:creationId xmlns:a16="http://schemas.microsoft.com/office/drawing/2014/main" id="{8BA88D74-4DFA-0A4E-D967-B4C9D7D30B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4114800"/>
          <a:ext cx="17494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300" imgH="736600" progId="Equation.3">
                  <p:embed/>
                </p:oleObj>
              </mc:Choice>
              <mc:Fallback>
                <p:oleObj name="Equation" r:id="rId4" imgW="1511300" imgH="736600" progId="Equation.3">
                  <p:embed/>
                  <p:pic>
                    <p:nvPicPr>
                      <p:cNvPr id="18437" name="Object 11">
                        <a:extLst>
                          <a:ext uri="{FF2B5EF4-FFF2-40B4-BE49-F238E27FC236}">
                            <a16:creationId xmlns:a16="http://schemas.microsoft.com/office/drawing/2014/main" id="{8BA88D74-4DFA-0A4E-D967-B4C9D7D30B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114800"/>
                        <a:ext cx="1749425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5">
            <a:extLst>
              <a:ext uri="{FF2B5EF4-FFF2-40B4-BE49-F238E27FC236}">
                <a16:creationId xmlns:a16="http://schemas.microsoft.com/office/drawing/2014/main" id="{97BAF37E-6CA7-61E7-F48D-9B37C593DE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857815"/>
              </p:ext>
            </p:extLst>
          </p:nvPr>
        </p:nvGraphicFramePr>
        <p:xfrm>
          <a:off x="4760912" y="2381250"/>
          <a:ext cx="16002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091" imgH="126890" progId="Equation.3">
                  <p:embed/>
                </p:oleObj>
              </mc:Choice>
              <mc:Fallback>
                <p:oleObj name="Equation" r:id="rId6" imgW="241091" imgH="126890" progId="Equation.3">
                  <p:embed/>
                  <p:pic>
                    <p:nvPicPr>
                      <p:cNvPr id="18438" name="Object 15">
                        <a:extLst>
                          <a:ext uri="{FF2B5EF4-FFF2-40B4-BE49-F238E27FC236}">
                            <a16:creationId xmlns:a16="http://schemas.microsoft.com/office/drawing/2014/main" id="{97BAF37E-6CA7-61E7-F48D-9B37C593DE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2" y="2381250"/>
                        <a:ext cx="16002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17">
            <a:extLst>
              <a:ext uri="{FF2B5EF4-FFF2-40B4-BE49-F238E27FC236}">
                <a16:creationId xmlns:a16="http://schemas.microsoft.com/office/drawing/2014/main" id="{B8F69E59-B224-74B1-33AC-AAB5D63B8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3124200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28" imgH="228501" progId="Equation.3">
                  <p:embed/>
                </p:oleObj>
              </mc:Choice>
              <mc:Fallback>
                <p:oleObj name="Equation" r:id="rId8" imgW="165028" imgH="228501" progId="Equation.3">
                  <p:embed/>
                  <p:pic>
                    <p:nvPicPr>
                      <p:cNvPr id="18439" name="Object 17">
                        <a:extLst>
                          <a:ext uri="{FF2B5EF4-FFF2-40B4-BE49-F238E27FC236}">
                            <a16:creationId xmlns:a16="http://schemas.microsoft.com/office/drawing/2014/main" id="{B8F69E59-B224-74B1-33AC-AAB5D63B85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124200"/>
                        <a:ext cx="3857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19">
            <a:extLst>
              <a:ext uri="{FF2B5EF4-FFF2-40B4-BE49-F238E27FC236}">
                <a16:creationId xmlns:a16="http://schemas.microsoft.com/office/drawing/2014/main" id="{792B6A9A-855E-7BA6-47E8-45F7413F7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950" y="3505200"/>
          <a:ext cx="6032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518" imgH="126835" progId="Equation.3">
                  <p:embed/>
                </p:oleObj>
              </mc:Choice>
              <mc:Fallback>
                <p:oleObj name="Equation" r:id="rId10" imgW="139518" imgH="126835" progId="Equation.3">
                  <p:embed/>
                  <p:pic>
                    <p:nvPicPr>
                      <p:cNvPr id="18440" name="Object 19">
                        <a:extLst>
                          <a:ext uri="{FF2B5EF4-FFF2-40B4-BE49-F238E27FC236}">
                            <a16:creationId xmlns:a16="http://schemas.microsoft.com/office/drawing/2014/main" id="{792B6A9A-855E-7BA6-47E8-45F7413F7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3505200"/>
                        <a:ext cx="6032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Espace réservé du numéro de diapositive 8">
            <a:extLst>
              <a:ext uri="{FF2B5EF4-FFF2-40B4-BE49-F238E27FC236}">
                <a16:creationId xmlns:a16="http://schemas.microsoft.com/office/drawing/2014/main" id="{DFF7C8A6-2ACA-D057-8CB8-73744B56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>
            <a:extLst>
              <a:ext uri="{FF2B5EF4-FFF2-40B4-BE49-F238E27FC236}">
                <a16:creationId xmlns:a16="http://schemas.microsoft.com/office/drawing/2014/main" id="{D6F70418-D4C2-494D-14EE-3E64E14BB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688975"/>
            <a:ext cx="7772400" cy="5111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ERROR IN MEASUREMENT</a:t>
            </a:r>
          </a:p>
        </p:txBody>
      </p:sp>
      <p:sp>
        <p:nvSpPr>
          <p:cNvPr id="194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22A96E3-8F0B-509D-EF67-DEDF9ACDC9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062651"/>
          </a:xfrm>
        </p:spPr>
        <p:txBody>
          <a:bodyPr/>
          <a:lstStyle/>
          <a:p>
            <a:pPr marL="1035050" lvl="1" indent="-577850" eaLnBrk="1" hangingPunct="1"/>
            <a:endParaRPr lang="en-US" altLang="en-US" sz="2400" dirty="0"/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Relative  accuracy, 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	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	% Accuracy, a = 100% - % error</a:t>
            </a:r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                    = </a:t>
            </a:r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</a:t>
            </a:r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Precision, P = 	</a:t>
            </a:r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where       -  value of the n</a:t>
            </a:r>
            <a:r>
              <a:rPr lang="en-US" altLang="en-US" sz="2200" baseline="30000" dirty="0"/>
              <a:t>th</a:t>
            </a:r>
            <a:r>
              <a:rPr lang="en-US" altLang="en-US" sz="2200" dirty="0"/>
              <a:t> measurement</a:t>
            </a:r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                            -     average set of measurement</a:t>
            </a:r>
          </a:p>
          <a:p>
            <a:pPr marL="1035050" lvl="1" indent="-577850" eaLnBrk="1" hangingPunct="1">
              <a:buFont typeface="Wingdings" panose="05000000000000000000" pitchFamily="2" charset="2"/>
              <a:buNone/>
            </a:pPr>
            <a:endParaRPr lang="en-US" altLang="en-US" sz="2000" dirty="0"/>
          </a:p>
        </p:txBody>
      </p:sp>
      <p:graphicFrame>
        <p:nvGraphicFramePr>
          <p:cNvPr id="19460" name="Object 8">
            <a:extLst>
              <a:ext uri="{FF2B5EF4-FFF2-40B4-BE49-F238E27FC236}">
                <a16:creationId xmlns:a16="http://schemas.microsoft.com/office/drawing/2014/main" id="{3D258508-8052-2351-CB70-AED75D08B8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600200"/>
          <a:ext cx="21336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865" imgH="482391" progId="Equation.3">
                  <p:embed/>
                </p:oleObj>
              </mc:Choice>
              <mc:Fallback>
                <p:oleObj name="Equation" r:id="rId2" imgW="1002865" imgH="482391" progId="Equation.3">
                  <p:embed/>
                  <p:pic>
                    <p:nvPicPr>
                      <p:cNvPr id="19460" name="Object 8">
                        <a:extLst>
                          <a:ext uri="{FF2B5EF4-FFF2-40B4-BE49-F238E27FC236}">
                            <a16:creationId xmlns:a16="http://schemas.microsoft.com/office/drawing/2014/main" id="{3D258508-8052-2351-CB70-AED75D08B8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600200"/>
                        <a:ext cx="21336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12">
            <a:extLst>
              <a:ext uri="{FF2B5EF4-FFF2-40B4-BE49-F238E27FC236}">
                <a16:creationId xmlns:a16="http://schemas.microsoft.com/office/drawing/2014/main" id="{77F6D356-B84D-CE3B-E4CB-967BE5A57F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14509"/>
              </p:ext>
            </p:extLst>
          </p:nvPr>
        </p:nvGraphicFramePr>
        <p:xfrm>
          <a:off x="3411279" y="2815431"/>
          <a:ext cx="1066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181" imgH="177646" progId="Equation.3">
                  <p:embed/>
                </p:oleObj>
              </mc:Choice>
              <mc:Fallback>
                <p:oleObj name="Equation" r:id="rId4" imgW="482181" imgH="177646" progId="Equation.3">
                  <p:embed/>
                  <p:pic>
                    <p:nvPicPr>
                      <p:cNvPr id="19461" name="Object 12">
                        <a:extLst>
                          <a:ext uri="{FF2B5EF4-FFF2-40B4-BE49-F238E27FC236}">
                            <a16:creationId xmlns:a16="http://schemas.microsoft.com/office/drawing/2014/main" id="{77F6D356-B84D-CE3B-E4CB-967BE5A57F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279" y="2815431"/>
                        <a:ext cx="10668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5">
            <a:extLst>
              <a:ext uri="{FF2B5EF4-FFF2-40B4-BE49-F238E27FC236}">
                <a16:creationId xmlns:a16="http://schemas.microsoft.com/office/drawing/2014/main" id="{146BFE0B-C477-6D5D-C421-B45D6E129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297701"/>
              </p:ext>
            </p:extLst>
          </p:nvPr>
        </p:nvGraphicFramePr>
        <p:xfrm>
          <a:off x="2387341" y="4490484"/>
          <a:ext cx="433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806" imgH="228501" progId="Equation.3">
                  <p:embed/>
                </p:oleObj>
              </mc:Choice>
              <mc:Fallback>
                <p:oleObj name="Equation" r:id="rId6" imgW="215806" imgH="228501" progId="Equation.3">
                  <p:embed/>
                  <p:pic>
                    <p:nvPicPr>
                      <p:cNvPr id="19462" name="Object 15">
                        <a:extLst>
                          <a:ext uri="{FF2B5EF4-FFF2-40B4-BE49-F238E27FC236}">
                            <a16:creationId xmlns:a16="http://schemas.microsoft.com/office/drawing/2014/main" id="{146BFE0B-C477-6D5D-C421-B45D6E129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341" y="4490484"/>
                        <a:ext cx="433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6">
            <a:extLst>
              <a:ext uri="{FF2B5EF4-FFF2-40B4-BE49-F238E27FC236}">
                <a16:creationId xmlns:a16="http://schemas.microsoft.com/office/drawing/2014/main" id="{E715A245-5BE2-8866-7C5C-17026F34F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809937"/>
              </p:ext>
            </p:extLst>
          </p:nvPr>
        </p:nvGraphicFramePr>
        <p:xfrm>
          <a:off x="2819400" y="3527425"/>
          <a:ext cx="15240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00100" imgH="508000" progId="Equation.3">
                  <p:embed/>
                </p:oleObj>
              </mc:Choice>
              <mc:Fallback>
                <p:oleObj name="Equation" r:id="rId8" imgW="800100" imgH="508000" progId="Equation.3">
                  <p:embed/>
                  <p:pic>
                    <p:nvPicPr>
                      <p:cNvPr id="19463" name="Object 16">
                        <a:extLst>
                          <a:ext uri="{FF2B5EF4-FFF2-40B4-BE49-F238E27FC236}">
                            <a16:creationId xmlns:a16="http://schemas.microsoft.com/office/drawing/2014/main" id="{E715A245-5BE2-8866-7C5C-17026F34F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527425"/>
                        <a:ext cx="15240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22">
            <a:extLst>
              <a:ext uri="{FF2B5EF4-FFF2-40B4-BE49-F238E27FC236}">
                <a16:creationId xmlns:a16="http://schemas.microsoft.com/office/drawing/2014/main" id="{D94EECE3-66FD-AD58-19D0-50D48ACD3C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61996"/>
              </p:ext>
            </p:extLst>
          </p:nvPr>
        </p:nvGraphicFramePr>
        <p:xfrm>
          <a:off x="2317233" y="4876800"/>
          <a:ext cx="4333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501" imgH="253890" progId="Equation.3">
                  <p:embed/>
                </p:oleObj>
              </mc:Choice>
              <mc:Fallback>
                <p:oleObj name="Equation" r:id="rId10" imgW="228501" imgH="253890" progId="Equation.3">
                  <p:embed/>
                  <p:pic>
                    <p:nvPicPr>
                      <p:cNvPr id="19464" name="Object 22">
                        <a:extLst>
                          <a:ext uri="{FF2B5EF4-FFF2-40B4-BE49-F238E27FC236}">
                            <a16:creationId xmlns:a16="http://schemas.microsoft.com/office/drawing/2014/main" id="{D94EECE3-66FD-AD58-19D0-50D48ACD3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233" y="4876800"/>
                        <a:ext cx="4333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Espace réservé du numéro de diapositive 8">
            <a:extLst>
              <a:ext uri="{FF2B5EF4-FFF2-40B4-BE49-F238E27FC236}">
                <a16:creationId xmlns:a16="http://schemas.microsoft.com/office/drawing/2014/main" id="{DA36A8A3-791D-0974-BB92-3F12F36E1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4EE72F6-0016-7C5C-5A87-67ACBEB7FD84}"/>
              </a:ext>
            </a:extLst>
          </p:cNvPr>
          <p:cNvSpPr txBox="1"/>
          <p:nvPr/>
        </p:nvSpPr>
        <p:spPr>
          <a:xfrm>
            <a:off x="381000" y="766763"/>
            <a:ext cx="8229600" cy="4186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GB" sz="2000" dirty="0">
                <a:latin typeface="+mj-lt"/>
              </a:rPr>
              <a:t>The precision of a measurement is a quantitative or numerical indication of the closeness with which a repeated set of measurement of the same variable agree with the average set of measurements.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000" dirty="0">
              <a:latin typeface="+mj-lt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2000" b="1" dirty="0">
                <a:latin typeface="+mj-lt"/>
              </a:rPr>
              <a:t>Example 1.1</a:t>
            </a:r>
          </a:p>
          <a:p>
            <a:pPr marL="660400" indent="-660400" eaLnBrk="1" hangingPunct="1">
              <a:buFont typeface="Wingdings" pitchFamily="2" charset="2"/>
              <a:buNone/>
              <a:defRPr/>
            </a:pPr>
            <a:endParaRPr lang="en-US" sz="2200" dirty="0">
              <a:latin typeface="+mj-lt"/>
            </a:endParaRPr>
          </a:p>
          <a:p>
            <a:pPr marL="660400" indent="-660400" eaLnBrk="1" hangingPunct="1"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Given expected voltage value across a resistor is 80V.</a:t>
            </a:r>
          </a:p>
          <a:p>
            <a:pPr marL="660400" indent="-660400" eaLnBrk="1" hangingPunct="1">
              <a:buFont typeface="Wingdings" pitchFamily="2" charset="2"/>
              <a:buNone/>
              <a:defRPr/>
            </a:pPr>
            <a:r>
              <a:rPr lang="en-US" dirty="0">
                <a:latin typeface="+mj-lt"/>
              </a:rPr>
              <a:t>	The measurement is 79V.  Calculate,</a:t>
            </a:r>
          </a:p>
          <a:p>
            <a:pPr marL="1409700" lvl="2" indent="-495300" eaLnBrk="1" hangingPunct="1">
              <a:buFontTx/>
              <a:buAutoNum type="romanLcPeriod"/>
              <a:defRPr/>
            </a:pPr>
            <a:r>
              <a:rPr lang="en-US" dirty="0">
                <a:latin typeface="+mj-lt"/>
              </a:rPr>
              <a:t>The absolute error</a:t>
            </a:r>
          </a:p>
          <a:p>
            <a:pPr marL="1409700" lvl="2" indent="-495300" eaLnBrk="1" hangingPunct="1">
              <a:buFontTx/>
              <a:buAutoNum type="romanLcPeriod"/>
              <a:defRPr/>
            </a:pPr>
            <a:r>
              <a:rPr lang="en-US" dirty="0">
                <a:latin typeface="+mj-lt"/>
              </a:rPr>
              <a:t>The % of error</a:t>
            </a:r>
          </a:p>
          <a:p>
            <a:pPr marL="1409700" lvl="2" indent="-495300" eaLnBrk="1" hangingPunct="1">
              <a:buFontTx/>
              <a:buAutoNum type="romanLcPeriod"/>
              <a:defRPr/>
            </a:pPr>
            <a:r>
              <a:rPr lang="en-US" dirty="0">
                <a:latin typeface="+mj-lt"/>
              </a:rPr>
              <a:t>The relative accuracy</a:t>
            </a:r>
          </a:p>
          <a:p>
            <a:pPr marL="1409700" lvl="2" indent="-495300" eaLnBrk="1" hangingPunct="1">
              <a:buFontTx/>
              <a:buAutoNum type="romanLcPeriod"/>
              <a:defRPr/>
            </a:pPr>
            <a:r>
              <a:rPr lang="en-US" dirty="0">
                <a:latin typeface="+mj-lt"/>
              </a:rPr>
              <a:t>The % of accuracy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014DBF-EA59-3AA7-CB77-405B2378901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7772400" cy="558800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endParaRPr lang="en-US" sz="4000" dirty="0">
              <a:latin typeface="+mj-lt"/>
              <a:ea typeface="+mj-ea"/>
              <a:cs typeface="+mj-cs"/>
            </a:endParaRPr>
          </a:p>
        </p:txBody>
      </p:sp>
      <p:sp>
        <p:nvSpPr>
          <p:cNvPr id="20484" name="Espace réservé du numéro de diapositive 6">
            <a:extLst>
              <a:ext uri="{FF2B5EF4-FFF2-40B4-BE49-F238E27FC236}">
                <a16:creationId xmlns:a16="http://schemas.microsoft.com/office/drawing/2014/main" id="{67D5C636-4EFA-76E5-7BFD-3953A6227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6BD571-2138-47D6-8638-C19F52181165}" type="slidenum">
              <a:rPr lang="en-US" altLang="en-US" sz="1200">
                <a:solidFill>
                  <a:srgbClr val="898989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>
            <a:extLst>
              <a:ext uri="{FF2B5EF4-FFF2-40B4-BE49-F238E27FC236}">
                <a16:creationId xmlns:a16="http://schemas.microsoft.com/office/drawing/2014/main" id="{72871D71-95BF-AAD7-60C5-601B227FC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09588"/>
            <a:ext cx="7772400" cy="5127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>
                <a:solidFill>
                  <a:schemeClr val="hlink"/>
                </a:solidFill>
              </a:rPr>
              <a:t>Solution (Example 1.1)</a:t>
            </a:r>
          </a:p>
        </p:txBody>
      </p:sp>
      <p:sp>
        <p:nvSpPr>
          <p:cNvPr id="2150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E841111-750B-1D1F-E748-D37C69EE7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	Given that , expected value = 80V</a:t>
            </a:r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       		        measurement value = 79V</a:t>
            </a:r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	</a:t>
            </a:r>
            <a:r>
              <a:rPr lang="en-US" altLang="en-US" sz="2200" dirty="0" err="1"/>
              <a:t>i</a:t>
            </a:r>
            <a:r>
              <a:rPr lang="en-US" altLang="en-US" sz="2200" dirty="0"/>
              <a:t>.  Absolute error, e =               = 80V – 79V = 1V</a:t>
            </a:r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	ii. % error =                        =                        = 1.25%</a:t>
            </a:r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	iii. Relative accuracy,                             = 0.9875</a:t>
            </a:r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	</a:t>
            </a:r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iv. % accuracy, a = A x 100% = 0.9875 x 100%=98.75%</a:t>
            </a:r>
          </a:p>
          <a:p>
            <a:pPr marL="660400" indent="-6604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				</a:t>
            </a:r>
          </a:p>
        </p:txBody>
      </p:sp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id="{2BF5BE13-3377-9808-5BFD-95ED3DB005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11203"/>
              </p:ext>
            </p:extLst>
          </p:nvPr>
        </p:nvGraphicFramePr>
        <p:xfrm>
          <a:off x="3721045" y="2074070"/>
          <a:ext cx="12954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091" imgH="126890" progId="Equation.3">
                  <p:embed/>
                </p:oleObj>
              </mc:Choice>
              <mc:Fallback>
                <p:oleObj name="Equation" r:id="rId2" imgW="241091" imgH="126890" progId="Equation.3">
                  <p:embed/>
                  <p:pic>
                    <p:nvPicPr>
                      <p:cNvPr id="21508" name="Object 4">
                        <a:extLst>
                          <a:ext uri="{FF2B5EF4-FFF2-40B4-BE49-F238E27FC236}">
                            <a16:creationId xmlns:a16="http://schemas.microsoft.com/office/drawing/2014/main" id="{2BF5BE13-3377-9808-5BFD-95ED3DB005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045" y="2074070"/>
                        <a:ext cx="12954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8">
            <a:extLst>
              <a:ext uri="{FF2B5EF4-FFF2-40B4-BE49-F238E27FC236}">
                <a16:creationId xmlns:a16="http://schemas.microsoft.com/office/drawing/2014/main" id="{917C2E12-385A-0A3E-8B1F-84A8D4A52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975108"/>
              </p:ext>
            </p:extLst>
          </p:nvPr>
        </p:nvGraphicFramePr>
        <p:xfrm>
          <a:off x="4566557" y="2705102"/>
          <a:ext cx="16002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7836" imgH="393529" progId="Equation.3">
                  <p:embed/>
                </p:oleObj>
              </mc:Choice>
              <mc:Fallback>
                <p:oleObj name="Equation" r:id="rId4" imgW="837836" imgH="393529" progId="Equation.3">
                  <p:embed/>
                  <p:pic>
                    <p:nvPicPr>
                      <p:cNvPr id="21509" name="Object 8">
                        <a:extLst>
                          <a:ext uri="{FF2B5EF4-FFF2-40B4-BE49-F238E27FC236}">
                            <a16:creationId xmlns:a16="http://schemas.microsoft.com/office/drawing/2014/main" id="{917C2E12-385A-0A3E-8B1F-84A8D4A529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557" y="2705102"/>
                        <a:ext cx="16002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9">
            <a:extLst>
              <a:ext uri="{FF2B5EF4-FFF2-40B4-BE49-F238E27FC236}">
                <a16:creationId xmlns:a16="http://schemas.microsoft.com/office/drawing/2014/main" id="{B232F478-977A-88CD-F0B1-3328097AA8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813944"/>
              </p:ext>
            </p:extLst>
          </p:nvPr>
        </p:nvGraphicFramePr>
        <p:xfrm>
          <a:off x="2682820" y="2666208"/>
          <a:ext cx="16192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736600" progId="Equation.3">
                  <p:embed/>
                </p:oleObj>
              </mc:Choice>
              <mc:Fallback>
                <p:oleObj name="Equation" r:id="rId6" imgW="1511300" imgH="736600" progId="Equation.3">
                  <p:embed/>
                  <p:pic>
                    <p:nvPicPr>
                      <p:cNvPr id="21510" name="Object 9">
                        <a:extLst>
                          <a:ext uri="{FF2B5EF4-FFF2-40B4-BE49-F238E27FC236}">
                            <a16:creationId xmlns:a16="http://schemas.microsoft.com/office/drawing/2014/main" id="{B232F478-977A-88CD-F0B1-3328097AA8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20" y="2666208"/>
                        <a:ext cx="161925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10">
            <a:extLst>
              <a:ext uri="{FF2B5EF4-FFF2-40B4-BE49-F238E27FC236}">
                <a16:creationId xmlns:a16="http://schemas.microsoft.com/office/drawing/2014/main" id="{7C7F0AE6-C17D-1108-C735-E272A1858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315611"/>
              </p:ext>
            </p:extLst>
          </p:nvPr>
        </p:nvGraphicFramePr>
        <p:xfrm>
          <a:off x="3851332" y="3413051"/>
          <a:ext cx="1981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865" imgH="482391" progId="Equation.3">
                  <p:embed/>
                </p:oleObj>
              </mc:Choice>
              <mc:Fallback>
                <p:oleObj name="Equation" r:id="rId8" imgW="1002865" imgH="482391" progId="Equation.3">
                  <p:embed/>
                  <p:pic>
                    <p:nvPicPr>
                      <p:cNvPr id="21511" name="Object 10">
                        <a:extLst>
                          <a:ext uri="{FF2B5EF4-FFF2-40B4-BE49-F238E27FC236}">
                            <a16:creationId xmlns:a16="http://schemas.microsoft.com/office/drawing/2014/main" id="{7C7F0AE6-C17D-1108-C735-E272A18587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332" y="3413051"/>
                        <a:ext cx="1981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Espace réservé du numéro de diapositive 7">
            <a:extLst>
              <a:ext uri="{FF2B5EF4-FFF2-40B4-BE49-F238E27FC236}">
                <a16:creationId xmlns:a16="http://schemas.microsoft.com/office/drawing/2014/main" id="{0C7D8623-95D1-A9F8-3A7B-E5EE432F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2">
            <a:extLst>
              <a:ext uri="{FF2B5EF4-FFF2-40B4-BE49-F238E27FC236}">
                <a16:creationId xmlns:a16="http://schemas.microsoft.com/office/drawing/2014/main" id="{53F0B27D-723D-AB85-8EC3-ECA016DCB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81025"/>
            <a:ext cx="7772400" cy="5603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Example 1.2</a:t>
            </a:r>
            <a:r>
              <a:rPr lang="en-US" sz="4000"/>
              <a:t> </a:t>
            </a:r>
          </a:p>
        </p:txBody>
      </p:sp>
      <p:sp>
        <p:nvSpPr>
          <p:cNvPr id="2253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3183F92-1D53-0649-2E50-29E22A567E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/>
          <a:lstStyle/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</a:t>
            </a:r>
            <a:r>
              <a:rPr lang="en-US" altLang="en-US" sz="2200"/>
              <a:t>From the value in table 1.1 calculate        	          </a:t>
            </a:r>
            <a:r>
              <a:rPr lang="en-US" altLang="en-US" sz="2000"/>
              <a:t>Table 1.1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    the precision of 6</a:t>
            </a:r>
            <a:r>
              <a:rPr lang="en-US" altLang="en-US" sz="2200" baseline="30000"/>
              <a:t>th </a:t>
            </a:r>
            <a:r>
              <a:rPr lang="en-US" altLang="en-US" sz="2200"/>
              <a:t>measurement?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endParaRPr lang="en-US" altLang="en-US" sz="2200">
              <a:solidFill>
                <a:schemeClr val="hlink"/>
              </a:solidFill>
            </a:endParaRP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hlink"/>
                </a:solidFill>
              </a:rPr>
              <a:t>    Solution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	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    the average of measurement value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    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endParaRPr lang="en-US" altLang="en-US" sz="2200"/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    the 6</a:t>
            </a:r>
            <a:r>
              <a:rPr lang="en-US" altLang="en-US" sz="2200" baseline="30000"/>
              <a:t>th</a:t>
            </a:r>
            <a:r>
              <a:rPr lang="en-US" altLang="en-US" sz="2200"/>
              <a:t> reading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    Precision = </a:t>
            </a:r>
          </a:p>
          <a:p>
            <a:pPr marL="660400" indent="-660400" eaLnBrk="1" hangingPunct="1">
              <a:buFont typeface="Wingdings" panose="05000000000000000000" pitchFamily="2" charset="2"/>
              <a:buNone/>
            </a:pPr>
            <a:endParaRPr lang="en-US" altLang="en-US" sz="2200"/>
          </a:p>
        </p:txBody>
      </p:sp>
      <p:graphicFrame>
        <p:nvGraphicFramePr>
          <p:cNvPr id="27953" name="Group 305">
            <a:extLst>
              <a:ext uri="{FF2B5EF4-FFF2-40B4-BE49-F238E27FC236}">
                <a16:creationId xmlns:a16="http://schemas.microsoft.com/office/drawing/2014/main" id="{F599019F-619A-D98A-322F-8B9B78DD0B0A}"/>
              </a:ext>
            </a:extLst>
          </p:cNvPr>
          <p:cNvGraphicFramePr>
            <a:graphicFrameLocks noGrp="1"/>
          </p:cNvGraphicFramePr>
          <p:nvPr/>
        </p:nvGraphicFramePr>
        <p:xfrm>
          <a:off x="6324600" y="1905000"/>
          <a:ext cx="2286000" cy="368779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07" marB="457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X</a:t>
                      </a:r>
                      <a:r>
                        <a:rPr kumimoji="0" lang="en-US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97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103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98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106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99</a:t>
                      </a: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571" name="Object 311">
            <a:extLst>
              <a:ext uri="{FF2B5EF4-FFF2-40B4-BE49-F238E27FC236}">
                <a16:creationId xmlns:a16="http://schemas.microsoft.com/office/drawing/2014/main" id="{5B4641A5-34B7-A86B-03E7-04DC99C1DF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78806"/>
              </p:ext>
            </p:extLst>
          </p:nvPr>
        </p:nvGraphicFramePr>
        <p:xfrm>
          <a:off x="990600" y="3505200"/>
          <a:ext cx="43434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87600" imgH="393700" progId="Equation.3">
                  <p:embed/>
                </p:oleObj>
              </mc:Choice>
              <mc:Fallback>
                <p:oleObj name="Equation" r:id="rId3" imgW="2387600" imgH="393700" progId="Equation.3">
                  <p:embed/>
                  <p:pic>
                    <p:nvPicPr>
                      <p:cNvPr id="22571" name="Object 311">
                        <a:extLst>
                          <a:ext uri="{FF2B5EF4-FFF2-40B4-BE49-F238E27FC236}">
                            <a16:creationId xmlns:a16="http://schemas.microsoft.com/office/drawing/2014/main" id="{5B4641A5-34B7-A86B-03E7-04DC99C1DF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505200"/>
                        <a:ext cx="434340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2" name="Object 313">
            <a:extLst>
              <a:ext uri="{FF2B5EF4-FFF2-40B4-BE49-F238E27FC236}">
                <a16:creationId xmlns:a16="http://schemas.microsoft.com/office/drawing/2014/main" id="{2E2DD652-6050-4879-F4D6-9D7237B33F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029200"/>
          <a:ext cx="28956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1000" imgH="431800" progId="Equation.3">
                  <p:embed/>
                </p:oleObj>
              </mc:Choice>
              <mc:Fallback>
                <p:oleObj name="Equation" r:id="rId5" imgW="1651000" imgH="431800" progId="Equation.3">
                  <p:embed/>
                  <p:pic>
                    <p:nvPicPr>
                      <p:cNvPr id="22572" name="Object 313">
                        <a:extLst>
                          <a:ext uri="{FF2B5EF4-FFF2-40B4-BE49-F238E27FC236}">
                            <a16:creationId xmlns:a16="http://schemas.microsoft.com/office/drawing/2014/main" id="{2E2DD652-6050-4879-F4D6-9D7237B33F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029200"/>
                        <a:ext cx="28956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3" name="Object 315">
            <a:extLst>
              <a:ext uri="{FF2B5EF4-FFF2-40B4-BE49-F238E27FC236}">
                <a16:creationId xmlns:a16="http://schemas.microsoft.com/office/drawing/2014/main" id="{B1B02F30-AC6A-797C-B34B-E54132647E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5257800"/>
          <a:ext cx="9144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7780" imgH="177723" progId="Equation.3">
                  <p:embed/>
                </p:oleObj>
              </mc:Choice>
              <mc:Fallback>
                <p:oleObj name="Equation" r:id="rId7" imgW="507780" imgH="177723" progId="Equation.3">
                  <p:embed/>
                  <p:pic>
                    <p:nvPicPr>
                      <p:cNvPr id="22573" name="Object 315">
                        <a:extLst>
                          <a:ext uri="{FF2B5EF4-FFF2-40B4-BE49-F238E27FC236}">
                            <a16:creationId xmlns:a16="http://schemas.microsoft.com/office/drawing/2014/main" id="{B1B02F30-AC6A-797C-B34B-E54132647E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257800"/>
                        <a:ext cx="9144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74" name="Espace réservé du numéro de diapositive 9">
            <a:extLst>
              <a:ext uri="{FF2B5EF4-FFF2-40B4-BE49-F238E27FC236}">
                <a16:creationId xmlns:a16="http://schemas.microsoft.com/office/drawing/2014/main" id="{C3A7FEED-0440-3A34-A952-2B7A1205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2B1AE2A-101F-B531-BFDE-606B00199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69913"/>
            <a:ext cx="7772400" cy="5111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LIMITING ERROR</a:t>
            </a:r>
          </a:p>
        </p:txBody>
      </p:sp>
      <p:sp>
        <p:nvSpPr>
          <p:cNvPr id="2457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223050-CAA8-E5A7-BC16-8ED2C7653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848600" cy="4572000"/>
          </a:xfrm>
        </p:spPr>
        <p:txBody>
          <a:bodyPr/>
          <a:lstStyle/>
          <a:p>
            <a:pPr eaLnBrk="1" hangingPunct="1"/>
            <a:r>
              <a:rPr lang="en-US" altLang="en-US" sz="2800"/>
              <a:t>The accuracy of measuring instrument is guaranteed within a certain percentage (%) of full scale reading</a:t>
            </a:r>
          </a:p>
          <a:p>
            <a:pPr eaLnBrk="1" hangingPunct="1"/>
            <a:r>
              <a:rPr lang="en-US" altLang="en-US" sz="2800"/>
              <a:t>E.g manufacturer may specify the instrument to be accurate at </a:t>
            </a:r>
            <a:r>
              <a:rPr lang="en-US" altLang="en-US" sz="2800">
                <a:sym typeface="Symbol" panose="05050102010706020507" pitchFamily="18" charset="2"/>
              </a:rPr>
              <a:t>2 % with full scale deflection</a:t>
            </a:r>
          </a:p>
          <a:p>
            <a:pPr eaLnBrk="1" hangingPunct="1"/>
            <a:r>
              <a:rPr lang="en-US" altLang="en-US" sz="2800">
                <a:sym typeface="Symbol" panose="05050102010706020507" pitchFamily="18" charset="2"/>
              </a:rPr>
              <a:t>For reading less than full scale, the limiting error increases</a:t>
            </a:r>
            <a:endParaRPr lang="en-US" altLang="en-US" sz="28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  <p:sp>
        <p:nvSpPr>
          <p:cNvPr id="24580" name="Espace réservé du numéro de diapositive 3">
            <a:extLst>
              <a:ext uri="{FF2B5EF4-FFF2-40B4-BE49-F238E27FC236}">
                <a16:creationId xmlns:a16="http://schemas.microsoft.com/office/drawing/2014/main" id="{28ECB6DD-4B74-B462-714D-47F17DB0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3672642-5E3F-CF0D-7FAD-86DAE74E9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628650"/>
            <a:ext cx="7772400" cy="5127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/>
              <a:t>LIMITING ERROR (cont)</a:t>
            </a:r>
          </a:p>
        </p:txBody>
      </p:sp>
      <p:sp>
        <p:nvSpPr>
          <p:cNvPr id="204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5A9BDC0-BA43-ED21-DEA0-05E303ABDE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2296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Example 1.6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Given a 600 V voltmeter with accuracy </a:t>
            </a:r>
            <a:r>
              <a:rPr lang="en-US" altLang="en-US" sz="2200" dirty="0">
                <a:sym typeface="Symbol" panose="05050102010706020507" pitchFamily="18" charset="2"/>
              </a:rPr>
              <a:t>2% full scale.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>
                <a:sym typeface="Symbol" panose="05050102010706020507" pitchFamily="18" charset="2"/>
              </a:rPr>
              <a:t>	Calculate limiting error when the instrument is used to measure a voltage of 250V?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hlink"/>
                </a:solidFill>
              </a:rPr>
              <a:t>Solution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200" dirty="0">
              <a:solidFill>
                <a:schemeClr val="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The magnitude of limiting error, 0.02 x 600 = 12V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Therefore, the limiting error for 250V = 12/250 x 100 = 4.8%</a:t>
            </a:r>
          </a:p>
        </p:txBody>
      </p:sp>
      <p:sp>
        <p:nvSpPr>
          <p:cNvPr id="25604" name="Espace réservé du numéro de diapositive 3">
            <a:extLst>
              <a:ext uri="{FF2B5EF4-FFF2-40B4-BE49-F238E27FC236}">
                <a16:creationId xmlns:a16="http://schemas.microsoft.com/office/drawing/2014/main" id="{9C2BE2A2-1451-7839-006B-2797DD85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144314C-6F60-EA83-2FC8-D64939803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69913"/>
            <a:ext cx="7772400" cy="5111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LIMITING ERROR (cont)</a:t>
            </a:r>
          </a:p>
        </p:txBody>
      </p:sp>
      <p:sp>
        <p:nvSpPr>
          <p:cNvPr id="2662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1FD85E-7220-7042-BFEB-72E6966DC8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80010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Example 1.7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	Given for certain measurement, a limiting error for voltmeter at 70V is 2.143% and a limiting error for ammeter at 80mA is 2.813%.  Determine the limiting error of the power.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2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>
                <a:solidFill>
                  <a:schemeClr val="hlink"/>
                </a:solidFill>
              </a:rPr>
              <a:t>Solution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   	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	The limiting error for the power = 2.143% + 2.813%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				                  = </a:t>
            </a:r>
            <a:r>
              <a:rPr lang="en-US" altLang="en-US" sz="2200" u="sng"/>
              <a:t>4.956%</a:t>
            </a: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586430C-4DB6-7125-0766-7CB1D0C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11C1AFE-7947-30A8-6860-6C6B004A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Exercise</a:t>
            </a:r>
          </a:p>
        </p:txBody>
      </p:sp>
      <p:sp>
        <p:nvSpPr>
          <p:cNvPr id="27651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EF8823A-AB61-AB4A-3D61-C7BA53C6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voltmeter is accurate 98% of its full scale reading.</a:t>
            </a:r>
          </a:p>
          <a:p>
            <a:pPr marL="1028700" lvl="1" indent="-571500" eaLnBrk="1" hangingPunct="1">
              <a:buFont typeface="Tahoma" panose="020B0604030504040204" pitchFamily="34" charset="0"/>
              <a:buAutoNum type="romanLcPeriod"/>
            </a:pPr>
            <a:r>
              <a:rPr lang="en-US" altLang="en-US" dirty="0"/>
              <a:t>If the voltmeter reads 200V on 500V range, what is the absolute error?</a:t>
            </a:r>
          </a:p>
          <a:p>
            <a:pPr marL="1028700" lvl="1" indent="-571500" eaLnBrk="1" hangingPunct="1">
              <a:buFont typeface="Tahoma" panose="020B0604030504040204" pitchFamily="34" charset="0"/>
              <a:buAutoNum type="romanLcPeriod"/>
            </a:pPr>
            <a:r>
              <a:rPr lang="en-US" altLang="en-US" dirty="0"/>
              <a:t>What is the percentage error of the reading in (</a:t>
            </a:r>
            <a:r>
              <a:rPr lang="en-US" altLang="en-US" dirty="0" err="1"/>
              <a:t>i</a:t>
            </a:r>
            <a:r>
              <a:rPr lang="en-US" altLang="en-US" dirty="0"/>
              <a:t>).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7652" name="Espace réservé du numéro de diapositive 3">
            <a:extLst>
              <a:ext uri="{FF2B5EF4-FFF2-40B4-BE49-F238E27FC236}">
                <a16:creationId xmlns:a16="http://schemas.microsoft.com/office/drawing/2014/main" id="{CE006975-1AE3-AE1D-4CAE-CBA4A1AB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E9C430-7801-4312-95A8-58F83E42DA86}" type="slidenum">
              <a:rPr lang="en-US" altLang="en-US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710564"/>
            <a:ext cx="5935980" cy="552555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525" spc="169" dirty="0"/>
              <a:t>Errors</a:t>
            </a:r>
            <a:r>
              <a:rPr sz="3525" spc="255" dirty="0"/>
              <a:t> </a:t>
            </a:r>
            <a:r>
              <a:rPr sz="3525" spc="203" dirty="0"/>
              <a:t>in</a:t>
            </a:r>
            <a:r>
              <a:rPr sz="3525" spc="251" dirty="0"/>
              <a:t> </a:t>
            </a:r>
            <a:r>
              <a:rPr sz="3525" spc="169" dirty="0"/>
              <a:t>Electrical</a:t>
            </a:r>
            <a:r>
              <a:rPr sz="3525" spc="251" dirty="0"/>
              <a:t> </a:t>
            </a:r>
            <a:r>
              <a:rPr sz="3525" spc="225" dirty="0"/>
              <a:t>Circuits</a:t>
            </a:r>
            <a:endParaRPr sz="35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0206" y="1676400"/>
            <a:ext cx="3849184" cy="15398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215" y="3146689"/>
            <a:ext cx="1832980" cy="1028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4478" y="3700209"/>
            <a:ext cx="3437062" cy="14743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2461" y="4266817"/>
            <a:ext cx="3373740" cy="179240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2017222"/>
            <a:ext cx="1832980" cy="10289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2243" y="1558862"/>
            <a:ext cx="2546757" cy="552555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525" spc="469" dirty="0" err="1"/>
              <a:t>E</a:t>
            </a:r>
            <a:r>
              <a:rPr sz="3525" spc="236" dirty="0" err="1"/>
              <a:t>x</a:t>
            </a:r>
            <a:r>
              <a:rPr sz="3525" spc="281" dirty="0" err="1"/>
              <a:t>a</a:t>
            </a:r>
            <a:r>
              <a:rPr sz="3525" spc="341" dirty="0" err="1"/>
              <a:t>m</a:t>
            </a:r>
            <a:r>
              <a:rPr sz="3525" spc="188" dirty="0" err="1"/>
              <a:t>p</a:t>
            </a:r>
            <a:r>
              <a:rPr lang="en-GB" sz="3525" spc="188" dirty="0"/>
              <a:t>le</a:t>
            </a:r>
            <a:r>
              <a:rPr sz="3525" spc="199" dirty="0"/>
              <a:t>:</a:t>
            </a:r>
            <a:endParaRPr sz="35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088" y="2435562"/>
            <a:ext cx="6494175" cy="1453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3211" y="4097938"/>
            <a:ext cx="3208631" cy="3800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2040" y="4697188"/>
            <a:ext cx="3657935" cy="7718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3689" y="497840"/>
            <a:ext cx="34321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5" dirty="0"/>
              <a:t>Random</a:t>
            </a:r>
            <a:r>
              <a:rPr sz="4400" spc="-75" dirty="0"/>
              <a:t> </a:t>
            </a:r>
            <a:r>
              <a:rPr sz="4400" spc="15" dirty="0"/>
              <a:t>Errors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53439" y="1633220"/>
            <a:ext cx="774700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25400">
              <a:lnSpc>
                <a:spcPct val="100000"/>
              </a:lnSpc>
              <a:spcBef>
                <a:spcPts val="100"/>
              </a:spcBef>
              <a:tabLst>
                <a:tab pos="2020570" algn="l"/>
                <a:tab pos="2511425" algn="l"/>
                <a:tab pos="3196590" algn="l"/>
                <a:tab pos="4785360" algn="l"/>
                <a:tab pos="5504815" algn="l"/>
                <a:tab pos="6163945" algn="l"/>
                <a:tab pos="7259320" algn="l"/>
              </a:tabLst>
            </a:pPr>
            <a:r>
              <a:rPr sz="3200" spc="-20" dirty="0">
                <a:latin typeface="Times New Roman"/>
                <a:cs typeface="Times New Roman"/>
              </a:rPr>
              <a:t>The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quantity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being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measured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affected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by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many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25" dirty="0">
                <a:latin typeface="Times New Roman"/>
                <a:cs typeface="Times New Roman"/>
              </a:rPr>
              <a:t>h</a:t>
            </a:r>
            <a:r>
              <a:rPr sz="3200" spc="-50" dirty="0">
                <a:latin typeface="Times New Roman"/>
                <a:cs typeface="Times New Roman"/>
              </a:rPr>
              <a:t>ap</a:t>
            </a:r>
            <a:r>
              <a:rPr sz="3200" spc="25" dirty="0">
                <a:latin typeface="Times New Roman"/>
                <a:cs typeface="Times New Roman"/>
              </a:rPr>
              <a:t>p</a:t>
            </a:r>
            <a:r>
              <a:rPr sz="3200" spc="-35" dirty="0">
                <a:latin typeface="Times New Roman"/>
                <a:cs typeface="Times New Roman"/>
              </a:rPr>
              <a:t>en</a:t>
            </a:r>
            <a:r>
              <a:rPr sz="3200" spc="-160" dirty="0">
                <a:latin typeface="Times New Roman"/>
                <a:cs typeface="Times New Roman"/>
              </a:rPr>
              <a:t>i</a:t>
            </a:r>
            <a:r>
              <a:rPr sz="3200" spc="25" dirty="0">
                <a:latin typeface="Times New Roman"/>
                <a:cs typeface="Times New Roman"/>
              </a:rPr>
              <a:t>n</a:t>
            </a:r>
            <a:r>
              <a:rPr sz="3200" spc="-170" dirty="0">
                <a:latin typeface="Times New Roman"/>
                <a:cs typeface="Times New Roman"/>
              </a:rPr>
              <a:t>g</a:t>
            </a:r>
            <a:r>
              <a:rPr sz="3200" spc="-80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65" dirty="0">
                <a:latin typeface="Times New Roman"/>
                <a:cs typeface="Times New Roman"/>
              </a:rPr>
              <a:t>i</a:t>
            </a:r>
            <a:r>
              <a:rPr sz="3200" spc="30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30" dirty="0">
                <a:latin typeface="Times New Roman"/>
                <a:cs typeface="Times New Roman"/>
              </a:rPr>
              <a:t>th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35" dirty="0">
                <a:latin typeface="Times New Roman"/>
                <a:cs typeface="Times New Roman"/>
              </a:rPr>
              <a:t>u</a:t>
            </a:r>
            <a:r>
              <a:rPr sz="3200" spc="25" dirty="0">
                <a:latin typeface="Times New Roman"/>
                <a:cs typeface="Times New Roman"/>
              </a:rPr>
              <a:t>n</a:t>
            </a:r>
            <a:r>
              <a:rPr sz="3200" spc="-160" dirty="0">
                <a:latin typeface="Times New Roman"/>
                <a:cs typeface="Times New Roman"/>
              </a:rPr>
              <a:t>i</a:t>
            </a:r>
            <a:r>
              <a:rPr sz="3200" spc="-110" dirty="0">
                <a:latin typeface="Times New Roman"/>
                <a:cs typeface="Times New Roman"/>
              </a:rPr>
              <a:t>v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spc="-45" dirty="0">
                <a:latin typeface="Times New Roman"/>
                <a:cs typeface="Times New Roman"/>
              </a:rPr>
              <a:t>r</a:t>
            </a:r>
            <a:r>
              <a:rPr sz="3200" spc="-55" dirty="0">
                <a:latin typeface="Times New Roman"/>
                <a:cs typeface="Times New Roman"/>
              </a:rPr>
              <a:t>s</a:t>
            </a:r>
            <a:r>
              <a:rPr sz="3200" spc="-125" dirty="0">
                <a:latin typeface="Times New Roman"/>
                <a:cs typeface="Times New Roman"/>
              </a:rPr>
              <a:t>e</a:t>
            </a:r>
            <a:r>
              <a:rPr sz="3200" spc="-70" dirty="0">
                <a:latin typeface="Times New Roman"/>
                <a:cs typeface="Times New Roman"/>
              </a:rPr>
              <a:t>.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95" dirty="0">
                <a:latin typeface="Times New Roman"/>
                <a:cs typeface="Times New Roman"/>
              </a:rPr>
              <a:t>W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40" dirty="0">
                <a:latin typeface="Times New Roman"/>
                <a:cs typeface="Times New Roman"/>
              </a:rPr>
              <a:t>a</a:t>
            </a:r>
            <a:r>
              <a:rPr sz="3200" spc="-45" dirty="0">
                <a:latin typeface="Times New Roman"/>
                <a:cs typeface="Times New Roman"/>
              </a:rPr>
              <a:t>r</a:t>
            </a:r>
            <a:r>
              <a:rPr sz="3200" spc="-5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25" dirty="0">
                <a:latin typeface="Times New Roman"/>
                <a:cs typeface="Times New Roman"/>
              </a:rPr>
              <a:t>awa</a:t>
            </a:r>
            <a:r>
              <a:rPr sz="3200" spc="-85" dirty="0">
                <a:latin typeface="Times New Roman"/>
                <a:cs typeface="Times New Roman"/>
              </a:rPr>
              <a:t>r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" dirty="0">
                <a:latin typeface="Times New Roman"/>
                <a:cs typeface="Times New Roman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9" y="2608579"/>
            <a:ext cx="17430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285" algn="l"/>
              </a:tabLst>
            </a:pPr>
            <a:r>
              <a:rPr sz="3200" spc="-90" dirty="0">
                <a:latin typeface="Times New Roman"/>
                <a:cs typeface="Times New Roman"/>
              </a:rPr>
              <a:t>s</a:t>
            </a:r>
            <a:r>
              <a:rPr sz="3200" spc="25" dirty="0">
                <a:latin typeface="Times New Roman"/>
                <a:cs typeface="Times New Roman"/>
              </a:rPr>
              <a:t>o</a:t>
            </a:r>
            <a:r>
              <a:rPr sz="3200" spc="-20" dirty="0">
                <a:latin typeface="Times New Roman"/>
                <a:cs typeface="Times New Roman"/>
              </a:rPr>
              <a:t>m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5" dirty="0">
                <a:latin typeface="Times New Roman"/>
                <a:cs typeface="Times New Roman"/>
              </a:rPr>
              <a:t>o</a:t>
            </a:r>
            <a:r>
              <a:rPr sz="3200" spc="-35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3094990"/>
            <a:ext cx="22225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Times New Roman"/>
                <a:cs typeface="Times New Roman"/>
              </a:rPr>
              <a:t>m</a:t>
            </a:r>
            <a:r>
              <a:rPr sz="3200" spc="-105" dirty="0">
                <a:latin typeface="Times New Roman"/>
                <a:cs typeface="Times New Roman"/>
              </a:rPr>
              <a:t>ea</a:t>
            </a:r>
            <a:r>
              <a:rPr sz="3200" spc="-100" dirty="0">
                <a:latin typeface="Times New Roman"/>
                <a:cs typeface="Times New Roman"/>
              </a:rPr>
              <a:t>s</a:t>
            </a:r>
            <a:r>
              <a:rPr sz="3200" spc="-35" dirty="0">
                <a:latin typeface="Times New Roman"/>
                <a:cs typeface="Times New Roman"/>
              </a:rPr>
              <a:t>ure</a:t>
            </a:r>
            <a:r>
              <a:rPr sz="3200" spc="-45" dirty="0">
                <a:latin typeface="Times New Roman"/>
                <a:cs typeface="Times New Roman"/>
              </a:rPr>
              <a:t>m</a:t>
            </a:r>
            <a:r>
              <a:rPr sz="3200" spc="-35" dirty="0">
                <a:latin typeface="Times New Roman"/>
                <a:cs typeface="Times New Roman"/>
              </a:rPr>
              <a:t>en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spc="-100" dirty="0"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0103" y="2595245"/>
            <a:ext cx="5750335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marR="5080" indent="-288925">
              <a:lnSpc>
                <a:spcPct val="100000"/>
              </a:lnSpc>
              <a:spcBef>
                <a:spcPts val="100"/>
              </a:spcBef>
              <a:tabLst>
                <a:tab pos="1049020" algn="l"/>
                <a:tab pos="1176655" algn="l"/>
                <a:tab pos="2425065" algn="l"/>
                <a:tab pos="2662555" algn="l"/>
                <a:tab pos="3270250" algn="l"/>
                <a:tab pos="4192270" algn="l"/>
                <a:tab pos="4954270" algn="l"/>
                <a:tab pos="4983480" algn="l"/>
              </a:tabLst>
            </a:pP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spc="25" dirty="0">
                <a:latin typeface="Times New Roman"/>
                <a:cs typeface="Times New Roman"/>
              </a:rPr>
              <a:t>h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75" dirty="0">
                <a:latin typeface="Times New Roman"/>
                <a:cs typeface="Times New Roman"/>
              </a:rPr>
              <a:t>f</a:t>
            </a:r>
            <a:r>
              <a:rPr sz="3200" spc="-105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c</a:t>
            </a:r>
            <a:r>
              <a:rPr sz="3200" spc="30" dirty="0">
                <a:latin typeface="Times New Roman"/>
                <a:cs typeface="Times New Roman"/>
              </a:rPr>
              <a:t>to</a:t>
            </a:r>
            <a:r>
              <a:rPr sz="3200" spc="-45" dirty="0">
                <a:latin typeface="Times New Roman"/>
                <a:cs typeface="Times New Roman"/>
              </a:rPr>
              <a:t>rs</a:t>
            </a:r>
            <a:r>
              <a:rPr sz="3200" dirty="0">
                <a:latin typeface="Times New Roman"/>
                <a:cs typeface="Times New Roman"/>
              </a:rPr>
              <a:t>		</a:t>
            </a:r>
            <a:r>
              <a:rPr sz="3200" spc="-160" dirty="0">
                <a:latin typeface="Times New Roman"/>
                <a:cs typeface="Times New Roman"/>
              </a:rPr>
              <a:t>i</a:t>
            </a:r>
            <a:r>
              <a:rPr sz="3200" spc="25" dirty="0">
                <a:latin typeface="Times New Roman"/>
                <a:cs typeface="Times New Roman"/>
              </a:rPr>
              <a:t>n</a:t>
            </a:r>
            <a:r>
              <a:rPr sz="3200" spc="-110" dirty="0">
                <a:latin typeface="Times New Roman"/>
                <a:cs typeface="Times New Roman"/>
              </a:rPr>
              <a:t>f</a:t>
            </a:r>
            <a:r>
              <a:rPr sz="3200" spc="-100" dirty="0">
                <a:latin typeface="Times New Roman"/>
                <a:cs typeface="Times New Roman"/>
              </a:rPr>
              <a:t>l</a:t>
            </a:r>
            <a:r>
              <a:rPr sz="3200" spc="-35" dirty="0">
                <a:latin typeface="Times New Roman"/>
                <a:cs typeface="Times New Roman"/>
              </a:rPr>
              <a:t>u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spc="25" dirty="0">
                <a:latin typeface="Times New Roman"/>
                <a:cs typeface="Times New Roman"/>
              </a:rPr>
              <a:t>n</a:t>
            </a:r>
            <a:r>
              <a:rPr sz="3200" spc="-130" dirty="0">
                <a:latin typeface="Times New Roman"/>
                <a:cs typeface="Times New Roman"/>
              </a:rPr>
              <a:t>ci</a:t>
            </a:r>
            <a:r>
              <a:rPr sz="3200" spc="25" dirty="0">
                <a:latin typeface="Times New Roman"/>
                <a:cs typeface="Times New Roman"/>
              </a:rPr>
              <a:t>n</a:t>
            </a:r>
            <a:r>
              <a:rPr sz="3200" spc="-170" dirty="0">
                <a:latin typeface="Times New Roman"/>
                <a:cs typeface="Times New Roman"/>
              </a:rPr>
              <a:t>g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spc="25" dirty="0">
                <a:latin typeface="Times New Roman"/>
                <a:cs typeface="Times New Roman"/>
              </a:rPr>
              <a:t>h</a:t>
            </a:r>
            <a:r>
              <a:rPr sz="3200" spc="-65" dirty="0">
                <a:latin typeface="Times New Roman"/>
                <a:cs typeface="Times New Roman"/>
              </a:rPr>
              <a:t>e  </a:t>
            </a:r>
            <a:r>
              <a:rPr sz="3200" spc="25" dirty="0">
                <a:latin typeface="Times New Roman"/>
                <a:cs typeface="Times New Roman"/>
              </a:rPr>
              <a:t>b</a:t>
            </a:r>
            <a:r>
              <a:rPr sz="3200" spc="-35" dirty="0">
                <a:latin typeface="Times New Roman"/>
                <a:cs typeface="Times New Roman"/>
              </a:rPr>
              <a:t>u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		</a:t>
            </a:r>
            <a:r>
              <a:rPr sz="3200" spc="-50" dirty="0">
                <a:latin typeface="Times New Roman"/>
                <a:cs typeface="Times New Roman"/>
              </a:rPr>
              <a:t>ab</a:t>
            </a:r>
            <a:r>
              <a:rPr sz="3200" spc="25" dirty="0">
                <a:latin typeface="Times New Roman"/>
                <a:cs typeface="Times New Roman"/>
              </a:rPr>
              <a:t>o</a:t>
            </a:r>
            <a:r>
              <a:rPr sz="3200" spc="-35" dirty="0">
                <a:latin typeface="Times New Roman"/>
                <a:cs typeface="Times New Roman"/>
              </a:rPr>
              <a:t>u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30" dirty="0">
                <a:latin typeface="Times New Roman"/>
                <a:cs typeface="Times New Roman"/>
              </a:rPr>
              <a:t>th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60" dirty="0">
                <a:latin typeface="Times New Roman"/>
                <a:cs typeface="Times New Roman"/>
              </a:rPr>
              <a:t>re</a:t>
            </a:r>
            <a:r>
              <a:rPr sz="3200" spc="-55" dirty="0">
                <a:latin typeface="Times New Roman"/>
                <a:cs typeface="Times New Roman"/>
              </a:rPr>
              <a:t>s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70" dirty="0">
                <a:latin typeface="Times New Roman"/>
                <a:cs typeface="Times New Roman"/>
              </a:rPr>
              <a:t>w</a:t>
            </a:r>
            <a:r>
              <a:rPr sz="3200" spc="-10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		</a:t>
            </a:r>
            <a:r>
              <a:rPr sz="3200" spc="-140" dirty="0">
                <a:latin typeface="Times New Roman"/>
                <a:cs typeface="Times New Roman"/>
              </a:rPr>
              <a:t>a</a:t>
            </a:r>
            <a:r>
              <a:rPr sz="3200" spc="-50" dirty="0">
                <a:latin typeface="Times New Roman"/>
                <a:cs typeface="Times New Roman"/>
              </a:rPr>
              <a:t>re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839" y="3582670"/>
            <a:ext cx="7722234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30045" algn="l"/>
                <a:tab pos="2145665" algn="l"/>
                <a:tab pos="2479040" algn="l"/>
                <a:tab pos="3012440" algn="l"/>
                <a:tab pos="3213735" algn="l"/>
                <a:tab pos="3629660" algn="l"/>
                <a:tab pos="3690620" algn="l"/>
                <a:tab pos="4333240" algn="l"/>
                <a:tab pos="4569460" algn="l"/>
                <a:tab pos="4903470" algn="l"/>
                <a:tab pos="4944745" algn="l"/>
                <a:tab pos="5499735" algn="l"/>
                <a:tab pos="5584825" algn="l"/>
                <a:tab pos="5920105" algn="l"/>
                <a:tab pos="6499860" algn="l"/>
                <a:tab pos="7066280" algn="l"/>
                <a:tab pos="7365365" algn="l"/>
              </a:tabLst>
            </a:pPr>
            <a:r>
              <a:rPr sz="3200" spc="-35" dirty="0">
                <a:latin typeface="Times New Roman"/>
                <a:cs typeface="Times New Roman"/>
              </a:rPr>
              <a:t>u</a:t>
            </a:r>
            <a:r>
              <a:rPr sz="3200" spc="25" dirty="0">
                <a:latin typeface="Times New Roman"/>
                <a:cs typeface="Times New Roman"/>
              </a:rPr>
              <a:t>n</a:t>
            </a:r>
            <a:r>
              <a:rPr sz="3200" spc="-114" dirty="0">
                <a:latin typeface="Times New Roman"/>
                <a:cs typeface="Times New Roman"/>
              </a:rPr>
              <a:t>aware</a:t>
            </a:r>
            <a:r>
              <a:rPr sz="3200" spc="-60" dirty="0">
                <a:latin typeface="Times New Roman"/>
                <a:cs typeface="Times New Roman"/>
              </a:rPr>
              <a:t>.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10" dirty="0">
                <a:latin typeface="Times New Roman"/>
                <a:cs typeface="Times New Roman"/>
              </a:rPr>
              <a:t>T</a:t>
            </a:r>
            <a:r>
              <a:rPr sz="3200" spc="25" dirty="0">
                <a:latin typeface="Times New Roman"/>
                <a:cs typeface="Times New Roman"/>
              </a:rPr>
              <a:t>h</a:t>
            </a:r>
            <a:r>
              <a:rPr lang="en-GB" sz="3200" spc="-90" dirty="0">
                <a:latin typeface="Times New Roman"/>
                <a:cs typeface="Times New Roman"/>
              </a:rPr>
              <a:t>e</a:t>
            </a:r>
            <a:r>
              <a:rPr lang="en-BW" sz="3200" dirty="0">
                <a:latin typeface="Times New Roman"/>
                <a:cs typeface="Times New Roman"/>
              </a:rPr>
              <a:t>	</a:t>
            </a:r>
            <a:r>
              <a:rPr sz="3200" spc="-90" dirty="0">
                <a:latin typeface="Times New Roman"/>
                <a:cs typeface="Times New Roman"/>
              </a:rPr>
              <a:t>e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spc="10" dirty="0">
                <a:latin typeface="Times New Roman"/>
                <a:cs typeface="Times New Roman"/>
              </a:rPr>
              <a:t>ro</a:t>
            </a:r>
            <a:r>
              <a:rPr sz="3200" spc="-45" dirty="0">
                <a:latin typeface="Times New Roman"/>
                <a:cs typeface="Times New Roman"/>
              </a:rPr>
              <a:t>rs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85" dirty="0">
                <a:latin typeface="Times New Roman"/>
                <a:cs typeface="Times New Roman"/>
              </a:rPr>
              <a:t>ca</a:t>
            </a:r>
            <a:r>
              <a:rPr sz="3200" spc="-90" dirty="0">
                <a:latin typeface="Times New Roman"/>
                <a:cs typeface="Times New Roman"/>
              </a:rPr>
              <a:t>us</a:t>
            </a:r>
            <a:r>
              <a:rPr sz="3200" spc="-50" dirty="0">
                <a:latin typeface="Times New Roman"/>
                <a:cs typeface="Times New Roman"/>
              </a:rPr>
              <a:t>ed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25" dirty="0">
                <a:latin typeface="Times New Roman"/>
                <a:cs typeface="Times New Roman"/>
              </a:rPr>
              <a:t>b</a:t>
            </a:r>
            <a:r>
              <a:rPr sz="3200" spc="-270" dirty="0">
                <a:latin typeface="Times New Roman"/>
                <a:cs typeface="Times New Roman"/>
              </a:rPr>
              <a:t>y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35" dirty="0">
                <a:latin typeface="Times New Roman"/>
                <a:cs typeface="Times New Roman"/>
              </a:rPr>
              <a:t>h</a:t>
            </a:r>
            <a:r>
              <a:rPr sz="3200" spc="-140" dirty="0">
                <a:latin typeface="Times New Roman"/>
                <a:cs typeface="Times New Roman"/>
              </a:rPr>
              <a:t>a</a:t>
            </a:r>
            <a:r>
              <a:rPr sz="3200" spc="25" dirty="0">
                <a:latin typeface="Times New Roman"/>
                <a:cs typeface="Times New Roman"/>
              </a:rPr>
              <a:t>p</a:t>
            </a:r>
            <a:r>
              <a:rPr sz="3200" spc="35" dirty="0">
                <a:latin typeface="Times New Roman"/>
                <a:cs typeface="Times New Roman"/>
              </a:rPr>
              <a:t>p</a:t>
            </a:r>
            <a:r>
              <a:rPr sz="3200" spc="-35" dirty="0">
                <a:latin typeface="Times New Roman"/>
                <a:cs typeface="Times New Roman"/>
              </a:rPr>
              <a:t>en</a:t>
            </a:r>
            <a:r>
              <a:rPr sz="3200" spc="-165" dirty="0">
                <a:latin typeface="Times New Roman"/>
                <a:cs typeface="Times New Roman"/>
              </a:rPr>
              <a:t>i</a:t>
            </a:r>
            <a:r>
              <a:rPr sz="3200" spc="25" dirty="0">
                <a:latin typeface="Times New Roman"/>
                <a:cs typeface="Times New Roman"/>
              </a:rPr>
              <a:t>n</a:t>
            </a:r>
            <a:r>
              <a:rPr sz="3200" spc="-170" dirty="0">
                <a:latin typeface="Times New Roman"/>
                <a:cs typeface="Times New Roman"/>
              </a:rPr>
              <a:t>g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35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r  </a:t>
            </a:r>
            <a:r>
              <a:rPr sz="3200" spc="-50" dirty="0">
                <a:latin typeface="Times New Roman"/>
                <a:cs typeface="Times New Roman"/>
              </a:rPr>
              <a:t>disturbances	</a:t>
            </a:r>
            <a:r>
              <a:rPr sz="3200" spc="-15" dirty="0">
                <a:latin typeface="Times New Roman"/>
                <a:cs typeface="Times New Roman"/>
              </a:rPr>
              <a:t>about	</a:t>
            </a:r>
            <a:r>
              <a:rPr sz="3200" spc="-75" dirty="0">
                <a:latin typeface="Times New Roman"/>
                <a:cs typeface="Times New Roman"/>
              </a:rPr>
              <a:t>which	</a:t>
            </a:r>
            <a:r>
              <a:rPr sz="3200" spc="-135" dirty="0">
                <a:latin typeface="Times New Roman"/>
                <a:cs typeface="Times New Roman"/>
              </a:rPr>
              <a:t>we		</a:t>
            </a:r>
            <a:r>
              <a:rPr sz="3200" spc="-75" dirty="0">
                <a:latin typeface="Times New Roman"/>
                <a:cs typeface="Times New Roman"/>
              </a:rPr>
              <a:t>are		</a:t>
            </a:r>
            <a:r>
              <a:rPr sz="3200" spc="-80" dirty="0">
                <a:latin typeface="Times New Roman"/>
                <a:cs typeface="Times New Roman"/>
              </a:rPr>
              <a:t>unaware	</a:t>
            </a:r>
            <a:r>
              <a:rPr sz="3200" spc="-75" dirty="0">
                <a:latin typeface="Times New Roman"/>
                <a:cs typeface="Times New Roman"/>
              </a:rPr>
              <a:t>are 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Ra</a:t>
            </a:r>
            <a:r>
              <a:rPr sz="3200" spc="-75" dirty="0">
                <a:latin typeface="Times New Roman"/>
                <a:cs typeface="Times New Roman"/>
              </a:rPr>
              <a:t>n</a:t>
            </a:r>
            <a:r>
              <a:rPr sz="3200" spc="5" dirty="0">
                <a:latin typeface="Times New Roman"/>
                <a:cs typeface="Times New Roman"/>
              </a:rPr>
              <a:t>d</a:t>
            </a:r>
            <a:r>
              <a:rPr sz="3200" spc="25" dirty="0">
                <a:latin typeface="Times New Roman"/>
                <a:cs typeface="Times New Roman"/>
              </a:rPr>
              <a:t>o</a:t>
            </a:r>
            <a:r>
              <a:rPr sz="3200" spc="-25" dirty="0">
                <a:latin typeface="Times New Roman"/>
                <a:cs typeface="Times New Roman"/>
              </a:rPr>
              <a:t>m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40" dirty="0">
                <a:latin typeface="Times New Roman"/>
                <a:cs typeface="Times New Roman"/>
              </a:rPr>
              <a:t>Erro</a:t>
            </a:r>
            <a:r>
              <a:rPr sz="3200" spc="-45" dirty="0">
                <a:latin typeface="Times New Roman"/>
                <a:cs typeface="Times New Roman"/>
              </a:rPr>
              <a:t>r</a:t>
            </a:r>
            <a:r>
              <a:rPr sz="3200" spc="-55" dirty="0">
                <a:latin typeface="Times New Roman"/>
                <a:cs typeface="Times New Roman"/>
              </a:rPr>
              <a:t>s</a:t>
            </a:r>
            <a:r>
              <a:rPr sz="3200" spc="-100" dirty="0">
                <a:latin typeface="Times New Roman"/>
                <a:cs typeface="Times New Roman"/>
              </a:rPr>
              <a:t>.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65" dirty="0">
                <a:latin typeface="Times New Roman"/>
                <a:cs typeface="Times New Roman"/>
              </a:rPr>
              <a:t>I</a:t>
            </a:r>
            <a:r>
              <a:rPr sz="3200" spc="40" dirty="0">
                <a:latin typeface="Times New Roman"/>
                <a:cs typeface="Times New Roman"/>
              </a:rPr>
              <a:t>t</a:t>
            </a:r>
            <a:r>
              <a:rPr sz="3200" spc="-80" dirty="0">
                <a:latin typeface="Times New Roman"/>
                <a:cs typeface="Times New Roman"/>
              </a:rPr>
              <a:t>s</a:t>
            </a:r>
            <a:r>
              <a:rPr sz="3200" dirty="0">
                <a:latin typeface="Times New Roman"/>
                <a:cs typeface="Times New Roman"/>
              </a:rPr>
              <a:t>		</a:t>
            </a:r>
            <a:r>
              <a:rPr sz="3200" spc="-145" dirty="0">
                <a:latin typeface="Times New Roman"/>
                <a:cs typeface="Times New Roman"/>
              </a:rPr>
              <a:t>al</a:t>
            </a:r>
            <a:r>
              <a:rPr sz="3200" spc="-90" dirty="0">
                <a:latin typeface="Times New Roman"/>
                <a:cs typeface="Times New Roman"/>
              </a:rPr>
              <a:t>s</a:t>
            </a:r>
            <a:r>
              <a:rPr sz="3200" spc="30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		</a:t>
            </a:r>
            <a:r>
              <a:rPr sz="3200" spc="-95" dirty="0">
                <a:latin typeface="Times New Roman"/>
                <a:cs typeface="Times New Roman"/>
              </a:rPr>
              <a:t>k</a:t>
            </a:r>
            <a:r>
              <a:rPr sz="3200" spc="25" dirty="0">
                <a:latin typeface="Times New Roman"/>
                <a:cs typeface="Times New Roman"/>
              </a:rPr>
              <a:t>no</a:t>
            </a:r>
            <a:r>
              <a:rPr sz="3200" spc="-180" dirty="0">
                <a:latin typeface="Times New Roman"/>
                <a:cs typeface="Times New Roman"/>
              </a:rPr>
              <a:t>w</a:t>
            </a:r>
            <a:r>
              <a:rPr sz="3200" spc="30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4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s</a:t>
            </a:r>
            <a:r>
              <a:rPr lang="en-BW" sz="3200" dirty="0">
                <a:latin typeface="Times New Roman"/>
                <a:cs typeface="Times New Roman"/>
              </a:rPr>
              <a:t>	</a:t>
            </a:r>
            <a:r>
              <a:rPr sz="3200" spc="-60" dirty="0">
                <a:latin typeface="Times New Roman"/>
                <a:cs typeface="Times New Roman"/>
              </a:rPr>
              <a:t>re</a:t>
            </a:r>
            <a:r>
              <a:rPr sz="3200" spc="-65" dirty="0">
                <a:latin typeface="Times New Roman"/>
                <a:cs typeface="Times New Roman"/>
              </a:rPr>
              <a:t>s</a:t>
            </a:r>
            <a:r>
              <a:rPr sz="3200" spc="-160" dirty="0">
                <a:latin typeface="Times New Roman"/>
                <a:cs typeface="Times New Roman"/>
              </a:rPr>
              <a:t>i</a:t>
            </a:r>
            <a:r>
              <a:rPr sz="3200" spc="-20" dirty="0">
                <a:latin typeface="Times New Roman"/>
                <a:cs typeface="Times New Roman"/>
              </a:rPr>
              <a:t>d</a:t>
            </a:r>
            <a:r>
              <a:rPr sz="3200" spc="-10" dirty="0">
                <a:latin typeface="Times New Roman"/>
                <a:cs typeface="Times New Roman"/>
              </a:rPr>
              <a:t>u</a:t>
            </a:r>
            <a:r>
              <a:rPr sz="3200" spc="-140" dirty="0">
                <a:latin typeface="Times New Roman"/>
                <a:cs typeface="Times New Roman"/>
              </a:rPr>
              <a:t>a</a:t>
            </a:r>
            <a:r>
              <a:rPr sz="3200" spc="-150" dirty="0">
                <a:latin typeface="Times New Roman"/>
                <a:cs typeface="Times New Roman"/>
              </a:rPr>
              <a:t>l  </a:t>
            </a:r>
            <a:r>
              <a:rPr sz="3200" spc="-5" dirty="0">
                <a:latin typeface="Times New Roman"/>
                <a:cs typeface="Times New Roman"/>
              </a:rPr>
              <a:t>Errors.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9760" y="528320"/>
            <a:ext cx="53619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Example</a:t>
            </a:r>
            <a:r>
              <a:rPr spc="-30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0" dirty="0"/>
              <a:t>Random</a:t>
            </a:r>
            <a:r>
              <a:rPr spc="-20" dirty="0"/>
              <a:t> </a:t>
            </a:r>
            <a:r>
              <a:rPr spc="35" dirty="0"/>
              <a:t>Error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9538" y="1575404"/>
            <a:ext cx="4399324" cy="307092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5980" y="4993640"/>
            <a:ext cx="7426959" cy="112458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ts val="2160"/>
              </a:lnSpc>
              <a:spcBef>
                <a:spcPts val="170"/>
              </a:spcBef>
            </a:pPr>
            <a:r>
              <a:rPr sz="1800" b="1" spc="20" dirty="0">
                <a:latin typeface="Times New Roman"/>
                <a:cs typeface="Times New Roman"/>
              </a:rPr>
              <a:t>The</a:t>
            </a:r>
            <a:r>
              <a:rPr sz="1800" b="1" spc="2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Gaussian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Times New Roman"/>
                <a:cs typeface="Times New Roman"/>
              </a:rPr>
              <a:t>normal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distribution.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Times New Roman"/>
                <a:cs typeface="Times New Roman"/>
              </a:rPr>
              <a:t>m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170" dirty="0">
                <a:latin typeface="Times New Roman"/>
                <a:cs typeface="Times New Roman"/>
              </a:rPr>
              <a:t>= </a:t>
            </a:r>
            <a:r>
              <a:rPr sz="1800" b="1" dirty="0">
                <a:latin typeface="Times New Roman"/>
                <a:cs typeface="Times New Roman"/>
              </a:rPr>
              <a:t>mean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of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measurements.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45" dirty="0">
                <a:latin typeface="Times New Roman"/>
                <a:cs typeface="Times New Roman"/>
              </a:rPr>
              <a:t>s  </a:t>
            </a:r>
            <a:r>
              <a:rPr sz="1800" b="1" spc="170" dirty="0">
                <a:latin typeface="Times New Roman"/>
                <a:cs typeface="Times New Roman"/>
              </a:rPr>
              <a:t>= 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Times New Roman"/>
                <a:cs typeface="Times New Roman"/>
              </a:rPr>
              <a:t>standard </a:t>
            </a:r>
            <a:r>
              <a:rPr sz="1800" b="1" spc="-10" dirty="0">
                <a:latin typeface="Times New Roman"/>
                <a:cs typeface="Times New Roman"/>
              </a:rPr>
              <a:t>deviation of </a:t>
            </a:r>
            <a:r>
              <a:rPr sz="1800" b="1" spc="-5" dirty="0">
                <a:latin typeface="Times New Roman"/>
                <a:cs typeface="Times New Roman"/>
              </a:rPr>
              <a:t>measurements. </a:t>
            </a:r>
            <a:r>
              <a:rPr sz="1800" b="1" spc="-145" dirty="0">
                <a:latin typeface="Times New Roman"/>
                <a:cs typeface="Times New Roman"/>
              </a:rPr>
              <a:t>68%</a:t>
            </a:r>
            <a:r>
              <a:rPr sz="1800" b="1" spc="-1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of </a:t>
            </a:r>
            <a:r>
              <a:rPr sz="1800" b="1" dirty="0">
                <a:latin typeface="Times New Roman"/>
                <a:cs typeface="Times New Roman"/>
              </a:rPr>
              <a:t>the </a:t>
            </a:r>
            <a:r>
              <a:rPr sz="1800" b="1" spc="-5" dirty="0">
                <a:latin typeface="Times New Roman"/>
                <a:cs typeface="Times New Roman"/>
              </a:rPr>
              <a:t>measurements </a:t>
            </a:r>
            <a:r>
              <a:rPr sz="1800" b="1" dirty="0">
                <a:latin typeface="Times New Roman"/>
                <a:cs typeface="Times New Roman"/>
              </a:rPr>
              <a:t>lie </a:t>
            </a:r>
            <a:r>
              <a:rPr sz="1800" b="1" spc="-5" dirty="0">
                <a:latin typeface="Times New Roman"/>
                <a:cs typeface="Times New Roman"/>
              </a:rPr>
              <a:t>in </a:t>
            </a:r>
            <a:r>
              <a:rPr sz="1800" b="1" dirty="0">
                <a:latin typeface="Times New Roman"/>
                <a:cs typeface="Times New Roman"/>
              </a:rPr>
              <a:t>the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Times New Roman"/>
                <a:cs typeface="Times New Roman"/>
              </a:rPr>
              <a:t>interval </a:t>
            </a:r>
            <a:r>
              <a:rPr sz="1850" b="1" i="1" spc="-335" dirty="0">
                <a:latin typeface="Georgia"/>
                <a:cs typeface="Georgia"/>
              </a:rPr>
              <a:t>m</a:t>
            </a:r>
            <a:r>
              <a:rPr sz="1850" b="1" i="1" spc="-200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- </a:t>
            </a:r>
            <a:r>
              <a:rPr sz="1850" b="1" i="1" spc="-210" dirty="0">
                <a:latin typeface="Georgia"/>
                <a:cs typeface="Georgia"/>
              </a:rPr>
              <a:t>s </a:t>
            </a:r>
            <a:r>
              <a:rPr sz="1850" b="1" i="1" spc="-105" dirty="0">
                <a:latin typeface="Georgia"/>
                <a:cs typeface="Georgia"/>
              </a:rPr>
              <a:t>&lt; </a:t>
            </a:r>
            <a:r>
              <a:rPr sz="1850" b="1" i="1" spc="-180" dirty="0">
                <a:latin typeface="Georgia"/>
                <a:cs typeface="Georgia"/>
              </a:rPr>
              <a:t>x </a:t>
            </a:r>
            <a:r>
              <a:rPr sz="1850" b="1" i="1" spc="-105" dirty="0">
                <a:latin typeface="Georgia"/>
                <a:cs typeface="Georgia"/>
              </a:rPr>
              <a:t>&lt; </a:t>
            </a:r>
            <a:r>
              <a:rPr sz="1850" b="1" i="1" spc="-335" dirty="0">
                <a:latin typeface="Georgia"/>
                <a:cs typeface="Georgia"/>
              </a:rPr>
              <a:t>m</a:t>
            </a:r>
            <a:r>
              <a:rPr sz="1850" b="1" i="1" spc="-200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+ </a:t>
            </a:r>
            <a:r>
              <a:rPr sz="1850" b="1" i="1" spc="-160" dirty="0">
                <a:latin typeface="Georgia"/>
                <a:cs typeface="Georgia"/>
              </a:rPr>
              <a:t>s</a:t>
            </a:r>
            <a:r>
              <a:rPr sz="1800" b="1" spc="-160" dirty="0">
                <a:latin typeface="Times New Roman"/>
                <a:cs typeface="Times New Roman"/>
              </a:rPr>
              <a:t>; </a:t>
            </a:r>
            <a:r>
              <a:rPr sz="1800" b="1" spc="-140" dirty="0">
                <a:latin typeface="Times New Roman"/>
                <a:cs typeface="Times New Roman"/>
              </a:rPr>
              <a:t>95% </a:t>
            </a:r>
            <a:r>
              <a:rPr sz="1800" b="1" dirty="0">
                <a:latin typeface="Times New Roman"/>
                <a:cs typeface="Times New Roman"/>
              </a:rPr>
              <a:t>lie </a:t>
            </a:r>
            <a:r>
              <a:rPr sz="1800" b="1" spc="-15" dirty="0">
                <a:latin typeface="Times New Roman"/>
                <a:cs typeface="Times New Roman"/>
              </a:rPr>
              <a:t>within </a:t>
            </a:r>
            <a:r>
              <a:rPr sz="1850" b="1" i="1" spc="-335" dirty="0">
                <a:latin typeface="Georgia"/>
                <a:cs typeface="Georgia"/>
              </a:rPr>
              <a:t>m</a:t>
            </a:r>
            <a:r>
              <a:rPr sz="1850" b="1" i="1" spc="-200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- </a:t>
            </a:r>
            <a:r>
              <a:rPr sz="1850" b="1" i="1" spc="-265" dirty="0">
                <a:latin typeface="Georgia"/>
                <a:cs typeface="Georgia"/>
              </a:rPr>
              <a:t>2s</a:t>
            </a:r>
            <a:r>
              <a:rPr sz="1850" b="1" i="1" spc="-260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&lt; </a:t>
            </a:r>
            <a:r>
              <a:rPr sz="1850" b="1" i="1" spc="-180" dirty="0">
                <a:latin typeface="Georgia"/>
                <a:cs typeface="Georgia"/>
              </a:rPr>
              <a:t>x </a:t>
            </a:r>
            <a:r>
              <a:rPr sz="1850" b="1" i="1" spc="-105" dirty="0">
                <a:latin typeface="Georgia"/>
                <a:cs typeface="Georgia"/>
              </a:rPr>
              <a:t>&lt; </a:t>
            </a:r>
            <a:r>
              <a:rPr sz="1850" b="1" i="1" spc="-335" dirty="0">
                <a:latin typeface="Georgia"/>
                <a:cs typeface="Georgia"/>
              </a:rPr>
              <a:t>m</a:t>
            </a:r>
            <a:r>
              <a:rPr sz="1850" b="1" i="1" spc="-200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+ </a:t>
            </a:r>
            <a:r>
              <a:rPr sz="1850" b="1" i="1" spc="-215" dirty="0">
                <a:latin typeface="Georgia"/>
                <a:cs typeface="Georgia"/>
              </a:rPr>
              <a:t>2s</a:t>
            </a:r>
            <a:r>
              <a:rPr sz="1800" b="1" spc="-215" dirty="0">
                <a:latin typeface="Times New Roman"/>
                <a:cs typeface="Times New Roman"/>
              </a:rPr>
              <a:t>;</a:t>
            </a:r>
            <a:r>
              <a:rPr sz="1800" b="1" spc="-21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and </a:t>
            </a:r>
            <a:r>
              <a:rPr sz="1800" b="1" spc="-100" dirty="0">
                <a:latin typeface="Times New Roman"/>
                <a:cs typeface="Times New Roman"/>
              </a:rPr>
              <a:t>99.7% </a:t>
            </a:r>
            <a:r>
              <a:rPr sz="1800" b="1" dirty="0">
                <a:latin typeface="Times New Roman"/>
                <a:cs typeface="Times New Roman"/>
              </a:rPr>
              <a:t>lie 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w</a:t>
            </a:r>
            <a:r>
              <a:rPr sz="1800" b="1" spc="-5" dirty="0">
                <a:latin typeface="Times New Roman"/>
                <a:cs typeface="Times New Roman"/>
              </a:rPr>
              <a:t>i</a:t>
            </a:r>
            <a:r>
              <a:rPr sz="1800" b="1" spc="-45" dirty="0">
                <a:latin typeface="Times New Roman"/>
                <a:cs typeface="Times New Roman"/>
              </a:rPr>
              <a:t>t</a:t>
            </a:r>
            <a:r>
              <a:rPr sz="1800" b="1" spc="-5" dirty="0">
                <a:latin typeface="Times New Roman"/>
                <a:cs typeface="Times New Roman"/>
              </a:rPr>
              <a:t>hi</a:t>
            </a:r>
            <a:r>
              <a:rPr sz="1800" b="1" spc="-10" dirty="0">
                <a:latin typeface="Times New Roman"/>
                <a:cs typeface="Times New Roman"/>
              </a:rPr>
              <a:t>n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50" b="1" i="1" spc="-335" dirty="0">
                <a:latin typeface="Georgia"/>
                <a:cs typeface="Georgia"/>
              </a:rPr>
              <a:t>m</a:t>
            </a:r>
            <a:r>
              <a:rPr sz="1850" b="1" i="1" spc="-15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-</a:t>
            </a:r>
            <a:r>
              <a:rPr sz="1850" b="1" i="1" spc="-25" dirty="0">
                <a:latin typeface="Georgia"/>
                <a:cs typeface="Georgia"/>
              </a:rPr>
              <a:t> </a:t>
            </a:r>
            <a:r>
              <a:rPr sz="1850" b="1" i="1" spc="-320" dirty="0">
                <a:latin typeface="Georgia"/>
                <a:cs typeface="Georgia"/>
              </a:rPr>
              <a:t>3</a:t>
            </a:r>
            <a:r>
              <a:rPr sz="1850" b="1" i="1" spc="-210" dirty="0">
                <a:latin typeface="Georgia"/>
                <a:cs typeface="Georgia"/>
              </a:rPr>
              <a:t>s</a:t>
            </a:r>
            <a:r>
              <a:rPr sz="1850" b="1" i="1" spc="-25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&lt;</a:t>
            </a:r>
            <a:r>
              <a:rPr sz="1850" b="1" i="1" spc="-15" dirty="0">
                <a:latin typeface="Georgia"/>
                <a:cs typeface="Georgia"/>
              </a:rPr>
              <a:t> </a:t>
            </a:r>
            <a:r>
              <a:rPr sz="1850" b="1" i="1" spc="-180" dirty="0">
                <a:latin typeface="Georgia"/>
                <a:cs typeface="Georgia"/>
              </a:rPr>
              <a:t>x</a:t>
            </a:r>
            <a:r>
              <a:rPr sz="1850" b="1" i="1" spc="-20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&lt;</a:t>
            </a:r>
            <a:r>
              <a:rPr sz="1850" b="1" i="1" spc="-15" dirty="0">
                <a:latin typeface="Georgia"/>
                <a:cs typeface="Georgia"/>
              </a:rPr>
              <a:t> </a:t>
            </a:r>
            <a:r>
              <a:rPr sz="1850" b="1" i="1" spc="-335" dirty="0">
                <a:latin typeface="Georgia"/>
                <a:cs typeface="Georgia"/>
              </a:rPr>
              <a:t>m</a:t>
            </a:r>
            <a:r>
              <a:rPr sz="1850" b="1" i="1" spc="-15" dirty="0">
                <a:latin typeface="Georgia"/>
                <a:cs typeface="Georgia"/>
              </a:rPr>
              <a:t> </a:t>
            </a:r>
            <a:r>
              <a:rPr sz="1850" b="1" i="1" spc="-105" dirty="0">
                <a:latin typeface="Georgia"/>
                <a:cs typeface="Georgia"/>
              </a:rPr>
              <a:t>+</a:t>
            </a:r>
            <a:r>
              <a:rPr sz="1850" b="1" i="1" spc="-25" dirty="0">
                <a:latin typeface="Georgia"/>
                <a:cs typeface="Georgia"/>
              </a:rPr>
              <a:t> </a:t>
            </a:r>
            <a:r>
              <a:rPr sz="1850" b="1" i="1" spc="-315" dirty="0">
                <a:latin typeface="Georgia"/>
                <a:cs typeface="Georgia"/>
              </a:rPr>
              <a:t>3</a:t>
            </a:r>
            <a:r>
              <a:rPr sz="1850" b="1" i="1" spc="-200" dirty="0">
                <a:latin typeface="Georgia"/>
                <a:cs typeface="Georgia"/>
              </a:rPr>
              <a:t>s</a:t>
            </a:r>
            <a:r>
              <a:rPr sz="1800" b="1" spc="15" dirty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1119" y="467359"/>
            <a:ext cx="64503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2380" algn="l"/>
                <a:tab pos="4635500" algn="l"/>
              </a:tabLst>
            </a:pPr>
            <a:r>
              <a:rPr sz="4800" spc="-140" dirty="0"/>
              <a:t>Statistical	</a:t>
            </a:r>
            <a:r>
              <a:rPr sz="4800" spc="-185" dirty="0"/>
              <a:t>Analysis	</a:t>
            </a:r>
            <a:r>
              <a:rPr sz="4800" spc="-5" dirty="0"/>
              <a:t>of</a:t>
            </a:r>
            <a:r>
              <a:rPr sz="4800" spc="-75" dirty="0"/>
              <a:t> </a:t>
            </a:r>
            <a:r>
              <a:rPr sz="4800" spc="-25" dirty="0"/>
              <a:t>Data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78839" y="1633220"/>
            <a:ext cx="6851015" cy="217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04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Experimental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Data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obtained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Two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Forms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tests:-</a:t>
            </a:r>
            <a:endParaRPr sz="3200">
              <a:latin typeface="Times New Roman"/>
              <a:cs typeface="Times New Roman"/>
            </a:endParaRPr>
          </a:p>
          <a:p>
            <a:pPr marL="765175" indent="-381635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765810" algn="l"/>
              </a:tabLst>
            </a:pPr>
            <a:r>
              <a:rPr sz="3200" spc="-100" dirty="0">
                <a:latin typeface="Times New Roman"/>
                <a:cs typeface="Times New Roman"/>
              </a:rPr>
              <a:t>Multi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sample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Test</a:t>
            </a:r>
            <a:endParaRPr sz="3200">
              <a:latin typeface="Times New Roman"/>
              <a:cs typeface="Times New Roman"/>
            </a:endParaRPr>
          </a:p>
          <a:p>
            <a:pPr marL="765175" indent="-381635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765810" algn="l"/>
              </a:tabLst>
            </a:pPr>
            <a:r>
              <a:rPr sz="3200" spc="-135" dirty="0">
                <a:latin typeface="Times New Roman"/>
                <a:cs typeface="Times New Roman"/>
              </a:rPr>
              <a:t>Single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Sample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Test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250" y="596900"/>
            <a:ext cx="7419340" cy="8940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tabLst>
                <a:tab pos="2570480" algn="l"/>
                <a:tab pos="3128645" algn="l"/>
                <a:tab pos="3525520" algn="l"/>
                <a:tab pos="4553585" algn="l"/>
                <a:tab pos="5981700" algn="l"/>
                <a:tab pos="6662420" algn="l"/>
              </a:tabLst>
            </a:pPr>
            <a:r>
              <a:rPr sz="3000" spc="-95" dirty="0">
                <a:latin typeface="Times New Roman"/>
                <a:cs typeface="Times New Roman"/>
              </a:rPr>
              <a:t>1.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u="heavy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Multi</a:t>
            </a:r>
            <a:r>
              <a:rPr sz="3000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sample</a:t>
            </a:r>
            <a:r>
              <a:rPr sz="3000" u="heavy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Test:-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45" dirty="0">
                <a:latin typeface="Times New Roman"/>
                <a:cs typeface="Times New Roman"/>
              </a:rPr>
              <a:t>In </a:t>
            </a:r>
            <a:r>
              <a:rPr sz="3000" spc="-40" dirty="0">
                <a:latin typeface="Times New Roman"/>
                <a:cs typeface="Times New Roman"/>
              </a:rPr>
              <a:t>this test, </a:t>
            </a:r>
            <a:r>
              <a:rPr sz="3000" spc="-15" dirty="0">
                <a:latin typeface="Times New Roman"/>
                <a:cs typeface="Times New Roman"/>
              </a:rPr>
              <a:t>The </a:t>
            </a:r>
            <a:r>
              <a:rPr sz="3000" spc="-60" dirty="0">
                <a:latin typeface="Times New Roman"/>
                <a:cs typeface="Times New Roman"/>
              </a:rPr>
              <a:t>Repeated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</a:t>
            </a:r>
            <a:r>
              <a:rPr sz="3000" spc="-95" dirty="0">
                <a:latin typeface="Times New Roman"/>
                <a:cs typeface="Times New Roman"/>
              </a:rPr>
              <a:t>eas</a:t>
            </a:r>
            <a:r>
              <a:rPr sz="3000" spc="-25" dirty="0">
                <a:latin typeface="Times New Roman"/>
                <a:cs typeface="Times New Roman"/>
              </a:rPr>
              <a:t>u</a:t>
            </a:r>
            <a:r>
              <a:rPr sz="3000" spc="-30" dirty="0">
                <a:latin typeface="Times New Roman"/>
                <a:cs typeface="Times New Roman"/>
              </a:rPr>
              <a:t>r</a:t>
            </a:r>
            <a:r>
              <a:rPr sz="3000" spc="-45" dirty="0">
                <a:latin typeface="Times New Roman"/>
                <a:cs typeface="Times New Roman"/>
              </a:rPr>
              <a:t>e</a:t>
            </a:r>
            <a:r>
              <a:rPr sz="3000" spc="-70" dirty="0">
                <a:latin typeface="Times New Roman"/>
                <a:cs typeface="Times New Roman"/>
              </a:rPr>
              <a:t>m</a:t>
            </a:r>
            <a:r>
              <a:rPr sz="3000" spc="-10" dirty="0">
                <a:latin typeface="Times New Roman"/>
                <a:cs typeface="Times New Roman"/>
              </a:rPr>
              <a:t>en</a:t>
            </a:r>
            <a:r>
              <a:rPr sz="3000" spc="-5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Times New Roman"/>
                <a:cs typeface="Times New Roman"/>
              </a:rPr>
              <a:t>f	</a:t>
            </a:r>
            <a:r>
              <a:rPr sz="3000" spc="-114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30" dirty="0">
                <a:latin typeface="Times New Roman"/>
                <a:cs typeface="Times New Roman"/>
              </a:rPr>
              <a:t>gi</a:t>
            </a:r>
            <a:r>
              <a:rPr sz="3000" spc="-170" dirty="0">
                <a:latin typeface="Times New Roman"/>
                <a:cs typeface="Times New Roman"/>
              </a:rPr>
              <a:t>v</a:t>
            </a:r>
            <a:r>
              <a:rPr sz="3000" spc="-30" dirty="0">
                <a:latin typeface="Times New Roman"/>
                <a:cs typeface="Times New Roman"/>
              </a:rPr>
              <a:t>en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45" dirty="0">
                <a:latin typeface="Times New Roman"/>
                <a:cs typeface="Times New Roman"/>
              </a:rPr>
              <a:t>qua</a:t>
            </a:r>
            <a:r>
              <a:rPr sz="3000" spc="-40" dirty="0">
                <a:latin typeface="Times New Roman"/>
                <a:cs typeface="Times New Roman"/>
              </a:rPr>
              <a:t>n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sz="3000" spc="-160" dirty="0">
                <a:latin typeface="Times New Roman"/>
                <a:cs typeface="Times New Roman"/>
              </a:rPr>
              <a:t>i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sz="3000" spc="-254" dirty="0">
                <a:latin typeface="Times New Roman"/>
                <a:cs typeface="Times New Roman"/>
              </a:rPr>
              <a:t>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10" dirty="0">
                <a:latin typeface="Times New Roman"/>
                <a:cs typeface="Times New Roman"/>
              </a:rPr>
              <a:t>a</a:t>
            </a:r>
            <a:r>
              <a:rPr sz="3000" spc="-15" dirty="0">
                <a:latin typeface="Times New Roman"/>
                <a:cs typeface="Times New Roman"/>
              </a:rPr>
              <a:t>r</a:t>
            </a:r>
            <a:r>
              <a:rPr sz="3000" spc="-85" dirty="0">
                <a:latin typeface="Times New Roman"/>
                <a:cs typeface="Times New Roman"/>
              </a:rPr>
              <a:t>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20" dirty="0">
                <a:latin typeface="Times New Roman"/>
                <a:cs typeface="Times New Roman"/>
              </a:rPr>
              <a:t>do</a:t>
            </a:r>
            <a:r>
              <a:rPr sz="3000" spc="25" dirty="0">
                <a:latin typeface="Times New Roman"/>
                <a:cs typeface="Times New Roman"/>
              </a:rPr>
              <a:t>n</a:t>
            </a:r>
            <a:r>
              <a:rPr sz="3000" spc="-85" dirty="0">
                <a:latin typeface="Times New Roman"/>
                <a:cs typeface="Times New Roman"/>
              </a:rPr>
              <a:t>e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145" y="1432585"/>
            <a:ext cx="3571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0465" algn="l"/>
                <a:tab pos="2844800" algn="l"/>
              </a:tabLst>
            </a:pPr>
            <a:r>
              <a:rPr sz="3000" spc="-65" dirty="0">
                <a:latin typeface="Times New Roman"/>
                <a:cs typeface="Times New Roman"/>
              </a:rPr>
              <a:t>u</a:t>
            </a:r>
            <a:r>
              <a:rPr sz="3000" spc="-60" dirty="0">
                <a:latin typeface="Times New Roman"/>
                <a:cs typeface="Times New Roman"/>
              </a:rPr>
              <a:t>s</a:t>
            </a:r>
            <a:r>
              <a:rPr sz="3000" spc="-160" dirty="0">
                <a:latin typeface="Times New Roman"/>
                <a:cs typeface="Times New Roman"/>
              </a:rPr>
              <a:t>i</a:t>
            </a:r>
            <a:r>
              <a:rPr sz="3000" spc="35" dirty="0">
                <a:latin typeface="Times New Roman"/>
                <a:cs typeface="Times New Roman"/>
              </a:rPr>
              <a:t>n</a:t>
            </a:r>
            <a:r>
              <a:rPr sz="3000" spc="-160" dirty="0">
                <a:latin typeface="Times New Roman"/>
                <a:cs typeface="Times New Roman"/>
              </a:rPr>
              <a:t>g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Times New Roman"/>
                <a:cs typeface="Times New Roman"/>
              </a:rPr>
              <a:t>diffe</a:t>
            </a:r>
            <a:r>
              <a:rPr sz="3000" spc="-55" dirty="0">
                <a:latin typeface="Times New Roman"/>
                <a:cs typeface="Times New Roman"/>
              </a:rPr>
              <a:t>r</a:t>
            </a:r>
            <a:r>
              <a:rPr sz="3000" spc="-30" dirty="0">
                <a:latin typeface="Times New Roman"/>
                <a:cs typeface="Times New Roman"/>
              </a:rPr>
              <a:t>en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sz="3000" spc="-85" dirty="0">
                <a:latin typeface="Times New Roman"/>
                <a:cs typeface="Times New Roman"/>
              </a:rPr>
              <a:t>es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lang="en-GB" sz="3000" spc="40" dirty="0">
                <a:latin typeface="Times New Roman"/>
                <a:cs typeface="Times New Roman"/>
              </a:rPr>
              <a:t> 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0150" y="1830070"/>
            <a:ext cx="31832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7380" algn="l"/>
              </a:tabLst>
            </a:pPr>
            <a:r>
              <a:rPr lang="en-GB" sz="3000" spc="-85">
                <a:latin typeface="Times New Roman"/>
                <a:cs typeface="Times New Roman"/>
              </a:rPr>
              <a:t>e</a:t>
            </a:r>
            <a:r>
              <a:rPr sz="3000" spc="-85" dirty="0" err="1">
                <a:latin typeface="Times New Roman"/>
                <a:cs typeface="Times New Roman"/>
              </a:rPr>
              <a:t>mploying</a:t>
            </a:r>
            <a:r>
              <a:rPr sz="3000" spc="-85" dirty="0">
                <a:latin typeface="Times New Roman"/>
                <a:cs typeface="Times New Roman"/>
              </a:rPr>
              <a:t>	</a:t>
            </a:r>
            <a:r>
              <a:rPr sz="3000" spc="-40" dirty="0">
                <a:latin typeface="Times New Roman"/>
                <a:cs typeface="Times New Roman"/>
              </a:rPr>
              <a:t>different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3440" y="1418590"/>
            <a:ext cx="3571875" cy="8940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 indent="239395">
              <a:lnSpc>
                <a:spcPts val="3240"/>
              </a:lnSpc>
              <a:spcBef>
                <a:spcPts val="505"/>
              </a:spcBef>
              <a:tabLst>
                <a:tab pos="2180590" algn="l"/>
                <a:tab pos="3263265" algn="l"/>
              </a:tabLst>
            </a:pPr>
            <a:r>
              <a:rPr sz="3000" spc="-30" dirty="0">
                <a:latin typeface="Times New Roman"/>
                <a:cs typeface="Times New Roman"/>
              </a:rPr>
              <a:t>co</a:t>
            </a:r>
            <a:r>
              <a:rPr sz="3000" spc="-55" dirty="0">
                <a:latin typeface="Times New Roman"/>
                <a:cs typeface="Times New Roman"/>
              </a:rPr>
              <a:t>nd</a:t>
            </a:r>
            <a:r>
              <a:rPr sz="3000" spc="-40" dirty="0">
                <a:latin typeface="Times New Roman"/>
                <a:cs typeface="Times New Roman"/>
              </a:rPr>
              <a:t>i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sz="3000" spc="-30" dirty="0">
                <a:latin typeface="Times New Roman"/>
                <a:cs typeface="Times New Roman"/>
              </a:rPr>
              <a:t>ion</a:t>
            </a:r>
            <a:r>
              <a:rPr sz="3000" spc="-75" dirty="0">
                <a:latin typeface="Times New Roman"/>
                <a:cs typeface="Times New Roman"/>
              </a:rPr>
              <a:t>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64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s</a:t>
            </a:r>
            <a:r>
              <a:rPr sz="3000" spc="-45" dirty="0">
                <a:latin typeface="Times New Roman"/>
                <a:cs typeface="Times New Roman"/>
              </a:rPr>
              <a:t>u</a:t>
            </a:r>
            <a:r>
              <a:rPr sz="3000" spc="-30" dirty="0">
                <a:latin typeface="Times New Roman"/>
                <a:cs typeface="Times New Roman"/>
              </a:rPr>
              <a:t>ch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10" dirty="0">
                <a:latin typeface="Times New Roman"/>
                <a:cs typeface="Times New Roman"/>
              </a:rPr>
              <a:t>a</a:t>
            </a:r>
            <a:r>
              <a:rPr sz="3000" spc="-60" dirty="0">
                <a:latin typeface="Times New Roman"/>
                <a:cs typeface="Times New Roman"/>
              </a:rPr>
              <a:t>s </a:t>
            </a:r>
            <a:r>
              <a:rPr lang="en-BW" sz="3000" spc="-60" dirty="0">
                <a:latin typeface="Times New Roman"/>
                <a:cs typeface="Times New Roman"/>
              </a:rPr>
              <a:t> </a:t>
            </a:r>
            <a:r>
              <a:rPr sz="3000" spc="-160" dirty="0">
                <a:latin typeface="Times New Roman"/>
                <a:cs typeface="Times New Roman"/>
              </a:rPr>
              <a:t>i</a:t>
            </a:r>
            <a:r>
              <a:rPr sz="3000" spc="35" dirty="0">
                <a:latin typeface="Times New Roman"/>
                <a:cs typeface="Times New Roman"/>
              </a:rPr>
              <a:t>n</a:t>
            </a:r>
            <a:r>
              <a:rPr sz="3000" spc="-85" dirty="0">
                <a:latin typeface="Times New Roman"/>
                <a:cs typeface="Times New Roman"/>
              </a:rPr>
              <a:t>s</a:t>
            </a:r>
            <a:r>
              <a:rPr sz="3000" spc="40" dirty="0">
                <a:latin typeface="Times New Roman"/>
                <a:cs typeface="Times New Roman"/>
              </a:rPr>
              <a:t>t</a:t>
            </a:r>
            <a:r>
              <a:rPr sz="3000" spc="-15" dirty="0">
                <a:latin typeface="Times New Roman"/>
                <a:cs typeface="Times New Roman"/>
              </a:rPr>
              <a:t>r</a:t>
            </a:r>
            <a:r>
              <a:rPr sz="3000" spc="-35" dirty="0">
                <a:latin typeface="Times New Roman"/>
                <a:cs typeface="Times New Roman"/>
              </a:rPr>
              <a:t>ume</a:t>
            </a:r>
            <a:r>
              <a:rPr sz="3000" spc="-25" dirty="0">
                <a:latin typeface="Times New Roman"/>
                <a:cs typeface="Times New Roman"/>
              </a:rPr>
              <a:t>n</a:t>
            </a:r>
            <a:r>
              <a:rPr sz="3000" spc="35" dirty="0">
                <a:latin typeface="Times New Roman"/>
                <a:cs typeface="Times New Roman"/>
              </a:rPr>
              <a:t>t</a:t>
            </a:r>
            <a:r>
              <a:rPr sz="3000" spc="-85" dirty="0">
                <a:latin typeface="Times New Roman"/>
                <a:cs typeface="Times New Roman"/>
              </a:rPr>
              <a:t>s</a:t>
            </a:r>
            <a:r>
              <a:rPr sz="3000" spc="-95" dirty="0">
                <a:latin typeface="Times New Roman"/>
                <a:cs typeface="Times New Roman"/>
              </a:rPr>
              <a:t>,</a:t>
            </a:r>
            <a:r>
              <a:rPr sz="3000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00150" y="2241550"/>
            <a:ext cx="36715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2669" algn="l"/>
                <a:tab pos="1683385" algn="l"/>
              </a:tabLst>
            </a:pPr>
            <a:r>
              <a:rPr sz="3000" spc="-155" dirty="0">
                <a:latin typeface="Times New Roman"/>
                <a:cs typeface="Times New Roman"/>
              </a:rPr>
              <a:t>ways	</a:t>
            </a:r>
            <a:r>
              <a:rPr sz="3000" dirty="0">
                <a:latin typeface="Times New Roman"/>
                <a:cs typeface="Times New Roman"/>
              </a:rPr>
              <a:t>of	</a:t>
            </a:r>
            <a:r>
              <a:rPr sz="3000" spc="-45" dirty="0">
                <a:latin typeface="Times New Roman"/>
                <a:cs typeface="Times New Roman"/>
              </a:rPr>
              <a:t>measurement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9400" y="1865630"/>
            <a:ext cx="31038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6300" algn="l"/>
                <a:tab pos="1553210" algn="l"/>
              </a:tabLst>
            </a:pPr>
            <a:r>
              <a:rPr sz="3000" spc="-110" dirty="0">
                <a:latin typeface="Times New Roman"/>
                <a:cs typeface="Times New Roman"/>
              </a:rPr>
              <a:t>a</a:t>
            </a:r>
            <a:r>
              <a:rPr sz="3000" spc="10" dirty="0">
                <a:latin typeface="Times New Roman"/>
                <a:cs typeface="Times New Roman"/>
              </a:rPr>
              <a:t>n</a:t>
            </a:r>
            <a:r>
              <a:rPr sz="3000" spc="15" dirty="0">
                <a:latin typeface="Times New Roman"/>
                <a:cs typeface="Times New Roman"/>
              </a:rPr>
              <a:t>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35" dirty="0">
                <a:latin typeface="Times New Roman"/>
                <a:cs typeface="Times New Roman"/>
              </a:rPr>
              <a:t>b</a:t>
            </a:r>
            <a:r>
              <a:rPr sz="3000" spc="-254" dirty="0">
                <a:latin typeface="Times New Roman"/>
                <a:cs typeface="Times New Roman"/>
              </a:rPr>
              <a:t>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0" dirty="0">
                <a:latin typeface="Times New Roman"/>
                <a:cs typeface="Times New Roman"/>
              </a:rPr>
              <a:t>e</a:t>
            </a:r>
            <a:r>
              <a:rPr sz="3000" spc="-25" dirty="0">
                <a:latin typeface="Times New Roman"/>
                <a:cs typeface="Times New Roman"/>
              </a:rPr>
              <a:t>m</a:t>
            </a:r>
            <a:r>
              <a:rPr sz="3000" spc="-95" dirty="0">
                <a:latin typeface="Times New Roman"/>
                <a:cs typeface="Times New Roman"/>
              </a:rPr>
              <a:t>ploying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" y="2651759"/>
            <a:ext cx="7418705" cy="272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3000" spc="-35" dirty="0">
                <a:latin typeface="Times New Roman"/>
                <a:cs typeface="Times New Roman"/>
              </a:rPr>
              <a:t>different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observers.</a:t>
            </a:r>
            <a:endParaRPr lang="en-BW" sz="3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BW" sz="415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3240"/>
              </a:lnSpc>
            </a:pPr>
            <a:r>
              <a:rPr sz="3000" spc="-95" dirty="0">
                <a:latin typeface="Times New Roman"/>
                <a:cs typeface="Times New Roman"/>
              </a:rPr>
              <a:t>2. </a:t>
            </a:r>
            <a:r>
              <a:rPr sz="3000" u="heavy" spc="-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Single </a:t>
            </a:r>
            <a:r>
              <a:rPr sz="3000" u="heavy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Sample </a:t>
            </a:r>
            <a:r>
              <a:rPr sz="30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Test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u="heavy" spc="-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:-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35" dirty="0">
                <a:latin typeface="Times New Roman"/>
                <a:cs typeface="Times New Roman"/>
              </a:rPr>
              <a:t>A </a:t>
            </a:r>
            <a:r>
              <a:rPr sz="3000" spc="-100" dirty="0">
                <a:latin typeface="Times New Roman"/>
                <a:cs typeface="Times New Roman"/>
              </a:rPr>
              <a:t>single </a:t>
            </a:r>
            <a:r>
              <a:rPr sz="3000" spc="-45" dirty="0">
                <a:latin typeface="Times New Roman"/>
                <a:cs typeface="Times New Roman"/>
              </a:rPr>
              <a:t>measurement </a:t>
            </a:r>
            <a:r>
              <a:rPr sz="3000" spc="-5" dirty="0">
                <a:latin typeface="Times New Roman"/>
                <a:cs typeface="Times New Roman"/>
              </a:rPr>
              <a:t>for 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imes New Roman"/>
                <a:cs typeface="Times New Roman"/>
              </a:rPr>
              <a:t>succession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measurement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done</a:t>
            </a:r>
            <a:r>
              <a:rPr sz="3000" spc="7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under 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identical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conditions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imes New Roman"/>
                <a:cs typeface="Times New Roman"/>
              </a:rPr>
              <a:t>excepting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for</a:t>
            </a:r>
            <a:r>
              <a:rPr sz="3000" spc="74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time</a:t>
            </a:r>
            <a:r>
              <a:rPr sz="3000" spc="645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imes New Roman"/>
                <a:cs typeface="Times New Roman"/>
              </a:rPr>
              <a:t>is 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known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imes New Roman"/>
                <a:cs typeface="Times New Roman"/>
              </a:rPr>
              <a:t>as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imes New Roman"/>
                <a:cs typeface="Times New Roman"/>
              </a:rPr>
              <a:t>single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sample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Test.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9950" y="497840"/>
            <a:ext cx="23228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60" dirty="0"/>
              <a:t>Histogram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8839" y="1633220"/>
            <a:ext cx="7723505" cy="2950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39800" algn="just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latin typeface="Times New Roman"/>
                <a:cs typeface="Times New Roman"/>
              </a:rPr>
              <a:t>When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Number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multi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sample 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observations </a:t>
            </a:r>
            <a:r>
              <a:rPr sz="3200" spc="-75" dirty="0">
                <a:latin typeface="Times New Roman"/>
                <a:cs typeface="Times New Roman"/>
              </a:rPr>
              <a:t>are </a:t>
            </a:r>
            <a:r>
              <a:rPr sz="3200" spc="-55" dirty="0">
                <a:latin typeface="Times New Roman"/>
                <a:cs typeface="Times New Roman"/>
              </a:rPr>
              <a:t>taken </a:t>
            </a:r>
            <a:r>
              <a:rPr sz="3200" spc="-90" dirty="0">
                <a:latin typeface="Times New Roman"/>
                <a:cs typeface="Times New Roman"/>
              </a:rPr>
              <a:t>experimentally, </a:t>
            </a:r>
            <a:r>
              <a:rPr sz="3200" spc="-30" dirty="0">
                <a:latin typeface="Times New Roman"/>
                <a:cs typeface="Times New Roman"/>
              </a:rPr>
              <a:t>There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125" dirty="0">
                <a:latin typeface="Times New Roman"/>
                <a:cs typeface="Times New Roman"/>
              </a:rPr>
              <a:t>a 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scatter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data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about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some</a:t>
            </a:r>
            <a:r>
              <a:rPr sz="3200" spc="72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central</a:t>
            </a:r>
            <a:r>
              <a:rPr sz="3200" spc="680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value. 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40" dirty="0">
                <a:latin typeface="Times New Roman"/>
                <a:cs typeface="Times New Roman"/>
              </a:rPr>
              <a:t>One </a:t>
            </a:r>
            <a:r>
              <a:rPr sz="3200" spc="-5" dirty="0">
                <a:latin typeface="Times New Roman"/>
                <a:cs typeface="Times New Roman"/>
              </a:rPr>
              <a:t>method </a:t>
            </a:r>
            <a:r>
              <a:rPr sz="3200" spc="-50" dirty="0">
                <a:latin typeface="Times New Roman"/>
                <a:cs typeface="Times New Roman"/>
              </a:rPr>
              <a:t>presenting </a:t>
            </a:r>
            <a:r>
              <a:rPr sz="3200" spc="-25" dirty="0">
                <a:latin typeface="Times New Roman"/>
                <a:cs typeface="Times New Roman"/>
              </a:rPr>
              <a:t>test </a:t>
            </a:r>
            <a:r>
              <a:rPr sz="3200" spc="-60" dirty="0">
                <a:latin typeface="Times New Roman"/>
                <a:cs typeface="Times New Roman"/>
              </a:rPr>
              <a:t>results </a:t>
            </a:r>
            <a:r>
              <a:rPr sz="3200" spc="-65" dirty="0">
                <a:latin typeface="Times New Roman"/>
                <a:cs typeface="Times New Roman"/>
              </a:rPr>
              <a:t>in</a:t>
            </a:r>
            <a:r>
              <a:rPr sz="3200" spc="6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15" dirty="0">
                <a:latin typeface="Times New Roman"/>
                <a:cs typeface="Times New Roman"/>
              </a:rPr>
              <a:t>form 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histogram.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55" dirty="0">
                <a:latin typeface="Times New Roman"/>
                <a:cs typeface="Times New Roman"/>
              </a:rPr>
              <a:t>It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also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called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frequency 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distribution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curve.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835" y="555429"/>
            <a:ext cx="4394637" cy="33366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50619" y="4213859"/>
            <a:ext cx="71062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20" dirty="0">
                <a:latin typeface="Times New Roman"/>
                <a:cs typeface="Times New Roman"/>
              </a:rPr>
              <a:t>A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Times New Roman"/>
                <a:cs typeface="Times New Roman"/>
              </a:rPr>
              <a:t>Histogram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Times New Roman"/>
                <a:cs typeface="Times New Roman"/>
              </a:rPr>
              <a:t>is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Times New Roman"/>
                <a:cs typeface="Times New Roman"/>
              </a:rPr>
              <a:t>a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graphical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display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of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Times New Roman"/>
                <a:cs typeface="Times New Roman"/>
              </a:rPr>
              <a:t>data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Times New Roman"/>
                <a:cs typeface="Times New Roman"/>
              </a:rPr>
              <a:t>using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Times New Roman"/>
                <a:cs typeface="Times New Roman"/>
              </a:rPr>
              <a:t>bars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of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Times New Roman"/>
                <a:cs typeface="Times New Roman"/>
              </a:rPr>
              <a:t>different</a:t>
            </a:r>
            <a:r>
              <a:rPr sz="1800" b="1" spc="10" dirty="0">
                <a:latin typeface="Times New Roman"/>
                <a:cs typeface="Times New Roman"/>
              </a:rPr>
              <a:t> heights.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It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Times New Roman"/>
                <a:cs typeface="Times New Roman"/>
              </a:rPr>
              <a:t>is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Times New Roman"/>
                <a:cs typeface="Times New Roman"/>
              </a:rPr>
              <a:t>similar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to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Times New Roman"/>
                <a:cs typeface="Times New Roman"/>
              </a:rPr>
              <a:t>a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70" dirty="0">
                <a:latin typeface="Times New Roman"/>
                <a:cs typeface="Times New Roman"/>
              </a:rPr>
              <a:t>Bar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5" dirty="0">
                <a:latin typeface="Times New Roman"/>
                <a:cs typeface="Times New Roman"/>
              </a:rPr>
              <a:t>Chart,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but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Times New Roman"/>
                <a:cs typeface="Times New Roman"/>
              </a:rPr>
              <a:t>a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histogram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groups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numbers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into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ranges 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And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you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Times New Roman"/>
                <a:cs typeface="Times New Roman"/>
              </a:rPr>
              <a:t>decide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Times New Roman"/>
                <a:cs typeface="Times New Roman"/>
              </a:rPr>
              <a:t>what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ranges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 </a:t>
            </a:r>
            <a:r>
              <a:rPr sz="1800" b="1" spc="20" dirty="0">
                <a:latin typeface="Times New Roman"/>
                <a:cs typeface="Times New Roman"/>
              </a:rPr>
              <a:t>use.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7800" y="497840"/>
            <a:ext cx="3702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80" dirty="0"/>
              <a:t>Arithmetic</a:t>
            </a:r>
            <a:r>
              <a:rPr sz="4400" spc="-60" dirty="0"/>
              <a:t> </a:t>
            </a:r>
            <a:r>
              <a:rPr sz="4400" spc="-125" dirty="0"/>
              <a:t>Mean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00150" y="1410970"/>
            <a:ext cx="7075170" cy="27051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indent="236220" algn="just">
              <a:lnSpc>
                <a:spcPct val="89900"/>
              </a:lnSpc>
              <a:spcBef>
                <a:spcPts val="484"/>
              </a:spcBef>
            </a:pPr>
            <a:r>
              <a:rPr sz="3200" spc="-20" dirty="0">
                <a:latin typeface="Times New Roman"/>
                <a:cs typeface="Times New Roman"/>
              </a:rPr>
              <a:t>The </a:t>
            </a:r>
            <a:r>
              <a:rPr sz="3200" spc="-25" dirty="0">
                <a:latin typeface="Times New Roman"/>
                <a:cs typeface="Times New Roman"/>
              </a:rPr>
              <a:t>best </a:t>
            </a:r>
            <a:r>
              <a:rPr sz="3200" spc="-45" dirty="0">
                <a:latin typeface="Times New Roman"/>
                <a:cs typeface="Times New Roman"/>
              </a:rPr>
              <a:t>approximation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spc="-65" dirty="0">
                <a:latin typeface="Times New Roman"/>
                <a:cs typeface="Times New Roman"/>
              </a:rPr>
              <a:t>can </a:t>
            </a:r>
            <a:r>
              <a:rPr sz="3200" spc="-30" dirty="0">
                <a:latin typeface="Times New Roman"/>
                <a:cs typeface="Times New Roman"/>
              </a:rPr>
              <a:t>be </a:t>
            </a:r>
            <a:r>
              <a:rPr sz="3200" spc="-60" dirty="0">
                <a:latin typeface="Times New Roman"/>
                <a:cs typeface="Times New Roman"/>
              </a:rPr>
              <a:t>made 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a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number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readings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7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78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same 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quantity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arithmetic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mean.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55" dirty="0">
                <a:latin typeface="Times New Roman"/>
                <a:cs typeface="Times New Roman"/>
              </a:rPr>
              <a:t>It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also 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called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90" dirty="0">
                <a:latin typeface="Times New Roman"/>
                <a:cs typeface="Times New Roman"/>
              </a:rPr>
              <a:t>Mean </a:t>
            </a:r>
            <a:r>
              <a:rPr sz="3200" spc="-105" dirty="0">
                <a:latin typeface="Times New Roman"/>
                <a:cs typeface="Times New Roman"/>
              </a:rPr>
              <a:t>value.</a:t>
            </a:r>
            <a:r>
              <a:rPr sz="3200" spc="59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This </a:t>
            </a:r>
            <a:r>
              <a:rPr sz="3200" spc="-55" dirty="0">
                <a:latin typeface="Times New Roman"/>
                <a:cs typeface="Times New Roman"/>
              </a:rPr>
              <a:t>mean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56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computed 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by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summing </a:t>
            </a:r>
            <a:r>
              <a:rPr sz="3200" spc="-150" dirty="0">
                <a:latin typeface="Times New Roman"/>
                <a:cs typeface="Times New Roman"/>
              </a:rPr>
              <a:t>all</a:t>
            </a:r>
            <a:r>
              <a:rPr sz="3200" spc="5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100" dirty="0">
                <a:latin typeface="Times New Roman"/>
                <a:cs typeface="Times New Roman"/>
              </a:rPr>
              <a:t>values </a:t>
            </a:r>
            <a:r>
              <a:rPr sz="3200" spc="-35" dirty="0">
                <a:latin typeface="Times New Roman"/>
                <a:cs typeface="Times New Roman"/>
              </a:rPr>
              <a:t>and </a:t>
            </a:r>
            <a:r>
              <a:rPr sz="3200" spc="-95" dirty="0">
                <a:latin typeface="Times New Roman"/>
                <a:cs typeface="Times New Roman"/>
              </a:rPr>
              <a:t>dividing </a:t>
            </a:r>
            <a:r>
              <a:rPr sz="3200" spc="-114" dirty="0">
                <a:latin typeface="Times New Roman"/>
                <a:cs typeface="Times New Roman"/>
              </a:rPr>
              <a:t>by 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number</a:t>
            </a:r>
            <a:r>
              <a:rPr sz="3200" spc="-5" dirty="0">
                <a:latin typeface="Times New Roman"/>
                <a:cs typeface="Times New Roman"/>
              </a:rPr>
              <a:t> 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measurements.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6050" y="467359"/>
            <a:ext cx="6302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Dispersion</a:t>
            </a:r>
            <a:r>
              <a:rPr sz="4800" spc="-30" dirty="0"/>
              <a:t> </a:t>
            </a:r>
            <a:r>
              <a:rPr sz="4800" spc="-15" dirty="0"/>
              <a:t>from</a:t>
            </a:r>
            <a:r>
              <a:rPr sz="4800" spc="-35" dirty="0"/>
              <a:t> </a:t>
            </a:r>
            <a:r>
              <a:rPr sz="4800" spc="-10" dirty="0"/>
              <a:t>the</a:t>
            </a:r>
            <a:r>
              <a:rPr sz="4800" spc="-15" dirty="0"/>
              <a:t> </a:t>
            </a:r>
            <a:r>
              <a:rPr sz="4800" spc="-140" dirty="0"/>
              <a:t>Mean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200150" y="1748790"/>
            <a:ext cx="7071995" cy="418337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266700" algn="just">
              <a:lnSpc>
                <a:spcPct val="89900"/>
              </a:lnSpc>
              <a:spcBef>
                <a:spcPts val="459"/>
              </a:spcBef>
            </a:pPr>
            <a:r>
              <a:rPr sz="3000" spc="-15" dirty="0">
                <a:latin typeface="Times New Roman"/>
                <a:cs typeface="Times New Roman"/>
              </a:rPr>
              <a:t>The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30" dirty="0">
                <a:latin typeface="Times New Roman"/>
                <a:cs typeface="Times New Roman"/>
              </a:rPr>
              <a:t>property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which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denotes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extent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30" dirty="0">
                <a:latin typeface="Times New Roman"/>
                <a:cs typeface="Times New Roman"/>
              </a:rPr>
              <a:t>to 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spc="-70" dirty="0">
                <a:latin typeface="Times New Roman"/>
                <a:cs typeface="Times New Roman"/>
              </a:rPr>
              <a:t>which </a:t>
            </a:r>
            <a:r>
              <a:rPr sz="3000" spc="-10" dirty="0">
                <a:latin typeface="Times New Roman"/>
                <a:cs typeface="Times New Roman"/>
              </a:rPr>
              <a:t>the </a:t>
            </a:r>
            <a:r>
              <a:rPr sz="3000" spc="-100" dirty="0">
                <a:latin typeface="Times New Roman"/>
                <a:cs typeface="Times New Roman"/>
              </a:rPr>
              <a:t>values </a:t>
            </a:r>
            <a:r>
              <a:rPr sz="3000" spc="-70" dirty="0">
                <a:latin typeface="Times New Roman"/>
                <a:cs typeface="Times New Roman"/>
              </a:rPr>
              <a:t>are </a:t>
            </a:r>
            <a:r>
              <a:rPr sz="3000" spc="-55" dirty="0">
                <a:latin typeface="Times New Roman"/>
                <a:cs typeface="Times New Roman"/>
              </a:rPr>
              <a:t>dispersed </a:t>
            </a:r>
            <a:r>
              <a:rPr sz="3000" spc="-15" dirty="0">
                <a:latin typeface="Times New Roman"/>
                <a:cs typeface="Times New Roman"/>
              </a:rPr>
              <a:t>about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spc="-60" dirty="0">
                <a:latin typeface="Times New Roman"/>
                <a:cs typeface="Times New Roman"/>
              </a:rPr>
              <a:t>central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imes New Roman"/>
                <a:cs typeface="Times New Roman"/>
              </a:rPr>
              <a:t>value </a:t>
            </a:r>
            <a:r>
              <a:rPr sz="3000" spc="-114" dirty="0">
                <a:latin typeface="Times New Roman"/>
                <a:cs typeface="Times New Roman"/>
              </a:rPr>
              <a:t>is </a:t>
            </a:r>
            <a:r>
              <a:rPr sz="3000" spc="-30" dirty="0">
                <a:latin typeface="Times New Roman"/>
                <a:cs typeface="Times New Roman"/>
              </a:rPr>
              <a:t>termed </a:t>
            </a:r>
            <a:r>
              <a:rPr sz="3000" spc="-100" dirty="0">
                <a:latin typeface="Times New Roman"/>
                <a:cs typeface="Times New Roman"/>
              </a:rPr>
              <a:t>as </a:t>
            </a:r>
            <a:r>
              <a:rPr sz="3000" spc="-55" dirty="0">
                <a:latin typeface="Times New Roman"/>
                <a:cs typeface="Times New Roman"/>
              </a:rPr>
              <a:t>dispersion. </a:t>
            </a:r>
            <a:r>
              <a:rPr sz="3000" spc="45" dirty="0">
                <a:latin typeface="Times New Roman"/>
                <a:cs typeface="Times New Roman"/>
              </a:rPr>
              <a:t>It </a:t>
            </a:r>
            <a:r>
              <a:rPr sz="3000" spc="-80" dirty="0">
                <a:latin typeface="Times New Roman"/>
                <a:cs typeface="Times New Roman"/>
              </a:rPr>
              <a:t>also </a:t>
            </a:r>
            <a:r>
              <a:rPr sz="3000" spc="-35" dirty="0">
                <a:latin typeface="Times New Roman"/>
                <a:cs typeface="Times New Roman"/>
              </a:rPr>
              <a:t>known </a:t>
            </a:r>
            <a:r>
              <a:rPr sz="3000" spc="-100" dirty="0">
                <a:latin typeface="Times New Roman"/>
                <a:cs typeface="Times New Roman"/>
              </a:rPr>
              <a:t>as 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45" dirty="0">
                <a:latin typeface="Times New Roman"/>
                <a:cs typeface="Times New Roman"/>
              </a:rPr>
              <a:t>spread </a:t>
            </a:r>
            <a:r>
              <a:rPr sz="3000" spc="15" dirty="0">
                <a:latin typeface="Times New Roman"/>
                <a:cs typeface="Times New Roman"/>
              </a:rPr>
              <a:t>or </a:t>
            </a:r>
            <a:r>
              <a:rPr sz="3000" spc="-50" dirty="0">
                <a:latin typeface="Times New Roman"/>
                <a:cs typeface="Times New Roman"/>
              </a:rPr>
              <a:t>scatter. </a:t>
            </a:r>
            <a:r>
              <a:rPr sz="3000" spc="-135" dirty="0">
                <a:latin typeface="Times New Roman"/>
                <a:cs typeface="Times New Roman"/>
              </a:rPr>
              <a:t>See </a:t>
            </a:r>
            <a:r>
              <a:rPr sz="3000" spc="-100" dirty="0">
                <a:latin typeface="Times New Roman"/>
                <a:cs typeface="Times New Roman"/>
              </a:rPr>
              <a:t>Fig. 1.1, </a:t>
            </a:r>
            <a:r>
              <a:rPr sz="3000" spc="-60" dirty="0">
                <a:latin typeface="Times New Roman"/>
                <a:cs typeface="Times New Roman"/>
              </a:rPr>
              <a:t>it </a:t>
            </a:r>
            <a:r>
              <a:rPr sz="3000" spc="-55" dirty="0">
                <a:latin typeface="Times New Roman"/>
                <a:cs typeface="Times New Roman"/>
              </a:rPr>
              <a:t>shows </a:t>
            </a:r>
            <a:r>
              <a:rPr sz="3000" spc="-35" dirty="0">
                <a:latin typeface="Times New Roman"/>
                <a:cs typeface="Times New Roman"/>
              </a:rPr>
              <a:t>two </a:t>
            </a:r>
            <a:r>
              <a:rPr sz="3000" spc="-55" dirty="0">
                <a:latin typeface="Times New Roman"/>
                <a:cs typeface="Times New Roman"/>
              </a:rPr>
              <a:t>sets 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-60" dirty="0">
                <a:latin typeface="Times New Roman"/>
                <a:cs typeface="Times New Roman"/>
              </a:rPr>
              <a:t>data. </a:t>
            </a:r>
            <a:r>
              <a:rPr sz="3000" spc="45" dirty="0">
                <a:latin typeface="Times New Roman"/>
                <a:cs typeface="Times New Roman"/>
              </a:rPr>
              <a:t>In </a:t>
            </a:r>
            <a:r>
              <a:rPr sz="3000" spc="-10" dirty="0">
                <a:latin typeface="Times New Roman"/>
                <a:cs typeface="Times New Roman"/>
              </a:rPr>
              <a:t>one </a:t>
            </a:r>
            <a:r>
              <a:rPr sz="3000" spc="-85" dirty="0">
                <a:latin typeface="Times New Roman"/>
                <a:cs typeface="Times New Roman"/>
              </a:rPr>
              <a:t>case(curve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14" dirty="0">
                <a:latin typeface="Times New Roman"/>
                <a:cs typeface="Times New Roman"/>
              </a:rPr>
              <a:t>1)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spc="-95" dirty="0">
                <a:latin typeface="Times New Roman"/>
                <a:cs typeface="Times New Roman"/>
              </a:rPr>
              <a:t>values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imes New Roman"/>
                <a:cs typeface="Times New Roman"/>
              </a:rPr>
              <a:t>vary 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from </a:t>
            </a:r>
            <a:r>
              <a:rPr sz="3000" spc="-110" dirty="0">
                <a:latin typeface="Times New Roman"/>
                <a:cs typeface="Times New Roman"/>
              </a:rPr>
              <a:t>x1 </a:t>
            </a:r>
            <a:r>
              <a:rPr sz="3000" spc="35" dirty="0">
                <a:latin typeface="Times New Roman"/>
                <a:cs typeface="Times New Roman"/>
              </a:rPr>
              <a:t>to </a:t>
            </a:r>
            <a:r>
              <a:rPr sz="3000" spc="-110" dirty="0">
                <a:latin typeface="Times New Roman"/>
                <a:cs typeface="Times New Roman"/>
              </a:rPr>
              <a:t>x2 </a:t>
            </a:r>
            <a:r>
              <a:rPr sz="3000" spc="-30" dirty="0">
                <a:latin typeface="Times New Roman"/>
                <a:cs typeface="Times New Roman"/>
              </a:rPr>
              <a:t>and </a:t>
            </a:r>
            <a:r>
              <a:rPr sz="3000" spc="-65" dirty="0">
                <a:latin typeface="Times New Roman"/>
                <a:cs typeface="Times New Roman"/>
              </a:rPr>
              <a:t>in </a:t>
            </a:r>
            <a:r>
              <a:rPr sz="3000" dirty="0">
                <a:latin typeface="Times New Roman"/>
                <a:cs typeface="Times New Roman"/>
              </a:rPr>
              <a:t>other </a:t>
            </a:r>
            <a:r>
              <a:rPr sz="3000" spc="-65" dirty="0">
                <a:latin typeface="Times New Roman"/>
                <a:cs typeface="Times New Roman"/>
              </a:rPr>
              <a:t>curve </a:t>
            </a:r>
            <a:r>
              <a:rPr sz="3000" spc="-95" dirty="0">
                <a:latin typeface="Times New Roman"/>
                <a:cs typeface="Times New Roman"/>
              </a:rPr>
              <a:t>2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spc="-95" dirty="0">
                <a:latin typeface="Times New Roman"/>
                <a:cs typeface="Times New Roman"/>
              </a:rPr>
              <a:t>values 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20" dirty="0">
                <a:latin typeface="Times New Roman"/>
                <a:cs typeface="Times New Roman"/>
              </a:rPr>
              <a:t>vary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from </a:t>
            </a:r>
            <a:r>
              <a:rPr sz="3000" spc="-110" dirty="0">
                <a:latin typeface="Times New Roman"/>
                <a:cs typeface="Times New Roman"/>
              </a:rPr>
              <a:t>x3 </a:t>
            </a:r>
            <a:r>
              <a:rPr sz="3000" spc="35" dirty="0">
                <a:latin typeface="Times New Roman"/>
                <a:cs typeface="Times New Roman"/>
              </a:rPr>
              <a:t>to </a:t>
            </a:r>
            <a:r>
              <a:rPr sz="3000" spc="-110" dirty="0">
                <a:latin typeface="Times New Roman"/>
                <a:cs typeface="Times New Roman"/>
              </a:rPr>
              <a:t>x4. </a:t>
            </a:r>
            <a:r>
              <a:rPr sz="3000" spc="-15" dirty="0">
                <a:latin typeface="Times New Roman"/>
                <a:cs typeface="Times New Roman"/>
              </a:rPr>
              <a:t>Though </a:t>
            </a:r>
            <a:r>
              <a:rPr sz="3000" spc="-35" dirty="0">
                <a:latin typeface="Times New Roman"/>
                <a:cs typeface="Times New Roman"/>
              </a:rPr>
              <a:t>their </a:t>
            </a:r>
            <a:r>
              <a:rPr sz="3000" spc="-55" dirty="0">
                <a:latin typeface="Times New Roman"/>
                <a:cs typeface="Times New Roman"/>
              </a:rPr>
              <a:t>central </a:t>
            </a:r>
            <a:r>
              <a:rPr sz="3000" spc="-100" dirty="0">
                <a:latin typeface="Times New Roman"/>
                <a:cs typeface="Times New Roman"/>
              </a:rPr>
              <a:t>value 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10" dirty="0">
                <a:latin typeface="Times New Roman"/>
                <a:cs typeface="Times New Roman"/>
              </a:rPr>
              <a:t>is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spc="-80" dirty="0">
                <a:latin typeface="Times New Roman"/>
                <a:cs typeface="Times New Roman"/>
              </a:rPr>
              <a:t>same, </a:t>
            </a:r>
            <a:r>
              <a:rPr sz="3000" spc="-125" dirty="0">
                <a:latin typeface="Times New Roman"/>
                <a:cs typeface="Times New Roman"/>
              </a:rPr>
              <a:t>clearly </a:t>
            </a:r>
            <a:r>
              <a:rPr sz="3000" spc="-45" dirty="0">
                <a:latin typeface="Times New Roman"/>
                <a:cs typeface="Times New Roman"/>
              </a:rPr>
              <a:t>set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-50" dirty="0">
                <a:latin typeface="Times New Roman"/>
                <a:cs typeface="Times New Roman"/>
              </a:rPr>
              <a:t>data </a:t>
            </a:r>
            <a:r>
              <a:rPr sz="3000" spc="-35" dirty="0">
                <a:latin typeface="Times New Roman"/>
                <a:cs typeface="Times New Roman"/>
              </a:rPr>
              <a:t>represented </a:t>
            </a:r>
            <a:r>
              <a:rPr sz="3000" spc="-110" dirty="0">
                <a:latin typeface="Times New Roman"/>
                <a:cs typeface="Times New Roman"/>
              </a:rPr>
              <a:t>by 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imes New Roman"/>
                <a:cs typeface="Times New Roman"/>
              </a:rPr>
              <a:t>curve </a:t>
            </a:r>
            <a:r>
              <a:rPr sz="3000" spc="-95" dirty="0">
                <a:latin typeface="Times New Roman"/>
                <a:cs typeface="Times New Roman"/>
              </a:rPr>
              <a:t>1</a:t>
            </a:r>
            <a:r>
              <a:rPr sz="3000" spc="560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has </a:t>
            </a:r>
            <a:r>
              <a:rPr sz="3000" spc="-114" dirty="0">
                <a:latin typeface="Times New Roman"/>
                <a:cs typeface="Times New Roman"/>
              </a:rPr>
              <a:t>a</a:t>
            </a:r>
            <a:r>
              <a:rPr sz="3000" spc="520" dirty="0">
                <a:latin typeface="Times New Roman"/>
                <a:cs typeface="Times New Roman"/>
              </a:rPr>
              <a:t> </a:t>
            </a:r>
            <a:r>
              <a:rPr sz="3000" spc="-90" dirty="0">
                <a:latin typeface="Times New Roman"/>
                <a:cs typeface="Times New Roman"/>
              </a:rPr>
              <a:t>smaller</a:t>
            </a:r>
            <a:r>
              <a:rPr sz="3000" spc="57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dispersion </a:t>
            </a:r>
            <a:r>
              <a:rPr sz="3000" spc="-5" dirty="0">
                <a:latin typeface="Times New Roman"/>
                <a:cs typeface="Times New Roman"/>
              </a:rPr>
              <a:t>than </a:t>
            </a:r>
            <a:r>
              <a:rPr sz="3000" dirty="0">
                <a:latin typeface="Times New Roman"/>
                <a:cs typeface="Times New Roman"/>
              </a:rPr>
              <a:t>that of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data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represented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110" dirty="0">
                <a:latin typeface="Times New Roman"/>
                <a:cs typeface="Times New Roman"/>
              </a:rPr>
              <a:t>by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imes New Roman"/>
                <a:cs typeface="Times New Roman"/>
              </a:rPr>
              <a:t>curve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imes New Roman"/>
                <a:cs typeface="Times New Roman"/>
              </a:rPr>
              <a:t>2.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630" y="969422"/>
            <a:ext cx="6408420" cy="509590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150" y="615950"/>
            <a:ext cx="7070090" cy="3656329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 marR="5080" indent="90170" algn="just">
              <a:lnSpc>
                <a:spcPct val="84300"/>
              </a:lnSpc>
              <a:spcBef>
                <a:spcPts val="665"/>
              </a:spcBef>
            </a:pPr>
            <a:r>
              <a:rPr sz="3000" spc="-30" dirty="0">
                <a:latin typeface="Times New Roman"/>
                <a:cs typeface="Times New Roman"/>
              </a:rPr>
              <a:t>There </a:t>
            </a:r>
            <a:r>
              <a:rPr sz="3000" spc="-65" dirty="0">
                <a:latin typeface="Times New Roman"/>
                <a:cs typeface="Times New Roman"/>
              </a:rPr>
              <a:t>are </a:t>
            </a:r>
            <a:r>
              <a:rPr sz="3000" spc="-55" dirty="0">
                <a:latin typeface="Times New Roman"/>
                <a:cs typeface="Times New Roman"/>
              </a:rPr>
              <a:t>certain </a:t>
            </a:r>
            <a:r>
              <a:rPr sz="3000" spc="-35" dirty="0">
                <a:latin typeface="Times New Roman"/>
                <a:cs typeface="Times New Roman"/>
              </a:rPr>
              <a:t>terms </a:t>
            </a:r>
            <a:r>
              <a:rPr sz="3000" spc="-70" dirty="0">
                <a:latin typeface="Times New Roman"/>
                <a:cs typeface="Times New Roman"/>
              </a:rPr>
              <a:t>which </a:t>
            </a:r>
            <a:r>
              <a:rPr sz="3000" spc="-30" dirty="0">
                <a:latin typeface="Times New Roman"/>
                <a:cs typeface="Times New Roman"/>
              </a:rPr>
              <a:t>must be </a:t>
            </a:r>
            <a:r>
              <a:rPr sz="3000" spc="-50" dirty="0">
                <a:latin typeface="Times New Roman"/>
                <a:cs typeface="Times New Roman"/>
              </a:rPr>
              <a:t>defined 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95" dirty="0">
                <a:latin typeface="Times New Roman"/>
                <a:cs typeface="Times New Roman"/>
              </a:rPr>
              <a:t>as </a:t>
            </a:r>
            <a:r>
              <a:rPr sz="3000" spc="-70" dirty="0">
                <a:latin typeface="Times New Roman"/>
                <a:cs typeface="Times New Roman"/>
              </a:rPr>
              <a:t>they </a:t>
            </a:r>
            <a:r>
              <a:rPr sz="3000" spc="-10" dirty="0">
                <a:latin typeface="Times New Roman"/>
                <a:cs typeface="Times New Roman"/>
              </a:rPr>
              <a:t>form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spc="-80" dirty="0">
                <a:latin typeface="Times New Roman"/>
                <a:cs typeface="Times New Roman"/>
              </a:rPr>
              <a:t>basis </a:t>
            </a:r>
            <a:r>
              <a:rPr sz="3000" spc="-65" dirty="0">
                <a:latin typeface="Times New Roman"/>
                <a:cs typeface="Times New Roman"/>
              </a:rPr>
              <a:t>defining </a:t>
            </a:r>
            <a:r>
              <a:rPr sz="3000" spc="-10" dirty="0">
                <a:latin typeface="Times New Roman"/>
                <a:cs typeface="Times New Roman"/>
              </a:rPr>
              <a:t>the </a:t>
            </a:r>
            <a:r>
              <a:rPr sz="3000" spc="-65" dirty="0">
                <a:latin typeface="Times New Roman"/>
                <a:cs typeface="Times New Roman"/>
              </a:rPr>
              <a:t>measure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dispersion</a:t>
            </a:r>
            <a:r>
              <a:rPr sz="3000" dirty="0">
                <a:latin typeface="Times New Roman"/>
                <a:cs typeface="Times New Roman"/>
              </a:rPr>
              <a:t> of </a:t>
            </a:r>
            <a:r>
              <a:rPr sz="3000" spc="-75" dirty="0">
                <a:latin typeface="Times New Roman"/>
                <a:cs typeface="Times New Roman"/>
              </a:rPr>
              <a:t>data:</a:t>
            </a:r>
            <a:endParaRPr sz="3000">
              <a:latin typeface="Times New Roman"/>
              <a:cs typeface="Times New Roman"/>
            </a:endParaRPr>
          </a:p>
          <a:p>
            <a:pPr marL="603250" indent="-357505" algn="just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603885" algn="l"/>
              </a:tabLst>
            </a:pPr>
            <a:r>
              <a:rPr sz="3000" spc="-95" dirty="0">
                <a:latin typeface="Times New Roman"/>
                <a:cs typeface="Times New Roman"/>
              </a:rPr>
              <a:t>Range</a:t>
            </a:r>
            <a:endParaRPr sz="3000">
              <a:latin typeface="Times New Roman"/>
              <a:cs typeface="Times New Roman"/>
            </a:endParaRPr>
          </a:p>
          <a:p>
            <a:pPr marL="246379" marR="3896995">
              <a:lnSpc>
                <a:spcPct val="105000"/>
              </a:lnSpc>
              <a:spcBef>
                <a:spcPts val="10"/>
              </a:spcBef>
              <a:buAutoNum type="arabicPeriod"/>
              <a:tabLst>
                <a:tab pos="508634" algn="l"/>
              </a:tabLst>
            </a:pPr>
            <a:r>
              <a:rPr sz="3000" spc="-40" dirty="0">
                <a:latin typeface="Times New Roman"/>
                <a:cs typeface="Times New Roman"/>
              </a:rPr>
              <a:t>Deviation 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imes New Roman"/>
                <a:cs typeface="Times New Roman"/>
              </a:rPr>
              <a:t>3.Average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deviation</a:t>
            </a:r>
            <a:endParaRPr sz="3000">
              <a:latin typeface="Times New Roman"/>
              <a:cs typeface="Times New Roman"/>
            </a:endParaRPr>
          </a:p>
          <a:p>
            <a:pPr marL="603250" indent="-357505">
              <a:lnSpc>
                <a:spcPct val="100000"/>
              </a:lnSpc>
              <a:spcBef>
                <a:spcPts val="190"/>
              </a:spcBef>
              <a:buAutoNum type="arabicPeriod" startAt="4"/>
              <a:tabLst>
                <a:tab pos="603885" algn="l"/>
              </a:tabLst>
            </a:pPr>
            <a:r>
              <a:rPr sz="3000" spc="-50" dirty="0">
                <a:latin typeface="Times New Roman"/>
                <a:cs typeface="Times New Roman"/>
              </a:rPr>
              <a:t>Standard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55" dirty="0">
                <a:latin typeface="Times New Roman"/>
                <a:cs typeface="Times New Roman"/>
              </a:rPr>
              <a:t>deviation</a:t>
            </a:r>
            <a:endParaRPr sz="3000">
              <a:latin typeface="Times New Roman"/>
              <a:cs typeface="Times New Roman"/>
            </a:endParaRPr>
          </a:p>
          <a:p>
            <a:pPr marL="603250" indent="-357505">
              <a:lnSpc>
                <a:spcPct val="100000"/>
              </a:lnSpc>
              <a:spcBef>
                <a:spcPts val="180"/>
              </a:spcBef>
              <a:buAutoNum type="arabicPeriod" startAt="4"/>
              <a:tabLst>
                <a:tab pos="603885" algn="l"/>
              </a:tabLst>
            </a:pPr>
            <a:r>
              <a:rPr sz="3000" spc="-80" dirty="0">
                <a:latin typeface="Times New Roman"/>
                <a:cs typeface="Times New Roman"/>
              </a:rPr>
              <a:t>variance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3450" y="497840"/>
            <a:ext cx="47332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35" dirty="0"/>
              <a:t>Range</a:t>
            </a:r>
            <a:r>
              <a:rPr sz="4400" spc="-30" dirty="0"/>
              <a:t> </a:t>
            </a:r>
            <a:r>
              <a:rPr sz="4400" spc="-55" dirty="0"/>
              <a:t>And</a:t>
            </a:r>
            <a:r>
              <a:rPr sz="4400" spc="-20" dirty="0"/>
              <a:t> </a:t>
            </a:r>
            <a:r>
              <a:rPr sz="4400" spc="-60" dirty="0"/>
              <a:t>Deviation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8839" y="1633220"/>
            <a:ext cx="7722870" cy="402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4470" algn="just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Times New Roman"/>
                <a:cs typeface="Times New Roman"/>
              </a:rPr>
              <a:t>The </a:t>
            </a:r>
            <a:r>
              <a:rPr sz="3200" spc="-70" dirty="0">
                <a:latin typeface="Times New Roman"/>
                <a:cs typeface="Times New Roman"/>
              </a:rPr>
              <a:t>simplest </a:t>
            </a:r>
            <a:r>
              <a:rPr sz="3200" spc="-65" dirty="0">
                <a:latin typeface="Times New Roman"/>
                <a:cs typeface="Times New Roman"/>
              </a:rPr>
              <a:t>possible measure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50" dirty="0">
                <a:latin typeface="Times New Roman"/>
                <a:cs typeface="Times New Roman"/>
              </a:rPr>
              <a:t>dispersion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range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which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difference</a:t>
            </a:r>
            <a:r>
              <a:rPr sz="3200" spc="685" dirty="0">
                <a:latin typeface="Times New Roman"/>
                <a:cs typeface="Times New Roman"/>
              </a:rPr>
              <a:t> </a:t>
            </a:r>
            <a:r>
              <a:rPr sz="3200" spc="-55" dirty="0">
                <a:latin typeface="Times New Roman"/>
                <a:cs typeface="Times New Roman"/>
              </a:rPr>
              <a:t>between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greatest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and </a:t>
            </a:r>
            <a:r>
              <a:rPr sz="3200" spc="-85" dirty="0">
                <a:latin typeface="Times New Roman"/>
                <a:cs typeface="Times New Roman"/>
              </a:rPr>
              <a:t>least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values</a:t>
            </a:r>
            <a:r>
              <a:rPr sz="3200" spc="6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65" dirty="0">
                <a:latin typeface="Times New Roman"/>
                <a:cs typeface="Times New Roman"/>
              </a:rPr>
              <a:t>data.</a:t>
            </a:r>
            <a:r>
              <a:rPr sz="3200" spc="67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E.g.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75" dirty="0">
                <a:latin typeface="Times New Roman"/>
                <a:cs typeface="Times New Roman"/>
              </a:rPr>
              <a:t>range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65" dirty="0">
                <a:latin typeface="Times New Roman"/>
                <a:cs typeface="Times New Roman"/>
              </a:rPr>
              <a:t>curve </a:t>
            </a:r>
            <a:r>
              <a:rPr sz="3200" spc="-100" dirty="0">
                <a:latin typeface="Times New Roman"/>
                <a:cs typeface="Times New Roman"/>
              </a:rPr>
              <a:t>1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105" dirty="0">
                <a:latin typeface="Times New Roman"/>
                <a:cs typeface="Times New Roman"/>
              </a:rPr>
              <a:t>(X2-X1) </a:t>
            </a:r>
            <a:r>
              <a:rPr sz="3200" spc="-35" dirty="0">
                <a:latin typeface="Times New Roman"/>
                <a:cs typeface="Times New Roman"/>
              </a:rPr>
              <a:t>and </a:t>
            </a:r>
            <a:r>
              <a:rPr sz="3200" spc="-5" dirty="0">
                <a:latin typeface="Times New Roman"/>
                <a:cs typeface="Times New Roman"/>
              </a:rPr>
              <a:t>that of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65" dirty="0">
                <a:latin typeface="Times New Roman"/>
                <a:cs typeface="Times New Roman"/>
              </a:rPr>
              <a:t>curve </a:t>
            </a:r>
            <a:r>
              <a:rPr sz="3200" spc="-100" dirty="0">
                <a:latin typeface="Times New Roman"/>
                <a:cs typeface="Times New Roman"/>
              </a:rPr>
              <a:t>2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(X4-X3).</a:t>
            </a:r>
            <a:endParaRPr sz="3200">
              <a:latin typeface="Times New Roman"/>
              <a:cs typeface="Times New Roman"/>
            </a:endParaRPr>
          </a:p>
          <a:p>
            <a:pPr marL="12700" marR="5080" indent="608330" algn="just">
              <a:lnSpc>
                <a:spcPct val="100000"/>
              </a:lnSpc>
              <a:spcBef>
                <a:spcPts val="790"/>
              </a:spcBef>
            </a:pPr>
            <a:r>
              <a:rPr sz="32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Deviation:-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Deviation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departure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Times New Roman"/>
                <a:cs typeface="Times New Roman"/>
              </a:rPr>
              <a:t>observed </a:t>
            </a:r>
            <a:r>
              <a:rPr sz="3200" spc="-80" dirty="0">
                <a:latin typeface="Times New Roman"/>
                <a:cs typeface="Times New Roman"/>
              </a:rPr>
              <a:t>reading</a:t>
            </a:r>
            <a:r>
              <a:rPr sz="3200" spc="64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from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5" dirty="0">
                <a:latin typeface="Times New Roman"/>
                <a:cs typeface="Times New Roman"/>
              </a:rPr>
              <a:t>arithmetic mean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30" dirty="0">
                <a:latin typeface="Times New Roman"/>
                <a:cs typeface="Times New Roman"/>
              </a:rPr>
              <a:t>group</a:t>
            </a:r>
            <a:r>
              <a:rPr sz="3200" spc="-5" dirty="0">
                <a:latin typeface="Times New Roman"/>
                <a:cs typeface="Times New Roman"/>
              </a:rPr>
              <a:t> 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readings.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4130" y="528320"/>
            <a:ext cx="65512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Average</a:t>
            </a:r>
            <a:r>
              <a:rPr spc="-15" dirty="0"/>
              <a:t> </a:t>
            </a:r>
            <a:r>
              <a:rPr spc="-50" dirty="0"/>
              <a:t>And</a:t>
            </a:r>
            <a:r>
              <a:rPr spc="-20" dirty="0"/>
              <a:t> </a:t>
            </a:r>
            <a:r>
              <a:rPr spc="-70" dirty="0"/>
              <a:t>Standard</a:t>
            </a:r>
            <a:r>
              <a:rPr spc="-15" dirty="0"/>
              <a:t> </a:t>
            </a:r>
            <a:r>
              <a:rPr spc="-55" dirty="0"/>
              <a:t>Deviation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583690"/>
            <a:ext cx="7724775" cy="36842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6350" indent="187960" algn="just">
              <a:lnSpc>
                <a:spcPct val="89900"/>
              </a:lnSpc>
              <a:spcBef>
                <a:spcPts val="484"/>
              </a:spcBef>
            </a:pPr>
            <a:r>
              <a:rPr sz="3200" u="heavy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Average </a:t>
            </a:r>
            <a:r>
              <a:rPr sz="3200" u="heavy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deviation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50" dirty="0">
                <a:latin typeface="Times New Roman"/>
                <a:cs typeface="Times New Roman"/>
              </a:rPr>
              <a:t>defined </a:t>
            </a:r>
            <a:r>
              <a:rPr sz="3200" spc="-105" dirty="0">
                <a:latin typeface="Times New Roman"/>
                <a:cs typeface="Times New Roman"/>
              </a:rPr>
              <a:t>as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0" dirty="0">
                <a:latin typeface="Times New Roman"/>
                <a:cs typeface="Times New Roman"/>
              </a:rPr>
              <a:t>sum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absolute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values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deviations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divided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by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number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readings.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absolute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value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deviation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Times New Roman"/>
                <a:cs typeface="Times New Roman"/>
              </a:rPr>
              <a:t>value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without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respect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3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its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0" dirty="0">
                <a:latin typeface="Times New Roman"/>
                <a:cs typeface="Times New Roman"/>
              </a:rPr>
              <a:t>sign.</a:t>
            </a:r>
            <a:endParaRPr sz="3200">
              <a:latin typeface="Times New Roman"/>
              <a:cs typeface="Times New Roman"/>
            </a:endParaRPr>
          </a:p>
          <a:p>
            <a:pPr marL="12700" marR="5080" indent="88900" algn="just">
              <a:lnSpc>
                <a:spcPct val="89900"/>
              </a:lnSpc>
              <a:spcBef>
                <a:spcPts val="800"/>
              </a:spcBef>
            </a:pPr>
            <a:r>
              <a:rPr sz="3200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Standard </a:t>
            </a:r>
            <a:r>
              <a:rPr sz="32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deviation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50" dirty="0">
                <a:latin typeface="Times New Roman"/>
                <a:cs typeface="Times New Roman"/>
              </a:rPr>
              <a:t>defined </a:t>
            </a:r>
            <a:r>
              <a:rPr sz="3200" spc="-105" dirty="0">
                <a:latin typeface="Times New Roman"/>
                <a:cs typeface="Times New Roman"/>
              </a:rPr>
              <a:t>as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65" dirty="0">
                <a:latin typeface="Times New Roman"/>
                <a:cs typeface="Times New Roman"/>
              </a:rPr>
              <a:t>square </a:t>
            </a:r>
            <a:r>
              <a:rPr sz="3200" spc="25" dirty="0">
                <a:latin typeface="Times New Roman"/>
                <a:cs typeface="Times New Roman"/>
              </a:rPr>
              <a:t>root 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0" dirty="0">
                <a:latin typeface="Times New Roman"/>
                <a:cs typeface="Times New Roman"/>
              </a:rPr>
              <a:t>sum </a:t>
            </a:r>
            <a:r>
              <a:rPr sz="3200" spc="-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90" dirty="0">
                <a:latin typeface="Times New Roman"/>
                <a:cs typeface="Times New Roman"/>
              </a:rPr>
              <a:t>individual </a:t>
            </a:r>
            <a:r>
              <a:rPr sz="3200" spc="-60" dirty="0">
                <a:latin typeface="Times New Roman"/>
                <a:cs typeface="Times New Roman"/>
              </a:rPr>
              <a:t>derivations squared, 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divided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14" dirty="0">
                <a:latin typeface="Times New Roman"/>
                <a:cs typeface="Times New Roman"/>
              </a:rPr>
              <a:t>by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number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readings.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60" dirty="0">
                <a:latin typeface="Times New Roman"/>
                <a:cs typeface="Times New Roman"/>
              </a:rPr>
              <a:t>It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important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term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65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25" dirty="0">
                <a:latin typeface="Times New Roman"/>
                <a:cs typeface="Times New Roman"/>
              </a:rPr>
              <a:t>analysis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random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numbers.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0609" y="497840"/>
            <a:ext cx="19221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heavy" spc="-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Variance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760" y="1633220"/>
            <a:ext cx="772477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080" algn="just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Times New Roman"/>
                <a:cs typeface="Times New Roman"/>
              </a:rPr>
              <a:t>The </a:t>
            </a:r>
            <a:r>
              <a:rPr sz="3200" spc="-90" dirty="0">
                <a:latin typeface="Times New Roman"/>
                <a:cs typeface="Times New Roman"/>
              </a:rPr>
              <a:t>variance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10" dirty="0">
                <a:latin typeface="Times New Roman"/>
                <a:cs typeface="Times New Roman"/>
              </a:rPr>
              <a:t>the </a:t>
            </a:r>
            <a:r>
              <a:rPr sz="3200" spc="-55" dirty="0">
                <a:latin typeface="Times New Roman"/>
                <a:cs typeface="Times New Roman"/>
              </a:rPr>
              <a:t>mean </a:t>
            </a:r>
            <a:r>
              <a:rPr sz="3200" spc="-65" dirty="0">
                <a:latin typeface="Times New Roman"/>
                <a:cs typeface="Times New Roman"/>
              </a:rPr>
              <a:t>square deviation </a:t>
            </a:r>
            <a:r>
              <a:rPr sz="3200" spc="-80" dirty="0">
                <a:latin typeface="Times New Roman"/>
                <a:cs typeface="Times New Roman"/>
              </a:rPr>
              <a:t>which 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 </a:t>
            </a:r>
            <a:r>
              <a:rPr sz="3200" spc="-85" dirty="0">
                <a:latin typeface="Times New Roman"/>
                <a:cs typeface="Times New Roman"/>
              </a:rPr>
              <a:t>same </a:t>
            </a:r>
            <a:r>
              <a:rPr sz="3200" spc="-105" dirty="0">
                <a:latin typeface="Times New Roman"/>
                <a:cs typeface="Times New Roman"/>
              </a:rPr>
              <a:t>as </a:t>
            </a:r>
            <a:r>
              <a:rPr sz="3200" spc="-55" dirty="0">
                <a:latin typeface="Times New Roman"/>
                <a:cs typeface="Times New Roman"/>
              </a:rPr>
              <a:t>Standard </a:t>
            </a:r>
            <a:r>
              <a:rPr sz="3200" spc="-65" dirty="0">
                <a:latin typeface="Times New Roman"/>
                <a:cs typeface="Times New Roman"/>
              </a:rPr>
              <a:t>deviation </a:t>
            </a:r>
            <a:r>
              <a:rPr sz="3200" spc="-60" dirty="0">
                <a:latin typeface="Times New Roman"/>
                <a:cs typeface="Times New Roman"/>
              </a:rPr>
              <a:t>except </a:t>
            </a:r>
            <a:r>
              <a:rPr sz="3200" spc="-5" dirty="0">
                <a:latin typeface="Times New Roman"/>
                <a:cs typeface="Times New Roman"/>
              </a:rPr>
              <a:t>that </a:t>
            </a:r>
            <a:r>
              <a:rPr sz="3200" spc="-65" dirty="0">
                <a:latin typeface="Times New Roman"/>
                <a:cs typeface="Times New Roman"/>
              </a:rPr>
              <a:t>square 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root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30" dirty="0">
                <a:latin typeface="Times New Roman"/>
                <a:cs typeface="Times New Roman"/>
              </a:rPr>
              <a:t>not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extracted.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175" y="1186244"/>
            <a:ext cx="7973854" cy="935993"/>
          </a:xfrm>
          <a:prstGeom prst="rect">
            <a:avLst/>
          </a:prstGeom>
        </p:spPr>
        <p:txBody>
          <a:bodyPr vert="horz" wrap="square" lIns="0" tIns="63341" rIns="0" bIns="0" rtlCol="0">
            <a:spAutoFit/>
          </a:bodyPr>
          <a:lstStyle/>
          <a:p>
            <a:pPr marL="9525" marR="3810">
              <a:lnSpc>
                <a:spcPts val="3405"/>
              </a:lnSpc>
              <a:spcBef>
                <a:spcPts val="499"/>
              </a:spcBef>
            </a:pPr>
            <a:r>
              <a:rPr sz="3150" spc="266" dirty="0"/>
              <a:t>D.1:</a:t>
            </a:r>
            <a:r>
              <a:rPr sz="3150" spc="210" dirty="0"/>
              <a:t> </a:t>
            </a:r>
            <a:r>
              <a:rPr sz="3150" spc="169" dirty="0"/>
              <a:t>Statistical</a:t>
            </a:r>
            <a:r>
              <a:rPr sz="3150" spc="248" dirty="0"/>
              <a:t> </a:t>
            </a:r>
            <a:r>
              <a:rPr sz="3150" spc="184" dirty="0"/>
              <a:t>analysis</a:t>
            </a:r>
            <a:r>
              <a:rPr sz="3150" spc="229" dirty="0"/>
              <a:t> </a:t>
            </a:r>
            <a:r>
              <a:rPr sz="3150" spc="53" dirty="0"/>
              <a:t>of</a:t>
            </a:r>
            <a:r>
              <a:rPr sz="3150" spc="221" dirty="0"/>
              <a:t> </a:t>
            </a:r>
            <a:r>
              <a:rPr sz="3150" spc="195" dirty="0"/>
              <a:t>measurements </a:t>
            </a:r>
            <a:r>
              <a:rPr sz="3150" spc="-679" dirty="0"/>
              <a:t> </a:t>
            </a:r>
            <a:r>
              <a:rPr sz="3150" spc="180" dirty="0"/>
              <a:t>subject</a:t>
            </a:r>
            <a:r>
              <a:rPr sz="3150" spc="236" dirty="0"/>
              <a:t> </a:t>
            </a:r>
            <a:r>
              <a:rPr sz="3150" spc="90" dirty="0"/>
              <a:t>to</a:t>
            </a:r>
            <a:r>
              <a:rPr sz="3150" spc="240" dirty="0"/>
              <a:t> </a:t>
            </a:r>
            <a:r>
              <a:rPr sz="3150" spc="188" dirty="0"/>
              <a:t>random</a:t>
            </a:r>
            <a:r>
              <a:rPr sz="3150" spc="214" dirty="0"/>
              <a:t> </a:t>
            </a:r>
            <a:r>
              <a:rPr sz="3150" spc="83" dirty="0"/>
              <a:t>errors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813435" y="2437418"/>
            <a:ext cx="2079308" cy="1602747"/>
          </a:xfrm>
          <a:prstGeom prst="rect">
            <a:avLst/>
          </a:prstGeom>
        </p:spPr>
        <p:txBody>
          <a:bodyPr vert="horz" wrap="square" lIns="0" tIns="33338" rIns="0" bIns="0" rtlCol="0">
            <a:spAutoFit/>
          </a:bodyPr>
          <a:lstStyle/>
          <a:p>
            <a:pPr marL="188119" indent="-179070">
              <a:spcBef>
                <a:spcPts val="263"/>
              </a:spcBef>
              <a:buClr>
                <a:srgbClr val="D24717"/>
              </a:buClr>
              <a:buSzPct val="95238"/>
              <a:buFont typeface="Wingdings"/>
              <a:buChar char=""/>
              <a:tabLst>
                <a:tab pos="188595" algn="l"/>
              </a:tabLst>
            </a:pPr>
            <a:r>
              <a:rPr sz="1575" dirty="0">
                <a:latin typeface="Calibri"/>
                <a:cs typeface="Calibri"/>
              </a:rPr>
              <a:t>Mean</a:t>
            </a:r>
            <a:r>
              <a:rPr sz="1575" spc="-26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and</a:t>
            </a:r>
            <a:r>
              <a:rPr sz="1575" spc="-34" dirty="0">
                <a:latin typeface="Calibri"/>
                <a:cs typeface="Calibri"/>
              </a:rPr>
              <a:t> </a:t>
            </a:r>
            <a:r>
              <a:rPr sz="1575" dirty="0">
                <a:latin typeface="Calibri"/>
                <a:cs typeface="Calibri"/>
              </a:rPr>
              <a:t>median</a:t>
            </a:r>
          </a:p>
          <a:p>
            <a:pPr marL="78104">
              <a:spcBef>
                <a:spcPts val="188"/>
              </a:spcBef>
            </a:pPr>
            <a:r>
              <a:rPr sz="1575" spc="-8" dirty="0">
                <a:latin typeface="Calibri"/>
                <a:cs typeface="Calibri"/>
              </a:rPr>
              <a:t>values</a:t>
            </a:r>
            <a:endParaRPr sz="1575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75" dirty="0">
              <a:latin typeface="Calibri"/>
              <a:cs typeface="Calibri"/>
            </a:endParaRPr>
          </a:p>
          <a:p>
            <a:pPr>
              <a:spcBef>
                <a:spcPts val="26"/>
              </a:spcBef>
            </a:pPr>
            <a:endParaRPr sz="1988" dirty="0">
              <a:latin typeface="Calibri"/>
              <a:cs typeface="Calibri"/>
            </a:endParaRPr>
          </a:p>
          <a:p>
            <a:pPr marL="188119" indent="-179070">
              <a:buClr>
                <a:srgbClr val="D24717"/>
              </a:buClr>
              <a:buSzPct val="95238"/>
              <a:buFont typeface="Wingdings"/>
              <a:buChar char=""/>
              <a:tabLst>
                <a:tab pos="188595" algn="l"/>
              </a:tabLst>
            </a:pPr>
            <a:r>
              <a:rPr sz="1575" spc="-8" dirty="0">
                <a:latin typeface="Calibri"/>
                <a:cs typeface="Calibri"/>
              </a:rPr>
              <a:t>Standard</a:t>
            </a:r>
            <a:r>
              <a:rPr sz="1575" spc="-49" dirty="0">
                <a:latin typeface="Calibri"/>
                <a:cs typeface="Calibri"/>
              </a:rPr>
              <a:t> </a:t>
            </a:r>
            <a:r>
              <a:rPr sz="1575" spc="-4" dirty="0">
                <a:latin typeface="Calibri"/>
                <a:cs typeface="Calibri"/>
              </a:rPr>
              <a:t>deviation</a:t>
            </a:r>
            <a:r>
              <a:rPr sz="1575" spc="-23" dirty="0">
                <a:latin typeface="Calibri"/>
                <a:cs typeface="Calibri"/>
              </a:rPr>
              <a:t> </a:t>
            </a:r>
            <a:r>
              <a:rPr sz="1575" spc="-4" dirty="0">
                <a:latin typeface="Calibri"/>
                <a:cs typeface="Calibri"/>
              </a:rPr>
              <a:t>and</a:t>
            </a:r>
            <a:endParaRPr sz="1575" dirty="0">
              <a:latin typeface="Calibri"/>
              <a:cs typeface="Calibri"/>
            </a:endParaRPr>
          </a:p>
          <a:p>
            <a:pPr marL="78104">
              <a:spcBef>
                <a:spcPts val="191"/>
              </a:spcBef>
            </a:pPr>
            <a:r>
              <a:rPr sz="1575" spc="-4" dirty="0">
                <a:latin typeface="Calibri"/>
                <a:cs typeface="Calibri"/>
              </a:rPr>
              <a:t>variance</a:t>
            </a:r>
            <a:endParaRPr sz="1575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884" y="2887129"/>
            <a:ext cx="1810979" cy="3719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1671" y="3036788"/>
            <a:ext cx="1431689" cy="2353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0273" y="3398282"/>
            <a:ext cx="4380768" cy="202660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331720" y="5640705"/>
            <a:ext cx="2194560" cy="11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649"/>
              </a:lnSpc>
            </a:pPr>
            <a:r>
              <a:rPr spc="-4" dirty="0"/>
              <a:t>LE</a:t>
            </a:r>
            <a:r>
              <a:rPr dirty="0"/>
              <a:t>CTU</a:t>
            </a:r>
            <a:r>
              <a:rPr spc="-4" dirty="0"/>
              <a:t>R</a:t>
            </a:r>
            <a:r>
              <a:rPr dirty="0"/>
              <a:t>E</a:t>
            </a:r>
            <a:r>
              <a:rPr spc="-26" dirty="0"/>
              <a:t> </a:t>
            </a:r>
            <a:r>
              <a:rPr dirty="0"/>
              <a:t>04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342900" y="5640705"/>
            <a:ext cx="1577340" cy="11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649"/>
              </a:lnSpc>
            </a:pPr>
            <a:r>
              <a:rPr dirty="0"/>
              <a:t>4/6/2022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937760" y="5640705"/>
            <a:ext cx="1577340" cy="11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649"/>
              </a:lnSpc>
            </a:pPr>
            <a:fld id="{81D60167-4931-47E6-BA6A-407CBD079E47}" type="slidenum">
              <a:rPr dirty="0"/>
              <a:pPr marL="28575">
                <a:lnSpc>
                  <a:spcPts val="649"/>
                </a:lnSpc>
              </a:pPr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A95D-76F9-DEA8-C02D-F97A4D79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Calibration </a:t>
            </a: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E2FE7-3F58-A309-E334-74297F189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029" y="1371600"/>
            <a:ext cx="7901939" cy="347787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ZA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is the activity of checking, </a:t>
            </a:r>
            <a:r>
              <a:rPr lang="en-ZA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comparison with a standard</a:t>
            </a:r>
            <a:r>
              <a:rPr lang="en-ZA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accuracy of a measuring instrument of any type. It may also include adjustment of the instrument to bring it into alignment with the standard</a:t>
            </a:r>
            <a:r>
              <a:rPr lang="en-ZA" altLang="en-US" sz="3200" dirty="0">
                <a:latin typeface="Comic Sans MS" panose="030F0702030302020204" pitchFamily="66" charset="0"/>
              </a:rPr>
              <a:t>.</a:t>
            </a:r>
          </a:p>
          <a:p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2301509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6DB0-6EC4-A408-DB38-4D7CEC43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130" y="528320"/>
            <a:ext cx="6555739" cy="1169551"/>
          </a:xfrm>
        </p:spPr>
        <p:txBody>
          <a:bodyPr/>
          <a:lstStyle/>
          <a:p>
            <a:r>
              <a:rPr lang="en-ZA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should We Calibrate?</a:t>
            </a:r>
            <a:br>
              <a:rPr lang="en-ZA" altLang="en-US" sz="4000" dirty="0">
                <a:latin typeface="Arial" panose="020B0604020202020204" pitchFamily="34" charset="0"/>
              </a:rPr>
            </a:b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0805B-104D-2C2A-F900-1AED4797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030" y="1537970"/>
            <a:ext cx="7901939" cy="4278094"/>
          </a:xfrm>
        </p:spPr>
        <p:txBody>
          <a:bodyPr/>
          <a:lstStyle/>
          <a:p>
            <a:pPr eaLnBrk="1" hangingPunct="1">
              <a:defRPr/>
            </a:pP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is required for:</a:t>
            </a:r>
          </a:p>
          <a:p>
            <a:pPr eaLnBrk="1" hangingPunct="1">
              <a:defRPr/>
            </a:pPr>
            <a:endParaRPr lang="en-Z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Z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 new instrument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Z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an instrument after it has been repaired or modified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Z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Periodic testing of instruments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Z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after the specific usage has elapsed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Z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 to and/or after a critical measurement</a:t>
            </a:r>
          </a:p>
          <a:p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29819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10587</TotalTime>
  <Words>1894</Words>
  <Application>Microsoft Office PowerPoint</Application>
  <PresentationFormat>On-screen Show (4:3)</PresentationFormat>
  <Paragraphs>245</Paragraphs>
  <Slides>40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Aptos</vt:lpstr>
      <vt:lpstr>Arial</vt:lpstr>
      <vt:lpstr>Arial MT</vt:lpstr>
      <vt:lpstr>Calibri</vt:lpstr>
      <vt:lpstr>Cambria</vt:lpstr>
      <vt:lpstr>Comic Sans MS</vt:lpstr>
      <vt:lpstr>Georgia</vt:lpstr>
      <vt:lpstr>Symbol</vt:lpstr>
      <vt:lpstr>Tahoma</vt:lpstr>
      <vt:lpstr>Times New Roman</vt:lpstr>
      <vt:lpstr>Wingdings</vt:lpstr>
      <vt:lpstr>Office Theme</vt:lpstr>
      <vt:lpstr>Equation</vt:lpstr>
      <vt:lpstr>PowerPoint Presentation</vt:lpstr>
      <vt:lpstr>No Measurement is Accurate!</vt:lpstr>
      <vt:lpstr>Definitions</vt:lpstr>
      <vt:lpstr>Types of Errors</vt:lpstr>
      <vt:lpstr>Gross Errors</vt:lpstr>
      <vt:lpstr>PowerPoint Presentation</vt:lpstr>
      <vt:lpstr>Systematic Errors</vt:lpstr>
      <vt:lpstr>Instrumental Errors</vt:lpstr>
      <vt:lpstr>Environmental Errors</vt:lpstr>
      <vt:lpstr>Observational Errors</vt:lpstr>
      <vt:lpstr> Theoretical Errors</vt:lpstr>
      <vt:lpstr>PowerPoint Presentation</vt:lpstr>
      <vt:lpstr>CAREFUL  INSTRUMENT  DESIGN</vt:lpstr>
      <vt:lpstr>ERROR IN MEASUREMENT</vt:lpstr>
      <vt:lpstr>ERROR IN MEASUREMENT</vt:lpstr>
      <vt:lpstr>PowerPoint Presentation</vt:lpstr>
      <vt:lpstr>Solution (Example 1.1)</vt:lpstr>
      <vt:lpstr>Example 1.2 </vt:lpstr>
      <vt:lpstr>LIMITING ERROR</vt:lpstr>
      <vt:lpstr>LIMITING ERROR (cont)</vt:lpstr>
      <vt:lpstr>LIMITING ERROR (cont)</vt:lpstr>
      <vt:lpstr>Exercise</vt:lpstr>
      <vt:lpstr>Errors in Electrical Circuits</vt:lpstr>
      <vt:lpstr>Example:</vt:lpstr>
      <vt:lpstr>Random Errors</vt:lpstr>
      <vt:lpstr>Example of Random Error</vt:lpstr>
      <vt:lpstr>Statistical Analysis of Data</vt:lpstr>
      <vt:lpstr>PowerPoint Presentation</vt:lpstr>
      <vt:lpstr>Histogram</vt:lpstr>
      <vt:lpstr>PowerPoint Presentation</vt:lpstr>
      <vt:lpstr>Arithmetic Mean</vt:lpstr>
      <vt:lpstr>Dispersion from the Mean</vt:lpstr>
      <vt:lpstr>PowerPoint Presentation</vt:lpstr>
      <vt:lpstr>PowerPoint Presentation</vt:lpstr>
      <vt:lpstr>Range And Deviation</vt:lpstr>
      <vt:lpstr>Average And Standard Deviation</vt:lpstr>
      <vt:lpstr>PowerPoint Presentation</vt:lpstr>
      <vt:lpstr>D.1: Statistical analysis of measurements  subject to random errors</vt:lpstr>
      <vt:lpstr>Calibration </vt:lpstr>
      <vt:lpstr>Why should We Calibrate?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Remotsaletswe Moalosi</dc:creator>
  <cp:lastModifiedBy>Remotsaletswe Moalosi</cp:lastModifiedBy>
  <cp:revision>2</cp:revision>
  <dcterms:created xsi:type="dcterms:W3CDTF">2022-09-04T19:11:50Z</dcterms:created>
  <dcterms:modified xsi:type="dcterms:W3CDTF">2024-09-05T04:03:21Z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2013-10-01T00:00:00Z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2022-09-04T00:00:00Z</vt:filetime>
  </property>
</Properties>
</file>
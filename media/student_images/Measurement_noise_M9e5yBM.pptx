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342" r:id="rId2"/>
    <p:sldId id="343" r:id="rId3"/>
    <p:sldId id="344" r:id="rId4"/>
    <p:sldId id="345" r:id="rId5"/>
    <p:sldId id="346" r:id="rId6"/>
    <p:sldId id="347" r:id="rId7"/>
    <p:sldId id="348" r:id="rId8"/>
    <p:sldId id="349" r:id="rId9"/>
    <p:sldId id="350" r:id="rId10"/>
    <p:sldId id="351" r:id="rId11"/>
    <p:sldId id="352" r:id="rId12"/>
    <p:sldId id="353" r:id="rId13"/>
    <p:sldId id="354" r:id="rId14"/>
    <p:sldId id="356" r:id="rId15"/>
    <p:sldId id="357" r:id="rId16"/>
    <p:sldId id="358" r:id="rId17"/>
    <p:sldId id="359" r:id="rId18"/>
    <p:sldId id="36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motsaletswe Moalosi" userId="a3f8274a-0ae2-4e14-946e-a2b704a97a52" providerId="ADAL" clId="{4CFD7B8A-6916-4A45-86D9-688A1C159FA7}"/>
    <pc:docChg chg="modSld">
      <pc:chgData name="Remotsaletswe Moalosi" userId="a3f8274a-0ae2-4e14-946e-a2b704a97a52" providerId="ADAL" clId="{4CFD7B8A-6916-4A45-86D9-688A1C159FA7}" dt="2024-10-17T07:28:16.360" v="0" actId="1076"/>
      <pc:docMkLst>
        <pc:docMk/>
      </pc:docMkLst>
      <pc:sldChg chg="modSp mod">
        <pc:chgData name="Remotsaletswe Moalosi" userId="a3f8274a-0ae2-4e14-946e-a2b704a97a52" providerId="ADAL" clId="{4CFD7B8A-6916-4A45-86D9-688A1C159FA7}" dt="2024-10-17T07:28:16.360" v="0" actId="1076"/>
        <pc:sldMkLst>
          <pc:docMk/>
          <pc:sldMk cId="0" sldId="360"/>
        </pc:sldMkLst>
        <pc:spChg chg="mod">
          <ac:chgData name="Remotsaletswe Moalosi" userId="a3f8274a-0ae2-4e14-946e-a2b704a97a52" providerId="ADAL" clId="{4CFD7B8A-6916-4A45-86D9-688A1C159FA7}" dt="2024-10-17T07:28:16.360" v="0" actId="1076"/>
          <ac:spMkLst>
            <pc:docMk/>
            <pc:sldMk cId="0" sldId="360"/>
            <ac:spMk id="20482" creationId="{8EEACC55-A7C1-47FE-94BB-02F278D0F3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54C02C-0C8B-4DDF-AB87-42B9ADE9C98B}"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4195EB7D-E41D-4A90-A07C-19CE672C7D63}">
      <dgm:prSet/>
      <dgm:spPr/>
      <dgm:t>
        <a:bodyPr/>
        <a:lstStyle/>
        <a:p>
          <a:pPr>
            <a:lnSpc>
              <a:spcPct val="100000"/>
            </a:lnSpc>
          </a:pPr>
          <a:r>
            <a:rPr lang="en-US" b="1"/>
            <a:t>Shielding</a:t>
          </a:r>
          <a:endParaRPr lang="en-US"/>
        </a:p>
      </dgm:t>
    </dgm:pt>
    <dgm:pt modelId="{F0FCE23D-C7FC-465E-9921-DF2404CAF0EA}" type="parTrans" cxnId="{774A87E5-07E0-4188-8AD9-1A52CBD13974}">
      <dgm:prSet/>
      <dgm:spPr/>
      <dgm:t>
        <a:bodyPr/>
        <a:lstStyle/>
        <a:p>
          <a:endParaRPr lang="en-US"/>
        </a:p>
      </dgm:t>
    </dgm:pt>
    <dgm:pt modelId="{36910394-6A56-47D1-9A25-39EB14FB775E}" type="sibTrans" cxnId="{774A87E5-07E0-4188-8AD9-1A52CBD13974}">
      <dgm:prSet/>
      <dgm:spPr/>
      <dgm:t>
        <a:bodyPr/>
        <a:lstStyle/>
        <a:p>
          <a:endParaRPr lang="en-US"/>
        </a:p>
      </dgm:t>
    </dgm:pt>
    <dgm:pt modelId="{E27DF1BB-0C06-45CC-ACDF-C6E3EA29678D}">
      <dgm:prSet/>
      <dgm:spPr/>
      <dgm:t>
        <a:bodyPr/>
        <a:lstStyle/>
        <a:p>
          <a:pPr>
            <a:lnSpc>
              <a:spcPct val="100000"/>
            </a:lnSpc>
          </a:pPr>
          <a:r>
            <a:rPr lang="en-US"/>
            <a:t>Shielding consists of enclosing the signal wires in an earthed,  metal shield that is itself isolated electrically from the signal wires.</a:t>
          </a:r>
        </a:p>
      </dgm:t>
    </dgm:pt>
    <dgm:pt modelId="{845343AC-DDAA-47B9-8116-F1C8A405E4B6}" type="parTrans" cxnId="{58CE5D14-64C3-4600-BFFC-46801A94635A}">
      <dgm:prSet/>
      <dgm:spPr/>
      <dgm:t>
        <a:bodyPr/>
        <a:lstStyle/>
        <a:p>
          <a:endParaRPr lang="en-US"/>
        </a:p>
      </dgm:t>
    </dgm:pt>
    <dgm:pt modelId="{CE0B2EBA-C0DB-43DD-950F-44BC05D23C37}" type="sibTrans" cxnId="{58CE5D14-64C3-4600-BFFC-46801A94635A}">
      <dgm:prSet/>
      <dgm:spPr/>
      <dgm:t>
        <a:bodyPr/>
        <a:lstStyle/>
        <a:p>
          <a:endParaRPr lang="en-US"/>
        </a:p>
      </dgm:t>
    </dgm:pt>
    <dgm:pt modelId="{92C31595-0852-408F-A24F-D66353FF4C48}">
      <dgm:prSet/>
      <dgm:spPr/>
      <dgm:t>
        <a:bodyPr/>
        <a:lstStyle/>
        <a:p>
          <a:pPr>
            <a:lnSpc>
              <a:spcPct val="100000"/>
            </a:lnSpc>
          </a:pPr>
          <a:r>
            <a:rPr lang="en-US"/>
            <a:t>The shield should be earthed at only one point, preferably the  signal source end. A shield consisting of braided metal eliminates  85% of noise due to capacitive coupling whilst a lapped metal foil  shield eliminates noise almost entirely.</a:t>
          </a:r>
        </a:p>
      </dgm:t>
    </dgm:pt>
    <dgm:pt modelId="{AF81661F-2D78-4C2C-A2D3-29981B875E87}" type="parTrans" cxnId="{62CB2BDD-8981-4D94-8F98-0410903D8A4E}">
      <dgm:prSet/>
      <dgm:spPr/>
      <dgm:t>
        <a:bodyPr/>
        <a:lstStyle/>
        <a:p>
          <a:endParaRPr lang="en-US"/>
        </a:p>
      </dgm:t>
    </dgm:pt>
    <dgm:pt modelId="{080D1333-7873-4727-A00D-CE88F70FEC2A}" type="sibTrans" cxnId="{62CB2BDD-8981-4D94-8F98-0410903D8A4E}">
      <dgm:prSet/>
      <dgm:spPr/>
      <dgm:t>
        <a:bodyPr/>
        <a:lstStyle/>
        <a:p>
          <a:endParaRPr lang="en-US"/>
        </a:p>
      </dgm:t>
    </dgm:pt>
    <dgm:pt modelId="{912F140B-47D3-49E2-BB7D-9BAA4189E680}">
      <dgm:prSet/>
      <dgm:spPr/>
      <dgm:t>
        <a:bodyPr/>
        <a:lstStyle/>
        <a:p>
          <a:pPr>
            <a:lnSpc>
              <a:spcPct val="100000"/>
            </a:lnSpc>
          </a:pPr>
          <a:r>
            <a:rPr lang="en-US"/>
            <a:t>The wires inside such a shield are normally formed as a twisted  pair so that protection is also provided against induced noise due  to nearby electromagnetic fields.</a:t>
          </a:r>
        </a:p>
      </dgm:t>
    </dgm:pt>
    <dgm:pt modelId="{DA436721-71C2-4CC8-A290-C86D39F9B442}" type="parTrans" cxnId="{F59450E7-ABBA-4B26-B61A-49665A67DD85}">
      <dgm:prSet/>
      <dgm:spPr/>
      <dgm:t>
        <a:bodyPr/>
        <a:lstStyle/>
        <a:p>
          <a:endParaRPr lang="en-US"/>
        </a:p>
      </dgm:t>
    </dgm:pt>
    <dgm:pt modelId="{C0776BC8-3A2C-45EE-99E9-E0E0C4190FFF}" type="sibTrans" cxnId="{F59450E7-ABBA-4B26-B61A-49665A67DD85}">
      <dgm:prSet/>
      <dgm:spPr/>
      <dgm:t>
        <a:bodyPr/>
        <a:lstStyle/>
        <a:p>
          <a:endParaRPr lang="en-US"/>
        </a:p>
      </dgm:t>
    </dgm:pt>
    <dgm:pt modelId="{1CC9AA49-864A-48EC-AD3B-1C0BD722944E}">
      <dgm:prSet/>
      <dgm:spPr/>
      <dgm:t>
        <a:bodyPr/>
        <a:lstStyle/>
        <a:p>
          <a:pPr>
            <a:lnSpc>
              <a:spcPct val="100000"/>
            </a:lnSpc>
          </a:pPr>
          <a:r>
            <a:rPr lang="en-US"/>
            <a:t>Metal conduit is also sometimes used to provide shielding from  capacitve-coupled noise, but the necessary supports for the  conduit provide multiple earth points.</a:t>
          </a:r>
        </a:p>
      </dgm:t>
    </dgm:pt>
    <dgm:pt modelId="{C55442F8-6BE5-4EA9-8637-3B9F2B4AFFBB}" type="parTrans" cxnId="{BC0FEF63-339A-4481-BC9E-3D7599B7287F}">
      <dgm:prSet/>
      <dgm:spPr/>
      <dgm:t>
        <a:bodyPr/>
        <a:lstStyle/>
        <a:p>
          <a:endParaRPr lang="en-US"/>
        </a:p>
      </dgm:t>
    </dgm:pt>
    <dgm:pt modelId="{54E339B2-E2BE-4268-A81F-45E645CDCD9F}" type="sibTrans" cxnId="{BC0FEF63-339A-4481-BC9E-3D7599B7287F}">
      <dgm:prSet/>
      <dgm:spPr/>
      <dgm:t>
        <a:bodyPr/>
        <a:lstStyle/>
        <a:p>
          <a:endParaRPr lang="en-US"/>
        </a:p>
      </dgm:t>
    </dgm:pt>
    <dgm:pt modelId="{6D4D2045-DB8D-4542-8ACB-74BB046DAEFA}" type="pres">
      <dgm:prSet presAssocID="{8454C02C-0C8B-4DDF-AB87-42B9ADE9C98B}" presName="Name0" presStyleCnt="0">
        <dgm:presLayoutVars>
          <dgm:dir/>
          <dgm:resizeHandles val="exact"/>
        </dgm:presLayoutVars>
      </dgm:prSet>
      <dgm:spPr/>
    </dgm:pt>
    <dgm:pt modelId="{6959D29B-4091-43D8-94F6-2F43B81DF26C}" type="pres">
      <dgm:prSet presAssocID="{4195EB7D-E41D-4A90-A07C-19CE672C7D63}" presName="node" presStyleLbl="node1" presStyleIdx="0" presStyleCnt="5">
        <dgm:presLayoutVars>
          <dgm:bulletEnabled val="1"/>
        </dgm:presLayoutVars>
      </dgm:prSet>
      <dgm:spPr/>
    </dgm:pt>
    <dgm:pt modelId="{8735C2D5-E786-4FEF-A6BF-2142DCB17610}" type="pres">
      <dgm:prSet presAssocID="{36910394-6A56-47D1-9A25-39EB14FB775E}" presName="sibTrans" presStyleLbl="sibTrans1D1" presStyleIdx="0" presStyleCnt="4"/>
      <dgm:spPr/>
    </dgm:pt>
    <dgm:pt modelId="{0E5E8983-25AD-46A1-837F-6AE9EDD94DB2}" type="pres">
      <dgm:prSet presAssocID="{36910394-6A56-47D1-9A25-39EB14FB775E}" presName="connectorText" presStyleLbl="sibTrans1D1" presStyleIdx="0" presStyleCnt="4"/>
      <dgm:spPr/>
    </dgm:pt>
    <dgm:pt modelId="{2FBC3246-2134-4166-AB00-80B0F4E65FE4}" type="pres">
      <dgm:prSet presAssocID="{E27DF1BB-0C06-45CC-ACDF-C6E3EA29678D}" presName="node" presStyleLbl="node1" presStyleIdx="1" presStyleCnt="5">
        <dgm:presLayoutVars>
          <dgm:bulletEnabled val="1"/>
        </dgm:presLayoutVars>
      </dgm:prSet>
      <dgm:spPr/>
    </dgm:pt>
    <dgm:pt modelId="{6C3DACAC-5D58-4257-B45D-2BF931D7D19E}" type="pres">
      <dgm:prSet presAssocID="{CE0B2EBA-C0DB-43DD-950F-44BC05D23C37}" presName="sibTrans" presStyleLbl="sibTrans1D1" presStyleIdx="1" presStyleCnt="4"/>
      <dgm:spPr/>
    </dgm:pt>
    <dgm:pt modelId="{572E7FD2-2BFA-416D-A756-434C10A2CFC2}" type="pres">
      <dgm:prSet presAssocID="{CE0B2EBA-C0DB-43DD-950F-44BC05D23C37}" presName="connectorText" presStyleLbl="sibTrans1D1" presStyleIdx="1" presStyleCnt="4"/>
      <dgm:spPr/>
    </dgm:pt>
    <dgm:pt modelId="{436A5FB3-B6E0-4133-BED8-76529FFFB162}" type="pres">
      <dgm:prSet presAssocID="{92C31595-0852-408F-A24F-D66353FF4C48}" presName="node" presStyleLbl="node1" presStyleIdx="2" presStyleCnt="5">
        <dgm:presLayoutVars>
          <dgm:bulletEnabled val="1"/>
        </dgm:presLayoutVars>
      </dgm:prSet>
      <dgm:spPr/>
    </dgm:pt>
    <dgm:pt modelId="{B38329B1-C227-4EFF-9E28-72D7EA185D0F}" type="pres">
      <dgm:prSet presAssocID="{080D1333-7873-4727-A00D-CE88F70FEC2A}" presName="sibTrans" presStyleLbl="sibTrans1D1" presStyleIdx="2" presStyleCnt="4"/>
      <dgm:spPr/>
    </dgm:pt>
    <dgm:pt modelId="{87F638D7-E9C6-42ED-B0AE-818B860EED8E}" type="pres">
      <dgm:prSet presAssocID="{080D1333-7873-4727-A00D-CE88F70FEC2A}" presName="connectorText" presStyleLbl="sibTrans1D1" presStyleIdx="2" presStyleCnt="4"/>
      <dgm:spPr/>
    </dgm:pt>
    <dgm:pt modelId="{A891B779-E3D4-4E53-BE2D-AF1B560A6AC3}" type="pres">
      <dgm:prSet presAssocID="{912F140B-47D3-49E2-BB7D-9BAA4189E680}" presName="node" presStyleLbl="node1" presStyleIdx="3" presStyleCnt="5">
        <dgm:presLayoutVars>
          <dgm:bulletEnabled val="1"/>
        </dgm:presLayoutVars>
      </dgm:prSet>
      <dgm:spPr/>
    </dgm:pt>
    <dgm:pt modelId="{6579E75A-48CD-4780-817C-D0CFA366630B}" type="pres">
      <dgm:prSet presAssocID="{C0776BC8-3A2C-45EE-99E9-E0E0C4190FFF}" presName="sibTrans" presStyleLbl="sibTrans1D1" presStyleIdx="3" presStyleCnt="4"/>
      <dgm:spPr/>
    </dgm:pt>
    <dgm:pt modelId="{0DC9D91D-7BAB-4661-A30B-A56AD634F11D}" type="pres">
      <dgm:prSet presAssocID="{C0776BC8-3A2C-45EE-99E9-E0E0C4190FFF}" presName="connectorText" presStyleLbl="sibTrans1D1" presStyleIdx="3" presStyleCnt="4"/>
      <dgm:spPr/>
    </dgm:pt>
    <dgm:pt modelId="{03536626-A9B4-4E90-9041-29B1D90BD63C}" type="pres">
      <dgm:prSet presAssocID="{1CC9AA49-864A-48EC-AD3B-1C0BD722944E}" presName="node" presStyleLbl="node1" presStyleIdx="4" presStyleCnt="5">
        <dgm:presLayoutVars>
          <dgm:bulletEnabled val="1"/>
        </dgm:presLayoutVars>
      </dgm:prSet>
      <dgm:spPr/>
    </dgm:pt>
  </dgm:ptLst>
  <dgm:cxnLst>
    <dgm:cxn modelId="{6DCDCE0C-7C69-42A7-AE50-277A03EB776D}" type="presOf" srcId="{4195EB7D-E41D-4A90-A07C-19CE672C7D63}" destId="{6959D29B-4091-43D8-94F6-2F43B81DF26C}" srcOrd="0" destOrd="0" presId="urn:microsoft.com/office/officeart/2016/7/layout/RepeatingBendingProcessNew"/>
    <dgm:cxn modelId="{58CE5D14-64C3-4600-BFFC-46801A94635A}" srcId="{8454C02C-0C8B-4DDF-AB87-42B9ADE9C98B}" destId="{E27DF1BB-0C06-45CC-ACDF-C6E3EA29678D}" srcOrd="1" destOrd="0" parTransId="{845343AC-DDAA-47B9-8116-F1C8A405E4B6}" sibTransId="{CE0B2EBA-C0DB-43DD-950F-44BC05D23C37}"/>
    <dgm:cxn modelId="{F7084B37-1363-4E19-A6C9-FDD1B484B828}" type="presOf" srcId="{36910394-6A56-47D1-9A25-39EB14FB775E}" destId="{8735C2D5-E786-4FEF-A6BF-2142DCB17610}" srcOrd="0" destOrd="0" presId="urn:microsoft.com/office/officeart/2016/7/layout/RepeatingBendingProcessNew"/>
    <dgm:cxn modelId="{BC0FEF63-339A-4481-BC9E-3D7599B7287F}" srcId="{8454C02C-0C8B-4DDF-AB87-42B9ADE9C98B}" destId="{1CC9AA49-864A-48EC-AD3B-1C0BD722944E}" srcOrd="4" destOrd="0" parTransId="{C55442F8-6BE5-4EA9-8637-3B9F2B4AFFBB}" sibTransId="{54E339B2-E2BE-4268-A81F-45E645CDCD9F}"/>
    <dgm:cxn modelId="{98BEE372-628F-4527-AB4B-0083F51CD43C}" type="presOf" srcId="{CE0B2EBA-C0DB-43DD-950F-44BC05D23C37}" destId="{6C3DACAC-5D58-4257-B45D-2BF931D7D19E}" srcOrd="0" destOrd="0" presId="urn:microsoft.com/office/officeart/2016/7/layout/RepeatingBendingProcessNew"/>
    <dgm:cxn modelId="{89D53B58-8FE3-4CA5-8233-E56B1F0F9223}" type="presOf" srcId="{36910394-6A56-47D1-9A25-39EB14FB775E}" destId="{0E5E8983-25AD-46A1-837F-6AE9EDD94DB2}" srcOrd="1" destOrd="0" presId="urn:microsoft.com/office/officeart/2016/7/layout/RepeatingBendingProcessNew"/>
    <dgm:cxn modelId="{5F14D27B-8257-4CD6-BBFF-0635857B2CA7}" type="presOf" srcId="{080D1333-7873-4727-A00D-CE88F70FEC2A}" destId="{87F638D7-E9C6-42ED-B0AE-818B860EED8E}" srcOrd="1" destOrd="0" presId="urn:microsoft.com/office/officeart/2016/7/layout/RepeatingBendingProcessNew"/>
    <dgm:cxn modelId="{5A282F86-83FA-4FE6-975C-56D4B7EAF33C}" type="presOf" srcId="{8454C02C-0C8B-4DDF-AB87-42B9ADE9C98B}" destId="{6D4D2045-DB8D-4542-8ACB-74BB046DAEFA}" srcOrd="0" destOrd="0" presId="urn:microsoft.com/office/officeart/2016/7/layout/RepeatingBendingProcessNew"/>
    <dgm:cxn modelId="{BB3422B7-4609-4BA0-ADC3-0AE0C8070380}" type="presOf" srcId="{C0776BC8-3A2C-45EE-99E9-E0E0C4190FFF}" destId="{0DC9D91D-7BAB-4661-A30B-A56AD634F11D}" srcOrd="1" destOrd="0" presId="urn:microsoft.com/office/officeart/2016/7/layout/RepeatingBendingProcessNew"/>
    <dgm:cxn modelId="{134008BF-FAB6-4122-9A97-4E6FE7114371}" type="presOf" srcId="{1CC9AA49-864A-48EC-AD3B-1C0BD722944E}" destId="{03536626-A9B4-4E90-9041-29B1D90BD63C}" srcOrd="0" destOrd="0" presId="urn:microsoft.com/office/officeart/2016/7/layout/RepeatingBendingProcessNew"/>
    <dgm:cxn modelId="{75B2A1C6-1AC1-4B87-B2B7-9446B4B3E840}" type="presOf" srcId="{C0776BC8-3A2C-45EE-99E9-E0E0C4190FFF}" destId="{6579E75A-48CD-4780-817C-D0CFA366630B}" srcOrd="0" destOrd="0" presId="urn:microsoft.com/office/officeart/2016/7/layout/RepeatingBendingProcessNew"/>
    <dgm:cxn modelId="{2F31E7C7-5999-480D-AEAC-C60F2E34501B}" type="presOf" srcId="{912F140B-47D3-49E2-BB7D-9BAA4189E680}" destId="{A891B779-E3D4-4E53-BE2D-AF1B560A6AC3}" srcOrd="0" destOrd="0" presId="urn:microsoft.com/office/officeart/2016/7/layout/RepeatingBendingProcessNew"/>
    <dgm:cxn modelId="{71713CCB-D271-447F-A6B6-3CDBA158EE04}" type="presOf" srcId="{CE0B2EBA-C0DB-43DD-950F-44BC05D23C37}" destId="{572E7FD2-2BFA-416D-A756-434C10A2CFC2}" srcOrd="1" destOrd="0" presId="urn:microsoft.com/office/officeart/2016/7/layout/RepeatingBendingProcessNew"/>
    <dgm:cxn modelId="{E11834D8-8A2D-49D1-8B33-C3294667C283}" type="presOf" srcId="{92C31595-0852-408F-A24F-D66353FF4C48}" destId="{436A5FB3-B6E0-4133-BED8-76529FFFB162}" srcOrd="0" destOrd="0" presId="urn:microsoft.com/office/officeart/2016/7/layout/RepeatingBendingProcessNew"/>
    <dgm:cxn modelId="{62CB2BDD-8981-4D94-8F98-0410903D8A4E}" srcId="{8454C02C-0C8B-4DDF-AB87-42B9ADE9C98B}" destId="{92C31595-0852-408F-A24F-D66353FF4C48}" srcOrd="2" destOrd="0" parTransId="{AF81661F-2D78-4C2C-A2D3-29981B875E87}" sibTransId="{080D1333-7873-4727-A00D-CE88F70FEC2A}"/>
    <dgm:cxn modelId="{2983A4E2-FBDC-422A-B37F-2FC452D95E16}" type="presOf" srcId="{E27DF1BB-0C06-45CC-ACDF-C6E3EA29678D}" destId="{2FBC3246-2134-4166-AB00-80B0F4E65FE4}" srcOrd="0" destOrd="0" presId="urn:microsoft.com/office/officeart/2016/7/layout/RepeatingBendingProcessNew"/>
    <dgm:cxn modelId="{774A87E5-07E0-4188-8AD9-1A52CBD13974}" srcId="{8454C02C-0C8B-4DDF-AB87-42B9ADE9C98B}" destId="{4195EB7D-E41D-4A90-A07C-19CE672C7D63}" srcOrd="0" destOrd="0" parTransId="{F0FCE23D-C7FC-465E-9921-DF2404CAF0EA}" sibTransId="{36910394-6A56-47D1-9A25-39EB14FB775E}"/>
    <dgm:cxn modelId="{F59450E7-ABBA-4B26-B61A-49665A67DD85}" srcId="{8454C02C-0C8B-4DDF-AB87-42B9ADE9C98B}" destId="{912F140B-47D3-49E2-BB7D-9BAA4189E680}" srcOrd="3" destOrd="0" parTransId="{DA436721-71C2-4CC8-A290-C86D39F9B442}" sibTransId="{C0776BC8-3A2C-45EE-99E9-E0E0C4190FFF}"/>
    <dgm:cxn modelId="{5BB2F7F6-61B2-492E-944D-D04D64954248}" type="presOf" srcId="{080D1333-7873-4727-A00D-CE88F70FEC2A}" destId="{B38329B1-C227-4EFF-9E28-72D7EA185D0F}" srcOrd="0" destOrd="0" presId="urn:microsoft.com/office/officeart/2016/7/layout/RepeatingBendingProcessNew"/>
    <dgm:cxn modelId="{51B45FEA-C883-496A-B0A3-0A1735EA3474}" type="presParOf" srcId="{6D4D2045-DB8D-4542-8ACB-74BB046DAEFA}" destId="{6959D29B-4091-43D8-94F6-2F43B81DF26C}" srcOrd="0" destOrd="0" presId="urn:microsoft.com/office/officeart/2016/7/layout/RepeatingBendingProcessNew"/>
    <dgm:cxn modelId="{A149B105-6815-42AB-88E4-E00F29D2485E}" type="presParOf" srcId="{6D4D2045-DB8D-4542-8ACB-74BB046DAEFA}" destId="{8735C2D5-E786-4FEF-A6BF-2142DCB17610}" srcOrd="1" destOrd="0" presId="urn:microsoft.com/office/officeart/2016/7/layout/RepeatingBendingProcessNew"/>
    <dgm:cxn modelId="{6EC370DC-1770-4A08-B30C-6A17DFE3E198}" type="presParOf" srcId="{8735C2D5-E786-4FEF-A6BF-2142DCB17610}" destId="{0E5E8983-25AD-46A1-837F-6AE9EDD94DB2}" srcOrd="0" destOrd="0" presId="urn:microsoft.com/office/officeart/2016/7/layout/RepeatingBendingProcessNew"/>
    <dgm:cxn modelId="{904CA970-8078-432C-AC7F-35E9EEEA9854}" type="presParOf" srcId="{6D4D2045-DB8D-4542-8ACB-74BB046DAEFA}" destId="{2FBC3246-2134-4166-AB00-80B0F4E65FE4}" srcOrd="2" destOrd="0" presId="urn:microsoft.com/office/officeart/2016/7/layout/RepeatingBendingProcessNew"/>
    <dgm:cxn modelId="{B6685AED-62AE-4659-BBA8-65F8DFA2A8F7}" type="presParOf" srcId="{6D4D2045-DB8D-4542-8ACB-74BB046DAEFA}" destId="{6C3DACAC-5D58-4257-B45D-2BF931D7D19E}" srcOrd="3" destOrd="0" presId="urn:microsoft.com/office/officeart/2016/7/layout/RepeatingBendingProcessNew"/>
    <dgm:cxn modelId="{93787083-8206-4C77-85D0-B1A39E80571B}" type="presParOf" srcId="{6C3DACAC-5D58-4257-B45D-2BF931D7D19E}" destId="{572E7FD2-2BFA-416D-A756-434C10A2CFC2}" srcOrd="0" destOrd="0" presId="urn:microsoft.com/office/officeart/2016/7/layout/RepeatingBendingProcessNew"/>
    <dgm:cxn modelId="{459B9804-6986-49DD-9574-CFD6EAA219F6}" type="presParOf" srcId="{6D4D2045-DB8D-4542-8ACB-74BB046DAEFA}" destId="{436A5FB3-B6E0-4133-BED8-76529FFFB162}" srcOrd="4" destOrd="0" presId="urn:microsoft.com/office/officeart/2016/7/layout/RepeatingBendingProcessNew"/>
    <dgm:cxn modelId="{CB842A1B-6BE8-4652-B8C4-89F99160E321}" type="presParOf" srcId="{6D4D2045-DB8D-4542-8ACB-74BB046DAEFA}" destId="{B38329B1-C227-4EFF-9E28-72D7EA185D0F}" srcOrd="5" destOrd="0" presId="urn:microsoft.com/office/officeart/2016/7/layout/RepeatingBendingProcessNew"/>
    <dgm:cxn modelId="{39A40EC4-961A-4D8F-8BB7-0ACE6DA2C175}" type="presParOf" srcId="{B38329B1-C227-4EFF-9E28-72D7EA185D0F}" destId="{87F638D7-E9C6-42ED-B0AE-818B860EED8E}" srcOrd="0" destOrd="0" presId="urn:microsoft.com/office/officeart/2016/7/layout/RepeatingBendingProcessNew"/>
    <dgm:cxn modelId="{E589C570-1258-4E69-B4AC-FC53789AA987}" type="presParOf" srcId="{6D4D2045-DB8D-4542-8ACB-74BB046DAEFA}" destId="{A891B779-E3D4-4E53-BE2D-AF1B560A6AC3}" srcOrd="6" destOrd="0" presId="urn:microsoft.com/office/officeart/2016/7/layout/RepeatingBendingProcessNew"/>
    <dgm:cxn modelId="{4084E1ED-210D-46EE-B849-2C640B60CFCB}" type="presParOf" srcId="{6D4D2045-DB8D-4542-8ACB-74BB046DAEFA}" destId="{6579E75A-48CD-4780-817C-D0CFA366630B}" srcOrd="7" destOrd="0" presId="urn:microsoft.com/office/officeart/2016/7/layout/RepeatingBendingProcessNew"/>
    <dgm:cxn modelId="{70F7376C-DBB1-4510-A9D9-4B1DC2064C44}" type="presParOf" srcId="{6579E75A-48CD-4780-817C-D0CFA366630B}" destId="{0DC9D91D-7BAB-4661-A30B-A56AD634F11D}" srcOrd="0" destOrd="0" presId="urn:microsoft.com/office/officeart/2016/7/layout/RepeatingBendingProcessNew"/>
    <dgm:cxn modelId="{E605EEAE-2C52-469A-93C0-2AD527FE57C1}" type="presParOf" srcId="{6D4D2045-DB8D-4542-8ACB-74BB046DAEFA}" destId="{03536626-A9B4-4E90-9041-29B1D90BD63C}"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35C2D5-E786-4FEF-A6BF-2142DCB17610}">
      <dsp:nvSpPr>
        <dsp:cNvPr id="0" name=""/>
        <dsp:cNvSpPr/>
      </dsp:nvSpPr>
      <dsp:spPr>
        <a:xfrm>
          <a:off x="2231044" y="618378"/>
          <a:ext cx="475314" cy="91440"/>
        </a:xfrm>
        <a:custGeom>
          <a:avLst/>
          <a:gdLst/>
          <a:ahLst/>
          <a:cxnLst/>
          <a:rect l="0" t="0" r="0" b="0"/>
          <a:pathLst>
            <a:path>
              <a:moveTo>
                <a:pt x="0" y="45720"/>
              </a:moveTo>
              <a:lnTo>
                <a:pt x="47531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053" y="661566"/>
        <a:ext cx="25295" cy="5064"/>
      </dsp:txXfrm>
    </dsp:sp>
    <dsp:sp modelId="{6959D29B-4091-43D8-94F6-2F43B81DF26C}">
      <dsp:nvSpPr>
        <dsp:cNvPr id="0" name=""/>
        <dsp:cNvSpPr/>
      </dsp:nvSpPr>
      <dsp:spPr>
        <a:xfrm>
          <a:off x="33215" y="4209"/>
          <a:ext cx="2199629" cy="1319777"/>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784" tIns="113138" rIns="107784" bIns="113138" numCol="1" spcCol="1270" anchor="ctr" anchorCtr="0">
          <a:noAutofit/>
        </a:bodyPr>
        <a:lstStyle/>
        <a:p>
          <a:pPr marL="0" lvl="0" indent="0" algn="ctr" defTabSz="533400">
            <a:lnSpc>
              <a:spcPct val="100000"/>
            </a:lnSpc>
            <a:spcBef>
              <a:spcPct val="0"/>
            </a:spcBef>
            <a:spcAft>
              <a:spcPct val="35000"/>
            </a:spcAft>
            <a:buNone/>
          </a:pPr>
          <a:r>
            <a:rPr lang="en-US" sz="1200" b="1" kern="1200"/>
            <a:t>Shielding</a:t>
          </a:r>
          <a:endParaRPr lang="en-US" sz="1200" kern="1200"/>
        </a:p>
      </dsp:txBody>
      <dsp:txXfrm>
        <a:off x="33215" y="4209"/>
        <a:ext cx="2199629" cy="1319777"/>
      </dsp:txXfrm>
    </dsp:sp>
    <dsp:sp modelId="{6C3DACAC-5D58-4257-B45D-2BF931D7D19E}">
      <dsp:nvSpPr>
        <dsp:cNvPr id="0" name=""/>
        <dsp:cNvSpPr/>
      </dsp:nvSpPr>
      <dsp:spPr>
        <a:xfrm>
          <a:off x="1133029" y="1322187"/>
          <a:ext cx="2705543" cy="475314"/>
        </a:xfrm>
        <a:custGeom>
          <a:avLst/>
          <a:gdLst/>
          <a:ahLst/>
          <a:cxnLst/>
          <a:rect l="0" t="0" r="0" b="0"/>
          <a:pathLst>
            <a:path>
              <a:moveTo>
                <a:pt x="2705543" y="0"/>
              </a:moveTo>
              <a:lnTo>
                <a:pt x="2705543" y="254757"/>
              </a:lnTo>
              <a:lnTo>
                <a:pt x="0" y="254757"/>
              </a:lnTo>
              <a:lnTo>
                <a:pt x="0" y="475314"/>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16990" y="1557312"/>
        <a:ext cx="137621" cy="5064"/>
      </dsp:txXfrm>
    </dsp:sp>
    <dsp:sp modelId="{2FBC3246-2134-4166-AB00-80B0F4E65FE4}">
      <dsp:nvSpPr>
        <dsp:cNvPr id="0" name=""/>
        <dsp:cNvSpPr/>
      </dsp:nvSpPr>
      <dsp:spPr>
        <a:xfrm>
          <a:off x="2738758" y="4209"/>
          <a:ext cx="2199629" cy="1319777"/>
        </a:xfrm>
        <a:prstGeom prst="rect">
          <a:avLst/>
        </a:prstGeom>
        <a:gradFill rotWithShape="0">
          <a:gsLst>
            <a:gs pos="0">
              <a:schemeClr val="accent3">
                <a:hueOff val="0"/>
                <a:satOff val="0"/>
                <a:lumOff val="0"/>
                <a:alphaOff val="0"/>
                <a:tint val="100000"/>
                <a:shade val="85000"/>
                <a:satMod val="100000"/>
                <a:lumMod val="100000"/>
              </a:schemeClr>
            </a:gs>
            <a:gs pos="100000">
              <a:schemeClr val="accent3">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784" tIns="113138" rIns="107784" bIns="113138" numCol="1" spcCol="1270" anchor="ctr" anchorCtr="0">
          <a:noAutofit/>
        </a:bodyPr>
        <a:lstStyle/>
        <a:p>
          <a:pPr marL="0" lvl="0" indent="0" algn="ctr" defTabSz="533400">
            <a:lnSpc>
              <a:spcPct val="100000"/>
            </a:lnSpc>
            <a:spcBef>
              <a:spcPct val="0"/>
            </a:spcBef>
            <a:spcAft>
              <a:spcPct val="35000"/>
            </a:spcAft>
            <a:buNone/>
          </a:pPr>
          <a:r>
            <a:rPr lang="en-US" sz="1200" kern="1200"/>
            <a:t>Shielding consists of enclosing the signal wires in an earthed,  metal shield that is itself isolated electrically from the signal wires.</a:t>
          </a:r>
        </a:p>
      </dsp:txBody>
      <dsp:txXfrm>
        <a:off x="2738758" y="4209"/>
        <a:ext cx="2199629" cy="1319777"/>
      </dsp:txXfrm>
    </dsp:sp>
    <dsp:sp modelId="{B38329B1-C227-4EFF-9E28-72D7EA185D0F}">
      <dsp:nvSpPr>
        <dsp:cNvPr id="0" name=""/>
        <dsp:cNvSpPr/>
      </dsp:nvSpPr>
      <dsp:spPr>
        <a:xfrm>
          <a:off x="2231044" y="2444070"/>
          <a:ext cx="475314" cy="91440"/>
        </a:xfrm>
        <a:custGeom>
          <a:avLst/>
          <a:gdLst/>
          <a:ahLst/>
          <a:cxnLst/>
          <a:rect l="0" t="0" r="0" b="0"/>
          <a:pathLst>
            <a:path>
              <a:moveTo>
                <a:pt x="0" y="45720"/>
              </a:moveTo>
              <a:lnTo>
                <a:pt x="475314" y="45720"/>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053" y="2487258"/>
        <a:ext cx="25295" cy="5064"/>
      </dsp:txXfrm>
    </dsp:sp>
    <dsp:sp modelId="{436A5FB3-B6E0-4133-BED8-76529FFFB162}">
      <dsp:nvSpPr>
        <dsp:cNvPr id="0" name=""/>
        <dsp:cNvSpPr/>
      </dsp:nvSpPr>
      <dsp:spPr>
        <a:xfrm>
          <a:off x="33215" y="1829901"/>
          <a:ext cx="2199629" cy="1319777"/>
        </a:xfrm>
        <a:prstGeom prst="rect">
          <a:avLst/>
        </a:prstGeom>
        <a:gradFill rotWithShape="0">
          <a:gsLst>
            <a:gs pos="0">
              <a:schemeClr val="accent4">
                <a:hueOff val="0"/>
                <a:satOff val="0"/>
                <a:lumOff val="0"/>
                <a:alphaOff val="0"/>
                <a:tint val="100000"/>
                <a:shade val="85000"/>
                <a:satMod val="100000"/>
                <a:lumMod val="100000"/>
              </a:schemeClr>
            </a:gs>
            <a:gs pos="100000">
              <a:schemeClr val="accent4">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784" tIns="113138" rIns="107784" bIns="113138" numCol="1" spcCol="1270" anchor="ctr" anchorCtr="0">
          <a:noAutofit/>
        </a:bodyPr>
        <a:lstStyle/>
        <a:p>
          <a:pPr marL="0" lvl="0" indent="0" algn="ctr" defTabSz="533400">
            <a:lnSpc>
              <a:spcPct val="100000"/>
            </a:lnSpc>
            <a:spcBef>
              <a:spcPct val="0"/>
            </a:spcBef>
            <a:spcAft>
              <a:spcPct val="35000"/>
            </a:spcAft>
            <a:buNone/>
          </a:pPr>
          <a:r>
            <a:rPr lang="en-US" sz="1200" kern="1200"/>
            <a:t>The shield should be earthed at only one point, preferably the  signal source end. A shield consisting of braided metal eliminates  85% of noise due to capacitive coupling whilst a lapped metal foil  shield eliminates noise almost entirely.</a:t>
          </a:r>
        </a:p>
      </dsp:txBody>
      <dsp:txXfrm>
        <a:off x="33215" y="1829901"/>
        <a:ext cx="2199629" cy="1319777"/>
      </dsp:txXfrm>
    </dsp:sp>
    <dsp:sp modelId="{6579E75A-48CD-4780-817C-D0CFA366630B}">
      <dsp:nvSpPr>
        <dsp:cNvPr id="0" name=""/>
        <dsp:cNvSpPr/>
      </dsp:nvSpPr>
      <dsp:spPr>
        <a:xfrm>
          <a:off x="1133029" y="3147879"/>
          <a:ext cx="2705543" cy="475314"/>
        </a:xfrm>
        <a:custGeom>
          <a:avLst/>
          <a:gdLst/>
          <a:ahLst/>
          <a:cxnLst/>
          <a:rect l="0" t="0" r="0" b="0"/>
          <a:pathLst>
            <a:path>
              <a:moveTo>
                <a:pt x="2705543" y="0"/>
              </a:moveTo>
              <a:lnTo>
                <a:pt x="2705543" y="254757"/>
              </a:lnTo>
              <a:lnTo>
                <a:pt x="0" y="254757"/>
              </a:lnTo>
              <a:lnTo>
                <a:pt x="0" y="475314"/>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16990" y="3383004"/>
        <a:ext cx="137621" cy="5064"/>
      </dsp:txXfrm>
    </dsp:sp>
    <dsp:sp modelId="{A891B779-E3D4-4E53-BE2D-AF1B560A6AC3}">
      <dsp:nvSpPr>
        <dsp:cNvPr id="0" name=""/>
        <dsp:cNvSpPr/>
      </dsp:nvSpPr>
      <dsp:spPr>
        <a:xfrm>
          <a:off x="2738758" y="1829901"/>
          <a:ext cx="2199629" cy="1319777"/>
        </a:xfrm>
        <a:prstGeom prst="rect">
          <a:avLst/>
        </a:prstGeom>
        <a:gradFill rotWithShape="0">
          <a:gsLst>
            <a:gs pos="0">
              <a:schemeClr val="accent5">
                <a:hueOff val="0"/>
                <a:satOff val="0"/>
                <a:lumOff val="0"/>
                <a:alphaOff val="0"/>
                <a:tint val="100000"/>
                <a:shade val="85000"/>
                <a:satMod val="100000"/>
                <a:lumMod val="100000"/>
              </a:schemeClr>
            </a:gs>
            <a:gs pos="100000">
              <a:schemeClr val="accent5">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784" tIns="113138" rIns="107784" bIns="113138" numCol="1" spcCol="1270" anchor="ctr" anchorCtr="0">
          <a:noAutofit/>
        </a:bodyPr>
        <a:lstStyle/>
        <a:p>
          <a:pPr marL="0" lvl="0" indent="0" algn="ctr" defTabSz="533400">
            <a:lnSpc>
              <a:spcPct val="100000"/>
            </a:lnSpc>
            <a:spcBef>
              <a:spcPct val="0"/>
            </a:spcBef>
            <a:spcAft>
              <a:spcPct val="35000"/>
            </a:spcAft>
            <a:buNone/>
          </a:pPr>
          <a:r>
            <a:rPr lang="en-US" sz="1200" kern="1200"/>
            <a:t>The wires inside such a shield are normally formed as a twisted  pair so that protection is also provided against induced noise due  to nearby electromagnetic fields.</a:t>
          </a:r>
        </a:p>
      </dsp:txBody>
      <dsp:txXfrm>
        <a:off x="2738758" y="1829901"/>
        <a:ext cx="2199629" cy="1319777"/>
      </dsp:txXfrm>
    </dsp:sp>
    <dsp:sp modelId="{03536626-A9B4-4E90-9041-29B1D90BD63C}">
      <dsp:nvSpPr>
        <dsp:cNvPr id="0" name=""/>
        <dsp:cNvSpPr/>
      </dsp:nvSpPr>
      <dsp:spPr>
        <a:xfrm>
          <a:off x="33215" y="3655593"/>
          <a:ext cx="2199629" cy="1319777"/>
        </a:xfrm>
        <a:prstGeom prst="rect">
          <a:avLst/>
        </a:prstGeom>
        <a:gradFill rotWithShape="0">
          <a:gsLst>
            <a:gs pos="0">
              <a:schemeClr val="accent6">
                <a:hueOff val="0"/>
                <a:satOff val="0"/>
                <a:lumOff val="0"/>
                <a:alphaOff val="0"/>
                <a:tint val="100000"/>
                <a:shade val="85000"/>
                <a:satMod val="100000"/>
                <a:lumMod val="100000"/>
              </a:schemeClr>
            </a:gs>
            <a:gs pos="100000">
              <a:schemeClr val="accent6">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784" tIns="113138" rIns="107784" bIns="113138" numCol="1" spcCol="1270" anchor="ctr" anchorCtr="0">
          <a:noAutofit/>
        </a:bodyPr>
        <a:lstStyle/>
        <a:p>
          <a:pPr marL="0" lvl="0" indent="0" algn="ctr" defTabSz="533400">
            <a:lnSpc>
              <a:spcPct val="100000"/>
            </a:lnSpc>
            <a:spcBef>
              <a:spcPct val="0"/>
            </a:spcBef>
            <a:spcAft>
              <a:spcPct val="35000"/>
            </a:spcAft>
            <a:buNone/>
          </a:pPr>
          <a:r>
            <a:rPr lang="en-US" sz="1200" kern="1200"/>
            <a:t>Metal conduit is also sometimes used to provide shielding from  capacitve-coupled noise, but the necessary supports for the  conduit provide multiple earth points.</a:t>
          </a:r>
        </a:p>
      </dsp:txBody>
      <dsp:txXfrm>
        <a:off x="33215" y="3655593"/>
        <a:ext cx="2199629" cy="131977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fld id="{4CB698C4-78B6-4918-BDB3-F638CC4A0492}" type="datetime1">
              <a:rPr lang="en-US" smtClean="0"/>
              <a:pPr>
                <a:defRPr/>
              </a:pPr>
              <a:t>10/17/2024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B404D71-CDC4-446C-97D0-B8C002DC4FE6}" type="slidenum">
              <a:rPr lang="en-US" altLang="en-US" smtClean="0"/>
              <a:pPr>
                <a:defRPr/>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240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072F4FF-8812-437C-956F-544BA275EFB9}" type="datetime1">
              <a:rPr lang="en-US" smtClean="0"/>
              <a:pPr>
                <a:defRPr/>
              </a:pPr>
              <a:t>10/17/2024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94D9412-6106-44C5-B9CE-4EF0FE79475F}" type="slidenum">
              <a:rPr lang="en-US" altLang="en-US" smtClean="0"/>
              <a:pPr>
                <a:defRPr/>
              </a:pPr>
              <a:t>‹#›</a:t>
            </a:fld>
            <a:endParaRPr lang="en-US" altLang="en-US"/>
          </a:p>
        </p:txBody>
      </p:sp>
    </p:spTree>
    <p:extLst>
      <p:ext uri="{BB962C8B-B14F-4D97-AF65-F5344CB8AC3E}">
        <p14:creationId xmlns:p14="http://schemas.microsoft.com/office/powerpoint/2010/main" val="4061653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CF102CB-C126-4E49-BB9D-20371669D966}" type="datetime1">
              <a:rPr lang="en-US" smtClean="0"/>
              <a:pPr>
                <a:defRPr/>
              </a:pPr>
              <a:t>10/17/2024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19725F5-A2B3-42BA-8394-50A396FA223F}" type="slidenum">
              <a:rPr lang="en-US" altLang="en-US" smtClean="0"/>
              <a:pPr>
                <a:defRPr/>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61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ADB576B-2A74-4164-9EE3-1137D7C0D07B}" type="datetime1">
              <a:rPr lang="en-US" smtClean="0"/>
              <a:pPr>
                <a:defRPr/>
              </a:pPr>
              <a:t>10/17/2024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F660047-13E2-43D1-BDF2-0285FE5C8B3A}" type="slidenum">
              <a:rPr lang="en-US" altLang="en-US" smtClean="0"/>
              <a:pPr>
                <a:defRPr/>
              </a:pPr>
              <a:t>‹#›</a:t>
            </a:fld>
            <a:endParaRPr lang="en-US" altLang="en-US"/>
          </a:p>
        </p:txBody>
      </p:sp>
    </p:spTree>
    <p:extLst>
      <p:ext uri="{BB962C8B-B14F-4D97-AF65-F5344CB8AC3E}">
        <p14:creationId xmlns:p14="http://schemas.microsoft.com/office/powerpoint/2010/main" val="393860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AF4D747D-BDBE-4C30-9218-066D1BDD5847}" type="datetime1">
              <a:rPr lang="en-US" smtClean="0"/>
              <a:pPr>
                <a:defRPr/>
              </a:pPr>
              <a:t>10/17/2024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5B10AD1-572F-40D5-B17F-2FAAF1580898}" type="slidenum">
              <a:rPr lang="en-US" altLang="en-US" smtClean="0"/>
              <a:pPr>
                <a:defRPr/>
              </a:pPr>
              <a:t>‹#›</a:t>
            </a:fld>
            <a:endParaRPr lang="en-US" altLang="en-US"/>
          </a:p>
        </p:txBody>
      </p:sp>
    </p:spTree>
    <p:extLst>
      <p:ext uri="{BB962C8B-B14F-4D97-AF65-F5344CB8AC3E}">
        <p14:creationId xmlns:p14="http://schemas.microsoft.com/office/powerpoint/2010/main" val="29979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CC2D7842-8D5D-4E38-A73A-415C3C2E0152}" type="datetime1">
              <a:rPr lang="en-US" smtClean="0"/>
              <a:pPr>
                <a:defRPr/>
              </a:pPr>
              <a:t>10/17/2024</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70016CF-9600-4AF5-A6D2-FAEE0DA20059}" type="slidenum">
              <a:rPr lang="en-US" altLang="en-US" smtClean="0"/>
              <a:pPr>
                <a:defRPr/>
              </a:pPr>
              <a:t>‹#›</a:t>
            </a:fld>
            <a:endParaRPr lang="en-US" altLang="en-US"/>
          </a:p>
        </p:txBody>
      </p:sp>
    </p:spTree>
    <p:extLst>
      <p:ext uri="{BB962C8B-B14F-4D97-AF65-F5344CB8AC3E}">
        <p14:creationId xmlns:p14="http://schemas.microsoft.com/office/powerpoint/2010/main" val="1004495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B04E6F2-988F-45CB-BCDA-8435E29D0FB5}" type="datetime1">
              <a:rPr lang="en-US" smtClean="0"/>
              <a:pPr>
                <a:defRPr/>
              </a:pPr>
              <a:t>10/17/2024</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FEF8119-CAEA-4D28-8537-1EE14D2781B0}" type="slidenum">
              <a:rPr lang="en-US" altLang="en-US" smtClean="0"/>
              <a:pPr>
                <a:defRPr/>
              </a:pPr>
              <a:t>‹#›</a:t>
            </a:fld>
            <a:endParaRPr lang="en-US" altLang="en-US"/>
          </a:p>
        </p:txBody>
      </p:sp>
    </p:spTree>
    <p:extLst>
      <p:ext uri="{BB962C8B-B14F-4D97-AF65-F5344CB8AC3E}">
        <p14:creationId xmlns:p14="http://schemas.microsoft.com/office/powerpoint/2010/main" val="4053934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AD4BE96-751F-4670-A0F0-0AE2794D2E62}" type="datetime1">
              <a:rPr lang="en-US" smtClean="0"/>
              <a:pPr>
                <a:defRPr/>
              </a:pPr>
              <a:t>10/17/2024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CAC1DFF-6C66-46DC-AB3A-90F77CF30AE7}" type="slidenum">
              <a:rPr lang="en-US" altLang="en-US" smtClean="0"/>
              <a:pPr>
                <a:defRPr/>
              </a:pPr>
              <a:t>‹#›</a:t>
            </a:fld>
            <a:endParaRPr lang="en-US" altLang="en-US"/>
          </a:p>
        </p:txBody>
      </p:sp>
    </p:spTree>
    <p:extLst>
      <p:ext uri="{BB962C8B-B14F-4D97-AF65-F5344CB8AC3E}">
        <p14:creationId xmlns:p14="http://schemas.microsoft.com/office/powerpoint/2010/main" val="3590479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5F61CFA-1955-442D-B519-154418E16E41}" type="datetime1">
              <a:rPr lang="en-US" smtClean="0"/>
              <a:pPr>
                <a:defRPr/>
              </a:pPr>
              <a:t>10/17/2024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B69FA50-E5B9-48E9-89FC-EA73E63C17A2}" type="slidenum">
              <a:rPr lang="en-US" altLang="en-US" smtClean="0"/>
              <a:pPr>
                <a:defRPr/>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80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66C6EEA-DC24-40D0-BE21-E0E9958C6158}" type="datetime1">
              <a:rPr lang="en-US" smtClean="0"/>
              <a:pPr>
                <a:defRPr/>
              </a:pPr>
              <a:t>10/17/2024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9F3EC9-382A-4DB5-9A14-06B926A0EDCC}" type="slidenum">
              <a:rPr lang="en-US" altLang="en-US" smtClean="0"/>
              <a:pPr>
                <a:defRPr/>
              </a:pPr>
              <a:t>‹#›</a:t>
            </a:fld>
            <a:endParaRPr lang="en-US" altLang="en-US"/>
          </a:p>
        </p:txBody>
      </p:sp>
    </p:spTree>
    <p:extLst>
      <p:ext uri="{BB962C8B-B14F-4D97-AF65-F5344CB8AC3E}">
        <p14:creationId xmlns:p14="http://schemas.microsoft.com/office/powerpoint/2010/main" val="304411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EA77CAC-114D-4640-9FEA-781C03E05A6B}" type="datetime1">
              <a:rPr lang="en-US" smtClean="0"/>
              <a:pPr>
                <a:defRPr/>
              </a:pPr>
              <a:t>10/17/2024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E7374B6-E52E-46F2-BE24-4E47074358E2}" type="slidenum">
              <a:rPr lang="en-US" altLang="en-US" smtClean="0"/>
              <a:pPr>
                <a:defRPr/>
              </a:pPr>
              <a:t>‹#›</a:t>
            </a:fld>
            <a:endParaRPr lang="en-US"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779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D21211A6-C99E-4B2C-A6BD-255668AD36E0}" type="datetime1">
              <a:rPr lang="en-US" smtClean="0"/>
              <a:pPr>
                <a:defRPr/>
              </a:pPr>
              <a:t>10/17/2024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BB9E1387-79C6-442A-BAF4-AC184E36C706}" type="slidenum">
              <a:rPr lang="en-US" altLang="en-US" smtClean="0"/>
              <a:pPr>
                <a:defRPr/>
              </a:pPr>
              <a:t>‹#›</a:t>
            </a:fld>
            <a:endParaRPr lang="en-US"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740498"/>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ft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26064-1BDE-4025-8171-8430CEA77DB0}"/>
              </a:ext>
            </a:extLst>
          </p:cNvPr>
          <p:cNvSpPr>
            <a:spLocks noGrp="1"/>
          </p:cNvSpPr>
          <p:nvPr>
            <p:ph type="ctrTitle"/>
          </p:nvPr>
        </p:nvSpPr>
        <p:spPr/>
        <p:txBody>
          <a:bodyPr>
            <a:normAutofit/>
          </a:bodyPr>
          <a:lstStyle/>
          <a:p>
            <a:pPr>
              <a:lnSpc>
                <a:spcPct val="90000"/>
              </a:lnSpc>
              <a:defRPr/>
            </a:pPr>
            <a:r>
              <a:rPr lang="en-US" sz="3400" b="1" dirty="0">
                <a:latin typeface="Arial Black" panose="020B0A04020102020204" pitchFamily="34" charset="0"/>
                <a:cs typeface="Arial"/>
              </a:rPr>
              <a:t>Measurement </a:t>
            </a:r>
            <a:r>
              <a:rPr lang="en-US" sz="3400" b="1" spc="-5" dirty="0">
                <a:latin typeface="Arial Black" panose="020B0A04020102020204" pitchFamily="34" charset="0"/>
                <a:cs typeface="Arial"/>
              </a:rPr>
              <a:t>noise </a:t>
            </a:r>
            <a:br>
              <a:rPr lang="en-US" sz="3400" dirty="0">
                <a:cs typeface="Arial"/>
              </a:rPr>
            </a:br>
            <a:endParaRPr lang="en-US" sz="3400" dirty="0"/>
          </a:p>
        </p:txBody>
      </p:sp>
      <p:sp>
        <p:nvSpPr>
          <p:cNvPr id="3" name="Subtitle 2">
            <a:extLst>
              <a:ext uri="{FF2B5EF4-FFF2-40B4-BE49-F238E27FC236}">
                <a16:creationId xmlns:a16="http://schemas.microsoft.com/office/drawing/2014/main" id="{1317DB7D-3C92-403F-90E0-029B08116D4C}"/>
              </a:ext>
            </a:extLst>
          </p:cNvPr>
          <p:cNvSpPr>
            <a:spLocks noGrp="1"/>
          </p:cNvSpPr>
          <p:nvPr>
            <p:ph type="subTitle" idx="1"/>
          </p:nvPr>
        </p:nvSpPr>
        <p:spPr/>
        <p:txBody>
          <a:bodyPr>
            <a:normAutofit/>
          </a:bodyPr>
          <a:lstStyle/>
          <a:p>
            <a:endParaRPr lang="en-BW" dirty="0">
              <a:solidFill>
                <a:schemeClr val="tx1"/>
              </a:solidFill>
            </a:endParaRPr>
          </a:p>
        </p:txBody>
      </p:sp>
      <p:sp>
        <p:nvSpPr>
          <p:cNvPr id="4" name="Date Placeholder 3">
            <a:extLst>
              <a:ext uri="{FF2B5EF4-FFF2-40B4-BE49-F238E27FC236}">
                <a16:creationId xmlns:a16="http://schemas.microsoft.com/office/drawing/2014/main" id="{2024CEDE-2C92-45D2-B169-7B989205794B}"/>
              </a:ext>
            </a:extLst>
          </p:cNvPr>
          <p:cNvSpPr>
            <a:spLocks noGrp="1"/>
          </p:cNvSpPr>
          <p:nvPr>
            <p:ph type="dt" sz="half" idx="10"/>
          </p:nvPr>
        </p:nvSpPr>
        <p:spPr/>
        <p:txBody>
          <a:bodyPr>
            <a:normAutofit/>
          </a:bodyPr>
          <a:lstStyle/>
          <a:p>
            <a:pPr defTabSz="457200">
              <a:spcAft>
                <a:spcPts val="600"/>
              </a:spcAft>
              <a:defRPr/>
            </a:pPr>
            <a:fld id="{24652D08-3400-4AE4-B216-94CD28797F8D}" type="datetime1">
              <a:rPr lang="en-US">
                <a:latin typeface="Trebuchet MS" panose="020B0603020202020204"/>
              </a:rPr>
              <a:pPr defTabSz="457200">
                <a:spcAft>
                  <a:spcPts val="600"/>
                </a:spcAft>
                <a:defRPr/>
              </a:pPr>
              <a:t>10/17/2024</a:t>
            </a:fld>
            <a:endParaRPr lang="en-US">
              <a:latin typeface="Trebuchet MS" panose="020B0603020202020204"/>
            </a:endParaRPr>
          </a:p>
        </p:txBody>
      </p:sp>
      <p:sp>
        <p:nvSpPr>
          <p:cNvPr id="3076" name="Slide Number Placeholder 4">
            <a:extLst>
              <a:ext uri="{FF2B5EF4-FFF2-40B4-BE49-F238E27FC236}">
                <a16:creationId xmlns:a16="http://schemas.microsoft.com/office/drawing/2014/main" id="{1B16D1FF-0E41-47A8-8701-D4CEC9FD650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spcAft>
                <a:spcPts val="600"/>
              </a:spcAft>
            </a:pPr>
            <a:fld id="{6F31BBD5-B69E-4659-9A28-01C349C4199B}" type="slidenum">
              <a:rPr lang="en-US" altLang="en-US"/>
              <a:pPr defTabSz="457200">
                <a:spcAft>
                  <a:spcPts val="600"/>
                </a:spcAft>
              </a:pPr>
              <a:t>1</a:t>
            </a:fld>
            <a:endParaRPr lang="en-US" altLang="en-US"/>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9F72CAB7-3D9A-4485-9AFC-D42FBF9BB5C6}"/>
              </a:ext>
            </a:extLst>
          </p:cNvPr>
          <p:cNvSpPr>
            <a:spLocks noGrp="1"/>
          </p:cNvSpPr>
          <p:nvPr>
            <p:ph type="title"/>
          </p:nvPr>
        </p:nvSpPr>
        <p:spPr/>
        <p:txBody>
          <a:bodyPr/>
          <a:lstStyle/>
          <a:p>
            <a:r>
              <a:rPr lang="en-BW" altLang="en-BW" b="1" dirty="0">
                <a:ea typeface="Trebuchet MS" panose="020B0603020202020204" pitchFamily="34" charset="0"/>
                <a:cs typeface="Trebuchet MS" panose="020B0603020202020204" pitchFamily="34" charset="0"/>
              </a:rPr>
              <a:t>Measurement Noise</a:t>
            </a:r>
            <a:br>
              <a:rPr lang="en-BW" altLang="en-BW" dirty="0">
                <a:ea typeface="Trebuchet MS" panose="020B0603020202020204" pitchFamily="34" charset="0"/>
                <a:cs typeface="Trebuchet MS" panose="020B0603020202020204" pitchFamily="34" charset="0"/>
              </a:rPr>
            </a:br>
            <a:endParaRPr lang="en-BW" altLang="en-BW" dirty="0"/>
          </a:p>
        </p:txBody>
      </p:sp>
      <p:sp>
        <p:nvSpPr>
          <p:cNvPr id="6" name="object 6">
            <a:extLst>
              <a:ext uri="{FF2B5EF4-FFF2-40B4-BE49-F238E27FC236}">
                <a16:creationId xmlns:a16="http://schemas.microsoft.com/office/drawing/2014/main" id="{99788FFA-47E3-414D-977A-4F1120548F5C}"/>
              </a:ext>
            </a:extLst>
          </p:cNvPr>
          <p:cNvSpPr txBox="1">
            <a:spLocks noGrp="1"/>
          </p:cNvSpPr>
          <p:nvPr>
            <p:ph idx="1"/>
          </p:nvPr>
        </p:nvSpPr>
        <p:spPr>
          <a:xfrm>
            <a:off x="-1026367" y="1201738"/>
            <a:ext cx="11503867" cy="4792979"/>
          </a:xfrm>
        </p:spPr>
        <p:txBody>
          <a:bodyPr vert="horz" wrap="square" lIns="0" tIns="12065" rIns="0" bIns="0" rtlCol="0">
            <a:spAutoFit/>
          </a:bodyPr>
          <a:lstStyle/>
          <a:p>
            <a:pPr marL="2439988" indent="0">
              <a:spcBef>
                <a:spcPts val="50"/>
              </a:spcBef>
              <a:buNone/>
            </a:pPr>
            <a:endParaRPr lang="en-BW" altLang="en-BW" sz="2400" dirty="0">
              <a:cs typeface="Times New Roman" panose="02020603050405020304" pitchFamily="18" charset="0"/>
            </a:endParaRPr>
          </a:p>
          <a:p>
            <a:pPr marL="2782888">
              <a:spcBef>
                <a:spcPct val="0"/>
              </a:spcBef>
            </a:pPr>
            <a:r>
              <a:rPr lang="en-BW" altLang="en-BW" sz="2400" dirty="0">
                <a:cs typeface="Arial" panose="020B0604020202020204" pitchFamily="34" charset="0"/>
              </a:rPr>
              <a:t>Noise is added always over the measurements.</a:t>
            </a:r>
          </a:p>
          <a:p>
            <a:pPr marL="2782888">
              <a:spcBef>
                <a:spcPts val="575"/>
              </a:spcBef>
            </a:pPr>
            <a:r>
              <a:rPr lang="en-BW" altLang="en-BW" sz="2400" dirty="0">
                <a:cs typeface="Arial" panose="020B0604020202020204" pitchFamily="34" charset="0"/>
              </a:rPr>
              <a:t>The extent to which series mode noise corrupts measurement  signals is measured by a quantity known as the</a:t>
            </a:r>
            <a:r>
              <a:rPr lang="en-GB" altLang="en-BW" sz="2400" dirty="0">
                <a:cs typeface="Arial" panose="020B0604020202020204" pitchFamily="34" charset="0"/>
              </a:rPr>
              <a:t> </a:t>
            </a:r>
          </a:p>
          <a:p>
            <a:pPr marL="2439988" indent="0">
              <a:spcBef>
                <a:spcPts val="575"/>
              </a:spcBef>
              <a:buNone/>
            </a:pPr>
            <a:r>
              <a:rPr lang="en-GB" altLang="en-BW" sz="2400" i="1" dirty="0">
                <a:cs typeface="Arial" panose="020B0604020202020204" pitchFamily="34" charset="0"/>
              </a:rPr>
              <a:t>     </a:t>
            </a:r>
            <a:r>
              <a:rPr lang="en-BW" altLang="en-BW" sz="2400" i="1" dirty="0">
                <a:solidFill>
                  <a:srgbClr val="FF0000"/>
                </a:solidFill>
                <a:cs typeface="Arial" panose="020B0604020202020204" pitchFamily="34" charset="0"/>
              </a:rPr>
              <a:t>signal-to-noise ratio</a:t>
            </a:r>
            <a:r>
              <a:rPr lang="en-BW" altLang="en-BW" sz="2400" i="1" dirty="0">
                <a:cs typeface="Arial" panose="020B0604020202020204" pitchFamily="34" charset="0"/>
              </a:rPr>
              <a:t>. This is defined as:</a:t>
            </a:r>
            <a:endParaRPr lang="en-GB" altLang="en-BW" sz="2400" i="1" dirty="0">
              <a:cs typeface="Arial" panose="020B0604020202020204" pitchFamily="34" charset="0"/>
            </a:endParaRPr>
          </a:p>
          <a:p>
            <a:pPr marL="2439988" indent="0">
              <a:buNone/>
            </a:pPr>
            <a:r>
              <a:rPr lang="en-GB" altLang="en-BW" sz="2400" i="1" dirty="0">
                <a:cs typeface="Arial" panose="020B0604020202020204" pitchFamily="34" charset="0"/>
              </a:rPr>
              <a:t>        </a:t>
            </a:r>
            <a:r>
              <a:rPr lang="en-BW" altLang="en-BW" sz="2400" dirty="0">
                <a:cs typeface="Arial" panose="020B0604020202020204" pitchFamily="34" charset="0"/>
              </a:rPr>
              <a:t>Signal-to-noise ratio = 20 log (V</a:t>
            </a:r>
            <a:r>
              <a:rPr lang="en-BW" altLang="en-BW" sz="2400" baseline="-21000" dirty="0">
                <a:cs typeface="Arial" panose="020B0604020202020204" pitchFamily="34" charset="0"/>
              </a:rPr>
              <a:t>s </a:t>
            </a:r>
            <a:r>
              <a:rPr lang="en-BW" altLang="en-BW" sz="2400" dirty="0">
                <a:cs typeface="Arial" panose="020B0604020202020204" pitchFamily="34" charset="0"/>
              </a:rPr>
              <a:t>/ </a:t>
            </a:r>
            <a:r>
              <a:rPr lang="en-BW" altLang="en-BW" sz="2400" dirty="0" err="1">
                <a:cs typeface="Arial" panose="020B0604020202020204" pitchFamily="34" charset="0"/>
              </a:rPr>
              <a:t>V</a:t>
            </a:r>
            <a:r>
              <a:rPr lang="en-BW" altLang="en-BW" sz="2400" baseline="-21000" dirty="0" err="1">
                <a:cs typeface="Arial" panose="020B0604020202020204" pitchFamily="34" charset="0"/>
              </a:rPr>
              <a:t>n</a:t>
            </a:r>
            <a:r>
              <a:rPr lang="en-BW" altLang="en-BW" sz="2400" baseline="-21000" dirty="0">
                <a:cs typeface="Arial" panose="020B0604020202020204" pitchFamily="34" charset="0"/>
              </a:rPr>
              <a:t> </a:t>
            </a:r>
            <a:r>
              <a:rPr lang="en-BW" altLang="en-BW" sz="2400" dirty="0">
                <a:cs typeface="Arial" panose="020B0604020202020204" pitchFamily="34" charset="0"/>
              </a:rPr>
              <a:t>)  where</a:t>
            </a:r>
            <a:r>
              <a:rPr lang="en-GB" altLang="en-BW" sz="2400" dirty="0">
                <a:cs typeface="Arial" panose="020B0604020202020204" pitchFamily="34" charset="0"/>
              </a:rPr>
              <a:t>							</a:t>
            </a:r>
            <a:endParaRPr lang="en-BW" altLang="en-BW" sz="2400" dirty="0">
              <a:cs typeface="Arial" panose="020B0604020202020204" pitchFamily="34" charset="0"/>
            </a:endParaRPr>
          </a:p>
          <a:p>
            <a:pPr marL="2782888">
              <a:buFont typeface="Wingdings" panose="05000000000000000000" pitchFamily="2" charset="2"/>
              <a:buChar char=""/>
            </a:pPr>
            <a:r>
              <a:rPr lang="en-GB" altLang="en-BW" sz="2400" dirty="0">
                <a:cs typeface="Arial" panose="020B0604020202020204" pitchFamily="34" charset="0"/>
              </a:rPr>
              <a:t> </a:t>
            </a:r>
            <a:r>
              <a:rPr lang="en-BW" altLang="en-BW" sz="2400" dirty="0">
                <a:cs typeface="Arial" panose="020B0604020202020204" pitchFamily="34" charset="0"/>
              </a:rPr>
              <a:t>V</a:t>
            </a:r>
            <a:r>
              <a:rPr lang="en-BW" altLang="en-BW" sz="2400" baseline="-21000" dirty="0">
                <a:cs typeface="Arial" panose="020B0604020202020204" pitchFamily="34" charset="0"/>
              </a:rPr>
              <a:t>s </a:t>
            </a:r>
            <a:r>
              <a:rPr lang="en-BW" altLang="en-BW" sz="2400" dirty="0">
                <a:cs typeface="Arial" panose="020B0604020202020204" pitchFamily="34" charset="0"/>
              </a:rPr>
              <a:t>is the mean voltage level of the signal and</a:t>
            </a:r>
          </a:p>
          <a:p>
            <a:pPr marL="2782888">
              <a:buFont typeface="Wingdings" panose="05000000000000000000" pitchFamily="2" charset="2"/>
              <a:buChar char=""/>
            </a:pPr>
            <a:r>
              <a:rPr lang="en-BW" altLang="en-BW" sz="2400" dirty="0" err="1">
                <a:cs typeface="Arial" panose="020B0604020202020204" pitchFamily="34" charset="0"/>
              </a:rPr>
              <a:t>V</a:t>
            </a:r>
            <a:r>
              <a:rPr lang="en-BW" altLang="en-BW" sz="2400" baseline="-21000" dirty="0" err="1">
                <a:cs typeface="Arial" panose="020B0604020202020204" pitchFamily="34" charset="0"/>
              </a:rPr>
              <a:t>n</a:t>
            </a:r>
            <a:r>
              <a:rPr lang="en-BW" altLang="en-BW" sz="2400" baseline="-21000" dirty="0">
                <a:cs typeface="Arial" panose="020B0604020202020204" pitchFamily="34" charset="0"/>
              </a:rPr>
              <a:t> </a:t>
            </a:r>
            <a:r>
              <a:rPr lang="en-BW" altLang="en-BW" sz="2400" dirty="0">
                <a:cs typeface="Arial" panose="020B0604020202020204" pitchFamily="34" charset="0"/>
              </a:rPr>
              <a:t>is the mean voltage level of the noise.</a:t>
            </a:r>
          </a:p>
          <a:p>
            <a:pPr marL="2782888">
              <a:buFont typeface="Wingdings" panose="05000000000000000000" pitchFamily="2" charset="2"/>
              <a:buChar char=""/>
            </a:pPr>
            <a:r>
              <a:rPr lang="en-BW" altLang="en-BW" sz="2400" dirty="0">
                <a:cs typeface="Arial" panose="020B0604020202020204" pitchFamily="34" charset="0"/>
              </a:rPr>
              <a:t>In the case of </a:t>
            </a:r>
            <a:r>
              <a:rPr lang="en-BW" altLang="en-BW" sz="2400" dirty="0" err="1">
                <a:cs typeface="Arial" panose="020B0604020202020204" pitchFamily="34" charset="0"/>
              </a:rPr>
              <a:t>a.c</a:t>
            </a:r>
            <a:r>
              <a:rPr lang="en-BW" altLang="en-BW" sz="2400" dirty="0">
                <a:cs typeface="Arial" panose="020B0604020202020204" pitchFamily="34" charset="0"/>
              </a:rPr>
              <a:t>. noise voltages, the root-mean squared  value is used as the mean.</a:t>
            </a:r>
          </a:p>
        </p:txBody>
      </p:sp>
      <p:sp>
        <p:nvSpPr>
          <p:cNvPr id="4" name="Date Placeholder 3">
            <a:extLst>
              <a:ext uri="{FF2B5EF4-FFF2-40B4-BE49-F238E27FC236}">
                <a16:creationId xmlns:a16="http://schemas.microsoft.com/office/drawing/2014/main" id="{0E5F36A4-09A9-45F2-B50C-EF344BF96CE2}"/>
              </a:ext>
            </a:extLst>
          </p:cNvPr>
          <p:cNvSpPr>
            <a:spLocks noGrp="1"/>
          </p:cNvSpPr>
          <p:nvPr>
            <p:ph type="dt" sz="half" idx="10"/>
          </p:nvPr>
        </p:nvSpPr>
        <p:spPr/>
        <p:txBody>
          <a:bodyPr/>
          <a:lstStyle/>
          <a:p>
            <a:pPr defTabSz="457200">
              <a:defRPr/>
            </a:pPr>
            <a:fld id="{24652D08-3400-4AE4-B216-94CD28797F8D}" type="datetime1">
              <a:rPr lang="en-US" smtClean="0">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4100" name="Slide Number Placeholder 4">
            <a:extLst>
              <a:ext uri="{FF2B5EF4-FFF2-40B4-BE49-F238E27FC236}">
                <a16:creationId xmlns:a16="http://schemas.microsoft.com/office/drawing/2014/main" id="{392065B9-56F6-43EE-BF10-BC0D751C36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EB5DEBEE-C162-4B37-A240-7A2EA831A2DC}" type="slidenum">
              <a:rPr lang="en-US" altLang="en-US" smtClean="0">
                <a:solidFill>
                  <a:prstClr val="black"/>
                </a:solidFill>
              </a:rPr>
              <a:pPr defTabSz="457200"/>
              <a:t>2</a:t>
            </a:fld>
            <a:endParaRPr lang="en-US" altLang="en-US">
              <a:solidFill>
                <a:prstClr val="blac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7F1C1CD-B3C7-4C41-BA51-A2F2DAB1157E}"/>
              </a:ext>
            </a:extLst>
          </p:cNvPr>
          <p:cNvSpPr>
            <a:spLocks noGrp="1"/>
          </p:cNvSpPr>
          <p:nvPr>
            <p:ph type="title"/>
          </p:nvPr>
        </p:nvSpPr>
        <p:spPr/>
        <p:txBody>
          <a:bodyPr>
            <a:normAutofit fontScale="90000"/>
          </a:bodyPr>
          <a:lstStyle/>
          <a:p>
            <a:r>
              <a:rPr lang="en-GB" b="1" spc="-15" dirty="0">
                <a:latin typeface="Trebuchet MS"/>
                <a:cs typeface="Trebuchet MS"/>
              </a:rPr>
              <a:t>Sources </a:t>
            </a:r>
            <a:r>
              <a:rPr lang="en-GB" b="1" spc="-35" dirty="0">
                <a:latin typeface="Trebuchet MS"/>
                <a:cs typeface="Trebuchet MS"/>
              </a:rPr>
              <a:t>of </a:t>
            </a:r>
            <a:r>
              <a:rPr lang="en-GB" b="1" spc="-10" dirty="0">
                <a:latin typeface="Trebuchet MS"/>
                <a:cs typeface="Trebuchet MS"/>
              </a:rPr>
              <a:t>measurement</a:t>
            </a:r>
            <a:r>
              <a:rPr lang="en-GB" b="1" spc="-254" dirty="0">
                <a:latin typeface="Trebuchet MS"/>
                <a:cs typeface="Trebuchet MS"/>
              </a:rPr>
              <a:t> </a:t>
            </a:r>
            <a:r>
              <a:rPr lang="en-GB" b="1" spc="-5" dirty="0">
                <a:latin typeface="Trebuchet MS"/>
                <a:cs typeface="Trebuchet MS"/>
              </a:rPr>
              <a:t>noise</a:t>
            </a:r>
            <a:br>
              <a:rPr lang="en-GB" dirty="0">
                <a:latin typeface="Trebuchet MS"/>
                <a:cs typeface="Trebuchet MS"/>
              </a:rPr>
            </a:br>
            <a:endParaRPr lang="en-BW" altLang="en-BW" dirty="0"/>
          </a:p>
        </p:txBody>
      </p:sp>
      <p:sp>
        <p:nvSpPr>
          <p:cNvPr id="6" name="object 3">
            <a:extLst>
              <a:ext uri="{FF2B5EF4-FFF2-40B4-BE49-F238E27FC236}">
                <a16:creationId xmlns:a16="http://schemas.microsoft.com/office/drawing/2014/main" id="{20DD13A2-B991-4B1D-85AB-F8AD93FB1A79}"/>
              </a:ext>
            </a:extLst>
          </p:cNvPr>
          <p:cNvSpPr txBox="1">
            <a:spLocks noGrp="1"/>
          </p:cNvSpPr>
          <p:nvPr>
            <p:ph idx="1"/>
          </p:nvPr>
        </p:nvSpPr>
        <p:spPr>
          <a:xfrm>
            <a:off x="1981200" y="1219200"/>
            <a:ext cx="8229600" cy="3064300"/>
          </a:xfrm>
        </p:spPr>
        <p:txBody>
          <a:bodyPr vert="horz" lIns="0" tIns="12065" rIns="0" bIns="0" rtlCol="0">
            <a:spAutoFit/>
          </a:bodyPr>
          <a:lstStyle/>
          <a:p>
            <a:pPr>
              <a:spcBef>
                <a:spcPts val="45"/>
              </a:spcBef>
              <a:defRPr/>
            </a:pPr>
            <a:endParaRPr sz="2000" dirty="0">
              <a:latin typeface="Times New Roman"/>
              <a:cs typeface="Times New Roman"/>
            </a:endParaRPr>
          </a:p>
          <a:p>
            <a:pPr marL="123825" indent="-111125">
              <a:buFont typeface="Wingdings"/>
              <a:buChar char=""/>
              <a:tabLst>
                <a:tab pos="124460" algn="l"/>
              </a:tabLst>
              <a:defRPr/>
            </a:pPr>
            <a:r>
              <a:rPr sz="2000" b="1" spc="-5" dirty="0">
                <a:cs typeface="Arial"/>
              </a:rPr>
              <a:t>Inductive </a:t>
            </a:r>
            <a:r>
              <a:rPr sz="2000" b="1" dirty="0">
                <a:cs typeface="Arial"/>
              </a:rPr>
              <a:t>coupling</a:t>
            </a:r>
            <a:endParaRPr sz="2000" dirty="0">
              <a:cs typeface="Arial"/>
            </a:endParaRPr>
          </a:p>
          <a:p>
            <a:pPr marL="123825" indent="-111125">
              <a:spcBef>
                <a:spcPts val="580"/>
              </a:spcBef>
              <a:buFont typeface="Wingdings"/>
              <a:buChar char=""/>
              <a:tabLst>
                <a:tab pos="124460" algn="l"/>
              </a:tabLst>
              <a:defRPr/>
            </a:pPr>
            <a:r>
              <a:rPr sz="2000" b="1" spc="-5" dirty="0">
                <a:cs typeface="Arial"/>
              </a:rPr>
              <a:t>Capacitive (electrostatic)</a:t>
            </a:r>
            <a:r>
              <a:rPr sz="2000" b="1" spc="-10" dirty="0">
                <a:cs typeface="Arial"/>
              </a:rPr>
              <a:t> </a:t>
            </a:r>
            <a:r>
              <a:rPr sz="2000" b="1" dirty="0">
                <a:cs typeface="Arial"/>
              </a:rPr>
              <a:t>coupling</a:t>
            </a:r>
            <a:endParaRPr sz="2000" dirty="0">
              <a:cs typeface="Arial"/>
            </a:endParaRPr>
          </a:p>
          <a:p>
            <a:pPr marL="123825" indent="-111125">
              <a:spcBef>
                <a:spcPts val="575"/>
              </a:spcBef>
              <a:buFont typeface="Wingdings"/>
              <a:buChar char=""/>
              <a:tabLst>
                <a:tab pos="124460" algn="l"/>
              </a:tabLst>
              <a:defRPr/>
            </a:pPr>
            <a:r>
              <a:rPr sz="2000" b="1" spc="-5" dirty="0">
                <a:cs typeface="Arial"/>
              </a:rPr>
              <a:t>Noise </a:t>
            </a:r>
            <a:r>
              <a:rPr sz="2000" b="1" dirty="0">
                <a:cs typeface="Arial"/>
              </a:rPr>
              <a:t>due to multiple</a:t>
            </a:r>
            <a:r>
              <a:rPr sz="2000" b="1" spc="-45" dirty="0">
                <a:cs typeface="Arial"/>
              </a:rPr>
              <a:t> </a:t>
            </a:r>
            <a:r>
              <a:rPr sz="2000" b="1" spc="-5" dirty="0">
                <a:cs typeface="Arial"/>
              </a:rPr>
              <a:t>earths</a:t>
            </a:r>
            <a:endParaRPr sz="2000" dirty="0">
              <a:cs typeface="Arial"/>
            </a:endParaRPr>
          </a:p>
          <a:p>
            <a:pPr marL="123825" indent="-111125">
              <a:spcBef>
                <a:spcPts val="575"/>
              </a:spcBef>
              <a:buFont typeface="Wingdings"/>
              <a:buChar char=""/>
              <a:tabLst>
                <a:tab pos="124460" algn="l"/>
              </a:tabLst>
              <a:defRPr/>
            </a:pPr>
            <a:r>
              <a:rPr sz="2000" b="1" spc="-5" dirty="0">
                <a:cs typeface="Arial"/>
              </a:rPr>
              <a:t>Noise </a:t>
            </a:r>
            <a:r>
              <a:rPr sz="2000" b="1" dirty="0">
                <a:cs typeface="Arial"/>
              </a:rPr>
              <a:t>in </a:t>
            </a:r>
            <a:r>
              <a:rPr sz="2000" b="1" spc="-5" dirty="0">
                <a:cs typeface="Arial"/>
              </a:rPr>
              <a:t>the form </a:t>
            </a:r>
            <a:r>
              <a:rPr sz="2000" b="1" dirty="0">
                <a:cs typeface="Arial"/>
              </a:rPr>
              <a:t>of </a:t>
            </a:r>
            <a:r>
              <a:rPr sz="2000" b="1" spc="-5" dirty="0">
                <a:cs typeface="Arial"/>
              </a:rPr>
              <a:t>voltage transients</a:t>
            </a:r>
            <a:endParaRPr sz="2000" dirty="0">
              <a:cs typeface="Arial"/>
            </a:endParaRPr>
          </a:p>
          <a:p>
            <a:pPr marL="123825" indent="-111125">
              <a:spcBef>
                <a:spcPts val="575"/>
              </a:spcBef>
              <a:buFont typeface="Wingdings"/>
              <a:buChar char=""/>
              <a:tabLst>
                <a:tab pos="124460" algn="l"/>
              </a:tabLst>
              <a:defRPr/>
            </a:pPr>
            <a:r>
              <a:rPr sz="2000" b="1" dirty="0">
                <a:cs typeface="Arial"/>
              </a:rPr>
              <a:t>Thermoelectric</a:t>
            </a:r>
            <a:r>
              <a:rPr sz="2000" b="1" spc="-35" dirty="0">
                <a:cs typeface="Arial"/>
              </a:rPr>
              <a:t> </a:t>
            </a:r>
            <a:r>
              <a:rPr sz="2000" b="1" spc="-5" dirty="0">
                <a:cs typeface="Arial"/>
              </a:rPr>
              <a:t>potentials</a:t>
            </a:r>
            <a:endParaRPr sz="2000" dirty="0">
              <a:cs typeface="Arial"/>
            </a:endParaRPr>
          </a:p>
          <a:p>
            <a:pPr marL="123825" indent="-111125">
              <a:spcBef>
                <a:spcPts val="580"/>
              </a:spcBef>
              <a:buFont typeface="Wingdings"/>
              <a:buChar char=""/>
              <a:tabLst>
                <a:tab pos="124460" algn="l"/>
              </a:tabLst>
              <a:defRPr/>
            </a:pPr>
            <a:r>
              <a:rPr sz="2000" b="1" dirty="0">
                <a:cs typeface="Arial"/>
              </a:rPr>
              <a:t>Shot</a:t>
            </a:r>
            <a:r>
              <a:rPr sz="2000" b="1" spc="-25" dirty="0">
                <a:cs typeface="Arial"/>
              </a:rPr>
              <a:t> </a:t>
            </a:r>
            <a:r>
              <a:rPr sz="2000" b="1" dirty="0">
                <a:cs typeface="Arial"/>
              </a:rPr>
              <a:t>noise</a:t>
            </a:r>
            <a:endParaRPr sz="2000" dirty="0">
              <a:cs typeface="Arial"/>
            </a:endParaRPr>
          </a:p>
          <a:p>
            <a:pPr marL="123825" indent="-111125">
              <a:spcBef>
                <a:spcPts val="575"/>
              </a:spcBef>
              <a:buFont typeface="Wingdings"/>
              <a:buChar char=""/>
              <a:tabLst>
                <a:tab pos="124460" algn="l"/>
              </a:tabLst>
              <a:defRPr/>
            </a:pPr>
            <a:r>
              <a:rPr sz="2000" b="1" dirty="0">
                <a:cs typeface="Arial"/>
              </a:rPr>
              <a:t>Electrochemical</a:t>
            </a:r>
            <a:r>
              <a:rPr sz="2000" b="1" spc="-50" dirty="0">
                <a:cs typeface="Arial"/>
              </a:rPr>
              <a:t> </a:t>
            </a:r>
            <a:r>
              <a:rPr sz="2000" b="1" spc="-5" dirty="0">
                <a:cs typeface="Arial"/>
              </a:rPr>
              <a:t>potentials</a:t>
            </a:r>
            <a:endParaRPr sz="2000" dirty="0">
              <a:cs typeface="Arial"/>
            </a:endParaRPr>
          </a:p>
        </p:txBody>
      </p:sp>
      <p:sp>
        <p:nvSpPr>
          <p:cNvPr id="4" name="Date Placeholder 3">
            <a:extLst>
              <a:ext uri="{FF2B5EF4-FFF2-40B4-BE49-F238E27FC236}">
                <a16:creationId xmlns:a16="http://schemas.microsoft.com/office/drawing/2014/main" id="{2D57F9CA-3E72-4586-9F14-3862918AC863}"/>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5124" name="Slide Number Placeholder 4">
            <a:extLst>
              <a:ext uri="{FF2B5EF4-FFF2-40B4-BE49-F238E27FC236}">
                <a16:creationId xmlns:a16="http://schemas.microsoft.com/office/drawing/2014/main" id="{D8C3737F-0373-4A31-AC38-A3AD2F46DF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E9D4BC20-AD03-4404-A05E-94D53E008090}" type="slidenum">
              <a:rPr lang="en-US" altLang="en-US">
                <a:solidFill>
                  <a:prstClr val="black"/>
                </a:solidFill>
              </a:rPr>
              <a:pPr defTabSz="457200"/>
              <a:t>3</a:t>
            </a:fld>
            <a:endParaRPr lang="en-US" altLang="en-US">
              <a:solidFill>
                <a:prstClr val="black"/>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995B4-487E-4C25-AFB4-C8C1896C7010}"/>
              </a:ext>
            </a:extLst>
          </p:cNvPr>
          <p:cNvSpPr>
            <a:spLocks noGrp="1"/>
          </p:cNvSpPr>
          <p:nvPr>
            <p:ph type="title"/>
          </p:nvPr>
        </p:nvSpPr>
        <p:spPr/>
        <p:txBody>
          <a:bodyPr/>
          <a:lstStyle/>
          <a:p>
            <a:pPr>
              <a:defRPr/>
            </a:pPr>
            <a:r>
              <a:rPr lang="en-US" sz="2800" b="1" spc="-5" dirty="0">
                <a:cs typeface="Trebuchet MS"/>
              </a:rPr>
              <a:t>Sources</a:t>
            </a:r>
            <a:r>
              <a:rPr lang="en-US" sz="2800" b="1" spc="-165" dirty="0">
                <a:cs typeface="Trebuchet MS"/>
              </a:rPr>
              <a:t> </a:t>
            </a:r>
            <a:r>
              <a:rPr lang="en-US" sz="2800" b="1" spc="-30" dirty="0">
                <a:cs typeface="Trebuchet MS"/>
              </a:rPr>
              <a:t>of</a:t>
            </a:r>
            <a:r>
              <a:rPr lang="en-US" sz="2800" b="1" spc="-150" dirty="0">
                <a:cs typeface="Trebuchet MS"/>
              </a:rPr>
              <a:t> </a:t>
            </a:r>
            <a:r>
              <a:rPr lang="en-US" sz="2800" b="1" spc="-5" dirty="0">
                <a:cs typeface="Trebuchet MS"/>
              </a:rPr>
              <a:t>measurement</a:t>
            </a:r>
            <a:r>
              <a:rPr lang="en-US" sz="2800" b="1" spc="-175" dirty="0">
                <a:cs typeface="Trebuchet MS"/>
              </a:rPr>
              <a:t> </a:t>
            </a:r>
            <a:r>
              <a:rPr lang="en-US" sz="2800" b="1" spc="5" dirty="0">
                <a:cs typeface="Trebuchet MS"/>
              </a:rPr>
              <a:t>noise</a:t>
            </a:r>
            <a:br>
              <a:rPr lang="en-US" sz="2800" dirty="0">
                <a:cs typeface="Trebuchet MS"/>
              </a:rPr>
            </a:br>
            <a:endParaRPr lang="en-US" sz="2800" dirty="0"/>
          </a:p>
        </p:txBody>
      </p:sp>
      <p:sp>
        <p:nvSpPr>
          <p:cNvPr id="6" name="object 6">
            <a:extLst>
              <a:ext uri="{FF2B5EF4-FFF2-40B4-BE49-F238E27FC236}">
                <a16:creationId xmlns:a16="http://schemas.microsoft.com/office/drawing/2014/main" id="{A05EF8E8-DF3D-44C1-92DB-769EEBBD2100}"/>
              </a:ext>
            </a:extLst>
          </p:cNvPr>
          <p:cNvSpPr txBox="1">
            <a:spLocks noGrp="1"/>
          </p:cNvSpPr>
          <p:nvPr>
            <p:ph idx="1"/>
          </p:nvPr>
        </p:nvSpPr>
        <p:spPr>
          <a:xfrm>
            <a:off x="-838200" y="1753861"/>
            <a:ext cx="10439400" cy="3350276"/>
          </a:xfrm>
        </p:spPr>
        <p:txBody>
          <a:bodyPr vert="horz" wrap="square" lIns="0" tIns="13335" rIns="0" bIns="0" rtlCol="0" anchor="ctr">
            <a:spAutoFit/>
          </a:bodyPr>
          <a:lstStyle/>
          <a:p>
            <a:pPr marL="2874963">
              <a:lnSpc>
                <a:spcPts val="1488"/>
              </a:lnSpc>
            </a:pPr>
            <a:r>
              <a:rPr lang="en-BW" altLang="en-BW" sz="2800" b="1" dirty="0">
                <a:latin typeface="Trebuchet MS" panose="020B0603020202020204" pitchFamily="34" charset="0"/>
                <a:ea typeface="Trebuchet MS" panose="020B0603020202020204" pitchFamily="34" charset="0"/>
                <a:cs typeface="Trebuchet MS" panose="020B0603020202020204" pitchFamily="34" charset="0"/>
              </a:rPr>
              <a:t>Inductive coupling</a:t>
            </a:r>
            <a:endParaRPr lang="en-GB" altLang="en-BW" sz="2800" b="1" dirty="0">
              <a:latin typeface="Trebuchet MS" panose="020B0603020202020204" pitchFamily="34" charset="0"/>
              <a:ea typeface="Trebuchet MS" panose="020B0603020202020204" pitchFamily="34" charset="0"/>
              <a:cs typeface="Trebuchet MS" panose="020B0603020202020204" pitchFamily="34" charset="0"/>
            </a:endParaRPr>
          </a:p>
          <a:p>
            <a:pPr marL="2532063" indent="0">
              <a:buNone/>
            </a:pPr>
            <a:r>
              <a:rPr lang="en-BW" altLang="en-BW" sz="2800" dirty="0">
                <a:cs typeface="Arial" panose="020B0604020202020204" pitchFamily="34" charset="0"/>
              </a:rPr>
              <a:t>If signal-carrying cables are close to such external cables or  equipment, a significant mutual inductance M can exist  between them, and this can generate a series mode noise  voltage of several millivolts given by </a:t>
            </a:r>
            <a:r>
              <a:rPr lang="en-BW" altLang="en-BW" sz="2800" dirty="0" err="1">
                <a:cs typeface="Arial" panose="020B0604020202020204" pitchFamily="34" charset="0"/>
              </a:rPr>
              <a:t>V</a:t>
            </a:r>
            <a:r>
              <a:rPr lang="en-BW" altLang="en-BW" sz="2800" baseline="-21000" dirty="0" err="1">
                <a:cs typeface="Arial" panose="020B0604020202020204" pitchFamily="34" charset="0"/>
              </a:rPr>
              <a:t>n</a:t>
            </a:r>
            <a:r>
              <a:rPr lang="en-BW" altLang="en-BW" sz="2800" baseline="-21000" dirty="0">
                <a:cs typeface="Arial" panose="020B0604020202020204" pitchFamily="34" charset="0"/>
              </a:rPr>
              <a:t> </a:t>
            </a:r>
            <a:r>
              <a:rPr lang="en-BW" altLang="en-BW" sz="2800" dirty="0">
                <a:cs typeface="Arial" panose="020B0604020202020204" pitchFamily="34" charset="0"/>
              </a:rPr>
              <a:t>= M I, where I is the  rate of change of current in the mains circuit.</a:t>
            </a:r>
          </a:p>
        </p:txBody>
      </p:sp>
      <p:sp>
        <p:nvSpPr>
          <p:cNvPr id="4" name="Date Placeholder 3">
            <a:extLst>
              <a:ext uri="{FF2B5EF4-FFF2-40B4-BE49-F238E27FC236}">
                <a16:creationId xmlns:a16="http://schemas.microsoft.com/office/drawing/2014/main" id="{02B5B6D8-31EA-4802-9679-9A8015971913}"/>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6148" name="Slide Number Placeholder 4">
            <a:extLst>
              <a:ext uri="{FF2B5EF4-FFF2-40B4-BE49-F238E27FC236}">
                <a16:creationId xmlns:a16="http://schemas.microsoft.com/office/drawing/2014/main" id="{521B8208-8071-4D54-B876-638431F24F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D1627201-47FC-48B3-A4B7-D8FF0AEC1B86}" type="slidenum">
              <a:rPr lang="en-US" altLang="en-US">
                <a:solidFill>
                  <a:prstClr val="black"/>
                </a:solidFill>
              </a:rPr>
              <a:pPr defTabSz="457200"/>
              <a:t>4</a:t>
            </a:fld>
            <a:endParaRPr lang="en-US" altLang="en-US">
              <a:solidFill>
                <a:prstClr val="black"/>
              </a:solidFill>
            </a:endParaRPr>
          </a:p>
        </p:txBody>
      </p:sp>
      <p:sp>
        <p:nvSpPr>
          <p:cNvPr id="6150" name="object 7">
            <a:extLst>
              <a:ext uri="{FF2B5EF4-FFF2-40B4-BE49-F238E27FC236}">
                <a16:creationId xmlns:a16="http://schemas.microsoft.com/office/drawing/2014/main" id="{1C5C8F2C-2A22-46BD-ABB1-5BA2FC7FFBDC}"/>
              </a:ext>
            </a:extLst>
          </p:cNvPr>
          <p:cNvSpPr>
            <a:spLocks noChangeArrowheads="1"/>
          </p:cNvSpPr>
          <p:nvPr/>
        </p:nvSpPr>
        <p:spPr bwMode="auto">
          <a:xfrm>
            <a:off x="4000500" y="4718104"/>
            <a:ext cx="4191000" cy="17526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endParaRPr lang="en-BW" altLang="en-BW">
              <a:solidFill>
                <a:prstClr val="black"/>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28A07-7D2E-476D-A0FA-733FD2BB9B14}"/>
              </a:ext>
            </a:extLst>
          </p:cNvPr>
          <p:cNvSpPr>
            <a:spLocks noGrp="1"/>
          </p:cNvSpPr>
          <p:nvPr>
            <p:ph type="title"/>
          </p:nvPr>
        </p:nvSpPr>
        <p:spPr>
          <a:xfrm>
            <a:off x="1981200" y="265761"/>
            <a:ext cx="8229600" cy="944562"/>
          </a:xfrm>
        </p:spPr>
        <p:txBody>
          <a:bodyPr>
            <a:normAutofit fontScale="90000"/>
          </a:bodyPr>
          <a:lstStyle/>
          <a:p>
            <a:pPr>
              <a:defRPr/>
            </a:pPr>
            <a:r>
              <a:rPr lang="en-US" sz="2400" b="1" spc="-5" dirty="0">
                <a:solidFill>
                  <a:schemeClr val="tx1"/>
                </a:solidFill>
                <a:cs typeface="Trebuchet MS"/>
              </a:rPr>
              <a:t>Sources</a:t>
            </a:r>
            <a:r>
              <a:rPr lang="en-US" sz="2400" b="1" spc="-165" dirty="0">
                <a:solidFill>
                  <a:schemeClr val="tx1"/>
                </a:solidFill>
                <a:cs typeface="Trebuchet MS"/>
              </a:rPr>
              <a:t> </a:t>
            </a:r>
            <a:r>
              <a:rPr lang="en-US" sz="2400" b="1" spc="-30" dirty="0">
                <a:solidFill>
                  <a:schemeClr val="tx1"/>
                </a:solidFill>
                <a:cs typeface="Trebuchet MS"/>
              </a:rPr>
              <a:t>of</a:t>
            </a:r>
            <a:r>
              <a:rPr lang="en-US" sz="2400" b="1" spc="-150" dirty="0">
                <a:solidFill>
                  <a:schemeClr val="tx1"/>
                </a:solidFill>
                <a:cs typeface="Trebuchet MS"/>
              </a:rPr>
              <a:t> </a:t>
            </a:r>
            <a:r>
              <a:rPr lang="en-US" sz="2400" b="1" spc="-5" dirty="0">
                <a:solidFill>
                  <a:schemeClr val="tx1"/>
                </a:solidFill>
                <a:cs typeface="Trebuchet MS"/>
              </a:rPr>
              <a:t>measurement</a:t>
            </a:r>
            <a:r>
              <a:rPr lang="en-US" sz="2400" b="1" spc="-175" dirty="0">
                <a:solidFill>
                  <a:schemeClr val="tx1"/>
                </a:solidFill>
                <a:cs typeface="Trebuchet MS"/>
              </a:rPr>
              <a:t> </a:t>
            </a:r>
            <a:r>
              <a:rPr lang="en-US" sz="2400" b="1" spc="5" dirty="0">
                <a:solidFill>
                  <a:schemeClr val="tx1"/>
                </a:solidFill>
                <a:cs typeface="Trebuchet MS"/>
              </a:rPr>
              <a:t>noise</a:t>
            </a:r>
            <a:br>
              <a:rPr lang="en-US" dirty="0">
                <a:cs typeface="Trebuchet MS"/>
              </a:rPr>
            </a:br>
            <a:endParaRPr lang="en-US" dirty="0"/>
          </a:p>
        </p:txBody>
      </p:sp>
      <p:sp>
        <p:nvSpPr>
          <p:cNvPr id="7174" name="object 4">
            <a:extLst>
              <a:ext uri="{FF2B5EF4-FFF2-40B4-BE49-F238E27FC236}">
                <a16:creationId xmlns:a16="http://schemas.microsoft.com/office/drawing/2014/main" id="{7BC0F461-7663-48D1-8882-90504ECF6E2D}"/>
              </a:ext>
            </a:extLst>
          </p:cNvPr>
          <p:cNvSpPr>
            <a:spLocks noGrp="1"/>
          </p:cNvSpPr>
          <p:nvPr>
            <p:ph idx="1"/>
          </p:nvPr>
        </p:nvSpPr>
        <p:spPr>
          <a:xfrm>
            <a:off x="4419600" y="4400551"/>
            <a:ext cx="5943600" cy="2320925"/>
          </a:xfrm>
          <a:blipFill dpi="0" rotWithShape="1">
            <a:blip r:embed="rId2"/>
            <a:srcRect/>
            <a:stretch>
              <a:fillRect/>
            </a:stretch>
          </a:blipFill>
        </p:spPr>
        <p:txBody>
          <a:bodyPr vert="horz" lIns="0" tIns="0" rIns="0" bIns="0" rtlCol="0">
            <a:normAutofit/>
          </a:bodyPr>
          <a:lstStyle/>
          <a:p>
            <a:pPr marL="0" indent="0">
              <a:buNone/>
            </a:pPr>
            <a:endParaRPr lang="en-BW" altLang="en-BW" dirty="0"/>
          </a:p>
        </p:txBody>
      </p:sp>
      <p:sp>
        <p:nvSpPr>
          <p:cNvPr id="4" name="Date Placeholder 3">
            <a:extLst>
              <a:ext uri="{FF2B5EF4-FFF2-40B4-BE49-F238E27FC236}">
                <a16:creationId xmlns:a16="http://schemas.microsoft.com/office/drawing/2014/main" id="{B9F22519-72FE-4F2C-9099-FDE9CD4FE933}"/>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7172" name="Slide Number Placeholder 4">
            <a:extLst>
              <a:ext uri="{FF2B5EF4-FFF2-40B4-BE49-F238E27FC236}">
                <a16:creationId xmlns:a16="http://schemas.microsoft.com/office/drawing/2014/main" id="{875C8A8F-39E8-41B4-A23E-E43EF59EA3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914C47FD-C169-42D9-8557-642C4DF53A41}" type="slidenum">
              <a:rPr lang="en-US" altLang="en-US">
                <a:solidFill>
                  <a:prstClr val="black"/>
                </a:solidFill>
              </a:rPr>
              <a:pPr defTabSz="457200"/>
              <a:t>5</a:t>
            </a:fld>
            <a:endParaRPr lang="en-US" altLang="en-US">
              <a:solidFill>
                <a:prstClr val="black"/>
              </a:solidFill>
            </a:endParaRPr>
          </a:p>
        </p:txBody>
      </p:sp>
      <p:sp>
        <p:nvSpPr>
          <p:cNvPr id="6" name="object 3">
            <a:extLst>
              <a:ext uri="{FF2B5EF4-FFF2-40B4-BE49-F238E27FC236}">
                <a16:creationId xmlns:a16="http://schemas.microsoft.com/office/drawing/2014/main" id="{A073C9A6-1D78-4EC0-8735-BB378FEA4DA4}"/>
              </a:ext>
            </a:extLst>
          </p:cNvPr>
          <p:cNvSpPr txBox="1"/>
          <p:nvPr/>
        </p:nvSpPr>
        <p:spPr>
          <a:xfrm>
            <a:off x="190500" y="990601"/>
            <a:ext cx="7848600" cy="3631763"/>
          </a:xfrm>
          <a:prstGeom prst="rect">
            <a:avLst/>
          </a:prstGeom>
        </p:spPr>
        <p:txBody>
          <a:bodyPr lIns="0" tIns="12700" rIns="0" bIns="0" anchor="ctr">
            <a:spAutoFit/>
          </a:bodyPr>
          <a:lstStyle>
            <a:lvl1pPr marL="169068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lnSpc>
                <a:spcPts val="1488"/>
              </a:lnSpc>
            </a:pPr>
            <a:r>
              <a:rPr lang="en-BW" altLang="en-BW" sz="2400" b="1" dirty="0">
                <a:solidFill>
                  <a:prstClr val="black"/>
                </a:solidFill>
              </a:rPr>
              <a:t>Capacitive (electrostatic) coupling</a:t>
            </a:r>
            <a:endParaRPr lang="en-BW" altLang="en-BW" sz="2400" dirty="0">
              <a:solidFill>
                <a:prstClr val="black"/>
              </a:solidFill>
            </a:endParaRPr>
          </a:p>
          <a:p>
            <a:pPr defTabSz="457200">
              <a:spcBef>
                <a:spcPts val="775"/>
              </a:spcBef>
              <a:buFont typeface="Wingdings" panose="05000000000000000000" pitchFamily="2" charset="2"/>
              <a:buChar char=""/>
            </a:pPr>
            <a:r>
              <a:rPr lang="en-BW" altLang="en-BW" sz="2400" dirty="0">
                <a:solidFill>
                  <a:prstClr val="black"/>
                </a:solidFill>
              </a:rPr>
              <a:t>Capacitive coupling, also known as electrostatic coupling,  can also occur between the signal wires in a measurement  circuit and a nearby mains-carrying conductor. The series  mode noise voltage </a:t>
            </a:r>
            <a:r>
              <a:rPr lang="en-BW" altLang="en-BW" sz="2400" dirty="0" err="1">
                <a:solidFill>
                  <a:prstClr val="black"/>
                </a:solidFill>
              </a:rPr>
              <a:t>V</a:t>
            </a:r>
            <a:r>
              <a:rPr lang="en-BW" altLang="en-BW" sz="2400" baseline="-21000" dirty="0" err="1">
                <a:solidFill>
                  <a:prstClr val="black"/>
                </a:solidFill>
              </a:rPr>
              <a:t>n</a:t>
            </a:r>
            <a:r>
              <a:rPr lang="en-BW" altLang="en-BW" sz="2400" baseline="-21000" dirty="0">
                <a:solidFill>
                  <a:prstClr val="black"/>
                </a:solidFill>
              </a:rPr>
              <a:t> </a:t>
            </a:r>
            <a:r>
              <a:rPr lang="en-BW" altLang="en-BW" sz="2400" dirty="0">
                <a:solidFill>
                  <a:prstClr val="black"/>
                </a:solidFill>
              </a:rPr>
              <a:t>is zero if the coupling capacitances  are perfectly balanced, i.e. if C</a:t>
            </a:r>
            <a:r>
              <a:rPr lang="en-BW" altLang="en-BW" sz="2400" baseline="-21000" dirty="0">
                <a:solidFill>
                  <a:prstClr val="black"/>
                </a:solidFill>
              </a:rPr>
              <a:t>1 </a:t>
            </a:r>
            <a:r>
              <a:rPr lang="en-BW" altLang="en-BW" sz="2400" dirty="0">
                <a:solidFill>
                  <a:prstClr val="black"/>
                </a:solidFill>
              </a:rPr>
              <a:t>= C</a:t>
            </a:r>
            <a:r>
              <a:rPr lang="en-BW" altLang="en-BW" sz="2400" baseline="-21000" dirty="0">
                <a:solidFill>
                  <a:prstClr val="black"/>
                </a:solidFill>
              </a:rPr>
              <a:t>2 </a:t>
            </a:r>
            <a:r>
              <a:rPr lang="en-BW" altLang="en-BW" sz="2400" dirty="0">
                <a:solidFill>
                  <a:prstClr val="black"/>
                </a:solidFill>
              </a:rPr>
              <a:t>and C</a:t>
            </a:r>
            <a:r>
              <a:rPr lang="en-BW" altLang="en-BW" sz="2400" baseline="-21000" dirty="0">
                <a:solidFill>
                  <a:prstClr val="black"/>
                </a:solidFill>
              </a:rPr>
              <a:t>3 </a:t>
            </a:r>
            <a:r>
              <a:rPr lang="en-BW" altLang="en-BW" sz="2400" dirty="0">
                <a:solidFill>
                  <a:prstClr val="black"/>
                </a:solidFill>
              </a:rPr>
              <a:t>= C</a:t>
            </a:r>
            <a:r>
              <a:rPr lang="en-BW" altLang="en-BW" sz="2400" baseline="-21000" dirty="0">
                <a:solidFill>
                  <a:prstClr val="black"/>
                </a:solidFill>
              </a:rPr>
              <a:t>4</a:t>
            </a:r>
            <a:r>
              <a:rPr lang="en-BW" altLang="en-BW" sz="2400" dirty="0">
                <a:solidFill>
                  <a:prstClr val="black"/>
                </a:solidFill>
              </a:rPr>
              <a:t>. However,  exact balance is unlikely in practice,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6485-CCBA-4431-9C6B-5CB2167DDD77}"/>
              </a:ext>
            </a:extLst>
          </p:cNvPr>
          <p:cNvSpPr>
            <a:spLocks noGrp="1"/>
          </p:cNvSpPr>
          <p:nvPr>
            <p:ph type="title"/>
          </p:nvPr>
        </p:nvSpPr>
        <p:spPr>
          <a:xfrm>
            <a:off x="1117261" y="112976"/>
            <a:ext cx="9720072" cy="1499616"/>
          </a:xfrm>
        </p:spPr>
        <p:txBody>
          <a:bodyPr>
            <a:normAutofit fontScale="90000"/>
          </a:bodyPr>
          <a:lstStyle/>
          <a:p>
            <a:pPr>
              <a:defRPr/>
            </a:pPr>
            <a:r>
              <a:rPr lang="en-US" b="1" spc="-5" dirty="0">
                <a:latin typeface="Trebuchet MS"/>
                <a:cs typeface="Trebuchet MS"/>
              </a:rPr>
              <a:t>Sources</a:t>
            </a:r>
            <a:r>
              <a:rPr lang="en-US" b="1" spc="-165" dirty="0">
                <a:latin typeface="Trebuchet MS"/>
                <a:cs typeface="Trebuchet MS"/>
              </a:rPr>
              <a:t> </a:t>
            </a:r>
            <a:r>
              <a:rPr lang="en-US" b="1" spc="-30" dirty="0">
                <a:latin typeface="Trebuchet MS"/>
                <a:cs typeface="Trebuchet MS"/>
              </a:rPr>
              <a:t>of</a:t>
            </a:r>
            <a:r>
              <a:rPr lang="en-US" b="1" spc="-150" dirty="0">
                <a:latin typeface="Trebuchet MS"/>
                <a:cs typeface="Trebuchet MS"/>
              </a:rPr>
              <a:t> </a:t>
            </a:r>
            <a:r>
              <a:rPr lang="en-US" b="1" spc="-5" dirty="0">
                <a:latin typeface="Trebuchet MS"/>
                <a:cs typeface="Trebuchet MS"/>
              </a:rPr>
              <a:t>measurement</a:t>
            </a:r>
            <a:r>
              <a:rPr lang="en-US" b="1" spc="-175" dirty="0">
                <a:latin typeface="Trebuchet MS"/>
                <a:cs typeface="Trebuchet MS"/>
              </a:rPr>
              <a:t> </a:t>
            </a:r>
            <a:r>
              <a:rPr lang="en-US" b="1" spc="5" dirty="0">
                <a:latin typeface="Trebuchet MS"/>
                <a:cs typeface="Trebuchet MS"/>
              </a:rPr>
              <a:t>noise</a:t>
            </a:r>
            <a:br>
              <a:rPr lang="en-US" dirty="0">
                <a:latin typeface="Trebuchet MS"/>
                <a:cs typeface="Trebuchet MS"/>
              </a:rPr>
            </a:br>
            <a:endParaRPr lang="en-US" dirty="0"/>
          </a:p>
        </p:txBody>
      </p:sp>
      <p:sp>
        <p:nvSpPr>
          <p:cNvPr id="6" name="object 7">
            <a:extLst>
              <a:ext uri="{FF2B5EF4-FFF2-40B4-BE49-F238E27FC236}">
                <a16:creationId xmlns:a16="http://schemas.microsoft.com/office/drawing/2014/main" id="{3864DFE0-CFAE-4067-8432-E77866F29652}"/>
              </a:ext>
            </a:extLst>
          </p:cNvPr>
          <p:cNvSpPr txBox="1">
            <a:spLocks noGrp="1"/>
          </p:cNvSpPr>
          <p:nvPr>
            <p:ph idx="1"/>
          </p:nvPr>
        </p:nvSpPr>
        <p:spPr>
          <a:xfrm>
            <a:off x="1981200" y="1219200"/>
            <a:ext cx="8229600" cy="5589351"/>
          </a:xfrm>
        </p:spPr>
        <p:txBody>
          <a:bodyPr vert="horz" lIns="0" tIns="13335" rIns="0" bIns="0" rtlCol="0">
            <a:spAutoFit/>
          </a:bodyPr>
          <a:lstStyle/>
          <a:p>
            <a:pPr marL="2058035" indent="0">
              <a:lnSpc>
                <a:spcPts val="1488"/>
              </a:lnSpc>
              <a:buNone/>
            </a:pPr>
            <a:r>
              <a:rPr lang="en-BW" altLang="en-BW" sz="2400" b="1" dirty="0">
                <a:latin typeface="Trebuchet MS" panose="020B0603020202020204" pitchFamily="34" charset="0"/>
                <a:ea typeface="Trebuchet MS" panose="020B0603020202020204" pitchFamily="34" charset="0"/>
                <a:cs typeface="Trebuchet MS" panose="020B0603020202020204" pitchFamily="34" charset="0"/>
              </a:rPr>
              <a:t>Noise due to multiple earths</a:t>
            </a:r>
            <a:endParaRPr lang="en-BW" altLang="en-BW" sz="2400" dirty="0">
              <a:latin typeface="Trebuchet MS" panose="020B0603020202020204" pitchFamily="34" charset="0"/>
              <a:ea typeface="Trebuchet MS" panose="020B0603020202020204" pitchFamily="34" charset="0"/>
              <a:cs typeface="Trebuchet MS" panose="020B0603020202020204" pitchFamily="34" charset="0"/>
            </a:endParaRPr>
          </a:p>
          <a:p>
            <a:pPr marL="2149475">
              <a:spcBef>
                <a:spcPts val="775"/>
              </a:spcBef>
              <a:buFont typeface="Wingdings" panose="05000000000000000000" pitchFamily="2" charset="2"/>
              <a:buChar char=""/>
            </a:pPr>
            <a:r>
              <a:rPr lang="en-BW" altLang="en-BW" sz="2400" dirty="0">
                <a:cs typeface="Arial" panose="020B0604020202020204" pitchFamily="34" charset="0"/>
              </a:rPr>
              <a:t>Measurement signal circuits are isolated from earth.</a:t>
            </a:r>
          </a:p>
          <a:p>
            <a:pPr marL="2149475">
              <a:spcBef>
                <a:spcPts val="525"/>
              </a:spcBef>
              <a:buFont typeface="Wingdings" panose="05000000000000000000" pitchFamily="2" charset="2"/>
              <a:buChar char=""/>
            </a:pPr>
            <a:r>
              <a:rPr lang="en-BW" altLang="en-BW" sz="2400" dirty="0">
                <a:cs typeface="Arial" panose="020B0604020202020204" pitchFamily="34" charset="0"/>
              </a:rPr>
              <a:t>However, leakage paths often exist between measurement circuit  signal wires and earth at both the source (sensor) end of the circuit  and also the load (measuring instrument) end.</a:t>
            </a:r>
          </a:p>
          <a:p>
            <a:pPr marL="2149475">
              <a:spcBef>
                <a:spcPts val="525"/>
              </a:spcBef>
              <a:buFont typeface="Wingdings" panose="05000000000000000000" pitchFamily="2" charset="2"/>
              <a:buChar char=""/>
            </a:pPr>
            <a:r>
              <a:rPr lang="en-BW" altLang="en-BW" sz="2400" dirty="0">
                <a:cs typeface="Arial" panose="020B0604020202020204" pitchFamily="34" charset="0"/>
              </a:rPr>
              <a:t>This does not cause a problem as long as the earth potential at  both ends is the same.</a:t>
            </a:r>
          </a:p>
          <a:p>
            <a:pPr marL="2149475">
              <a:spcBef>
                <a:spcPts val="525"/>
              </a:spcBef>
              <a:buFont typeface="Wingdings" panose="05000000000000000000" pitchFamily="2" charset="2"/>
              <a:buChar char=""/>
            </a:pPr>
            <a:r>
              <a:rPr lang="en-BW" altLang="en-BW" sz="2400" dirty="0">
                <a:cs typeface="Arial" panose="020B0604020202020204" pitchFamily="34" charset="0"/>
              </a:rPr>
              <a:t>However, it is common to find that other machinery and equipment  carrying large currents is connected to the same earth plane. This  can cause the potential to vary between different points on the  earth plane. This situation, which is known as </a:t>
            </a:r>
            <a:r>
              <a:rPr lang="en-BW" altLang="en-BW" sz="2400" i="1" dirty="0">
                <a:cs typeface="Arial" panose="020B0604020202020204" pitchFamily="34" charset="0"/>
              </a:rPr>
              <a:t>multiple earths, can  cause a series mode noise voltage in the measurement circuit.</a:t>
            </a:r>
            <a:endParaRPr lang="en-BW" altLang="en-BW" sz="2400" dirty="0">
              <a:cs typeface="Arial" panose="020B0604020202020204" pitchFamily="34" charset="0"/>
            </a:endParaRPr>
          </a:p>
        </p:txBody>
      </p:sp>
      <p:sp>
        <p:nvSpPr>
          <p:cNvPr id="4" name="Date Placeholder 3">
            <a:extLst>
              <a:ext uri="{FF2B5EF4-FFF2-40B4-BE49-F238E27FC236}">
                <a16:creationId xmlns:a16="http://schemas.microsoft.com/office/drawing/2014/main" id="{DC604B65-3899-4033-99A4-0ABBB5D525F0}"/>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8196" name="Slide Number Placeholder 4">
            <a:extLst>
              <a:ext uri="{FF2B5EF4-FFF2-40B4-BE49-F238E27FC236}">
                <a16:creationId xmlns:a16="http://schemas.microsoft.com/office/drawing/2014/main" id="{6164116E-7738-4C19-BF0D-A98414C91D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49DA7BF9-425E-430B-AAE8-3A9146CEE744}" type="slidenum">
              <a:rPr lang="en-US" altLang="en-US">
                <a:solidFill>
                  <a:prstClr val="black"/>
                </a:solidFill>
              </a:rPr>
              <a:pPr defTabSz="457200"/>
              <a:t>6</a:t>
            </a:fld>
            <a:endParaRPr lang="en-US" altLang="en-US">
              <a:solidFill>
                <a:prstClr val="black"/>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A801FDF-CDC6-4076-94D3-C165B918E45F}"/>
              </a:ext>
            </a:extLst>
          </p:cNvPr>
          <p:cNvSpPr>
            <a:spLocks noGrp="1"/>
          </p:cNvSpPr>
          <p:nvPr>
            <p:ph type="title"/>
          </p:nvPr>
        </p:nvSpPr>
        <p:spPr/>
        <p:txBody>
          <a:bodyPr>
            <a:normAutofit fontScale="90000"/>
          </a:bodyPr>
          <a:lstStyle/>
          <a:p>
            <a:r>
              <a:rPr lang="en-BW" altLang="en-BW" b="1" dirty="0">
                <a:latin typeface="Trebuchet MS" panose="020B0603020202020204" pitchFamily="34" charset="0"/>
                <a:ea typeface="Trebuchet MS" panose="020B0603020202020204" pitchFamily="34" charset="0"/>
                <a:cs typeface="Trebuchet MS" panose="020B0603020202020204" pitchFamily="34" charset="0"/>
              </a:rPr>
              <a:t>Sources of measurement noise</a:t>
            </a:r>
            <a:br>
              <a:rPr lang="en-BW" altLang="en-BW" dirty="0">
                <a:latin typeface="Trebuchet MS" panose="020B0603020202020204" pitchFamily="34" charset="0"/>
                <a:ea typeface="Trebuchet MS" panose="020B0603020202020204" pitchFamily="34" charset="0"/>
                <a:cs typeface="Trebuchet MS" panose="020B0603020202020204" pitchFamily="34" charset="0"/>
              </a:rPr>
            </a:br>
            <a:endParaRPr lang="en-BW" altLang="en-BW" dirty="0"/>
          </a:p>
        </p:txBody>
      </p:sp>
      <p:sp>
        <p:nvSpPr>
          <p:cNvPr id="6" name="object 3">
            <a:extLst>
              <a:ext uri="{FF2B5EF4-FFF2-40B4-BE49-F238E27FC236}">
                <a16:creationId xmlns:a16="http://schemas.microsoft.com/office/drawing/2014/main" id="{FC5EC5A6-CDDA-413D-921B-12894F5FD2DD}"/>
              </a:ext>
            </a:extLst>
          </p:cNvPr>
          <p:cNvSpPr txBox="1">
            <a:spLocks noGrp="1"/>
          </p:cNvSpPr>
          <p:nvPr>
            <p:ph idx="1"/>
          </p:nvPr>
        </p:nvSpPr>
        <p:spPr>
          <a:xfrm>
            <a:off x="1993900" y="1524001"/>
            <a:ext cx="8229600" cy="5262979"/>
          </a:xfrm>
        </p:spPr>
        <p:txBody>
          <a:bodyPr vert="horz" lIns="0" tIns="12700" rIns="0" bIns="0" rtlCol="0">
            <a:spAutoFit/>
          </a:bodyPr>
          <a:lstStyle/>
          <a:p>
            <a:pPr marL="1789113">
              <a:lnSpc>
                <a:spcPts val="1488"/>
              </a:lnSpc>
            </a:pPr>
            <a:r>
              <a:rPr lang="en-BW" altLang="en-BW" sz="2400" b="1" dirty="0">
                <a:latin typeface="Trebuchet MS" panose="020B0603020202020204" pitchFamily="34" charset="0"/>
                <a:ea typeface="Trebuchet MS" panose="020B0603020202020204" pitchFamily="34" charset="0"/>
                <a:cs typeface="Trebuchet MS" panose="020B0603020202020204" pitchFamily="34" charset="0"/>
              </a:rPr>
              <a:t>Noise in the form of voltage transients</a:t>
            </a:r>
            <a:endParaRPr lang="en-BW" altLang="en-BW" sz="2400" dirty="0">
              <a:latin typeface="Trebuchet MS" panose="020B0603020202020204" pitchFamily="34" charset="0"/>
              <a:ea typeface="Trebuchet MS" panose="020B0603020202020204" pitchFamily="34" charset="0"/>
              <a:cs typeface="Trebuchet MS" panose="020B0603020202020204" pitchFamily="34" charset="0"/>
            </a:endParaRPr>
          </a:p>
          <a:p>
            <a:pPr marL="1789113">
              <a:spcBef>
                <a:spcPts val="775"/>
              </a:spcBef>
              <a:buFont typeface="Wingdings" panose="05000000000000000000" pitchFamily="2" charset="2"/>
              <a:buChar char=""/>
            </a:pPr>
            <a:r>
              <a:rPr lang="en-BW" altLang="en-BW" sz="2400" dirty="0">
                <a:cs typeface="Arial" panose="020B0604020202020204" pitchFamily="34" charset="0"/>
              </a:rPr>
              <a:t>When motors and other electrical equipment (both </a:t>
            </a:r>
            <a:r>
              <a:rPr lang="en-BW" altLang="en-BW" sz="2400" dirty="0" err="1">
                <a:cs typeface="Arial" panose="020B0604020202020204" pitchFamily="34" charset="0"/>
              </a:rPr>
              <a:t>a.c</a:t>
            </a:r>
            <a:r>
              <a:rPr lang="en-BW" altLang="en-BW" sz="2400" dirty="0">
                <a:cs typeface="Arial" panose="020B0604020202020204" pitchFamily="34" charset="0"/>
              </a:rPr>
              <a:t>. and  </a:t>
            </a:r>
            <a:r>
              <a:rPr lang="en-BW" altLang="en-BW" sz="2400" dirty="0" err="1">
                <a:cs typeface="Arial" panose="020B0604020202020204" pitchFamily="34" charset="0"/>
              </a:rPr>
              <a:t>d.c.</a:t>
            </a:r>
            <a:r>
              <a:rPr lang="en-BW" altLang="en-BW" sz="2400" dirty="0">
                <a:cs typeface="Arial" panose="020B0604020202020204" pitchFamily="34" charset="0"/>
              </a:rPr>
              <a:t>) are switched on and off, large changes of power  consumption suddenly occur in the electricity supply system.</a:t>
            </a:r>
          </a:p>
          <a:p>
            <a:pPr marL="1789113">
              <a:spcBef>
                <a:spcPts val="575"/>
              </a:spcBef>
              <a:buFont typeface="Wingdings" panose="05000000000000000000" pitchFamily="2" charset="2"/>
              <a:buChar char=""/>
            </a:pPr>
            <a:r>
              <a:rPr lang="en-BW" altLang="en-BW" sz="2400" dirty="0">
                <a:cs typeface="Arial" panose="020B0604020202020204" pitchFamily="34" charset="0"/>
              </a:rPr>
              <a:t>This can cause voltage transients (‘spikes’) in measurement  circuits connected to the same power supply. Such noise  voltages are of large magnitude but short time duration.</a:t>
            </a:r>
          </a:p>
          <a:p>
            <a:pPr marL="1789113">
              <a:spcBef>
                <a:spcPts val="575"/>
              </a:spcBef>
              <a:buFont typeface="Wingdings" panose="05000000000000000000" pitchFamily="2" charset="2"/>
              <a:buChar char=""/>
            </a:pPr>
            <a:r>
              <a:rPr lang="en-BW" altLang="en-BW" sz="2400" i="1" dirty="0">
                <a:solidFill>
                  <a:srgbClr val="FF0000"/>
                </a:solidFill>
                <a:cs typeface="Arial" panose="020B0604020202020204" pitchFamily="34" charset="0"/>
              </a:rPr>
              <a:t>Corona discharge </a:t>
            </a:r>
            <a:r>
              <a:rPr lang="en-BW" altLang="en-BW" sz="2400" i="1" dirty="0">
                <a:cs typeface="Arial" panose="020B0604020202020204" pitchFamily="34" charset="0"/>
              </a:rPr>
              <a:t>can also cause voltage transients on the  mains power supply. This </a:t>
            </a:r>
            <a:r>
              <a:rPr lang="en-BW" altLang="en-BW" sz="2400" dirty="0">
                <a:cs typeface="Arial" panose="020B0604020202020204" pitchFamily="34" charset="0"/>
              </a:rPr>
              <a:t>occurs when the air in the vicinity of  high voltage </a:t>
            </a:r>
            <a:r>
              <a:rPr lang="en-BW" altLang="en-BW" sz="2400" dirty="0" err="1">
                <a:cs typeface="Arial" panose="020B0604020202020204" pitchFamily="34" charset="0"/>
              </a:rPr>
              <a:t>d.c.</a:t>
            </a:r>
            <a:r>
              <a:rPr lang="en-BW" altLang="en-BW" sz="2400" dirty="0">
                <a:cs typeface="Arial" panose="020B0604020202020204" pitchFamily="34" charset="0"/>
              </a:rPr>
              <a:t> circuits becomes ionized and discharges to  earth at random times.</a:t>
            </a:r>
          </a:p>
        </p:txBody>
      </p:sp>
      <p:sp>
        <p:nvSpPr>
          <p:cNvPr id="4" name="Date Placeholder 3">
            <a:extLst>
              <a:ext uri="{FF2B5EF4-FFF2-40B4-BE49-F238E27FC236}">
                <a16:creationId xmlns:a16="http://schemas.microsoft.com/office/drawing/2014/main" id="{D6F444F7-2084-4FEC-BA1C-6BA689CDA475}"/>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9220" name="Slide Number Placeholder 4">
            <a:extLst>
              <a:ext uri="{FF2B5EF4-FFF2-40B4-BE49-F238E27FC236}">
                <a16:creationId xmlns:a16="http://schemas.microsoft.com/office/drawing/2014/main" id="{65A2D2D3-04E2-407F-B580-0359D1CC77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19F676E5-B899-449C-AAAD-4E8889AB3F37}" type="slidenum">
              <a:rPr lang="en-US" altLang="en-US">
                <a:solidFill>
                  <a:prstClr val="black"/>
                </a:solidFill>
              </a:rPr>
              <a:pPr defTabSz="457200"/>
              <a:t>7</a:t>
            </a:fld>
            <a:endParaRPr lang="en-US" altLang="en-US">
              <a:solidFill>
                <a:prstClr val="black"/>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9DDCCEE9-4A63-4A55-A24E-29F868A1EC0F}"/>
              </a:ext>
            </a:extLst>
          </p:cNvPr>
          <p:cNvSpPr>
            <a:spLocks noGrp="1"/>
          </p:cNvSpPr>
          <p:nvPr>
            <p:ph type="title"/>
          </p:nvPr>
        </p:nvSpPr>
        <p:spPr/>
        <p:txBody>
          <a:bodyPr>
            <a:normAutofit/>
          </a:bodyPr>
          <a:lstStyle/>
          <a:p>
            <a:r>
              <a:rPr lang="en-BW" altLang="en-BW" b="1" dirty="0">
                <a:ea typeface="Trebuchet MS" panose="020B0603020202020204" pitchFamily="34" charset="0"/>
                <a:cs typeface="Trebuchet MS" panose="020B0603020202020204" pitchFamily="34" charset="0"/>
              </a:rPr>
              <a:t>Sources of measurement noise</a:t>
            </a:r>
            <a:br>
              <a:rPr lang="en-BW" altLang="en-BW" dirty="0">
                <a:ea typeface="Trebuchet MS" panose="020B0603020202020204" pitchFamily="34" charset="0"/>
                <a:cs typeface="Trebuchet MS" panose="020B0603020202020204" pitchFamily="34" charset="0"/>
              </a:rPr>
            </a:br>
            <a:endParaRPr lang="en-BW" altLang="en-BW" dirty="0"/>
          </a:p>
        </p:txBody>
      </p:sp>
      <p:sp>
        <p:nvSpPr>
          <p:cNvPr id="6" name="object 6">
            <a:extLst>
              <a:ext uri="{FF2B5EF4-FFF2-40B4-BE49-F238E27FC236}">
                <a16:creationId xmlns:a16="http://schemas.microsoft.com/office/drawing/2014/main" id="{125EAC93-F0FB-4511-88F4-5E5CB3FDA9CA}"/>
              </a:ext>
            </a:extLst>
          </p:cNvPr>
          <p:cNvSpPr txBox="1">
            <a:spLocks noGrp="1"/>
          </p:cNvSpPr>
          <p:nvPr>
            <p:ph idx="1"/>
          </p:nvPr>
        </p:nvSpPr>
        <p:spPr>
          <a:xfrm>
            <a:off x="381000" y="1222689"/>
            <a:ext cx="8229600" cy="4567532"/>
          </a:xfrm>
        </p:spPr>
        <p:txBody>
          <a:bodyPr vert="horz" lIns="0" tIns="13335" rIns="0" bIns="0" rtlCol="0">
            <a:spAutoFit/>
          </a:bodyPr>
          <a:lstStyle/>
          <a:p>
            <a:pPr marL="1789113">
              <a:lnSpc>
                <a:spcPts val="1488"/>
              </a:lnSpc>
            </a:pPr>
            <a:endParaRPr lang="en-GB" altLang="en-BW" sz="2400" b="1" dirty="0">
              <a:ea typeface="Trebuchet MS" panose="020B0603020202020204" pitchFamily="34" charset="0"/>
              <a:cs typeface="Trebuchet MS" panose="020B0603020202020204" pitchFamily="34" charset="0"/>
            </a:endParaRPr>
          </a:p>
          <a:p>
            <a:pPr marL="1789113">
              <a:lnSpc>
                <a:spcPts val="1488"/>
              </a:lnSpc>
            </a:pPr>
            <a:r>
              <a:rPr lang="en-BW" altLang="en-BW" sz="2400" b="1" dirty="0">
                <a:ea typeface="Trebuchet MS" panose="020B0603020202020204" pitchFamily="34" charset="0"/>
                <a:cs typeface="Trebuchet MS" panose="020B0603020202020204" pitchFamily="34" charset="0"/>
              </a:rPr>
              <a:t>Thermoelectric potentials</a:t>
            </a:r>
            <a:endParaRPr lang="en-BW" altLang="en-BW" sz="2400" dirty="0">
              <a:ea typeface="Trebuchet MS" panose="020B0603020202020204" pitchFamily="34" charset="0"/>
              <a:cs typeface="Trebuchet MS" panose="020B0603020202020204" pitchFamily="34" charset="0"/>
            </a:endParaRPr>
          </a:p>
          <a:p>
            <a:pPr marL="1789113">
              <a:spcBef>
                <a:spcPts val="775"/>
              </a:spcBef>
              <a:buFont typeface="Wingdings" panose="05000000000000000000" pitchFamily="2" charset="2"/>
              <a:buChar char=""/>
            </a:pPr>
            <a:r>
              <a:rPr lang="en-BW" altLang="en-BW" sz="2400" dirty="0">
                <a:cs typeface="Arial" panose="020B0604020202020204" pitchFamily="34" charset="0"/>
              </a:rPr>
              <a:t>Whenever metals of two different types are connected  together, a thermoelectric potential (sometimes called a  </a:t>
            </a:r>
            <a:r>
              <a:rPr lang="en-BW" altLang="en-BW" sz="2400" i="1" dirty="0">
                <a:cs typeface="Arial" panose="020B0604020202020204" pitchFamily="34" charset="0"/>
              </a:rPr>
              <a:t>thermal </a:t>
            </a:r>
            <a:r>
              <a:rPr lang="en-BW" altLang="en-BW" sz="2400" i="1" dirty="0" err="1">
                <a:cs typeface="Arial" panose="020B0604020202020204" pitchFamily="34" charset="0"/>
              </a:rPr>
              <a:t>e.m.f.</a:t>
            </a:r>
            <a:r>
              <a:rPr lang="en-BW" altLang="en-BW" sz="2400" i="1" dirty="0">
                <a:cs typeface="Arial" panose="020B0604020202020204" pitchFamily="34" charset="0"/>
              </a:rPr>
              <a:t>) is generated according to the temperature of  the </a:t>
            </a:r>
            <a:r>
              <a:rPr lang="en-BW" altLang="en-BW" sz="2400" dirty="0">
                <a:cs typeface="Arial" panose="020B0604020202020204" pitchFamily="34" charset="0"/>
              </a:rPr>
              <a:t>joint.</a:t>
            </a:r>
          </a:p>
          <a:p>
            <a:pPr marL="1789113">
              <a:spcBef>
                <a:spcPts val="575"/>
              </a:spcBef>
              <a:buFont typeface="Wingdings" panose="05000000000000000000" pitchFamily="2" charset="2"/>
              <a:buChar char=""/>
            </a:pPr>
            <a:r>
              <a:rPr lang="en-BW" altLang="en-BW" sz="2400" dirty="0">
                <a:cs typeface="Arial" panose="020B0604020202020204" pitchFamily="34" charset="0"/>
              </a:rPr>
              <a:t>This is known as the </a:t>
            </a:r>
            <a:r>
              <a:rPr lang="en-BW" altLang="en-BW" sz="2400" i="1" dirty="0">
                <a:cs typeface="Arial" panose="020B0604020202020204" pitchFamily="34" charset="0"/>
              </a:rPr>
              <a:t>thermoelectric effect and is the physical  principle on which </a:t>
            </a:r>
            <a:r>
              <a:rPr lang="en-BW" altLang="en-BW" sz="2400" dirty="0">
                <a:cs typeface="Arial" panose="020B0604020202020204" pitchFamily="34" charset="0"/>
              </a:rPr>
              <a:t>temperature-measuring thermocouples  operate.</a:t>
            </a:r>
          </a:p>
          <a:p>
            <a:pPr marL="1789113">
              <a:spcBef>
                <a:spcPts val="575"/>
              </a:spcBef>
              <a:buFont typeface="Wingdings" panose="05000000000000000000" pitchFamily="2" charset="2"/>
              <a:buChar char=""/>
            </a:pPr>
            <a:r>
              <a:rPr lang="en-BW" altLang="en-BW" sz="2400" dirty="0">
                <a:cs typeface="Arial" panose="020B0604020202020204" pitchFamily="34" charset="0"/>
              </a:rPr>
              <a:t>Such thermoelectric potentials are only a few millivolts in  magnitude and so the effect is only significant when typical  voltage output signals of a measurement system are of a  similar low magnitude.</a:t>
            </a:r>
          </a:p>
        </p:txBody>
      </p:sp>
      <p:sp>
        <p:nvSpPr>
          <p:cNvPr id="4" name="Date Placeholder 3">
            <a:extLst>
              <a:ext uri="{FF2B5EF4-FFF2-40B4-BE49-F238E27FC236}">
                <a16:creationId xmlns:a16="http://schemas.microsoft.com/office/drawing/2014/main" id="{510A3C3B-24A3-4DAD-8BC1-140C907423CD}"/>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10244" name="Slide Number Placeholder 4">
            <a:extLst>
              <a:ext uri="{FF2B5EF4-FFF2-40B4-BE49-F238E27FC236}">
                <a16:creationId xmlns:a16="http://schemas.microsoft.com/office/drawing/2014/main" id="{F46365A3-AC22-49AF-B799-91AE16CF2B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39CBFC29-ABCC-486E-BA4C-2CA0A8DD16C6}" type="slidenum">
              <a:rPr lang="en-US" altLang="en-US">
                <a:solidFill>
                  <a:prstClr val="black"/>
                </a:solidFill>
              </a:rPr>
              <a:pPr defTabSz="457200"/>
              <a:t>8</a:t>
            </a:fld>
            <a:endParaRPr lang="en-US" altLang="en-US">
              <a:solidFill>
                <a:prstClr val="black"/>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CF2D6C1A-8F2C-4215-8A22-CE51ABE6FDA0}"/>
              </a:ext>
            </a:extLst>
          </p:cNvPr>
          <p:cNvSpPr>
            <a:spLocks noGrp="1"/>
          </p:cNvSpPr>
          <p:nvPr>
            <p:ph type="title"/>
          </p:nvPr>
        </p:nvSpPr>
        <p:spPr/>
        <p:txBody>
          <a:bodyPr>
            <a:normAutofit/>
          </a:bodyPr>
          <a:lstStyle/>
          <a:p>
            <a:r>
              <a:rPr lang="en-BW" altLang="en-BW" b="1" dirty="0">
                <a:ea typeface="Trebuchet MS" panose="020B0603020202020204" pitchFamily="34" charset="0"/>
                <a:cs typeface="Trebuchet MS" panose="020B0603020202020204" pitchFamily="34" charset="0"/>
              </a:rPr>
              <a:t>Sources of measurement noise</a:t>
            </a:r>
            <a:br>
              <a:rPr lang="en-BW" altLang="en-BW" dirty="0">
                <a:ea typeface="Trebuchet MS" panose="020B0603020202020204" pitchFamily="34" charset="0"/>
                <a:cs typeface="Trebuchet MS" panose="020B0603020202020204" pitchFamily="34" charset="0"/>
              </a:rPr>
            </a:br>
            <a:endParaRPr lang="en-BW" altLang="en-BW" dirty="0"/>
          </a:p>
        </p:txBody>
      </p:sp>
      <p:sp>
        <p:nvSpPr>
          <p:cNvPr id="6" name="object 3">
            <a:extLst>
              <a:ext uri="{FF2B5EF4-FFF2-40B4-BE49-F238E27FC236}">
                <a16:creationId xmlns:a16="http://schemas.microsoft.com/office/drawing/2014/main" id="{0DE6E668-1BDE-4ABD-8E18-19A8B6C6A44D}"/>
              </a:ext>
            </a:extLst>
          </p:cNvPr>
          <p:cNvSpPr txBox="1">
            <a:spLocks noGrp="1"/>
          </p:cNvSpPr>
          <p:nvPr>
            <p:ph idx="1"/>
          </p:nvPr>
        </p:nvSpPr>
        <p:spPr>
          <a:xfrm>
            <a:off x="1524000" y="1600200"/>
            <a:ext cx="8229600" cy="3480440"/>
          </a:xfrm>
        </p:spPr>
        <p:txBody>
          <a:bodyPr vert="horz" lIns="0" tIns="12700" rIns="0" bIns="0" rtlCol="0">
            <a:spAutoFit/>
          </a:bodyPr>
          <a:lstStyle/>
          <a:p>
            <a:pPr>
              <a:spcBef>
                <a:spcPts val="775"/>
              </a:spcBef>
              <a:buFont typeface="Wingdings" panose="05000000000000000000" pitchFamily="2" charset="2"/>
              <a:buChar char=""/>
            </a:pPr>
            <a:endParaRPr lang="en-GB" altLang="en-BW" sz="2400" dirty="0">
              <a:cs typeface="Arial" panose="020B0604020202020204" pitchFamily="34" charset="0"/>
            </a:endParaRPr>
          </a:p>
          <a:p>
            <a:pPr>
              <a:spcBef>
                <a:spcPts val="775"/>
              </a:spcBef>
              <a:buFont typeface="Wingdings" panose="05000000000000000000" pitchFamily="2" charset="2"/>
              <a:buChar char=""/>
            </a:pPr>
            <a:r>
              <a:rPr lang="en-BW" altLang="en-BW" sz="2400" b="1" dirty="0">
                <a:ea typeface="Trebuchet MS" panose="020B0603020202020204" pitchFamily="34" charset="0"/>
                <a:cs typeface="Trebuchet MS" panose="020B0603020202020204" pitchFamily="34" charset="0"/>
              </a:rPr>
              <a:t>Shot noise</a:t>
            </a:r>
            <a:endParaRPr lang="en-BW" altLang="en-BW" sz="2400" dirty="0">
              <a:ea typeface="Trebuchet MS" panose="020B0603020202020204" pitchFamily="34" charset="0"/>
              <a:cs typeface="Trebuchet MS" panose="020B0603020202020204" pitchFamily="34" charset="0"/>
            </a:endParaRPr>
          </a:p>
          <a:p>
            <a:pPr>
              <a:spcBef>
                <a:spcPts val="775"/>
              </a:spcBef>
              <a:buFont typeface="Wingdings" panose="05000000000000000000" pitchFamily="2" charset="2"/>
              <a:buChar char=""/>
            </a:pPr>
            <a:endParaRPr lang="en-GB" altLang="en-BW" sz="2400" dirty="0">
              <a:cs typeface="Arial" panose="020B0604020202020204" pitchFamily="34" charset="0"/>
            </a:endParaRPr>
          </a:p>
          <a:p>
            <a:pPr>
              <a:spcBef>
                <a:spcPts val="775"/>
              </a:spcBef>
              <a:buFont typeface="Wingdings" panose="05000000000000000000" pitchFamily="2" charset="2"/>
              <a:buChar char=""/>
            </a:pPr>
            <a:r>
              <a:rPr lang="en-BW" altLang="en-BW" sz="2400" dirty="0">
                <a:cs typeface="Arial" panose="020B0604020202020204" pitchFamily="34" charset="0"/>
              </a:rPr>
              <a:t>Shot noise occurs in transistors, integrated circuits and other</a:t>
            </a:r>
          </a:p>
          <a:p>
            <a:r>
              <a:rPr lang="en-BW" altLang="en-BW" sz="2400" dirty="0">
                <a:cs typeface="Arial" panose="020B0604020202020204" pitchFamily="34" charset="0"/>
              </a:rPr>
              <a:t>semiconductor devices.</a:t>
            </a:r>
          </a:p>
          <a:p>
            <a:pPr>
              <a:spcBef>
                <a:spcPts val="575"/>
              </a:spcBef>
              <a:buFont typeface="Wingdings" panose="05000000000000000000" pitchFamily="2" charset="2"/>
              <a:buChar char=""/>
            </a:pPr>
            <a:r>
              <a:rPr lang="en-BW" altLang="en-BW" sz="2400" dirty="0">
                <a:cs typeface="Arial" panose="020B0604020202020204" pitchFamily="34" charset="0"/>
              </a:rPr>
              <a:t>It consists of random fluctuations in the rate of transfer of  carriers across junctions within such devices.</a:t>
            </a:r>
          </a:p>
        </p:txBody>
      </p:sp>
      <p:sp>
        <p:nvSpPr>
          <p:cNvPr id="4" name="Date Placeholder 3">
            <a:extLst>
              <a:ext uri="{FF2B5EF4-FFF2-40B4-BE49-F238E27FC236}">
                <a16:creationId xmlns:a16="http://schemas.microsoft.com/office/drawing/2014/main" id="{FDA5DF51-53C2-42F3-ACE4-0C5D7213E971}"/>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11268" name="Slide Number Placeholder 4">
            <a:extLst>
              <a:ext uri="{FF2B5EF4-FFF2-40B4-BE49-F238E27FC236}">
                <a16:creationId xmlns:a16="http://schemas.microsoft.com/office/drawing/2014/main" id="{23C4CF02-3EC9-465C-868E-C4A639D3DD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F6DB1931-25BA-4B28-B228-FB72D90BED2B}" type="slidenum">
              <a:rPr lang="en-US" altLang="en-US">
                <a:solidFill>
                  <a:prstClr val="black"/>
                </a:solidFill>
              </a:rPr>
              <a:pPr defTabSz="457200"/>
              <a:t>9</a:t>
            </a:fld>
            <a:endParaRPr lang="en-US" altLang="en-US">
              <a:solidFill>
                <a:prstClr val="black"/>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553798F-2F7A-4FA5-AA8A-AE3A82A8668C}"/>
              </a:ext>
            </a:extLst>
          </p:cNvPr>
          <p:cNvSpPr>
            <a:spLocks noGrp="1"/>
          </p:cNvSpPr>
          <p:nvPr>
            <p:ph type="title"/>
          </p:nvPr>
        </p:nvSpPr>
        <p:spPr/>
        <p:txBody>
          <a:bodyPr>
            <a:normAutofit fontScale="90000"/>
          </a:bodyPr>
          <a:lstStyle/>
          <a:p>
            <a:r>
              <a:rPr lang="en-BW" altLang="en-BW" b="1" dirty="0">
                <a:latin typeface="Trebuchet MS" panose="020B0603020202020204" pitchFamily="34" charset="0"/>
                <a:ea typeface="Trebuchet MS" panose="020B0603020202020204" pitchFamily="34" charset="0"/>
                <a:cs typeface="Trebuchet MS" panose="020B0603020202020204" pitchFamily="34" charset="0"/>
              </a:rPr>
              <a:t>Sources of measurement noise</a:t>
            </a:r>
            <a:br>
              <a:rPr lang="en-BW" altLang="en-BW" dirty="0">
                <a:latin typeface="Trebuchet MS" panose="020B0603020202020204" pitchFamily="34" charset="0"/>
                <a:ea typeface="Trebuchet MS" panose="020B0603020202020204" pitchFamily="34" charset="0"/>
                <a:cs typeface="Trebuchet MS" panose="020B0603020202020204" pitchFamily="34" charset="0"/>
              </a:rPr>
            </a:br>
            <a:endParaRPr lang="en-BW" altLang="en-BW" dirty="0"/>
          </a:p>
        </p:txBody>
      </p:sp>
      <p:sp>
        <p:nvSpPr>
          <p:cNvPr id="6" name="object 6">
            <a:extLst>
              <a:ext uri="{FF2B5EF4-FFF2-40B4-BE49-F238E27FC236}">
                <a16:creationId xmlns:a16="http://schemas.microsoft.com/office/drawing/2014/main" id="{29BB3EA9-8B5D-4C49-A3AE-889A9F77F2A9}"/>
              </a:ext>
            </a:extLst>
          </p:cNvPr>
          <p:cNvSpPr txBox="1">
            <a:spLocks noGrp="1"/>
          </p:cNvSpPr>
          <p:nvPr>
            <p:ph idx="1"/>
          </p:nvPr>
        </p:nvSpPr>
        <p:spPr>
          <a:xfrm>
            <a:off x="381000" y="1752601"/>
            <a:ext cx="8229600" cy="1862689"/>
          </a:xfrm>
        </p:spPr>
        <p:txBody>
          <a:bodyPr vert="horz" lIns="0" tIns="13335" rIns="0" bIns="0" rtlCol="0">
            <a:spAutoFit/>
          </a:bodyPr>
          <a:lstStyle/>
          <a:p>
            <a:pPr marL="1789113">
              <a:lnSpc>
                <a:spcPts val="1488"/>
              </a:lnSpc>
            </a:pPr>
            <a:r>
              <a:rPr lang="en-BW" altLang="en-BW" sz="2400" b="1" dirty="0">
                <a:latin typeface="Trebuchet MS" panose="020B0603020202020204" pitchFamily="34" charset="0"/>
                <a:ea typeface="Trebuchet MS" panose="020B0603020202020204" pitchFamily="34" charset="0"/>
                <a:cs typeface="Trebuchet MS" panose="020B0603020202020204" pitchFamily="34" charset="0"/>
              </a:rPr>
              <a:t>Electrochemical potentials</a:t>
            </a:r>
            <a:endParaRPr lang="en-BW" altLang="en-BW" sz="2400" dirty="0">
              <a:latin typeface="Trebuchet MS" panose="020B0603020202020204" pitchFamily="34" charset="0"/>
              <a:ea typeface="Trebuchet MS" panose="020B0603020202020204" pitchFamily="34" charset="0"/>
              <a:cs typeface="Trebuchet MS" panose="020B0603020202020204" pitchFamily="34" charset="0"/>
            </a:endParaRPr>
          </a:p>
          <a:p>
            <a:pPr marL="1789113">
              <a:spcBef>
                <a:spcPts val="775"/>
              </a:spcBef>
              <a:buFont typeface="Wingdings" panose="05000000000000000000" pitchFamily="2" charset="2"/>
              <a:buChar char=""/>
            </a:pPr>
            <a:r>
              <a:rPr lang="en-BW" altLang="en-BW" sz="2400" dirty="0">
                <a:cs typeface="Arial" panose="020B0604020202020204" pitchFamily="34" charset="0"/>
              </a:rPr>
              <a:t>These are potentials that arise within measurement systems  due to electrochemical action.</a:t>
            </a:r>
          </a:p>
          <a:p>
            <a:pPr marL="1789113">
              <a:spcBef>
                <a:spcPts val="575"/>
              </a:spcBef>
              <a:buFont typeface="Wingdings" panose="05000000000000000000" pitchFamily="2" charset="2"/>
              <a:buChar char=""/>
            </a:pPr>
            <a:r>
              <a:rPr lang="en-BW" altLang="en-BW" sz="2400" dirty="0">
                <a:cs typeface="Arial" panose="020B0604020202020204" pitchFamily="34" charset="0"/>
              </a:rPr>
              <a:t>Poorly soldered joints are a common source.</a:t>
            </a:r>
          </a:p>
        </p:txBody>
      </p:sp>
      <p:sp>
        <p:nvSpPr>
          <p:cNvPr id="4" name="Date Placeholder 3">
            <a:extLst>
              <a:ext uri="{FF2B5EF4-FFF2-40B4-BE49-F238E27FC236}">
                <a16:creationId xmlns:a16="http://schemas.microsoft.com/office/drawing/2014/main" id="{75A4D54C-E5BC-427D-B474-62EC852D69D1}"/>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12292" name="Slide Number Placeholder 4">
            <a:extLst>
              <a:ext uri="{FF2B5EF4-FFF2-40B4-BE49-F238E27FC236}">
                <a16:creationId xmlns:a16="http://schemas.microsoft.com/office/drawing/2014/main" id="{8B6E9698-A78F-46FA-9D5A-1DA14E1F58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065E207F-53F4-479B-B185-62C7CE3D5F76}" type="slidenum">
              <a:rPr lang="en-US" altLang="en-US">
                <a:solidFill>
                  <a:prstClr val="black"/>
                </a:solidFill>
              </a:rPr>
              <a:pPr defTabSz="457200"/>
              <a:t>10</a:t>
            </a:fld>
            <a:endParaRPr lang="en-US" altLang="en-US">
              <a:solidFill>
                <a:prstClr val="black"/>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1FE99FF-A817-435E-900B-09DE392BE041}"/>
              </a:ext>
            </a:extLst>
          </p:cNvPr>
          <p:cNvSpPr>
            <a:spLocks noGrp="1"/>
          </p:cNvSpPr>
          <p:nvPr>
            <p:ph type="title"/>
          </p:nvPr>
        </p:nvSpPr>
        <p:spPr>
          <a:xfrm>
            <a:off x="2006601" y="816638"/>
            <a:ext cx="2525519" cy="5224724"/>
          </a:xfrm>
        </p:spPr>
        <p:txBody>
          <a:bodyPr anchor="ctr">
            <a:normAutofit/>
          </a:bodyPr>
          <a:lstStyle/>
          <a:p>
            <a:r>
              <a:rPr lang="en-GB" sz="2800" b="1" spc="-5">
                <a:cs typeface="Trebuchet MS"/>
              </a:rPr>
              <a:t>Techniques</a:t>
            </a:r>
            <a:r>
              <a:rPr lang="en-GB" sz="2800" b="1" spc="-180">
                <a:cs typeface="Trebuchet MS"/>
              </a:rPr>
              <a:t> </a:t>
            </a:r>
            <a:r>
              <a:rPr lang="en-GB" sz="2800" b="1" spc="-5">
                <a:cs typeface="Trebuchet MS"/>
              </a:rPr>
              <a:t>for</a:t>
            </a:r>
            <a:r>
              <a:rPr lang="en-GB" sz="2800" b="1" spc="-130">
                <a:cs typeface="Trebuchet MS"/>
              </a:rPr>
              <a:t> </a:t>
            </a:r>
            <a:r>
              <a:rPr lang="en-GB" sz="2800" b="1">
                <a:cs typeface="Trebuchet MS"/>
              </a:rPr>
              <a:t>reducing</a:t>
            </a:r>
            <a:r>
              <a:rPr lang="en-GB" sz="2800" b="1" spc="-155">
                <a:cs typeface="Trebuchet MS"/>
              </a:rPr>
              <a:t> </a:t>
            </a:r>
            <a:r>
              <a:rPr lang="en-GB" sz="2800" b="1" spc="-5">
                <a:cs typeface="Trebuchet MS"/>
              </a:rPr>
              <a:t>measurement</a:t>
            </a:r>
            <a:r>
              <a:rPr lang="en-GB" sz="2800" b="1" spc="-165">
                <a:cs typeface="Trebuchet MS"/>
              </a:rPr>
              <a:t> </a:t>
            </a:r>
            <a:r>
              <a:rPr lang="en-GB" sz="2800" b="1" spc="5">
                <a:cs typeface="Trebuchet MS"/>
              </a:rPr>
              <a:t>noise</a:t>
            </a:r>
            <a:br>
              <a:rPr lang="en-GB" sz="2800">
                <a:cs typeface="Trebuchet MS"/>
              </a:rPr>
            </a:br>
            <a:endParaRPr lang="en-BW" altLang="en-BW" sz="2800"/>
          </a:p>
        </p:txBody>
      </p:sp>
      <p:sp>
        <p:nvSpPr>
          <p:cNvPr id="6" name="object 3">
            <a:extLst>
              <a:ext uri="{FF2B5EF4-FFF2-40B4-BE49-F238E27FC236}">
                <a16:creationId xmlns:a16="http://schemas.microsoft.com/office/drawing/2014/main" id="{29F25FE2-DA8B-4419-94DA-89B7EB5A3634}"/>
              </a:ext>
            </a:extLst>
          </p:cNvPr>
          <p:cNvSpPr txBox="1">
            <a:spLocks noGrp="1"/>
          </p:cNvSpPr>
          <p:nvPr>
            <p:ph idx="1"/>
          </p:nvPr>
        </p:nvSpPr>
        <p:spPr>
          <a:xfrm>
            <a:off x="5014722" y="816638"/>
            <a:ext cx="3464779" cy="5224724"/>
          </a:xfrm>
        </p:spPr>
        <p:txBody>
          <a:bodyPr vert="horz" lIns="0" tIns="12700" rIns="0" bIns="0" rtlCol="0" anchor="ctr">
            <a:normAutofit/>
          </a:bodyPr>
          <a:lstStyle/>
          <a:p>
            <a:pPr>
              <a:defRPr/>
            </a:pPr>
            <a:endParaRPr lang="en-GB" dirty="0">
              <a:cs typeface="Times New Roman"/>
            </a:endParaRPr>
          </a:p>
          <a:p>
            <a:pPr marL="102235" indent="-89535">
              <a:spcBef>
                <a:spcPts val="5"/>
              </a:spcBef>
              <a:buFont typeface="Wingdings"/>
              <a:buChar char=""/>
              <a:tabLst>
                <a:tab pos="102870" algn="l"/>
              </a:tabLst>
              <a:defRPr/>
            </a:pPr>
            <a:r>
              <a:rPr lang="en-GB" spc="-5" dirty="0">
                <a:cs typeface="Arial"/>
              </a:rPr>
              <a:t>Location and design </a:t>
            </a:r>
            <a:r>
              <a:rPr lang="en-GB" dirty="0">
                <a:cs typeface="Arial"/>
              </a:rPr>
              <a:t>of </a:t>
            </a:r>
            <a:r>
              <a:rPr lang="en-GB" spc="-5" dirty="0">
                <a:cs typeface="Arial"/>
              </a:rPr>
              <a:t>signal</a:t>
            </a:r>
            <a:r>
              <a:rPr lang="en-GB" spc="-35" dirty="0">
                <a:cs typeface="Arial"/>
              </a:rPr>
              <a:t> </a:t>
            </a:r>
            <a:r>
              <a:rPr lang="en-GB" spc="-10" dirty="0">
                <a:cs typeface="Arial"/>
              </a:rPr>
              <a:t>wires</a:t>
            </a:r>
            <a:endParaRPr lang="en-GB" dirty="0">
              <a:cs typeface="Arial"/>
            </a:endParaRPr>
          </a:p>
          <a:p>
            <a:pPr marL="102235" indent="-89535">
              <a:spcBef>
                <a:spcPts val="575"/>
              </a:spcBef>
              <a:buFont typeface="Wingdings"/>
              <a:buChar char=""/>
              <a:tabLst>
                <a:tab pos="102870" algn="l"/>
              </a:tabLst>
              <a:defRPr/>
            </a:pPr>
            <a:r>
              <a:rPr lang="en-GB" spc="-5" dirty="0">
                <a:cs typeface="Arial"/>
              </a:rPr>
              <a:t>Earthing</a:t>
            </a:r>
            <a:endParaRPr lang="en-GB" dirty="0">
              <a:cs typeface="Arial"/>
            </a:endParaRPr>
          </a:p>
          <a:p>
            <a:pPr marL="102235" indent="-89535">
              <a:spcBef>
                <a:spcPts val="575"/>
              </a:spcBef>
              <a:buFont typeface="Wingdings"/>
              <a:buChar char=""/>
              <a:tabLst>
                <a:tab pos="102870" algn="l"/>
              </a:tabLst>
              <a:defRPr/>
            </a:pPr>
            <a:r>
              <a:rPr lang="en-GB" spc="-5" dirty="0">
                <a:cs typeface="Arial"/>
              </a:rPr>
              <a:t>Shielding</a:t>
            </a:r>
            <a:endParaRPr lang="en-GB" dirty="0">
              <a:cs typeface="Arial"/>
            </a:endParaRPr>
          </a:p>
          <a:p>
            <a:pPr marL="102235" indent="-89535">
              <a:spcBef>
                <a:spcPts val="580"/>
              </a:spcBef>
              <a:buFont typeface="Wingdings"/>
              <a:buChar char=""/>
              <a:tabLst>
                <a:tab pos="102870" algn="l"/>
              </a:tabLst>
              <a:defRPr/>
            </a:pPr>
            <a:r>
              <a:rPr lang="en-GB" dirty="0">
                <a:cs typeface="Arial"/>
              </a:rPr>
              <a:t>Other</a:t>
            </a:r>
            <a:r>
              <a:rPr lang="en-GB" spc="-30" dirty="0">
                <a:cs typeface="Arial"/>
              </a:rPr>
              <a:t> </a:t>
            </a:r>
            <a:r>
              <a:rPr lang="en-GB" spc="-5" dirty="0">
                <a:cs typeface="Arial"/>
              </a:rPr>
              <a:t>techniques</a:t>
            </a:r>
            <a:endParaRPr lang="en-GB" dirty="0">
              <a:cs typeface="Arial"/>
            </a:endParaRPr>
          </a:p>
        </p:txBody>
      </p:sp>
      <p:sp>
        <p:nvSpPr>
          <p:cNvPr id="4" name="Date Placeholder 3">
            <a:extLst>
              <a:ext uri="{FF2B5EF4-FFF2-40B4-BE49-F238E27FC236}">
                <a16:creationId xmlns:a16="http://schemas.microsoft.com/office/drawing/2014/main" id="{8204D0AB-6427-429E-ABC0-3B3821716DF4}"/>
              </a:ext>
            </a:extLst>
          </p:cNvPr>
          <p:cNvSpPr>
            <a:spLocks noGrp="1"/>
          </p:cNvSpPr>
          <p:nvPr>
            <p:ph type="dt" sz="half" idx="10"/>
          </p:nvPr>
        </p:nvSpPr>
        <p:spPr>
          <a:xfrm>
            <a:off x="6927850" y="6041363"/>
            <a:ext cx="683955" cy="365125"/>
          </a:xfrm>
        </p:spPr>
        <p:txBody>
          <a:bodyPr>
            <a:normAutofit fontScale="92500" lnSpcReduction="10000"/>
          </a:bodyPr>
          <a:lstStyle/>
          <a:p>
            <a:pPr defTabSz="457200">
              <a:spcAft>
                <a:spcPts val="600"/>
              </a:spcAft>
              <a:defRPr/>
            </a:pPr>
            <a:fld id="{24652D08-3400-4AE4-B216-94CD28797F8D}" type="datetime1">
              <a:rPr lang="en-US">
                <a:solidFill>
                  <a:prstClr val="black">
                    <a:tint val="75000"/>
                  </a:prstClr>
                </a:solidFill>
                <a:latin typeface="Trebuchet MS" panose="020B0603020202020204"/>
              </a:rPr>
              <a:pPr defTabSz="457200">
                <a:spcAft>
                  <a:spcPts val="600"/>
                </a:spcAft>
                <a:defRPr/>
              </a:pPr>
              <a:t>10/17/2024</a:t>
            </a:fld>
            <a:endParaRPr lang="en-US">
              <a:solidFill>
                <a:prstClr val="black">
                  <a:tint val="75000"/>
                </a:prstClr>
              </a:solidFill>
              <a:latin typeface="Trebuchet MS" panose="020B0603020202020204"/>
            </a:endParaRPr>
          </a:p>
        </p:txBody>
      </p:sp>
      <p:sp>
        <p:nvSpPr>
          <p:cNvPr id="13316" name="Slide Number Placeholder 4">
            <a:extLst>
              <a:ext uri="{FF2B5EF4-FFF2-40B4-BE49-F238E27FC236}">
                <a16:creationId xmlns:a16="http://schemas.microsoft.com/office/drawing/2014/main" id="{A27EDCE6-A804-449A-8CC8-B2342991A6D7}"/>
              </a:ext>
            </a:extLst>
          </p:cNvPr>
          <p:cNvSpPr>
            <a:spLocks noGrp="1"/>
          </p:cNvSpPr>
          <p:nvPr>
            <p:ph type="sldNum" sz="quarter" idx="12"/>
          </p:nvPr>
        </p:nvSpPr>
        <p:spPr>
          <a:xfrm>
            <a:off x="7966997" y="6041363"/>
            <a:ext cx="512504"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spcAft>
                <a:spcPts val="600"/>
              </a:spcAft>
            </a:pPr>
            <a:fld id="{E7718EDD-6ED6-4F2E-B387-966D0F4AA9C1}" type="slidenum">
              <a:rPr lang="en-US" altLang="en-US">
                <a:solidFill>
                  <a:prstClr val="black"/>
                </a:solidFill>
              </a:rPr>
              <a:pPr defTabSz="457200">
                <a:spcAft>
                  <a:spcPts val="600"/>
                </a:spcAft>
              </a:pPr>
              <a:t>11</a:t>
            </a:fld>
            <a:endParaRPr lang="en-US" altLang="en-US">
              <a:solidFill>
                <a:prstClr val="black"/>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C0E2FF6-436D-4586-92FA-0FABEBD627E2}"/>
              </a:ext>
            </a:extLst>
          </p:cNvPr>
          <p:cNvSpPr>
            <a:spLocks noGrp="1"/>
          </p:cNvSpPr>
          <p:nvPr>
            <p:ph type="title"/>
          </p:nvPr>
        </p:nvSpPr>
        <p:spPr/>
        <p:txBody>
          <a:bodyPr>
            <a:normAutofit fontScale="90000"/>
          </a:bodyPr>
          <a:lstStyle/>
          <a:p>
            <a:r>
              <a:rPr lang="en-BW" altLang="en-BW" b="1" dirty="0">
                <a:latin typeface="Trebuchet MS" panose="020B0603020202020204" pitchFamily="34" charset="0"/>
                <a:ea typeface="Trebuchet MS" panose="020B0603020202020204" pitchFamily="34" charset="0"/>
                <a:cs typeface="Trebuchet MS" panose="020B0603020202020204" pitchFamily="34" charset="0"/>
              </a:rPr>
              <a:t>Techniques for reducing measurement noise</a:t>
            </a:r>
            <a:br>
              <a:rPr lang="en-BW" altLang="en-BW" dirty="0">
                <a:latin typeface="Trebuchet MS" panose="020B0603020202020204" pitchFamily="34" charset="0"/>
                <a:ea typeface="Trebuchet MS" panose="020B0603020202020204" pitchFamily="34" charset="0"/>
                <a:cs typeface="Trebuchet MS" panose="020B0603020202020204" pitchFamily="34" charset="0"/>
              </a:rPr>
            </a:br>
            <a:endParaRPr lang="en-BW" altLang="en-BW" dirty="0"/>
          </a:p>
        </p:txBody>
      </p:sp>
      <p:sp>
        <p:nvSpPr>
          <p:cNvPr id="6" name="object 7">
            <a:extLst>
              <a:ext uri="{FF2B5EF4-FFF2-40B4-BE49-F238E27FC236}">
                <a16:creationId xmlns:a16="http://schemas.microsoft.com/office/drawing/2014/main" id="{821D73E1-51C2-430E-B7C0-196B484663B5}"/>
              </a:ext>
            </a:extLst>
          </p:cNvPr>
          <p:cNvSpPr txBox="1">
            <a:spLocks noGrp="1"/>
          </p:cNvSpPr>
          <p:nvPr>
            <p:ph idx="1"/>
          </p:nvPr>
        </p:nvSpPr>
        <p:spPr>
          <a:xfrm>
            <a:off x="1828801" y="1930401"/>
            <a:ext cx="8229600" cy="3378489"/>
          </a:xfrm>
        </p:spPr>
        <p:txBody>
          <a:bodyPr vert="horz" lIns="0" tIns="13335" rIns="0" bIns="0" rtlCol="0">
            <a:spAutoFit/>
          </a:bodyPr>
          <a:lstStyle/>
          <a:p>
            <a:pPr marL="679450">
              <a:lnSpc>
                <a:spcPts val="1488"/>
              </a:lnSpc>
            </a:pPr>
            <a:r>
              <a:rPr lang="en-BW" altLang="en-BW" b="1" dirty="0">
                <a:latin typeface="Trebuchet MS" panose="020B0603020202020204" pitchFamily="34" charset="0"/>
                <a:ea typeface="Trebuchet MS" panose="020B0603020202020204" pitchFamily="34" charset="0"/>
                <a:cs typeface="Trebuchet MS" panose="020B0603020202020204" pitchFamily="34" charset="0"/>
              </a:rPr>
              <a:t>Location and design of signal wires</a:t>
            </a:r>
            <a:endParaRPr lang="en-BW" altLang="en-BW" dirty="0">
              <a:latin typeface="Trebuchet MS" panose="020B0603020202020204" pitchFamily="34" charset="0"/>
              <a:ea typeface="Trebuchet MS" panose="020B0603020202020204" pitchFamily="34" charset="0"/>
              <a:cs typeface="Trebuchet MS" panose="020B0603020202020204" pitchFamily="34" charset="0"/>
            </a:endParaRPr>
          </a:p>
          <a:p>
            <a:pPr marL="679450">
              <a:spcBef>
                <a:spcPts val="775"/>
              </a:spcBef>
              <a:buFont typeface="Wingdings" panose="05000000000000000000" pitchFamily="2" charset="2"/>
              <a:buChar char=""/>
            </a:pPr>
            <a:r>
              <a:rPr lang="en-BW" altLang="en-BW" dirty="0">
                <a:cs typeface="Arial" panose="020B0604020202020204" pitchFamily="34" charset="0"/>
              </a:rPr>
              <a:t>Both the mutual inductance and capacitance between signal wires  and other cables are inversely proportional to the square of the  distance between the wires and the cable.</a:t>
            </a:r>
          </a:p>
          <a:p>
            <a:pPr marL="679450">
              <a:spcBef>
                <a:spcPts val="300"/>
              </a:spcBef>
              <a:buFont typeface="Wingdings" panose="05000000000000000000" pitchFamily="2" charset="2"/>
              <a:buChar char=""/>
            </a:pPr>
            <a:r>
              <a:rPr lang="en-BW" altLang="en-BW" dirty="0">
                <a:cs typeface="Arial" panose="020B0604020202020204" pitchFamily="34" charset="0"/>
              </a:rPr>
              <a:t>Thus, noise due to inductive and capacitive coupling can be  minimized by ensuring that signal wires are positioned as far away  as possible from such noise sources.</a:t>
            </a:r>
          </a:p>
          <a:p>
            <a:pPr marL="679450">
              <a:lnSpc>
                <a:spcPts val="1188"/>
              </a:lnSpc>
              <a:buFont typeface="Wingdings" panose="05000000000000000000" pitchFamily="2" charset="2"/>
              <a:buChar char=""/>
            </a:pPr>
            <a:r>
              <a:rPr lang="en-BW" altLang="en-BW" dirty="0">
                <a:cs typeface="Arial" panose="020B0604020202020204" pitchFamily="34" charset="0"/>
              </a:rPr>
              <a:t>A minimum separation of 0.3m is</a:t>
            </a:r>
          </a:p>
          <a:p>
            <a:pPr marL="679450"/>
            <a:r>
              <a:rPr lang="en-BW" altLang="en-BW" dirty="0">
                <a:cs typeface="Arial" panose="020B0604020202020204" pitchFamily="34" charset="0"/>
              </a:rPr>
              <a:t>essential, and a separation of at least 1m  is preferable.</a:t>
            </a:r>
          </a:p>
          <a:p>
            <a:pPr marL="679450">
              <a:buFont typeface="Wingdings" panose="05000000000000000000" pitchFamily="2" charset="2"/>
              <a:buChar char=""/>
            </a:pPr>
            <a:r>
              <a:rPr lang="en-BW" altLang="en-BW" dirty="0">
                <a:cs typeface="Arial" panose="020B0604020202020204" pitchFamily="34" charset="0"/>
              </a:rPr>
              <a:t>Noise due to inductive coupling is also  substantially reduced if each pair of  signal wires is twisted together.</a:t>
            </a:r>
          </a:p>
        </p:txBody>
      </p:sp>
      <p:sp>
        <p:nvSpPr>
          <p:cNvPr id="4" name="Date Placeholder 3">
            <a:extLst>
              <a:ext uri="{FF2B5EF4-FFF2-40B4-BE49-F238E27FC236}">
                <a16:creationId xmlns:a16="http://schemas.microsoft.com/office/drawing/2014/main" id="{C7DACE06-5DA5-4EA8-9F92-9C863265BC09}"/>
              </a:ext>
            </a:extLst>
          </p:cNvPr>
          <p:cNvSpPr>
            <a:spLocks noGrp="1"/>
          </p:cNvSpPr>
          <p:nvPr>
            <p:ph type="dt" sz="half" idx="10"/>
          </p:nvPr>
        </p:nvSpPr>
        <p:spPr/>
        <p:txBody>
          <a:bodyPr/>
          <a:lstStyle/>
          <a:p>
            <a:pPr defTabSz="457200">
              <a:defRPr/>
            </a:pPr>
            <a:fld id="{24652D08-3400-4AE4-B216-94CD28797F8D}" type="datetime1">
              <a:rPr lang="en-US">
                <a:solidFill>
                  <a:prstClr val="black">
                    <a:tint val="75000"/>
                  </a:prstClr>
                </a:solidFill>
                <a:latin typeface="Trebuchet MS" panose="020B0603020202020204"/>
              </a:rPr>
              <a:pPr defTabSz="457200">
                <a:defRPr/>
              </a:pPr>
              <a:t>10/17/2024</a:t>
            </a:fld>
            <a:endParaRPr lang="en-US">
              <a:solidFill>
                <a:prstClr val="black">
                  <a:tint val="75000"/>
                </a:prstClr>
              </a:solidFill>
              <a:latin typeface="Trebuchet MS" panose="020B0603020202020204"/>
            </a:endParaRPr>
          </a:p>
        </p:txBody>
      </p:sp>
      <p:sp>
        <p:nvSpPr>
          <p:cNvPr id="14340" name="Slide Number Placeholder 4">
            <a:extLst>
              <a:ext uri="{FF2B5EF4-FFF2-40B4-BE49-F238E27FC236}">
                <a16:creationId xmlns:a16="http://schemas.microsoft.com/office/drawing/2014/main" id="{CA733948-01F0-4202-BFDD-911C97BE17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fld id="{4EFEC93C-0525-4F4B-8655-B5C167295FE3}" type="slidenum">
              <a:rPr lang="en-US" altLang="en-US">
                <a:solidFill>
                  <a:prstClr val="black"/>
                </a:solidFill>
              </a:rPr>
              <a:pPr defTabSz="457200"/>
              <a:t>12</a:t>
            </a:fld>
            <a:endParaRPr lang="en-US" altLang="en-US">
              <a:solidFill>
                <a:prstClr val="black"/>
              </a:solidFill>
            </a:endParaRPr>
          </a:p>
        </p:txBody>
      </p:sp>
      <p:sp>
        <p:nvSpPr>
          <p:cNvPr id="14342" name="object 6">
            <a:extLst>
              <a:ext uri="{FF2B5EF4-FFF2-40B4-BE49-F238E27FC236}">
                <a16:creationId xmlns:a16="http://schemas.microsoft.com/office/drawing/2014/main" id="{9B2059E7-D810-4E69-89BB-961057F1B73A}"/>
              </a:ext>
            </a:extLst>
          </p:cNvPr>
          <p:cNvSpPr>
            <a:spLocks noChangeArrowheads="1"/>
          </p:cNvSpPr>
          <p:nvPr/>
        </p:nvSpPr>
        <p:spPr bwMode="auto">
          <a:xfrm>
            <a:off x="6248400" y="5075572"/>
            <a:ext cx="3048000" cy="19812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endParaRPr lang="en-BW" altLang="en-BW">
              <a:solidFill>
                <a:prstClr val="black"/>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680A89A-5774-4376-B318-A92EE48BB6EC}"/>
              </a:ext>
            </a:extLst>
          </p:cNvPr>
          <p:cNvSpPr>
            <a:spLocks noGrp="1"/>
          </p:cNvSpPr>
          <p:nvPr>
            <p:ph type="title"/>
          </p:nvPr>
        </p:nvSpPr>
        <p:spPr>
          <a:xfrm>
            <a:off x="2006601" y="816638"/>
            <a:ext cx="6736183" cy="965509"/>
          </a:xfrm>
        </p:spPr>
        <p:txBody>
          <a:bodyPr anchor="ctr">
            <a:normAutofit fontScale="90000"/>
          </a:bodyPr>
          <a:lstStyle/>
          <a:p>
            <a:r>
              <a:rPr lang="en-BW" altLang="en-BW" sz="2800" b="1" dirty="0">
                <a:latin typeface="Trebuchet MS" panose="020B0603020202020204" pitchFamily="34" charset="0"/>
                <a:ea typeface="Trebuchet MS" panose="020B0603020202020204" pitchFamily="34" charset="0"/>
                <a:cs typeface="Trebuchet MS" panose="020B0603020202020204" pitchFamily="34" charset="0"/>
              </a:rPr>
              <a:t>Techniques for reducing measurement noise</a:t>
            </a:r>
            <a:br>
              <a:rPr lang="en-BW" altLang="en-BW" sz="2800" dirty="0">
                <a:latin typeface="Trebuchet MS" panose="020B0603020202020204" pitchFamily="34" charset="0"/>
                <a:ea typeface="Trebuchet MS" panose="020B0603020202020204" pitchFamily="34" charset="0"/>
                <a:cs typeface="Trebuchet MS" panose="020B0603020202020204" pitchFamily="34" charset="0"/>
              </a:rPr>
            </a:br>
            <a:endParaRPr lang="en-BW" altLang="en-BW" sz="2800" dirty="0"/>
          </a:p>
        </p:txBody>
      </p:sp>
      <p:sp>
        <p:nvSpPr>
          <p:cNvPr id="7" name="object 3">
            <a:extLst>
              <a:ext uri="{FF2B5EF4-FFF2-40B4-BE49-F238E27FC236}">
                <a16:creationId xmlns:a16="http://schemas.microsoft.com/office/drawing/2014/main" id="{45FEA8E3-89B0-44D0-B9B6-8041804B9CC4}"/>
              </a:ext>
            </a:extLst>
          </p:cNvPr>
          <p:cNvSpPr txBox="1">
            <a:spLocks noGrp="1"/>
          </p:cNvSpPr>
          <p:nvPr>
            <p:ph idx="1"/>
          </p:nvPr>
        </p:nvSpPr>
        <p:spPr>
          <a:xfrm>
            <a:off x="1378906" y="1376476"/>
            <a:ext cx="7100595" cy="5070559"/>
          </a:xfrm>
        </p:spPr>
        <p:txBody>
          <a:bodyPr vert="horz" lIns="0" tIns="12700" rIns="0" bIns="0" rtlCol="0" anchor="ctr">
            <a:normAutofit/>
          </a:bodyPr>
          <a:lstStyle/>
          <a:p>
            <a:pPr marL="290513" indent="0">
              <a:lnSpc>
                <a:spcPct val="90000"/>
              </a:lnSpc>
              <a:buNone/>
            </a:pPr>
            <a:r>
              <a:rPr lang="en-BW" altLang="en-BW" sz="1400" b="1" dirty="0">
                <a:latin typeface="Trebuchet MS" panose="020B0603020202020204" pitchFamily="34" charset="0"/>
                <a:ea typeface="Trebuchet MS" panose="020B0603020202020204" pitchFamily="34" charset="0"/>
                <a:cs typeface="Trebuchet MS" panose="020B0603020202020204" pitchFamily="34" charset="0"/>
              </a:rPr>
              <a:t>Earthing</a:t>
            </a:r>
            <a:endParaRPr lang="en-BW" altLang="en-BW" sz="1400" dirty="0">
              <a:latin typeface="Trebuchet MS" panose="020B0603020202020204" pitchFamily="34" charset="0"/>
              <a:ea typeface="Trebuchet MS" panose="020B0603020202020204" pitchFamily="34" charset="0"/>
              <a:cs typeface="Trebuchet MS" panose="020B0603020202020204" pitchFamily="34" charset="0"/>
            </a:endParaRPr>
          </a:p>
          <a:p>
            <a:pPr marL="633413">
              <a:lnSpc>
                <a:spcPct val="90000"/>
              </a:lnSpc>
              <a:spcBef>
                <a:spcPts val="700"/>
              </a:spcBef>
              <a:buFont typeface="Wingdings" panose="05000000000000000000" pitchFamily="2" charset="2"/>
              <a:buChar char=""/>
            </a:pPr>
            <a:r>
              <a:rPr lang="en-BW" altLang="en-BW" sz="1400" dirty="0">
                <a:cs typeface="Arial" panose="020B0604020202020204" pitchFamily="34" charset="0"/>
              </a:rPr>
              <a:t>Noise due to multiple earths can be avoided by good earthing  practices. In particular, this means keeping earths for signal wires  and earths for high-current equipment entirely separate.  Recommended practice is to install four completely isolated earth  circuits as follows:</a:t>
            </a:r>
          </a:p>
          <a:p>
            <a:pPr marL="633413">
              <a:lnSpc>
                <a:spcPct val="90000"/>
              </a:lnSpc>
              <a:spcBef>
                <a:spcPts val="300"/>
              </a:spcBef>
              <a:buFont typeface="Wingdings" panose="05000000000000000000" pitchFamily="2" charset="2"/>
              <a:buChar char=""/>
            </a:pPr>
            <a:r>
              <a:rPr lang="en-BW" altLang="en-BW" sz="1400" i="1" dirty="0">
                <a:cs typeface="Arial" panose="020B0604020202020204" pitchFamily="34" charset="0"/>
              </a:rPr>
              <a:t>Power earth: provides a path for fault currents due to power faults.</a:t>
            </a:r>
            <a:endParaRPr lang="en-BW" altLang="en-BW" sz="1400" dirty="0">
              <a:cs typeface="Arial" panose="020B0604020202020204" pitchFamily="34" charset="0"/>
            </a:endParaRPr>
          </a:p>
          <a:p>
            <a:pPr marL="633413">
              <a:lnSpc>
                <a:spcPct val="90000"/>
              </a:lnSpc>
              <a:spcBef>
                <a:spcPts val="300"/>
              </a:spcBef>
              <a:buFont typeface="Wingdings" panose="05000000000000000000" pitchFamily="2" charset="2"/>
              <a:buChar char=""/>
            </a:pPr>
            <a:r>
              <a:rPr lang="en-BW" altLang="en-BW" sz="1400" i="1" dirty="0">
                <a:cs typeface="Arial" panose="020B0604020202020204" pitchFamily="34" charset="0"/>
              </a:rPr>
              <a:t>Logic earth: provides a common line for all logic circuit potentials.</a:t>
            </a:r>
            <a:endParaRPr lang="en-BW" altLang="en-BW" sz="1400" dirty="0">
              <a:cs typeface="Arial" panose="020B0604020202020204" pitchFamily="34" charset="0"/>
            </a:endParaRPr>
          </a:p>
          <a:p>
            <a:pPr marL="633413">
              <a:lnSpc>
                <a:spcPct val="90000"/>
              </a:lnSpc>
              <a:spcBef>
                <a:spcPts val="300"/>
              </a:spcBef>
              <a:buFont typeface="Wingdings" panose="05000000000000000000" pitchFamily="2" charset="2"/>
              <a:buChar char=""/>
            </a:pPr>
            <a:r>
              <a:rPr lang="en-BW" altLang="en-BW" sz="1400" i="1" dirty="0">
                <a:cs typeface="Arial" panose="020B0604020202020204" pitchFamily="34" charset="0"/>
              </a:rPr>
              <a:t>Analogue earth (ground): provides a common reference for all  analogue signals.</a:t>
            </a:r>
            <a:endParaRPr lang="en-BW" altLang="en-BW" sz="1400" dirty="0">
              <a:cs typeface="Arial" panose="020B0604020202020204" pitchFamily="34" charset="0"/>
            </a:endParaRPr>
          </a:p>
          <a:p>
            <a:pPr marL="633413">
              <a:lnSpc>
                <a:spcPct val="90000"/>
              </a:lnSpc>
              <a:spcBef>
                <a:spcPts val="300"/>
              </a:spcBef>
              <a:buFont typeface="Wingdings" panose="05000000000000000000" pitchFamily="2" charset="2"/>
              <a:buChar char=""/>
            </a:pPr>
            <a:r>
              <a:rPr lang="en-BW" altLang="en-BW" sz="1400" i="1" dirty="0">
                <a:cs typeface="Arial" panose="020B0604020202020204" pitchFamily="34" charset="0"/>
              </a:rPr>
              <a:t>Safety earth: connected to all metal parts of equipment to protect  personnel should </a:t>
            </a:r>
            <a:r>
              <a:rPr lang="en-BW" altLang="en-BW" sz="1400" dirty="0">
                <a:cs typeface="Arial" panose="020B0604020202020204" pitchFamily="34" charset="0"/>
              </a:rPr>
              <a:t>power lines come into contact with metal  enclosures.</a:t>
            </a:r>
          </a:p>
        </p:txBody>
      </p:sp>
      <p:sp>
        <p:nvSpPr>
          <p:cNvPr id="4" name="Date Placeholder 3">
            <a:extLst>
              <a:ext uri="{FF2B5EF4-FFF2-40B4-BE49-F238E27FC236}">
                <a16:creationId xmlns:a16="http://schemas.microsoft.com/office/drawing/2014/main" id="{59D3269C-4C11-4C0D-B273-83F0A348BCB5}"/>
              </a:ext>
            </a:extLst>
          </p:cNvPr>
          <p:cNvSpPr>
            <a:spLocks noGrp="1"/>
          </p:cNvSpPr>
          <p:nvPr>
            <p:ph type="dt" sz="half" idx="10"/>
          </p:nvPr>
        </p:nvSpPr>
        <p:spPr>
          <a:xfrm>
            <a:off x="6927850" y="6041363"/>
            <a:ext cx="683955" cy="365125"/>
          </a:xfrm>
        </p:spPr>
        <p:txBody>
          <a:bodyPr>
            <a:normAutofit fontScale="92500" lnSpcReduction="10000"/>
          </a:bodyPr>
          <a:lstStyle/>
          <a:p>
            <a:pPr defTabSz="457200">
              <a:spcAft>
                <a:spcPts val="600"/>
              </a:spcAft>
              <a:defRPr/>
            </a:pPr>
            <a:fld id="{24652D08-3400-4AE4-B216-94CD28797F8D}" type="datetime1">
              <a:rPr lang="en-US">
                <a:solidFill>
                  <a:prstClr val="black">
                    <a:tint val="75000"/>
                  </a:prstClr>
                </a:solidFill>
                <a:latin typeface="Trebuchet MS" panose="020B0603020202020204"/>
              </a:rPr>
              <a:pPr defTabSz="457200">
                <a:spcAft>
                  <a:spcPts val="600"/>
                </a:spcAft>
                <a:defRPr/>
              </a:pPr>
              <a:t>10/17/2024</a:t>
            </a:fld>
            <a:endParaRPr lang="en-US">
              <a:solidFill>
                <a:prstClr val="black">
                  <a:tint val="75000"/>
                </a:prstClr>
              </a:solidFill>
              <a:latin typeface="Trebuchet MS" panose="020B0603020202020204"/>
            </a:endParaRPr>
          </a:p>
        </p:txBody>
      </p:sp>
      <p:sp>
        <p:nvSpPr>
          <p:cNvPr id="15364" name="Slide Number Placeholder 4">
            <a:extLst>
              <a:ext uri="{FF2B5EF4-FFF2-40B4-BE49-F238E27FC236}">
                <a16:creationId xmlns:a16="http://schemas.microsoft.com/office/drawing/2014/main" id="{1177D467-AEC6-400E-AB2E-D9672C065FF4}"/>
              </a:ext>
            </a:extLst>
          </p:cNvPr>
          <p:cNvSpPr>
            <a:spLocks noGrp="1"/>
          </p:cNvSpPr>
          <p:nvPr>
            <p:ph type="sldNum" sz="quarter" idx="12"/>
          </p:nvPr>
        </p:nvSpPr>
        <p:spPr>
          <a:xfrm>
            <a:off x="7966997" y="6041363"/>
            <a:ext cx="512504"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spcAft>
                <a:spcPts val="600"/>
              </a:spcAft>
            </a:pPr>
            <a:fld id="{4288200D-DC8B-4039-A2F8-BE371A604CD4}" type="slidenum">
              <a:rPr lang="en-US" altLang="en-US">
                <a:solidFill>
                  <a:prstClr val="black"/>
                </a:solidFill>
              </a:rPr>
              <a:pPr defTabSz="457200">
                <a:spcAft>
                  <a:spcPts val="600"/>
                </a:spcAft>
              </a:pPr>
              <a:t>13</a:t>
            </a:fld>
            <a:endParaRPr lang="en-US" altLang="en-US">
              <a:solidFill>
                <a:prstClr val="black"/>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2C11058-7585-48EE-AFA1-DD6C6E87A0B5}"/>
              </a:ext>
            </a:extLst>
          </p:cNvPr>
          <p:cNvSpPr>
            <a:spLocks noGrp="1"/>
          </p:cNvSpPr>
          <p:nvPr>
            <p:ph type="title"/>
          </p:nvPr>
        </p:nvSpPr>
        <p:spPr>
          <a:xfrm>
            <a:off x="2013360" y="1382486"/>
            <a:ext cx="2660686" cy="4093028"/>
          </a:xfrm>
        </p:spPr>
        <p:txBody>
          <a:bodyPr anchor="ctr">
            <a:normAutofit/>
          </a:bodyPr>
          <a:lstStyle/>
          <a:p>
            <a:r>
              <a:rPr lang="en-BW" altLang="en-BW" sz="2900" b="1">
                <a:latin typeface="Trebuchet MS" panose="020B0603020202020204" pitchFamily="34" charset="0"/>
                <a:ea typeface="Trebuchet MS" panose="020B0603020202020204" pitchFamily="34" charset="0"/>
                <a:cs typeface="Trebuchet MS" panose="020B0603020202020204" pitchFamily="34" charset="0"/>
              </a:rPr>
              <a:t>Techniques for reducing measurement noise</a:t>
            </a:r>
            <a:br>
              <a:rPr lang="en-BW" altLang="en-BW" sz="2900">
                <a:latin typeface="Trebuchet MS" panose="020B0603020202020204" pitchFamily="34" charset="0"/>
                <a:ea typeface="Trebuchet MS" panose="020B0603020202020204" pitchFamily="34" charset="0"/>
                <a:cs typeface="Trebuchet MS" panose="020B0603020202020204" pitchFamily="34" charset="0"/>
              </a:rPr>
            </a:br>
            <a:endParaRPr lang="en-BW" altLang="en-BW" sz="2900"/>
          </a:p>
        </p:txBody>
      </p:sp>
      <p:graphicFrame>
        <p:nvGraphicFramePr>
          <p:cNvPr id="16390" name="object 6">
            <a:extLst>
              <a:ext uri="{FF2B5EF4-FFF2-40B4-BE49-F238E27FC236}">
                <a16:creationId xmlns:a16="http://schemas.microsoft.com/office/drawing/2014/main" id="{6B5CE092-47B2-4E75-BC82-A95CD790185F}"/>
              </a:ext>
            </a:extLst>
          </p:cNvPr>
          <p:cNvGraphicFramePr>
            <a:graphicFrameLocks noGrp="1"/>
          </p:cNvGraphicFramePr>
          <p:nvPr>
            <p:ph idx="1"/>
          </p:nvPr>
        </p:nvGraphicFramePr>
        <p:xfrm>
          <a:off x="5211415" y="944564"/>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E3A7E2FA-F45D-4514-AA20-B89D3179F9E0}"/>
              </a:ext>
            </a:extLst>
          </p:cNvPr>
          <p:cNvSpPr>
            <a:spLocks noGrp="1"/>
          </p:cNvSpPr>
          <p:nvPr>
            <p:ph type="dt" sz="half" idx="10"/>
          </p:nvPr>
        </p:nvSpPr>
        <p:spPr>
          <a:xfrm>
            <a:off x="2070677" y="6041363"/>
            <a:ext cx="683954" cy="365125"/>
          </a:xfrm>
        </p:spPr>
        <p:txBody>
          <a:bodyPr>
            <a:normAutofit fontScale="92500" lnSpcReduction="10000"/>
          </a:bodyPr>
          <a:lstStyle/>
          <a:p>
            <a:pPr defTabSz="457200">
              <a:spcAft>
                <a:spcPts val="600"/>
              </a:spcAft>
              <a:defRPr/>
            </a:pPr>
            <a:fld id="{24652D08-3400-4AE4-B216-94CD28797F8D}" type="datetime1">
              <a:rPr lang="en-US">
                <a:solidFill>
                  <a:prstClr val="black">
                    <a:tint val="75000"/>
                  </a:prstClr>
                </a:solidFill>
                <a:latin typeface="Trebuchet MS" panose="020B0603020202020204"/>
              </a:rPr>
              <a:pPr defTabSz="457200">
                <a:spcAft>
                  <a:spcPts val="600"/>
                </a:spcAft>
                <a:defRPr/>
              </a:pPr>
              <a:t>10/17/2024</a:t>
            </a:fld>
            <a:endParaRPr lang="en-US">
              <a:solidFill>
                <a:prstClr val="black">
                  <a:tint val="75000"/>
                </a:prstClr>
              </a:solidFill>
              <a:latin typeface="Trebuchet MS" panose="020B0603020202020204"/>
            </a:endParaRPr>
          </a:p>
        </p:txBody>
      </p:sp>
      <p:sp>
        <p:nvSpPr>
          <p:cNvPr id="16388" name="Slide Number Placeholder 4">
            <a:extLst>
              <a:ext uri="{FF2B5EF4-FFF2-40B4-BE49-F238E27FC236}">
                <a16:creationId xmlns:a16="http://schemas.microsoft.com/office/drawing/2014/main" id="{9689D08B-BCA0-49FE-9E94-100E96AB68C1}"/>
              </a:ext>
            </a:extLst>
          </p:cNvPr>
          <p:cNvSpPr>
            <a:spLocks noGrp="1"/>
          </p:cNvSpPr>
          <p:nvPr>
            <p:ph type="sldNum" sz="quarter" idx="12"/>
          </p:nvPr>
        </p:nvSpPr>
        <p:spPr>
          <a:xfrm>
            <a:off x="9420817" y="6041363"/>
            <a:ext cx="512504"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spcAft>
                <a:spcPts val="600"/>
              </a:spcAft>
            </a:pPr>
            <a:fld id="{90A86E00-7FE0-45D0-8F93-F34102230206}" type="slidenum">
              <a:rPr lang="en-US" altLang="en-US">
                <a:solidFill>
                  <a:srgbClr val="FFFFFF"/>
                </a:solidFill>
              </a:rPr>
              <a:pPr defTabSz="457200">
                <a:spcAft>
                  <a:spcPts val="600"/>
                </a:spcAft>
              </a:pPr>
              <a:t>14</a:t>
            </a:fld>
            <a:endParaRPr lang="en-US" altLang="en-US">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D086074-A0E7-41A6-9730-27FFC7992F48}"/>
              </a:ext>
            </a:extLst>
          </p:cNvPr>
          <p:cNvSpPr>
            <a:spLocks noGrp="1"/>
          </p:cNvSpPr>
          <p:nvPr>
            <p:ph type="title"/>
          </p:nvPr>
        </p:nvSpPr>
        <p:spPr>
          <a:xfrm>
            <a:off x="2006601" y="816638"/>
            <a:ext cx="2525519" cy="5224724"/>
          </a:xfrm>
        </p:spPr>
        <p:txBody>
          <a:bodyPr anchor="ctr">
            <a:normAutofit/>
          </a:bodyPr>
          <a:lstStyle/>
          <a:p>
            <a:r>
              <a:rPr lang="en-BW" altLang="en-BW" sz="2800" b="1" dirty="0">
                <a:latin typeface="Trebuchet MS" panose="020B0603020202020204" pitchFamily="34" charset="0"/>
                <a:ea typeface="Trebuchet MS" panose="020B0603020202020204" pitchFamily="34" charset="0"/>
                <a:cs typeface="Trebuchet MS" panose="020B0603020202020204" pitchFamily="34" charset="0"/>
              </a:rPr>
              <a:t>Techniques for reducing measurement noise</a:t>
            </a:r>
            <a:br>
              <a:rPr lang="en-BW" altLang="en-BW" sz="2800" dirty="0">
                <a:latin typeface="Trebuchet MS" panose="020B0603020202020204" pitchFamily="34" charset="0"/>
                <a:ea typeface="Trebuchet MS" panose="020B0603020202020204" pitchFamily="34" charset="0"/>
                <a:cs typeface="Trebuchet MS" panose="020B0603020202020204" pitchFamily="34" charset="0"/>
              </a:rPr>
            </a:br>
            <a:endParaRPr lang="en-BW" altLang="en-BW" sz="2800" dirty="0"/>
          </a:p>
        </p:txBody>
      </p:sp>
      <p:sp>
        <p:nvSpPr>
          <p:cNvPr id="6" name="object 3">
            <a:extLst>
              <a:ext uri="{FF2B5EF4-FFF2-40B4-BE49-F238E27FC236}">
                <a16:creationId xmlns:a16="http://schemas.microsoft.com/office/drawing/2014/main" id="{787FDC7E-B336-42F7-BC6A-C68F26804A63}"/>
              </a:ext>
            </a:extLst>
          </p:cNvPr>
          <p:cNvSpPr txBox="1">
            <a:spLocks noGrp="1"/>
          </p:cNvSpPr>
          <p:nvPr>
            <p:ph idx="1"/>
          </p:nvPr>
        </p:nvSpPr>
        <p:spPr>
          <a:xfrm>
            <a:off x="5014722" y="816638"/>
            <a:ext cx="3464779" cy="5224724"/>
          </a:xfrm>
        </p:spPr>
        <p:txBody>
          <a:bodyPr vert="horz" lIns="0" tIns="12700" rIns="0" bIns="0" rtlCol="0" anchor="ctr">
            <a:normAutofit/>
          </a:bodyPr>
          <a:lstStyle/>
          <a:p>
            <a:pPr>
              <a:spcBef>
                <a:spcPts val="700"/>
              </a:spcBef>
              <a:buFont typeface="Wingdings" panose="05000000000000000000" pitchFamily="2" charset="2"/>
              <a:buChar char=""/>
            </a:pPr>
            <a:endParaRPr lang="en-GB" altLang="en-BW">
              <a:cs typeface="Arial" panose="020B0604020202020204" pitchFamily="34" charset="0"/>
            </a:endParaRPr>
          </a:p>
          <a:p>
            <a:pPr>
              <a:spcBef>
                <a:spcPts val="700"/>
              </a:spcBef>
              <a:buFont typeface="Wingdings" panose="05000000000000000000" pitchFamily="2" charset="2"/>
              <a:buChar char=""/>
            </a:pPr>
            <a:r>
              <a:rPr lang="en-BW" altLang="en-BW" b="1">
                <a:latin typeface="Trebuchet MS" panose="020B0603020202020204" pitchFamily="34" charset="0"/>
                <a:ea typeface="Trebuchet MS" panose="020B0603020202020204" pitchFamily="34" charset="0"/>
                <a:cs typeface="Trebuchet MS" panose="020B0603020202020204" pitchFamily="34" charset="0"/>
              </a:rPr>
              <a:t>Other Methods</a:t>
            </a:r>
            <a:endParaRPr lang="en-GB" altLang="en-BW">
              <a:cs typeface="Arial" panose="020B0604020202020204" pitchFamily="34" charset="0"/>
            </a:endParaRPr>
          </a:p>
          <a:p>
            <a:pPr>
              <a:spcBef>
                <a:spcPts val="700"/>
              </a:spcBef>
              <a:buFont typeface="Wingdings" panose="05000000000000000000" pitchFamily="2" charset="2"/>
              <a:buChar char=""/>
            </a:pPr>
            <a:r>
              <a:rPr lang="en-BW" altLang="en-BW">
                <a:cs typeface="Arial" panose="020B0604020202020204" pitchFamily="34" charset="0"/>
              </a:rPr>
              <a:t>The </a:t>
            </a:r>
            <a:r>
              <a:rPr lang="en-BW" altLang="en-BW" i="1">
                <a:cs typeface="Arial" panose="020B0604020202020204" pitchFamily="34" charset="0"/>
              </a:rPr>
              <a:t>phase-locked loop is often used as a signal-processing</a:t>
            </a:r>
            <a:endParaRPr lang="en-BW" altLang="en-BW">
              <a:cs typeface="Arial" panose="020B0604020202020204" pitchFamily="34" charset="0"/>
            </a:endParaRPr>
          </a:p>
          <a:p>
            <a:r>
              <a:rPr lang="en-BW" altLang="en-BW" i="1">
                <a:cs typeface="Arial" panose="020B0604020202020204" pitchFamily="34" charset="0"/>
              </a:rPr>
              <a:t>element to clean up poor </a:t>
            </a:r>
            <a:r>
              <a:rPr lang="en-BW" altLang="en-BW">
                <a:cs typeface="Arial" panose="020B0604020202020204" pitchFamily="34" charset="0"/>
              </a:rPr>
              <a:t>quality signals.</a:t>
            </a:r>
          </a:p>
          <a:p>
            <a:pPr>
              <a:spcBef>
                <a:spcPts val="575"/>
              </a:spcBef>
              <a:buFont typeface="Wingdings" panose="05000000000000000000" pitchFamily="2" charset="2"/>
              <a:buChar char=""/>
            </a:pPr>
            <a:r>
              <a:rPr lang="en-BW" altLang="en-BW" i="1">
                <a:cs typeface="Arial" panose="020B0604020202020204" pitchFamily="34" charset="0"/>
              </a:rPr>
              <a:t>Lock-in amplifiers are also commonly used to extract </a:t>
            </a:r>
            <a:r>
              <a:rPr lang="en-BW" altLang="en-BW" i="1" err="1">
                <a:cs typeface="Arial" panose="020B0604020202020204" pitchFamily="34" charset="0"/>
              </a:rPr>
              <a:t>d.c.</a:t>
            </a:r>
            <a:r>
              <a:rPr lang="en-BW" altLang="en-BW" i="1">
                <a:cs typeface="Arial" panose="020B0604020202020204" pitchFamily="34" charset="0"/>
              </a:rPr>
              <a:t> or</a:t>
            </a:r>
            <a:endParaRPr lang="en-BW" altLang="en-BW">
              <a:cs typeface="Arial" panose="020B0604020202020204" pitchFamily="34" charset="0"/>
            </a:endParaRPr>
          </a:p>
          <a:p>
            <a:r>
              <a:rPr lang="en-BW" altLang="en-BW">
                <a:cs typeface="Arial" panose="020B0604020202020204" pitchFamily="34" charset="0"/>
              </a:rPr>
              <a:t>slowly varying measurement signals from noise.</a:t>
            </a:r>
          </a:p>
        </p:txBody>
      </p:sp>
      <p:sp>
        <p:nvSpPr>
          <p:cNvPr id="4" name="Date Placeholder 3">
            <a:extLst>
              <a:ext uri="{FF2B5EF4-FFF2-40B4-BE49-F238E27FC236}">
                <a16:creationId xmlns:a16="http://schemas.microsoft.com/office/drawing/2014/main" id="{BAA08755-2EA2-4F2C-A48A-57757C6F84AB}"/>
              </a:ext>
            </a:extLst>
          </p:cNvPr>
          <p:cNvSpPr>
            <a:spLocks noGrp="1"/>
          </p:cNvSpPr>
          <p:nvPr>
            <p:ph type="dt" sz="half" idx="10"/>
          </p:nvPr>
        </p:nvSpPr>
        <p:spPr>
          <a:xfrm>
            <a:off x="6927850" y="6041363"/>
            <a:ext cx="683955" cy="365125"/>
          </a:xfrm>
        </p:spPr>
        <p:txBody>
          <a:bodyPr>
            <a:normAutofit fontScale="92500" lnSpcReduction="10000"/>
          </a:bodyPr>
          <a:lstStyle/>
          <a:p>
            <a:pPr defTabSz="457200">
              <a:spcAft>
                <a:spcPts val="600"/>
              </a:spcAft>
              <a:defRPr/>
            </a:pPr>
            <a:fld id="{24652D08-3400-4AE4-B216-94CD28797F8D}" type="datetime1">
              <a:rPr lang="en-US">
                <a:solidFill>
                  <a:prstClr val="black">
                    <a:tint val="75000"/>
                  </a:prstClr>
                </a:solidFill>
                <a:latin typeface="Trebuchet MS" panose="020B0603020202020204"/>
              </a:rPr>
              <a:pPr defTabSz="457200">
                <a:spcAft>
                  <a:spcPts val="600"/>
                </a:spcAft>
                <a:defRPr/>
              </a:pPr>
              <a:t>10/17/2024</a:t>
            </a:fld>
            <a:endParaRPr lang="en-US">
              <a:solidFill>
                <a:prstClr val="black">
                  <a:tint val="75000"/>
                </a:prstClr>
              </a:solidFill>
              <a:latin typeface="Trebuchet MS" panose="020B0603020202020204"/>
            </a:endParaRPr>
          </a:p>
        </p:txBody>
      </p:sp>
      <p:sp>
        <p:nvSpPr>
          <p:cNvPr id="17412" name="Slide Number Placeholder 4">
            <a:extLst>
              <a:ext uri="{FF2B5EF4-FFF2-40B4-BE49-F238E27FC236}">
                <a16:creationId xmlns:a16="http://schemas.microsoft.com/office/drawing/2014/main" id="{0AE8D3C0-3DD5-46C1-8C61-FF9D56E4D82F}"/>
              </a:ext>
            </a:extLst>
          </p:cNvPr>
          <p:cNvSpPr>
            <a:spLocks noGrp="1"/>
          </p:cNvSpPr>
          <p:nvPr>
            <p:ph type="sldNum" sz="quarter" idx="12"/>
          </p:nvPr>
        </p:nvSpPr>
        <p:spPr>
          <a:xfrm>
            <a:off x="7966997" y="6041363"/>
            <a:ext cx="512504"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57200">
              <a:spcAft>
                <a:spcPts val="600"/>
              </a:spcAft>
            </a:pPr>
            <a:fld id="{B589C0EF-EA8A-416F-AB71-579A9B503DDA}" type="slidenum">
              <a:rPr lang="en-US" altLang="en-US">
                <a:solidFill>
                  <a:prstClr val="black"/>
                </a:solidFill>
              </a:rPr>
              <a:pPr defTabSz="457200">
                <a:spcAft>
                  <a:spcPts val="600"/>
                </a:spcAft>
              </a:pPr>
              <a:t>15</a:t>
            </a:fld>
            <a:endParaRPr lang="en-US" altLang="en-US">
              <a:solidFill>
                <a:prstClr val="black"/>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A7DA5F9-C3D9-47EF-92F3-D5585FDC2367}"/>
              </a:ext>
            </a:extLst>
          </p:cNvPr>
          <p:cNvSpPr>
            <a:spLocks noGrp="1"/>
          </p:cNvSpPr>
          <p:nvPr>
            <p:ph type="title"/>
          </p:nvPr>
        </p:nvSpPr>
        <p:spPr/>
        <p:txBody>
          <a:bodyPr/>
          <a:lstStyle/>
          <a:p>
            <a:r>
              <a:rPr lang="en-BW" altLang="en-BW" b="1" dirty="0">
                <a:latin typeface="Trebuchet MS" panose="020B0603020202020204" pitchFamily="34" charset="0"/>
                <a:ea typeface="Trebuchet MS" panose="020B0603020202020204" pitchFamily="34" charset="0"/>
                <a:cs typeface="Trebuchet MS" panose="020B0603020202020204" pitchFamily="34" charset="0"/>
              </a:rPr>
              <a:t>Signal processing</a:t>
            </a:r>
            <a:br>
              <a:rPr lang="en-BW" altLang="en-BW" dirty="0">
                <a:latin typeface="Trebuchet MS" panose="020B0603020202020204" pitchFamily="34" charset="0"/>
                <a:ea typeface="Trebuchet MS" panose="020B0603020202020204" pitchFamily="34" charset="0"/>
                <a:cs typeface="Trebuchet MS" panose="020B0603020202020204" pitchFamily="34" charset="0"/>
              </a:rPr>
            </a:br>
            <a:endParaRPr lang="en-BW" altLang="en-BW" dirty="0"/>
          </a:p>
        </p:txBody>
      </p:sp>
      <p:sp>
        <p:nvSpPr>
          <p:cNvPr id="6" name="object 6">
            <a:extLst>
              <a:ext uri="{FF2B5EF4-FFF2-40B4-BE49-F238E27FC236}">
                <a16:creationId xmlns:a16="http://schemas.microsoft.com/office/drawing/2014/main" id="{D78B0E29-41D3-4447-B569-9CE40D08F975}"/>
              </a:ext>
            </a:extLst>
          </p:cNvPr>
          <p:cNvSpPr txBox="1">
            <a:spLocks noGrp="1"/>
          </p:cNvSpPr>
          <p:nvPr>
            <p:ph idx="1"/>
          </p:nvPr>
        </p:nvSpPr>
        <p:spPr>
          <a:xfrm>
            <a:off x="-1571626" y="1333501"/>
            <a:ext cx="13446177" cy="2648033"/>
          </a:xfrm>
        </p:spPr>
        <p:txBody>
          <a:bodyPr vert="horz" wrap="square" lIns="0" tIns="13335" rIns="0" bIns="0" rtlCol="0">
            <a:spAutoFit/>
          </a:bodyPr>
          <a:lstStyle/>
          <a:p>
            <a:pPr marL="2859088"/>
            <a:endParaRPr lang="en-BW" altLang="en-BW" sz="2400" dirty="0">
              <a:latin typeface="Times New Roman" panose="02020603050405020304" pitchFamily="18" charset="0"/>
              <a:cs typeface="Times New Roman" panose="02020603050405020304" pitchFamily="18" charset="0"/>
            </a:endParaRPr>
          </a:p>
          <a:p>
            <a:pPr marL="2859088">
              <a:buFont typeface="Wingdings" panose="05000000000000000000" pitchFamily="2" charset="2"/>
              <a:buChar char=""/>
            </a:pPr>
            <a:r>
              <a:rPr lang="en-BW" altLang="en-BW" sz="2400" dirty="0">
                <a:cs typeface="Arial" panose="020B0604020202020204" pitchFamily="34" charset="0"/>
              </a:rPr>
              <a:t>Signal processing is concerned with improving the quality of  the reading or signal at the output of a measurement system,  and one particular aim is to attenuate any noise in the  measurement signal that has not been eliminated by careful design of the measurement system</a:t>
            </a:r>
          </a:p>
          <a:p>
            <a:pPr marL="2859088">
              <a:spcBef>
                <a:spcPts val="575"/>
              </a:spcBef>
              <a:buFont typeface="Wingdings" panose="05000000000000000000" pitchFamily="2" charset="2"/>
              <a:buChar char=""/>
            </a:pPr>
            <a:r>
              <a:rPr lang="en-BW" altLang="en-BW" sz="2400" dirty="0">
                <a:cs typeface="Arial" panose="020B0604020202020204" pitchFamily="34" charset="0"/>
              </a:rPr>
              <a:t>Analog signal processing</a:t>
            </a:r>
          </a:p>
          <a:p>
            <a:pPr marL="2859088">
              <a:spcBef>
                <a:spcPts val="575"/>
              </a:spcBef>
              <a:buFont typeface="Wingdings" panose="05000000000000000000" pitchFamily="2" charset="2"/>
              <a:buChar char=""/>
            </a:pPr>
            <a:r>
              <a:rPr lang="en-BW" altLang="en-BW" sz="2400" dirty="0">
                <a:cs typeface="Arial" panose="020B0604020202020204" pitchFamily="34" charset="0"/>
              </a:rPr>
              <a:t>Digital signal processing</a:t>
            </a:r>
          </a:p>
        </p:txBody>
      </p:sp>
      <p:sp>
        <p:nvSpPr>
          <p:cNvPr id="4" name="Date Placeholder 3">
            <a:extLst>
              <a:ext uri="{FF2B5EF4-FFF2-40B4-BE49-F238E27FC236}">
                <a16:creationId xmlns:a16="http://schemas.microsoft.com/office/drawing/2014/main" id="{E81796A2-FF58-4FEC-9752-CD2631C1B9C1}"/>
              </a:ext>
            </a:extLst>
          </p:cNvPr>
          <p:cNvSpPr>
            <a:spLocks noGrp="1"/>
          </p:cNvSpPr>
          <p:nvPr>
            <p:ph type="dt" sz="half" idx="10"/>
          </p:nvPr>
        </p:nvSpPr>
        <p:spPr/>
        <p:txBody>
          <a:bodyPr/>
          <a:lstStyle/>
          <a:p>
            <a:pPr>
              <a:defRPr/>
            </a:pPr>
            <a:fld id="{24652D08-3400-4AE4-B216-94CD28797F8D}" type="datetime1">
              <a:rPr lang="en-US" smtClean="0"/>
              <a:pPr>
                <a:defRPr/>
              </a:pPr>
              <a:t>10/17/2024</a:t>
            </a:fld>
            <a:endParaRPr lang="en-US"/>
          </a:p>
        </p:txBody>
      </p:sp>
      <p:sp>
        <p:nvSpPr>
          <p:cNvPr id="18436" name="Slide Number Placeholder 4">
            <a:extLst>
              <a:ext uri="{FF2B5EF4-FFF2-40B4-BE49-F238E27FC236}">
                <a16:creationId xmlns:a16="http://schemas.microsoft.com/office/drawing/2014/main" id="{D2D33AF7-1823-490B-A937-F0D2CFA86F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AE8EF25-AF38-40CC-B09D-67FB0827F9EC}" type="slidenum">
              <a:rPr lang="en-US" altLang="en-US"/>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4E40151-1566-4A3F-975C-2E7672D8FA6D}"/>
              </a:ext>
            </a:extLst>
          </p:cNvPr>
          <p:cNvSpPr>
            <a:spLocks noGrp="1"/>
          </p:cNvSpPr>
          <p:nvPr>
            <p:ph type="title"/>
          </p:nvPr>
        </p:nvSpPr>
        <p:spPr/>
        <p:txBody>
          <a:bodyPr/>
          <a:lstStyle/>
          <a:p>
            <a:r>
              <a:rPr lang="en-GB" b="1" spc="15" dirty="0">
                <a:latin typeface="Trebuchet MS"/>
                <a:cs typeface="Trebuchet MS"/>
              </a:rPr>
              <a:t>Signal</a:t>
            </a:r>
            <a:r>
              <a:rPr lang="en-GB" b="1" spc="-240" dirty="0">
                <a:latin typeface="Trebuchet MS"/>
                <a:cs typeface="Trebuchet MS"/>
              </a:rPr>
              <a:t> </a:t>
            </a:r>
            <a:r>
              <a:rPr lang="en-GB" b="1" spc="10" dirty="0">
                <a:latin typeface="Trebuchet MS"/>
                <a:cs typeface="Trebuchet MS"/>
              </a:rPr>
              <a:t>processing</a:t>
            </a:r>
            <a:br>
              <a:rPr lang="en-GB" dirty="0">
                <a:latin typeface="Trebuchet MS"/>
                <a:cs typeface="Trebuchet MS"/>
              </a:rPr>
            </a:br>
            <a:endParaRPr lang="en-BW" altLang="en-BW" dirty="0"/>
          </a:p>
        </p:txBody>
      </p:sp>
      <p:sp>
        <p:nvSpPr>
          <p:cNvPr id="9" name="object 4">
            <a:extLst>
              <a:ext uri="{FF2B5EF4-FFF2-40B4-BE49-F238E27FC236}">
                <a16:creationId xmlns:a16="http://schemas.microsoft.com/office/drawing/2014/main" id="{DA6BEA9B-AB57-46C8-ABAE-45B38DBF2B7D}"/>
              </a:ext>
            </a:extLst>
          </p:cNvPr>
          <p:cNvSpPr txBox="1">
            <a:spLocks noGrp="1"/>
          </p:cNvSpPr>
          <p:nvPr>
            <p:ph idx="1"/>
          </p:nvPr>
        </p:nvSpPr>
        <p:spPr>
          <a:xfrm>
            <a:off x="1524000" y="1787525"/>
            <a:ext cx="3797508" cy="2708434"/>
          </a:xfrm>
        </p:spPr>
        <p:txBody>
          <a:bodyPr vert="horz" wrap="square" lIns="0" tIns="12700" rIns="0" bIns="0" rtlCol="0">
            <a:spAutoFit/>
          </a:bodyPr>
          <a:lstStyle/>
          <a:p>
            <a:pPr marL="349885">
              <a:lnSpc>
                <a:spcPts val="1485"/>
              </a:lnSpc>
              <a:defRPr/>
            </a:pPr>
            <a:r>
              <a:rPr sz="2000" b="1" spc="10" dirty="0">
                <a:cs typeface="Trebuchet MS"/>
              </a:rPr>
              <a:t>Analog </a:t>
            </a:r>
            <a:r>
              <a:rPr sz="2000" b="1" spc="5" dirty="0">
                <a:cs typeface="Trebuchet MS"/>
              </a:rPr>
              <a:t>Signal</a:t>
            </a:r>
            <a:r>
              <a:rPr sz="2000" b="1" spc="-275" dirty="0">
                <a:cs typeface="Trebuchet MS"/>
              </a:rPr>
              <a:t> </a:t>
            </a:r>
            <a:r>
              <a:rPr sz="2000" b="1" spc="5" dirty="0">
                <a:cs typeface="Trebuchet MS"/>
              </a:rPr>
              <a:t>Processing</a:t>
            </a:r>
            <a:endParaRPr sz="2000" dirty="0">
              <a:cs typeface="Trebuchet MS"/>
            </a:endParaRPr>
          </a:p>
          <a:p>
            <a:pPr marL="102235" indent="-89535">
              <a:spcBef>
                <a:spcPts val="780"/>
              </a:spcBef>
              <a:buFont typeface="Wingdings"/>
              <a:buChar char=""/>
              <a:tabLst>
                <a:tab pos="102870" algn="l"/>
              </a:tabLst>
              <a:defRPr/>
            </a:pPr>
            <a:r>
              <a:rPr sz="2000" spc="-5" dirty="0">
                <a:cs typeface="Arial"/>
              </a:rPr>
              <a:t>Signal</a:t>
            </a:r>
            <a:r>
              <a:rPr sz="2000" spc="-20" dirty="0">
                <a:cs typeface="Arial"/>
              </a:rPr>
              <a:t> </a:t>
            </a:r>
            <a:r>
              <a:rPr sz="2000" spc="-5" dirty="0">
                <a:cs typeface="Arial"/>
              </a:rPr>
              <a:t>Integration</a:t>
            </a:r>
            <a:endParaRPr sz="2000" dirty="0">
              <a:cs typeface="Arial"/>
            </a:endParaRPr>
          </a:p>
          <a:p>
            <a:pPr marL="102235" indent="-89535">
              <a:spcBef>
                <a:spcPts val="575"/>
              </a:spcBef>
              <a:buFont typeface="Wingdings"/>
              <a:buChar char=""/>
              <a:tabLst>
                <a:tab pos="102870" algn="l"/>
              </a:tabLst>
              <a:defRPr/>
            </a:pPr>
            <a:r>
              <a:rPr sz="2000" spc="-5" dirty="0">
                <a:cs typeface="Arial"/>
              </a:rPr>
              <a:t>Voltage follower</a:t>
            </a:r>
            <a:r>
              <a:rPr sz="2000" spc="-40" dirty="0">
                <a:cs typeface="Arial"/>
              </a:rPr>
              <a:t> </a:t>
            </a:r>
            <a:r>
              <a:rPr sz="2000" dirty="0">
                <a:cs typeface="Arial"/>
              </a:rPr>
              <a:t>(pre-amplifier)</a:t>
            </a:r>
          </a:p>
          <a:p>
            <a:pPr marL="102235" indent="-89535">
              <a:spcBef>
                <a:spcPts val="580"/>
              </a:spcBef>
              <a:buFont typeface="Wingdings"/>
              <a:buChar char=""/>
              <a:tabLst>
                <a:tab pos="102870" algn="l"/>
              </a:tabLst>
              <a:defRPr/>
            </a:pPr>
            <a:r>
              <a:rPr sz="2000" spc="-5" dirty="0">
                <a:cs typeface="Arial"/>
              </a:rPr>
              <a:t>Voltage</a:t>
            </a:r>
            <a:r>
              <a:rPr sz="2000" spc="-25" dirty="0">
                <a:cs typeface="Arial"/>
              </a:rPr>
              <a:t> </a:t>
            </a:r>
            <a:r>
              <a:rPr sz="2000" dirty="0">
                <a:cs typeface="Arial"/>
              </a:rPr>
              <a:t>comparator</a:t>
            </a:r>
          </a:p>
          <a:p>
            <a:pPr marL="102235" indent="-89535">
              <a:spcBef>
                <a:spcPts val="575"/>
              </a:spcBef>
              <a:buFont typeface="Wingdings"/>
              <a:buChar char=""/>
              <a:tabLst>
                <a:tab pos="102870" algn="l"/>
              </a:tabLst>
              <a:defRPr/>
            </a:pPr>
            <a:r>
              <a:rPr sz="2000" spc="-5" dirty="0">
                <a:cs typeface="Arial"/>
              </a:rPr>
              <a:t>Phase-sensitive</a:t>
            </a:r>
            <a:r>
              <a:rPr sz="2000" spc="-25" dirty="0">
                <a:cs typeface="Arial"/>
              </a:rPr>
              <a:t> </a:t>
            </a:r>
            <a:r>
              <a:rPr sz="2000" dirty="0">
                <a:cs typeface="Arial"/>
              </a:rPr>
              <a:t>detector</a:t>
            </a:r>
          </a:p>
          <a:p>
            <a:pPr marL="102235" indent="-89535">
              <a:spcBef>
                <a:spcPts val="575"/>
              </a:spcBef>
              <a:buFont typeface="Wingdings"/>
              <a:buChar char=""/>
              <a:tabLst>
                <a:tab pos="102870" algn="l"/>
              </a:tabLst>
              <a:defRPr/>
            </a:pPr>
            <a:r>
              <a:rPr sz="2000" spc="-5" dirty="0">
                <a:cs typeface="Arial"/>
              </a:rPr>
              <a:t>Lock-in</a:t>
            </a:r>
            <a:r>
              <a:rPr sz="2000" spc="-15" dirty="0">
                <a:cs typeface="Arial"/>
              </a:rPr>
              <a:t> </a:t>
            </a:r>
            <a:r>
              <a:rPr sz="2000" dirty="0">
                <a:latin typeface="Arial" panose="020B0604020202020204" pitchFamily="34" charset="0"/>
                <a:cs typeface="Arial" panose="020B0604020202020204" pitchFamily="34" charset="0"/>
              </a:rPr>
              <a:t>amplifier</a:t>
            </a:r>
          </a:p>
          <a:p>
            <a:pPr marL="102235" indent="-89535">
              <a:spcBef>
                <a:spcPts val="575"/>
              </a:spcBef>
              <a:buFont typeface="Wingdings"/>
              <a:buChar char=""/>
              <a:tabLst>
                <a:tab pos="102870" algn="l"/>
              </a:tabLst>
              <a:defRPr/>
            </a:pPr>
            <a:r>
              <a:rPr sz="2000" spc="-5" dirty="0">
                <a:cs typeface="Arial"/>
              </a:rPr>
              <a:t>Signal</a:t>
            </a:r>
            <a:r>
              <a:rPr sz="2000" spc="-20" dirty="0">
                <a:cs typeface="Arial"/>
              </a:rPr>
              <a:t> </a:t>
            </a:r>
            <a:r>
              <a:rPr sz="2000" spc="-5" dirty="0">
                <a:cs typeface="Arial"/>
              </a:rPr>
              <a:t>addition</a:t>
            </a:r>
            <a:endParaRPr sz="2000" dirty="0">
              <a:cs typeface="Arial"/>
            </a:endParaRPr>
          </a:p>
          <a:p>
            <a:pPr marL="102235" indent="-89535">
              <a:spcBef>
                <a:spcPts val="580"/>
              </a:spcBef>
              <a:buFont typeface="Wingdings"/>
              <a:buChar char=""/>
              <a:tabLst>
                <a:tab pos="102870" algn="l"/>
              </a:tabLst>
              <a:defRPr/>
            </a:pPr>
            <a:r>
              <a:rPr sz="2000" spc="-5" dirty="0">
                <a:cs typeface="Arial"/>
              </a:rPr>
              <a:t>Signal</a:t>
            </a:r>
            <a:r>
              <a:rPr sz="2000" spc="-20" dirty="0">
                <a:cs typeface="Arial"/>
              </a:rPr>
              <a:t> </a:t>
            </a:r>
            <a:r>
              <a:rPr sz="2000" dirty="0">
                <a:cs typeface="Arial"/>
              </a:rPr>
              <a:t>multiplication</a:t>
            </a:r>
          </a:p>
        </p:txBody>
      </p:sp>
      <p:sp>
        <p:nvSpPr>
          <p:cNvPr id="4" name="Date Placeholder 3">
            <a:extLst>
              <a:ext uri="{FF2B5EF4-FFF2-40B4-BE49-F238E27FC236}">
                <a16:creationId xmlns:a16="http://schemas.microsoft.com/office/drawing/2014/main" id="{99959D99-8DCA-418B-8CB1-48E4F29FF6EC}"/>
              </a:ext>
            </a:extLst>
          </p:cNvPr>
          <p:cNvSpPr>
            <a:spLocks noGrp="1"/>
          </p:cNvSpPr>
          <p:nvPr>
            <p:ph type="dt" sz="half" idx="10"/>
          </p:nvPr>
        </p:nvSpPr>
        <p:spPr/>
        <p:txBody>
          <a:bodyPr/>
          <a:lstStyle/>
          <a:p>
            <a:pPr>
              <a:defRPr/>
            </a:pPr>
            <a:fld id="{24652D08-3400-4AE4-B216-94CD28797F8D}" type="datetime1">
              <a:rPr lang="en-US" smtClean="0"/>
              <a:pPr>
                <a:defRPr/>
              </a:pPr>
              <a:t>10/17/2024</a:t>
            </a:fld>
            <a:endParaRPr lang="en-US"/>
          </a:p>
        </p:txBody>
      </p:sp>
      <p:sp>
        <p:nvSpPr>
          <p:cNvPr id="19460" name="Slide Number Placeholder 4">
            <a:extLst>
              <a:ext uri="{FF2B5EF4-FFF2-40B4-BE49-F238E27FC236}">
                <a16:creationId xmlns:a16="http://schemas.microsoft.com/office/drawing/2014/main" id="{285F61E8-9AEC-498E-9228-5D54817AB8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53785C-C568-4CDA-A00F-A78BA8206559}" type="slidenum">
              <a:rPr lang="en-US" altLang="en-US"/>
              <a:pPr/>
              <a:t>17</a:t>
            </a:fld>
            <a:endParaRPr lang="en-US" altLang="en-US"/>
          </a:p>
        </p:txBody>
      </p:sp>
      <p:sp>
        <p:nvSpPr>
          <p:cNvPr id="10" name="object 3">
            <a:extLst>
              <a:ext uri="{FF2B5EF4-FFF2-40B4-BE49-F238E27FC236}">
                <a16:creationId xmlns:a16="http://schemas.microsoft.com/office/drawing/2014/main" id="{AACDECF1-04C9-4DDC-BDE1-8458875FE06C}"/>
              </a:ext>
            </a:extLst>
          </p:cNvPr>
          <p:cNvSpPr txBox="1"/>
          <p:nvPr/>
        </p:nvSpPr>
        <p:spPr>
          <a:xfrm>
            <a:off x="6096000" y="1388823"/>
            <a:ext cx="3200400" cy="3465692"/>
          </a:xfrm>
          <a:prstGeom prst="rect">
            <a:avLst/>
          </a:prstGeom>
        </p:spPr>
        <p:txBody>
          <a:bodyPr lIns="0" tIns="92075" rIns="0" bIns="0">
            <a:spAutoFit/>
          </a:bodyPr>
          <a:lstStyle/>
          <a:p>
            <a:pPr marL="12700">
              <a:spcBef>
                <a:spcPts val="725"/>
              </a:spcBef>
              <a:tabLst>
                <a:tab pos="102870" algn="l"/>
              </a:tabLst>
              <a:defRPr/>
            </a:pPr>
            <a:endParaRPr lang="en-GB" sz="2000" spc="-5" dirty="0">
              <a:latin typeface="Arial"/>
              <a:cs typeface="Arial"/>
            </a:endParaRPr>
          </a:p>
          <a:p>
            <a:pPr marL="12700">
              <a:spcBef>
                <a:spcPts val="725"/>
              </a:spcBef>
              <a:tabLst>
                <a:tab pos="102870" algn="l"/>
              </a:tabLst>
              <a:defRPr/>
            </a:pPr>
            <a:r>
              <a:rPr sz="2000" spc="-5" dirty="0">
                <a:latin typeface="Arial"/>
                <a:cs typeface="Arial"/>
              </a:rPr>
              <a:t>Filters</a:t>
            </a:r>
            <a:endParaRPr sz="2000" dirty="0">
              <a:latin typeface="Arial"/>
              <a:cs typeface="Arial"/>
            </a:endParaRPr>
          </a:p>
          <a:p>
            <a:pPr marL="234950" lvl="1" indent="-130810">
              <a:spcBef>
                <a:spcPts val="585"/>
              </a:spcBef>
              <a:buFontTx/>
              <a:buChar char="–"/>
              <a:tabLst>
                <a:tab pos="235585" algn="l"/>
              </a:tabLst>
              <a:defRPr/>
            </a:pPr>
            <a:r>
              <a:rPr sz="2000" spc="-5" dirty="0">
                <a:latin typeface="Arial"/>
                <a:cs typeface="Arial"/>
              </a:rPr>
              <a:t>Passive</a:t>
            </a:r>
            <a:endParaRPr sz="2000" dirty="0">
              <a:latin typeface="Arial"/>
              <a:cs typeface="Arial"/>
            </a:endParaRPr>
          </a:p>
          <a:p>
            <a:pPr marL="234950" lvl="1" indent="-130810">
              <a:spcBef>
                <a:spcPts val="525"/>
              </a:spcBef>
              <a:buFontTx/>
              <a:buChar char="–"/>
              <a:tabLst>
                <a:tab pos="235585" algn="l"/>
              </a:tabLst>
              <a:defRPr/>
            </a:pPr>
            <a:r>
              <a:rPr sz="2000" spc="-5" dirty="0">
                <a:latin typeface="Arial"/>
                <a:cs typeface="Arial"/>
              </a:rPr>
              <a:t>Active</a:t>
            </a:r>
            <a:endParaRPr sz="2000" dirty="0">
              <a:latin typeface="Arial"/>
              <a:cs typeface="Arial"/>
            </a:endParaRPr>
          </a:p>
          <a:p>
            <a:pPr marL="102235" indent="-89535">
              <a:spcBef>
                <a:spcPts val="525"/>
              </a:spcBef>
              <a:buFont typeface="Wingdings"/>
              <a:buChar char=""/>
              <a:tabLst>
                <a:tab pos="102870" algn="l"/>
              </a:tabLst>
              <a:defRPr/>
            </a:pPr>
            <a:r>
              <a:rPr sz="2000" spc="-5" dirty="0">
                <a:latin typeface="Arial"/>
                <a:cs typeface="Arial"/>
              </a:rPr>
              <a:t>Signal</a:t>
            </a:r>
            <a:r>
              <a:rPr sz="2000" spc="-25" dirty="0">
                <a:latin typeface="Arial"/>
                <a:cs typeface="Arial"/>
              </a:rPr>
              <a:t> </a:t>
            </a:r>
            <a:r>
              <a:rPr sz="2000" dirty="0">
                <a:latin typeface="Arial"/>
                <a:cs typeface="Arial"/>
              </a:rPr>
              <a:t>amplification</a:t>
            </a:r>
          </a:p>
          <a:p>
            <a:pPr marL="102235" indent="-89535">
              <a:spcBef>
                <a:spcPts val="575"/>
              </a:spcBef>
              <a:buFont typeface="Wingdings"/>
              <a:buChar char=""/>
              <a:tabLst>
                <a:tab pos="102870" algn="l"/>
              </a:tabLst>
              <a:defRPr/>
            </a:pPr>
            <a:r>
              <a:rPr sz="2000" spc="-5" dirty="0">
                <a:latin typeface="Arial"/>
                <a:cs typeface="Arial"/>
              </a:rPr>
              <a:t>Signal</a:t>
            </a:r>
            <a:r>
              <a:rPr sz="2000" spc="-20" dirty="0">
                <a:latin typeface="Arial"/>
                <a:cs typeface="Arial"/>
              </a:rPr>
              <a:t> </a:t>
            </a:r>
            <a:r>
              <a:rPr sz="2000" spc="-5" dirty="0">
                <a:latin typeface="Arial"/>
                <a:cs typeface="Arial"/>
              </a:rPr>
              <a:t>attenuation</a:t>
            </a:r>
            <a:endParaRPr sz="2000" dirty="0">
              <a:latin typeface="Arial"/>
              <a:cs typeface="Arial"/>
            </a:endParaRPr>
          </a:p>
          <a:p>
            <a:pPr marL="102235" indent="-89535">
              <a:spcBef>
                <a:spcPts val="580"/>
              </a:spcBef>
              <a:buFont typeface="Wingdings"/>
              <a:buChar char=""/>
              <a:tabLst>
                <a:tab pos="102870" algn="l"/>
              </a:tabLst>
              <a:defRPr/>
            </a:pPr>
            <a:r>
              <a:rPr sz="2000" dirty="0">
                <a:latin typeface="Arial"/>
                <a:cs typeface="Arial"/>
              </a:rPr>
              <a:t>Differential</a:t>
            </a:r>
            <a:r>
              <a:rPr sz="2000" spc="-105" dirty="0">
                <a:latin typeface="Arial"/>
                <a:cs typeface="Arial"/>
              </a:rPr>
              <a:t> </a:t>
            </a:r>
            <a:r>
              <a:rPr sz="2000" dirty="0">
                <a:latin typeface="Arial"/>
                <a:cs typeface="Arial"/>
              </a:rPr>
              <a:t>amplification</a:t>
            </a:r>
          </a:p>
          <a:p>
            <a:pPr marL="102235" indent="-89535">
              <a:spcBef>
                <a:spcPts val="575"/>
              </a:spcBef>
              <a:buFont typeface="Wingdings"/>
              <a:buChar char=""/>
              <a:tabLst>
                <a:tab pos="102870" algn="l"/>
              </a:tabLst>
              <a:defRPr/>
            </a:pPr>
            <a:r>
              <a:rPr sz="2000" spc="-5" dirty="0">
                <a:latin typeface="Arial"/>
                <a:cs typeface="Arial"/>
              </a:rPr>
              <a:t>Signal</a:t>
            </a:r>
            <a:r>
              <a:rPr sz="2000" spc="-20" dirty="0">
                <a:latin typeface="Arial"/>
                <a:cs typeface="Arial"/>
              </a:rPr>
              <a:t> </a:t>
            </a:r>
            <a:r>
              <a:rPr sz="2000" spc="-5" dirty="0">
                <a:latin typeface="Arial"/>
                <a:cs typeface="Arial"/>
              </a:rPr>
              <a:t>linearization</a:t>
            </a:r>
            <a:endParaRPr sz="2000" dirty="0">
              <a:latin typeface="Arial"/>
              <a:cs typeface="Arial"/>
            </a:endParaRPr>
          </a:p>
          <a:p>
            <a:pPr marL="102235" indent="-89535">
              <a:spcBef>
                <a:spcPts val="575"/>
              </a:spcBef>
              <a:buFont typeface="Wingdings"/>
              <a:buChar char=""/>
              <a:tabLst>
                <a:tab pos="102870" algn="l"/>
              </a:tabLst>
              <a:defRPr/>
            </a:pPr>
            <a:r>
              <a:rPr sz="2000" spc="-5" dirty="0">
                <a:latin typeface="Arial"/>
                <a:cs typeface="Arial"/>
              </a:rPr>
              <a:t>Bias (zero </a:t>
            </a:r>
            <a:r>
              <a:rPr sz="2000" dirty="0">
                <a:latin typeface="Arial"/>
                <a:cs typeface="Arial"/>
              </a:rPr>
              <a:t>drift)</a:t>
            </a:r>
            <a:r>
              <a:rPr sz="2000" spc="-60" dirty="0">
                <a:latin typeface="Arial"/>
                <a:cs typeface="Arial"/>
              </a:rPr>
              <a:t> </a:t>
            </a:r>
            <a:r>
              <a:rPr sz="2000" spc="-5" dirty="0">
                <a:latin typeface="Arial"/>
                <a:cs typeface="Arial"/>
              </a:rPr>
              <a:t>removal</a:t>
            </a:r>
            <a:endParaRPr sz="2000" dirty="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8EEACC55-A7C1-47FE-94BB-02F278D0F300}"/>
              </a:ext>
            </a:extLst>
          </p:cNvPr>
          <p:cNvSpPr>
            <a:spLocks noGrp="1"/>
          </p:cNvSpPr>
          <p:nvPr>
            <p:ph type="title"/>
          </p:nvPr>
        </p:nvSpPr>
        <p:spPr>
          <a:xfrm>
            <a:off x="1117261" y="287043"/>
            <a:ext cx="9720072" cy="1499616"/>
          </a:xfrm>
        </p:spPr>
        <p:txBody>
          <a:bodyPr/>
          <a:lstStyle/>
          <a:p>
            <a:r>
              <a:rPr lang="en-GB" b="1" spc="15" dirty="0">
                <a:latin typeface="Trebuchet MS"/>
                <a:cs typeface="Trebuchet MS"/>
              </a:rPr>
              <a:t>Signal</a:t>
            </a:r>
            <a:r>
              <a:rPr lang="en-GB" b="1" spc="-240" dirty="0">
                <a:latin typeface="Trebuchet MS"/>
                <a:cs typeface="Trebuchet MS"/>
              </a:rPr>
              <a:t> </a:t>
            </a:r>
            <a:r>
              <a:rPr lang="en-GB" b="1" spc="10" dirty="0">
                <a:latin typeface="Trebuchet MS"/>
                <a:cs typeface="Trebuchet MS"/>
              </a:rPr>
              <a:t>processing</a:t>
            </a:r>
            <a:br>
              <a:rPr lang="en-GB" dirty="0">
                <a:latin typeface="Trebuchet MS"/>
                <a:cs typeface="Trebuchet MS"/>
              </a:rPr>
            </a:br>
            <a:endParaRPr lang="en-BW" altLang="en-BW" dirty="0"/>
          </a:p>
        </p:txBody>
      </p:sp>
      <p:sp>
        <p:nvSpPr>
          <p:cNvPr id="6" name="object 7">
            <a:extLst>
              <a:ext uri="{FF2B5EF4-FFF2-40B4-BE49-F238E27FC236}">
                <a16:creationId xmlns:a16="http://schemas.microsoft.com/office/drawing/2014/main" id="{A36B7A27-DB25-4BF7-826D-702452A78F7E}"/>
              </a:ext>
            </a:extLst>
          </p:cNvPr>
          <p:cNvSpPr txBox="1">
            <a:spLocks noGrp="1"/>
          </p:cNvSpPr>
          <p:nvPr>
            <p:ph idx="1"/>
          </p:nvPr>
        </p:nvSpPr>
        <p:spPr>
          <a:xfrm>
            <a:off x="1981200" y="1219201"/>
            <a:ext cx="8229600" cy="3096873"/>
          </a:xfrm>
        </p:spPr>
        <p:txBody>
          <a:bodyPr vert="horz" lIns="0" tIns="13335" rIns="0" bIns="0" rtlCol="0">
            <a:spAutoFit/>
          </a:bodyPr>
          <a:lstStyle/>
          <a:p>
            <a:pPr marL="2092960" indent="0">
              <a:lnSpc>
                <a:spcPts val="1485"/>
              </a:lnSpc>
              <a:buNone/>
              <a:defRPr/>
            </a:pPr>
            <a:r>
              <a:rPr sz="2400" b="1" spc="10" dirty="0">
                <a:latin typeface="Trebuchet MS"/>
                <a:cs typeface="Trebuchet MS"/>
              </a:rPr>
              <a:t>Digital </a:t>
            </a:r>
            <a:r>
              <a:rPr sz="2400" b="1" spc="15" dirty="0">
                <a:latin typeface="Trebuchet MS"/>
                <a:cs typeface="Trebuchet MS"/>
              </a:rPr>
              <a:t>signal</a:t>
            </a:r>
            <a:r>
              <a:rPr sz="2400" b="1" spc="-265" dirty="0">
                <a:latin typeface="Trebuchet MS"/>
                <a:cs typeface="Trebuchet MS"/>
              </a:rPr>
              <a:t> </a:t>
            </a:r>
            <a:r>
              <a:rPr sz="2400" b="1" dirty="0">
                <a:latin typeface="Trebuchet MS"/>
                <a:cs typeface="Trebuchet MS"/>
              </a:rPr>
              <a:t>processing</a:t>
            </a:r>
            <a:endParaRPr sz="2400" dirty="0">
              <a:latin typeface="Trebuchet MS"/>
              <a:cs typeface="Trebuchet MS"/>
            </a:endParaRPr>
          </a:p>
          <a:p>
            <a:pPr marL="102235" indent="-89535">
              <a:spcBef>
                <a:spcPts val="775"/>
              </a:spcBef>
              <a:buFont typeface="Wingdings"/>
              <a:buChar char=""/>
              <a:tabLst>
                <a:tab pos="102870" algn="l"/>
              </a:tabLst>
              <a:defRPr/>
            </a:pPr>
            <a:r>
              <a:rPr sz="2400" spc="-5" dirty="0">
                <a:cs typeface="Arial"/>
              </a:rPr>
              <a:t>Signal</a:t>
            </a:r>
            <a:r>
              <a:rPr sz="2400" spc="-20" dirty="0">
                <a:cs typeface="Arial"/>
              </a:rPr>
              <a:t> </a:t>
            </a:r>
            <a:r>
              <a:rPr sz="2400" spc="-5" dirty="0">
                <a:cs typeface="Arial"/>
              </a:rPr>
              <a:t>Integration</a:t>
            </a:r>
            <a:endParaRPr sz="2400" dirty="0">
              <a:cs typeface="Arial"/>
            </a:endParaRPr>
          </a:p>
          <a:p>
            <a:pPr marL="102235" indent="-89535">
              <a:spcBef>
                <a:spcPts val="575"/>
              </a:spcBef>
              <a:buFont typeface="Wingdings"/>
              <a:buChar char=""/>
              <a:tabLst>
                <a:tab pos="102870" algn="l"/>
              </a:tabLst>
              <a:defRPr/>
            </a:pPr>
            <a:r>
              <a:rPr sz="2400" dirty="0">
                <a:cs typeface="Arial"/>
              </a:rPr>
              <a:t>Sample </a:t>
            </a:r>
            <a:r>
              <a:rPr sz="2400" spc="-5" dirty="0">
                <a:cs typeface="Arial"/>
              </a:rPr>
              <a:t>and hold</a:t>
            </a:r>
            <a:r>
              <a:rPr sz="2400" spc="-55" dirty="0">
                <a:cs typeface="Arial"/>
              </a:rPr>
              <a:t> </a:t>
            </a:r>
            <a:r>
              <a:rPr sz="2400" spc="-5" dirty="0">
                <a:cs typeface="Arial"/>
              </a:rPr>
              <a:t>circuit</a:t>
            </a:r>
            <a:endParaRPr sz="2400" dirty="0">
              <a:cs typeface="Arial"/>
            </a:endParaRPr>
          </a:p>
          <a:p>
            <a:pPr marL="102235" indent="-89535">
              <a:spcBef>
                <a:spcPts val="575"/>
              </a:spcBef>
              <a:buFont typeface="Wingdings"/>
              <a:buChar char=""/>
              <a:tabLst>
                <a:tab pos="102870" algn="l"/>
              </a:tabLst>
              <a:defRPr/>
            </a:pPr>
            <a:r>
              <a:rPr sz="2400" spc="-5" dirty="0">
                <a:cs typeface="Arial"/>
              </a:rPr>
              <a:t>Analog-to-digital (A/D)</a:t>
            </a:r>
            <a:r>
              <a:rPr sz="2400" spc="10" dirty="0">
                <a:cs typeface="Arial"/>
              </a:rPr>
              <a:t> </a:t>
            </a:r>
            <a:r>
              <a:rPr sz="2400" spc="-5" dirty="0">
                <a:cs typeface="Arial"/>
              </a:rPr>
              <a:t>conversion</a:t>
            </a:r>
            <a:endParaRPr sz="2400" dirty="0">
              <a:cs typeface="Arial"/>
            </a:endParaRPr>
          </a:p>
          <a:p>
            <a:pPr marL="102235" indent="-89535">
              <a:spcBef>
                <a:spcPts val="580"/>
              </a:spcBef>
              <a:buFont typeface="Wingdings"/>
              <a:buChar char=""/>
              <a:tabLst>
                <a:tab pos="102870" algn="l"/>
              </a:tabLst>
              <a:defRPr/>
            </a:pPr>
            <a:r>
              <a:rPr sz="2400" spc="-5" dirty="0">
                <a:cs typeface="Arial"/>
              </a:rPr>
              <a:t>Digital-to-analog </a:t>
            </a:r>
            <a:r>
              <a:rPr sz="2400" dirty="0">
                <a:cs typeface="Arial"/>
              </a:rPr>
              <a:t>(D/A)</a:t>
            </a:r>
            <a:r>
              <a:rPr sz="2400" spc="-20" dirty="0">
                <a:cs typeface="Arial"/>
              </a:rPr>
              <a:t> </a:t>
            </a:r>
            <a:r>
              <a:rPr sz="2400" spc="-5" dirty="0">
                <a:cs typeface="Arial"/>
              </a:rPr>
              <a:t>conversion</a:t>
            </a:r>
            <a:endParaRPr sz="2400" dirty="0">
              <a:cs typeface="Arial"/>
            </a:endParaRPr>
          </a:p>
          <a:p>
            <a:pPr marL="102235" indent="-89535">
              <a:spcBef>
                <a:spcPts val="575"/>
              </a:spcBef>
              <a:buFont typeface="Wingdings"/>
              <a:buChar char=""/>
              <a:tabLst>
                <a:tab pos="102870" algn="l"/>
              </a:tabLst>
              <a:defRPr/>
            </a:pPr>
            <a:r>
              <a:rPr sz="2400" spc="-5" dirty="0">
                <a:cs typeface="Arial"/>
              </a:rPr>
              <a:t>Digital filtering</a:t>
            </a:r>
            <a:endParaRPr sz="2400" dirty="0">
              <a:cs typeface="Arial"/>
            </a:endParaRPr>
          </a:p>
          <a:p>
            <a:pPr marL="102235" indent="-89535">
              <a:spcBef>
                <a:spcPts val="575"/>
              </a:spcBef>
              <a:buFont typeface="Wingdings"/>
              <a:buChar char=""/>
              <a:tabLst>
                <a:tab pos="102870" algn="l"/>
              </a:tabLst>
              <a:defRPr/>
            </a:pPr>
            <a:r>
              <a:rPr sz="2400" spc="-5" dirty="0">
                <a:cs typeface="Arial"/>
              </a:rPr>
              <a:t>Autocorrelation</a:t>
            </a:r>
            <a:endParaRPr sz="2400" dirty="0">
              <a:cs typeface="Arial"/>
            </a:endParaRPr>
          </a:p>
          <a:p>
            <a:pPr marL="102235" indent="-89535">
              <a:spcBef>
                <a:spcPts val="580"/>
              </a:spcBef>
              <a:buFont typeface="Wingdings"/>
              <a:buChar char=""/>
              <a:tabLst>
                <a:tab pos="102870" algn="l"/>
              </a:tabLst>
              <a:defRPr/>
            </a:pPr>
            <a:r>
              <a:rPr sz="2400" dirty="0">
                <a:cs typeface="Arial"/>
              </a:rPr>
              <a:t>Other </a:t>
            </a:r>
            <a:r>
              <a:rPr sz="2400" spc="-5" dirty="0">
                <a:cs typeface="Arial"/>
              </a:rPr>
              <a:t>digital signal processing</a:t>
            </a:r>
            <a:r>
              <a:rPr sz="2400" spc="-15" dirty="0">
                <a:cs typeface="Arial"/>
              </a:rPr>
              <a:t> </a:t>
            </a:r>
            <a:r>
              <a:rPr sz="2400" dirty="0">
                <a:cs typeface="Arial"/>
              </a:rPr>
              <a:t>operations</a:t>
            </a:r>
          </a:p>
        </p:txBody>
      </p:sp>
      <p:sp>
        <p:nvSpPr>
          <p:cNvPr id="4" name="Date Placeholder 3">
            <a:extLst>
              <a:ext uri="{FF2B5EF4-FFF2-40B4-BE49-F238E27FC236}">
                <a16:creationId xmlns:a16="http://schemas.microsoft.com/office/drawing/2014/main" id="{D144A258-234D-4530-95B8-8CB931D1DF89}"/>
              </a:ext>
            </a:extLst>
          </p:cNvPr>
          <p:cNvSpPr>
            <a:spLocks noGrp="1"/>
          </p:cNvSpPr>
          <p:nvPr>
            <p:ph type="dt" sz="half" idx="10"/>
          </p:nvPr>
        </p:nvSpPr>
        <p:spPr/>
        <p:txBody>
          <a:bodyPr/>
          <a:lstStyle/>
          <a:p>
            <a:pPr>
              <a:defRPr/>
            </a:pPr>
            <a:fld id="{24652D08-3400-4AE4-B216-94CD28797F8D}" type="datetime1">
              <a:rPr lang="en-US" smtClean="0"/>
              <a:pPr>
                <a:defRPr/>
              </a:pPr>
              <a:t>10/17/2024</a:t>
            </a:fld>
            <a:endParaRPr lang="en-US"/>
          </a:p>
        </p:txBody>
      </p:sp>
      <p:sp>
        <p:nvSpPr>
          <p:cNvPr id="20484" name="Slide Number Placeholder 4">
            <a:extLst>
              <a:ext uri="{FF2B5EF4-FFF2-40B4-BE49-F238E27FC236}">
                <a16:creationId xmlns:a16="http://schemas.microsoft.com/office/drawing/2014/main" id="{E1CD8330-45ED-4F2F-87A3-5C744032AF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2759D25-030B-43F3-A6B8-6FA3F8652077}" type="slidenum">
              <a:rPr lang="en-US" altLang="en-US"/>
              <a:pPr/>
              <a:t>18</a:t>
            </a:fld>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8186</TotalTime>
  <Words>1246</Words>
  <Application>Microsoft Office PowerPoint</Application>
  <PresentationFormat>Widescreen</PresentationFormat>
  <Paragraphs>154</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Times New Roman</vt:lpstr>
      <vt:lpstr>Trebuchet MS</vt:lpstr>
      <vt:lpstr>Tw Cen MT</vt:lpstr>
      <vt:lpstr>Tw Cen MT Condensed</vt:lpstr>
      <vt:lpstr>Wingdings</vt:lpstr>
      <vt:lpstr>Wingdings 3</vt:lpstr>
      <vt:lpstr>Integral</vt:lpstr>
      <vt:lpstr>Measurement noise  </vt:lpstr>
      <vt:lpstr>Measurement Noise </vt:lpstr>
      <vt:lpstr>Sources of measurement noise </vt:lpstr>
      <vt:lpstr>Sources of measurement noise </vt:lpstr>
      <vt:lpstr>Sources of measurement noise </vt:lpstr>
      <vt:lpstr>Sources of measurement noise </vt:lpstr>
      <vt:lpstr>Sources of measurement noise </vt:lpstr>
      <vt:lpstr>Sources of measurement noise </vt:lpstr>
      <vt:lpstr>Sources of measurement noise </vt:lpstr>
      <vt:lpstr>Sources of measurement noise </vt:lpstr>
      <vt:lpstr>Techniques for reducing measurement noise </vt:lpstr>
      <vt:lpstr>Techniques for reducing measurement noise </vt:lpstr>
      <vt:lpstr>Techniques for reducing measurement noise </vt:lpstr>
      <vt:lpstr>Techniques for reducing measurement noise </vt:lpstr>
      <vt:lpstr>Techniques for reducing measurement noise </vt:lpstr>
      <vt:lpstr>Signal processing </vt:lpstr>
      <vt:lpstr>Signal processing </vt:lpstr>
      <vt:lpstr>Signal processing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Measurement noise and signal processing</dc:title>
  <dc:creator>Remotsaletswe Moalosi</dc:creator>
  <cp:lastModifiedBy>Remotsaletswe Moalosi</cp:lastModifiedBy>
  <cp:revision>8</cp:revision>
  <dcterms:created xsi:type="dcterms:W3CDTF">2020-10-23T12:23:37Z</dcterms:created>
  <dcterms:modified xsi:type="dcterms:W3CDTF">2024-10-17T07:28:25Z</dcterms:modified>
</cp:coreProperties>
</file>
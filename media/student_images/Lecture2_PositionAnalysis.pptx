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487" autoAdjust="0"/>
    <p:restoredTop sz="94167" autoAdjust="0"/>
  </p:normalViewPr>
  <p:slideViewPr>
    <p:cSldViewPr showGuides="1">
      <p:cViewPr varScale="1">
        <p:scale>
          <a:sx n="42" d="100"/>
          <a:sy n="42" d="100"/>
        </p:scale>
        <p:origin x="43" y="8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0D53A-A3A9-4785-8F95-13CA35C29A76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0FFDE-72E4-4E33-A11F-D22F07A26A2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597F4A4-11F2-6459-3F3E-BDD7BE73B3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30C74F-FC4A-4120-93C9-99A63F26D720}" type="slidenum">
              <a:rPr lang="en-US" altLang="en-BW"/>
              <a:pPr/>
              <a:t>2</a:t>
            </a:fld>
            <a:endParaRPr lang="en-US" altLang="en-BW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17FB7E73-8698-6004-74F1-9C3D9161BC9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19172A17-A49A-567B-A0C8-EC03DC176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BW" altLang="en-B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A53F7F6-474A-CAE0-4242-C9C18A5B61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AC246D-DE56-4078-BE5A-006B35083766}" type="slidenum">
              <a:rPr lang="en-US" altLang="en-BW"/>
              <a:pPr/>
              <a:t>3</a:t>
            </a:fld>
            <a:endParaRPr lang="en-US" altLang="en-BW"/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49E6256F-BBB0-053F-EE6A-E21424964C2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A7E87E51-54A3-E12E-075F-D5B0B3B04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BW" altLang="en-B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76962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76962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315200" y="6477000"/>
            <a:ext cx="1676400" cy="228600"/>
          </a:xfrm>
        </p:spPr>
        <p:txBody>
          <a:bodyPr/>
          <a:lstStyle>
            <a:lvl1pPr algn="r">
              <a:defRPr sz="1400"/>
            </a:lvl1pPr>
          </a:lstStyle>
          <a:p>
            <a:fld id="{16ABE80F-7490-42C0-A449-3407161CCB89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52400" y="6477000"/>
            <a:ext cx="1219200" cy="243840"/>
          </a:xfrm>
        </p:spPr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81000" y="3657599"/>
            <a:ext cx="8610600" cy="127063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381000" y="5029200"/>
            <a:ext cx="8610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152400" y="36576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152400" y="502920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6477000"/>
            <a:ext cx="1676400" cy="245110"/>
          </a:xfrm>
        </p:spPr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477000"/>
            <a:ext cx="4876800" cy="24511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6477000"/>
            <a:ext cx="1981200" cy="245110"/>
          </a:xfrm>
        </p:spPr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52400" y="838200"/>
            <a:ext cx="8839200" cy="5486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D53685E-644C-414A-A586-AE66AB65FCF9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3B2-BA6B-4ADC-9D13-AAC5D20DAF33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436F-3862-4EFD-8F38-D77C85427AF9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212FC-0C57-4FEB-A6F7-CBD223A536DE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D7C9-5B0B-48F1-9CE5-90A3A8E1F5CC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D8B8A-36F5-497F-B6DF-146C4D1EB8A8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4F57-1167-4A90-8F8D-68FF089445B1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D90F-3595-4CF9-9750-51133462DAFC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179F-7B42-4D3D-9C7F-8A30689D296C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13B04DD5-59C0-7F4B-33F7-27FB0D72BD06}"/>
              </a:ext>
            </a:extLst>
          </p:cNvPr>
          <p:cNvSpPr>
            <a:spLocks noGrp="1"/>
          </p:cNvSpPr>
          <p:nvPr>
            <p:ph type="clipArt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endParaRPr lang="en-B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5269E-B4F7-C161-A723-8F6E88C95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1F602-0DF9-91D5-AF95-67C54DFB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B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CD888-95D7-26EA-BB9C-99AFC4E23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B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F395D-94D2-B58C-21B7-1D3C9EC08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6F50C2C-E23E-465C-8709-72F2C7B08589}" type="slidenum">
              <a:rPr lang="en-US" altLang="en-BW"/>
              <a:pPr/>
              <a:t>‹#›</a:t>
            </a:fld>
            <a:endParaRPr lang="en-US" altLang="en-BW"/>
          </a:p>
        </p:txBody>
      </p:sp>
    </p:spTree>
    <p:extLst>
      <p:ext uri="{BB962C8B-B14F-4D97-AF65-F5344CB8AC3E}">
        <p14:creationId xmlns:p14="http://schemas.microsoft.com/office/powerpoint/2010/main" val="1667179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6C5A4E6-B080-4150-8601-905E77FE1689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ea typeface="굴림" panose="020B0600000101010101" pitchFamily="34" charset="-127"/>
              </a:rPr>
              <a:t>Position Analysis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6F4E-50B7-4B75-B522-7DC0E842F6F9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6086C0A-E22A-C36E-0036-6D7CD8A4F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ext Box 3">
            <a:extLst>
              <a:ext uri="{FF2B5EF4-FFF2-40B4-BE49-F238E27FC236}">
                <a16:creationId xmlns:a16="http://schemas.microsoft.com/office/drawing/2014/main" id="{ADD4ADDB-FDD6-F40E-3DD5-0CCC7A68D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709738"/>
            <a:ext cx="409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9144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3716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8288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2860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7432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32004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6576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41148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2.2 ROBOTS AS MECHANISM</a:t>
            </a:r>
          </a:p>
        </p:txBody>
      </p:sp>
      <p:sp>
        <p:nvSpPr>
          <p:cNvPr id="63494" name="Text Box 6">
            <a:extLst>
              <a:ext uri="{FF2B5EF4-FFF2-40B4-BE49-F238E27FC236}">
                <a16:creationId xmlns:a16="http://schemas.microsoft.com/office/drawing/2014/main" id="{40149D24-3798-8933-CDB4-87176CCAD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638800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2.1 </a:t>
            </a:r>
            <a:r>
              <a:rPr kumimoji="1" lang="en-US" altLang="ko-KR" sz="1200">
                <a:latin typeface="Tahoma" panose="020B0604030504040204" pitchFamily="34" charset="0"/>
              </a:rPr>
              <a:t>A one-degree-of-freedom closed-loop </a:t>
            </a:r>
          </a:p>
          <a:p>
            <a:pPr eaLnBrk="1" latinLnBrk="1" hangingPunct="1"/>
            <a:r>
              <a:rPr kumimoji="1" lang="en-US" altLang="ko-KR" sz="1200">
                <a:latin typeface="Tahoma" panose="020B0604030504040204" pitchFamily="34" charset="0"/>
              </a:rPr>
              <a:t>            four-bar mechanism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  <p:pic>
        <p:nvPicPr>
          <p:cNvPr id="63497" name="Picture 9">
            <a:extLst>
              <a:ext uri="{FF2B5EF4-FFF2-40B4-BE49-F238E27FC236}">
                <a16:creationId xmlns:a16="http://schemas.microsoft.com/office/drawing/2014/main" id="{9C36C79C-6A82-0CC6-447E-3168BD13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657600"/>
            <a:ext cx="2057400" cy="197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498" name="Text Box 10">
            <a:extLst>
              <a:ext uri="{FF2B5EF4-FFF2-40B4-BE49-F238E27FC236}">
                <a16:creationId xmlns:a16="http://schemas.microsoft.com/office/drawing/2014/main" id="{CA159D8F-3F66-8035-4A4F-36C920DF5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0"/>
            <a:ext cx="685958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400">
                <a:solidFill>
                  <a:srgbClr val="33CC33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</a:t>
            </a:r>
            <a:r>
              <a:rPr kumimoji="1" lang="en-US" altLang="ko-KR" sz="2400">
                <a:latin typeface="Tahoma" panose="020B0604030504040204" pitchFamily="34" charset="0"/>
              </a:rPr>
              <a:t>Multiple type robot have multiple DOF.</a:t>
            </a:r>
          </a:p>
          <a:p>
            <a:pPr eaLnBrk="1" latinLnBrk="1" hangingPunct="1"/>
            <a:r>
              <a:rPr kumimoji="1" lang="en-US" altLang="ko-KR" sz="2400">
                <a:latin typeface="Tahoma" panose="020B0604030504040204" pitchFamily="34" charset="0"/>
              </a:rPr>
              <a:t>    (3 Dimensional, open loop, chain mechanisms)</a:t>
            </a:r>
          </a:p>
          <a:p>
            <a:pPr eaLnBrk="1" latinLnBrk="1" hangingPunct="1"/>
            <a:r>
              <a:rPr kumimoji="1" lang="en-US" altLang="ko-KR" sz="2400">
                <a:latin typeface="Tahoma" panose="020B0604030504040204" pitchFamily="34" charset="0"/>
              </a:rPr>
              <a:t>    </a:t>
            </a:r>
            <a:endParaRPr kumimoji="1" lang="ko-KR" altLang="en-US" sz="2000">
              <a:latin typeface="Tahoma" panose="020B0604030504040204" pitchFamily="34" charset="0"/>
            </a:endParaRPr>
          </a:p>
        </p:txBody>
      </p:sp>
      <p:pic>
        <p:nvPicPr>
          <p:cNvPr id="63499" name="Picture 11">
            <a:extLst>
              <a:ext uri="{FF2B5EF4-FFF2-40B4-BE49-F238E27FC236}">
                <a16:creationId xmlns:a16="http://schemas.microsoft.com/office/drawing/2014/main" id="{C54229B9-EF2E-CF24-77F5-C8898436C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352800"/>
            <a:ext cx="42576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500" name="Text Box 12">
            <a:extLst>
              <a:ext uri="{FF2B5EF4-FFF2-40B4-BE49-F238E27FC236}">
                <a16:creationId xmlns:a16="http://schemas.microsoft.com/office/drawing/2014/main" id="{8FED0ADF-0F8A-8788-B634-79EF0E4FF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638800"/>
            <a:ext cx="40386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2.2 (a) </a:t>
            </a:r>
            <a:r>
              <a:rPr kumimoji="1" lang="en-US" altLang="ko-KR" sz="1200">
                <a:latin typeface="Tahoma" panose="020B0604030504040204" pitchFamily="34" charset="0"/>
              </a:rPr>
              <a:t>Closed-loop versus </a:t>
            </a:r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(b) </a:t>
            </a:r>
            <a:r>
              <a:rPr kumimoji="1" lang="en-US" altLang="ko-KR" sz="1200">
                <a:latin typeface="Tahoma" panose="020B0604030504040204" pitchFamily="34" charset="0"/>
              </a:rPr>
              <a:t>open-loop mechanism 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Text Box 3">
            <a:extLst>
              <a:ext uri="{FF2B5EF4-FFF2-40B4-BE49-F238E27FC236}">
                <a16:creationId xmlns:a16="http://schemas.microsoft.com/office/drawing/2014/main" id="{07EF5B17-2812-8948-9219-77F4F8E1E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45339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9144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3716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8288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2860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7432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32004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6576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41148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2.3 MATRIX REPRESENTATION</a:t>
            </a:r>
          </a:p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   </a:t>
            </a:r>
            <a:r>
              <a:rPr lang="en-US" altLang="ko-KR" sz="1800">
                <a:latin typeface="Tahoma" panose="020B0604030504040204" pitchFamily="34" charset="0"/>
              </a:rPr>
              <a:t>2.3.1 Representation of a Point in Space</a:t>
            </a:r>
          </a:p>
        </p:txBody>
      </p:sp>
      <p:sp>
        <p:nvSpPr>
          <p:cNvPr id="64516" name="Text Box 4">
            <a:extLst>
              <a:ext uri="{FF2B5EF4-FFF2-40B4-BE49-F238E27FC236}">
                <a16:creationId xmlns:a16="http://schemas.microsoft.com/office/drawing/2014/main" id="{2159E760-671C-EFA6-3B88-4896F5FA0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6173788"/>
            <a:ext cx="3048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2.3</a:t>
            </a:r>
            <a:r>
              <a:rPr kumimoji="1" lang="en-US" altLang="ko-KR" sz="1200">
                <a:latin typeface="Tahoma" panose="020B0604030504040204" pitchFamily="34" charset="0"/>
              </a:rPr>
              <a:t> Representation of a point in space 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  <p:sp>
        <p:nvSpPr>
          <p:cNvPr id="64518" name="Text Box 6">
            <a:extLst>
              <a:ext uri="{FF2B5EF4-FFF2-40B4-BE49-F238E27FC236}">
                <a16:creationId xmlns:a16="http://schemas.microsoft.com/office/drawing/2014/main" id="{4207FF6B-2474-E92D-BFCE-043D74179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438400"/>
            <a:ext cx="65039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latinLnBrk="1" hangingPunct="1"/>
            <a:r>
              <a:rPr kumimoji="1" lang="en-US" altLang="ko-KR" sz="2400">
                <a:solidFill>
                  <a:srgbClr val="33CC33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</a:t>
            </a:r>
            <a:r>
              <a:rPr kumimoji="1" lang="en-US" altLang="ko-KR" sz="2400">
                <a:latin typeface="Tahoma" panose="020B0604030504040204" pitchFamily="34" charset="0"/>
              </a:rPr>
              <a:t>A point </a:t>
            </a:r>
            <a:r>
              <a:rPr kumimoji="1" lang="en-US" altLang="ko-KR" sz="2400" i="1">
                <a:solidFill>
                  <a:srgbClr val="FF0000"/>
                </a:solidFill>
                <a:latin typeface="Tahoma" panose="020B0604030504040204" pitchFamily="34" charset="0"/>
              </a:rPr>
              <a:t>P</a:t>
            </a:r>
            <a:r>
              <a:rPr kumimoji="1" lang="en-US" altLang="ko-KR" sz="2400">
                <a:latin typeface="Tahoma" panose="020B0604030504040204" pitchFamily="34" charset="0"/>
              </a:rPr>
              <a:t> in space :</a:t>
            </a:r>
          </a:p>
          <a:p>
            <a:pPr eaLnBrk="1" latinLnBrk="1" hangingPunct="1"/>
            <a:r>
              <a:rPr kumimoji="1" lang="ko-KR" altLang="en-US" sz="2400">
                <a:latin typeface="Tahoma" panose="020B0604030504040204" pitchFamily="34" charset="0"/>
              </a:rPr>
              <a:t>      3 </a:t>
            </a:r>
            <a:r>
              <a:rPr kumimoji="1" lang="en-US" altLang="ko-KR" sz="2400">
                <a:latin typeface="Tahoma" panose="020B0604030504040204" pitchFamily="34" charset="0"/>
              </a:rPr>
              <a:t>coordinates relative to a reference frame</a:t>
            </a:r>
            <a:endParaRPr kumimoji="1" lang="ko-KR" altLang="en-US" sz="2400">
              <a:latin typeface="Tahoma" panose="020B0604030504040204" pitchFamily="34" charset="0"/>
            </a:endParaRPr>
          </a:p>
        </p:txBody>
      </p:sp>
      <p:pic>
        <p:nvPicPr>
          <p:cNvPr id="64521" name="Picture 9">
            <a:extLst>
              <a:ext uri="{FF2B5EF4-FFF2-40B4-BE49-F238E27FC236}">
                <a16:creationId xmlns:a16="http://schemas.microsoft.com/office/drawing/2014/main" id="{69179C93-204D-4610-F881-818703146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581400"/>
            <a:ext cx="3429000" cy="259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4531" name="Object 19">
            <a:extLst>
              <a:ext uri="{FF2B5EF4-FFF2-40B4-BE49-F238E27FC236}">
                <a16:creationId xmlns:a16="http://schemas.microsoft.com/office/drawing/2014/main" id="{1F587D82-3179-6A85-D418-56B3DB9736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05438" y="4397375"/>
          <a:ext cx="3262312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291960" progId="Equation.3">
                  <p:embed/>
                </p:oleObj>
              </mc:Choice>
              <mc:Fallback>
                <p:oleObj name="Equation" r:id="rId4" imgW="1143000" imgH="291960" progId="Equation.3">
                  <p:embed/>
                  <p:pic>
                    <p:nvPicPr>
                      <p:cNvPr id="64531" name="Object 19">
                        <a:extLst>
                          <a:ext uri="{FF2B5EF4-FFF2-40B4-BE49-F238E27FC236}">
                            <a16:creationId xmlns:a16="http://schemas.microsoft.com/office/drawing/2014/main" id="{1F587D82-3179-6A85-D418-56B3DB9736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5438" y="4397375"/>
                        <a:ext cx="3262312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Text Box 3">
            <a:extLst>
              <a:ext uri="{FF2B5EF4-FFF2-40B4-BE49-F238E27FC236}">
                <a16:creationId xmlns:a16="http://schemas.microsoft.com/office/drawing/2014/main" id="{9BB713B5-BC9D-14BA-16B6-D505C3C08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4673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9144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3716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8288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2860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7432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32004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6576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41148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2.3 MATRIX REPRESENTATION</a:t>
            </a:r>
          </a:p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   </a:t>
            </a:r>
            <a:r>
              <a:rPr lang="en-US" altLang="ko-KR" sz="1800">
                <a:latin typeface="Tahoma" panose="020B0604030504040204" pitchFamily="34" charset="0"/>
              </a:rPr>
              <a:t>2.3.2 Representation of a Vector in Space</a:t>
            </a:r>
          </a:p>
        </p:txBody>
      </p:sp>
      <p:sp>
        <p:nvSpPr>
          <p:cNvPr id="65540" name="Text Box 4">
            <a:extLst>
              <a:ext uri="{FF2B5EF4-FFF2-40B4-BE49-F238E27FC236}">
                <a16:creationId xmlns:a16="http://schemas.microsoft.com/office/drawing/2014/main" id="{A0205130-7C2D-7AB6-B679-1AC806812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6172200"/>
            <a:ext cx="3124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2.4</a:t>
            </a:r>
            <a:r>
              <a:rPr kumimoji="1" lang="en-US" altLang="ko-KR" sz="1200">
                <a:latin typeface="Tahoma" panose="020B0604030504040204" pitchFamily="34" charset="0"/>
              </a:rPr>
              <a:t> Representation of a vector in space 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  <p:sp>
        <p:nvSpPr>
          <p:cNvPr id="65541" name="Text Box 5">
            <a:extLst>
              <a:ext uri="{FF2B5EF4-FFF2-40B4-BE49-F238E27FC236}">
                <a16:creationId xmlns:a16="http://schemas.microsoft.com/office/drawing/2014/main" id="{B2E11434-C827-9B59-004B-2B270FAF7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438400"/>
            <a:ext cx="7162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2400">
                <a:solidFill>
                  <a:srgbClr val="33CC33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</a:t>
            </a:r>
            <a:r>
              <a:rPr kumimoji="1" lang="en-US" altLang="ko-KR" sz="2400">
                <a:latin typeface="Tahoma" panose="020B0604030504040204" pitchFamily="34" charset="0"/>
              </a:rPr>
              <a:t>A Vector </a:t>
            </a:r>
            <a:r>
              <a:rPr kumimoji="1" lang="en-US" altLang="ko-KR" sz="2400" i="1">
                <a:solidFill>
                  <a:srgbClr val="FF0000"/>
                </a:solidFill>
                <a:latin typeface="Tahoma" panose="020B0604030504040204" pitchFamily="34" charset="0"/>
              </a:rPr>
              <a:t>P</a:t>
            </a:r>
            <a:r>
              <a:rPr kumimoji="1" lang="en-US" altLang="ko-KR" sz="2400">
                <a:latin typeface="Tahoma" panose="020B0604030504040204" pitchFamily="34" charset="0"/>
              </a:rPr>
              <a:t> in space :</a:t>
            </a:r>
          </a:p>
          <a:p>
            <a:pPr eaLnBrk="1" latinLnBrk="1" hangingPunct="1"/>
            <a:r>
              <a:rPr kumimoji="1" lang="en-US" altLang="ko-KR" sz="2400">
                <a:latin typeface="Tahoma" panose="020B0604030504040204" pitchFamily="34" charset="0"/>
              </a:rPr>
              <a:t>              3 coordinates of its tail and of its head</a:t>
            </a:r>
            <a:endParaRPr kumimoji="1" lang="en-US" altLang="ko-KR" sz="2000">
              <a:latin typeface="Tahoma" panose="020B0604030504040204" pitchFamily="34" charset="0"/>
            </a:endParaRPr>
          </a:p>
        </p:txBody>
      </p:sp>
      <p:pic>
        <p:nvPicPr>
          <p:cNvPr id="65544" name="Picture 8">
            <a:extLst>
              <a:ext uri="{FF2B5EF4-FFF2-40B4-BE49-F238E27FC236}">
                <a16:creationId xmlns:a16="http://schemas.microsoft.com/office/drawing/2014/main" id="{9619F0C6-C8CB-0FB7-D791-EC8B26E19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505200"/>
            <a:ext cx="3573463" cy="268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5546" name="Object 10">
            <a:extLst>
              <a:ext uri="{FF2B5EF4-FFF2-40B4-BE49-F238E27FC236}">
                <a16:creationId xmlns:a16="http://schemas.microsoft.com/office/drawing/2014/main" id="{4F21651E-9791-A4A8-390C-4853C56CAB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3581400"/>
          <a:ext cx="24241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304560" progId="Equation.3">
                  <p:embed/>
                </p:oleObj>
              </mc:Choice>
              <mc:Fallback>
                <p:oleObj name="Equation" r:id="rId3" imgW="1143000" imgH="304560" progId="Equation.3">
                  <p:embed/>
                  <p:pic>
                    <p:nvPicPr>
                      <p:cNvPr id="65546" name="Object 10">
                        <a:extLst>
                          <a:ext uri="{FF2B5EF4-FFF2-40B4-BE49-F238E27FC236}">
                            <a16:creationId xmlns:a16="http://schemas.microsoft.com/office/drawing/2014/main" id="{4F21651E-9791-A4A8-390C-4853C56CAB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581400"/>
                        <a:ext cx="24241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7" name="Object 11">
            <a:extLst>
              <a:ext uri="{FF2B5EF4-FFF2-40B4-BE49-F238E27FC236}">
                <a16:creationId xmlns:a16="http://schemas.microsoft.com/office/drawing/2014/main" id="{C0F5FE9D-4293-E02C-79DD-63E987EBC0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4343400"/>
          <a:ext cx="10414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20560" imgH="914400" progId="Equation.3">
                  <p:embed/>
                </p:oleObj>
              </mc:Choice>
              <mc:Fallback>
                <p:oleObj name="Equation" r:id="rId5" imgW="520560" imgH="914400" progId="Equation.3">
                  <p:embed/>
                  <p:pic>
                    <p:nvPicPr>
                      <p:cNvPr id="65547" name="Object 11">
                        <a:extLst>
                          <a:ext uri="{FF2B5EF4-FFF2-40B4-BE49-F238E27FC236}">
                            <a16:creationId xmlns:a16="http://schemas.microsoft.com/office/drawing/2014/main" id="{C0F5FE9D-4293-E02C-79DD-63E987EBC0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343400"/>
                        <a:ext cx="10414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Text Box 3">
            <a:extLst>
              <a:ext uri="{FF2B5EF4-FFF2-40B4-BE49-F238E27FC236}">
                <a16:creationId xmlns:a16="http://schemas.microsoft.com/office/drawing/2014/main" id="{1D71757A-EBC4-2A1E-B69B-94B44094C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79438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9144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3716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8288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2860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7432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32004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6576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41148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2.3 MATRIX REPRESENTATION</a:t>
            </a:r>
          </a:p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   </a:t>
            </a:r>
            <a:r>
              <a:rPr lang="en-US" altLang="ko-KR" sz="1800">
                <a:latin typeface="Tahoma" panose="020B0604030504040204" pitchFamily="34" charset="0"/>
              </a:rPr>
              <a:t>2.3.3 Representation of a Frame at the Origin of a Fixed-Reference Frame</a:t>
            </a:r>
          </a:p>
        </p:txBody>
      </p:sp>
      <p:sp>
        <p:nvSpPr>
          <p:cNvPr id="66564" name="Text Box 4">
            <a:extLst>
              <a:ext uri="{FF2B5EF4-FFF2-40B4-BE49-F238E27FC236}">
                <a16:creationId xmlns:a16="http://schemas.microsoft.com/office/drawing/2014/main" id="{9F0C55FD-EDF1-3B3E-9D49-B64B1EE26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6172200"/>
            <a:ext cx="5029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2.5</a:t>
            </a:r>
            <a:r>
              <a:rPr kumimoji="1" lang="en-US" altLang="ko-KR" sz="1200">
                <a:latin typeface="Tahoma" panose="020B0604030504040204" pitchFamily="34" charset="0"/>
              </a:rPr>
              <a:t> Representation of a frame at the origin of the reference frame 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  <p:sp>
        <p:nvSpPr>
          <p:cNvPr id="66565" name="Text Box 5">
            <a:extLst>
              <a:ext uri="{FF2B5EF4-FFF2-40B4-BE49-F238E27FC236}">
                <a16:creationId xmlns:a16="http://schemas.microsoft.com/office/drawing/2014/main" id="{3B9254CF-D0AB-33E5-FFCF-5FC89AD49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438400"/>
            <a:ext cx="7162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2400">
                <a:solidFill>
                  <a:srgbClr val="33CC33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</a:t>
            </a:r>
            <a:r>
              <a:rPr kumimoji="1" lang="en-US" altLang="ko-KR" sz="2400">
                <a:latin typeface="Tahoma" panose="020B0604030504040204" pitchFamily="34" charset="0"/>
              </a:rPr>
              <a:t>Each Unit Vector is mutually perpendicular. :</a:t>
            </a:r>
          </a:p>
          <a:p>
            <a:pPr eaLnBrk="1" latinLnBrk="1" hangingPunct="1"/>
            <a:r>
              <a:rPr kumimoji="1" lang="en-US" altLang="ko-KR" sz="2400">
                <a:latin typeface="Tahoma" panose="020B0604030504040204" pitchFamily="34" charset="0"/>
              </a:rPr>
              <a:t>                    normal, orientation, approach vector</a:t>
            </a:r>
            <a:endParaRPr kumimoji="1" lang="en-US" altLang="ko-KR" sz="2000">
              <a:latin typeface="Tahoma" panose="020B0604030504040204" pitchFamily="34" charset="0"/>
            </a:endParaRPr>
          </a:p>
        </p:txBody>
      </p:sp>
      <p:pic>
        <p:nvPicPr>
          <p:cNvPr id="66568" name="Picture 8">
            <a:extLst>
              <a:ext uri="{FF2B5EF4-FFF2-40B4-BE49-F238E27FC236}">
                <a16:creationId xmlns:a16="http://schemas.microsoft.com/office/drawing/2014/main" id="{1515D831-52C3-F3B8-7D0A-A8BD7B2F7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505200"/>
            <a:ext cx="3722688" cy="272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6570" name="Object 10">
            <a:extLst>
              <a:ext uri="{FF2B5EF4-FFF2-40B4-BE49-F238E27FC236}">
                <a16:creationId xmlns:a16="http://schemas.microsoft.com/office/drawing/2014/main" id="{6C68C83C-7FFB-D9DA-BB34-397C9859F0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3962400"/>
          <a:ext cx="19812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360" imgH="711000" progId="Equation.3">
                  <p:embed/>
                </p:oleObj>
              </mc:Choice>
              <mc:Fallback>
                <p:oleObj name="Equation" r:id="rId3" imgW="990360" imgH="711000" progId="Equation.3">
                  <p:embed/>
                  <p:pic>
                    <p:nvPicPr>
                      <p:cNvPr id="66570" name="Object 10">
                        <a:extLst>
                          <a:ext uri="{FF2B5EF4-FFF2-40B4-BE49-F238E27FC236}">
                            <a16:creationId xmlns:a16="http://schemas.microsoft.com/office/drawing/2014/main" id="{6C68C83C-7FFB-D9DA-BB34-397C9859F0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962400"/>
                        <a:ext cx="1981200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3">
            <a:extLst>
              <a:ext uri="{FF2B5EF4-FFF2-40B4-BE49-F238E27FC236}">
                <a16:creationId xmlns:a16="http://schemas.microsoft.com/office/drawing/2014/main" id="{8C43EF01-3400-937D-F909-B40220A05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66484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9144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3716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8288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2860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7432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32004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6576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41148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2.3 MATRIX REPRESENTATION</a:t>
            </a:r>
          </a:p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   </a:t>
            </a:r>
            <a:r>
              <a:rPr lang="en-US" altLang="ko-KR" sz="1800">
                <a:latin typeface="Tahoma" panose="020B0604030504040204" pitchFamily="34" charset="0"/>
              </a:rPr>
              <a:t>2.3.4 Representation of a Frame in a Fixed Reference Frame </a:t>
            </a:r>
          </a:p>
        </p:txBody>
      </p:sp>
      <p:sp>
        <p:nvSpPr>
          <p:cNvPr id="67588" name="Text Box 4">
            <a:extLst>
              <a:ext uri="{FF2B5EF4-FFF2-40B4-BE49-F238E27FC236}">
                <a16:creationId xmlns:a16="http://schemas.microsoft.com/office/drawing/2014/main" id="{5C6F1833-405F-7ED4-CBD6-A1651ACF7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6172200"/>
            <a:ext cx="3352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2.6</a:t>
            </a:r>
            <a:r>
              <a:rPr kumimoji="1" lang="en-US" altLang="ko-KR" sz="1200">
                <a:latin typeface="Tahoma" panose="020B0604030504040204" pitchFamily="34" charset="0"/>
              </a:rPr>
              <a:t> Representation of a frame in a frame 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  <p:sp>
        <p:nvSpPr>
          <p:cNvPr id="67589" name="Text Box 5">
            <a:extLst>
              <a:ext uri="{FF2B5EF4-FFF2-40B4-BE49-F238E27FC236}">
                <a16:creationId xmlns:a16="http://schemas.microsoft.com/office/drawing/2014/main" id="{47F75F5A-2C82-0E9E-22FB-06C2FDECF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438400"/>
            <a:ext cx="7162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2400">
                <a:solidFill>
                  <a:srgbClr val="33CC33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</a:t>
            </a:r>
            <a:r>
              <a:rPr kumimoji="1" lang="en-US" altLang="ko-KR" sz="2400">
                <a:latin typeface="Tahoma" panose="020B0604030504040204" pitchFamily="34" charset="0"/>
              </a:rPr>
              <a:t>Each Unit Vector is mutually perpendicular. :</a:t>
            </a:r>
          </a:p>
          <a:p>
            <a:pPr eaLnBrk="1" latinLnBrk="1" hangingPunct="1"/>
            <a:r>
              <a:rPr kumimoji="1" lang="en-US" altLang="ko-KR" sz="2400">
                <a:latin typeface="Tahoma" panose="020B0604030504040204" pitchFamily="34" charset="0"/>
              </a:rPr>
              <a:t>                    normal, orientation, approach vector</a:t>
            </a:r>
            <a:endParaRPr kumimoji="1" lang="en-US" altLang="ko-KR" sz="2000">
              <a:latin typeface="Tahoma" panose="020B0604030504040204" pitchFamily="34" charset="0"/>
            </a:endParaRPr>
          </a:p>
        </p:txBody>
      </p:sp>
      <p:pic>
        <p:nvPicPr>
          <p:cNvPr id="67592" name="Picture 8">
            <a:extLst>
              <a:ext uri="{FF2B5EF4-FFF2-40B4-BE49-F238E27FC236}">
                <a16:creationId xmlns:a16="http://schemas.microsoft.com/office/drawing/2014/main" id="{9010874E-9E13-C402-2530-97A5CB006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429000"/>
            <a:ext cx="3813175" cy="278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7593" name="Object 9">
            <a:extLst>
              <a:ext uri="{FF2B5EF4-FFF2-40B4-BE49-F238E27FC236}">
                <a16:creationId xmlns:a16="http://schemas.microsoft.com/office/drawing/2014/main" id="{6105B08B-A66A-628B-32A9-E81902122E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3886200"/>
          <a:ext cx="24130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06360" imgH="914400" progId="Equation.3">
                  <p:embed/>
                </p:oleObj>
              </mc:Choice>
              <mc:Fallback>
                <p:oleObj name="Equation" r:id="rId3" imgW="1206360" imgH="914400" progId="Equation.3">
                  <p:embed/>
                  <p:pic>
                    <p:nvPicPr>
                      <p:cNvPr id="67593" name="Object 9">
                        <a:extLst>
                          <a:ext uri="{FF2B5EF4-FFF2-40B4-BE49-F238E27FC236}">
                            <a16:creationId xmlns:a16="http://schemas.microsoft.com/office/drawing/2014/main" id="{6105B08B-A66A-628B-32A9-E81902122E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886200"/>
                        <a:ext cx="24130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Text Box 3">
            <a:extLst>
              <a:ext uri="{FF2B5EF4-FFF2-40B4-BE49-F238E27FC236}">
                <a16:creationId xmlns:a16="http://schemas.microsoft.com/office/drawing/2014/main" id="{6489AD71-166B-0D4D-ABB9-4CEA57786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43799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9144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3716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8288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2860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7432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32004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6576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41148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2.3 MATRIX REPRESENTATION</a:t>
            </a:r>
          </a:p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   </a:t>
            </a:r>
            <a:r>
              <a:rPr lang="en-US" altLang="ko-KR" sz="1800">
                <a:latin typeface="Tahoma" panose="020B0604030504040204" pitchFamily="34" charset="0"/>
              </a:rPr>
              <a:t>2.3.5 Representation of a Rigid Body</a:t>
            </a:r>
          </a:p>
        </p:txBody>
      </p:sp>
      <p:sp>
        <p:nvSpPr>
          <p:cNvPr id="68612" name="Text Box 4">
            <a:extLst>
              <a:ext uri="{FF2B5EF4-FFF2-40B4-BE49-F238E27FC236}">
                <a16:creationId xmlns:a16="http://schemas.microsoft.com/office/drawing/2014/main" id="{F54459C4-F58B-D6C5-1EF2-83294EFE0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6172200"/>
            <a:ext cx="3352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2.8</a:t>
            </a:r>
            <a:r>
              <a:rPr kumimoji="1" lang="en-US" altLang="ko-KR" sz="1200">
                <a:latin typeface="Tahoma" panose="020B0604030504040204" pitchFamily="34" charset="0"/>
              </a:rPr>
              <a:t> Representation of an object in space 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  <p:sp>
        <p:nvSpPr>
          <p:cNvPr id="68613" name="Text Box 5">
            <a:extLst>
              <a:ext uri="{FF2B5EF4-FFF2-40B4-BE49-F238E27FC236}">
                <a16:creationId xmlns:a16="http://schemas.microsoft.com/office/drawing/2014/main" id="{3A5DBF5C-E9BB-6EE0-102E-01F5FB8A3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438400"/>
            <a:ext cx="7162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2400">
                <a:solidFill>
                  <a:srgbClr val="33CC33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</a:t>
            </a:r>
            <a:r>
              <a:rPr kumimoji="1" lang="en-US" altLang="ko-KR" sz="2000">
                <a:latin typeface="Tahoma" panose="020B0604030504040204" pitchFamily="34" charset="0"/>
              </a:rPr>
              <a:t>An </a:t>
            </a:r>
            <a:r>
              <a:rPr kumimoji="1" lang="en-US" altLang="ko-KR" sz="2000">
                <a:solidFill>
                  <a:srgbClr val="FF0000"/>
                </a:solidFill>
                <a:latin typeface="Tahoma" panose="020B0604030504040204" pitchFamily="34" charset="0"/>
              </a:rPr>
              <a:t>object</a:t>
            </a:r>
            <a:r>
              <a:rPr kumimoji="1" lang="en-US" altLang="ko-KR" sz="2000">
                <a:latin typeface="Tahoma" panose="020B0604030504040204" pitchFamily="34" charset="0"/>
              </a:rPr>
              <a:t> can be represented in space by </a:t>
            </a:r>
            <a:r>
              <a:rPr kumimoji="1" lang="en-US" altLang="ko-KR" sz="2000">
                <a:solidFill>
                  <a:srgbClr val="FF0000"/>
                </a:solidFill>
                <a:latin typeface="Tahoma" panose="020B0604030504040204" pitchFamily="34" charset="0"/>
              </a:rPr>
              <a:t>attaching a frame</a:t>
            </a:r>
          </a:p>
          <a:p>
            <a:pPr eaLnBrk="1" latinLnBrk="1" hangingPunct="1"/>
            <a:r>
              <a:rPr kumimoji="1" lang="en-US" altLang="ko-KR" sz="2000">
                <a:latin typeface="Tahoma" panose="020B0604030504040204" pitchFamily="34" charset="0"/>
              </a:rPr>
              <a:t>   to it and representing the frame in space.</a:t>
            </a:r>
            <a:r>
              <a:rPr kumimoji="1" lang="en-US" altLang="ko-KR" sz="2400">
                <a:latin typeface="Tahoma" panose="020B0604030504040204" pitchFamily="34" charset="0"/>
              </a:rPr>
              <a:t> </a:t>
            </a:r>
            <a:endParaRPr kumimoji="1" lang="en-US" altLang="ko-KR" sz="2000">
              <a:latin typeface="Tahoma" panose="020B0604030504040204" pitchFamily="34" charset="0"/>
            </a:endParaRPr>
          </a:p>
        </p:txBody>
      </p:sp>
      <p:pic>
        <p:nvPicPr>
          <p:cNvPr id="68615" name="Picture 7">
            <a:extLst>
              <a:ext uri="{FF2B5EF4-FFF2-40B4-BE49-F238E27FC236}">
                <a16:creationId xmlns:a16="http://schemas.microsoft.com/office/drawing/2014/main" id="{C0D0E53E-3EC3-AE7E-DC19-367A62C9F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76600"/>
            <a:ext cx="3495675" cy="286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8616" name="Object 8">
            <a:extLst>
              <a:ext uri="{FF2B5EF4-FFF2-40B4-BE49-F238E27FC236}">
                <a16:creationId xmlns:a16="http://schemas.microsoft.com/office/drawing/2014/main" id="{DB1F3965-78DF-6769-781C-69860B52CF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3200" y="3886200"/>
          <a:ext cx="28194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09400" imgH="914400" progId="Equation.3">
                  <p:embed/>
                </p:oleObj>
              </mc:Choice>
              <mc:Fallback>
                <p:oleObj name="Equation" r:id="rId3" imgW="1409400" imgH="914400" progId="Equation.3">
                  <p:embed/>
                  <p:pic>
                    <p:nvPicPr>
                      <p:cNvPr id="68616" name="Object 8">
                        <a:extLst>
                          <a:ext uri="{FF2B5EF4-FFF2-40B4-BE49-F238E27FC236}">
                            <a16:creationId xmlns:a16="http://schemas.microsoft.com/office/drawing/2014/main" id="{DB1F3965-78DF-6769-781C-69860B52CF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3886200"/>
                        <a:ext cx="28194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Text Box 3">
            <a:extLst>
              <a:ext uri="{FF2B5EF4-FFF2-40B4-BE49-F238E27FC236}">
                <a16:creationId xmlns:a16="http://schemas.microsoft.com/office/drawing/2014/main" id="{5ADEF169-618B-35ED-7397-9CF3EE16C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714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9144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3716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8288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2860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7432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32004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6576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41148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2.4 HOMOGENEOUS TRANSFORMATION MATRICES</a:t>
            </a:r>
            <a:endParaRPr lang="en-US" altLang="ko-KR" sz="1800">
              <a:latin typeface="Tahoma" panose="020B0604030504040204" pitchFamily="34" charset="0"/>
            </a:endParaRPr>
          </a:p>
        </p:txBody>
      </p:sp>
      <p:sp>
        <p:nvSpPr>
          <p:cNvPr id="69637" name="Text Box 5">
            <a:extLst>
              <a:ext uri="{FF2B5EF4-FFF2-40B4-BE49-F238E27FC236}">
                <a16:creationId xmlns:a16="http://schemas.microsoft.com/office/drawing/2014/main" id="{6E854643-E944-C9B7-DDC2-26D3D2741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057400"/>
            <a:ext cx="7848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2400">
                <a:solidFill>
                  <a:srgbClr val="33CC33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</a:t>
            </a:r>
            <a:r>
              <a:rPr kumimoji="1" lang="en-US" altLang="ko-KR" sz="2000">
                <a:latin typeface="Tahoma" panose="020B0604030504040204" pitchFamily="34" charset="0"/>
              </a:rPr>
              <a:t>A </a:t>
            </a:r>
            <a:r>
              <a:rPr kumimoji="1" lang="en-US" altLang="ko-KR" sz="2000">
                <a:solidFill>
                  <a:srgbClr val="FF0000"/>
                </a:solidFill>
                <a:latin typeface="Tahoma" panose="020B0604030504040204" pitchFamily="34" charset="0"/>
              </a:rPr>
              <a:t>transformation matrices</a:t>
            </a:r>
            <a:r>
              <a:rPr kumimoji="1" lang="en-US" altLang="ko-KR" sz="2000">
                <a:latin typeface="Tahoma" panose="020B0604030504040204" pitchFamily="34" charset="0"/>
              </a:rPr>
              <a:t> must be in </a:t>
            </a:r>
            <a:r>
              <a:rPr kumimoji="1" lang="en-US" altLang="ko-KR" sz="2000">
                <a:solidFill>
                  <a:srgbClr val="FF0000"/>
                </a:solidFill>
                <a:latin typeface="Tahoma" panose="020B0604030504040204" pitchFamily="34" charset="0"/>
              </a:rPr>
              <a:t>square form</a:t>
            </a:r>
            <a:r>
              <a:rPr kumimoji="1" lang="en-US" altLang="ko-KR" sz="2000">
                <a:latin typeface="Tahoma" panose="020B0604030504040204" pitchFamily="34" charset="0"/>
              </a:rPr>
              <a:t>. </a:t>
            </a:r>
          </a:p>
          <a:p>
            <a:pPr eaLnBrk="1" latinLnBrk="1" hangingPunct="1"/>
            <a:endParaRPr kumimoji="1" lang="en-US" altLang="ko-KR" sz="2000">
              <a:latin typeface="Tahoma" panose="020B0604030504040204" pitchFamily="34" charset="0"/>
            </a:endParaRPr>
          </a:p>
          <a:p>
            <a:pPr lvl="1" eaLnBrk="1" latinLnBrk="1" hangingPunct="1">
              <a:buFontTx/>
              <a:buChar char="•"/>
            </a:pPr>
            <a:r>
              <a:rPr kumimoji="1" lang="en-US" altLang="ko-KR" sz="2000">
                <a:latin typeface="Tahoma" panose="020B0604030504040204" pitchFamily="34" charset="0"/>
              </a:rPr>
              <a:t>    It is much easier to calculate the inverse of square matrices.</a:t>
            </a:r>
          </a:p>
          <a:p>
            <a:pPr lvl="1" eaLnBrk="1" latinLnBrk="1" hangingPunct="1">
              <a:buFontTx/>
              <a:buChar char="•"/>
            </a:pPr>
            <a:r>
              <a:rPr kumimoji="1" lang="en-US" altLang="ko-KR" sz="2000">
                <a:latin typeface="Tahoma" panose="020B0604030504040204" pitchFamily="34" charset="0"/>
              </a:rPr>
              <a:t>    To multiply two matrices, their dimensions must match.</a:t>
            </a:r>
          </a:p>
        </p:txBody>
      </p:sp>
      <p:graphicFrame>
        <p:nvGraphicFramePr>
          <p:cNvPr id="69639" name="Object 7">
            <a:extLst>
              <a:ext uri="{FF2B5EF4-FFF2-40B4-BE49-F238E27FC236}">
                <a16:creationId xmlns:a16="http://schemas.microsoft.com/office/drawing/2014/main" id="{83755D22-3F1A-95E5-5969-7481E0E7CB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3886200"/>
          <a:ext cx="24130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6360" imgH="914400" progId="Equation.3">
                  <p:embed/>
                </p:oleObj>
              </mc:Choice>
              <mc:Fallback>
                <p:oleObj name="Equation" r:id="rId2" imgW="1206360" imgH="914400" progId="Equation.3">
                  <p:embed/>
                  <p:pic>
                    <p:nvPicPr>
                      <p:cNvPr id="69639" name="Object 7">
                        <a:extLst>
                          <a:ext uri="{FF2B5EF4-FFF2-40B4-BE49-F238E27FC236}">
                            <a16:creationId xmlns:a16="http://schemas.microsoft.com/office/drawing/2014/main" id="{83755D22-3F1A-95E5-5969-7481E0E7CB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886200"/>
                        <a:ext cx="24130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Text Box 3">
            <a:extLst>
              <a:ext uri="{FF2B5EF4-FFF2-40B4-BE49-F238E27FC236}">
                <a16:creationId xmlns:a16="http://schemas.microsoft.com/office/drawing/2014/main" id="{1218B857-FAB6-3533-01F1-221131E0E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63436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9144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3716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8288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2860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7432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32004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6576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41148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2.5 REPRESENTATION OF TRANSFORMATINS</a:t>
            </a:r>
          </a:p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 </a:t>
            </a:r>
            <a:r>
              <a:rPr lang="en-US" altLang="ko-KR" sz="1800">
                <a:latin typeface="Tahoma" panose="020B0604030504040204" pitchFamily="34" charset="0"/>
              </a:rPr>
              <a:t>2.5.1 Representation of a Pure Translation</a:t>
            </a:r>
            <a:r>
              <a:rPr lang="en-US" altLang="ko-KR" sz="200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70660" name="Text Box 4">
            <a:extLst>
              <a:ext uri="{FF2B5EF4-FFF2-40B4-BE49-F238E27FC236}">
                <a16:creationId xmlns:a16="http://schemas.microsoft.com/office/drawing/2014/main" id="{B6418CE3-9286-AB4E-492F-C87269E45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172200"/>
            <a:ext cx="3886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2.9</a:t>
            </a:r>
            <a:r>
              <a:rPr kumimoji="1" lang="en-US" altLang="ko-KR" sz="1200">
                <a:latin typeface="Tahoma" panose="020B0604030504040204" pitchFamily="34" charset="0"/>
              </a:rPr>
              <a:t> Representation of an pure translation in space 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  <p:sp>
        <p:nvSpPr>
          <p:cNvPr id="70661" name="Text Box 5">
            <a:extLst>
              <a:ext uri="{FF2B5EF4-FFF2-40B4-BE49-F238E27FC236}">
                <a16:creationId xmlns:a16="http://schemas.microsoft.com/office/drawing/2014/main" id="{5BEB54CB-1180-86D9-EC88-DDFC535DE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362200"/>
            <a:ext cx="7848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2400">
                <a:solidFill>
                  <a:srgbClr val="33CC33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</a:t>
            </a:r>
            <a:r>
              <a:rPr kumimoji="1" lang="en-US" altLang="ko-KR" sz="2000">
                <a:latin typeface="Tahoma" panose="020B0604030504040204" pitchFamily="34" charset="0"/>
              </a:rPr>
              <a:t>A </a:t>
            </a:r>
            <a:r>
              <a:rPr kumimoji="1" lang="en-US" altLang="ko-KR" sz="2000">
                <a:solidFill>
                  <a:srgbClr val="FF0000"/>
                </a:solidFill>
                <a:latin typeface="Tahoma" panose="020B0604030504040204" pitchFamily="34" charset="0"/>
              </a:rPr>
              <a:t>transformation </a:t>
            </a:r>
            <a:r>
              <a:rPr kumimoji="1" lang="en-US" altLang="ko-KR" sz="2000">
                <a:latin typeface="Tahoma" panose="020B0604030504040204" pitchFamily="34" charset="0"/>
              </a:rPr>
              <a:t>is defined as making a movement in space. </a:t>
            </a:r>
          </a:p>
          <a:p>
            <a:pPr lvl="1" eaLnBrk="1" latinLnBrk="1" hangingPunct="1">
              <a:buFontTx/>
              <a:buChar char="•"/>
            </a:pPr>
            <a:r>
              <a:rPr kumimoji="1" lang="en-US" altLang="ko-KR" sz="2000">
                <a:latin typeface="Tahoma" panose="020B0604030504040204" pitchFamily="34" charset="0"/>
              </a:rPr>
              <a:t> A pure translation.</a:t>
            </a:r>
          </a:p>
          <a:p>
            <a:pPr lvl="1" eaLnBrk="1" latinLnBrk="1" hangingPunct="1">
              <a:buFontTx/>
              <a:buChar char="•"/>
            </a:pPr>
            <a:r>
              <a:rPr kumimoji="1" lang="en-US" altLang="ko-KR" sz="2000">
                <a:latin typeface="Tahoma" panose="020B0604030504040204" pitchFamily="34" charset="0"/>
              </a:rPr>
              <a:t> A pure rotation about an axis.</a:t>
            </a:r>
          </a:p>
          <a:p>
            <a:pPr lvl="1" eaLnBrk="1" latinLnBrk="1" hangingPunct="1">
              <a:buFontTx/>
              <a:buChar char="•"/>
            </a:pPr>
            <a:r>
              <a:rPr kumimoji="1" lang="en-US" altLang="ko-KR" sz="2000">
                <a:latin typeface="Tahoma" panose="020B0604030504040204" pitchFamily="34" charset="0"/>
              </a:rPr>
              <a:t> A combination of translation or rotations.</a:t>
            </a:r>
          </a:p>
        </p:txBody>
      </p:sp>
      <p:pic>
        <p:nvPicPr>
          <p:cNvPr id="70663" name="Picture 7">
            <a:extLst>
              <a:ext uri="{FF2B5EF4-FFF2-40B4-BE49-F238E27FC236}">
                <a16:creationId xmlns:a16="http://schemas.microsoft.com/office/drawing/2014/main" id="{CF4B61C8-6327-D1EE-76EB-B4128EC59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86200"/>
            <a:ext cx="3873500" cy="230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0664" name="Object 8">
            <a:extLst>
              <a:ext uri="{FF2B5EF4-FFF2-40B4-BE49-F238E27FC236}">
                <a16:creationId xmlns:a16="http://schemas.microsoft.com/office/drawing/2014/main" id="{2BF2BF8A-2D19-D678-D2E1-20DFE6F27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7200" y="4191000"/>
          <a:ext cx="20066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02960" imgH="914400" progId="Equation.3">
                  <p:embed/>
                </p:oleObj>
              </mc:Choice>
              <mc:Fallback>
                <p:oleObj name="Equation" r:id="rId3" imgW="1002960" imgH="914400" progId="Equation.3">
                  <p:embed/>
                  <p:pic>
                    <p:nvPicPr>
                      <p:cNvPr id="70664" name="Object 8">
                        <a:extLst>
                          <a:ext uri="{FF2B5EF4-FFF2-40B4-BE49-F238E27FC236}">
                            <a16:creationId xmlns:a16="http://schemas.microsoft.com/office/drawing/2014/main" id="{2BF2BF8A-2D19-D678-D2E1-20DFE6F27A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4191000"/>
                        <a:ext cx="20066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3">
            <a:extLst>
              <a:ext uri="{FF2B5EF4-FFF2-40B4-BE49-F238E27FC236}">
                <a16:creationId xmlns:a16="http://schemas.microsoft.com/office/drawing/2014/main" id="{E8009834-13EB-C112-C2C9-FA9265E6D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63436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9144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3716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8288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2860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7432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32004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6576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41148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2.5 REPRESENTATION OF TRANSFORMATINS</a:t>
            </a:r>
          </a:p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 </a:t>
            </a:r>
            <a:r>
              <a:rPr lang="en-US" altLang="ko-KR" sz="1800">
                <a:latin typeface="Tahoma" panose="020B0604030504040204" pitchFamily="34" charset="0"/>
              </a:rPr>
              <a:t>2.5.2 Representation of a Pure Rotation about an Axis</a:t>
            </a:r>
            <a:r>
              <a:rPr lang="en-US" altLang="ko-KR" sz="200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71684" name="Text Box 4">
            <a:extLst>
              <a:ext uri="{FF2B5EF4-FFF2-40B4-BE49-F238E27FC236}">
                <a16:creationId xmlns:a16="http://schemas.microsoft.com/office/drawing/2014/main" id="{70C5C1B0-E1FA-6179-B70F-33D62D0A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715000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2.10</a:t>
            </a:r>
            <a:r>
              <a:rPr kumimoji="1" lang="en-US" altLang="ko-KR" sz="1200">
                <a:latin typeface="Tahoma" panose="020B0604030504040204" pitchFamily="34" charset="0"/>
              </a:rPr>
              <a:t> Coordinates of a point in a rotating    </a:t>
            </a:r>
          </a:p>
          <a:p>
            <a:pPr eaLnBrk="1" latinLnBrk="1" hangingPunct="1"/>
            <a:r>
              <a:rPr kumimoji="1" lang="en-US" altLang="ko-KR" sz="1200">
                <a:latin typeface="Tahoma" panose="020B0604030504040204" pitchFamily="34" charset="0"/>
              </a:rPr>
              <a:t>              frame before and after rotation. 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  <p:sp>
        <p:nvSpPr>
          <p:cNvPr id="71685" name="Text Box 5">
            <a:extLst>
              <a:ext uri="{FF2B5EF4-FFF2-40B4-BE49-F238E27FC236}">
                <a16:creationId xmlns:a16="http://schemas.microsoft.com/office/drawing/2014/main" id="{D9C36A99-2357-6BC3-7613-E28DA279C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3622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2400">
                <a:solidFill>
                  <a:srgbClr val="33CC33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</a:t>
            </a:r>
            <a:r>
              <a:rPr kumimoji="1" lang="en-US" altLang="ko-KR" sz="2000">
                <a:latin typeface="Tahoma" panose="020B0604030504040204" pitchFamily="34" charset="0"/>
              </a:rPr>
              <a:t>Assumption : </a:t>
            </a:r>
            <a:r>
              <a:rPr kumimoji="1" lang="en-US" altLang="ko-KR" sz="1600">
                <a:latin typeface="Tahoma" panose="020B0604030504040204" pitchFamily="34" charset="0"/>
              </a:rPr>
              <a:t>The frame is at the origin of the reference frame and parallel to it.</a:t>
            </a:r>
          </a:p>
        </p:txBody>
      </p:sp>
      <p:pic>
        <p:nvPicPr>
          <p:cNvPr id="71687" name="Picture 7">
            <a:extLst>
              <a:ext uri="{FF2B5EF4-FFF2-40B4-BE49-F238E27FC236}">
                <a16:creationId xmlns:a16="http://schemas.microsoft.com/office/drawing/2014/main" id="{144CDC31-9452-0F63-5760-819E3C647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276600"/>
            <a:ext cx="4557713" cy="223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88" name="Picture 8">
            <a:extLst>
              <a:ext uri="{FF2B5EF4-FFF2-40B4-BE49-F238E27FC236}">
                <a16:creationId xmlns:a16="http://schemas.microsoft.com/office/drawing/2014/main" id="{D670246E-F8C4-4C2B-DBC9-52D22435F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895600"/>
            <a:ext cx="38862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689" name="Text Box 9">
            <a:extLst>
              <a:ext uri="{FF2B5EF4-FFF2-40B4-BE49-F238E27FC236}">
                <a16:creationId xmlns:a16="http://schemas.microsoft.com/office/drawing/2014/main" id="{2B9A6123-7DAE-C55A-6D8E-91CA97DDB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6096000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2.11</a:t>
            </a:r>
            <a:r>
              <a:rPr kumimoji="1" lang="en-US" altLang="ko-KR" sz="1200">
                <a:latin typeface="Tahoma" panose="020B0604030504040204" pitchFamily="34" charset="0"/>
              </a:rPr>
              <a:t> Coordinates of a point relative to the reference</a:t>
            </a:r>
          </a:p>
          <a:p>
            <a:pPr eaLnBrk="1" latinLnBrk="1" hangingPunct="1"/>
            <a:r>
              <a:rPr kumimoji="1" lang="en-US" altLang="ko-KR" sz="1200">
                <a:latin typeface="Tahoma" panose="020B0604030504040204" pitchFamily="34" charset="0"/>
              </a:rPr>
              <a:t>             frame and rotating frame as viewed from the </a:t>
            </a:r>
            <a:r>
              <a:rPr kumimoji="1" lang="en-US" altLang="ko-KR" sz="1200" i="1">
                <a:latin typeface="Tahoma" panose="020B0604030504040204" pitchFamily="34" charset="0"/>
              </a:rPr>
              <a:t>x</a:t>
            </a:r>
            <a:r>
              <a:rPr kumimoji="1" lang="en-US" altLang="ko-KR" sz="1200">
                <a:latin typeface="Tahoma" panose="020B0604030504040204" pitchFamily="34" charset="0"/>
              </a:rPr>
              <a:t>-axis. 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Text Box 3">
            <a:extLst>
              <a:ext uri="{FF2B5EF4-FFF2-40B4-BE49-F238E27FC236}">
                <a16:creationId xmlns:a16="http://schemas.microsoft.com/office/drawing/2014/main" id="{4586026E-53D0-98FA-2302-21A4436BD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63436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9144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3716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8288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2860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7432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32004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6576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41148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2.5 REPRESENTATION OF TRANSFORMATINS</a:t>
            </a:r>
          </a:p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 </a:t>
            </a:r>
            <a:r>
              <a:rPr lang="en-US" altLang="ko-KR" sz="1800">
                <a:latin typeface="Tahoma" panose="020B0604030504040204" pitchFamily="34" charset="0"/>
              </a:rPr>
              <a:t>2.5.3 Representation of Combined Transformations </a:t>
            </a:r>
            <a:endParaRPr lang="en-US" altLang="ko-KR" sz="2000">
              <a:latin typeface="Tahoma" panose="020B0604030504040204" pitchFamily="34" charset="0"/>
            </a:endParaRPr>
          </a:p>
        </p:txBody>
      </p:sp>
      <p:sp>
        <p:nvSpPr>
          <p:cNvPr id="72708" name="Text Box 4">
            <a:extLst>
              <a:ext uri="{FF2B5EF4-FFF2-40B4-BE49-F238E27FC236}">
                <a16:creationId xmlns:a16="http://schemas.microsoft.com/office/drawing/2014/main" id="{BECBAD3F-F19B-A271-948C-47AD7D53A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310313"/>
            <a:ext cx="3810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2.13</a:t>
            </a:r>
            <a:r>
              <a:rPr kumimoji="1" lang="en-US" altLang="ko-KR" sz="1200">
                <a:latin typeface="Tahoma" panose="020B0604030504040204" pitchFamily="34" charset="0"/>
              </a:rPr>
              <a:t> Effects of three successive transformations 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  <p:sp>
        <p:nvSpPr>
          <p:cNvPr id="72709" name="Text Box 5">
            <a:extLst>
              <a:ext uri="{FF2B5EF4-FFF2-40B4-BE49-F238E27FC236}">
                <a16:creationId xmlns:a16="http://schemas.microsoft.com/office/drawing/2014/main" id="{235A83B5-72BD-2B5D-C6E6-FC21B724D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3622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2400">
                <a:solidFill>
                  <a:srgbClr val="33CC33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</a:t>
            </a:r>
            <a:r>
              <a:rPr kumimoji="1" lang="en-US" altLang="ko-KR" sz="2000">
                <a:latin typeface="Tahoma" panose="020B0604030504040204" pitchFamily="34" charset="0"/>
              </a:rPr>
              <a:t>A number of successive translations and rotations</a:t>
            </a:r>
            <a:r>
              <a:rPr kumimoji="1" lang="en-US" altLang="ko-KR" sz="2000">
                <a:latin typeface="Times New Roman" panose="02020603050405020304" pitchFamily="18" charset="0"/>
              </a:rPr>
              <a:t>…</a:t>
            </a:r>
            <a:r>
              <a:rPr kumimoji="1" lang="en-US" altLang="ko-KR" sz="2000">
                <a:latin typeface="Tahoma" panose="020B0604030504040204" pitchFamily="34" charset="0"/>
              </a:rPr>
              <a:t>.</a:t>
            </a:r>
            <a:endParaRPr kumimoji="1" lang="en-US" altLang="ko-KR" sz="1600">
              <a:latin typeface="Tahoma" panose="020B0604030504040204" pitchFamily="34" charset="0"/>
            </a:endParaRPr>
          </a:p>
        </p:txBody>
      </p:sp>
      <p:pic>
        <p:nvPicPr>
          <p:cNvPr id="72713" name="Picture 9">
            <a:extLst>
              <a:ext uri="{FF2B5EF4-FFF2-40B4-BE49-F238E27FC236}">
                <a16:creationId xmlns:a16="http://schemas.microsoft.com/office/drawing/2014/main" id="{AA53AB8A-6326-5290-204D-8EAEC243B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95600"/>
            <a:ext cx="3736975" cy="336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714" name="Picture 10">
            <a:extLst>
              <a:ext uri="{FF2B5EF4-FFF2-40B4-BE49-F238E27FC236}">
                <a16:creationId xmlns:a16="http://schemas.microsoft.com/office/drawing/2014/main" id="{33FEAB6C-9DC8-BD6F-0484-0F87F907C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743200"/>
            <a:ext cx="3581400" cy="357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715" name="Text Box 11">
            <a:extLst>
              <a:ext uri="{FF2B5EF4-FFF2-40B4-BE49-F238E27FC236}">
                <a16:creationId xmlns:a16="http://schemas.microsoft.com/office/drawing/2014/main" id="{820093F0-A5F9-0222-126A-DA60DCFFB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63246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2.14</a:t>
            </a:r>
            <a:r>
              <a:rPr kumimoji="1" lang="en-US" altLang="ko-KR" sz="1200">
                <a:latin typeface="Tahoma" panose="020B0604030504040204" pitchFamily="34" charset="0"/>
              </a:rPr>
              <a:t> Changing the order of transformations will </a:t>
            </a:r>
          </a:p>
          <a:p>
            <a:pPr eaLnBrk="1" latinLnBrk="1" hangingPunct="1"/>
            <a:r>
              <a:rPr kumimoji="1" lang="en-US" altLang="ko-KR" sz="1200">
                <a:latin typeface="Tahoma" panose="020B0604030504040204" pitchFamily="34" charset="0"/>
              </a:rPr>
              <a:t>              change the final result 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Text Box 3">
            <a:extLst>
              <a:ext uri="{FF2B5EF4-FFF2-40B4-BE49-F238E27FC236}">
                <a16:creationId xmlns:a16="http://schemas.microsoft.com/office/drawing/2014/main" id="{93FEC07E-E49F-E562-8078-8A30C27BF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63436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9144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3716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8288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2860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7432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32004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6576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41148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2.5 REPRESENTATION OF TRANSFORMATINS</a:t>
            </a:r>
          </a:p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 </a:t>
            </a:r>
            <a:r>
              <a:rPr lang="en-US" altLang="ko-KR" sz="1800">
                <a:latin typeface="Tahoma" panose="020B0604030504040204" pitchFamily="34" charset="0"/>
              </a:rPr>
              <a:t>2.5.5 Transformations Relative to the Rotating Frame </a:t>
            </a:r>
            <a:endParaRPr lang="en-US" altLang="ko-KR" sz="2000">
              <a:latin typeface="Tahoma" panose="020B0604030504040204" pitchFamily="34" charset="0"/>
            </a:endParaRPr>
          </a:p>
        </p:txBody>
      </p:sp>
      <p:sp>
        <p:nvSpPr>
          <p:cNvPr id="73732" name="Text Box 4">
            <a:extLst>
              <a:ext uri="{FF2B5EF4-FFF2-40B4-BE49-F238E27FC236}">
                <a16:creationId xmlns:a16="http://schemas.microsoft.com/office/drawing/2014/main" id="{82A27E09-EBD5-8121-37F9-F3F804740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507163"/>
            <a:ext cx="4114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2.15</a:t>
            </a:r>
            <a:r>
              <a:rPr kumimoji="1" lang="en-US" altLang="ko-KR" sz="1200">
                <a:latin typeface="Tahoma" panose="020B0604030504040204" pitchFamily="34" charset="0"/>
              </a:rPr>
              <a:t> Transformations relative to the current frames. 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  <p:sp>
        <p:nvSpPr>
          <p:cNvPr id="73733" name="Text Box 5">
            <a:extLst>
              <a:ext uri="{FF2B5EF4-FFF2-40B4-BE49-F238E27FC236}">
                <a16:creationId xmlns:a16="http://schemas.microsoft.com/office/drawing/2014/main" id="{BADF483E-BFA5-5E0C-A49A-9C10719D8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3622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2400">
                <a:solidFill>
                  <a:srgbClr val="33CC33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</a:t>
            </a:r>
            <a:r>
              <a:rPr kumimoji="1" lang="en-US" altLang="ko-KR" sz="2000">
                <a:solidFill>
                  <a:srgbClr val="33CC33"/>
                </a:solidFill>
                <a:latin typeface="Tahoma" panose="020B0604030504040204" pitchFamily="34" charset="0"/>
              </a:rPr>
              <a:t>E</a:t>
            </a:r>
            <a:r>
              <a:rPr kumimoji="1" lang="en-US" altLang="ko-KR" sz="1400">
                <a:solidFill>
                  <a:srgbClr val="33CC33"/>
                </a:solidFill>
                <a:latin typeface="Tahoma" panose="020B0604030504040204" pitchFamily="34" charset="0"/>
              </a:rPr>
              <a:t>xample 2.8</a:t>
            </a:r>
          </a:p>
        </p:txBody>
      </p:sp>
      <p:pic>
        <p:nvPicPr>
          <p:cNvPr id="73735" name="Picture 7">
            <a:extLst>
              <a:ext uri="{FF2B5EF4-FFF2-40B4-BE49-F238E27FC236}">
                <a16:creationId xmlns:a16="http://schemas.microsoft.com/office/drawing/2014/main" id="{2E07447F-A22E-2615-09A1-4648CD317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895600"/>
            <a:ext cx="4176713" cy="353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Text Box 3">
            <a:extLst>
              <a:ext uri="{FF2B5EF4-FFF2-40B4-BE49-F238E27FC236}">
                <a16:creationId xmlns:a16="http://schemas.microsoft.com/office/drawing/2014/main" id="{03658418-CE2F-C8C4-F7A4-9EC58762F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6813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9144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3716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8288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2860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7432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32004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6576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41148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2.6 INVERSE OF TRANSFORMATION MATIRICES </a:t>
            </a:r>
            <a:endParaRPr lang="en-US" altLang="ko-KR" sz="2000">
              <a:latin typeface="Tahoma" panose="020B0604030504040204" pitchFamily="34" charset="0"/>
            </a:endParaRPr>
          </a:p>
        </p:txBody>
      </p:sp>
      <p:sp>
        <p:nvSpPr>
          <p:cNvPr id="74756" name="Text Box 4">
            <a:extLst>
              <a:ext uri="{FF2B5EF4-FFF2-40B4-BE49-F238E27FC236}">
                <a16:creationId xmlns:a16="http://schemas.microsoft.com/office/drawing/2014/main" id="{B0EEE124-6A75-805C-E805-85F8773CE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248400"/>
            <a:ext cx="4724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2.16</a:t>
            </a:r>
            <a:r>
              <a:rPr kumimoji="1" lang="en-US" altLang="ko-KR" sz="1200">
                <a:latin typeface="Tahoma" panose="020B0604030504040204" pitchFamily="34" charset="0"/>
              </a:rPr>
              <a:t> The Universe, robot, hand, part, and end effecter frames. 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  <p:pic>
        <p:nvPicPr>
          <p:cNvPr id="74759" name="Picture 7">
            <a:extLst>
              <a:ext uri="{FF2B5EF4-FFF2-40B4-BE49-F238E27FC236}">
                <a16:creationId xmlns:a16="http://schemas.microsoft.com/office/drawing/2014/main" id="{CC69FE33-C2F7-339A-4FBC-5B181372C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657600"/>
            <a:ext cx="5638800" cy="250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760" name="Text Box 8">
            <a:extLst>
              <a:ext uri="{FF2B5EF4-FFF2-40B4-BE49-F238E27FC236}">
                <a16:creationId xmlns:a16="http://schemas.microsoft.com/office/drawing/2014/main" id="{458EFDA2-0E15-1C28-531A-8B65269E7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81200"/>
            <a:ext cx="8077200" cy="158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2400">
                <a:solidFill>
                  <a:srgbClr val="33CC33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</a:t>
            </a:r>
            <a:r>
              <a:rPr kumimoji="1" lang="en-US" altLang="ko-KR" sz="2000">
                <a:latin typeface="Tahoma" panose="020B0604030504040204" pitchFamily="34" charset="0"/>
              </a:rPr>
              <a:t>Inverse of a matrix calculation steps : </a:t>
            </a:r>
          </a:p>
          <a:p>
            <a:pPr eaLnBrk="1" latinLnBrk="1" hangingPunct="1"/>
            <a:r>
              <a:rPr kumimoji="1" lang="en-US" altLang="ko-KR" sz="2000">
                <a:latin typeface="Tahoma" panose="020B0604030504040204" pitchFamily="34" charset="0"/>
              </a:rPr>
              <a:t>    </a:t>
            </a:r>
            <a:r>
              <a:rPr kumimoji="1" lang="en-US" altLang="ko-KR">
                <a:solidFill>
                  <a:srgbClr val="CC00CC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 Calculate the determinant of the matrix.</a:t>
            </a:r>
          </a:p>
          <a:p>
            <a:pPr eaLnBrk="1" latinLnBrk="1" hangingPunct="1"/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      </a:t>
            </a:r>
            <a:r>
              <a:rPr kumimoji="1" lang="en-US" altLang="ko-KR">
                <a:solidFill>
                  <a:srgbClr val="CC00CC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 Transpose the matrix.</a:t>
            </a:r>
          </a:p>
          <a:p>
            <a:pPr eaLnBrk="1" latinLnBrk="1" hangingPunct="1"/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      </a:t>
            </a:r>
            <a:r>
              <a:rPr kumimoji="1" lang="en-US" altLang="ko-KR">
                <a:solidFill>
                  <a:srgbClr val="CC00CC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 Replace each element of the transposed matrix by its own minor(adjoint matrix).</a:t>
            </a:r>
          </a:p>
          <a:p>
            <a:pPr eaLnBrk="1" latinLnBrk="1" hangingPunct="1"/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      </a:t>
            </a:r>
            <a:r>
              <a:rPr kumimoji="1" lang="en-US" altLang="ko-KR">
                <a:solidFill>
                  <a:srgbClr val="CC00CC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 Divide the converted matrix by the determinant.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Text Box 3">
            <a:extLst>
              <a:ext uri="{FF2B5EF4-FFF2-40B4-BE49-F238E27FC236}">
                <a16:creationId xmlns:a16="http://schemas.microsoft.com/office/drawing/2014/main" id="{FEA690D8-79E7-8B90-54DD-36D8FF504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7739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9144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3716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8288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286000" indent="-457200" latinLnBrk="1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7432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32004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6576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4114800" indent="-4572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2.7 FORWARD AND INVERSE KINEMATICS OF ROBOTS </a:t>
            </a:r>
            <a:endParaRPr lang="en-US" altLang="ko-KR" sz="2000">
              <a:latin typeface="Tahoma" panose="020B0604030504040204" pitchFamily="34" charset="0"/>
            </a:endParaRPr>
          </a:p>
        </p:txBody>
      </p:sp>
      <p:sp>
        <p:nvSpPr>
          <p:cNvPr id="75780" name="Text Box 4">
            <a:extLst>
              <a:ext uri="{FF2B5EF4-FFF2-40B4-BE49-F238E27FC236}">
                <a16:creationId xmlns:a16="http://schemas.microsoft.com/office/drawing/2014/main" id="{A0844B47-E516-25E2-43EA-757BC2D99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6400800"/>
            <a:ext cx="487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1200">
                <a:solidFill>
                  <a:schemeClr val="tx2"/>
                </a:solidFill>
                <a:latin typeface="Tahoma" panose="020B0604030504040204" pitchFamily="34" charset="0"/>
              </a:rPr>
              <a:t>Fig. 2.17</a:t>
            </a:r>
            <a:r>
              <a:rPr kumimoji="1" lang="en-US" altLang="ko-KR" sz="1200">
                <a:latin typeface="Tahoma" panose="020B0604030504040204" pitchFamily="34" charset="0"/>
              </a:rPr>
              <a:t> The hand frame of the robot relative to the reference frame. </a:t>
            </a:r>
            <a:endParaRPr kumimoji="1" lang="en-US" altLang="ko-KR" sz="800">
              <a:latin typeface="Tahoma" panose="020B0604030504040204" pitchFamily="34" charset="0"/>
            </a:endParaRPr>
          </a:p>
        </p:txBody>
      </p:sp>
      <p:sp>
        <p:nvSpPr>
          <p:cNvPr id="75781" name="Text Box 5">
            <a:extLst>
              <a:ext uri="{FF2B5EF4-FFF2-40B4-BE49-F238E27FC236}">
                <a16:creationId xmlns:a16="http://schemas.microsoft.com/office/drawing/2014/main" id="{1D9C1F63-EFD0-1671-AB1D-A04F8E6D1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81200"/>
            <a:ext cx="8077200" cy="158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/>
            <a:r>
              <a:rPr kumimoji="1" lang="en-US" altLang="ko-KR" sz="2400">
                <a:solidFill>
                  <a:srgbClr val="33CC33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</a:t>
            </a:r>
            <a:r>
              <a:rPr kumimoji="1" lang="en-US" altLang="ko-KR" sz="2000">
                <a:latin typeface="Tahoma" panose="020B0604030504040204" pitchFamily="34" charset="0"/>
              </a:rPr>
              <a:t>Forward Kinematics Analysis: </a:t>
            </a:r>
          </a:p>
          <a:p>
            <a:pPr eaLnBrk="1" latinLnBrk="1" hangingPunct="1"/>
            <a:r>
              <a:rPr kumimoji="1" lang="en-US" altLang="ko-KR" sz="2000">
                <a:latin typeface="Tahoma" panose="020B0604030504040204" pitchFamily="34" charset="0"/>
              </a:rPr>
              <a:t>    </a:t>
            </a:r>
            <a:r>
              <a:rPr kumimoji="1" lang="en-US" altLang="ko-KR">
                <a:solidFill>
                  <a:srgbClr val="CC00CC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 Calculating the position and orientation of the hand of the robot. </a:t>
            </a:r>
          </a:p>
          <a:p>
            <a:pPr eaLnBrk="1" latinLnBrk="1" hangingPunct="1"/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      </a:t>
            </a:r>
            <a:r>
              <a:rPr kumimoji="1" lang="en-US" altLang="ko-KR">
                <a:solidFill>
                  <a:srgbClr val="CC00CC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 If all robot joint variables are known, one can calculate where the robot is </a:t>
            </a:r>
          </a:p>
          <a:p>
            <a:pPr eaLnBrk="1" latinLnBrk="1" hangingPunct="1"/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         at any instant.</a:t>
            </a:r>
          </a:p>
          <a:p>
            <a:pPr eaLnBrk="1" latinLnBrk="1" hangingPunct="1"/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      </a:t>
            </a:r>
            <a:r>
              <a:rPr kumimoji="1" lang="en-US" altLang="ko-KR">
                <a:solidFill>
                  <a:srgbClr val="CC00CC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•</a:t>
            </a:r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 </a:t>
            </a:r>
            <a:r>
              <a:rPr kumimoji="1" lang="en-US" altLang="ko-KR">
                <a:solidFill>
                  <a:srgbClr val="FF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Recall</a:t>
            </a:r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 Chap</a:t>
            </a:r>
            <a:r>
              <a:rPr kumimoji="1" lang="en-US" altLang="ko-KR">
                <a:latin typeface="Times New Roman" panose="02020603050405020304" pitchFamily="18" charset="0"/>
              </a:rPr>
              <a:t>t</a:t>
            </a:r>
            <a:r>
              <a:rPr kumimoji="1" lang="en-US" altLang="ko-KR">
                <a:latin typeface="Times New Roman" panose="02020603050405020304" pitchFamily="18" charset="0"/>
                <a:cs typeface="Tahoma" panose="020B0604030504040204" pitchFamily="34" charset="0"/>
              </a:rPr>
              <a:t>er 1. </a:t>
            </a:r>
          </a:p>
        </p:txBody>
      </p:sp>
      <p:pic>
        <p:nvPicPr>
          <p:cNvPr id="75783" name="Picture 7">
            <a:extLst>
              <a:ext uri="{FF2B5EF4-FFF2-40B4-BE49-F238E27FC236}">
                <a16:creationId xmlns:a16="http://schemas.microsoft.com/office/drawing/2014/main" id="{8737A7A0-8288-3CB5-2266-4F3DC82B7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657600"/>
            <a:ext cx="2717800" cy="280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677</TotalTime>
  <Words>621</Words>
  <Application>Microsoft Office PowerPoint</Application>
  <PresentationFormat>On-screen Show (4:3)</PresentationFormat>
  <Paragraphs>80</Paragraphs>
  <Slides>14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굴림</vt:lpstr>
      <vt:lpstr>Bookman Old Style</vt:lpstr>
      <vt:lpstr>Calibri</vt:lpstr>
      <vt:lpstr>Gill Sans MT</vt:lpstr>
      <vt:lpstr>Tahoma</vt:lpstr>
      <vt:lpstr>Times New Roman</vt:lpstr>
      <vt:lpstr>Wingdings</vt:lpstr>
      <vt:lpstr>Wingdings 3</vt:lpstr>
      <vt:lpstr>Origin</vt:lpstr>
      <vt:lpstr>Microsoft Equation 3.0</vt:lpstr>
      <vt:lpstr>Position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02</dc:title>
  <dc:creator>mab</dc:creator>
  <cp:lastModifiedBy>Boyce Sigweni</cp:lastModifiedBy>
  <cp:revision>11</cp:revision>
  <dcterms:created xsi:type="dcterms:W3CDTF">2011-01-07T01:27:12Z</dcterms:created>
  <dcterms:modified xsi:type="dcterms:W3CDTF">2024-10-21T14:32:23Z</dcterms:modified>
</cp:coreProperties>
</file>
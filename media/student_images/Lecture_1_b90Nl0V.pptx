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72"/>
  </p:notesMasterIdLst>
  <p:handoutMasterIdLst>
    <p:handoutMasterId r:id="rId73"/>
  </p:handoutMasterIdLst>
  <p:sldIdLst>
    <p:sldId id="374" r:id="rId3"/>
    <p:sldId id="317" r:id="rId4"/>
    <p:sldId id="316" r:id="rId5"/>
    <p:sldId id="320" r:id="rId6"/>
    <p:sldId id="376" r:id="rId7"/>
    <p:sldId id="307" r:id="rId8"/>
    <p:sldId id="308" r:id="rId9"/>
    <p:sldId id="311" r:id="rId10"/>
    <p:sldId id="312" r:id="rId11"/>
    <p:sldId id="322" r:id="rId12"/>
    <p:sldId id="375" r:id="rId13"/>
    <p:sldId id="257" r:id="rId14"/>
    <p:sldId id="258" r:id="rId15"/>
    <p:sldId id="259" r:id="rId16"/>
    <p:sldId id="260" r:id="rId17"/>
    <p:sldId id="379" r:id="rId18"/>
    <p:sldId id="261" r:id="rId19"/>
    <p:sldId id="262" r:id="rId20"/>
    <p:sldId id="263" r:id="rId21"/>
    <p:sldId id="377" r:id="rId22"/>
    <p:sldId id="264" r:id="rId23"/>
    <p:sldId id="378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91" r:id="rId35"/>
    <p:sldId id="295" r:id="rId36"/>
    <p:sldId id="292" r:id="rId37"/>
    <p:sldId id="293" r:id="rId38"/>
    <p:sldId id="294" r:id="rId39"/>
    <p:sldId id="275" r:id="rId40"/>
    <p:sldId id="276" r:id="rId41"/>
    <p:sldId id="277" r:id="rId42"/>
    <p:sldId id="278" r:id="rId43"/>
    <p:sldId id="280" r:id="rId44"/>
    <p:sldId id="281" r:id="rId45"/>
    <p:sldId id="282" r:id="rId46"/>
    <p:sldId id="283" r:id="rId47"/>
    <p:sldId id="373" r:id="rId48"/>
    <p:sldId id="372" r:id="rId49"/>
    <p:sldId id="371" r:id="rId50"/>
    <p:sldId id="284" r:id="rId51"/>
    <p:sldId id="285" r:id="rId52"/>
    <p:sldId id="358" r:id="rId53"/>
    <p:sldId id="306" r:id="rId54"/>
    <p:sldId id="360" r:id="rId55"/>
    <p:sldId id="359" r:id="rId56"/>
    <p:sldId id="361" r:id="rId57"/>
    <p:sldId id="362" r:id="rId58"/>
    <p:sldId id="364" r:id="rId59"/>
    <p:sldId id="363" r:id="rId60"/>
    <p:sldId id="365" r:id="rId61"/>
    <p:sldId id="367" r:id="rId62"/>
    <p:sldId id="366" r:id="rId63"/>
    <p:sldId id="368" r:id="rId64"/>
    <p:sldId id="369" r:id="rId65"/>
    <p:sldId id="370" r:id="rId66"/>
    <p:sldId id="286" r:id="rId67"/>
    <p:sldId id="287" r:id="rId68"/>
    <p:sldId id="288" r:id="rId69"/>
    <p:sldId id="289" r:id="rId70"/>
    <p:sldId id="290" r:id="rId71"/>
  </p:sldIdLst>
  <p:sldSz cx="9144000" cy="6858000" type="screen4x3"/>
  <p:notesSz cx="6858000" cy="9144000"/>
  <p:defaultTextStyle>
    <a:defPPr>
      <a:defRPr lang="en-GB"/>
    </a:defPPr>
    <a:lvl1pPr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Droid Sans Fallback" charset="0"/>
        <a:cs typeface="Droid Sans Fallback" charset="0"/>
      </a:defRPr>
    </a:lvl1pPr>
    <a:lvl2pPr marL="742950" indent="-28575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Droid Sans Fallback" charset="0"/>
        <a:cs typeface="Droid Sans Fallback" charset="0"/>
      </a:defRPr>
    </a:lvl2pPr>
    <a:lvl3pPr marL="1143000" indent="-2286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Droid Sans Fallback" charset="0"/>
        <a:cs typeface="Droid Sans Fallback" charset="0"/>
      </a:defRPr>
    </a:lvl3pPr>
    <a:lvl4pPr marL="1600200" indent="-2286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Droid Sans Fallback" charset="0"/>
        <a:cs typeface="Droid Sans Fallback" charset="0"/>
      </a:defRPr>
    </a:lvl4pPr>
    <a:lvl5pPr marL="2057400" indent="-2286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Droid Sans Fallback" charset="0"/>
        <a:cs typeface="Droid Sans Fallback" charset="0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Droid Sans Fallback" charset="0"/>
        <a:cs typeface="Droid Sans Fallback" charset="0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Droid Sans Fallback" charset="0"/>
        <a:cs typeface="Droid Sans Fallback" charset="0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Droid Sans Fallback" charset="0"/>
        <a:cs typeface="Droid Sans Fallback" charset="0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Droid Sans Fallback" charset="0"/>
        <a:cs typeface="Droid Sans Fallback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82527"/>
  </p:normalViewPr>
  <p:slideViewPr>
    <p:cSldViewPr>
      <p:cViewPr varScale="1">
        <p:scale>
          <a:sx n="77" d="100"/>
          <a:sy n="77" d="100"/>
        </p:scale>
        <p:origin x="2104" y="19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669EB9-0312-2044-A9AE-618B23D44E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F3E715-2C57-2044-8C72-4B57ED9416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7BFD460-7066-CE44-972D-67F32AC9147F}" type="datetimeFigureOut">
              <a:rPr lang="en-US" altLang="en-US"/>
              <a:pPr>
                <a:defRPr/>
              </a:pPr>
              <a:t>8/30/22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2778E-C2F3-3B4D-A700-9CBB35EA2B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29F142-A2B6-B941-9AE4-AB6C6E621B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7B13DB5-4242-2444-B7FD-3249220196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1">
            <a:extLst>
              <a:ext uri="{FF2B5EF4-FFF2-40B4-BE49-F238E27FC236}">
                <a16:creationId xmlns:a16="http://schemas.microsoft.com/office/drawing/2014/main" id="{9C54F5EF-1932-D141-9A8D-F9D97E166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tr-TR" altLang="en-US"/>
          </a:p>
        </p:txBody>
      </p:sp>
      <p:sp>
        <p:nvSpPr>
          <p:cNvPr id="3075" name="AutoShape 2">
            <a:extLst>
              <a:ext uri="{FF2B5EF4-FFF2-40B4-BE49-F238E27FC236}">
                <a16:creationId xmlns:a16="http://schemas.microsoft.com/office/drawing/2014/main" id="{29C504AA-40B5-2E49-90C4-F56E2D569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tr-TR" altLang="en-US"/>
          </a:p>
        </p:txBody>
      </p:sp>
      <p:sp>
        <p:nvSpPr>
          <p:cNvPr id="3076" name="AutoShape 3">
            <a:extLst>
              <a:ext uri="{FF2B5EF4-FFF2-40B4-BE49-F238E27FC236}">
                <a16:creationId xmlns:a16="http://schemas.microsoft.com/office/drawing/2014/main" id="{77B7536C-6D4C-6D40-8BFC-5CDAFE3D0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tr-TR" altLang="en-US"/>
          </a:p>
        </p:txBody>
      </p:sp>
      <p:sp>
        <p:nvSpPr>
          <p:cNvPr id="3077" name="AutoShape 4">
            <a:extLst>
              <a:ext uri="{FF2B5EF4-FFF2-40B4-BE49-F238E27FC236}">
                <a16:creationId xmlns:a16="http://schemas.microsoft.com/office/drawing/2014/main" id="{6C5EA848-91AD-6E46-86E8-0DC89B65A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tr-TR" altLang="en-US"/>
          </a:p>
        </p:txBody>
      </p:sp>
      <p:sp>
        <p:nvSpPr>
          <p:cNvPr id="3078" name="AutoShape 5">
            <a:extLst>
              <a:ext uri="{FF2B5EF4-FFF2-40B4-BE49-F238E27FC236}">
                <a16:creationId xmlns:a16="http://schemas.microsoft.com/office/drawing/2014/main" id="{1BC10DEE-5AB5-C24F-8999-83EB1E73F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tr-TR" altLang="en-US"/>
          </a:p>
        </p:txBody>
      </p:sp>
      <p:sp>
        <p:nvSpPr>
          <p:cNvPr id="3079" name="AutoShape 6">
            <a:extLst>
              <a:ext uri="{FF2B5EF4-FFF2-40B4-BE49-F238E27FC236}">
                <a16:creationId xmlns:a16="http://schemas.microsoft.com/office/drawing/2014/main" id="{F8396749-D2D8-2D42-9104-566A5E423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tr-TR" altLang="en-US"/>
          </a:p>
        </p:txBody>
      </p:sp>
      <p:sp>
        <p:nvSpPr>
          <p:cNvPr id="3080" name="Text Box 7">
            <a:extLst>
              <a:ext uri="{FF2B5EF4-FFF2-40B4-BE49-F238E27FC236}">
                <a16:creationId xmlns:a16="http://schemas.microsoft.com/office/drawing/2014/main" id="{0EBB2363-B64E-5246-A0CD-0D403A60B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tr-TR" altLang="en-US"/>
          </a:p>
        </p:txBody>
      </p:sp>
      <p:sp>
        <p:nvSpPr>
          <p:cNvPr id="3081" name="Text Box 8">
            <a:extLst>
              <a:ext uri="{FF2B5EF4-FFF2-40B4-BE49-F238E27FC236}">
                <a16:creationId xmlns:a16="http://schemas.microsoft.com/office/drawing/2014/main" id="{A977507D-8DF3-0944-BEA2-6E5140590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tr-TR" altLang="en-US"/>
          </a:p>
        </p:txBody>
      </p:sp>
      <p:sp>
        <p:nvSpPr>
          <p:cNvPr id="3082" name="Rectangle 9">
            <a:extLst>
              <a:ext uri="{FF2B5EF4-FFF2-40B4-BE49-F238E27FC236}">
                <a16:creationId xmlns:a16="http://schemas.microsoft.com/office/drawing/2014/main" id="{85885B16-6913-D94C-B7C1-5EB1502021B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62475" cy="3419475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C8C38B2E-1C22-1041-A260-4C09FEEE8F2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914400" y="4343400"/>
            <a:ext cx="5019675" cy="410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tr-TR" altLang="tr-TR" noProof="0"/>
          </a:p>
        </p:txBody>
      </p:sp>
      <p:sp>
        <p:nvSpPr>
          <p:cNvPr id="3084" name="Text Box 11">
            <a:extLst>
              <a:ext uri="{FF2B5EF4-FFF2-40B4-BE49-F238E27FC236}">
                <a16:creationId xmlns:a16="http://schemas.microsoft.com/office/drawing/2014/main" id="{5B5E4672-D9DA-724E-864C-9AEA72D90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tr-TR" altLang="en-US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2CB74B22-1DB9-4640-8B68-06C5BCA6194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886200" y="8686800"/>
            <a:ext cx="29622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SzPct val="10000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ea typeface="DejaVu Sans" charset="0"/>
                <a:cs typeface="DejaVu Sans" charset="0"/>
              </a:defRPr>
            </a:lvl1pPr>
          </a:lstStyle>
          <a:p>
            <a:fld id="{77CB2B4A-5A96-DC4D-B23F-7D2342A7589F}" type="slidenum">
              <a:rPr lang="tr-TR" altLang="tr-TR"/>
              <a:pPr/>
              <a:t>‹#›</a:t>
            </a:fld>
            <a:endParaRPr lang="tr-TR" alt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E006CA6-B2B3-4B0A-AD5D-9CED664AE4D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C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A69E02F-5AE0-43C5-BB55-2B94731580D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C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27E122F-3534-4B63-BAC5-19210986B1D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C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dirty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3487621-D0BB-42CB-A214-C0AC5C1BF30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C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dirty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DCBE453-9D6B-44B9-BF4E-6C46FBAFCFA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C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950DB51-4C6D-428E-A215-C3A513C89AA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C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838DFED-EAF1-4A48-A62F-1264D02AEE4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C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F311DC9-2F99-4ED9-A66D-6546F289FB3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C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ABB4C92-B033-4839-959A-C69AC0419D4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CA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ABB4C92-B033-4839-959A-C69AC0419D4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CA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2">
            <a:extLst>
              <a:ext uri="{FF2B5EF4-FFF2-40B4-BE49-F238E27FC236}">
                <a16:creationId xmlns:a16="http://schemas.microsoft.com/office/drawing/2014/main" id="{E4F65461-5C52-2640-BCCB-FAB6F46B6EA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22F0DC7-83C5-304A-B7A8-FA1FCE0E7E38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tr-TR" altLang="tr-TR"/>
          </a:p>
        </p:txBody>
      </p:sp>
      <p:sp>
        <p:nvSpPr>
          <p:cNvPr id="30723" name="Rectangle 1">
            <a:extLst>
              <a:ext uri="{FF2B5EF4-FFF2-40B4-BE49-F238E27FC236}">
                <a16:creationId xmlns:a16="http://schemas.microsoft.com/office/drawing/2014/main" id="{8953821D-57ED-44EF-C10C-8FC3944E51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6ECBC78E-24F1-2E77-55C8-EAC84CB0B6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2">
            <a:extLst>
              <a:ext uri="{FF2B5EF4-FFF2-40B4-BE49-F238E27FC236}">
                <a16:creationId xmlns:a16="http://schemas.microsoft.com/office/drawing/2014/main" id="{885EE9DA-63FD-5249-A8BB-887E5D7CF8B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C3C380F-3D20-904A-B60E-8D690769B7B5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tr-TR" altLang="tr-TR"/>
          </a:p>
        </p:txBody>
      </p:sp>
      <p:sp>
        <p:nvSpPr>
          <p:cNvPr id="32771" name="Rectangle 1">
            <a:extLst>
              <a:ext uri="{FF2B5EF4-FFF2-40B4-BE49-F238E27FC236}">
                <a16:creationId xmlns:a16="http://schemas.microsoft.com/office/drawing/2014/main" id="{99F8D6EC-5D2F-5FBB-EB4C-CCFBE2A5CE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6CAB7E0A-462F-3880-0939-D900167AE1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2">
            <a:extLst>
              <a:ext uri="{FF2B5EF4-FFF2-40B4-BE49-F238E27FC236}">
                <a16:creationId xmlns:a16="http://schemas.microsoft.com/office/drawing/2014/main" id="{A1B5613E-5D90-5343-AEC2-ECE35D4C90E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7FE3635-A3C1-434A-A862-97310FA45AF6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tr-TR" altLang="tr-TR"/>
          </a:p>
        </p:txBody>
      </p:sp>
      <p:sp>
        <p:nvSpPr>
          <p:cNvPr id="34819" name="Rectangle 1">
            <a:extLst>
              <a:ext uri="{FF2B5EF4-FFF2-40B4-BE49-F238E27FC236}">
                <a16:creationId xmlns:a16="http://schemas.microsoft.com/office/drawing/2014/main" id="{96D65CA0-4ADF-4FBE-8B30-3EA3A38B3F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1620B7D2-4932-7163-2E86-A36AC6AB72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2">
            <a:extLst>
              <a:ext uri="{FF2B5EF4-FFF2-40B4-BE49-F238E27FC236}">
                <a16:creationId xmlns:a16="http://schemas.microsoft.com/office/drawing/2014/main" id="{00DE5D17-93EF-8648-AD84-3B83423202D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F7ADBC8-1EE0-9F40-8D9E-6A7E96C3D02B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tr-TR" altLang="tr-TR"/>
          </a:p>
        </p:txBody>
      </p:sp>
      <p:sp>
        <p:nvSpPr>
          <p:cNvPr id="36867" name="Rectangle 1">
            <a:extLst>
              <a:ext uri="{FF2B5EF4-FFF2-40B4-BE49-F238E27FC236}">
                <a16:creationId xmlns:a16="http://schemas.microsoft.com/office/drawing/2014/main" id="{99A1566E-9586-A1E1-F50C-D6AB0B29DE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B028E6D8-D83A-6777-BFE4-ED0C0F0144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2">
            <a:extLst>
              <a:ext uri="{FF2B5EF4-FFF2-40B4-BE49-F238E27FC236}">
                <a16:creationId xmlns:a16="http://schemas.microsoft.com/office/drawing/2014/main" id="{2B6BD492-31AE-4643-9114-8EAAD8B4987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1D81957-35EE-CE43-8B07-EC9225E7173C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tr-TR" altLang="tr-TR"/>
          </a:p>
        </p:txBody>
      </p:sp>
      <p:sp>
        <p:nvSpPr>
          <p:cNvPr id="47107" name="Rectangle 1">
            <a:extLst>
              <a:ext uri="{FF2B5EF4-FFF2-40B4-BE49-F238E27FC236}">
                <a16:creationId xmlns:a16="http://schemas.microsoft.com/office/drawing/2014/main" id="{D9D78561-B64B-EC59-B1DB-3A7F8CC292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7108" name="Rectangle 2">
            <a:extLst>
              <a:ext uri="{FF2B5EF4-FFF2-40B4-BE49-F238E27FC236}">
                <a16:creationId xmlns:a16="http://schemas.microsoft.com/office/drawing/2014/main" id="{714F4A6A-FBE1-F3D0-E8FE-72D0A590A3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5822262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2">
            <a:extLst>
              <a:ext uri="{FF2B5EF4-FFF2-40B4-BE49-F238E27FC236}">
                <a16:creationId xmlns:a16="http://schemas.microsoft.com/office/drawing/2014/main" id="{B39DCEE4-1BA9-7C4E-B8C9-6519CF69ED0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38D6B30-6576-884B-A49D-5D28A7A8CE05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tr-TR" altLang="tr-TR"/>
          </a:p>
        </p:txBody>
      </p:sp>
      <p:sp>
        <p:nvSpPr>
          <p:cNvPr id="38915" name="Rectangle 1">
            <a:extLst>
              <a:ext uri="{FF2B5EF4-FFF2-40B4-BE49-F238E27FC236}">
                <a16:creationId xmlns:a16="http://schemas.microsoft.com/office/drawing/2014/main" id="{8D5C74AE-7E04-310F-09CB-362B4C17E0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633F984B-F9A8-33A8-B147-BFBA2FCDA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2">
            <a:extLst>
              <a:ext uri="{FF2B5EF4-FFF2-40B4-BE49-F238E27FC236}">
                <a16:creationId xmlns:a16="http://schemas.microsoft.com/office/drawing/2014/main" id="{37B73F8D-639B-D14A-9CEE-2F4BEB4B557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A845C85-C75F-E94F-897B-E795A196EBE3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tr-TR" altLang="tr-TR"/>
          </a:p>
        </p:txBody>
      </p:sp>
      <p:sp>
        <p:nvSpPr>
          <p:cNvPr id="40963" name="Rectangle 1">
            <a:extLst>
              <a:ext uri="{FF2B5EF4-FFF2-40B4-BE49-F238E27FC236}">
                <a16:creationId xmlns:a16="http://schemas.microsoft.com/office/drawing/2014/main" id="{DE7471DF-035F-E6EF-8087-B050359B99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64" name="Rectangle 2">
            <a:extLst>
              <a:ext uri="{FF2B5EF4-FFF2-40B4-BE49-F238E27FC236}">
                <a16:creationId xmlns:a16="http://schemas.microsoft.com/office/drawing/2014/main" id="{EB9F336B-9B46-3E32-875F-611E348F28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2">
            <a:extLst>
              <a:ext uri="{FF2B5EF4-FFF2-40B4-BE49-F238E27FC236}">
                <a16:creationId xmlns:a16="http://schemas.microsoft.com/office/drawing/2014/main" id="{FC11E9D0-7AD5-5A46-85C0-50CD9F937F3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9F5866-785F-4C4A-9200-165AD9050808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tr-TR" altLang="tr-TR"/>
          </a:p>
        </p:txBody>
      </p:sp>
      <p:sp>
        <p:nvSpPr>
          <p:cNvPr id="43011" name="Rectangle 1">
            <a:extLst>
              <a:ext uri="{FF2B5EF4-FFF2-40B4-BE49-F238E27FC236}">
                <a16:creationId xmlns:a16="http://schemas.microsoft.com/office/drawing/2014/main" id="{52D2D7FD-B8DB-3648-9470-CF1075A374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82E40D45-2FBF-05C1-D2F8-A09982B96B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2">
            <a:extLst>
              <a:ext uri="{FF2B5EF4-FFF2-40B4-BE49-F238E27FC236}">
                <a16:creationId xmlns:a16="http://schemas.microsoft.com/office/drawing/2014/main" id="{FC11E9D0-7AD5-5A46-85C0-50CD9F937F3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9F5866-785F-4C4A-9200-165AD9050808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tr-TR" altLang="tr-TR"/>
          </a:p>
        </p:txBody>
      </p:sp>
      <p:sp>
        <p:nvSpPr>
          <p:cNvPr id="43011" name="Rectangle 1">
            <a:extLst>
              <a:ext uri="{FF2B5EF4-FFF2-40B4-BE49-F238E27FC236}">
                <a16:creationId xmlns:a16="http://schemas.microsoft.com/office/drawing/2014/main" id="{52D2D7FD-B8DB-3648-9470-CF1075A374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82E40D45-2FBF-05C1-D2F8-A09982B96B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36703948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2">
            <a:extLst>
              <a:ext uri="{FF2B5EF4-FFF2-40B4-BE49-F238E27FC236}">
                <a16:creationId xmlns:a16="http://schemas.microsoft.com/office/drawing/2014/main" id="{F87CDB4C-1EDE-FB4A-B8FE-3075D8C3A71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53126D5-8685-5E46-BDE4-F037E72014B1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tr-TR" altLang="tr-TR"/>
          </a:p>
        </p:txBody>
      </p:sp>
      <p:sp>
        <p:nvSpPr>
          <p:cNvPr id="45059" name="Rectangle 1">
            <a:extLst>
              <a:ext uri="{FF2B5EF4-FFF2-40B4-BE49-F238E27FC236}">
                <a16:creationId xmlns:a16="http://schemas.microsoft.com/office/drawing/2014/main" id="{06D4E570-3D2A-AF6B-1963-874456DE4D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5060" name="Rectangle 2">
            <a:extLst>
              <a:ext uri="{FF2B5EF4-FFF2-40B4-BE49-F238E27FC236}">
                <a16:creationId xmlns:a16="http://schemas.microsoft.com/office/drawing/2014/main" id="{26E1B4DE-9F0C-0FF6-0CC2-7C4F31D9BD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2">
            <a:extLst>
              <a:ext uri="{FF2B5EF4-FFF2-40B4-BE49-F238E27FC236}">
                <a16:creationId xmlns:a16="http://schemas.microsoft.com/office/drawing/2014/main" id="{F87CDB4C-1EDE-FB4A-B8FE-3075D8C3A71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53126D5-8685-5E46-BDE4-F037E72014B1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tr-TR" altLang="tr-TR"/>
          </a:p>
        </p:txBody>
      </p:sp>
      <p:sp>
        <p:nvSpPr>
          <p:cNvPr id="45059" name="Rectangle 1">
            <a:extLst>
              <a:ext uri="{FF2B5EF4-FFF2-40B4-BE49-F238E27FC236}">
                <a16:creationId xmlns:a16="http://schemas.microsoft.com/office/drawing/2014/main" id="{06D4E570-3D2A-AF6B-1963-874456DE4D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5060" name="Rectangle 2">
            <a:extLst>
              <a:ext uri="{FF2B5EF4-FFF2-40B4-BE49-F238E27FC236}">
                <a16:creationId xmlns:a16="http://schemas.microsoft.com/office/drawing/2014/main" id="{26E1B4DE-9F0C-0FF6-0CC2-7C4F31D9BD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6619160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2">
            <a:extLst>
              <a:ext uri="{FF2B5EF4-FFF2-40B4-BE49-F238E27FC236}">
                <a16:creationId xmlns:a16="http://schemas.microsoft.com/office/drawing/2014/main" id="{2B6BD492-31AE-4643-9114-8EAAD8B4987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1D81957-35EE-CE43-8B07-EC9225E7173C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tr-TR" altLang="tr-TR"/>
          </a:p>
        </p:txBody>
      </p:sp>
      <p:sp>
        <p:nvSpPr>
          <p:cNvPr id="47107" name="Rectangle 1">
            <a:extLst>
              <a:ext uri="{FF2B5EF4-FFF2-40B4-BE49-F238E27FC236}">
                <a16:creationId xmlns:a16="http://schemas.microsoft.com/office/drawing/2014/main" id="{D9D78561-B64B-EC59-B1DB-3A7F8CC292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7108" name="Rectangle 2">
            <a:extLst>
              <a:ext uri="{FF2B5EF4-FFF2-40B4-BE49-F238E27FC236}">
                <a16:creationId xmlns:a16="http://schemas.microsoft.com/office/drawing/2014/main" id="{714F4A6A-FBE1-F3D0-E8FE-72D0A590A3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2">
            <a:extLst>
              <a:ext uri="{FF2B5EF4-FFF2-40B4-BE49-F238E27FC236}">
                <a16:creationId xmlns:a16="http://schemas.microsoft.com/office/drawing/2014/main" id="{1287DF05-62E8-A94C-A010-1BBA6CBB94D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C3679CB-E27A-0244-B356-DB28005D255A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tr-TR" altLang="tr-TR"/>
          </a:p>
        </p:txBody>
      </p:sp>
      <p:sp>
        <p:nvSpPr>
          <p:cNvPr id="49155" name="Rectangle 1">
            <a:extLst>
              <a:ext uri="{FF2B5EF4-FFF2-40B4-BE49-F238E27FC236}">
                <a16:creationId xmlns:a16="http://schemas.microsoft.com/office/drawing/2014/main" id="{1C8B85B7-8AEA-A978-CC25-573E304039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9AD8BFFC-71E7-0812-A60E-28CBDA6BDD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2">
            <a:extLst>
              <a:ext uri="{FF2B5EF4-FFF2-40B4-BE49-F238E27FC236}">
                <a16:creationId xmlns:a16="http://schemas.microsoft.com/office/drawing/2014/main" id="{23E4B2A6-2257-AE43-A868-056924EC765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5D5FA50-A05D-7E43-8DA9-55F8D9CA0ECE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tr-TR" altLang="tr-TR"/>
          </a:p>
        </p:txBody>
      </p:sp>
      <p:sp>
        <p:nvSpPr>
          <p:cNvPr id="51203" name="Rectangle 1">
            <a:extLst>
              <a:ext uri="{FF2B5EF4-FFF2-40B4-BE49-F238E27FC236}">
                <a16:creationId xmlns:a16="http://schemas.microsoft.com/office/drawing/2014/main" id="{20BE3EB1-2260-0B19-CDA1-FADA0304CC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F920237E-E533-8D23-EF68-9ECA9ADC73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2">
            <a:extLst>
              <a:ext uri="{FF2B5EF4-FFF2-40B4-BE49-F238E27FC236}">
                <a16:creationId xmlns:a16="http://schemas.microsoft.com/office/drawing/2014/main" id="{04F6C03D-55CC-5241-AA95-20B8B80C70B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30975D5-CACE-734E-A5DE-4EEAB1B6AE87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tr-TR" altLang="tr-TR"/>
          </a:p>
        </p:txBody>
      </p:sp>
      <p:sp>
        <p:nvSpPr>
          <p:cNvPr id="53251" name="Rectangle 1">
            <a:extLst>
              <a:ext uri="{FF2B5EF4-FFF2-40B4-BE49-F238E27FC236}">
                <a16:creationId xmlns:a16="http://schemas.microsoft.com/office/drawing/2014/main" id="{E4EEE17F-781E-CE44-5A16-25A3174869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0887" cy="3421063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3252" name="Rectangle 2">
            <a:extLst>
              <a:ext uri="{FF2B5EF4-FFF2-40B4-BE49-F238E27FC236}">
                <a16:creationId xmlns:a16="http://schemas.microsoft.com/office/drawing/2014/main" id="{8B7E7BD7-628E-1396-E538-C5B1B49F31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1263" cy="410686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2">
            <a:extLst>
              <a:ext uri="{FF2B5EF4-FFF2-40B4-BE49-F238E27FC236}">
                <a16:creationId xmlns:a16="http://schemas.microsoft.com/office/drawing/2014/main" id="{35321647-1580-0545-9599-48BF473C138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2E34DFC-9BB4-1740-A288-CCD0EFFEBF59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tr-TR" altLang="tr-TR"/>
          </a:p>
        </p:txBody>
      </p:sp>
      <p:sp>
        <p:nvSpPr>
          <p:cNvPr id="55299" name="Rectangle 1">
            <a:extLst>
              <a:ext uri="{FF2B5EF4-FFF2-40B4-BE49-F238E27FC236}">
                <a16:creationId xmlns:a16="http://schemas.microsoft.com/office/drawing/2014/main" id="{ACF8FBB6-F03F-F4EF-DDC3-B2F595934A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5300" name="Rectangle 2">
            <a:extLst>
              <a:ext uri="{FF2B5EF4-FFF2-40B4-BE49-F238E27FC236}">
                <a16:creationId xmlns:a16="http://schemas.microsoft.com/office/drawing/2014/main" id="{40BCD603-B1FB-27B2-8A00-C9AA04E521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2">
            <a:extLst>
              <a:ext uri="{FF2B5EF4-FFF2-40B4-BE49-F238E27FC236}">
                <a16:creationId xmlns:a16="http://schemas.microsoft.com/office/drawing/2014/main" id="{06FE656E-28B2-604B-8CB6-EB72DD85DEB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5AE5D1B-2512-E74A-BC2C-1EA2E162EB52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tr-TR" altLang="tr-TR"/>
          </a:p>
        </p:txBody>
      </p:sp>
      <p:sp>
        <p:nvSpPr>
          <p:cNvPr id="57347" name="Rectangle 1">
            <a:extLst>
              <a:ext uri="{FF2B5EF4-FFF2-40B4-BE49-F238E27FC236}">
                <a16:creationId xmlns:a16="http://schemas.microsoft.com/office/drawing/2014/main" id="{E32F18C4-1E4C-F651-C323-B452D9B7EC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7348" name="Rectangle 2">
            <a:extLst>
              <a:ext uri="{FF2B5EF4-FFF2-40B4-BE49-F238E27FC236}">
                <a16:creationId xmlns:a16="http://schemas.microsoft.com/office/drawing/2014/main" id="{77B1DE08-DC3C-254D-E620-794A13AA5A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2">
            <a:extLst>
              <a:ext uri="{FF2B5EF4-FFF2-40B4-BE49-F238E27FC236}">
                <a16:creationId xmlns:a16="http://schemas.microsoft.com/office/drawing/2014/main" id="{803F3BFB-2B1A-F347-BB95-49022E4594D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9DB45AB-B1B2-6145-8D8F-33A307998922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tr-TR" altLang="tr-TR"/>
          </a:p>
        </p:txBody>
      </p:sp>
      <p:sp>
        <p:nvSpPr>
          <p:cNvPr id="59395" name="Rectangle 1">
            <a:extLst>
              <a:ext uri="{FF2B5EF4-FFF2-40B4-BE49-F238E27FC236}">
                <a16:creationId xmlns:a16="http://schemas.microsoft.com/office/drawing/2014/main" id="{D953D5D7-57FB-7A9E-15B3-1F474BB7B3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9396" name="Rectangle 2">
            <a:extLst>
              <a:ext uri="{FF2B5EF4-FFF2-40B4-BE49-F238E27FC236}">
                <a16:creationId xmlns:a16="http://schemas.microsoft.com/office/drawing/2014/main" id="{8BB8FD8F-F058-4EF3-948D-67904C733B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2">
            <a:extLst>
              <a:ext uri="{FF2B5EF4-FFF2-40B4-BE49-F238E27FC236}">
                <a16:creationId xmlns:a16="http://schemas.microsoft.com/office/drawing/2014/main" id="{8FDCF049-A9D2-1443-9E2B-6789DF2C205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0FE5A41-D51A-7841-91FC-2BF5892A2DAD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tr-TR" altLang="tr-TR"/>
          </a:p>
        </p:txBody>
      </p:sp>
      <p:sp>
        <p:nvSpPr>
          <p:cNvPr id="61443" name="Rectangle 1">
            <a:extLst>
              <a:ext uri="{FF2B5EF4-FFF2-40B4-BE49-F238E27FC236}">
                <a16:creationId xmlns:a16="http://schemas.microsoft.com/office/drawing/2014/main" id="{D9E256D6-7EA5-E978-6470-888ED3E66B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1444" name="Rectangle 2">
            <a:extLst>
              <a:ext uri="{FF2B5EF4-FFF2-40B4-BE49-F238E27FC236}">
                <a16:creationId xmlns:a16="http://schemas.microsoft.com/office/drawing/2014/main" id="{4DD0AE55-A203-D1C2-ADDE-718ADFDA21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2">
            <a:extLst>
              <a:ext uri="{FF2B5EF4-FFF2-40B4-BE49-F238E27FC236}">
                <a16:creationId xmlns:a16="http://schemas.microsoft.com/office/drawing/2014/main" id="{0AC59CBA-A446-7B42-91EF-21D9B69AF54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208A465-668A-F846-BCF1-26C12327A61F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tr-TR" altLang="tr-TR"/>
          </a:p>
        </p:txBody>
      </p:sp>
      <p:sp>
        <p:nvSpPr>
          <p:cNvPr id="63491" name="Rectangle 1">
            <a:extLst>
              <a:ext uri="{FF2B5EF4-FFF2-40B4-BE49-F238E27FC236}">
                <a16:creationId xmlns:a16="http://schemas.microsoft.com/office/drawing/2014/main" id="{5526A34A-7961-0DD5-39D4-E9D8692041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3492" name="Rectangle 2">
            <a:extLst>
              <a:ext uri="{FF2B5EF4-FFF2-40B4-BE49-F238E27FC236}">
                <a16:creationId xmlns:a16="http://schemas.microsoft.com/office/drawing/2014/main" id="{B6D63C18-4D4D-F312-B165-6776EF376F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2">
            <a:extLst>
              <a:ext uri="{FF2B5EF4-FFF2-40B4-BE49-F238E27FC236}">
                <a16:creationId xmlns:a16="http://schemas.microsoft.com/office/drawing/2014/main" id="{DD77108C-5C1B-8C4D-A498-F862D87922B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8C63A7C-8CBE-C840-9C6F-54C3278C4DDC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tr-TR" altLang="tr-TR"/>
          </a:p>
        </p:txBody>
      </p:sp>
      <p:sp>
        <p:nvSpPr>
          <p:cNvPr id="65539" name="Rectangle 1">
            <a:extLst>
              <a:ext uri="{FF2B5EF4-FFF2-40B4-BE49-F238E27FC236}">
                <a16:creationId xmlns:a16="http://schemas.microsoft.com/office/drawing/2014/main" id="{00DA711A-4005-8464-975B-E1A6379980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5540" name="Rectangle 2">
            <a:extLst>
              <a:ext uri="{FF2B5EF4-FFF2-40B4-BE49-F238E27FC236}">
                <a16:creationId xmlns:a16="http://schemas.microsoft.com/office/drawing/2014/main" id="{E2740876-3188-6635-B7D5-A67678F921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2">
            <a:extLst>
              <a:ext uri="{FF2B5EF4-FFF2-40B4-BE49-F238E27FC236}">
                <a16:creationId xmlns:a16="http://schemas.microsoft.com/office/drawing/2014/main" id="{11152CBF-CDD5-B945-AD4D-283F2C60398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323F865-92EC-344B-B5B3-5F80D71FA03D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tr-TR" altLang="tr-TR"/>
          </a:p>
        </p:txBody>
      </p:sp>
      <p:sp>
        <p:nvSpPr>
          <p:cNvPr id="67587" name="Rectangle 1">
            <a:extLst>
              <a:ext uri="{FF2B5EF4-FFF2-40B4-BE49-F238E27FC236}">
                <a16:creationId xmlns:a16="http://schemas.microsoft.com/office/drawing/2014/main" id="{FA0E5DA4-7537-9D7F-84B7-B165108C40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7588" name="Rectangle 2">
            <a:extLst>
              <a:ext uri="{FF2B5EF4-FFF2-40B4-BE49-F238E27FC236}">
                <a16:creationId xmlns:a16="http://schemas.microsoft.com/office/drawing/2014/main" id="{38F366EE-ABFB-ED84-8434-FEC55D51DC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2">
            <a:extLst>
              <a:ext uri="{FF2B5EF4-FFF2-40B4-BE49-F238E27FC236}">
                <a16:creationId xmlns:a16="http://schemas.microsoft.com/office/drawing/2014/main" id="{11152CBF-CDD5-B945-AD4D-283F2C60398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5C43994-7C87-BA44-8D51-119C56DC7C38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tr-TR" altLang="tr-TR"/>
          </a:p>
        </p:txBody>
      </p:sp>
      <p:sp>
        <p:nvSpPr>
          <p:cNvPr id="69635" name="Rectangle 1">
            <a:extLst>
              <a:ext uri="{FF2B5EF4-FFF2-40B4-BE49-F238E27FC236}">
                <a16:creationId xmlns:a16="http://schemas.microsoft.com/office/drawing/2014/main" id="{9C36B0B1-B9BC-B291-04A2-A5F316CF31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9636" name="Rectangle 2">
            <a:extLst>
              <a:ext uri="{FF2B5EF4-FFF2-40B4-BE49-F238E27FC236}">
                <a16:creationId xmlns:a16="http://schemas.microsoft.com/office/drawing/2014/main" id="{CE78A3F2-A5B0-E8DF-1694-D03CD1F54B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2">
            <a:extLst>
              <a:ext uri="{FF2B5EF4-FFF2-40B4-BE49-F238E27FC236}">
                <a16:creationId xmlns:a16="http://schemas.microsoft.com/office/drawing/2014/main" id="{28EB4729-9AF6-734A-82E5-E497F9348A2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AB771D7-2F42-204C-A597-D58408DD9C52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tr-TR" altLang="tr-TR"/>
          </a:p>
        </p:txBody>
      </p:sp>
      <p:sp>
        <p:nvSpPr>
          <p:cNvPr id="71683" name="Rectangle 1">
            <a:extLst>
              <a:ext uri="{FF2B5EF4-FFF2-40B4-BE49-F238E27FC236}">
                <a16:creationId xmlns:a16="http://schemas.microsoft.com/office/drawing/2014/main" id="{AE9246FE-FA59-82F1-F958-163A185F96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684" name="Rectangle 2">
            <a:extLst>
              <a:ext uri="{FF2B5EF4-FFF2-40B4-BE49-F238E27FC236}">
                <a16:creationId xmlns:a16="http://schemas.microsoft.com/office/drawing/2014/main" id="{57B942C7-9B3B-1ACE-22DE-6D87EEFC41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2">
            <a:extLst>
              <a:ext uri="{FF2B5EF4-FFF2-40B4-BE49-F238E27FC236}">
                <a16:creationId xmlns:a16="http://schemas.microsoft.com/office/drawing/2014/main" id="{4A05B7D2-D55B-E943-A490-BE8F339F838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C13D34A-3FB5-9242-B926-BC7125E0139E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tr-TR" altLang="tr-TR"/>
          </a:p>
        </p:txBody>
      </p:sp>
      <p:sp>
        <p:nvSpPr>
          <p:cNvPr id="73731" name="Rectangle 1">
            <a:extLst>
              <a:ext uri="{FF2B5EF4-FFF2-40B4-BE49-F238E27FC236}">
                <a16:creationId xmlns:a16="http://schemas.microsoft.com/office/drawing/2014/main" id="{5F1E9D0D-938B-F168-5DC4-7AADDDA0D0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3732" name="Rectangle 2">
            <a:extLst>
              <a:ext uri="{FF2B5EF4-FFF2-40B4-BE49-F238E27FC236}">
                <a16:creationId xmlns:a16="http://schemas.microsoft.com/office/drawing/2014/main" id="{F742C352-8C2C-8F6C-C6AF-E894246F8E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2">
            <a:extLst>
              <a:ext uri="{FF2B5EF4-FFF2-40B4-BE49-F238E27FC236}">
                <a16:creationId xmlns:a16="http://schemas.microsoft.com/office/drawing/2014/main" id="{CF69EE17-9CE1-E046-B55A-5D77EA7F0F4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A3E9556-A939-9F4A-9F2C-C64B0A4A6CA8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tr-TR" altLang="tr-TR"/>
          </a:p>
        </p:txBody>
      </p:sp>
      <p:sp>
        <p:nvSpPr>
          <p:cNvPr id="75779" name="Rectangle 1">
            <a:extLst>
              <a:ext uri="{FF2B5EF4-FFF2-40B4-BE49-F238E27FC236}">
                <a16:creationId xmlns:a16="http://schemas.microsoft.com/office/drawing/2014/main" id="{9AABEF89-2D02-ACEB-8A33-2C1CD2670E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5780" name="Rectangle 2">
            <a:extLst>
              <a:ext uri="{FF2B5EF4-FFF2-40B4-BE49-F238E27FC236}">
                <a16:creationId xmlns:a16="http://schemas.microsoft.com/office/drawing/2014/main" id="{973D076A-A635-53B2-C3B5-5276FC1D54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2">
            <a:extLst>
              <a:ext uri="{FF2B5EF4-FFF2-40B4-BE49-F238E27FC236}">
                <a16:creationId xmlns:a16="http://schemas.microsoft.com/office/drawing/2014/main" id="{12D69DD4-0DE0-C84F-AFD7-4613AEA6B15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02195E4-1AA7-404D-A50D-3438239C0BF4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tr-TR" altLang="tr-TR"/>
          </a:p>
        </p:txBody>
      </p:sp>
      <p:sp>
        <p:nvSpPr>
          <p:cNvPr id="77827" name="Rectangle 1">
            <a:extLst>
              <a:ext uri="{FF2B5EF4-FFF2-40B4-BE49-F238E27FC236}">
                <a16:creationId xmlns:a16="http://schemas.microsoft.com/office/drawing/2014/main" id="{B3A81D2C-B871-FCCE-7067-2D2E51E2B9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7828" name="Rectangle 2">
            <a:extLst>
              <a:ext uri="{FF2B5EF4-FFF2-40B4-BE49-F238E27FC236}">
                <a16:creationId xmlns:a16="http://schemas.microsoft.com/office/drawing/2014/main" id="{2046BB1D-B5CF-F68A-719C-0C5A0ACE50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2">
            <a:extLst>
              <a:ext uri="{FF2B5EF4-FFF2-40B4-BE49-F238E27FC236}">
                <a16:creationId xmlns:a16="http://schemas.microsoft.com/office/drawing/2014/main" id="{C182DBB9-CBA6-684E-8ECC-64BF0109CD9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83821F4-0A37-BE44-9D6E-46157BD8F253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tr-TR" altLang="tr-TR"/>
          </a:p>
        </p:txBody>
      </p:sp>
      <p:sp>
        <p:nvSpPr>
          <p:cNvPr id="79875" name="Rectangle 1">
            <a:extLst>
              <a:ext uri="{FF2B5EF4-FFF2-40B4-BE49-F238E27FC236}">
                <a16:creationId xmlns:a16="http://schemas.microsoft.com/office/drawing/2014/main" id="{A764040C-3B3B-D341-8119-A2C0749D4B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9876" name="Rectangle 2">
            <a:extLst>
              <a:ext uri="{FF2B5EF4-FFF2-40B4-BE49-F238E27FC236}">
                <a16:creationId xmlns:a16="http://schemas.microsoft.com/office/drawing/2014/main" id="{1E9B8CD5-EBE7-1339-C3D9-90C94910F1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2">
            <a:extLst>
              <a:ext uri="{FF2B5EF4-FFF2-40B4-BE49-F238E27FC236}">
                <a16:creationId xmlns:a16="http://schemas.microsoft.com/office/drawing/2014/main" id="{FD19A151-F104-ED43-8733-8A0258E1D79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DD5B18C-482A-4043-9671-53CF9CA0BF4A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tr-TR" altLang="tr-TR"/>
          </a:p>
        </p:txBody>
      </p:sp>
      <p:sp>
        <p:nvSpPr>
          <p:cNvPr id="81923" name="Rectangle 1">
            <a:extLst>
              <a:ext uri="{FF2B5EF4-FFF2-40B4-BE49-F238E27FC236}">
                <a16:creationId xmlns:a16="http://schemas.microsoft.com/office/drawing/2014/main" id="{04284D02-D6DD-FABE-1031-CF5F0A25F3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24" name="Rectangle 2">
            <a:extLst>
              <a:ext uri="{FF2B5EF4-FFF2-40B4-BE49-F238E27FC236}">
                <a16:creationId xmlns:a16="http://schemas.microsoft.com/office/drawing/2014/main" id="{D5E08660-452F-8ECB-AF60-68EBF28A0B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2">
            <a:extLst>
              <a:ext uri="{FF2B5EF4-FFF2-40B4-BE49-F238E27FC236}">
                <a16:creationId xmlns:a16="http://schemas.microsoft.com/office/drawing/2014/main" id="{FAC96802-C660-DF4F-A1C2-1B2A317C82D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DCB50E8-9630-D642-95FC-CA56392EA3CF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tr-TR" altLang="tr-TR"/>
          </a:p>
        </p:txBody>
      </p:sp>
      <p:sp>
        <p:nvSpPr>
          <p:cNvPr id="83971" name="Rectangle 1">
            <a:extLst>
              <a:ext uri="{FF2B5EF4-FFF2-40B4-BE49-F238E27FC236}">
                <a16:creationId xmlns:a16="http://schemas.microsoft.com/office/drawing/2014/main" id="{F4080E58-6FDF-BA69-B222-F274306E45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3972" name="Rectangle 2">
            <a:extLst>
              <a:ext uri="{FF2B5EF4-FFF2-40B4-BE49-F238E27FC236}">
                <a16:creationId xmlns:a16="http://schemas.microsoft.com/office/drawing/2014/main" id="{DCEC799F-0250-8D6F-F81C-4A29065363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2">
            <a:extLst>
              <a:ext uri="{FF2B5EF4-FFF2-40B4-BE49-F238E27FC236}">
                <a16:creationId xmlns:a16="http://schemas.microsoft.com/office/drawing/2014/main" id="{2CD5305B-9415-BB4E-8590-74115221899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D10C7B1-D29B-9549-862C-633AE053E82F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tr-TR" altLang="tr-TR"/>
          </a:p>
        </p:txBody>
      </p:sp>
      <p:sp>
        <p:nvSpPr>
          <p:cNvPr id="86019" name="Rectangle 1">
            <a:extLst>
              <a:ext uri="{FF2B5EF4-FFF2-40B4-BE49-F238E27FC236}">
                <a16:creationId xmlns:a16="http://schemas.microsoft.com/office/drawing/2014/main" id="{D1ABC096-526E-60B3-A47C-C5E7AA9C20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6020" name="Rectangle 2">
            <a:extLst>
              <a:ext uri="{FF2B5EF4-FFF2-40B4-BE49-F238E27FC236}">
                <a16:creationId xmlns:a16="http://schemas.microsoft.com/office/drawing/2014/main" id="{464F3D47-9F2F-E6EB-97F6-A01A6705A5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2">
            <a:extLst>
              <a:ext uri="{FF2B5EF4-FFF2-40B4-BE49-F238E27FC236}">
                <a16:creationId xmlns:a16="http://schemas.microsoft.com/office/drawing/2014/main" id="{1841BB6A-ACB9-E444-900B-F8E7E92CB07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CA33521-6243-204D-89D0-58964C3F2D0F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tr-TR" altLang="tr-TR"/>
          </a:p>
        </p:txBody>
      </p:sp>
      <p:sp>
        <p:nvSpPr>
          <p:cNvPr id="88067" name="Rectangle 1">
            <a:extLst>
              <a:ext uri="{FF2B5EF4-FFF2-40B4-BE49-F238E27FC236}">
                <a16:creationId xmlns:a16="http://schemas.microsoft.com/office/drawing/2014/main" id="{BF878EC2-DE56-E74D-50C4-8165A051CD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8068" name="Rectangle 2">
            <a:extLst>
              <a:ext uri="{FF2B5EF4-FFF2-40B4-BE49-F238E27FC236}">
                <a16:creationId xmlns:a16="http://schemas.microsoft.com/office/drawing/2014/main" id="{83C3C89C-CEF4-7FDC-A813-724B42211C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2">
            <a:extLst>
              <a:ext uri="{FF2B5EF4-FFF2-40B4-BE49-F238E27FC236}">
                <a16:creationId xmlns:a16="http://schemas.microsoft.com/office/drawing/2014/main" id="{E32BE017-7F11-EE45-A809-96C7EE82347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4DA7BB7-CC90-AC42-966E-DBD07B9C928B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tr-TR" altLang="tr-TR"/>
          </a:p>
        </p:txBody>
      </p:sp>
      <p:sp>
        <p:nvSpPr>
          <p:cNvPr id="90115" name="Rectangle 1">
            <a:extLst>
              <a:ext uri="{FF2B5EF4-FFF2-40B4-BE49-F238E27FC236}">
                <a16:creationId xmlns:a16="http://schemas.microsoft.com/office/drawing/2014/main" id="{895B54B8-4AAF-9944-A27A-FADD0BCBC9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0116" name="Rectangle 2">
            <a:extLst>
              <a:ext uri="{FF2B5EF4-FFF2-40B4-BE49-F238E27FC236}">
                <a16:creationId xmlns:a16="http://schemas.microsoft.com/office/drawing/2014/main" id="{0A2B6CFA-7F8D-86E3-1C1B-0A0F0FE456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2">
            <a:extLst>
              <a:ext uri="{FF2B5EF4-FFF2-40B4-BE49-F238E27FC236}">
                <a16:creationId xmlns:a16="http://schemas.microsoft.com/office/drawing/2014/main" id="{25B53012-1178-594B-87A5-0E9B5E30D08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1C87454-2E58-734A-A176-C0E389E1AF32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tr-TR" altLang="tr-TR"/>
          </a:p>
        </p:txBody>
      </p:sp>
      <p:sp>
        <p:nvSpPr>
          <p:cNvPr id="92163" name="Rectangle 1">
            <a:extLst>
              <a:ext uri="{FF2B5EF4-FFF2-40B4-BE49-F238E27FC236}">
                <a16:creationId xmlns:a16="http://schemas.microsoft.com/office/drawing/2014/main" id="{08160710-54EF-2F74-501A-BF246A4B23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164" name="Rectangle 2">
            <a:extLst>
              <a:ext uri="{FF2B5EF4-FFF2-40B4-BE49-F238E27FC236}">
                <a16:creationId xmlns:a16="http://schemas.microsoft.com/office/drawing/2014/main" id="{1075CB99-19E2-D78B-A403-7FE547589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2">
            <a:extLst>
              <a:ext uri="{FF2B5EF4-FFF2-40B4-BE49-F238E27FC236}">
                <a16:creationId xmlns:a16="http://schemas.microsoft.com/office/drawing/2014/main" id="{25B53012-1178-594B-87A5-0E9B5E30D08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1FA2BB6-8F9D-5E41-AC26-F1DC3E4A6F57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46</a:t>
            </a:fld>
            <a:endParaRPr lang="tr-TR" altLang="tr-TR"/>
          </a:p>
        </p:txBody>
      </p:sp>
      <p:sp>
        <p:nvSpPr>
          <p:cNvPr id="94211" name="Rectangle 1">
            <a:extLst>
              <a:ext uri="{FF2B5EF4-FFF2-40B4-BE49-F238E27FC236}">
                <a16:creationId xmlns:a16="http://schemas.microsoft.com/office/drawing/2014/main" id="{561E82E6-55D5-B0EA-D858-79FB466D22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2" name="Rectangle 2">
            <a:extLst>
              <a:ext uri="{FF2B5EF4-FFF2-40B4-BE49-F238E27FC236}">
                <a16:creationId xmlns:a16="http://schemas.microsoft.com/office/drawing/2014/main" id="{C00422D0-40BE-C3CB-A2A9-210E3B694D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2">
            <a:extLst>
              <a:ext uri="{FF2B5EF4-FFF2-40B4-BE49-F238E27FC236}">
                <a16:creationId xmlns:a16="http://schemas.microsoft.com/office/drawing/2014/main" id="{25B53012-1178-594B-87A5-0E9B5E30D08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79D4A87-9583-654D-BE71-602DB98D4589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tr-TR" altLang="tr-TR"/>
          </a:p>
        </p:txBody>
      </p:sp>
      <p:sp>
        <p:nvSpPr>
          <p:cNvPr id="96259" name="Rectangle 1">
            <a:extLst>
              <a:ext uri="{FF2B5EF4-FFF2-40B4-BE49-F238E27FC236}">
                <a16:creationId xmlns:a16="http://schemas.microsoft.com/office/drawing/2014/main" id="{C2709F18-9B2A-DC85-8014-475FDE1BDE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6260" name="Rectangle 2">
            <a:extLst>
              <a:ext uri="{FF2B5EF4-FFF2-40B4-BE49-F238E27FC236}">
                <a16:creationId xmlns:a16="http://schemas.microsoft.com/office/drawing/2014/main" id="{86E4C322-BCEF-E7A8-9D60-C1CC13FBA0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tr-TR" altLang="tr-TR"/>
              <a:t>4th one: this sum gives the nth harmonic number, which is about as large as the natural logarithm of n. The reason is that the sum is approximated by the integral int_1^n 1/x dx, whose value is lnn (sum of yellow bars above gives ln6).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2">
            <a:extLst>
              <a:ext uri="{FF2B5EF4-FFF2-40B4-BE49-F238E27FC236}">
                <a16:creationId xmlns:a16="http://schemas.microsoft.com/office/drawing/2014/main" id="{25B53012-1178-594B-87A5-0E9B5E30D08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4CB67B1-BDF6-8641-82E4-2C4A6243679C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48</a:t>
            </a:fld>
            <a:endParaRPr lang="tr-TR" altLang="tr-TR"/>
          </a:p>
        </p:txBody>
      </p:sp>
      <p:sp>
        <p:nvSpPr>
          <p:cNvPr id="98307" name="Rectangle 1">
            <a:extLst>
              <a:ext uri="{FF2B5EF4-FFF2-40B4-BE49-F238E27FC236}">
                <a16:creationId xmlns:a16="http://schemas.microsoft.com/office/drawing/2014/main" id="{3D81C057-706C-5728-1F5D-3A8E615BFE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8308" name="Rectangle 2">
            <a:extLst>
              <a:ext uri="{FF2B5EF4-FFF2-40B4-BE49-F238E27FC236}">
                <a16:creationId xmlns:a16="http://schemas.microsoft.com/office/drawing/2014/main" id="{76A87678-BAE9-BB17-69F8-61C2016320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2">
            <a:extLst>
              <a:ext uri="{FF2B5EF4-FFF2-40B4-BE49-F238E27FC236}">
                <a16:creationId xmlns:a16="http://schemas.microsoft.com/office/drawing/2014/main" id="{810996FD-6A86-BA43-A767-7F7AD6E32F2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A6CEC20-76BF-8A41-A045-97FDC16278E1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49</a:t>
            </a:fld>
            <a:endParaRPr lang="tr-TR" altLang="tr-TR"/>
          </a:p>
        </p:txBody>
      </p:sp>
      <p:sp>
        <p:nvSpPr>
          <p:cNvPr id="100355" name="Rectangle 1">
            <a:extLst>
              <a:ext uri="{FF2B5EF4-FFF2-40B4-BE49-F238E27FC236}">
                <a16:creationId xmlns:a16="http://schemas.microsoft.com/office/drawing/2014/main" id="{AE5EA772-1AD3-9F07-D080-C6D52A5E75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0356" name="Rectangle 2">
            <a:extLst>
              <a:ext uri="{FF2B5EF4-FFF2-40B4-BE49-F238E27FC236}">
                <a16:creationId xmlns:a16="http://schemas.microsoft.com/office/drawing/2014/main" id="{9938C693-E706-027A-29A6-DA07B4A998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2">
            <a:extLst>
              <a:ext uri="{FF2B5EF4-FFF2-40B4-BE49-F238E27FC236}">
                <a16:creationId xmlns:a16="http://schemas.microsoft.com/office/drawing/2014/main" id="{D46A64A1-E952-6F4A-AC39-373B5E3F276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7EDDC4B-5FEF-AB4B-982D-6BA83D81FCE3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50</a:t>
            </a:fld>
            <a:endParaRPr lang="tr-TR" altLang="tr-TR"/>
          </a:p>
        </p:txBody>
      </p:sp>
      <p:sp>
        <p:nvSpPr>
          <p:cNvPr id="102403" name="Rectangle 1">
            <a:extLst>
              <a:ext uri="{FF2B5EF4-FFF2-40B4-BE49-F238E27FC236}">
                <a16:creationId xmlns:a16="http://schemas.microsoft.com/office/drawing/2014/main" id="{F292F91B-1931-A57B-97BE-2DE313540D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2404" name="Rectangle 2">
            <a:extLst>
              <a:ext uri="{FF2B5EF4-FFF2-40B4-BE49-F238E27FC236}">
                <a16:creationId xmlns:a16="http://schemas.microsoft.com/office/drawing/2014/main" id="{E8B31D95-0922-F791-AB37-E2FF3A1664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>
            <a:extLst>
              <a:ext uri="{FF2B5EF4-FFF2-40B4-BE49-F238E27FC236}">
                <a16:creationId xmlns:a16="http://schemas.microsoft.com/office/drawing/2014/main" id="{09D45C31-7E6A-472A-30A7-258B966C82E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7CC1184-8186-4047-BCF8-3DDB498B946E}" type="slidenum">
              <a:rPr lang="en-US" altLang="tr-TR">
                <a:solidFill>
                  <a:schemeClr val="tx1"/>
                </a:solidFill>
                <a:ea typeface="ＭＳ Ｐゴシック" panose="020B060007020508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51</a:t>
            </a:fld>
            <a:endParaRPr lang="en-US" altLang="tr-TR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269F0869-6E1F-FA49-8536-D4BBBF5CFE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59300" cy="3419475"/>
          </a:xfrm>
          <a:solidFill>
            <a:srgbClr val="FFFFFF"/>
          </a:solidFill>
          <a:ln/>
        </p:spPr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BCC12440-0166-7A1C-3D94-3FD611791E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>
            <a:extLst>
              <a:ext uri="{FF2B5EF4-FFF2-40B4-BE49-F238E27FC236}">
                <a16:creationId xmlns:a16="http://schemas.microsoft.com/office/drawing/2014/main" id="{4BF79D8F-5967-023D-C8E7-18C7332B214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4140A25-CDFF-6A4D-9682-EEBDEFB28D8D}" type="slidenum">
              <a:rPr lang="en-US" altLang="tr-TR">
                <a:solidFill>
                  <a:schemeClr val="tx1"/>
                </a:solidFill>
                <a:ea typeface="ＭＳ Ｐゴシック" panose="020B060007020508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54</a:t>
            </a:fld>
            <a:endParaRPr lang="en-US" altLang="tr-TR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269F0869-6E1F-FA49-8536-D4BBBF5CFE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59300" cy="3419475"/>
          </a:xfrm>
          <a:solidFill>
            <a:srgbClr val="FFFFFF"/>
          </a:solidFill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7E71BDF7-A660-195F-D7D2-D9B09302AD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7">
            <a:extLst>
              <a:ext uri="{FF2B5EF4-FFF2-40B4-BE49-F238E27FC236}">
                <a16:creationId xmlns:a16="http://schemas.microsoft.com/office/drawing/2014/main" id="{0FEF819E-8B63-9C68-1EC2-9ED54ED3141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E1F5501-B7CF-8B45-97C5-9998383CDA09}" type="slidenum">
              <a:rPr lang="en-US" altLang="tr-TR">
                <a:solidFill>
                  <a:schemeClr val="tx1"/>
                </a:solidFill>
                <a:ea typeface="ＭＳ Ｐゴシック" panose="020B060007020508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55</a:t>
            </a:fld>
            <a:endParaRPr lang="en-US" altLang="tr-TR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269F0869-6E1F-FA49-8536-D4BBBF5CFE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59300" cy="3419475"/>
          </a:xfrm>
          <a:solidFill>
            <a:srgbClr val="FFFFFF"/>
          </a:solidFill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A7D86331-8F46-7217-743A-35C04B1AD3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>
            <a:extLst>
              <a:ext uri="{FF2B5EF4-FFF2-40B4-BE49-F238E27FC236}">
                <a16:creationId xmlns:a16="http://schemas.microsoft.com/office/drawing/2014/main" id="{4FA9ACB6-9313-AA4C-40CF-4F42923B4BB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3642CF3-5CFF-AC46-84A7-86278F4FE531}" type="slidenum">
              <a:rPr lang="en-US" altLang="tr-TR">
                <a:solidFill>
                  <a:schemeClr val="tx1"/>
                </a:solidFill>
                <a:ea typeface="ＭＳ Ｐゴシック" panose="020B060007020508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56</a:t>
            </a:fld>
            <a:endParaRPr lang="en-US" altLang="tr-TR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269F0869-6E1F-FA49-8536-D4BBBF5CFE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59300" cy="3419475"/>
          </a:xfrm>
          <a:solidFill>
            <a:srgbClr val="FFFFFF"/>
          </a:solidFill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CD9C4C40-CF9F-BF27-410E-DFA3158E58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>
            <a:extLst>
              <a:ext uri="{FF2B5EF4-FFF2-40B4-BE49-F238E27FC236}">
                <a16:creationId xmlns:a16="http://schemas.microsoft.com/office/drawing/2014/main" id="{6B7DC6EB-7A19-7760-437C-00A2E0A1E85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89EA0D6-40D6-FE4D-956E-D0EC1EF04A4D}" type="slidenum">
              <a:rPr lang="en-US" altLang="tr-TR">
                <a:solidFill>
                  <a:schemeClr val="tx1"/>
                </a:solidFill>
                <a:ea typeface="ＭＳ Ｐゴシック" panose="020B060007020508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57</a:t>
            </a:fld>
            <a:endParaRPr lang="en-US" altLang="tr-TR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269F0869-6E1F-FA49-8536-D4BBBF5CFE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59300" cy="3419475"/>
          </a:xfrm>
          <a:solidFill>
            <a:srgbClr val="FFFFFF"/>
          </a:solidFill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6DE0B1BB-8F12-2FCB-E40E-57F9826BEF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7">
            <a:extLst>
              <a:ext uri="{FF2B5EF4-FFF2-40B4-BE49-F238E27FC236}">
                <a16:creationId xmlns:a16="http://schemas.microsoft.com/office/drawing/2014/main" id="{876D5F56-D5C9-389C-F6C3-554783572F1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66695D-6DAD-4443-BBC2-5DED31F41287}" type="slidenum">
              <a:rPr lang="en-US" altLang="tr-TR">
                <a:solidFill>
                  <a:schemeClr val="tx1"/>
                </a:solidFill>
                <a:ea typeface="ＭＳ Ｐゴシック" panose="020B060007020508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58</a:t>
            </a:fld>
            <a:endParaRPr lang="en-US" altLang="tr-TR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269F0869-6E1F-FA49-8536-D4BBBF5CFE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59300" cy="3419475"/>
          </a:xfrm>
          <a:solidFill>
            <a:srgbClr val="FFFFFF"/>
          </a:solidFill>
          <a:ln/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B29A71F8-7D6F-7EF5-003B-096AB34980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7">
            <a:extLst>
              <a:ext uri="{FF2B5EF4-FFF2-40B4-BE49-F238E27FC236}">
                <a16:creationId xmlns:a16="http://schemas.microsoft.com/office/drawing/2014/main" id="{FE5C65E5-4F44-2CD8-1C2A-6555895275E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A0C7CF-4D54-0041-B7C1-1BC555A00E0B}" type="slidenum">
              <a:rPr lang="en-US" altLang="tr-TR">
                <a:solidFill>
                  <a:schemeClr val="tx1"/>
                </a:solidFill>
                <a:ea typeface="ＭＳ Ｐゴシック" panose="020B060007020508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59</a:t>
            </a:fld>
            <a:endParaRPr lang="en-US" altLang="tr-TR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269F0869-6E1F-FA49-8536-D4BBBF5CFE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59300" cy="3419475"/>
          </a:xfrm>
          <a:solidFill>
            <a:srgbClr val="FFFFFF"/>
          </a:solidFill>
          <a:ln/>
        </p:spPr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79632BDC-7F61-E4AD-9F78-78F8ED671B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7">
            <a:extLst>
              <a:ext uri="{FF2B5EF4-FFF2-40B4-BE49-F238E27FC236}">
                <a16:creationId xmlns:a16="http://schemas.microsoft.com/office/drawing/2014/main" id="{541F12B9-7C95-191D-34CD-802D2A0EBEF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388DE86-7166-9843-9F8C-670C96F5F77D}" type="slidenum">
              <a:rPr lang="en-US" altLang="tr-TR">
                <a:solidFill>
                  <a:schemeClr val="tx1"/>
                </a:solidFill>
                <a:ea typeface="ＭＳ Ｐゴシック" panose="020B060007020508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60</a:t>
            </a:fld>
            <a:endParaRPr lang="en-US" altLang="tr-TR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269F0869-6E1F-FA49-8536-D4BBBF5CFE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59300" cy="3419475"/>
          </a:xfrm>
          <a:solidFill>
            <a:srgbClr val="FFFFFF"/>
          </a:solidFill>
          <a:ln/>
        </p:spPr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7412666D-15B2-CF1C-E126-1DFDDC3D15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7">
            <a:extLst>
              <a:ext uri="{FF2B5EF4-FFF2-40B4-BE49-F238E27FC236}">
                <a16:creationId xmlns:a16="http://schemas.microsoft.com/office/drawing/2014/main" id="{E4C2DDE1-AA03-B860-BD83-04F768A46E8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3359F68-1AEF-5D4A-B69A-B9A3DE7B5630}" type="slidenum">
              <a:rPr lang="en-US" altLang="tr-TR">
                <a:solidFill>
                  <a:schemeClr val="tx1"/>
                </a:solidFill>
                <a:ea typeface="ＭＳ Ｐゴシック" panose="020B060007020508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61</a:t>
            </a:fld>
            <a:endParaRPr lang="en-US" altLang="tr-TR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269F0869-6E1F-FA49-8536-D4BBBF5CFE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59300" cy="3419475"/>
          </a:xfrm>
          <a:solidFill>
            <a:srgbClr val="FFFFFF"/>
          </a:solidFill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990A6655-E5F2-4094-0D41-BE9404FE8F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7">
            <a:extLst>
              <a:ext uri="{FF2B5EF4-FFF2-40B4-BE49-F238E27FC236}">
                <a16:creationId xmlns:a16="http://schemas.microsoft.com/office/drawing/2014/main" id="{B7443283-C298-098D-4C4E-A167C1CC912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FE937B9-8F98-1B4E-9BF3-4D8DBF5ED7C3}" type="slidenum">
              <a:rPr lang="en-US" altLang="tr-TR">
                <a:solidFill>
                  <a:schemeClr val="tx1"/>
                </a:solidFill>
                <a:ea typeface="ＭＳ Ｐゴシック" panose="020B060007020508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62</a:t>
            </a:fld>
            <a:endParaRPr lang="en-US" altLang="tr-TR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269F0869-6E1F-FA49-8536-D4BBBF5CFE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59300" cy="3419475"/>
          </a:xfrm>
          <a:solidFill>
            <a:srgbClr val="FFFFFF"/>
          </a:solidFill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C980FCF3-FB4B-8450-4E25-9FFD198F5A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7">
            <a:extLst>
              <a:ext uri="{FF2B5EF4-FFF2-40B4-BE49-F238E27FC236}">
                <a16:creationId xmlns:a16="http://schemas.microsoft.com/office/drawing/2014/main" id="{B140FEA0-4BAC-3B65-7DA8-7D65C801C31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12129C8-A71A-3046-B8FB-41B1C5EF713C}" type="slidenum">
              <a:rPr lang="en-US" altLang="tr-TR">
                <a:solidFill>
                  <a:schemeClr val="tx1"/>
                </a:solidFill>
                <a:ea typeface="ＭＳ Ｐゴシック" panose="020B060007020508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63</a:t>
            </a:fld>
            <a:endParaRPr lang="en-US" altLang="tr-TR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269F0869-6E1F-FA49-8536-D4BBBF5CFE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59300" cy="3419475"/>
          </a:xfrm>
          <a:solidFill>
            <a:srgbClr val="FFFFFF"/>
          </a:solidFill>
          <a:ln/>
        </p:spPr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6B079300-E81B-1FD4-29BD-F1F78370AB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7">
            <a:extLst>
              <a:ext uri="{FF2B5EF4-FFF2-40B4-BE49-F238E27FC236}">
                <a16:creationId xmlns:a16="http://schemas.microsoft.com/office/drawing/2014/main" id="{0280597B-FC6E-C57A-5A92-EC2DACFC263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B42E675-1AB0-E14C-AAC1-BBE5D7E361F3}" type="slidenum">
              <a:rPr lang="en-US" altLang="tr-TR">
                <a:solidFill>
                  <a:schemeClr val="tx1"/>
                </a:solidFill>
                <a:ea typeface="ＭＳ Ｐゴシック" panose="020B060007020508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64</a:t>
            </a:fld>
            <a:endParaRPr lang="en-US" altLang="tr-TR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269F0869-6E1F-FA49-8536-D4BBBF5CFE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59300" cy="3419475"/>
          </a:xfrm>
          <a:solidFill>
            <a:srgbClr val="FFFFFF"/>
          </a:solidFill>
          <a:ln/>
        </p:spPr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41C45B4F-B3D4-BF84-CDEC-192018F4EF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2">
            <a:extLst>
              <a:ext uri="{FF2B5EF4-FFF2-40B4-BE49-F238E27FC236}">
                <a16:creationId xmlns:a16="http://schemas.microsoft.com/office/drawing/2014/main" id="{B6F7218D-5428-2643-B5EB-2F8D782D278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E0E62EB-4F43-B145-8256-7641BDD80819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65</a:t>
            </a:fld>
            <a:endParaRPr lang="tr-TR" altLang="tr-TR"/>
          </a:p>
        </p:txBody>
      </p:sp>
      <p:sp>
        <p:nvSpPr>
          <p:cNvPr id="131075" name="Rectangle 1">
            <a:extLst>
              <a:ext uri="{FF2B5EF4-FFF2-40B4-BE49-F238E27FC236}">
                <a16:creationId xmlns:a16="http://schemas.microsoft.com/office/drawing/2014/main" id="{7061BF55-CD11-C416-A1F6-C7BFA0BBE6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1076" name="Rectangle 2">
            <a:extLst>
              <a:ext uri="{FF2B5EF4-FFF2-40B4-BE49-F238E27FC236}">
                <a16:creationId xmlns:a16="http://schemas.microsoft.com/office/drawing/2014/main" id="{9501249F-54B7-A2A8-9752-DDD7BAF474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2">
            <a:extLst>
              <a:ext uri="{FF2B5EF4-FFF2-40B4-BE49-F238E27FC236}">
                <a16:creationId xmlns:a16="http://schemas.microsoft.com/office/drawing/2014/main" id="{D99E0B5B-8335-5848-AB24-35097DC8622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758EB31-4CEF-CE4E-AA31-CD5BEFA4EB8E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66</a:t>
            </a:fld>
            <a:endParaRPr lang="tr-TR" altLang="tr-TR"/>
          </a:p>
        </p:txBody>
      </p:sp>
      <p:sp>
        <p:nvSpPr>
          <p:cNvPr id="133123" name="Rectangle 1">
            <a:extLst>
              <a:ext uri="{FF2B5EF4-FFF2-40B4-BE49-F238E27FC236}">
                <a16:creationId xmlns:a16="http://schemas.microsoft.com/office/drawing/2014/main" id="{D83791FE-E1BC-10EF-A84B-F4E014EAD8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3124" name="Rectangle 2">
            <a:extLst>
              <a:ext uri="{FF2B5EF4-FFF2-40B4-BE49-F238E27FC236}">
                <a16:creationId xmlns:a16="http://schemas.microsoft.com/office/drawing/2014/main" id="{AC4C36B4-A34F-FDB6-7DC7-B58567CC60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2">
            <a:extLst>
              <a:ext uri="{FF2B5EF4-FFF2-40B4-BE49-F238E27FC236}">
                <a16:creationId xmlns:a16="http://schemas.microsoft.com/office/drawing/2014/main" id="{937CB464-B5A7-214B-9037-6C654413799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8F54773-CD66-E049-86E1-92ABB1237A77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67</a:t>
            </a:fld>
            <a:endParaRPr lang="tr-TR" altLang="tr-TR"/>
          </a:p>
        </p:txBody>
      </p:sp>
      <p:sp>
        <p:nvSpPr>
          <p:cNvPr id="135171" name="Rectangle 1">
            <a:extLst>
              <a:ext uri="{FF2B5EF4-FFF2-40B4-BE49-F238E27FC236}">
                <a16:creationId xmlns:a16="http://schemas.microsoft.com/office/drawing/2014/main" id="{ACD0DB25-B2BB-C58E-0817-C666A153D0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5172" name="Rectangle 2">
            <a:extLst>
              <a:ext uri="{FF2B5EF4-FFF2-40B4-BE49-F238E27FC236}">
                <a16:creationId xmlns:a16="http://schemas.microsoft.com/office/drawing/2014/main" id="{5CD2CEE2-5C79-325B-3FDA-7DB5ACC445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2">
            <a:extLst>
              <a:ext uri="{FF2B5EF4-FFF2-40B4-BE49-F238E27FC236}">
                <a16:creationId xmlns:a16="http://schemas.microsoft.com/office/drawing/2014/main" id="{AD38C2D3-E1AB-0C43-8D82-245EE947C0A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72A151C-651A-0847-A731-A03C10C36851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68</a:t>
            </a:fld>
            <a:endParaRPr lang="tr-TR" altLang="tr-TR"/>
          </a:p>
        </p:txBody>
      </p:sp>
      <p:sp>
        <p:nvSpPr>
          <p:cNvPr id="137219" name="Rectangle 1">
            <a:extLst>
              <a:ext uri="{FF2B5EF4-FFF2-40B4-BE49-F238E27FC236}">
                <a16:creationId xmlns:a16="http://schemas.microsoft.com/office/drawing/2014/main" id="{CAD55350-693C-3A8E-1093-6E271EA14E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7220" name="Rectangle 2">
            <a:extLst>
              <a:ext uri="{FF2B5EF4-FFF2-40B4-BE49-F238E27FC236}">
                <a16:creationId xmlns:a16="http://schemas.microsoft.com/office/drawing/2014/main" id="{BEAC0147-0384-1F61-4B06-42A52DAA3F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2">
            <a:extLst>
              <a:ext uri="{FF2B5EF4-FFF2-40B4-BE49-F238E27FC236}">
                <a16:creationId xmlns:a16="http://schemas.microsoft.com/office/drawing/2014/main" id="{C3CD0835-B499-1D4A-B107-67737938976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1CA0D18-3566-074B-A441-D3A7662A6312}" type="slidenum">
              <a:rPr lang="tr-TR" altLang="tr-TR"/>
              <a:pPr>
                <a:spcBef>
                  <a:spcPct val="0"/>
                </a:spcBef>
                <a:buClrTx/>
                <a:buFontTx/>
                <a:buNone/>
              </a:pPr>
              <a:t>69</a:t>
            </a:fld>
            <a:endParaRPr lang="tr-TR" altLang="tr-TR"/>
          </a:p>
        </p:txBody>
      </p:sp>
      <p:sp>
        <p:nvSpPr>
          <p:cNvPr id="139267" name="Rectangle 1">
            <a:extLst>
              <a:ext uri="{FF2B5EF4-FFF2-40B4-BE49-F238E27FC236}">
                <a16:creationId xmlns:a16="http://schemas.microsoft.com/office/drawing/2014/main" id="{9612A4D7-91D9-BEE5-1BFE-49A67BA9A9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9268" name="Rectangle 2">
            <a:extLst>
              <a:ext uri="{FF2B5EF4-FFF2-40B4-BE49-F238E27FC236}">
                <a16:creationId xmlns:a16="http://schemas.microsoft.com/office/drawing/2014/main" id="{191E4FE5-977F-6AEB-B4FC-3D46ED9EFB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501886B-21B6-56C9-FEC7-BFBAFB44ACE3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6EC6D37-976C-9D48-C578-3C8B78BF2E14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25E76B-7C4B-074E-85A4-FC879290108F}" type="slidenum">
              <a:rPr lang="tr-TR" altLang="tr-TR"/>
              <a:pPr/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775939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7C77B24-30B1-5C31-DE2C-CB5EE85CD026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8FE6EC1-D603-6B8D-058A-7D8122D3634E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59ECBC-6FEC-6E4A-A9D8-48515985AFEB}" type="slidenum">
              <a:rPr lang="tr-TR" altLang="tr-TR"/>
              <a:pPr/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413945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9CB055B-90BD-0557-2DA1-02EFC334FA36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16A7B9A-1343-4796-CE8F-D92769F24A79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F31815-DA28-904E-B5D8-692932F98AF9}" type="slidenum">
              <a:rPr lang="tr-TR" altLang="tr-TR"/>
              <a:pPr/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60718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05238" cy="4562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524000"/>
            <a:ext cx="3805237" cy="4562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80152D-2378-46B6-718C-5A16BA4A04DB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97CEA6-79F3-74F3-0B79-505568285BCB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550796-1D9D-5C49-AB54-AB624D288285}" type="slidenum">
              <a:rPr lang="tr-TR" altLang="tr-TR"/>
              <a:pPr/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938381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9E93C5D-5558-148B-9164-C91B06D1025E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7F5C47A-A0AD-C404-6180-26B0D8D9939B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F8BF9B-181F-904C-B99C-80993EAEFBE8}" type="slidenum">
              <a:rPr lang="tr-TR" altLang="tr-TR"/>
              <a:pPr/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167498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FEAC563-109A-0D6F-076B-6C19D5A50EFB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603DDE4-4D51-2393-4A7E-86C625199EA8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D6FAE2-CD6A-CE44-BF99-D97A80ACBC5C}" type="slidenum">
              <a:rPr lang="tr-TR" altLang="tr-TR"/>
              <a:pPr/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471613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2BDB73E-DEE1-6856-A899-24FD5305EC3A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A2DBF5A-A2BB-AD7E-0908-EC99CF30517A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0784F7-FE47-2848-AE93-1DECE695C296}" type="slidenum">
              <a:rPr lang="tr-TR" altLang="tr-TR"/>
              <a:pPr/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132336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9BB388-1C75-3583-5F9A-6F2E853F5A53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85CE99-F066-8931-9F8F-6525A29BCF39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D8CD6F-0EBD-B444-B004-6E3C7A55119E}" type="slidenum">
              <a:rPr lang="tr-TR" altLang="tr-TR"/>
              <a:pPr/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957237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B8913A-6FC4-1C85-C2B3-1A02443D12AD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3A3A0D-D634-3289-4B3A-421055D123E4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BDF7EF-BB66-E440-AC1E-09839CAA4DBB}" type="slidenum">
              <a:rPr lang="tr-TR" altLang="tr-TR"/>
              <a:pPr/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829633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5B70CB5-C307-61E8-B515-17D709CFC801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F276D0C-A1FE-9171-113D-D9E5DD16BE2B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D933D5-4AB1-1445-9A11-A37841591E7B}" type="slidenum">
              <a:rPr lang="tr-TR" altLang="tr-TR"/>
              <a:pPr/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39516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5900" y="457200"/>
            <a:ext cx="1958975" cy="56292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727700" cy="5629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24670C-D90C-3456-F5E5-29CFF1A832C3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6F3CE44-73A8-85D9-947E-6E51E50E1175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F3EAE8-540C-FC44-A2AF-D1737B4C060E}" type="slidenum">
              <a:rPr lang="tr-TR" altLang="tr-TR"/>
              <a:pPr/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349544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D84A15B-B89C-2908-CA68-9FA913296E99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97D1025-11EE-CE60-37CC-C680B9815FC7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9D4735-D5B0-F345-9A3F-82567A643F98}" type="slidenum">
              <a:rPr lang="tr-TR" altLang="tr-TR"/>
              <a:pPr/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973785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A936CE-41C0-B278-F3BF-0C790AA4ADED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9F4D25C-B56E-91DD-EC71-F04D044647B1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884A25-9393-7F45-8646-DF3F7CAB0881}" type="slidenum">
              <a:rPr lang="tr-TR" altLang="tr-TR"/>
              <a:pPr/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4550719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9EBC07-4CF3-B356-09C7-FA0560F015E5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161B4C2-2618-F836-8B6F-0D190F2246EC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43841C-DA5C-BF4C-87F8-96C4D18ED457}" type="slidenum">
              <a:rPr lang="tr-TR" altLang="tr-TR"/>
              <a:pPr/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3270882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425" y="1219200"/>
            <a:ext cx="4208463" cy="5095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3288" y="1219200"/>
            <a:ext cx="4210050" cy="5095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468B95-1819-F78A-37CE-C55F8DEC727C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4F4F9E-44F6-62BD-6BA2-8F124D848C32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4AA33A-EF62-C444-87DF-5C89E69B8126}" type="slidenum">
              <a:rPr lang="tr-TR" altLang="tr-TR"/>
              <a:pPr/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7196845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4133B74-1C88-16E0-B5AB-05F06F38E38F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9C203A6-BE8C-6A89-D06A-DFF263373FDD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3AFE9E-BB10-1943-B96D-5A186302A04E}" type="slidenum">
              <a:rPr lang="tr-TR" altLang="tr-TR"/>
              <a:pPr/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33417720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7E33096-E804-B9FF-031F-6B43ED042DDB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D7C3D57-8758-92FB-12BC-8142C089FD76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FFCA1E-52C9-684E-A1ED-33E2D4207E0F}" type="slidenum">
              <a:rPr lang="tr-TR" altLang="tr-TR"/>
              <a:pPr/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8476088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1B90ABC-F5CE-47F4-CCE4-6E9EFB8888F9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47E8738-4372-B6DB-51D7-BD7E3E32F721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BF0723-F488-0C43-A5C9-9F60103A3814}" type="slidenum">
              <a:rPr lang="tr-TR" altLang="tr-TR"/>
              <a:pPr/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36789080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C61FE4-7CED-E924-18CB-E63CFABEC2F7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1644D0-F4FE-EAAC-9DCC-0CBA7800C41A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5676DB-5F45-0F4B-9496-010D29B9927C}" type="slidenum">
              <a:rPr lang="tr-TR" altLang="tr-TR"/>
              <a:pPr/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40797727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9EAE39-8D4F-B885-9F6F-470D651CC1AE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5A0E81-9559-4A57-CAD2-2B2501916F85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C8AD94-CFFD-DF4F-9CB8-6013749D56AA}" type="slidenum">
              <a:rPr lang="tr-TR" altLang="tr-TR"/>
              <a:pPr/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7430317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F7ABC6-D8F8-6F7F-4C6C-0EB238B5A52C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C51E32-106E-271D-A2DE-4F4F723AABE5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AEC29C-229D-1B41-BF5A-318CB07C22F0}" type="slidenum">
              <a:rPr lang="tr-TR" altLang="tr-TR"/>
              <a:pPr/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9894503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34188" y="152400"/>
            <a:ext cx="2159000" cy="61626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425" y="152400"/>
            <a:ext cx="6329363" cy="6162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626BC29-373F-F30B-1623-7739D65F66F9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4008435-268C-AC45-78AC-8F2A91C80CFD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4D135B-1BC6-974D-AAE9-E0A680CE0AFF}" type="slidenum">
              <a:rPr lang="tr-TR" altLang="tr-TR"/>
              <a:pPr/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980455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554C334C-71DC-B14D-A7CE-36E3307D48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457200"/>
            <a:ext cx="7762875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tr-TR"/>
              <a:t>Click to edit the title text format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0F671B3E-A709-3C44-96FB-76938C52DB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62875" cy="456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tr-TR"/>
              <a:t>Click to edit the outline text format</a:t>
            </a:r>
          </a:p>
          <a:p>
            <a:pPr lvl="1"/>
            <a:r>
              <a:rPr lang="en-GB" altLang="tr-TR"/>
              <a:t>Second Outline Level</a:t>
            </a:r>
          </a:p>
          <a:p>
            <a:pPr lvl="2"/>
            <a:r>
              <a:rPr lang="en-GB" altLang="tr-TR"/>
              <a:t>Third Outline Level</a:t>
            </a:r>
          </a:p>
          <a:p>
            <a:pPr lvl="3"/>
            <a:r>
              <a:rPr lang="en-GB" altLang="tr-TR"/>
              <a:t>Fourth Outline Level</a:t>
            </a:r>
          </a:p>
          <a:p>
            <a:pPr lvl="4"/>
            <a:r>
              <a:rPr lang="en-GB" altLang="tr-TR"/>
              <a:t>Fifth Outline Level</a:t>
            </a:r>
          </a:p>
          <a:p>
            <a:pPr lvl="4"/>
            <a:r>
              <a:rPr lang="en-GB" altLang="tr-TR"/>
              <a:t>Sixth Outline Level</a:t>
            </a:r>
          </a:p>
          <a:p>
            <a:pPr lvl="4"/>
            <a:r>
              <a:rPr lang="en-GB" altLang="tr-TR"/>
              <a:t>Seventh Outline Level</a:t>
            </a:r>
          </a:p>
        </p:txBody>
      </p:sp>
      <p:sp>
        <p:nvSpPr>
          <p:cNvPr id="1028" name="Text Box 3">
            <a:extLst>
              <a:ext uri="{FF2B5EF4-FFF2-40B4-BE49-F238E27FC236}">
                <a16:creationId xmlns:a16="http://schemas.microsoft.com/office/drawing/2014/main" id="{A6EFC5D0-5B65-BA47-9FF8-DE8CB06EE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248400"/>
            <a:ext cx="19050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tr-TR" altLang="en-US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3BD24346-542D-6842-A459-B9C25BE26E66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6075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 hangingPunct="1"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433FF9A-DC7E-B842-AEF1-CE3C0DA3353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1895475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 hangingPunct="1"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</a:defRPr>
            </a:lvl1pPr>
          </a:lstStyle>
          <a:p>
            <a:fld id="{EBB659A5-2A0A-CB45-A435-27447604D208}" type="slidenum">
              <a:rPr lang="tr-TR" altLang="tr-TR"/>
              <a:pPr/>
              <a:t>‹#›</a:t>
            </a:fld>
            <a:endParaRPr lang="tr-TR" alt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 kern="12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>
          <a:solidFill>
            <a:srgbClr val="000000"/>
          </a:solidFill>
          <a:latin typeface="Times New Roman" panose="02020603050405020304" pitchFamily="18" charset="0"/>
          <a:ea typeface="Droid Sans Fallback" charset="0"/>
          <a:cs typeface="Droid Sans Fallback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>
          <a:solidFill>
            <a:srgbClr val="000000"/>
          </a:solidFill>
          <a:latin typeface="Times New Roman" panose="02020603050405020304" pitchFamily="18" charset="0"/>
          <a:ea typeface="Droid Sans Fallback" charset="0"/>
          <a:cs typeface="Droid Sans Fallback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>
          <a:solidFill>
            <a:srgbClr val="000000"/>
          </a:solidFill>
          <a:latin typeface="Times New Roman" panose="02020603050405020304" pitchFamily="18" charset="0"/>
          <a:ea typeface="Droid Sans Fallback" charset="0"/>
          <a:cs typeface="Droid Sans Fallback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>
          <a:solidFill>
            <a:srgbClr val="000000"/>
          </a:solidFill>
          <a:latin typeface="Times New Roman" panose="02020603050405020304" pitchFamily="18" charset="0"/>
          <a:ea typeface="Droid Sans Fallback" charset="0"/>
          <a:cs typeface="Droid Sans Fallback" charset="0"/>
        </a:defRPr>
      </a:lvl5pPr>
      <a:lvl6pPr marL="25146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>
          <a:solidFill>
            <a:srgbClr val="000000"/>
          </a:solidFill>
          <a:latin typeface="Times New Roman" panose="02020603050405020304" pitchFamily="18" charset="0"/>
          <a:ea typeface="Droid Sans Fallback" charset="0"/>
          <a:cs typeface="Droid Sans Fallback" charset="0"/>
        </a:defRPr>
      </a:lvl6pPr>
      <a:lvl7pPr marL="29718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>
          <a:solidFill>
            <a:srgbClr val="000000"/>
          </a:solidFill>
          <a:latin typeface="Times New Roman" panose="02020603050405020304" pitchFamily="18" charset="0"/>
          <a:ea typeface="Droid Sans Fallback" charset="0"/>
          <a:cs typeface="Droid Sans Fallback" charset="0"/>
        </a:defRPr>
      </a:lvl7pPr>
      <a:lvl8pPr marL="34290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>
          <a:solidFill>
            <a:srgbClr val="000000"/>
          </a:solidFill>
          <a:latin typeface="Times New Roman" panose="02020603050405020304" pitchFamily="18" charset="0"/>
          <a:ea typeface="Droid Sans Fallback" charset="0"/>
          <a:cs typeface="Droid Sans Fallback" charset="0"/>
        </a:defRPr>
      </a:lvl8pPr>
      <a:lvl9pPr marL="38862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>
          <a:solidFill>
            <a:srgbClr val="000000"/>
          </a:solidFill>
          <a:latin typeface="Times New Roman" panose="02020603050405020304" pitchFamily="18" charset="0"/>
          <a:ea typeface="Droid Sans Fallback" charset="0"/>
          <a:cs typeface="Droid Sans Fallback" charset="0"/>
        </a:defRPr>
      </a:lvl9pPr>
    </p:titleStyle>
    <p:bodyStyle>
      <a:lvl1pPr marL="342900" indent="-342900" algn="l" defTabSz="457200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>
            <a:extLst>
              <a:ext uri="{FF2B5EF4-FFF2-40B4-BE49-F238E27FC236}">
                <a16:creationId xmlns:a16="http://schemas.microsoft.com/office/drawing/2014/main" id="{0306CF90-82E2-124C-B563-B86DEF44D1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52425" y="152400"/>
            <a:ext cx="8640763" cy="9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tr-TR"/>
              <a:t>Click to edit the title text format</a:t>
            </a:r>
          </a:p>
        </p:txBody>
      </p:sp>
      <p:sp>
        <p:nvSpPr>
          <p:cNvPr id="2051" name="Rectangle 2">
            <a:extLst>
              <a:ext uri="{FF2B5EF4-FFF2-40B4-BE49-F238E27FC236}">
                <a16:creationId xmlns:a16="http://schemas.microsoft.com/office/drawing/2014/main" id="{A893F0A3-589E-3E4E-ABBE-6878E4F7C5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52425" y="1219200"/>
            <a:ext cx="8570913" cy="509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tr-TR"/>
              <a:t>Click to edit the outline text format</a:t>
            </a:r>
          </a:p>
          <a:p>
            <a:pPr lvl="1"/>
            <a:r>
              <a:rPr lang="en-GB" altLang="tr-TR"/>
              <a:t>Second Outline Level</a:t>
            </a:r>
          </a:p>
          <a:p>
            <a:pPr lvl="2"/>
            <a:r>
              <a:rPr lang="en-GB" altLang="tr-TR"/>
              <a:t>Third Outline Level</a:t>
            </a:r>
          </a:p>
          <a:p>
            <a:pPr lvl="3"/>
            <a:r>
              <a:rPr lang="en-GB" altLang="tr-TR"/>
              <a:t>Fourth Outline Level</a:t>
            </a:r>
          </a:p>
          <a:p>
            <a:pPr lvl="4"/>
            <a:r>
              <a:rPr lang="en-GB" altLang="tr-TR"/>
              <a:t>Fifth Outline Level</a:t>
            </a:r>
          </a:p>
          <a:p>
            <a:pPr lvl="4"/>
            <a:r>
              <a:rPr lang="en-GB" altLang="tr-TR"/>
              <a:t>Sixth Outline Level</a:t>
            </a:r>
          </a:p>
          <a:p>
            <a:pPr lvl="4"/>
            <a:r>
              <a:rPr lang="en-GB" altLang="tr-TR"/>
              <a:t>Seventh Outline Level</a:t>
            </a:r>
          </a:p>
        </p:txBody>
      </p:sp>
      <p:sp>
        <p:nvSpPr>
          <p:cNvPr id="2052" name="Text Box 3">
            <a:extLst>
              <a:ext uri="{FF2B5EF4-FFF2-40B4-BE49-F238E27FC236}">
                <a16:creationId xmlns:a16="http://schemas.microsoft.com/office/drawing/2014/main" id="{4993E594-4660-5342-8D5E-4A9571CB5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tr-TR" altLang="en-US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38EFBA41-D1A2-404D-8D41-FF27DFFDD79A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2819400" y="6477000"/>
            <a:ext cx="341947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buSzPct val="45000"/>
              <a:tabLst>
                <a:tab pos="723900" algn="l"/>
                <a:tab pos="1447800" algn="l"/>
                <a:tab pos="2171700" algn="l"/>
                <a:tab pos="2895600" algn="l"/>
              </a:tabLst>
              <a:defRPr sz="800">
                <a:solidFill>
                  <a:srgbClr val="000000"/>
                </a:solidFill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D657B3B4-FE28-8545-9BAA-4CF46C0463E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7034213" y="6477000"/>
            <a:ext cx="189547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SzPct val="45000"/>
              <a:tabLst>
                <a:tab pos="723900" algn="l"/>
                <a:tab pos="1447800" algn="l"/>
              </a:tabLst>
              <a:defRPr sz="800">
                <a:solidFill>
                  <a:srgbClr val="000000"/>
                </a:solidFill>
                <a:ea typeface="DejaVu Sans" charset="0"/>
                <a:cs typeface="DejaVu Sans" charset="0"/>
              </a:defRPr>
            </a:lvl1pPr>
          </a:lstStyle>
          <a:p>
            <a:fld id="{9C220A43-EA56-9E43-96AB-AF9CA35EAC01}" type="slidenum">
              <a:rPr lang="tr-TR" altLang="tr-TR"/>
              <a:pPr/>
              <a:t>‹#›</a:t>
            </a:fld>
            <a:endParaRPr lang="tr-TR" alt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 kern="12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Times New Roman" panose="02020603050405020304" pitchFamily="18" charset="0"/>
          <a:ea typeface="Droid Sans Fallback" charset="0"/>
          <a:cs typeface="Droid Sans Fallback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Times New Roman" panose="02020603050405020304" pitchFamily="18" charset="0"/>
          <a:ea typeface="Droid Sans Fallback" charset="0"/>
          <a:cs typeface="Droid Sans Fallback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Times New Roman" panose="02020603050405020304" pitchFamily="18" charset="0"/>
          <a:ea typeface="Droid Sans Fallback" charset="0"/>
          <a:cs typeface="Droid Sans Fallback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Times New Roman" panose="02020603050405020304" pitchFamily="18" charset="0"/>
          <a:ea typeface="Droid Sans Fallback" charset="0"/>
          <a:cs typeface="Droid Sans Fallback" charset="0"/>
        </a:defRPr>
      </a:lvl5pPr>
      <a:lvl6pPr marL="25146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Times New Roman" panose="02020603050405020304" pitchFamily="18" charset="0"/>
          <a:ea typeface="Droid Sans Fallback" charset="0"/>
          <a:cs typeface="Droid Sans Fallback" charset="0"/>
        </a:defRPr>
      </a:lvl6pPr>
      <a:lvl7pPr marL="29718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Times New Roman" panose="02020603050405020304" pitchFamily="18" charset="0"/>
          <a:ea typeface="Droid Sans Fallback" charset="0"/>
          <a:cs typeface="Droid Sans Fallback" charset="0"/>
        </a:defRPr>
      </a:lvl7pPr>
      <a:lvl8pPr marL="34290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Times New Roman" panose="02020603050405020304" pitchFamily="18" charset="0"/>
          <a:ea typeface="Droid Sans Fallback" charset="0"/>
          <a:cs typeface="Droid Sans Fallback" charset="0"/>
        </a:defRPr>
      </a:lvl8pPr>
      <a:lvl9pPr marL="38862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Times New Roman" panose="02020603050405020304" pitchFamily="18" charset="0"/>
          <a:ea typeface="Droid Sans Fallback" charset="0"/>
          <a:cs typeface="Droid Sans Fallback" charset="0"/>
        </a:defRPr>
      </a:lvl9pPr>
    </p:titleStyle>
    <p:bodyStyle>
      <a:lvl1pPr marL="342900" indent="-342900" algn="l" defTabSz="457200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3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3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2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e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9.png"/><Relationship Id="rId4" Type="http://schemas.openxmlformats.org/officeDocument/2006/relationships/image" Target="../media/image18.em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3.emf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690562" y="3014662"/>
            <a:ext cx="7762875" cy="828675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COMP 302 </a:t>
            </a:r>
            <a:r>
              <a:rPr lang="en-US" i="1" dirty="0">
                <a:latin typeface="Arial" charset="0"/>
                <a:cs typeface="Arial" charset="0"/>
              </a:rPr>
              <a:t>Algorithms and Data Structures</a:t>
            </a:r>
            <a:endParaRPr lang="en-CA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14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>
                <a:latin typeface="Arial" charset="0"/>
                <a:cs typeface="Arial" charset="0"/>
              </a:rPr>
              <a:t>Evaluation</a:t>
            </a:r>
          </a:p>
        </p:txBody>
      </p:sp>
      <p:sp>
        <p:nvSpPr>
          <p:cNvPr id="102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buFont typeface="Arial" charset="0"/>
              <a:buChar char="‫"/>
            </a:pPr>
            <a:r>
              <a:rPr lang="en-US" dirty="0">
                <a:latin typeface="Arial" charset="0"/>
                <a:cs typeface="Arial" charset="0"/>
              </a:rPr>
              <a:t>Your grade </a:t>
            </a:r>
            <a:r>
              <a:rPr lang="en-US" i="1" dirty="0">
                <a:latin typeface="Times New Roman" pitchFamily="18" charset="0"/>
                <a:cs typeface="Arial" charset="0"/>
              </a:rPr>
              <a:t>G</a:t>
            </a:r>
            <a:r>
              <a:rPr lang="en-US" dirty="0">
                <a:latin typeface="Arial" charset="0"/>
                <a:cs typeface="Arial" charset="0"/>
              </a:rPr>
              <a:t> is calculated according to the formula:</a:t>
            </a:r>
          </a:p>
          <a:p>
            <a:pPr eaLnBrk="1" hangingPunct="1">
              <a:buFont typeface="Arial" charset="0"/>
              <a:buChar char="‫"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 typeface="Arial" charset="0"/>
              <a:buChar char="‫"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 typeface="Arial" charset="0"/>
              <a:buChar char="‫"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 typeface="Arial" charset="0"/>
              <a:buChar char="‫"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</a:p>
          <a:p>
            <a:pPr eaLnBrk="1" hangingPunct="1"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   </a:t>
            </a:r>
          </a:p>
          <a:p>
            <a:pPr eaLnBrk="1" hangingPunct="1">
              <a:buFontTx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Tx/>
              <a:buNone/>
            </a:pPr>
            <a:r>
              <a:rPr lang="en-US" dirty="0">
                <a:latin typeface="Arial" charset="0"/>
                <a:cs typeface="Arial" charset="0"/>
              </a:rPr>
              <a:t>	where </a:t>
            </a:r>
            <a:r>
              <a:rPr lang="en-US" i="1" dirty="0">
                <a:latin typeface="Times New Roman" pitchFamily="18" charset="0"/>
                <a:cs typeface="Arial" charset="0"/>
              </a:rPr>
              <a:t>F</a:t>
            </a:r>
            <a:r>
              <a:rPr lang="en-US" dirty="0">
                <a:latin typeface="Arial" charset="0"/>
                <a:cs typeface="Arial" charset="0"/>
              </a:rPr>
              <a:t>, </a:t>
            </a:r>
            <a:r>
              <a:rPr lang="en-US" i="1" dirty="0">
                <a:latin typeface="Times New Roman" pitchFamily="18" charset="0"/>
                <a:cs typeface="Arial" charset="0"/>
              </a:rPr>
              <a:t>M</a:t>
            </a:r>
            <a:r>
              <a:rPr lang="en-US" dirty="0">
                <a:latin typeface="Arial" charset="0"/>
                <a:cs typeface="Arial" charset="0"/>
              </a:rPr>
              <a:t>, and </a:t>
            </a:r>
            <a:r>
              <a:rPr lang="en-US" i="1" dirty="0">
                <a:latin typeface="Times New Roman" pitchFamily="18" charset="0"/>
                <a:cs typeface="Arial" charset="0"/>
              </a:rPr>
              <a:t>P</a:t>
            </a:r>
            <a:r>
              <a:rPr lang="en-US" dirty="0">
                <a:latin typeface="Arial" charset="0"/>
                <a:cs typeface="Arial" charset="0"/>
              </a:rPr>
              <a:t> are your marks on your final, mid-term, and projects, respectively</a:t>
            </a:r>
          </a:p>
          <a:p>
            <a:pPr eaLnBrk="1" hangingPunct="1">
              <a:buFont typeface="Arial" charset="0"/>
              <a:buChar char="‫"/>
            </a:pPr>
            <a:endParaRPr lang="en-CA" dirty="0">
              <a:latin typeface="Arial" charset="0"/>
              <a:cs typeface="Arial" charset="0"/>
            </a:endParaRPr>
          </a:p>
        </p:txBody>
      </p:sp>
      <p:graphicFrame>
        <p:nvGraphicFramePr>
          <p:cNvPr id="1026" name="Object 3"/>
          <p:cNvGraphicFramePr>
            <a:graphicFrameLocks noChangeAspect="1"/>
          </p:cNvGraphicFramePr>
          <p:nvPr/>
        </p:nvGraphicFramePr>
        <p:xfrm>
          <a:off x="1439863" y="2243138"/>
          <a:ext cx="6213475" cy="202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57600" imgH="1193760" progId="Equation.DSMT4">
                  <p:embed/>
                </p:oleObj>
              </mc:Choice>
              <mc:Fallback>
                <p:oleObj name="Equation" r:id="rId3" imgW="3657600" imgH="1193760" progId="Equation.DSMT4">
                  <p:embed/>
                  <p:pic>
                    <p:nvPicPr>
                      <p:cNvPr id="102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863" y="2243138"/>
                        <a:ext cx="6213475" cy="202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89904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>
                <a:latin typeface="Arial" charset="0"/>
                <a:cs typeface="Arial" charset="0"/>
              </a:rPr>
              <a:t>Evaluation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B12879-2D18-C4C1-181C-78B4904526B6}"/>
              </a:ext>
            </a:extLst>
          </p:cNvPr>
          <p:cNvGraphicFramePr>
            <a:graphicFrameLocks noGrp="1"/>
          </p:cNvGraphicFramePr>
          <p:nvPr/>
        </p:nvGraphicFramePr>
        <p:xfrm>
          <a:off x="179512" y="2366336"/>
          <a:ext cx="8784976" cy="196316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08512">
                  <a:extLst>
                    <a:ext uri="{9D8B030D-6E8A-4147-A177-3AD203B41FA5}">
                      <a16:colId xmlns:a16="http://schemas.microsoft.com/office/drawing/2014/main" val="3288555489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3729674786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2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Continuous Assessment</a:t>
                      </a:r>
                      <a:endParaRPr lang="en-BW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2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Final Examination</a:t>
                      </a:r>
                      <a:endParaRPr lang="en-BW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70747663"/>
                  </a:ext>
                </a:extLst>
              </a:tr>
              <a:tr h="34048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2800" dirty="0">
                          <a:effectLst/>
                          <a:latin typeface="Bodoni 72 Book" pitchFamily="2" charset="0"/>
                          <a:cs typeface="Arial" panose="020B0604020202020204" pitchFamily="34" charset="0"/>
                        </a:rPr>
                        <a:t>Assignment 10%</a:t>
                      </a:r>
                      <a:endParaRPr lang="en-BW" sz="2000" dirty="0">
                        <a:effectLst/>
                        <a:latin typeface="Bodoni 72 Book" pitchFamily="2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3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2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BW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2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Theory examination 60%</a:t>
                      </a:r>
                      <a:endParaRPr lang="en-BW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2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BW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1398639"/>
                  </a:ext>
                </a:extLst>
              </a:tr>
              <a:tr h="35794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2800">
                          <a:effectLst/>
                          <a:latin typeface="Bodoni 72 Book" pitchFamily="2" charset="0"/>
                          <a:cs typeface="Arial" panose="020B0604020202020204" pitchFamily="34" charset="0"/>
                        </a:rPr>
                        <a:t>Theory Test one 15%</a:t>
                      </a:r>
                      <a:endParaRPr lang="en-BW" sz="2000">
                        <a:effectLst/>
                        <a:latin typeface="Bodoni 72 Book" pitchFamily="2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227294"/>
                  </a:ext>
                </a:extLst>
              </a:tr>
              <a:tr h="4149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2800" dirty="0">
                          <a:effectLst/>
                          <a:latin typeface="Bodoni 72 Book" pitchFamily="2" charset="0"/>
                          <a:cs typeface="Arial" panose="020B0604020202020204" pitchFamily="34" charset="0"/>
                        </a:rPr>
                        <a:t>Theory Test two 15%</a:t>
                      </a:r>
                      <a:endParaRPr lang="en-BW" sz="2000" dirty="0">
                        <a:effectLst/>
                        <a:latin typeface="Bodoni 72 Book" pitchFamily="2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760248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A18D860C-A571-4FC5-5B1C-258813032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1448520"/>
            <a:ext cx="5972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altLang="en-B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Montserrat" panose="020F0502020204030204" pitchFamily="34" charset="0"/>
                <a:cs typeface="Montserrat" panose="020F0502020204030204" pitchFamily="34" charset="0"/>
              </a:rPr>
              <a:t>The Course is assessed as follows:</a:t>
            </a:r>
            <a:endParaRPr kumimoji="0" lang="en-ZA" altLang="en-BW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177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Evaluation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1452"/>
            <a:ext cx="8229600" cy="5305899"/>
          </a:xfrm>
        </p:spPr>
        <p:txBody>
          <a:bodyPr>
            <a:noAutofit/>
          </a:bodyPr>
          <a:lstStyle/>
          <a:p>
            <a:pPr eaLnBrk="1" hangingPunct="1">
              <a:buFont typeface="Arial" charset="0"/>
              <a:buChar char="‫"/>
            </a:pPr>
            <a:r>
              <a:rPr lang="en-US" sz="2400" dirty="0">
                <a:cs typeface="Arial" charset="0"/>
              </a:rPr>
              <a:t>A student who misses either examination must provide:</a:t>
            </a:r>
          </a:p>
          <a:p>
            <a:pPr lvl="1" eaLnBrk="1" hangingPunct="1"/>
            <a:r>
              <a:rPr lang="en-US" sz="2000" dirty="0">
                <a:cs typeface="Arial" charset="0"/>
              </a:rPr>
              <a:t>A Verification of Illness form indicating a severe illness, or</a:t>
            </a:r>
          </a:p>
          <a:p>
            <a:pPr lvl="1" eaLnBrk="1" hangingPunct="1"/>
            <a:r>
              <a:rPr lang="en-US" sz="2000" dirty="0">
                <a:cs typeface="Arial" charset="0"/>
              </a:rPr>
              <a:t>Other formal documentation, as appropriate</a:t>
            </a:r>
          </a:p>
          <a:p>
            <a:pPr eaLnBrk="1" hangingPunct="1">
              <a:buFont typeface="Arial" charset="0"/>
              <a:buChar char="‫"/>
            </a:pPr>
            <a:r>
              <a:rPr lang="en-US" sz="2400" dirty="0">
                <a:cs typeface="Arial" charset="0"/>
              </a:rPr>
              <a:t>With proper documentation:</a:t>
            </a:r>
          </a:p>
          <a:p>
            <a:pPr lvl="1" eaLnBrk="1" hangingPunct="1"/>
            <a:r>
              <a:rPr lang="en-US" sz="2000" dirty="0">
                <a:cs typeface="Arial" charset="0"/>
              </a:rPr>
              <a:t>Missing the mid-term examination sets </a:t>
            </a:r>
            <a:r>
              <a:rPr lang="en-US" sz="2000" i="1" dirty="0">
                <a:cs typeface="Arial" charset="0"/>
              </a:rPr>
              <a:t>E </a:t>
            </a:r>
            <a:r>
              <a:rPr lang="en-US" sz="2000" dirty="0">
                <a:cs typeface="Arial" charset="0"/>
              </a:rPr>
              <a:t>= </a:t>
            </a:r>
            <a:r>
              <a:rPr lang="en-US" sz="2000" i="1" dirty="0">
                <a:cs typeface="Arial" charset="0"/>
              </a:rPr>
              <a:t>F</a:t>
            </a:r>
            <a:r>
              <a:rPr lang="en-US" sz="2000" dirty="0">
                <a:cs typeface="Arial" charset="0"/>
              </a:rPr>
              <a:t> in the formula</a:t>
            </a:r>
          </a:p>
          <a:p>
            <a:pPr lvl="1" eaLnBrk="1" hangingPunct="1"/>
            <a:r>
              <a:rPr lang="en-US" sz="2000" dirty="0">
                <a:cs typeface="Arial" charset="0"/>
              </a:rPr>
              <a:t>Missing the final examination results in the opportunity to write with the next offering of the course</a:t>
            </a:r>
          </a:p>
          <a:p>
            <a:pPr eaLnBrk="1" hangingPunct="1">
              <a:buFont typeface="Arial" charset="0"/>
              <a:buChar char="‫"/>
            </a:pPr>
            <a:r>
              <a:rPr lang="en-US" sz="2400" dirty="0">
                <a:cs typeface="Arial" charset="0"/>
              </a:rPr>
              <a:t>Without proper documentation:</a:t>
            </a:r>
          </a:p>
          <a:p>
            <a:pPr lvl="1" eaLnBrk="1" hangingPunct="1"/>
            <a:r>
              <a:rPr lang="en-US" sz="2000" dirty="0">
                <a:cs typeface="Arial" charset="0"/>
              </a:rPr>
              <a:t>Missing the mid-term examination results in 0</a:t>
            </a:r>
          </a:p>
          <a:p>
            <a:pPr lvl="1" eaLnBrk="1" hangingPunct="1"/>
            <a:r>
              <a:rPr lang="en-US" sz="2000" dirty="0">
                <a:cs typeface="Arial" charset="0"/>
              </a:rPr>
              <a:t>Missing the final examination results in 0</a:t>
            </a:r>
          </a:p>
          <a:p>
            <a:pPr eaLnBrk="1" hangingPunct="1">
              <a:buFont typeface="Arial" charset="0"/>
              <a:buChar char="‫"/>
            </a:pPr>
            <a:r>
              <a:rPr lang="en-US" sz="2400" dirty="0">
                <a:cs typeface="Arial" charset="0"/>
              </a:rPr>
              <a:t>There will be no re-weighting of the mid-term examination under any circumstances</a:t>
            </a:r>
          </a:p>
        </p:txBody>
      </p:sp>
    </p:spTree>
    <p:extLst>
      <p:ext uri="{BB962C8B-B14F-4D97-AF65-F5344CB8AC3E}">
        <p14:creationId xmlns:p14="http://schemas.microsoft.com/office/powerpoint/2010/main" val="3309185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5B9B69-774D-7887-4334-437273F00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68760"/>
            <a:ext cx="8062664" cy="481771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Times New Roman" panose="02020603050405020304" pitchFamily="18" charset="0"/>
              <a:buNone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/>
            </a:pPr>
            <a:r>
              <a:rPr lang="en-US" dirty="0">
                <a:latin typeface="Arial" charset="0"/>
                <a:cs typeface="Arial" charset="0"/>
              </a:rPr>
              <a:t>	</a:t>
            </a:r>
            <a:r>
              <a:rPr lang="en-US" sz="2800" dirty="0">
                <a:latin typeface="Times New Roman" panose="02020603050405020304" pitchFamily="18" charset="0"/>
                <a:ea typeface="Droid Sans Fallback" charset="0"/>
                <a:cs typeface="Droid Sans Fallback" charset="0"/>
              </a:rPr>
              <a:t>In this course, we will look at:</a:t>
            </a:r>
          </a:p>
          <a:p>
            <a:pPr lvl="1" eaLnBrk="1" hangingPunct="1">
              <a:lnSpc>
                <a:spcPct val="90000"/>
              </a:lnSpc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/>
            </a:pPr>
            <a:r>
              <a:rPr lang="en-US" i="1" dirty="0">
                <a:latin typeface="Times New Roman" panose="02020603050405020304" pitchFamily="18" charset="0"/>
                <a:ea typeface="Droid Sans Fallback" charset="0"/>
                <a:cs typeface="Droid Sans Fallback" charset="0"/>
              </a:rPr>
              <a:t>Algorithms</a:t>
            </a:r>
            <a:r>
              <a:rPr lang="en-US" dirty="0">
                <a:latin typeface="Times New Roman" panose="02020603050405020304" pitchFamily="18" charset="0"/>
                <a:ea typeface="Droid Sans Fallback" charset="0"/>
                <a:cs typeface="Droid Sans Fallback" charset="0"/>
              </a:rPr>
              <a:t> for solving problems efficiently</a:t>
            </a:r>
          </a:p>
          <a:p>
            <a:pPr lvl="1" eaLnBrk="1" hangingPunct="1">
              <a:lnSpc>
                <a:spcPct val="90000"/>
              </a:lnSpc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/>
            </a:pPr>
            <a:r>
              <a:rPr lang="en-US" i="1" dirty="0">
                <a:latin typeface="Times New Roman" panose="02020603050405020304" pitchFamily="18" charset="0"/>
                <a:ea typeface="Droid Sans Fallback" charset="0"/>
                <a:cs typeface="Droid Sans Fallback" charset="0"/>
              </a:rPr>
              <a:t>Data structures </a:t>
            </a:r>
            <a:r>
              <a:rPr lang="en-US" dirty="0">
                <a:latin typeface="Times New Roman" panose="02020603050405020304" pitchFamily="18" charset="0"/>
                <a:ea typeface="Droid Sans Fallback" charset="0"/>
                <a:cs typeface="Droid Sans Fallback" charset="0"/>
              </a:rPr>
              <a:t>for efficiently storing, accessing, and modifying data</a:t>
            </a:r>
          </a:p>
          <a:p>
            <a:pPr lvl="1" eaLnBrk="1" hangingPunct="1">
              <a:lnSpc>
                <a:spcPct val="90000"/>
              </a:lnSpc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/>
            </a:pPr>
            <a:endParaRPr lang="en-US" dirty="0">
              <a:latin typeface="Times New Roman" panose="02020603050405020304" pitchFamily="18" charset="0"/>
              <a:ea typeface="Droid Sans Fallback" charset="0"/>
              <a:cs typeface="Droid Sans Fallback" charset="0"/>
            </a:endParaRPr>
          </a:p>
          <a:p>
            <a:pPr eaLnBrk="1" hangingPunct="1">
              <a:lnSpc>
                <a:spcPct val="90000"/>
              </a:lnSpc>
              <a:buFont typeface="Times New Roman" panose="02020603050405020304" pitchFamily="18" charset="0"/>
              <a:buNone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/>
            </a:pPr>
            <a:r>
              <a:rPr lang="en-US" sz="2800" dirty="0">
                <a:latin typeface="Times New Roman" panose="02020603050405020304" pitchFamily="18" charset="0"/>
                <a:ea typeface="Droid Sans Fallback" charset="0"/>
                <a:cs typeface="Droid Sans Fallback" charset="0"/>
              </a:rPr>
              <a:t>	We will see that all data structures have trade-offs</a:t>
            </a:r>
          </a:p>
          <a:p>
            <a:pPr lvl="2" eaLnBrk="1" hangingPunct="1">
              <a:lnSpc>
                <a:spcPct val="90000"/>
              </a:lnSpc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/>
            </a:pPr>
            <a:r>
              <a:rPr lang="en-US" dirty="0">
                <a:latin typeface="Times New Roman" panose="02020603050405020304" pitchFamily="18" charset="0"/>
                <a:ea typeface="Droid Sans Fallback" charset="0"/>
                <a:cs typeface="Droid Sans Fallback" charset="0"/>
              </a:rPr>
              <a:t>There is no ultimate data structure...</a:t>
            </a:r>
          </a:p>
          <a:p>
            <a:pPr lvl="2" eaLnBrk="1" hangingPunct="1">
              <a:lnSpc>
                <a:spcPct val="90000"/>
              </a:lnSpc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/>
            </a:pPr>
            <a:r>
              <a:rPr lang="en-US" dirty="0">
                <a:latin typeface="Times New Roman" panose="02020603050405020304" pitchFamily="18" charset="0"/>
                <a:ea typeface="Droid Sans Fallback" charset="0"/>
                <a:cs typeface="Droid Sans Fallback" charset="0"/>
              </a:rPr>
              <a:t>The choice depends on our requirements</a:t>
            </a:r>
          </a:p>
          <a:p>
            <a:pPr eaLnBrk="1" hangingPunct="1">
              <a:buFont typeface="Arial" charset="0"/>
              <a:buNone/>
            </a:pPr>
            <a:endParaRPr lang="en-CA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71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COMP 302 </a:t>
            </a:r>
            <a:r>
              <a:rPr lang="en-US" i="1" dirty="0">
                <a:latin typeface="Arial" charset="0"/>
                <a:cs typeface="Arial" charset="0"/>
              </a:rPr>
              <a:t>Algorithms and Data Structures</a:t>
            </a:r>
            <a:endParaRPr lang="en-CA" dirty="0">
              <a:latin typeface="Arial" charset="0"/>
              <a:cs typeface="Arial" charset="0"/>
            </a:endParaRP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86300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110000"/>
              </a:lnSpc>
              <a:buFont typeface="Times New Roman" panose="02020603050405020304" pitchFamily="18" charset="0"/>
              <a:buChar char="‫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/>
            </a:pPr>
            <a:r>
              <a:rPr lang="en-US" sz="2800" dirty="0">
                <a:latin typeface="Times New Roman" panose="02020603050405020304" pitchFamily="18" charset="0"/>
              </a:rPr>
              <a:t>Consider accessing the k</a:t>
            </a:r>
            <a:r>
              <a:rPr lang="en-US" sz="2800" baseline="30000" dirty="0">
                <a:latin typeface="Times New Roman" panose="02020603050405020304" pitchFamily="18" charset="0"/>
              </a:rPr>
              <a:t>th</a:t>
            </a:r>
            <a:r>
              <a:rPr lang="en-US" sz="2800" dirty="0">
                <a:latin typeface="Times New Roman" panose="02020603050405020304" pitchFamily="18" charset="0"/>
              </a:rPr>
              <a:t> entry in an </a:t>
            </a:r>
            <a:r>
              <a:rPr lang="en-US" sz="2800" b="1" dirty="0">
                <a:latin typeface="Times New Roman" panose="02020603050405020304" pitchFamily="18" charset="0"/>
              </a:rPr>
              <a:t>array</a:t>
            </a:r>
            <a:r>
              <a:rPr lang="en-US" sz="2800" dirty="0">
                <a:latin typeface="Times New Roman" panose="02020603050405020304" pitchFamily="18" charset="0"/>
              </a:rPr>
              <a:t> or </a:t>
            </a:r>
            <a:r>
              <a:rPr lang="en-US" sz="2800" b="1" dirty="0">
                <a:latin typeface="Times New Roman" panose="02020603050405020304" pitchFamily="18" charset="0"/>
              </a:rPr>
              <a:t>linked list</a:t>
            </a:r>
          </a:p>
          <a:p>
            <a:pPr lvl="1" eaLnBrk="1" hangingPunct="1">
              <a:lnSpc>
                <a:spcPct val="110000"/>
              </a:lnSpc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/>
            </a:pPr>
            <a:r>
              <a:rPr lang="en-US" dirty="0">
                <a:latin typeface="Times New Roman" panose="02020603050405020304" pitchFamily="18" charset="0"/>
              </a:rPr>
              <a:t>In an array, we can access it using an index array[k]</a:t>
            </a:r>
          </a:p>
          <a:p>
            <a:pPr lvl="1" eaLnBrk="1" hangingPunct="1">
              <a:lnSpc>
                <a:spcPct val="110000"/>
              </a:lnSpc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/>
            </a:pPr>
            <a:r>
              <a:rPr lang="en-US" dirty="0">
                <a:latin typeface="Times New Roman" panose="02020603050405020304" pitchFamily="18" charset="0"/>
              </a:rPr>
              <a:t>We must step through the first k – 1 nodes in a linked list</a:t>
            </a:r>
          </a:p>
          <a:p>
            <a:pPr lvl="1" eaLnBrk="1" hangingPunct="1">
              <a:lnSpc>
                <a:spcPct val="110000"/>
              </a:lnSpc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/>
            </a:pPr>
            <a:endParaRPr lang="en-US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Font typeface="Times New Roman" panose="02020603050405020304" pitchFamily="18" charset="0"/>
              <a:buChar char="‫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/>
            </a:pPr>
            <a:r>
              <a:rPr lang="en-US" sz="2800" dirty="0">
                <a:latin typeface="Times New Roman" panose="02020603050405020304" pitchFamily="18" charset="0"/>
              </a:rPr>
              <a:t>Consider searching for an entry in a </a:t>
            </a:r>
            <a:r>
              <a:rPr lang="en-US" sz="2800" i="1" dirty="0">
                <a:latin typeface="Times New Roman" panose="02020603050405020304" pitchFamily="18" charset="0"/>
              </a:rPr>
              <a:t>sorted array </a:t>
            </a:r>
            <a:r>
              <a:rPr lang="en-US" sz="2800" dirty="0">
                <a:latin typeface="Times New Roman" panose="02020603050405020304" pitchFamily="18" charset="0"/>
              </a:rPr>
              <a:t>or </a:t>
            </a:r>
            <a:r>
              <a:rPr lang="en-US" sz="2800" i="1" dirty="0">
                <a:latin typeface="Times New Roman" panose="02020603050405020304" pitchFamily="18" charset="0"/>
              </a:rPr>
              <a:t>linked list</a:t>
            </a:r>
          </a:p>
          <a:p>
            <a:pPr lvl="1" eaLnBrk="1" hangingPunct="1">
              <a:lnSpc>
                <a:spcPct val="110000"/>
              </a:lnSpc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/>
            </a:pPr>
            <a:r>
              <a:rPr lang="en-US" dirty="0">
                <a:latin typeface="Times New Roman" panose="02020603050405020304" pitchFamily="18" charset="0"/>
              </a:rPr>
              <a:t>In a sorted array, we use a fast binary search</a:t>
            </a:r>
          </a:p>
          <a:p>
            <a:pPr lvl="2" eaLnBrk="1" hangingPunct="1">
              <a:lnSpc>
                <a:spcPct val="110000"/>
              </a:lnSpc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/>
            </a:pPr>
            <a:r>
              <a:rPr lang="en-US" sz="2800" dirty="0">
                <a:latin typeface="Times New Roman" panose="02020603050405020304" pitchFamily="18" charset="0"/>
              </a:rPr>
              <a:t>Very fast</a:t>
            </a:r>
          </a:p>
          <a:p>
            <a:pPr lvl="1" eaLnBrk="1" hangingPunct="1">
              <a:lnSpc>
                <a:spcPct val="110000"/>
              </a:lnSpc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/>
            </a:pPr>
            <a:r>
              <a:rPr lang="en-US" dirty="0">
                <a:latin typeface="Times New Roman" panose="02020603050405020304" pitchFamily="18" charset="0"/>
              </a:rPr>
              <a:t>We must step through all entries less than the entry we’re looking for</a:t>
            </a:r>
          </a:p>
          <a:p>
            <a:pPr lvl="2" eaLnBrk="1" hangingPunct="1">
              <a:lnSpc>
                <a:spcPct val="110000"/>
              </a:lnSpc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/>
            </a:pPr>
            <a:r>
              <a:rPr lang="en-US" sz="2800" dirty="0">
                <a:latin typeface="Times New Roman" panose="02020603050405020304" pitchFamily="18" charset="0"/>
              </a:rPr>
              <a:t>Slow</a:t>
            </a:r>
          </a:p>
        </p:txBody>
      </p:sp>
    </p:spTree>
    <p:extLst>
      <p:ext uri="{BB962C8B-B14F-4D97-AF65-F5344CB8AC3E}">
        <p14:creationId xmlns:p14="http://schemas.microsoft.com/office/powerpoint/2010/main" val="42619385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COMP 302 </a:t>
            </a:r>
            <a:r>
              <a:rPr lang="en-US" i="1" dirty="0">
                <a:latin typeface="Arial" charset="0"/>
                <a:cs typeface="Arial" charset="0"/>
              </a:rPr>
              <a:t>Algorithms and Data Structures</a:t>
            </a:r>
            <a:endParaRPr lang="en-CA" dirty="0">
              <a:latin typeface="Arial" charset="0"/>
              <a:cs typeface="Arial" charset="0"/>
            </a:endParaRP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8630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Arial" charset="0"/>
              <a:buChar char="‫"/>
            </a:pPr>
            <a:r>
              <a:rPr lang="en-US" sz="3000" dirty="0">
                <a:cs typeface="Arial" charset="0"/>
              </a:rPr>
              <a:t>However, consider inserting a new entry to the start of an array or a linked list</a:t>
            </a:r>
          </a:p>
          <a:p>
            <a:pPr lvl="1" eaLnBrk="1" hangingPunct="1"/>
            <a:r>
              <a:rPr lang="en-US" sz="2600" dirty="0">
                <a:cs typeface="Arial" charset="0"/>
              </a:rPr>
              <a:t>An array requires that you copy all the elements in the array over</a:t>
            </a:r>
          </a:p>
          <a:p>
            <a:pPr lvl="2" eaLnBrk="1" hangingPunct="1"/>
            <a:r>
              <a:rPr lang="en-US" sz="2200" dirty="0">
                <a:cs typeface="Arial" charset="0"/>
              </a:rPr>
              <a:t>Slow for large arrays</a:t>
            </a:r>
          </a:p>
          <a:p>
            <a:pPr lvl="1" eaLnBrk="1" hangingPunct="1"/>
            <a:endParaRPr lang="en-US" sz="2600" dirty="0">
              <a:cs typeface="Arial" charset="0"/>
            </a:endParaRPr>
          </a:p>
          <a:p>
            <a:pPr lvl="1" eaLnBrk="1" hangingPunct="1"/>
            <a:endParaRPr lang="en-US" sz="2600" dirty="0">
              <a:cs typeface="Arial" charset="0"/>
            </a:endParaRPr>
          </a:p>
          <a:p>
            <a:pPr lvl="1" eaLnBrk="1" hangingPunct="1"/>
            <a:endParaRPr lang="en-US" sz="2600" dirty="0">
              <a:cs typeface="Arial" charset="0"/>
            </a:endParaRPr>
          </a:p>
          <a:p>
            <a:pPr lvl="1" eaLnBrk="1" hangingPunct="1"/>
            <a:r>
              <a:rPr lang="en-US" sz="2600" dirty="0">
                <a:cs typeface="Arial" charset="0"/>
              </a:rPr>
              <a:t>A linked list allows you to make the insertion very quickly</a:t>
            </a:r>
          </a:p>
          <a:p>
            <a:pPr lvl="2" eaLnBrk="1" hangingPunct="1"/>
            <a:r>
              <a:rPr lang="en-US" sz="2200" dirty="0">
                <a:cs typeface="Arial" charset="0"/>
              </a:rPr>
              <a:t>Very fast regardless of size</a:t>
            </a:r>
          </a:p>
          <a:p>
            <a:pPr eaLnBrk="1" hangingPunct="1">
              <a:buFont typeface="Arial" charset="0"/>
              <a:buChar char="‫"/>
            </a:pPr>
            <a:endParaRPr lang="en-CA" dirty="0">
              <a:latin typeface="Arial" charset="0"/>
              <a:cs typeface="Arial" charset="0"/>
            </a:endParaRPr>
          </a:p>
        </p:txBody>
      </p:sp>
      <p:pic>
        <p:nvPicPr>
          <p:cNvPr id="5" name="Picture 5" descr="g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701256"/>
            <a:ext cx="6092825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4" descr="g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164013"/>
            <a:ext cx="6092825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4596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C++</a:t>
            </a:r>
            <a:endParaRPr lang="en-CA">
              <a:latin typeface="Arial" charset="0"/>
              <a:cs typeface="Arial" charset="0"/>
            </a:endParaRP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‫"/>
            </a:pPr>
            <a:r>
              <a:rPr lang="en-US" sz="2800" dirty="0">
                <a:cs typeface="Arial" charset="0"/>
              </a:rPr>
              <a:t>You will be using the C++ programming language in this course</a:t>
            </a:r>
          </a:p>
          <a:p>
            <a:pPr eaLnBrk="1" hangingPunct="1">
              <a:buFont typeface="Arial" charset="0"/>
              <a:buChar char="‫"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 typeface="Arial" charset="0"/>
              <a:buChar char="‫"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 typeface="Arial" charset="0"/>
              <a:buChar char="‫"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 typeface="Arial" charset="0"/>
              <a:buChar char="‫"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 typeface="Arial" charset="0"/>
              <a:buChar char="‫"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Tx/>
              <a:buNone/>
            </a:pPr>
            <a:endParaRPr lang="en-US" sz="1400" baseline="30000" dirty="0">
              <a:latin typeface="Arial" charset="0"/>
              <a:cs typeface="Arial" charset="0"/>
            </a:endParaRPr>
          </a:p>
          <a:p>
            <a:pPr eaLnBrk="1" hangingPunct="1">
              <a:buFont typeface="Arial" charset="0"/>
              <a:buChar char="‫"/>
            </a:pPr>
            <a:endParaRPr lang="en-CA" dirty="0">
              <a:latin typeface="Arial" charset="0"/>
              <a:cs typeface="Arial" charset="0"/>
            </a:endParaRPr>
          </a:p>
        </p:txBody>
      </p:sp>
      <p:sp>
        <p:nvSpPr>
          <p:cNvPr id="14340" name="Text Box 5"/>
          <p:cNvSpPr txBox="1">
            <a:spLocks noChangeArrowheads="1"/>
          </p:cNvSpPr>
          <p:nvPr/>
        </p:nvSpPr>
        <p:spPr bwMode="auto">
          <a:xfrm>
            <a:off x="2411760" y="5122182"/>
            <a:ext cx="4781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chemeClr val="bg2"/>
                </a:solidFill>
                <a:latin typeface="Calibri" pitchFamily="34" charset="0"/>
              </a:rPr>
              <a:t>Modified for C++ from http://</a:t>
            </a:r>
            <a:r>
              <a:rPr lang="en-US" dirty="0" err="1">
                <a:solidFill>
                  <a:schemeClr val="bg2"/>
                </a:solidFill>
                <a:latin typeface="Calibri" pitchFamily="34" charset="0"/>
              </a:rPr>
              <a:t>www.foxtrot.com</a:t>
            </a:r>
            <a:r>
              <a:rPr lang="en-US" dirty="0">
                <a:solidFill>
                  <a:schemeClr val="bg2"/>
                </a:solidFill>
                <a:latin typeface="Calibri" pitchFamily="34" charset="0"/>
              </a:rPr>
              <a:t>/</a:t>
            </a:r>
          </a:p>
        </p:txBody>
      </p:sp>
      <p:pic>
        <p:nvPicPr>
          <p:cNvPr id="14341" name="Picture 6" descr="xx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708275"/>
            <a:ext cx="6985000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3287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C++</a:t>
            </a:r>
            <a:endParaRPr lang="en-CA">
              <a:latin typeface="Arial" charset="0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Arial" charset="0"/>
              <a:buChar char="‫"/>
            </a:pPr>
            <a:r>
              <a:rPr lang="en-US" dirty="0">
                <a:cs typeface="Arial" charset="0"/>
              </a:rPr>
              <a:t>This course does not teach C++ programming</a:t>
            </a:r>
          </a:p>
          <a:p>
            <a:pPr lvl="1" eaLnBrk="1" hangingPunct="1"/>
            <a:r>
              <a:rPr lang="en-US" dirty="0">
                <a:cs typeface="Arial" charset="0"/>
              </a:rPr>
              <a:t>You will use C++ to demonstrate your knowledge in this course</a:t>
            </a:r>
          </a:p>
          <a:p>
            <a:pPr marL="0" indent="0" eaLnBrk="1" hangingPunct="1">
              <a:buNone/>
            </a:pPr>
            <a:endParaRPr lang="en-US" dirty="0">
              <a:cs typeface="Arial" charset="0"/>
            </a:endParaRPr>
          </a:p>
          <a:p>
            <a:pPr eaLnBrk="1" hangingPunct="1">
              <a:buFont typeface="Arial" charset="0"/>
              <a:buChar char="‫"/>
            </a:pPr>
            <a:r>
              <a:rPr lang="en-US" dirty="0">
                <a:cs typeface="Arial" charset="0"/>
              </a:rPr>
              <a:t>An on-line tutorial is available on the course web site</a:t>
            </a:r>
          </a:p>
          <a:p>
            <a:pPr lvl="1" eaLnBrk="1" hangingPunct="1"/>
            <a:r>
              <a:rPr lang="en-US" dirty="0">
                <a:cs typeface="Arial" charset="0"/>
              </a:rPr>
              <a:t>It assumes minimal knowledge of programming</a:t>
            </a:r>
          </a:p>
          <a:p>
            <a:pPr eaLnBrk="1" hangingPunct="1">
              <a:buFont typeface="Arial" charset="0"/>
              <a:buChar char="‫"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 typeface="Arial" charset="0"/>
              <a:buChar char="‫"/>
            </a:pPr>
            <a:endParaRPr lang="en-CA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607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Projects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buFont typeface="Arial" charset="0"/>
              <a:buChar char="‫"/>
            </a:pPr>
            <a:r>
              <a:rPr lang="en-US" dirty="0">
                <a:latin typeface="Arial" charset="0"/>
                <a:cs typeface="Arial" charset="0"/>
              </a:rPr>
              <a:t>For each of the five projects, you will be required to implement one or more of the data structures taught in class</a:t>
            </a:r>
          </a:p>
          <a:p>
            <a:pPr eaLnBrk="1" hangingPunct="1">
              <a:buFont typeface="Arial" charset="0"/>
              <a:buChar char="‫"/>
            </a:pPr>
            <a:r>
              <a:rPr lang="en-US" dirty="0">
                <a:latin typeface="Arial" charset="0"/>
                <a:cs typeface="Arial" charset="0"/>
              </a:rPr>
              <a:t>We provide an environment in which we test your projects</a:t>
            </a:r>
          </a:p>
          <a:p>
            <a:pPr eaLnBrk="1" hangingPunct="1">
              <a:buFont typeface="Arial" charset="0"/>
              <a:buChar char="‫"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 typeface="Arial" charset="0"/>
              <a:buChar char="‫"/>
            </a:pPr>
            <a:r>
              <a:rPr lang="en-US" dirty="0">
                <a:latin typeface="Arial" charset="0"/>
                <a:cs typeface="Arial" charset="0"/>
              </a:rPr>
              <a:t>The times the projects are due is fixed:</a:t>
            </a:r>
          </a:p>
          <a:p>
            <a:pPr lvl="1" eaLnBrk="1" hangingPunct="1"/>
            <a:r>
              <a:rPr lang="en-US" dirty="0">
                <a:latin typeface="Arial" charset="0"/>
                <a:cs typeface="Arial" charset="0"/>
              </a:rPr>
              <a:t>Projects are due Tuesday at 22:00 (10:00 </a:t>
            </a:r>
            <a:r>
              <a:rPr lang="en-US" cap="small" dirty="0">
                <a:latin typeface="Arial" charset="0"/>
                <a:cs typeface="Arial" charset="0"/>
              </a:rPr>
              <a:t>pm</a:t>
            </a:r>
            <a:r>
              <a:rPr lang="en-US" dirty="0">
                <a:latin typeface="Arial" charset="0"/>
                <a:cs typeface="Arial" charset="0"/>
              </a:rPr>
              <a:t>) on Learn</a:t>
            </a:r>
          </a:p>
          <a:p>
            <a:pPr lvl="1" eaLnBrk="1" hangingPunct="1"/>
            <a:r>
              <a:rPr lang="en-US" dirty="0">
                <a:latin typeface="Arial" charset="0"/>
                <a:cs typeface="Arial" charset="0"/>
              </a:rPr>
              <a:t>The drop-box will be kept open until midnight for late submissions</a:t>
            </a:r>
          </a:p>
          <a:p>
            <a:pPr lvl="1" eaLnBrk="1" hangingPunct="1"/>
            <a:r>
              <a:rPr lang="en-US" dirty="0">
                <a:latin typeface="Arial" charset="0"/>
                <a:cs typeface="Arial" charset="0"/>
              </a:rPr>
              <a:t>Maximum grade for late submissions is 70</a:t>
            </a:r>
          </a:p>
          <a:p>
            <a:pPr eaLnBrk="1" hangingPunct="1">
              <a:buFont typeface="Arial" charset="0"/>
              <a:buChar char="‫"/>
            </a:pPr>
            <a:endParaRPr lang="en-US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194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Projects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buFont typeface="Arial" charset="0"/>
              <a:buChar char="‫"/>
            </a:pPr>
            <a:r>
              <a:rPr lang="en-US" dirty="0">
                <a:latin typeface="Arial" charset="0"/>
                <a:cs typeface="Arial" charset="0"/>
              </a:rPr>
              <a:t>We provide a interpreter which you can use to test your software</a:t>
            </a:r>
          </a:p>
          <a:p>
            <a:pPr lvl="1" eaLnBrk="1" hangingPunct="1"/>
            <a:r>
              <a:rPr lang="en-US" dirty="0">
                <a:latin typeface="Arial" charset="0"/>
                <a:cs typeface="Arial" charset="0"/>
              </a:rPr>
              <a:t>We will use the same interpreter to test your software</a:t>
            </a:r>
          </a:p>
          <a:p>
            <a:pPr marL="0" indent="0" eaLnBrk="1" hangingPunct="1"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 typeface="Arial" charset="0"/>
              <a:buChar char="‫"/>
            </a:pPr>
            <a:r>
              <a:rPr lang="en-US" dirty="0">
                <a:latin typeface="Arial" charset="0"/>
                <a:cs typeface="Arial" charset="0"/>
              </a:rPr>
              <a:t>Your output must perfectly match our output</a:t>
            </a:r>
          </a:p>
          <a:p>
            <a:pPr lvl="1" eaLnBrk="1" hangingPunct="1"/>
            <a:r>
              <a:rPr lang="en-US" dirty="0">
                <a:latin typeface="Arial" charset="0"/>
                <a:cs typeface="Arial" charset="0"/>
              </a:rPr>
              <a:t>Comparisons are done using text comparisons</a:t>
            </a:r>
          </a:p>
          <a:p>
            <a:pPr lvl="1" eaLnBrk="1" hangingPunct="1"/>
            <a:r>
              <a:rPr lang="en-US" dirty="0">
                <a:latin typeface="Arial" charset="0"/>
                <a:cs typeface="Arial" charset="0"/>
              </a:rPr>
              <a:t>Any debugging printouts will cause your project to fail a test</a:t>
            </a:r>
          </a:p>
        </p:txBody>
      </p:sp>
    </p:spTree>
    <p:extLst>
      <p:ext uri="{BB962C8B-B14F-4D97-AF65-F5344CB8AC3E}">
        <p14:creationId xmlns:p14="http://schemas.microsoft.com/office/powerpoint/2010/main" val="73039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>
            <a:extLst>
              <a:ext uri="{FF2B5EF4-FFF2-40B4-BE49-F238E27FC236}">
                <a16:creationId xmlns:a16="http://schemas.microsoft.com/office/drawing/2014/main" id="{5AE7B95A-03AF-4B42-BF92-18E79BC89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1400"/>
          </a:p>
        </p:txBody>
      </p:sp>
      <p:sp>
        <p:nvSpPr>
          <p:cNvPr id="6147" name="Text Box 2">
            <a:extLst>
              <a:ext uri="{FF2B5EF4-FFF2-40B4-BE49-F238E27FC236}">
                <a16:creationId xmlns:a16="http://schemas.microsoft.com/office/drawing/2014/main" id="{0AEA55A0-8C2B-634D-8E70-6EB374970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169D538-1F1A-B94C-B93D-3E4E0A8B1C7E}" type="slidenum">
              <a:rPr lang="tr-TR" altLang="tr-TR" sz="14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tr-TR" altLang="tr-TR" sz="1400"/>
          </a:p>
        </p:txBody>
      </p:sp>
      <p:sp>
        <p:nvSpPr>
          <p:cNvPr id="6148" name="Text Box 3">
            <a:extLst>
              <a:ext uri="{FF2B5EF4-FFF2-40B4-BE49-F238E27FC236}">
                <a16:creationId xmlns:a16="http://schemas.microsoft.com/office/drawing/2014/main" id="{7EBA5D66-EAB3-E548-A58E-176192105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286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4000" b="1">
                <a:solidFill>
                  <a:srgbClr val="000000"/>
                </a:solidFill>
              </a:rPr>
              <a:t>Algorithm</a:t>
            </a:r>
          </a:p>
        </p:txBody>
      </p:sp>
      <p:sp>
        <p:nvSpPr>
          <p:cNvPr id="6149" name="Text Box 4">
            <a:extLst>
              <a:ext uri="{FF2B5EF4-FFF2-40B4-BE49-F238E27FC236}">
                <a16:creationId xmlns:a16="http://schemas.microsoft.com/office/drawing/2014/main" id="{0F38CBDD-201C-4042-B7C4-D92DA3CEF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95400"/>
            <a:ext cx="8534400" cy="5246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33375" indent="-333375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 marL="733425" indent="-276225"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700"/>
              </a:spcBef>
              <a:buFont typeface="Times New Roman" panose="02020603050405020304" pitchFamily="18" charset="0"/>
              <a:buChar char="•"/>
              <a:defRPr/>
            </a:pPr>
            <a:r>
              <a:rPr lang="tr-TR" altLang="tr-TR" sz="2800" dirty="0"/>
              <a:t>An </a:t>
            </a:r>
            <a:r>
              <a:rPr lang="tr-TR" altLang="tr-TR" sz="2800" b="1" i="1" dirty="0" err="1"/>
              <a:t>algorithm</a:t>
            </a:r>
            <a:r>
              <a:rPr lang="tr-TR" altLang="tr-TR" sz="2800" dirty="0"/>
              <a:t> is a set of </a:t>
            </a:r>
            <a:r>
              <a:rPr lang="tr-TR" altLang="tr-TR" sz="2800" dirty="0" err="1"/>
              <a:t>instructions</a:t>
            </a:r>
            <a:r>
              <a:rPr lang="tr-TR" altLang="tr-TR" sz="2800" dirty="0"/>
              <a:t> </a:t>
            </a:r>
            <a:r>
              <a:rPr lang="tr-TR" altLang="tr-TR" sz="2800" dirty="0" err="1"/>
              <a:t>to</a:t>
            </a:r>
            <a:r>
              <a:rPr lang="tr-TR" altLang="tr-TR" sz="2800" dirty="0"/>
              <a:t> be </a:t>
            </a:r>
            <a:r>
              <a:rPr lang="tr-TR" altLang="tr-TR" sz="2800" dirty="0" err="1"/>
              <a:t>followed</a:t>
            </a:r>
            <a:r>
              <a:rPr lang="tr-TR" altLang="tr-TR" sz="2800" dirty="0"/>
              <a:t> </a:t>
            </a:r>
            <a:r>
              <a:rPr lang="tr-TR" altLang="tr-TR" sz="2800" dirty="0" err="1"/>
              <a:t>to</a:t>
            </a:r>
            <a:r>
              <a:rPr lang="tr-TR" altLang="tr-TR" sz="2800" dirty="0"/>
              <a:t> </a:t>
            </a:r>
            <a:r>
              <a:rPr lang="tr-TR" altLang="tr-TR" sz="2800" dirty="0" err="1"/>
              <a:t>solve</a:t>
            </a:r>
            <a:r>
              <a:rPr lang="tr-TR" altLang="tr-TR" sz="2800" dirty="0"/>
              <a:t> a problem.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buFont typeface="Times New Roman" panose="02020603050405020304" pitchFamily="18" charset="0"/>
              <a:buChar char="–"/>
              <a:defRPr/>
            </a:pPr>
            <a:r>
              <a:rPr lang="tr-TR" altLang="tr-TR" sz="2400" dirty="0" err="1"/>
              <a:t>There</a:t>
            </a:r>
            <a:r>
              <a:rPr lang="tr-TR" altLang="tr-TR" sz="2400" dirty="0"/>
              <a:t> can be </a:t>
            </a:r>
            <a:r>
              <a:rPr lang="tr-TR" altLang="tr-TR" sz="2400" dirty="0" err="1"/>
              <a:t>more</a:t>
            </a:r>
            <a:r>
              <a:rPr lang="tr-TR" altLang="tr-TR" sz="2400" dirty="0"/>
              <a:t> </a:t>
            </a:r>
            <a:r>
              <a:rPr lang="tr-TR" altLang="tr-TR" sz="2400" dirty="0" err="1"/>
              <a:t>than</a:t>
            </a:r>
            <a:r>
              <a:rPr lang="tr-TR" altLang="tr-TR" sz="2400" dirty="0"/>
              <a:t> </a:t>
            </a:r>
            <a:r>
              <a:rPr lang="tr-TR" altLang="tr-TR" sz="2400" dirty="0" err="1"/>
              <a:t>one</a:t>
            </a:r>
            <a:r>
              <a:rPr lang="tr-TR" altLang="tr-TR" sz="2400" dirty="0"/>
              <a:t> </a:t>
            </a:r>
            <a:r>
              <a:rPr lang="tr-TR" altLang="tr-TR" sz="2400" dirty="0" err="1"/>
              <a:t>solution</a:t>
            </a:r>
            <a:r>
              <a:rPr lang="tr-TR" altLang="tr-TR" sz="2400" dirty="0"/>
              <a:t> (</a:t>
            </a:r>
            <a:r>
              <a:rPr lang="tr-TR" altLang="tr-TR" sz="2400" dirty="0" err="1"/>
              <a:t>more</a:t>
            </a:r>
            <a:r>
              <a:rPr lang="tr-TR" altLang="tr-TR" sz="2400" dirty="0"/>
              <a:t> </a:t>
            </a:r>
            <a:r>
              <a:rPr lang="tr-TR" altLang="tr-TR" sz="2400" dirty="0" err="1"/>
              <a:t>than</a:t>
            </a:r>
            <a:r>
              <a:rPr lang="tr-TR" altLang="tr-TR" sz="2400" dirty="0"/>
              <a:t> </a:t>
            </a:r>
            <a:r>
              <a:rPr lang="tr-TR" altLang="tr-TR" sz="2400" dirty="0" err="1"/>
              <a:t>one</a:t>
            </a:r>
            <a:r>
              <a:rPr lang="tr-TR" altLang="tr-TR" sz="2400" dirty="0"/>
              <a:t> </a:t>
            </a:r>
            <a:r>
              <a:rPr lang="tr-TR" altLang="tr-TR" sz="2400" dirty="0" err="1"/>
              <a:t>algorithm</a:t>
            </a:r>
            <a:r>
              <a:rPr lang="tr-TR" altLang="tr-TR" sz="2400" dirty="0"/>
              <a:t>) </a:t>
            </a:r>
            <a:r>
              <a:rPr lang="tr-TR" altLang="tr-TR" sz="2400" dirty="0" err="1"/>
              <a:t>to</a:t>
            </a:r>
            <a:r>
              <a:rPr lang="tr-TR" altLang="tr-TR" sz="2400" dirty="0"/>
              <a:t> </a:t>
            </a:r>
            <a:r>
              <a:rPr lang="tr-TR" altLang="tr-TR" sz="2400" dirty="0" err="1"/>
              <a:t>solve</a:t>
            </a:r>
            <a:r>
              <a:rPr lang="tr-TR" altLang="tr-TR" sz="2400" dirty="0"/>
              <a:t> a </a:t>
            </a:r>
            <a:r>
              <a:rPr lang="tr-TR" altLang="tr-TR" sz="2400" dirty="0" err="1"/>
              <a:t>given</a:t>
            </a:r>
            <a:r>
              <a:rPr lang="tr-TR" altLang="tr-TR" sz="2400" dirty="0"/>
              <a:t> problem.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buFont typeface="Times New Roman" panose="02020603050405020304" pitchFamily="18" charset="0"/>
              <a:buChar char="–"/>
              <a:defRPr/>
            </a:pPr>
            <a:r>
              <a:rPr lang="tr-TR" altLang="tr-TR" sz="2400" dirty="0"/>
              <a:t>An </a:t>
            </a:r>
            <a:r>
              <a:rPr lang="tr-TR" altLang="tr-TR" sz="2400" dirty="0" err="1"/>
              <a:t>algorithm</a:t>
            </a:r>
            <a:r>
              <a:rPr lang="tr-TR" altLang="tr-TR" sz="2400" dirty="0"/>
              <a:t> can be </a:t>
            </a:r>
            <a:r>
              <a:rPr lang="tr-TR" altLang="tr-TR" sz="2400" dirty="0" err="1"/>
              <a:t>implemented</a:t>
            </a:r>
            <a:r>
              <a:rPr lang="tr-TR" altLang="tr-TR" sz="2400" dirty="0"/>
              <a:t> </a:t>
            </a:r>
            <a:r>
              <a:rPr lang="tr-TR" altLang="tr-TR" sz="2400" dirty="0" err="1"/>
              <a:t>using</a:t>
            </a:r>
            <a:r>
              <a:rPr lang="tr-TR" altLang="tr-TR" sz="2400" dirty="0"/>
              <a:t> </a:t>
            </a:r>
            <a:r>
              <a:rPr lang="tr-TR" altLang="tr-TR" sz="2400" dirty="0" err="1"/>
              <a:t>different</a:t>
            </a:r>
            <a:r>
              <a:rPr lang="tr-TR" altLang="tr-TR" sz="2400" dirty="0"/>
              <a:t> </a:t>
            </a:r>
            <a:r>
              <a:rPr lang="tr-TR" altLang="tr-TR" sz="2400" dirty="0" err="1"/>
              <a:t>programming</a:t>
            </a:r>
            <a:r>
              <a:rPr lang="tr-TR" altLang="tr-TR" sz="2400" dirty="0"/>
              <a:t> </a:t>
            </a:r>
            <a:r>
              <a:rPr lang="tr-TR" altLang="tr-TR" sz="2400" dirty="0" err="1"/>
              <a:t>languages</a:t>
            </a:r>
            <a:r>
              <a:rPr lang="tr-TR" altLang="tr-TR" sz="2400" dirty="0"/>
              <a:t> on </a:t>
            </a:r>
            <a:r>
              <a:rPr lang="tr-TR" altLang="tr-TR" sz="2400" dirty="0" err="1"/>
              <a:t>different</a:t>
            </a:r>
            <a:r>
              <a:rPr lang="tr-TR" altLang="tr-TR" sz="2400" dirty="0"/>
              <a:t> </a:t>
            </a:r>
            <a:r>
              <a:rPr lang="tr-TR" altLang="tr-TR" sz="2400" dirty="0" err="1"/>
              <a:t>platforms</a:t>
            </a:r>
            <a:r>
              <a:rPr lang="tr-TR" altLang="tr-TR" sz="2400" dirty="0"/>
              <a:t>.</a:t>
            </a:r>
          </a:p>
          <a:p>
            <a:pPr eaLnBrk="1" hangingPunct="1">
              <a:lnSpc>
                <a:spcPct val="90000"/>
              </a:lnSpc>
              <a:spcBef>
                <a:spcPts val="700"/>
              </a:spcBef>
              <a:buFont typeface="Times New Roman" panose="02020603050405020304" pitchFamily="18" charset="0"/>
              <a:buChar char="•"/>
              <a:defRPr/>
            </a:pPr>
            <a:r>
              <a:rPr lang="tr-TR" altLang="tr-TR" sz="2800" dirty="0"/>
              <a:t>An </a:t>
            </a:r>
            <a:r>
              <a:rPr lang="tr-TR" altLang="tr-TR" sz="2800" dirty="0" err="1"/>
              <a:t>algorithm</a:t>
            </a:r>
            <a:r>
              <a:rPr lang="tr-TR" altLang="tr-TR" sz="2800" dirty="0"/>
              <a:t> </a:t>
            </a:r>
            <a:r>
              <a:rPr lang="tr-TR" altLang="tr-TR" sz="2800" dirty="0" err="1"/>
              <a:t>must</a:t>
            </a:r>
            <a:r>
              <a:rPr lang="tr-TR" altLang="tr-TR" sz="2800" dirty="0"/>
              <a:t> be </a:t>
            </a:r>
            <a:r>
              <a:rPr lang="tr-TR" altLang="tr-TR" sz="2800" dirty="0" err="1"/>
              <a:t>correct</a:t>
            </a:r>
            <a:r>
              <a:rPr lang="tr-TR" altLang="tr-TR" sz="2800" dirty="0"/>
              <a:t>. </a:t>
            </a:r>
            <a:r>
              <a:rPr lang="tr-TR" altLang="tr-TR" sz="2800" dirty="0" err="1"/>
              <a:t>It</a:t>
            </a:r>
            <a:r>
              <a:rPr lang="tr-TR" altLang="tr-TR" sz="2800" dirty="0"/>
              <a:t> </a:t>
            </a:r>
            <a:r>
              <a:rPr lang="tr-TR" altLang="tr-TR" sz="2800" dirty="0" err="1"/>
              <a:t>should</a:t>
            </a:r>
            <a:r>
              <a:rPr lang="tr-TR" altLang="tr-TR" sz="2800" dirty="0"/>
              <a:t> </a:t>
            </a:r>
            <a:r>
              <a:rPr lang="tr-TR" altLang="tr-TR" sz="2800" dirty="0" err="1"/>
              <a:t>correctly</a:t>
            </a:r>
            <a:r>
              <a:rPr lang="tr-TR" altLang="tr-TR" sz="2800" dirty="0"/>
              <a:t> </a:t>
            </a:r>
            <a:r>
              <a:rPr lang="tr-TR" altLang="tr-TR" sz="2800" dirty="0" err="1"/>
              <a:t>solve</a:t>
            </a:r>
            <a:r>
              <a:rPr lang="tr-TR" altLang="tr-TR" sz="2800" dirty="0"/>
              <a:t> </a:t>
            </a:r>
            <a:r>
              <a:rPr lang="tr-TR" altLang="tr-TR" sz="2800" dirty="0" err="1"/>
              <a:t>the</a:t>
            </a:r>
            <a:r>
              <a:rPr lang="tr-TR" altLang="tr-TR" sz="2800" dirty="0"/>
              <a:t> problem.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buFont typeface="Times New Roman" panose="02020603050405020304" pitchFamily="18" charset="0"/>
              <a:buChar char="–"/>
              <a:defRPr/>
            </a:pPr>
            <a:r>
              <a:rPr lang="tr-TR" altLang="tr-TR" sz="2400" dirty="0" err="1"/>
              <a:t>e.g</a:t>
            </a:r>
            <a:r>
              <a:rPr lang="tr-TR" altLang="tr-TR" sz="2400" dirty="0"/>
              <a:t>. </a:t>
            </a:r>
            <a:r>
              <a:rPr lang="tr-TR" altLang="tr-TR" sz="2400" dirty="0" err="1"/>
              <a:t>For</a:t>
            </a:r>
            <a:r>
              <a:rPr lang="tr-TR" altLang="tr-TR" sz="2400" dirty="0"/>
              <a:t> </a:t>
            </a:r>
            <a:r>
              <a:rPr lang="tr-TR" altLang="tr-TR" sz="2400" dirty="0" err="1"/>
              <a:t>sorting</a:t>
            </a:r>
            <a:r>
              <a:rPr lang="tr-TR" altLang="tr-TR" sz="2400" dirty="0"/>
              <a:t>, </a:t>
            </a:r>
            <a:r>
              <a:rPr lang="tr-TR" altLang="tr-TR" sz="2400" dirty="0" err="1"/>
              <a:t>this</a:t>
            </a:r>
            <a:r>
              <a:rPr lang="tr-TR" altLang="tr-TR" sz="2400" dirty="0"/>
              <a:t> </a:t>
            </a:r>
            <a:r>
              <a:rPr lang="tr-TR" altLang="tr-TR" sz="2400" dirty="0" err="1"/>
              <a:t>means</a:t>
            </a:r>
            <a:r>
              <a:rPr lang="tr-TR" altLang="tr-TR" sz="2400" dirty="0"/>
              <a:t> </a:t>
            </a:r>
            <a:r>
              <a:rPr lang="tr-TR" altLang="tr-TR" sz="2400" dirty="0" err="1"/>
              <a:t>even</a:t>
            </a:r>
            <a:r>
              <a:rPr lang="tr-TR" altLang="tr-TR" sz="2400" dirty="0"/>
              <a:t> </a:t>
            </a:r>
            <a:r>
              <a:rPr lang="tr-TR" altLang="tr-TR" sz="2400" dirty="0" err="1"/>
              <a:t>if</a:t>
            </a:r>
            <a:r>
              <a:rPr lang="tr-TR" altLang="tr-TR" sz="2400" dirty="0"/>
              <a:t> (1) </a:t>
            </a:r>
            <a:r>
              <a:rPr lang="tr-TR" altLang="tr-TR" sz="2400" dirty="0" err="1"/>
              <a:t>the</a:t>
            </a:r>
            <a:r>
              <a:rPr lang="tr-TR" altLang="tr-TR" sz="2400" dirty="0"/>
              <a:t> </a:t>
            </a:r>
            <a:r>
              <a:rPr lang="tr-TR" altLang="tr-TR" sz="2400" dirty="0" err="1"/>
              <a:t>input</a:t>
            </a:r>
            <a:r>
              <a:rPr lang="tr-TR" altLang="tr-TR" sz="2400" dirty="0"/>
              <a:t> is </a:t>
            </a:r>
            <a:r>
              <a:rPr lang="tr-TR" altLang="tr-TR" sz="2400" dirty="0" err="1"/>
              <a:t>already</a:t>
            </a:r>
            <a:r>
              <a:rPr lang="tr-TR" altLang="tr-TR" sz="2400" dirty="0"/>
              <a:t> </a:t>
            </a:r>
            <a:r>
              <a:rPr lang="tr-TR" altLang="tr-TR" sz="2400" dirty="0" err="1"/>
              <a:t>sorted</a:t>
            </a:r>
            <a:r>
              <a:rPr lang="tr-TR" altLang="tr-TR" sz="2400" dirty="0"/>
              <a:t>, </a:t>
            </a:r>
            <a:r>
              <a:rPr lang="tr-TR" altLang="tr-TR" sz="2400" dirty="0" err="1"/>
              <a:t>or</a:t>
            </a:r>
            <a:r>
              <a:rPr lang="tr-TR" altLang="tr-TR" sz="2400" dirty="0"/>
              <a:t> (2) it </a:t>
            </a:r>
            <a:r>
              <a:rPr lang="tr-TR" altLang="tr-TR" sz="2400" dirty="0" err="1"/>
              <a:t>contains</a:t>
            </a:r>
            <a:r>
              <a:rPr lang="tr-TR" altLang="tr-TR" sz="2400" dirty="0"/>
              <a:t> </a:t>
            </a:r>
            <a:r>
              <a:rPr lang="tr-TR" altLang="tr-TR" sz="2400" dirty="0" err="1"/>
              <a:t>repeated</a:t>
            </a:r>
            <a:r>
              <a:rPr lang="tr-TR" altLang="tr-TR" sz="2400" dirty="0"/>
              <a:t> </a:t>
            </a:r>
            <a:r>
              <a:rPr lang="tr-TR" altLang="tr-TR" sz="2400" dirty="0" err="1"/>
              <a:t>elements</a:t>
            </a:r>
            <a:r>
              <a:rPr lang="tr-TR" altLang="tr-TR" sz="2400" dirty="0"/>
              <a:t>. </a:t>
            </a:r>
          </a:p>
          <a:p>
            <a:pPr eaLnBrk="1" hangingPunct="1">
              <a:lnSpc>
                <a:spcPct val="90000"/>
              </a:lnSpc>
              <a:spcBef>
                <a:spcPts val="700"/>
              </a:spcBef>
              <a:buFont typeface="Times New Roman" panose="02020603050405020304" pitchFamily="18" charset="0"/>
              <a:buChar char="•"/>
              <a:defRPr/>
            </a:pPr>
            <a:r>
              <a:rPr lang="tr-TR" altLang="tr-TR" sz="2800" dirty="0" err="1"/>
              <a:t>Once</a:t>
            </a:r>
            <a:r>
              <a:rPr lang="tr-TR" altLang="tr-TR" sz="2800" dirty="0"/>
              <a:t> </a:t>
            </a:r>
            <a:r>
              <a:rPr lang="tr-TR" altLang="tr-TR" sz="2800" dirty="0" err="1"/>
              <a:t>we</a:t>
            </a:r>
            <a:r>
              <a:rPr lang="tr-TR" altLang="tr-TR" sz="2800" dirty="0"/>
              <a:t> </a:t>
            </a:r>
            <a:r>
              <a:rPr lang="tr-TR" altLang="tr-TR" sz="2800" dirty="0" err="1"/>
              <a:t>have</a:t>
            </a:r>
            <a:r>
              <a:rPr lang="tr-TR" altLang="tr-TR" sz="2800" dirty="0"/>
              <a:t> a </a:t>
            </a:r>
            <a:r>
              <a:rPr lang="tr-TR" altLang="tr-TR" sz="2800" dirty="0" err="1"/>
              <a:t>correct</a:t>
            </a:r>
            <a:r>
              <a:rPr lang="tr-TR" altLang="tr-TR" sz="2800" dirty="0"/>
              <a:t> </a:t>
            </a:r>
            <a:r>
              <a:rPr lang="tr-TR" altLang="tr-TR" sz="2800" dirty="0" err="1"/>
              <a:t>algorithm</a:t>
            </a:r>
            <a:r>
              <a:rPr lang="tr-TR" altLang="tr-TR" sz="2800" dirty="0"/>
              <a:t> </a:t>
            </a:r>
            <a:r>
              <a:rPr lang="tr-TR" altLang="tr-TR" sz="2800" dirty="0" err="1"/>
              <a:t>for</a:t>
            </a:r>
            <a:r>
              <a:rPr lang="tr-TR" altLang="tr-TR" sz="2800" dirty="0"/>
              <a:t> a problem, </a:t>
            </a:r>
            <a:r>
              <a:rPr lang="tr-TR" altLang="tr-TR" sz="2800" dirty="0" err="1"/>
              <a:t>we</a:t>
            </a:r>
            <a:r>
              <a:rPr lang="tr-TR" altLang="tr-TR" sz="2800" dirty="0"/>
              <a:t> </a:t>
            </a:r>
            <a:r>
              <a:rPr lang="tr-TR" altLang="tr-TR" sz="2800" dirty="0" err="1"/>
              <a:t>have</a:t>
            </a:r>
            <a:r>
              <a:rPr lang="tr-TR" altLang="tr-TR" sz="2800" dirty="0"/>
              <a:t> </a:t>
            </a:r>
            <a:r>
              <a:rPr lang="tr-TR" altLang="tr-TR" sz="2800" dirty="0" err="1"/>
              <a:t>to</a:t>
            </a:r>
            <a:r>
              <a:rPr lang="tr-TR" altLang="tr-TR" sz="2800" dirty="0"/>
              <a:t> </a:t>
            </a:r>
            <a:r>
              <a:rPr lang="tr-TR" altLang="tr-TR" sz="2800" dirty="0" err="1"/>
              <a:t>determine</a:t>
            </a:r>
            <a:r>
              <a:rPr lang="tr-TR" altLang="tr-TR" sz="2800" dirty="0"/>
              <a:t> </a:t>
            </a:r>
            <a:r>
              <a:rPr lang="tr-TR" altLang="tr-TR" sz="2800" dirty="0" err="1"/>
              <a:t>the</a:t>
            </a:r>
            <a:r>
              <a:rPr lang="tr-TR" altLang="tr-TR" sz="2800" dirty="0"/>
              <a:t> </a:t>
            </a:r>
            <a:r>
              <a:rPr lang="tr-TR" altLang="tr-TR" sz="2800" dirty="0" err="1"/>
              <a:t>efficiency</a:t>
            </a:r>
            <a:r>
              <a:rPr lang="tr-TR" altLang="tr-TR" sz="2800" dirty="0"/>
              <a:t> of </a:t>
            </a:r>
            <a:r>
              <a:rPr lang="tr-TR" altLang="tr-TR" sz="2800" dirty="0" err="1"/>
              <a:t>that</a:t>
            </a:r>
            <a:r>
              <a:rPr lang="tr-TR" altLang="tr-TR" sz="2800" dirty="0"/>
              <a:t> </a:t>
            </a:r>
            <a:r>
              <a:rPr lang="tr-TR" altLang="tr-TR" sz="2800" dirty="0" err="1"/>
              <a:t>algorithm</a:t>
            </a:r>
            <a:r>
              <a:rPr lang="tr-TR" altLang="tr-TR" sz="2800" dirty="0"/>
              <a:t>.</a:t>
            </a:r>
          </a:p>
          <a:p>
            <a:pPr eaLnBrk="1" hangingPunct="1">
              <a:lnSpc>
                <a:spcPct val="90000"/>
              </a:lnSpc>
              <a:spcBef>
                <a:spcPts val="700"/>
              </a:spcBef>
              <a:buClrTx/>
              <a:buFontTx/>
              <a:buNone/>
              <a:defRPr/>
            </a:pPr>
            <a:endParaRPr lang="tr-TR" altLang="tr-TR" sz="28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">
            <a:extLst>
              <a:ext uri="{FF2B5EF4-FFF2-40B4-BE49-F238E27FC236}">
                <a16:creationId xmlns:a16="http://schemas.microsoft.com/office/drawing/2014/main" id="{F34030CC-B7B7-724C-8DFA-B788E1D16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1400"/>
          </a:p>
        </p:txBody>
      </p:sp>
      <p:sp>
        <p:nvSpPr>
          <p:cNvPr id="8195" name="Text Box 2">
            <a:extLst>
              <a:ext uri="{FF2B5EF4-FFF2-40B4-BE49-F238E27FC236}">
                <a16:creationId xmlns:a16="http://schemas.microsoft.com/office/drawing/2014/main" id="{854A8A40-427F-B14E-AC4C-BABB55680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35D54E55-4C2B-7041-906D-A2E95881F7FB}" type="slidenum">
              <a:rPr lang="tr-TR" altLang="tr-TR" sz="14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tr-TR" altLang="tr-TR" sz="1400"/>
          </a:p>
        </p:txBody>
      </p:sp>
      <p:sp>
        <p:nvSpPr>
          <p:cNvPr id="8196" name="Text Box 3">
            <a:extLst>
              <a:ext uri="{FF2B5EF4-FFF2-40B4-BE49-F238E27FC236}">
                <a16:creationId xmlns:a16="http://schemas.microsoft.com/office/drawing/2014/main" id="{0AA48ED6-63DA-6147-A091-1366644F2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572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4000" b="1">
                <a:solidFill>
                  <a:srgbClr val="000000"/>
                </a:solidFill>
                <a:ea typeface="Times New Roman" charset="0"/>
                <a:cs typeface="Times New Roman" charset="0"/>
              </a:rPr>
              <a:t>Algorithmic Performance</a:t>
            </a:r>
            <a:r>
              <a:rPr lang="tr-TR" altLang="tr-TR" sz="4000" b="1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8197" name="Text Box 4">
            <a:extLst>
              <a:ext uri="{FF2B5EF4-FFF2-40B4-BE49-F238E27FC236}">
                <a16:creationId xmlns:a16="http://schemas.microsoft.com/office/drawing/2014/main" id="{5AB895A4-E1AD-994E-8E18-EEE80CC9E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219200"/>
            <a:ext cx="77724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42900" indent="-333375">
              <a:spcBef>
                <a:spcPts val="8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3200">
                <a:solidFill>
                  <a:srgbClr val="000000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 marL="733425" indent="-276225">
              <a:spcBef>
                <a:spcPts val="7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800">
                <a:solidFill>
                  <a:srgbClr val="000000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ts val="700"/>
              </a:spcBef>
              <a:buClrTx/>
              <a:buFontTx/>
              <a:buNone/>
              <a:defRPr/>
            </a:pPr>
            <a:r>
              <a:rPr lang="en-US" altLang="tr-TR" sz="2800">
                <a:ea typeface="굴림" charset="-127"/>
                <a:cs typeface="굴림" charset="-127"/>
              </a:rPr>
              <a:t>There are </a:t>
            </a:r>
            <a:r>
              <a:rPr lang="en-US" altLang="tr-TR" sz="2800" i="1">
                <a:ea typeface="굴림" charset="-127"/>
                <a:cs typeface="굴림" charset="-127"/>
              </a:rPr>
              <a:t>two aspects </a:t>
            </a:r>
            <a:r>
              <a:rPr lang="en-US" altLang="tr-TR" sz="2800">
                <a:ea typeface="굴림" charset="-127"/>
                <a:cs typeface="굴림" charset="-127"/>
              </a:rPr>
              <a:t>of algorithmic performance:</a:t>
            </a:r>
          </a:p>
          <a:p>
            <a:pPr eaLnBrk="1" hangingPunct="1">
              <a:lnSpc>
                <a:spcPct val="85000"/>
              </a:lnSpc>
              <a:spcBef>
                <a:spcPts val="700"/>
              </a:spcBef>
              <a:buFont typeface="Times New Roman" charset="0"/>
              <a:buChar char="•"/>
              <a:defRPr/>
            </a:pPr>
            <a:r>
              <a:rPr lang="en-US" altLang="tr-TR" sz="2800">
                <a:ea typeface="굴림" charset="-127"/>
                <a:cs typeface="굴림" charset="-127"/>
              </a:rPr>
              <a:t>Time</a:t>
            </a:r>
          </a:p>
          <a:p>
            <a:pPr lvl="2" eaLnBrk="1" hangingPunct="1">
              <a:lnSpc>
                <a:spcPct val="85000"/>
              </a:lnSpc>
              <a:spcBef>
                <a:spcPts val="500"/>
              </a:spcBef>
              <a:buFont typeface="Times New Roman" charset="0"/>
              <a:buChar char="•"/>
              <a:defRPr/>
            </a:pPr>
            <a:r>
              <a:rPr lang="en-US" altLang="tr-TR" sz="2000">
                <a:ea typeface="굴림" charset="-127"/>
                <a:cs typeface="굴림" charset="-127"/>
              </a:rPr>
              <a:t>Instructions take time.</a:t>
            </a:r>
          </a:p>
          <a:p>
            <a:pPr lvl="2" eaLnBrk="1" hangingPunct="1">
              <a:lnSpc>
                <a:spcPct val="85000"/>
              </a:lnSpc>
              <a:spcBef>
                <a:spcPts val="500"/>
              </a:spcBef>
              <a:buFont typeface="Times New Roman" charset="0"/>
              <a:buChar char="•"/>
              <a:defRPr/>
            </a:pPr>
            <a:r>
              <a:rPr lang="en-US" altLang="tr-TR" sz="2000">
                <a:ea typeface="굴림" charset="-127"/>
                <a:cs typeface="굴림" charset="-127"/>
              </a:rPr>
              <a:t>How fast does the algorithm perform?</a:t>
            </a:r>
          </a:p>
          <a:p>
            <a:pPr lvl="2" eaLnBrk="1" hangingPunct="1">
              <a:lnSpc>
                <a:spcPct val="85000"/>
              </a:lnSpc>
              <a:spcBef>
                <a:spcPts val="500"/>
              </a:spcBef>
              <a:buFont typeface="Times New Roman" charset="0"/>
              <a:buChar char="•"/>
              <a:defRPr/>
            </a:pPr>
            <a:r>
              <a:rPr lang="en-US" altLang="tr-TR" sz="2000">
                <a:ea typeface="굴림" charset="-127"/>
                <a:cs typeface="굴림" charset="-127"/>
              </a:rPr>
              <a:t>What affects its runtime? </a:t>
            </a:r>
          </a:p>
          <a:p>
            <a:pPr eaLnBrk="1" hangingPunct="1">
              <a:lnSpc>
                <a:spcPct val="85000"/>
              </a:lnSpc>
              <a:spcBef>
                <a:spcPts val="700"/>
              </a:spcBef>
              <a:buFont typeface="Times New Roman" charset="0"/>
              <a:buChar char="•"/>
              <a:defRPr/>
            </a:pPr>
            <a:r>
              <a:rPr lang="en-US" altLang="tr-TR" sz="2800">
                <a:ea typeface="굴림" charset="-127"/>
                <a:cs typeface="굴림" charset="-127"/>
              </a:rPr>
              <a:t>Space</a:t>
            </a:r>
          </a:p>
          <a:p>
            <a:pPr lvl="2" eaLnBrk="1" hangingPunct="1">
              <a:lnSpc>
                <a:spcPct val="85000"/>
              </a:lnSpc>
              <a:spcBef>
                <a:spcPts val="500"/>
              </a:spcBef>
              <a:buFont typeface="Times New Roman" charset="0"/>
              <a:buChar char="•"/>
              <a:defRPr/>
            </a:pPr>
            <a:r>
              <a:rPr lang="en-US" altLang="tr-TR" sz="2000">
                <a:ea typeface="굴림" charset="-127"/>
                <a:cs typeface="굴림" charset="-127"/>
              </a:rPr>
              <a:t>Data structures take space</a:t>
            </a:r>
          </a:p>
          <a:p>
            <a:pPr lvl="2" eaLnBrk="1" hangingPunct="1">
              <a:lnSpc>
                <a:spcPct val="85000"/>
              </a:lnSpc>
              <a:spcBef>
                <a:spcPts val="500"/>
              </a:spcBef>
              <a:buFont typeface="Times New Roman" charset="0"/>
              <a:buChar char="•"/>
              <a:defRPr/>
            </a:pPr>
            <a:r>
              <a:rPr lang="en-US" altLang="tr-TR" sz="2000">
                <a:ea typeface="굴림" charset="-127"/>
                <a:cs typeface="굴림" charset="-127"/>
              </a:rPr>
              <a:t>What kind of data structures can be used?</a:t>
            </a:r>
          </a:p>
          <a:p>
            <a:pPr lvl="2" eaLnBrk="1" hangingPunct="1">
              <a:lnSpc>
                <a:spcPct val="85000"/>
              </a:lnSpc>
              <a:spcBef>
                <a:spcPts val="500"/>
              </a:spcBef>
              <a:buFont typeface="Times New Roman" charset="0"/>
              <a:buChar char="•"/>
              <a:defRPr/>
            </a:pPr>
            <a:r>
              <a:rPr lang="en-US" altLang="tr-TR" sz="2000">
                <a:ea typeface="굴림" charset="-127"/>
                <a:cs typeface="굴림" charset="-127"/>
              </a:rPr>
              <a:t>How does choice of data structure affect the runtime?</a:t>
            </a:r>
          </a:p>
          <a:p>
            <a:pPr eaLnBrk="1" hangingPunct="1">
              <a:lnSpc>
                <a:spcPct val="85000"/>
              </a:lnSpc>
              <a:spcBef>
                <a:spcPts val="700"/>
              </a:spcBef>
              <a:buFont typeface="Wingdings" charset="2"/>
              <a:buChar char=""/>
              <a:defRPr/>
            </a:pPr>
            <a:r>
              <a:rPr lang="tr-TR" altLang="tr-TR" sz="2800"/>
              <a:t>We will focus on time: </a:t>
            </a:r>
          </a:p>
          <a:p>
            <a:pPr lvl="1" eaLnBrk="1" hangingPunct="1">
              <a:lnSpc>
                <a:spcPct val="85000"/>
              </a:lnSpc>
              <a:spcBef>
                <a:spcPts val="600"/>
              </a:spcBef>
              <a:buFont typeface="Times New Roman" charset="0"/>
              <a:buChar char="–"/>
              <a:defRPr/>
            </a:pPr>
            <a:r>
              <a:rPr lang="tr-TR" altLang="tr-TR" sz="2400"/>
              <a:t>How to estimate the time required for an algorithm</a:t>
            </a:r>
          </a:p>
          <a:p>
            <a:pPr lvl="1" eaLnBrk="1" hangingPunct="1">
              <a:lnSpc>
                <a:spcPct val="85000"/>
              </a:lnSpc>
              <a:spcBef>
                <a:spcPts val="600"/>
              </a:spcBef>
              <a:buFont typeface="Times New Roman" charset="0"/>
              <a:buChar char="–"/>
              <a:defRPr/>
            </a:pPr>
            <a:r>
              <a:rPr lang="tr-TR" altLang="tr-TR" sz="2400"/>
              <a:t>How to reduce the time required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>
            <a:extLst>
              <a:ext uri="{FF2B5EF4-FFF2-40B4-BE49-F238E27FC236}">
                <a16:creationId xmlns:a16="http://schemas.microsoft.com/office/drawing/2014/main" id="{8FCA3171-D14F-9444-A64B-61897E46B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1400"/>
          </a:p>
        </p:txBody>
      </p:sp>
      <p:sp>
        <p:nvSpPr>
          <p:cNvPr id="10243" name="Text Box 2">
            <a:extLst>
              <a:ext uri="{FF2B5EF4-FFF2-40B4-BE49-F238E27FC236}">
                <a16:creationId xmlns:a16="http://schemas.microsoft.com/office/drawing/2014/main" id="{7D29B4F3-2625-1C4C-93CB-D8363E5D5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75C4F7C4-2802-DC40-ABB0-F67818D62095}" type="slidenum">
              <a:rPr lang="tr-TR" altLang="tr-TR" sz="14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tr-TR" altLang="tr-TR" sz="1400"/>
          </a:p>
        </p:txBody>
      </p:sp>
      <p:sp>
        <p:nvSpPr>
          <p:cNvPr id="10244" name="Text Box 3">
            <a:extLst>
              <a:ext uri="{FF2B5EF4-FFF2-40B4-BE49-F238E27FC236}">
                <a16:creationId xmlns:a16="http://schemas.microsoft.com/office/drawing/2014/main" id="{B6B8DC6A-BDE6-0240-8284-8156F97C2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88925"/>
            <a:ext cx="777240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600" b="1">
                <a:solidFill>
                  <a:srgbClr val="000000"/>
                </a:solidFill>
              </a:rPr>
              <a:t>Analysis of Algorithms</a:t>
            </a:r>
          </a:p>
        </p:txBody>
      </p:sp>
      <p:sp>
        <p:nvSpPr>
          <p:cNvPr id="10245" name="Text Box 4">
            <a:extLst>
              <a:ext uri="{FF2B5EF4-FFF2-40B4-BE49-F238E27FC236}">
                <a16:creationId xmlns:a16="http://schemas.microsoft.com/office/drawing/2014/main" id="{E7DE0BEF-2C04-5946-9B97-3849EC18C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33375" indent="-333375">
              <a:buClr>
                <a:srgbClr val="000000"/>
              </a:buClr>
              <a:buSzPct val="100000"/>
              <a:buFont typeface="Times New Roman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 marL="733425" indent="-276225">
              <a:buClr>
                <a:srgbClr val="000000"/>
              </a:buClr>
              <a:buSzPct val="100000"/>
              <a:buFont typeface="Times New Roman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600"/>
              </a:spcBef>
              <a:buFont typeface="Times New Roman" charset="0"/>
              <a:buChar char="•"/>
              <a:defRPr/>
            </a:pPr>
            <a:r>
              <a:rPr lang="en-GB" altLang="tr-TR" b="1" i="1" dirty="0">
                <a:solidFill>
                  <a:srgbClr val="000000"/>
                </a:solidFill>
              </a:rPr>
              <a:t>Analysis of Algorithms</a:t>
            </a:r>
            <a:r>
              <a:rPr lang="en-GB" altLang="tr-TR" dirty="0">
                <a:solidFill>
                  <a:srgbClr val="000000"/>
                </a:solidFill>
              </a:rPr>
              <a:t> is the area that provides tools to </a:t>
            </a:r>
            <a:r>
              <a:rPr lang="en-GB" altLang="tr-TR" dirty="0" err="1">
                <a:solidFill>
                  <a:srgbClr val="000000"/>
                </a:solidFill>
              </a:rPr>
              <a:t>analyze</a:t>
            </a:r>
            <a:r>
              <a:rPr lang="en-GB" altLang="tr-TR" dirty="0">
                <a:solidFill>
                  <a:srgbClr val="000000"/>
                </a:solidFill>
              </a:rPr>
              <a:t> the efficiency of different methods of solutions.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Font typeface="Times New Roman" charset="0"/>
              <a:buChar char="•"/>
              <a:defRPr/>
            </a:pPr>
            <a:r>
              <a:rPr lang="en-GB" altLang="tr-TR" dirty="0">
                <a:solidFill>
                  <a:srgbClr val="000000"/>
                </a:solidFill>
              </a:rPr>
              <a:t>How do we compare the time efficiency of two algorithms that solve the same problem?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en-GB" altLang="tr-TR" b="1" i="1" dirty="0">
                <a:solidFill>
                  <a:srgbClr val="000000"/>
                </a:solidFill>
              </a:rPr>
              <a:t>	Naïve Approach</a:t>
            </a:r>
            <a:r>
              <a:rPr lang="en-GB" altLang="tr-TR" dirty="0">
                <a:solidFill>
                  <a:srgbClr val="000000"/>
                </a:solidFill>
              </a:rPr>
              <a:t>: implement these algorithms in a programming language (C++), and run them to compare their time requirements. Comparing the programs (instead of algorithms) has difficulties.</a:t>
            </a:r>
            <a:r>
              <a:rPr lang="en-GB" altLang="tr-TR" sz="2000" dirty="0">
                <a:solidFill>
                  <a:srgbClr val="000000"/>
                </a:solidFill>
              </a:rPr>
              <a:t>	</a:t>
            </a:r>
          </a:p>
          <a:p>
            <a:pPr lvl="1" eaLnBrk="1" hangingPunct="1">
              <a:lnSpc>
                <a:spcPct val="80000"/>
              </a:lnSpc>
              <a:spcBef>
                <a:spcPts val="450"/>
              </a:spcBef>
              <a:buFont typeface="Times New Roman" charset="0"/>
              <a:buChar char="–"/>
              <a:defRPr/>
            </a:pPr>
            <a:r>
              <a:rPr lang="en-GB" altLang="tr-TR" sz="1800" i="1" dirty="0">
                <a:solidFill>
                  <a:srgbClr val="000000"/>
                </a:solidFill>
              </a:rPr>
              <a:t>How are the algorithms coded?</a:t>
            </a:r>
          </a:p>
          <a:p>
            <a:pPr lvl="2" eaLnBrk="1" hangingPunct="1">
              <a:lnSpc>
                <a:spcPct val="80000"/>
              </a:lnSpc>
              <a:spcBef>
                <a:spcPts val="400"/>
              </a:spcBef>
              <a:buFont typeface="Times New Roman" charset="0"/>
              <a:buChar char="•"/>
              <a:defRPr/>
            </a:pPr>
            <a:r>
              <a:rPr lang="en-GB" altLang="tr-TR" sz="1600" dirty="0">
                <a:solidFill>
                  <a:srgbClr val="000000"/>
                </a:solidFill>
              </a:rPr>
              <a:t>Comparing running times means comparing the implementations.</a:t>
            </a:r>
          </a:p>
          <a:p>
            <a:pPr lvl="2" eaLnBrk="1" hangingPunct="1">
              <a:lnSpc>
                <a:spcPct val="80000"/>
              </a:lnSpc>
              <a:spcBef>
                <a:spcPts val="400"/>
              </a:spcBef>
              <a:buFont typeface="Times New Roman" charset="0"/>
              <a:buChar char="•"/>
              <a:defRPr/>
            </a:pPr>
            <a:r>
              <a:rPr lang="en-GB" altLang="tr-TR" sz="1600" dirty="0">
                <a:solidFill>
                  <a:srgbClr val="000000"/>
                </a:solidFill>
              </a:rPr>
              <a:t>We should not compare implementations, because they are sensitive to programming style that may cloud the issue of which algorithm is inherently more efficient.</a:t>
            </a:r>
          </a:p>
          <a:p>
            <a:pPr lvl="1" eaLnBrk="1" hangingPunct="1">
              <a:lnSpc>
                <a:spcPct val="80000"/>
              </a:lnSpc>
              <a:spcBef>
                <a:spcPts val="450"/>
              </a:spcBef>
              <a:buFont typeface="Times New Roman" charset="0"/>
              <a:buChar char="–"/>
              <a:defRPr/>
            </a:pPr>
            <a:r>
              <a:rPr lang="en-GB" altLang="tr-TR" sz="1800" i="1" dirty="0">
                <a:solidFill>
                  <a:srgbClr val="000000"/>
                </a:solidFill>
              </a:rPr>
              <a:t>What computer should we use?</a:t>
            </a:r>
          </a:p>
          <a:p>
            <a:pPr lvl="2" eaLnBrk="1" hangingPunct="1">
              <a:lnSpc>
                <a:spcPct val="80000"/>
              </a:lnSpc>
              <a:spcBef>
                <a:spcPts val="400"/>
              </a:spcBef>
              <a:buFont typeface="Times New Roman" charset="0"/>
              <a:buChar char="•"/>
              <a:defRPr/>
            </a:pPr>
            <a:r>
              <a:rPr lang="en-GB" altLang="tr-TR" sz="1600" dirty="0">
                <a:solidFill>
                  <a:srgbClr val="000000"/>
                </a:solidFill>
              </a:rPr>
              <a:t>We should compare the efficiency of the algorithms independently of a particular computer.</a:t>
            </a:r>
          </a:p>
          <a:p>
            <a:pPr lvl="1" eaLnBrk="1" hangingPunct="1">
              <a:lnSpc>
                <a:spcPct val="80000"/>
              </a:lnSpc>
              <a:spcBef>
                <a:spcPts val="450"/>
              </a:spcBef>
              <a:buFont typeface="Times New Roman" charset="0"/>
              <a:buChar char="–"/>
              <a:defRPr/>
            </a:pPr>
            <a:r>
              <a:rPr lang="en-GB" altLang="tr-TR" sz="1800" i="1" dirty="0">
                <a:solidFill>
                  <a:srgbClr val="000000"/>
                </a:solidFill>
              </a:rPr>
              <a:t>What data should the program use?</a:t>
            </a:r>
          </a:p>
          <a:p>
            <a:pPr lvl="2" eaLnBrk="1" hangingPunct="1">
              <a:lnSpc>
                <a:spcPct val="80000"/>
              </a:lnSpc>
              <a:spcBef>
                <a:spcPts val="400"/>
              </a:spcBef>
              <a:buFont typeface="Times New Roman" charset="0"/>
              <a:buChar char="•"/>
              <a:defRPr/>
            </a:pPr>
            <a:r>
              <a:rPr lang="en-GB" altLang="tr-TR" sz="1600" dirty="0">
                <a:solidFill>
                  <a:srgbClr val="000000"/>
                </a:solidFill>
              </a:rPr>
              <a:t>Any analysis must be independent of specific data.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1">
            <a:extLst>
              <a:ext uri="{FF2B5EF4-FFF2-40B4-BE49-F238E27FC236}">
                <a16:creationId xmlns:a16="http://schemas.microsoft.com/office/drawing/2014/main" id="{442CFA59-4D63-7D41-8077-E181FA603C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1400"/>
          </a:p>
        </p:txBody>
      </p:sp>
      <p:sp>
        <p:nvSpPr>
          <p:cNvPr id="12291" name="Text Box 2">
            <a:extLst>
              <a:ext uri="{FF2B5EF4-FFF2-40B4-BE49-F238E27FC236}">
                <a16:creationId xmlns:a16="http://schemas.microsoft.com/office/drawing/2014/main" id="{56182D8F-F8A2-334A-8C01-E6B4F1FBE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C4AFF1C-1B47-A949-96B0-223234B4BCC6}" type="slidenum">
              <a:rPr lang="tr-TR" altLang="tr-TR" sz="14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tr-TR" altLang="tr-TR" sz="1400"/>
          </a:p>
        </p:txBody>
      </p:sp>
      <p:sp>
        <p:nvSpPr>
          <p:cNvPr id="12292" name="Text Box 3">
            <a:extLst>
              <a:ext uri="{FF2B5EF4-FFF2-40B4-BE49-F238E27FC236}">
                <a16:creationId xmlns:a16="http://schemas.microsoft.com/office/drawing/2014/main" id="{7C24F1B5-C353-B748-9BE5-B28964980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88925"/>
            <a:ext cx="777240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600" b="1">
                <a:solidFill>
                  <a:srgbClr val="000000"/>
                </a:solidFill>
              </a:rPr>
              <a:t>Analysis of Algorithms</a:t>
            </a:r>
          </a:p>
        </p:txBody>
      </p:sp>
      <p:sp>
        <p:nvSpPr>
          <p:cNvPr id="12293" name="Text Box 4">
            <a:extLst>
              <a:ext uri="{FF2B5EF4-FFF2-40B4-BE49-F238E27FC236}">
                <a16:creationId xmlns:a16="http://schemas.microsoft.com/office/drawing/2014/main" id="{FB868829-5F0B-1B42-9D14-236D46F95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295400"/>
            <a:ext cx="7772400" cy="499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33375" indent="-333375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 marL="733425" indent="-276225"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700"/>
              </a:spcBef>
              <a:buFont typeface="Times New Roman" panose="02020603050405020304" pitchFamily="18" charset="0"/>
              <a:buChar char="•"/>
              <a:defRPr/>
            </a:pPr>
            <a:r>
              <a:rPr lang="tr-TR" altLang="tr-TR" sz="2800"/>
              <a:t>When we analyze algorithms, we should employ mathematical techniques that analyze algorithms independently of </a:t>
            </a:r>
            <a:r>
              <a:rPr lang="tr-TR" altLang="tr-TR" sz="2800" i="1"/>
              <a:t>specific implementations, computers, or data.</a:t>
            </a:r>
          </a:p>
          <a:p>
            <a:pPr eaLnBrk="1" hangingPunct="1">
              <a:lnSpc>
                <a:spcPct val="90000"/>
              </a:lnSpc>
              <a:spcBef>
                <a:spcPts val="700"/>
              </a:spcBef>
              <a:buClrTx/>
              <a:buFontTx/>
              <a:buNone/>
              <a:defRPr/>
            </a:pPr>
            <a:endParaRPr lang="tr-TR" altLang="tr-TR" sz="2800"/>
          </a:p>
          <a:p>
            <a:pPr eaLnBrk="1" hangingPunct="1">
              <a:lnSpc>
                <a:spcPct val="90000"/>
              </a:lnSpc>
              <a:spcBef>
                <a:spcPts val="700"/>
              </a:spcBef>
              <a:buFont typeface="Times New Roman" panose="02020603050405020304" pitchFamily="18" charset="0"/>
              <a:buChar char="•"/>
              <a:defRPr/>
            </a:pPr>
            <a:r>
              <a:rPr lang="tr-TR" altLang="tr-TR" sz="2800"/>
              <a:t>To analyze algorithms: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buFont typeface="Times New Roman" panose="02020603050405020304" pitchFamily="18" charset="0"/>
              <a:buChar char="–"/>
              <a:defRPr/>
            </a:pPr>
            <a:r>
              <a:rPr lang="tr-TR" altLang="tr-TR" sz="2400"/>
              <a:t>First, we start to count the number of significant operations in a particular solution to assess its efficiency.</a:t>
            </a:r>
          </a:p>
          <a:p>
            <a:pPr lvl="1" eaLnBrk="1" hangingPunct="1">
              <a:lnSpc>
                <a:spcPct val="90000"/>
              </a:lnSpc>
              <a:buFont typeface="Times New Roman" panose="02020603050405020304" pitchFamily="18" charset="0"/>
              <a:buChar char="–"/>
              <a:defRPr/>
            </a:pPr>
            <a:r>
              <a:rPr lang="tr-TR" altLang="tr-TR" sz="2400"/>
              <a:t>Then, we will express the efficiency of algorithms using growth functions</a:t>
            </a:r>
            <a:r>
              <a:rPr lang="tr-TR" altLang="tr-TR"/>
              <a:t>.</a:t>
            </a:r>
          </a:p>
          <a:p>
            <a:pPr eaLnBrk="1" hangingPunct="1">
              <a:lnSpc>
                <a:spcPct val="90000"/>
              </a:lnSpc>
              <a:buClrTx/>
              <a:buFontTx/>
              <a:buNone/>
              <a:defRPr/>
            </a:pPr>
            <a:endParaRPr lang="tr-TR" altLang="tr-TR" sz="28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1">
            <a:extLst>
              <a:ext uri="{FF2B5EF4-FFF2-40B4-BE49-F238E27FC236}">
                <a16:creationId xmlns:a16="http://schemas.microsoft.com/office/drawing/2014/main" id="{2E870335-4236-5144-BAE1-DA4AF9BCA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1400"/>
          </a:p>
        </p:txBody>
      </p:sp>
      <p:sp>
        <p:nvSpPr>
          <p:cNvPr id="22531" name="Text Box 2">
            <a:extLst>
              <a:ext uri="{FF2B5EF4-FFF2-40B4-BE49-F238E27FC236}">
                <a16:creationId xmlns:a16="http://schemas.microsoft.com/office/drawing/2014/main" id="{C3CE5693-B8D0-4043-88A0-4EB61CE9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726E9A60-051F-CA40-9EFE-6F71473FEABB}" type="slidenum">
              <a:rPr lang="tr-TR" altLang="tr-TR" sz="14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tr-TR" altLang="tr-TR" sz="1400"/>
          </a:p>
        </p:txBody>
      </p:sp>
      <p:sp>
        <p:nvSpPr>
          <p:cNvPr id="22532" name="Text Box 3">
            <a:extLst>
              <a:ext uri="{FF2B5EF4-FFF2-40B4-BE49-F238E27FC236}">
                <a16:creationId xmlns:a16="http://schemas.microsoft.com/office/drawing/2014/main" id="{7E46B14C-6ADF-9D48-B4C7-4BE82A062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286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600" b="1">
                <a:solidFill>
                  <a:srgbClr val="000000"/>
                </a:solidFill>
              </a:rPr>
              <a:t>General Rules for Estimation</a:t>
            </a:r>
          </a:p>
        </p:txBody>
      </p:sp>
      <p:sp>
        <p:nvSpPr>
          <p:cNvPr id="22533" name="Text Box 4">
            <a:extLst>
              <a:ext uri="{FF2B5EF4-FFF2-40B4-BE49-F238E27FC236}">
                <a16:creationId xmlns:a16="http://schemas.microsoft.com/office/drawing/2014/main" id="{0B445B67-44B2-4B4C-A41C-FA7B6B3C5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19200"/>
            <a:ext cx="83820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33375" indent="-333375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spcBef>
                <a:spcPts val="600"/>
              </a:spcBef>
              <a:buFont typeface="Times New Roman" panose="02020603050405020304" pitchFamily="18" charset="0"/>
              <a:buChar char="•"/>
              <a:defRPr/>
            </a:pPr>
            <a:r>
              <a:rPr lang="tr-TR" altLang="tr-TR" sz="2400" b="1"/>
              <a:t>Loops</a:t>
            </a:r>
            <a:r>
              <a:rPr lang="tr-TR" altLang="tr-TR" sz="2400"/>
              <a:t>: The running time of a loop is at most the running time of the statements inside of that loop times the number of iterations.</a:t>
            </a:r>
          </a:p>
          <a:p>
            <a:pPr eaLnBrk="1" hangingPunct="1">
              <a:spcBef>
                <a:spcPts val="600"/>
              </a:spcBef>
              <a:buFont typeface="Times New Roman" panose="02020603050405020304" pitchFamily="18" charset="0"/>
              <a:buChar char="•"/>
              <a:defRPr/>
            </a:pPr>
            <a:r>
              <a:rPr lang="tr-TR" altLang="tr-TR" sz="2400"/>
              <a:t> </a:t>
            </a:r>
            <a:r>
              <a:rPr lang="tr-TR" altLang="tr-TR" sz="2400" b="1"/>
              <a:t>Nested Loops</a:t>
            </a:r>
            <a:r>
              <a:rPr lang="tr-TR" altLang="tr-TR" sz="2400"/>
              <a:t>: Running time of a nested loop containing a statement in the inner most loop is the running time of statement multiplied by the product of the sized of all loops. </a:t>
            </a:r>
          </a:p>
          <a:p>
            <a:pPr eaLnBrk="1" hangingPunct="1">
              <a:spcBef>
                <a:spcPts val="600"/>
              </a:spcBef>
              <a:buFont typeface="Times New Roman" panose="02020603050405020304" pitchFamily="18" charset="0"/>
              <a:buChar char="•"/>
              <a:defRPr/>
            </a:pPr>
            <a:r>
              <a:rPr lang="tr-TR" altLang="tr-TR" sz="2400" b="1"/>
              <a:t>Consecutive Statements: </a:t>
            </a:r>
            <a:r>
              <a:rPr lang="tr-TR" altLang="tr-TR" sz="2400"/>
              <a:t>Just add the running times of those consecutive statements. </a:t>
            </a:r>
          </a:p>
          <a:p>
            <a:pPr eaLnBrk="1" hangingPunct="1">
              <a:spcBef>
                <a:spcPts val="600"/>
              </a:spcBef>
              <a:buFont typeface="Times New Roman" panose="02020603050405020304" pitchFamily="18" charset="0"/>
              <a:buChar char="•"/>
              <a:defRPr/>
            </a:pPr>
            <a:r>
              <a:rPr lang="tr-TR" altLang="tr-TR" sz="2400" b="1"/>
              <a:t>If/Else</a:t>
            </a:r>
            <a:r>
              <a:rPr lang="tr-TR" altLang="tr-TR" sz="2400"/>
              <a:t>: Never more than the running time of the test plus the larger of running times of S1 and S2. 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endParaRPr lang="tr-TR" altLang="tr-TR" sz="2400"/>
          </a:p>
        </p:txBody>
      </p:sp>
    </p:spTree>
    <p:extLst>
      <p:ext uri="{BB962C8B-B14F-4D97-AF65-F5344CB8AC3E}">
        <p14:creationId xmlns:p14="http://schemas.microsoft.com/office/powerpoint/2010/main" val="281188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1">
            <a:extLst>
              <a:ext uri="{FF2B5EF4-FFF2-40B4-BE49-F238E27FC236}">
                <a16:creationId xmlns:a16="http://schemas.microsoft.com/office/drawing/2014/main" id="{74F38B3F-D800-1146-ADFB-4F5C83B1E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1400"/>
          </a:p>
        </p:txBody>
      </p:sp>
      <p:sp>
        <p:nvSpPr>
          <p:cNvPr id="14339" name="Text Box 2">
            <a:extLst>
              <a:ext uri="{FF2B5EF4-FFF2-40B4-BE49-F238E27FC236}">
                <a16:creationId xmlns:a16="http://schemas.microsoft.com/office/drawing/2014/main" id="{5F3FAB77-5BF9-B148-BCDF-EFF2CE40A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2B11C6F-E712-7F47-8D10-F505BD48637A}" type="slidenum">
              <a:rPr lang="tr-TR" altLang="tr-TR" sz="14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tr-TR" altLang="tr-TR" sz="1400"/>
          </a:p>
        </p:txBody>
      </p:sp>
      <p:sp>
        <p:nvSpPr>
          <p:cNvPr id="14340" name="Text Box 3">
            <a:extLst>
              <a:ext uri="{FF2B5EF4-FFF2-40B4-BE49-F238E27FC236}">
                <a16:creationId xmlns:a16="http://schemas.microsoft.com/office/drawing/2014/main" id="{1B198982-C5E7-CD4E-93E3-5DD3AE68D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44475"/>
            <a:ext cx="7772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The Execution Time of Algorithms</a:t>
            </a:r>
          </a:p>
        </p:txBody>
      </p:sp>
      <p:sp>
        <p:nvSpPr>
          <p:cNvPr id="14341" name="Text Box 4">
            <a:extLst>
              <a:ext uri="{FF2B5EF4-FFF2-40B4-BE49-F238E27FC236}">
                <a16:creationId xmlns:a16="http://schemas.microsoft.com/office/drawing/2014/main" id="{5215A8C8-0010-124B-BA7B-A6A1954FA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66800"/>
            <a:ext cx="86106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33375" indent="-333375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spcBef>
                <a:spcPts val="600"/>
              </a:spcBef>
              <a:buFont typeface="Times New Roman" panose="02020603050405020304" pitchFamily="18" charset="0"/>
              <a:buChar char="•"/>
              <a:defRPr/>
            </a:pPr>
            <a:r>
              <a:rPr lang="tr-TR" altLang="tr-TR" sz="2400"/>
              <a:t>Each operation in an algorithm (or a program) has a cost. 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tr-TR" altLang="tr-TR" sz="2400"/>
              <a:t>		</a:t>
            </a:r>
            <a:r>
              <a:rPr lang="tr-TR" altLang="tr-TR" sz="2400">
                <a:latin typeface="Wingdings" pitchFamily="2" charset="2"/>
              </a:rPr>
              <a:t></a:t>
            </a:r>
            <a:r>
              <a:rPr lang="tr-TR" altLang="tr-TR" sz="2400"/>
              <a:t> Each operation takes a certain of time.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endParaRPr lang="tr-TR" altLang="tr-TR" sz="2400"/>
          </a:p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2400"/>
              <a:t> </a:t>
            </a:r>
            <a:r>
              <a:rPr lang="tr-TR" altLang="tr-TR" sz="2400">
                <a:latin typeface="Courier New" panose="02070309020205020404" pitchFamily="49" charset="0"/>
              </a:rPr>
              <a:t>count = count + 1;</a:t>
            </a:r>
            <a:r>
              <a:rPr lang="tr-TR" altLang="tr-TR" sz="2400"/>
              <a:t> </a:t>
            </a:r>
            <a:r>
              <a:rPr lang="tr-TR" altLang="tr-TR" sz="2400">
                <a:latin typeface="Wingdings" pitchFamily="2" charset="2"/>
              </a:rPr>
              <a:t></a:t>
            </a:r>
            <a:r>
              <a:rPr lang="tr-TR" altLang="tr-TR" sz="2400"/>
              <a:t>  </a:t>
            </a:r>
            <a:r>
              <a:rPr lang="tr-TR" altLang="tr-TR" sz="1800"/>
              <a:t>take a certain amount of time, but it is constant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endParaRPr lang="tr-TR" altLang="tr-TR" sz="1800"/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tr-TR" altLang="tr-TR" sz="2400" b="1" i="1"/>
              <a:t>A sequence of  operations: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endParaRPr lang="tr-TR" altLang="tr-TR" sz="2400"/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tr-TR" altLang="tr-TR" sz="2400"/>
              <a:t>	</a:t>
            </a:r>
            <a:r>
              <a:rPr lang="tr-TR" altLang="tr-TR" sz="2400">
                <a:latin typeface="Courier New" panose="02070309020205020404" pitchFamily="49" charset="0"/>
              </a:rPr>
              <a:t>count = count + 1;	</a:t>
            </a:r>
            <a:r>
              <a:rPr lang="tr-TR" altLang="tr-TR" sz="2400"/>
              <a:t>	Cost: c</a:t>
            </a:r>
            <a:r>
              <a:rPr lang="tr-TR" altLang="tr-TR" sz="2400" baseline="-25000"/>
              <a:t>1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tr-TR" altLang="tr-TR" sz="2400"/>
              <a:t>	</a:t>
            </a:r>
            <a:r>
              <a:rPr lang="tr-TR" altLang="tr-TR" sz="2400">
                <a:latin typeface="Courier New" panose="02070309020205020404" pitchFamily="49" charset="0"/>
              </a:rPr>
              <a:t>sum = sum + count;</a:t>
            </a:r>
            <a:r>
              <a:rPr lang="tr-TR" altLang="tr-TR" sz="2400"/>
              <a:t>		Cost: c</a:t>
            </a:r>
            <a:r>
              <a:rPr lang="tr-TR" altLang="tr-TR" sz="2400" baseline="-25000"/>
              <a:t>2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tr-TR" altLang="tr-TR" sz="2400"/>
              <a:t>		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tr-TR" altLang="tr-TR" sz="2400"/>
              <a:t>		</a:t>
            </a:r>
            <a:r>
              <a:rPr lang="tr-TR" altLang="tr-TR" sz="2400">
                <a:latin typeface="Wingdings" pitchFamily="2" charset="2"/>
              </a:rPr>
              <a:t></a:t>
            </a:r>
            <a:r>
              <a:rPr lang="tr-TR" altLang="tr-TR" sz="2400"/>
              <a:t> Total Cost = c</a:t>
            </a:r>
            <a:r>
              <a:rPr lang="tr-TR" altLang="tr-TR" sz="2400" baseline="-25000"/>
              <a:t>1</a:t>
            </a:r>
            <a:r>
              <a:rPr lang="tr-TR" altLang="tr-TR" sz="2400"/>
              <a:t> + c</a:t>
            </a:r>
            <a:r>
              <a:rPr lang="tr-TR" altLang="tr-TR" sz="2400" baseline="-25000"/>
              <a:t>2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tr-TR" altLang="tr-TR" sz="2400"/>
              <a:t>			            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1">
            <a:extLst>
              <a:ext uri="{FF2B5EF4-FFF2-40B4-BE49-F238E27FC236}">
                <a16:creationId xmlns:a16="http://schemas.microsoft.com/office/drawing/2014/main" id="{D14F5407-24A4-6D4D-89D4-16F5872D7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1400"/>
          </a:p>
        </p:txBody>
      </p:sp>
      <p:sp>
        <p:nvSpPr>
          <p:cNvPr id="16387" name="Text Box 2">
            <a:extLst>
              <a:ext uri="{FF2B5EF4-FFF2-40B4-BE49-F238E27FC236}">
                <a16:creationId xmlns:a16="http://schemas.microsoft.com/office/drawing/2014/main" id="{48DCD20F-2661-4D41-A57A-84D7EE6A5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0007AF0-9AC8-5541-BBE2-24FD4FE26AEE}" type="slidenum">
              <a:rPr lang="tr-TR" altLang="tr-TR" sz="14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tr-TR" altLang="tr-TR" sz="1400"/>
          </a:p>
        </p:txBody>
      </p:sp>
      <p:sp>
        <p:nvSpPr>
          <p:cNvPr id="16388" name="Text Box 3">
            <a:extLst>
              <a:ext uri="{FF2B5EF4-FFF2-40B4-BE49-F238E27FC236}">
                <a16:creationId xmlns:a16="http://schemas.microsoft.com/office/drawing/2014/main" id="{4D7877FE-1E0E-AE45-826A-070A49C54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82575"/>
            <a:ext cx="7772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The Execution Time of Algorithms (cont.)</a:t>
            </a:r>
          </a:p>
        </p:txBody>
      </p:sp>
      <p:sp>
        <p:nvSpPr>
          <p:cNvPr id="16389" name="Text Box 4">
            <a:extLst>
              <a:ext uri="{FF2B5EF4-FFF2-40B4-BE49-F238E27FC236}">
                <a16:creationId xmlns:a16="http://schemas.microsoft.com/office/drawing/2014/main" id="{2B796864-5E7F-9A46-8726-723C743C5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143000"/>
            <a:ext cx="7772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42900" indent="-333375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tr-TR" altLang="tr-TR" sz="2400" i="1"/>
              <a:t>Example: Simple If-Statement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tr-TR" altLang="tr-TR" sz="2400"/>
              <a:t>								  </a:t>
            </a:r>
            <a:r>
              <a:rPr lang="tr-TR" altLang="tr-TR" sz="2400" b="1" u="sng"/>
              <a:t>Cost</a:t>
            </a:r>
            <a:r>
              <a:rPr lang="tr-TR" altLang="tr-TR" sz="2400" b="1"/>
              <a:t>		</a:t>
            </a:r>
            <a:r>
              <a:rPr lang="tr-TR" altLang="tr-TR" sz="2400" b="1" u="sng"/>
              <a:t>Times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tr-TR" altLang="tr-TR" sz="2400"/>
              <a:t>	</a:t>
            </a:r>
            <a:r>
              <a:rPr lang="tr-TR" altLang="tr-TR" sz="2400">
                <a:latin typeface="Courier New" panose="02070309020205020404" pitchFamily="49" charset="0"/>
              </a:rPr>
              <a:t>if (n &lt; 0)				</a:t>
            </a:r>
            <a:r>
              <a:rPr lang="tr-TR" altLang="tr-TR" sz="2400"/>
              <a:t>c1		   1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tr-TR" altLang="tr-TR" sz="2400">
                <a:latin typeface="Courier New" panose="02070309020205020404" pitchFamily="49" charset="0"/>
              </a:rPr>
              <a:t>	   absval = -n 		</a:t>
            </a:r>
            <a:r>
              <a:rPr lang="tr-TR" altLang="tr-TR" sz="2400"/>
              <a:t>c2		   1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tr-TR" altLang="tr-TR" sz="2400">
                <a:latin typeface="Courier New" panose="02070309020205020404" pitchFamily="49" charset="0"/>
              </a:rPr>
              <a:t>	else			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tr-TR" altLang="tr-TR" sz="2400">
                <a:latin typeface="Courier New" panose="02070309020205020404" pitchFamily="49" charset="0"/>
              </a:rPr>
              <a:t>		absval = n; 			</a:t>
            </a:r>
            <a:r>
              <a:rPr lang="tr-TR" altLang="tr-TR" sz="2400"/>
              <a:t>c3		   1</a:t>
            </a:r>
            <a:r>
              <a:rPr lang="tr-TR" altLang="tr-TR" sz="2400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tr-TR" altLang="tr-TR" sz="2400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tr-TR" altLang="tr-TR" sz="2400"/>
              <a:t>Total Cost  &lt;=  c1 + max(c2,c3)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endParaRPr lang="tr-TR" altLang="tr-TR" sz="24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1">
            <a:extLst>
              <a:ext uri="{FF2B5EF4-FFF2-40B4-BE49-F238E27FC236}">
                <a16:creationId xmlns:a16="http://schemas.microsoft.com/office/drawing/2014/main" id="{8460FE2A-98D6-B540-95B3-F866E4AEB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1400"/>
          </a:p>
        </p:txBody>
      </p:sp>
      <p:sp>
        <p:nvSpPr>
          <p:cNvPr id="18435" name="Text Box 2">
            <a:extLst>
              <a:ext uri="{FF2B5EF4-FFF2-40B4-BE49-F238E27FC236}">
                <a16:creationId xmlns:a16="http://schemas.microsoft.com/office/drawing/2014/main" id="{3F3E6F31-400E-9F47-B868-AD78A2ED9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3EE783D-18D8-7148-80AA-0B9231F7A13D}" type="slidenum">
              <a:rPr lang="tr-TR" altLang="tr-TR" sz="14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tr-TR" altLang="tr-TR" sz="1400"/>
          </a:p>
        </p:txBody>
      </p:sp>
      <p:sp>
        <p:nvSpPr>
          <p:cNvPr id="18436" name="Text Box 3">
            <a:extLst>
              <a:ext uri="{FF2B5EF4-FFF2-40B4-BE49-F238E27FC236}">
                <a16:creationId xmlns:a16="http://schemas.microsoft.com/office/drawing/2014/main" id="{5000A4CE-E2AF-9443-9873-4F15F941A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286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The Execution Time of Algorithms (cont.)</a:t>
            </a:r>
          </a:p>
        </p:txBody>
      </p:sp>
      <p:sp>
        <p:nvSpPr>
          <p:cNvPr id="18437" name="Text Box 4">
            <a:extLst>
              <a:ext uri="{FF2B5EF4-FFF2-40B4-BE49-F238E27FC236}">
                <a16:creationId xmlns:a16="http://schemas.microsoft.com/office/drawing/2014/main" id="{99612B64-7BB2-0B4B-A3FF-DAA0370FF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90600"/>
            <a:ext cx="86868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42900" indent="-333375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en-GB" altLang="tr-TR" sz="2400" i="1" dirty="0"/>
              <a:t>Example: Simple Loop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en-GB" altLang="tr-TR" sz="2400" dirty="0"/>
              <a:t>									  </a:t>
            </a:r>
            <a:r>
              <a:rPr lang="en-GB" altLang="tr-TR" sz="2400" b="1" u="sng" dirty="0"/>
              <a:t>Cost</a:t>
            </a:r>
            <a:r>
              <a:rPr lang="en-GB" altLang="tr-TR" sz="2400" b="1" dirty="0"/>
              <a:t>		</a:t>
            </a:r>
            <a:r>
              <a:rPr lang="en-GB" altLang="tr-TR" sz="2400" b="1" u="sng" dirty="0"/>
              <a:t>Times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en-GB" altLang="tr-TR" sz="2400" dirty="0"/>
              <a:t>	</a:t>
            </a:r>
            <a:r>
              <a:rPr lang="en-GB" altLang="tr-TR" sz="2400" dirty="0" err="1">
                <a:latin typeface="Courier New" panose="02070309020205020404" pitchFamily="49" charset="0"/>
              </a:rPr>
              <a:t>i</a:t>
            </a:r>
            <a:r>
              <a:rPr lang="en-GB" altLang="tr-TR" sz="2400" dirty="0">
                <a:latin typeface="Courier New" panose="02070309020205020404" pitchFamily="49" charset="0"/>
              </a:rPr>
              <a:t> = 1;					 		</a:t>
            </a:r>
            <a:r>
              <a:rPr lang="en-GB" altLang="tr-TR" sz="2400" dirty="0"/>
              <a:t>c1			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en-GB" altLang="tr-TR" sz="2400" dirty="0">
                <a:latin typeface="Courier New" panose="02070309020205020404" pitchFamily="49" charset="0"/>
              </a:rPr>
              <a:t>	sum = 0;					 	</a:t>
            </a:r>
            <a:r>
              <a:rPr lang="en-GB" altLang="tr-TR" sz="2400" dirty="0"/>
              <a:t>c2			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en-GB" altLang="tr-TR" sz="2400" dirty="0">
                <a:latin typeface="Courier New" panose="02070309020205020404" pitchFamily="49" charset="0"/>
              </a:rPr>
              <a:t>	while (</a:t>
            </a:r>
            <a:r>
              <a:rPr lang="en-GB" altLang="tr-TR" sz="2400" dirty="0" err="1">
                <a:latin typeface="Courier New" panose="02070309020205020404" pitchFamily="49" charset="0"/>
              </a:rPr>
              <a:t>i</a:t>
            </a:r>
            <a:r>
              <a:rPr lang="en-GB" altLang="tr-TR" sz="2400" dirty="0">
                <a:latin typeface="Courier New" panose="02070309020205020404" pitchFamily="49" charset="0"/>
              </a:rPr>
              <a:t> &lt;= n) {			</a:t>
            </a:r>
            <a:r>
              <a:rPr lang="en-GB" altLang="tr-TR" sz="2400" dirty="0"/>
              <a:t>c3		   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en-GB" altLang="tr-TR" sz="2400" dirty="0">
                <a:latin typeface="Courier New" panose="02070309020205020404" pitchFamily="49" charset="0"/>
              </a:rPr>
              <a:t>		</a:t>
            </a:r>
            <a:r>
              <a:rPr lang="en-GB" altLang="tr-TR" sz="2400" dirty="0" err="1">
                <a:latin typeface="Courier New" panose="02070309020205020404" pitchFamily="49" charset="0"/>
              </a:rPr>
              <a:t>i</a:t>
            </a:r>
            <a:r>
              <a:rPr lang="en-GB" altLang="tr-TR" sz="2400" dirty="0">
                <a:latin typeface="Courier New" panose="02070309020205020404" pitchFamily="49" charset="0"/>
              </a:rPr>
              <a:t> = </a:t>
            </a:r>
            <a:r>
              <a:rPr lang="en-GB" altLang="tr-TR" sz="2400" dirty="0" err="1">
                <a:latin typeface="Courier New" panose="02070309020205020404" pitchFamily="49" charset="0"/>
              </a:rPr>
              <a:t>i</a:t>
            </a:r>
            <a:r>
              <a:rPr lang="en-GB" altLang="tr-TR" sz="2400" dirty="0">
                <a:latin typeface="Courier New" panose="02070309020205020404" pitchFamily="49" charset="0"/>
              </a:rPr>
              <a:t> + 1;		        </a:t>
            </a:r>
            <a:r>
              <a:rPr lang="en-GB" altLang="tr-TR" sz="2400" dirty="0"/>
              <a:t>c4		   	</a:t>
            </a:r>
            <a:r>
              <a:rPr lang="en-GB" altLang="tr-TR" sz="2400" dirty="0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en-GB" altLang="tr-TR" sz="2400" dirty="0">
                <a:latin typeface="Courier New" panose="02070309020205020404" pitchFamily="49" charset="0"/>
              </a:rPr>
              <a:t>		sum = sum + </a:t>
            </a:r>
            <a:r>
              <a:rPr lang="en-GB" altLang="tr-TR" sz="2400" dirty="0" err="1">
                <a:latin typeface="Courier New" panose="02070309020205020404" pitchFamily="49" charset="0"/>
              </a:rPr>
              <a:t>i</a:t>
            </a:r>
            <a:r>
              <a:rPr lang="en-GB" altLang="tr-TR" sz="2400" dirty="0">
                <a:latin typeface="Courier New" panose="02070309020205020404" pitchFamily="49" charset="0"/>
              </a:rPr>
              <a:t>;			</a:t>
            </a:r>
            <a:r>
              <a:rPr lang="en-GB" altLang="tr-TR" sz="2400" dirty="0"/>
              <a:t>c5		   	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en-GB" altLang="tr-TR" sz="2400" dirty="0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endParaRPr lang="en-GB" altLang="tr-TR" sz="24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en-GB" altLang="tr-TR" sz="2400" dirty="0"/>
              <a:t>Total Cost  =  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en-GB" altLang="tr-TR" sz="2400" dirty="0"/>
              <a:t>	</a:t>
            </a:r>
            <a:r>
              <a:rPr lang="en-GB" altLang="tr-TR" sz="2400" dirty="0">
                <a:latin typeface="Wingdings" pitchFamily="2" charset="2"/>
              </a:rPr>
              <a:t></a:t>
            </a:r>
            <a:r>
              <a:rPr lang="en-GB" altLang="tr-TR" sz="2400" dirty="0"/>
              <a:t> The time required for this algorithm is proportional to 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1">
            <a:extLst>
              <a:ext uri="{FF2B5EF4-FFF2-40B4-BE49-F238E27FC236}">
                <a16:creationId xmlns:a16="http://schemas.microsoft.com/office/drawing/2014/main" id="{8460FE2A-98D6-B540-95B3-F866E4AEB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1400"/>
          </a:p>
        </p:txBody>
      </p:sp>
      <p:sp>
        <p:nvSpPr>
          <p:cNvPr id="18435" name="Text Box 2">
            <a:extLst>
              <a:ext uri="{FF2B5EF4-FFF2-40B4-BE49-F238E27FC236}">
                <a16:creationId xmlns:a16="http://schemas.microsoft.com/office/drawing/2014/main" id="{3F3E6F31-400E-9F47-B868-AD78A2ED9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3EE783D-18D8-7148-80AA-0B9231F7A13D}" type="slidenum">
              <a:rPr lang="tr-TR" altLang="tr-TR" sz="14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tr-TR" altLang="tr-TR" sz="1400"/>
          </a:p>
        </p:txBody>
      </p:sp>
      <p:sp>
        <p:nvSpPr>
          <p:cNvPr id="18436" name="Text Box 3">
            <a:extLst>
              <a:ext uri="{FF2B5EF4-FFF2-40B4-BE49-F238E27FC236}">
                <a16:creationId xmlns:a16="http://schemas.microsoft.com/office/drawing/2014/main" id="{5000A4CE-E2AF-9443-9873-4F15F941A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286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The Execution Time of Algorithms (cont.)</a:t>
            </a:r>
          </a:p>
        </p:txBody>
      </p:sp>
      <p:sp>
        <p:nvSpPr>
          <p:cNvPr id="18437" name="Text Box 4">
            <a:extLst>
              <a:ext uri="{FF2B5EF4-FFF2-40B4-BE49-F238E27FC236}">
                <a16:creationId xmlns:a16="http://schemas.microsoft.com/office/drawing/2014/main" id="{99612B64-7BB2-0B4B-A3FF-DAA0370FF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90600"/>
            <a:ext cx="86868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42900" indent="-333375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tr-TR" altLang="tr-TR" sz="2400" i="1" noProof="1"/>
              <a:t>Example: Simple Loop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tr-TR" altLang="tr-TR" sz="2400" noProof="1"/>
              <a:t>									  </a:t>
            </a:r>
            <a:r>
              <a:rPr lang="tr-TR" altLang="tr-TR" sz="2400" b="1" u="sng" noProof="1"/>
              <a:t>Cost</a:t>
            </a:r>
            <a:r>
              <a:rPr lang="tr-TR" altLang="tr-TR" sz="2400" b="1" noProof="1"/>
              <a:t>		</a:t>
            </a:r>
            <a:r>
              <a:rPr lang="tr-TR" altLang="tr-TR" sz="2400" b="1" u="sng" noProof="1"/>
              <a:t>Times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tr-TR" altLang="tr-TR" sz="2400" noProof="1"/>
              <a:t>	</a:t>
            </a:r>
            <a:r>
              <a:rPr lang="tr-TR" altLang="tr-TR" sz="2400" noProof="1">
                <a:latin typeface="Courier New" panose="02070309020205020404" pitchFamily="49" charset="0"/>
              </a:rPr>
              <a:t>i = 1;					 		</a:t>
            </a:r>
            <a:r>
              <a:rPr lang="tr-TR" altLang="tr-TR" sz="2400" noProof="1"/>
              <a:t>c1			1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tr-TR" altLang="tr-TR" sz="2400" noProof="1">
                <a:latin typeface="Courier New" panose="02070309020205020404" pitchFamily="49" charset="0"/>
              </a:rPr>
              <a:t>	sum = 0;					 	</a:t>
            </a:r>
            <a:r>
              <a:rPr lang="tr-TR" altLang="tr-TR" sz="2400" noProof="1"/>
              <a:t>c2			1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tr-TR" altLang="tr-TR" sz="2400" noProof="1">
                <a:latin typeface="Courier New" panose="02070309020205020404" pitchFamily="49" charset="0"/>
              </a:rPr>
              <a:t>	while (i &lt;= n) {			</a:t>
            </a:r>
            <a:r>
              <a:rPr lang="tr-TR" altLang="tr-TR" sz="2400" noProof="1"/>
              <a:t>c3		   n+1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tr-TR" altLang="tr-TR" sz="2400" noProof="1">
                <a:latin typeface="Courier New" panose="02070309020205020404" pitchFamily="49" charset="0"/>
              </a:rPr>
              <a:t>		i = i + 1;		       </a:t>
            </a:r>
            <a:r>
              <a:rPr lang="tr-TR" altLang="tr-TR" sz="2400" noProof="1"/>
              <a:t>c4		   	n</a:t>
            </a:r>
            <a:r>
              <a:rPr lang="tr-TR" altLang="tr-TR" sz="2400" noProof="1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tr-TR" altLang="tr-TR" sz="2400" noProof="1">
                <a:latin typeface="Courier New" panose="02070309020205020404" pitchFamily="49" charset="0"/>
              </a:rPr>
              <a:t>		sum = sum + i;			</a:t>
            </a:r>
            <a:r>
              <a:rPr lang="tr-TR" altLang="tr-TR" sz="2400" noProof="1"/>
              <a:t>c5		   	n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tr-TR" altLang="tr-TR" sz="2400" noProof="1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endParaRPr lang="tr-TR" altLang="tr-TR" sz="2400" noProof="1">
              <a:latin typeface="Courier New" panose="02070309020205020404" pitchFamily="49" charset="0"/>
            </a:endParaRP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tr-TR" altLang="tr-TR" sz="2400" noProof="1"/>
              <a:t>Total Cost  =  c1 + c2 + (n+1)*c3 + n*c4 + n*c5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tr-TR" altLang="tr-TR" sz="2400" noProof="1"/>
              <a:t>	</a:t>
            </a:r>
            <a:r>
              <a:rPr lang="tr-TR" altLang="tr-TR" sz="2400" noProof="1">
                <a:latin typeface="Wingdings" pitchFamily="2" charset="2"/>
              </a:rPr>
              <a:t></a:t>
            </a:r>
            <a:r>
              <a:rPr lang="tr-TR" altLang="tr-TR" sz="2400" noProof="1"/>
              <a:t> The time required for this algorithm is proportional to n</a:t>
            </a:r>
          </a:p>
        </p:txBody>
      </p:sp>
    </p:spTree>
    <p:extLst>
      <p:ext uri="{BB962C8B-B14F-4D97-AF65-F5344CB8AC3E}">
        <p14:creationId xmlns:p14="http://schemas.microsoft.com/office/powerpoint/2010/main" val="36597511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1">
            <a:extLst>
              <a:ext uri="{FF2B5EF4-FFF2-40B4-BE49-F238E27FC236}">
                <a16:creationId xmlns:a16="http://schemas.microsoft.com/office/drawing/2014/main" id="{85D96BC5-B669-6942-99F3-8DA4908FD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1400"/>
          </a:p>
        </p:txBody>
      </p:sp>
      <p:sp>
        <p:nvSpPr>
          <p:cNvPr id="20483" name="Text Box 2">
            <a:extLst>
              <a:ext uri="{FF2B5EF4-FFF2-40B4-BE49-F238E27FC236}">
                <a16:creationId xmlns:a16="http://schemas.microsoft.com/office/drawing/2014/main" id="{9660087E-7335-6D41-9B98-B6725E44C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61833B7-838B-F44F-853E-E8FE00D49469}" type="slidenum">
              <a:rPr lang="tr-TR" altLang="tr-TR" sz="14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tr-TR" altLang="tr-TR" sz="1400"/>
          </a:p>
        </p:txBody>
      </p:sp>
      <p:sp>
        <p:nvSpPr>
          <p:cNvPr id="20484" name="Text Box 3">
            <a:extLst>
              <a:ext uri="{FF2B5EF4-FFF2-40B4-BE49-F238E27FC236}">
                <a16:creationId xmlns:a16="http://schemas.microsoft.com/office/drawing/2014/main" id="{25B0AB75-F43F-3149-912E-35CB2442F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048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The Execution Time of Algorithms (cont.)</a:t>
            </a:r>
          </a:p>
        </p:txBody>
      </p:sp>
      <p:sp>
        <p:nvSpPr>
          <p:cNvPr id="20485" name="Text Box 4">
            <a:extLst>
              <a:ext uri="{FF2B5EF4-FFF2-40B4-BE49-F238E27FC236}">
                <a16:creationId xmlns:a16="http://schemas.microsoft.com/office/drawing/2014/main" id="{7759DCB0-0655-AC4B-8981-DF042EFDF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90600"/>
            <a:ext cx="86868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42900" indent="-333375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FontTx/>
              <a:buNone/>
              <a:defRPr/>
            </a:pPr>
            <a:r>
              <a:rPr lang="en-GB" altLang="tr-TR" sz="2400" i="1" dirty="0"/>
              <a:t>Example: Nested Loop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en-GB" altLang="tr-TR" sz="2000" dirty="0"/>
              <a:t>									    </a:t>
            </a:r>
            <a:r>
              <a:rPr lang="en-GB" altLang="tr-TR" sz="2000" b="1" u="sng" dirty="0"/>
              <a:t>Cost</a:t>
            </a:r>
            <a:r>
              <a:rPr lang="en-GB" altLang="tr-TR" sz="2000" b="1" dirty="0"/>
              <a:t>		     </a:t>
            </a:r>
            <a:r>
              <a:rPr lang="en-GB" altLang="tr-TR" sz="2000" b="1" u="sng" dirty="0"/>
              <a:t>Times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en-GB" altLang="tr-TR" sz="2000" dirty="0"/>
              <a:t>	</a:t>
            </a:r>
            <a:r>
              <a:rPr lang="en-GB" altLang="tr-TR" sz="2000" dirty="0" err="1">
                <a:latin typeface="Courier New" panose="02070309020205020404" pitchFamily="49" charset="0"/>
              </a:rPr>
              <a:t>i</a:t>
            </a:r>
            <a:r>
              <a:rPr lang="en-GB" altLang="tr-TR" sz="2000" dirty="0">
                <a:latin typeface="Courier New" panose="02070309020205020404" pitchFamily="49" charset="0"/>
              </a:rPr>
              <a:t>=1;				 				c1			  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en-GB" altLang="tr-TR" sz="2000" dirty="0">
                <a:latin typeface="Courier New" panose="02070309020205020404" pitchFamily="49" charset="0"/>
              </a:rPr>
              <a:t>	sum = 0;		 		 			c2			  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en-GB" altLang="tr-TR" sz="2000" dirty="0">
                <a:latin typeface="Courier New" panose="02070309020205020404" pitchFamily="49" charset="0"/>
              </a:rPr>
              <a:t>	while (</a:t>
            </a:r>
            <a:r>
              <a:rPr lang="en-GB" altLang="tr-TR" sz="2000" dirty="0" err="1">
                <a:latin typeface="Courier New" panose="02070309020205020404" pitchFamily="49" charset="0"/>
              </a:rPr>
              <a:t>i</a:t>
            </a:r>
            <a:r>
              <a:rPr lang="en-GB" altLang="tr-TR" sz="2000" dirty="0">
                <a:latin typeface="Courier New" panose="02070309020205020404" pitchFamily="49" charset="0"/>
              </a:rPr>
              <a:t> &lt;= n) { 		 		c3			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en-GB" altLang="tr-TR" sz="2000" dirty="0">
                <a:latin typeface="Courier New" panose="02070309020205020404" pitchFamily="49" charset="0"/>
              </a:rPr>
              <a:t>		j=1;				 			c4			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en-GB" altLang="tr-TR" sz="2000" dirty="0">
                <a:latin typeface="Courier New" panose="02070309020205020404" pitchFamily="49" charset="0"/>
              </a:rPr>
              <a:t>		while (j &lt;= n) {	 	 	c5		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en-GB" altLang="tr-TR" sz="2000" dirty="0">
                <a:latin typeface="Courier New" panose="02070309020205020404" pitchFamily="49" charset="0"/>
              </a:rPr>
              <a:t>		    sum = sum + </a:t>
            </a:r>
            <a:r>
              <a:rPr lang="en-GB" altLang="tr-TR" sz="2000" dirty="0" err="1">
                <a:latin typeface="Courier New" panose="02070309020205020404" pitchFamily="49" charset="0"/>
              </a:rPr>
              <a:t>i</a:t>
            </a:r>
            <a:r>
              <a:rPr lang="en-GB" altLang="tr-TR" sz="2000" dirty="0">
                <a:latin typeface="Courier New" panose="02070309020205020404" pitchFamily="49" charset="0"/>
              </a:rPr>
              <a:t>;	 	c6			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en-GB" altLang="tr-TR" sz="2000" dirty="0">
                <a:latin typeface="Courier New" panose="02070309020205020404" pitchFamily="49" charset="0"/>
              </a:rPr>
              <a:t>		    j = j + 1; 	 	 	c7			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en-GB" altLang="tr-TR" sz="2000" dirty="0">
                <a:latin typeface="Courier New" panose="02070309020205020404" pitchFamily="49" charset="0"/>
              </a:rPr>
              <a:t>	   }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en-GB" altLang="tr-TR" sz="2000" dirty="0">
                <a:latin typeface="Courier New" panose="02070309020205020404" pitchFamily="49" charset="0"/>
              </a:rPr>
              <a:t>	   </a:t>
            </a:r>
            <a:r>
              <a:rPr lang="en-GB" altLang="tr-TR" sz="2000" dirty="0" err="1">
                <a:latin typeface="Courier New" panose="02070309020205020404" pitchFamily="49" charset="0"/>
              </a:rPr>
              <a:t>i</a:t>
            </a:r>
            <a:r>
              <a:rPr lang="en-GB" altLang="tr-TR" sz="2000" dirty="0">
                <a:latin typeface="Courier New" panose="02070309020205020404" pitchFamily="49" charset="0"/>
              </a:rPr>
              <a:t> = </a:t>
            </a:r>
            <a:r>
              <a:rPr lang="en-GB" altLang="tr-TR" sz="2000" dirty="0" err="1">
                <a:latin typeface="Courier New" panose="02070309020205020404" pitchFamily="49" charset="0"/>
              </a:rPr>
              <a:t>i</a:t>
            </a:r>
            <a:r>
              <a:rPr lang="en-GB" altLang="tr-TR" sz="2000" dirty="0">
                <a:latin typeface="Courier New" panose="02070309020205020404" pitchFamily="49" charset="0"/>
              </a:rPr>
              <a:t> + 1;			 		c8		  	  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en-GB" altLang="tr-TR" sz="2000" dirty="0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en-GB" altLang="tr-TR" sz="2000" dirty="0"/>
              <a:t>Total Cost  =  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en-GB" altLang="tr-TR" sz="2000" dirty="0"/>
              <a:t>	</a:t>
            </a:r>
            <a:r>
              <a:rPr lang="en-GB" altLang="tr-TR" sz="2000" dirty="0">
                <a:latin typeface="Wingdings" pitchFamily="2" charset="2"/>
              </a:rPr>
              <a:t></a:t>
            </a:r>
            <a:r>
              <a:rPr lang="en-GB" altLang="tr-TR" sz="2000" dirty="0"/>
              <a:t> The time required for this algorithm is proportional to</a:t>
            </a:r>
            <a:endParaRPr lang="en-GB" altLang="tr-TR" sz="2000" b="1" baseline="30000" dirty="0"/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endParaRPr lang="en-GB" altLang="tr-TR" sz="2000" b="1" baseline="300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1">
            <a:extLst>
              <a:ext uri="{FF2B5EF4-FFF2-40B4-BE49-F238E27FC236}">
                <a16:creationId xmlns:a16="http://schemas.microsoft.com/office/drawing/2014/main" id="{85D96BC5-B669-6942-99F3-8DA4908FD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1400"/>
          </a:p>
        </p:txBody>
      </p:sp>
      <p:sp>
        <p:nvSpPr>
          <p:cNvPr id="20483" name="Text Box 2">
            <a:extLst>
              <a:ext uri="{FF2B5EF4-FFF2-40B4-BE49-F238E27FC236}">
                <a16:creationId xmlns:a16="http://schemas.microsoft.com/office/drawing/2014/main" id="{9660087E-7335-6D41-9B98-B6725E44C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61833B7-838B-F44F-853E-E8FE00D49469}" type="slidenum">
              <a:rPr lang="tr-TR" altLang="tr-TR" sz="14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tr-TR" altLang="tr-TR" sz="1400"/>
          </a:p>
        </p:txBody>
      </p:sp>
      <p:sp>
        <p:nvSpPr>
          <p:cNvPr id="20484" name="Text Box 3">
            <a:extLst>
              <a:ext uri="{FF2B5EF4-FFF2-40B4-BE49-F238E27FC236}">
                <a16:creationId xmlns:a16="http://schemas.microsoft.com/office/drawing/2014/main" id="{25B0AB75-F43F-3149-912E-35CB2442F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048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The Execution Time of Algorithms (cont.)</a:t>
            </a:r>
          </a:p>
        </p:txBody>
      </p:sp>
      <p:sp>
        <p:nvSpPr>
          <p:cNvPr id="20485" name="Text Box 4">
            <a:extLst>
              <a:ext uri="{FF2B5EF4-FFF2-40B4-BE49-F238E27FC236}">
                <a16:creationId xmlns:a16="http://schemas.microsoft.com/office/drawing/2014/main" id="{7759DCB0-0655-AC4B-8981-DF042EFDF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90600"/>
            <a:ext cx="86868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42900" indent="-333375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FontTx/>
              <a:buNone/>
              <a:defRPr/>
            </a:pPr>
            <a:r>
              <a:rPr lang="tr-TR" altLang="tr-TR" sz="2400" i="1" dirty="0" err="1"/>
              <a:t>Example</a:t>
            </a:r>
            <a:r>
              <a:rPr lang="tr-TR" altLang="tr-TR" sz="2400" i="1" dirty="0"/>
              <a:t>: </a:t>
            </a:r>
            <a:r>
              <a:rPr lang="tr-TR" altLang="tr-TR" sz="2400" i="1" dirty="0" err="1"/>
              <a:t>Nested</a:t>
            </a:r>
            <a:r>
              <a:rPr lang="tr-TR" altLang="tr-TR" sz="2400" i="1" dirty="0"/>
              <a:t> </a:t>
            </a:r>
            <a:r>
              <a:rPr lang="tr-TR" altLang="tr-TR" sz="2400" i="1" dirty="0" err="1"/>
              <a:t>Loop</a:t>
            </a:r>
            <a:endParaRPr lang="tr-TR" altLang="tr-TR" sz="2400" i="1" dirty="0"/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 dirty="0"/>
              <a:t>									    </a:t>
            </a:r>
            <a:r>
              <a:rPr lang="tr-TR" altLang="tr-TR" sz="2000" b="1" u="sng" dirty="0" err="1"/>
              <a:t>Cost</a:t>
            </a:r>
            <a:r>
              <a:rPr lang="tr-TR" altLang="tr-TR" sz="2000" b="1" dirty="0"/>
              <a:t>		     </a:t>
            </a:r>
            <a:r>
              <a:rPr lang="tr-TR" altLang="tr-TR" sz="2000" b="1" u="sng" dirty="0"/>
              <a:t>Times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 dirty="0"/>
              <a:t>	</a:t>
            </a:r>
            <a:r>
              <a:rPr lang="tr-TR" altLang="tr-TR" sz="2000" dirty="0">
                <a:latin typeface="Courier New" panose="02070309020205020404" pitchFamily="49" charset="0"/>
              </a:rPr>
              <a:t>i=1;				 				c1			  1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 dirty="0">
                <a:latin typeface="Courier New" panose="02070309020205020404" pitchFamily="49" charset="0"/>
              </a:rPr>
              <a:t>	</a:t>
            </a:r>
            <a:r>
              <a:rPr lang="tr-TR" altLang="tr-TR" sz="2000" dirty="0" err="1">
                <a:latin typeface="Courier New" panose="02070309020205020404" pitchFamily="49" charset="0"/>
              </a:rPr>
              <a:t>sum</a:t>
            </a:r>
            <a:r>
              <a:rPr lang="tr-TR" altLang="tr-TR" sz="2000" dirty="0">
                <a:latin typeface="Courier New" panose="02070309020205020404" pitchFamily="49" charset="0"/>
              </a:rPr>
              <a:t> = 0;		 		 			c2			  1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 dirty="0">
                <a:latin typeface="Courier New" panose="02070309020205020404" pitchFamily="49" charset="0"/>
              </a:rPr>
              <a:t>	</a:t>
            </a:r>
            <a:r>
              <a:rPr lang="tr-TR" altLang="tr-TR" sz="2000" dirty="0" err="1">
                <a:latin typeface="Courier New" panose="02070309020205020404" pitchFamily="49" charset="0"/>
              </a:rPr>
              <a:t>while</a:t>
            </a:r>
            <a:r>
              <a:rPr lang="tr-TR" altLang="tr-TR" sz="2000" dirty="0">
                <a:latin typeface="Courier New" panose="02070309020205020404" pitchFamily="49" charset="0"/>
              </a:rPr>
              <a:t> (i &lt;= n) { 		 		c3			n+1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 dirty="0">
                <a:latin typeface="Courier New" panose="02070309020205020404" pitchFamily="49" charset="0"/>
              </a:rPr>
              <a:t>		j=1;				 			c4			  n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 dirty="0">
                <a:latin typeface="Courier New" panose="02070309020205020404" pitchFamily="49" charset="0"/>
              </a:rPr>
              <a:t>		</a:t>
            </a:r>
            <a:r>
              <a:rPr lang="tr-TR" altLang="tr-TR" sz="2000" dirty="0" err="1">
                <a:latin typeface="Courier New" panose="02070309020205020404" pitchFamily="49" charset="0"/>
              </a:rPr>
              <a:t>while</a:t>
            </a:r>
            <a:r>
              <a:rPr lang="tr-TR" altLang="tr-TR" sz="2000" dirty="0">
                <a:latin typeface="Courier New" panose="02070309020205020404" pitchFamily="49" charset="0"/>
              </a:rPr>
              <a:t> (j &lt;= n) {	 	 	c5		n*(n+1)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 dirty="0">
                <a:latin typeface="Courier New" panose="02070309020205020404" pitchFamily="49" charset="0"/>
              </a:rPr>
              <a:t>		    </a:t>
            </a:r>
            <a:r>
              <a:rPr lang="tr-TR" altLang="tr-TR" sz="2000" dirty="0" err="1">
                <a:latin typeface="Courier New" panose="02070309020205020404" pitchFamily="49" charset="0"/>
              </a:rPr>
              <a:t>sum</a:t>
            </a:r>
            <a:r>
              <a:rPr lang="tr-TR" altLang="tr-TR" sz="2000" dirty="0">
                <a:latin typeface="Courier New" panose="02070309020205020404" pitchFamily="49" charset="0"/>
              </a:rPr>
              <a:t> = </a:t>
            </a:r>
            <a:r>
              <a:rPr lang="tr-TR" altLang="tr-TR" sz="2000" dirty="0" err="1">
                <a:latin typeface="Courier New" panose="02070309020205020404" pitchFamily="49" charset="0"/>
              </a:rPr>
              <a:t>sum</a:t>
            </a:r>
            <a:r>
              <a:rPr lang="tr-TR" altLang="tr-TR" sz="2000" dirty="0">
                <a:latin typeface="Courier New" panose="02070309020205020404" pitchFamily="49" charset="0"/>
              </a:rPr>
              <a:t> + i;	 	c6			n*n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 dirty="0">
                <a:latin typeface="Courier New" panose="02070309020205020404" pitchFamily="49" charset="0"/>
              </a:rPr>
              <a:t>		    j = j + 1; 	 	 	c7			n*n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 dirty="0">
                <a:latin typeface="Courier New" panose="02070309020205020404" pitchFamily="49" charset="0"/>
              </a:rPr>
              <a:t>	   }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 dirty="0">
                <a:latin typeface="Courier New" panose="02070309020205020404" pitchFamily="49" charset="0"/>
              </a:rPr>
              <a:t>	   i = i + 1;			 		c8		  	  n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 dirty="0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 dirty="0"/>
              <a:t>Total </a:t>
            </a:r>
            <a:r>
              <a:rPr lang="tr-TR" altLang="tr-TR" sz="2000" dirty="0" err="1"/>
              <a:t>Cost</a:t>
            </a:r>
            <a:r>
              <a:rPr lang="tr-TR" altLang="tr-TR" sz="2000" dirty="0"/>
              <a:t>  =  c1 + c2 + (n+1)*c3 + n*c4 + n*(n+1)*c5+n*n*c6+n*n*c7+n*c8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 dirty="0"/>
              <a:t>	</a:t>
            </a:r>
            <a:r>
              <a:rPr lang="tr-TR" altLang="tr-TR" sz="2000" dirty="0">
                <a:latin typeface="Wingdings" pitchFamily="2" charset="2"/>
              </a:rPr>
              <a:t></a:t>
            </a:r>
            <a:r>
              <a:rPr lang="tr-TR" altLang="tr-TR" sz="2000" dirty="0"/>
              <a:t> </a:t>
            </a:r>
            <a:r>
              <a:rPr lang="tr-TR" altLang="tr-TR" sz="2000" dirty="0" err="1"/>
              <a:t>The</a:t>
            </a:r>
            <a:r>
              <a:rPr lang="tr-TR" altLang="tr-TR" sz="2000" dirty="0"/>
              <a:t> time </a:t>
            </a:r>
            <a:r>
              <a:rPr lang="tr-TR" altLang="tr-TR" sz="2000" dirty="0" err="1"/>
              <a:t>required</a:t>
            </a:r>
            <a:r>
              <a:rPr lang="tr-TR" altLang="tr-TR" sz="2000" dirty="0"/>
              <a:t> </a:t>
            </a:r>
            <a:r>
              <a:rPr lang="tr-TR" altLang="tr-TR" sz="2000" dirty="0" err="1"/>
              <a:t>for</a:t>
            </a:r>
            <a:r>
              <a:rPr lang="tr-TR" altLang="tr-TR" sz="2000" dirty="0"/>
              <a:t> </a:t>
            </a:r>
            <a:r>
              <a:rPr lang="tr-TR" altLang="tr-TR" sz="2000" dirty="0" err="1"/>
              <a:t>this</a:t>
            </a:r>
            <a:r>
              <a:rPr lang="tr-TR" altLang="tr-TR" sz="2000" dirty="0"/>
              <a:t> </a:t>
            </a:r>
            <a:r>
              <a:rPr lang="tr-TR" altLang="tr-TR" sz="2000" dirty="0" err="1"/>
              <a:t>algorithm</a:t>
            </a:r>
            <a:r>
              <a:rPr lang="tr-TR" altLang="tr-TR" sz="2000" dirty="0"/>
              <a:t> is </a:t>
            </a:r>
            <a:r>
              <a:rPr lang="tr-TR" altLang="tr-TR" sz="2000" dirty="0" err="1"/>
              <a:t>proportional</a:t>
            </a:r>
            <a:r>
              <a:rPr lang="tr-TR" altLang="tr-TR" sz="2000" dirty="0"/>
              <a:t> </a:t>
            </a:r>
            <a:r>
              <a:rPr lang="tr-TR" altLang="tr-TR" sz="2000" dirty="0" err="1"/>
              <a:t>to</a:t>
            </a:r>
            <a:r>
              <a:rPr lang="tr-TR" altLang="tr-TR" sz="2000" dirty="0"/>
              <a:t> </a:t>
            </a:r>
            <a:r>
              <a:rPr lang="tr-TR" altLang="tr-TR" sz="2000" b="1" dirty="0"/>
              <a:t>n</a:t>
            </a:r>
            <a:r>
              <a:rPr lang="tr-TR" altLang="tr-TR" sz="2000" b="1" baseline="30000" dirty="0"/>
              <a:t>2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endParaRPr lang="tr-TR" altLang="tr-TR" sz="2000" b="1" baseline="30000" dirty="0"/>
          </a:p>
        </p:txBody>
      </p:sp>
    </p:spTree>
    <p:extLst>
      <p:ext uri="{BB962C8B-B14F-4D97-AF65-F5344CB8AC3E}">
        <p14:creationId xmlns:p14="http://schemas.microsoft.com/office/powerpoint/2010/main" val="6352580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1">
            <a:extLst>
              <a:ext uri="{FF2B5EF4-FFF2-40B4-BE49-F238E27FC236}">
                <a16:creationId xmlns:a16="http://schemas.microsoft.com/office/drawing/2014/main" id="{2E870335-4236-5144-BAE1-DA4AF9BCA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1400"/>
          </a:p>
        </p:txBody>
      </p:sp>
      <p:sp>
        <p:nvSpPr>
          <p:cNvPr id="22531" name="Text Box 2">
            <a:extLst>
              <a:ext uri="{FF2B5EF4-FFF2-40B4-BE49-F238E27FC236}">
                <a16:creationId xmlns:a16="http://schemas.microsoft.com/office/drawing/2014/main" id="{C3CE5693-B8D0-4043-88A0-4EB61CE9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726E9A60-051F-CA40-9EFE-6F71473FEABB}" type="slidenum">
              <a:rPr lang="tr-TR" altLang="tr-TR" sz="14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tr-TR" altLang="tr-TR" sz="1400"/>
          </a:p>
        </p:txBody>
      </p:sp>
      <p:sp>
        <p:nvSpPr>
          <p:cNvPr id="22532" name="Text Box 3">
            <a:extLst>
              <a:ext uri="{FF2B5EF4-FFF2-40B4-BE49-F238E27FC236}">
                <a16:creationId xmlns:a16="http://schemas.microsoft.com/office/drawing/2014/main" id="{7E46B14C-6ADF-9D48-B4C7-4BE82A062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286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600" b="1">
                <a:solidFill>
                  <a:srgbClr val="000000"/>
                </a:solidFill>
              </a:rPr>
              <a:t>General Rules for Estimation</a:t>
            </a:r>
          </a:p>
        </p:txBody>
      </p:sp>
      <p:sp>
        <p:nvSpPr>
          <p:cNvPr id="22533" name="Text Box 4">
            <a:extLst>
              <a:ext uri="{FF2B5EF4-FFF2-40B4-BE49-F238E27FC236}">
                <a16:creationId xmlns:a16="http://schemas.microsoft.com/office/drawing/2014/main" id="{0B445B67-44B2-4B4C-A41C-FA7B6B3C5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19200"/>
            <a:ext cx="83820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33375" indent="-333375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spcBef>
                <a:spcPts val="600"/>
              </a:spcBef>
              <a:buFont typeface="Times New Roman" panose="02020603050405020304" pitchFamily="18" charset="0"/>
              <a:buChar char="•"/>
              <a:defRPr/>
            </a:pPr>
            <a:r>
              <a:rPr lang="tr-TR" altLang="tr-TR" sz="2400" b="1"/>
              <a:t>Loops</a:t>
            </a:r>
            <a:r>
              <a:rPr lang="tr-TR" altLang="tr-TR" sz="2400"/>
              <a:t>: The running time of a loop is at most the running time of the statements inside of that loop times the number of iterations.</a:t>
            </a:r>
          </a:p>
          <a:p>
            <a:pPr eaLnBrk="1" hangingPunct="1">
              <a:spcBef>
                <a:spcPts val="600"/>
              </a:spcBef>
              <a:buFont typeface="Times New Roman" panose="02020603050405020304" pitchFamily="18" charset="0"/>
              <a:buChar char="•"/>
              <a:defRPr/>
            </a:pPr>
            <a:r>
              <a:rPr lang="tr-TR" altLang="tr-TR" sz="2400"/>
              <a:t> </a:t>
            </a:r>
            <a:r>
              <a:rPr lang="tr-TR" altLang="tr-TR" sz="2400" b="1"/>
              <a:t>Nested Loops</a:t>
            </a:r>
            <a:r>
              <a:rPr lang="tr-TR" altLang="tr-TR" sz="2400"/>
              <a:t>: Running time of a nested loop containing a statement in the inner most loop is the running time of statement multiplied by the product of the sized of all loops. </a:t>
            </a:r>
          </a:p>
          <a:p>
            <a:pPr eaLnBrk="1" hangingPunct="1">
              <a:spcBef>
                <a:spcPts val="600"/>
              </a:spcBef>
              <a:buFont typeface="Times New Roman" panose="02020603050405020304" pitchFamily="18" charset="0"/>
              <a:buChar char="•"/>
              <a:defRPr/>
            </a:pPr>
            <a:r>
              <a:rPr lang="tr-TR" altLang="tr-TR" sz="2400" b="1"/>
              <a:t>Consecutive Statements: </a:t>
            </a:r>
            <a:r>
              <a:rPr lang="tr-TR" altLang="tr-TR" sz="2400"/>
              <a:t>Just add the running times of those consecutive statements. </a:t>
            </a:r>
          </a:p>
          <a:p>
            <a:pPr eaLnBrk="1" hangingPunct="1">
              <a:spcBef>
                <a:spcPts val="600"/>
              </a:spcBef>
              <a:buFont typeface="Times New Roman" panose="02020603050405020304" pitchFamily="18" charset="0"/>
              <a:buChar char="•"/>
              <a:defRPr/>
            </a:pPr>
            <a:r>
              <a:rPr lang="tr-TR" altLang="tr-TR" sz="2400" b="1"/>
              <a:t>If/Else</a:t>
            </a:r>
            <a:r>
              <a:rPr lang="tr-TR" altLang="tr-TR" sz="2400"/>
              <a:t>: Never more than the running time of the test plus the larger of running times of S1 and S2. 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endParaRPr lang="tr-TR" altLang="tr-TR" sz="24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1">
            <a:extLst>
              <a:ext uri="{FF2B5EF4-FFF2-40B4-BE49-F238E27FC236}">
                <a16:creationId xmlns:a16="http://schemas.microsoft.com/office/drawing/2014/main" id="{FA36FC05-5764-8949-B5D6-B33B31B85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24579" name="Text Box 2">
            <a:extLst>
              <a:ext uri="{FF2B5EF4-FFF2-40B4-BE49-F238E27FC236}">
                <a16:creationId xmlns:a16="http://schemas.microsoft.com/office/drawing/2014/main" id="{CF4DEA88-B503-034A-847E-1E9C9B205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BD6056B1-4EFE-8543-ADA9-318D0294A6E0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tr-TR" altLang="tr-TR" sz="800"/>
          </a:p>
        </p:txBody>
      </p:sp>
      <p:sp>
        <p:nvSpPr>
          <p:cNvPr id="24580" name="Text Box 3">
            <a:extLst>
              <a:ext uri="{FF2B5EF4-FFF2-40B4-BE49-F238E27FC236}">
                <a16:creationId xmlns:a16="http://schemas.microsoft.com/office/drawing/2014/main" id="{64C9C274-07E9-C144-8EDC-24482F947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Algorithm Growth Rates</a:t>
            </a:r>
          </a:p>
        </p:txBody>
      </p:sp>
      <p:sp>
        <p:nvSpPr>
          <p:cNvPr id="24581" name="Text Box 4">
            <a:extLst>
              <a:ext uri="{FF2B5EF4-FFF2-40B4-BE49-F238E27FC236}">
                <a16:creationId xmlns:a16="http://schemas.microsoft.com/office/drawing/2014/main" id="{70C9620B-8753-704A-8EE1-41FA8779E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219200"/>
            <a:ext cx="8580438" cy="574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33375" indent="-333375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 marL="733425" indent="-276225"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 New Roman" panose="02020603050405020304" pitchFamily="18" charset="0"/>
              <a:buChar char="•"/>
              <a:defRPr/>
            </a:pPr>
            <a:r>
              <a:rPr lang="tr-TR" altLang="tr-TR"/>
              <a:t>We measure an algorithm’s time requirement as a function of the </a:t>
            </a:r>
            <a:r>
              <a:rPr lang="tr-TR" altLang="tr-TR" i="1"/>
              <a:t>problem size</a:t>
            </a:r>
            <a:r>
              <a:rPr lang="tr-TR" altLang="tr-TR"/>
              <a:t>.</a:t>
            </a:r>
          </a:p>
          <a:p>
            <a:pPr lvl="1" eaLnBrk="1" hangingPunct="1">
              <a:lnSpc>
                <a:spcPct val="90000"/>
              </a:lnSpc>
              <a:buFont typeface="Times New Roman" panose="02020603050405020304" pitchFamily="18" charset="0"/>
              <a:buChar char="–"/>
              <a:defRPr/>
            </a:pPr>
            <a:r>
              <a:rPr lang="tr-TR" altLang="tr-TR" sz="1800"/>
              <a:t>Problem size depends on the application: e.g. number of elements in a list for a  sorting algorithm, the number </a:t>
            </a:r>
            <a:r>
              <a:rPr lang="en-US" altLang="tr-TR" sz="1800"/>
              <a:t>users </a:t>
            </a:r>
            <a:r>
              <a:rPr lang="tr-TR" altLang="tr-TR" sz="1800"/>
              <a:t>for </a:t>
            </a:r>
            <a:r>
              <a:rPr lang="en-US" altLang="tr-TR" sz="1800"/>
              <a:t>a social network search.</a:t>
            </a:r>
            <a:endParaRPr lang="tr-TR" altLang="tr-TR" sz="1800"/>
          </a:p>
          <a:p>
            <a:pPr eaLnBrk="1" hangingPunct="1">
              <a:lnSpc>
                <a:spcPct val="90000"/>
              </a:lnSpc>
              <a:buFont typeface="Times New Roman" panose="02020603050405020304" pitchFamily="18" charset="0"/>
              <a:buChar char="•"/>
              <a:defRPr/>
            </a:pPr>
            <a:r>
              <a:rPr lang="tr-TR" altLang="tr-TR"/>
              <a:t>So, for instance, we say that (if the problem size is n)</a:t>
            </a:r>
          </a:p>
          <a:p>
            <a:pPr lvl="1" eaLnBrk="1" hangingPunct="1">
              <a:lnSpc>
                <a:spcPct val="90000"/>
              </a:lnSpc>
              <a:buFont typeface="Times New Roman" panose="02020603050405020304" pitchFamily="18" charset="0"/>
              <a:buChar char="–"/>
              <a:defRPr/>
            </a:pPr>
            <a:r>
              <a:rPr lang="tr-TR" altLang="tr-TR" sz="1800"/>
              <a:t>Algorithm A requires </a:t>
            </a:r>
            <a:r>
              <a:rPr lang="tr-TR" altLang="tr-TR" sz="1800" b="1"/>
              <a:t>5*n</a:t>
            </a:r>
            <a:r>
              <a:rPr lang="tr-TR" altLang="tr-TR" sz="1800" b="1" baseline="30000"/>
              <a:t>2</a:t>
            </a:r>
            <a:r>
              <a:rPr lang="tr-TR" altLang="tr-TR" sz="1800"/>
              <a:t> time units to solve a problem of size n.</a:t>
            </a:r>
          </a:p>
          <a:p>
            <a:pPr lvl="1" eaLnBrk="1" hangingPunct="1">
              <a:lnSpc>
                <a:spcPct val="90000"/>
              </a:lnSpc>
              <a:buFont typeface="Times New Roman" panose="02020603050405020304" pitchFamily="18" charset="0"/>
              <a:buChar char="–"/>
              <a:defRPr/>
            </a:pPr>
            <a:r>
              <a:rPr lang="tr-TR" altLang="tr-TR" sz="1800"/>
              <a:t>Algorithm B requires </a:t>
            </a:r>
            <a:r>
              <a:rPr lang="tr-TR" altLang="tr-TR" sz="1800" b="1"/>
              <a:t>7*n</a:t>
            </a:r>
            <a:r>
              <a:rPr lang="tr-TR" altLang="tr-TR" sz="1800"/>
              <a:t>  time units to solve a problem of size n.</a:t>
            </a:r>
          </a:p>
          <a:p>
            <a:pPr eaLnBrk="1" hangingPunct="1">
              <a:lnSpc>
                <a:spcPct val="90000"/>
              </a:lnSpc>
              <a:buFont typeface="Times New Roman" panose="02020603050405020304" pitchFamily="18" charset="0"/>
              <a:buChar char="•"/>
              <a:defRPr/>
            </a:pPr>
            <a:r>
              <a:rPr lang="tr-TR" altLang="tr-TR"/>
              <a:t>The most important thing to learn is how quickly the algorithm’s time requirement grows as a function of the problem size.</a:t>
            </a:r>
          </a:p>
          <a:p>
            <a:pPr lvl="1" eaLnBrk="1" hangingPunct="1">
              <a:lnSpc>
                <a:spcPct val="90000"/>
              </a:lnSpc>
              <a:buFont typeface="Times New Roman" panose="02020603050405020304" pitchFamily="18" charset="0"/>
              <a:buChar char="–"/>
              <a:defRPr/>
            </a:pPr>
            <a:r>
              <a:rPr lang="tr-TR" altLang="tr-TR" sz="1800"/>
              <a:t>Algorithm A requires time proportional to </a:t>
            </a:r>
            <a:r>
              <a:rPr lang="tr-TR" altLang="tr-TR" sz="1800" b="1"/>
              <a:t>n</a:t>
            </a:r>
            <a:r>
              <a:rPr lang="tr-TR" altLang="tr-TR" sz="1800" b="1" baseline="30000"/>
              <a:t>2</a:t>
            </a:r>
            <a:r>
              <a:rPr lang="tr-TR" altLang="tr-TR" sz="1800"/>
              <a:t>.</a:t>
            </a:r>
          </a:p>
          <a:p>
            <a:pPr lvl="1" eaLnBrk="1" hangingPunct="1">
              <a:lnSpc>
                <a:spcPct val="90000"/>
              </a:lnSpc>
              <a:buFont typeface="Times New Roman" panose="02020603050405020304" pitchFamily="18" charset="0"/>
              <a:buChar char="–"/>
              <a:defRPr/>
            </a:pPr>
            <a:r>
              <a:rPr lang="tr-TR" altLang="tr-TR" sz="1800"/>
              <a:t>Algorithm B requires time proportional to </a:t>
            </a:r>
            <a:r>
              <a:rPr lang="tr-TR" altLang="tr-TR" sz="1800" b="1"/>
              <a:t>n</a:t>
            </a:r>
            <a:r>
              <a:rPr lang="tr-TR" altLang="tr-TR" sz="1800"/>
              <a:t>.</a:t>
            </a:r>
          </a:p>
          <a:p>
            <a:pPr eaLnBrk="1" hangingPunct="1">
              <a:lnSpc>
                <a:spcPct val="90000"/>
              </a:lnSpc>
              <a:buFont typeface="Times New Roman" panose="02020603050405020304" pitchFamily="18" charset="0"/>
              <a:buChar char="•"/>
              <a:defRPr/>
            </a:pPr>
            <a:r>
              <a:rPr lang="tr-TR" altLang="tr-TR"/>
              <a:t>An algorithm’s proportional time requirement is known as </a:t>
            </a:r>
            <a:r>
              <a:rPr lang="tr-TR" altLang="tr-TR" b="1" i="1"/>
              <a:t>growth rate</a:t>
            </a:r>
            <a:r>
              <a:rPr lang="tr-TR" altLang="tr-TR"/>
              <a:t>. </a:t>
            </a:r>
          </a:p>
          <a:p>
            <a:pPr eaLnBrk="1" hangingPunct="1">
              <a:lnSpc>
                <a:spcPct val="90000"/>
              </a:lnSpc>
              <a:buFont typeface="Times New Roman" panose="02020603050405020304" pitchFamily="18" charset="0"/>
              <a:buChar char="•"/>
              <a:defRPr/>
            </a:pPr>
            <a:r>
              <a:rPr lang="tr-TR" altLang="tr-TR"/>
              <a:t>We can compare the efficiency of two algorithms by comparing their growth rates.</a:t>
            </a:r>
          </a:p>
          <a:p>
            <a:pPr lvl="1" eaLnBrk="1" hangingPunct="1">
              <a:lnSpc>
                <a:spcPct val="90000"/>
              </a:lnSpc>
              <a:buClrTx/>
              <a:buFontTx/>
              <a:buNone/>
              <a:defRPr/>
            </a:pPr>
            <a:endParaRPr lang="tr-TR" altLang="tr-TR" sz="1800"/>
          </a:p>
          <a:p>
            <a:pPr lvl="1" eaLnBrk="1" hangingPunct="1">
              <a:lnSpc>
                <a:spcPct val="90000"/>
              </a:lnSpc>
              <a:buClrTx/>
              <a:buFontTx/>
              <a:buNone/>
              <a:defRPr/>
            </a:pPr>
            <a:endParaRPr lang="tr-TR" altLang="tr-TR" sz="18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1">
            <a:extLst>
              <a:ext uri="{FF2B5EF4-FFF2-40B4-BE49-F238E27FC236}">
                <a16:creationId xmlns:a16="http://schemas.microsoft.com/office/drawing/2014/main" id="{19FEA7C2-6D0E-BF44-9DF1-6AED742E5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26627" name="Text Box 2">
            <a:extLst>
              <a:ext uri="{FF2B5EF4-FFF2-40B4-BE49-F238E27FC236}">
                <a16:creationId xmlns:a16="http://schemas.microsoft.com/office/drawing/2014/main" id="{E5306204-665C-1A42-96E8-9E80EA00D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16A03932-D37E-1A4A-8831-84C3BAB3D56E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tr-TR" altLang="tr-TR" sz="800"/>
          </a:p>
        </p:txBody>
      </p:sp>
      <p:sp>
        <p:nvSpPr>
          <p:cNvPr id="26628" name="Text Box 3">
            <a:extLst>
              <a:ext uri="{FF2B5EF4-FFF2-40B4-BE49-F238E27FC236}">
                <a16:creationId xmlns:a16="http://schemas.microsoft.com/office/drawing/2014/main" id="{784B0D41-7EAE-3444-966C-9E7A235E3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Algorithm Growth Rates (cont.)</a:t>
            </a:r>
          </a:p>
        </p:txBody>
      </p:sp>
      <p:pic>
        <p:nvPicPr>
          <p:cNvPr id="26629" name="Picture 4">
            <a:extLst>
              <a:ext uri="{FF2B5EF4-FFF2-40B4-BE49-F238E27FC236}">
                <a16:creationId xmlns:a16="http://schemas.microsoft.com/office/drawing/2014/main" id="{3DEDAF44-8A79-344C-84B3-E8D0A8570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1371600"/>
            <a:ext cx="7034213" cy="469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6630" name="Text Box 5">
            <a:extLst>
              <a:ext uri="{FF2B5EF4-FFF2-40B4-BE49-F238E27FC236}">
                <a16:creationId xmlns:a16="http://schemas.microsoft.com/office/drawing/2014/main" id="{B87B36C2-392C-AC4B-B60A-35408F598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0" y="4572000"/>
            <a:ext cx="4095750" cy="1023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spcBef>
                <a:spcPts val="125"/>
              </a:spcBef>
              <a:buClrTx/>
              <a:buFontTx/>
              <a:buNone/>
              <a:defRPr/>
            </a:pPr>
            <a:r>
              <a:rPr lang="tr-TR" altLang="tr-TR" sz="2000" b="1" i="1">
                <a:latin typeface="Arial" panose="020B0604020202020204" pitchFamily="34" charset="0"/>
              </a:rPr>
              <a:t>Time requirements as a function</a:t>
            </a:r>
          </a:p>
          <a:p>
            <a:pPr eaLnBrk="1" hangingPunct="1">
              <a:spcBef>
                <a:spcPts val="125"/>
              </a:spcBef>
              <a:buClrTx/>
              <a:buFontTx/>
              <a:buNone/>
              <a:defRPr/>
            </a:pPr>
            <a:r>
              <a:rPr lang="tr-TR" altLang="tr-TR" sz="2000" b="1" i="1">
                <a:latin typeface="Arial" panose="020B0604020202020204" pitchFamily="34" charset="0"/>
              </a:rPr>
              <a:t> of the problem size n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2000" b="1" i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1">
            <a:extLst>
              <a:ext uri="{FF2B5EF4-FFF2-40B4-BE49-F238E27FC236}">
                <a16:creationId xmlns:a16="http://schemas.microsoft.com/office/drawing/2014/main" id="{0445F57F-2A52-3642-B07F-B7F4F0FF1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5" y="214313"/>
            <a:ext cx="5465763" cy="700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defRPr/>
            </a:pPr>
            <a:r>
              <a:rPr lang="tr-TR" altLang="tr-TR" sz="4000" b="1">
                <a:solidFill>
                  <a:srgbClr val="000000"/>
                </a:solidFill>
              </a:rPr>
              <a:t>Common Growth Rates </a:t>
            </a:r>
          </a:p>
        </p:txBody>
      </p:sp>
      <p:graphicFrame>
        <p:nvGraphicFramePr>
          <p:cNvPr id="16386" name="Group 2">
            <a:extLst>
              <a:ext uri="{FF2B5EF4-FFF2-40B4-BE49-F238E27FC236}">
                <a16:creationId xmlns:a16="http://schemas.microsoft.com/office/drawing/2014/main" id="{12107902-B618-954D-817C-B071C286D074}"/>
              </a:ext>
            </a:extLst>
          </p:cNvPr>
          <p:cNvGraphicFramePr>
            <a:graphicFrameLocks noGrp="1"/>
          </p:cNvGraphicFramePr>
          <p:nvPr/>
        </p:nvGraphicFramePr>
        <p:xfrm>
          <a:off x="1477963" y="1858963"/>
          <a:ext cx="6054725" cy="4094190"/>
        </p:xfrm>
        <a:graphic>
          <a:graphicData uri="http://schemas.openxmlformats.org/drawingml/2006/table">
            <a:tbl>
              <a:tblPr/>
              <a:tblGrid>
                <a:gridCol w="3027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7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4907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n-US" altLang="tr-T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Function</a:t>
                      </a:r>
                    </a:p>
                  </a:txBody>
                  <a:tcPr marL="90000" marR="90000" marT="67951" marB="46789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n-US" altLang="tr-T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Growth Rate Name</a:t>
                      </a:r>
                    </a:p>
                  </a:txBody>
                  <a:tcPr marL="90000" marR="90000" marT="67951" marB="46789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907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c</a:t>
                      </a:r>
                    </a:p>
                  </a:txBody>
                  <a:tcPr marL="90000" marR="90000" marT="67951" marB="46789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Constant</a:t>
                      </a:r>
                    </a:p>
                  </a:txBody>
                  <a:tcPr marL="90000" marR="90000" marT="67951" marB="46789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907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log N</a:t>
                      </a:r>
                    </a:p>
                  </a:txBody>
                  <a:tcPr marL="90000" marR="90000" marT="67951" marB="46789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Logarithmic</a:t>
                      </a:r>
                    </a:p>
                  </a:txBody>
                  <a:tcPr marL="90000" marR="90000" marT="67951" marB="46789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907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log</a:t>
                      </a:r>
                      <a:r>
                        <a:rPr kumimoji="0" lang="en-US" altLang="tr-TR" sz="2400" b="0" i="0" u="none" strike="noStrike" cap="none" normalizeH="0" baseline="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2</a:t>
                      </a: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 N</a:t>
                      </a:r>
                    </a:p>
                  </a:txBody>
                  <a:tcPr marL="90000" marR="90000" marT="67951" marB="46789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Log-squared</a:t>
                      </a:r>
                    </a:p>
                  </a:txBody>
                  <a:tcPr marL="90000" marR="90000" marT="67951" marB="46789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907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N</a:t>
                      </a:r>
                    </a:p>
                  </a:txBody>
                  <a:tcPr marL="90000" marR="90000" marT="67951" marB="46789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Linear</a:t>
                      </a:r>
                    </a:p>
                  </a:txBody>
                  <a:tcPr marL="90000" marR="90000" marT="67951" marB="46789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907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N log N</a:t>
                      </a:r>
                    </a:p>
                  </a:txBody>
                  <a:tcPr marL="90000" marR="90000" marT="67951" marB="46789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Log-linear</a:t>
                      </a:r>
                    </a:p>
                  </a:txBody>
                  <a:tcPr marL="90000" marR="90000" marT="67951" marB="46789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907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N</a:t>
                      </a:r>
                      <a:r>
                        <a:rPr kumimoji="0" lang="en-US" altLang="tr-TR" sz="2400" b="0" i="0" u="none" strike="noStrike" cap="none" normalizeH="0" baseline="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2</a:t>
                      </a:r>
                    </a:p>
                  </a:txBody>
                  <a:tcPr marL="90000" marR="90000" marT="67951" marB="46789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Quadratic</a:t>
                      </a:r>
                    </a:p>
                  </a:txBody>
                  <a:tcPr marL="90000" marR="90000" marT="67951" marB="46789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907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N</a:t>
                      </a:r>
                      <a:r>
                        <a:rPr kumimoji="0" lang="en-US" altLang="tr-TR" sz="2400" b="0" i="0" u="none" strike="noStrike" cap="none" normalizeH="0" baseline="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3</a:t>
                      </a:r>
                    </a:p>
                  </a:txBody>
                  <a:tcPr marL="90000" marR="90000" marT="67951" marB="46789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Cubic</a:t>
                      </a:r>
                    </a:p>
                  </a:txBody>
                  <a:tcPr marL="90000" marR="90000" marT="67951" marB="46789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4907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2</a:t>
                      </a:r>
                      <a:r>
                        <a:rPr kumimoji="0" lang="en-US" altLang="tr-TR" sz="2400" b="0" i="0" u="none" strike="noStrike" cap="none" normalizeH="0" baseline="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N</a:t>
                      </a:r>
                    </a:p>
                  </a:txBody>
                  <a:tcPr marL="90000" marR="90000" marT="67951" marB="46789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  <a:defRPr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</a:tabLst>
                      </a:pP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Exponential</a:t>
                      </a:r>
                    </a:p>
                  </a:txBody>
                  <a:tcPr marL="90000" marR="90000" marT="67951" marB="46789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2AA2F2E9-4392-6247-BB41-0E8412184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1400"/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34A52DA6-71EB-B842-A749-53C17EAE5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F69C035-322F-D24A-BD1D-387094A9E9EC}" type="slidenum">
              <a:rPr lang="tr-TR" altLang="tr-TR" sz="14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tr-TR" altLang="tr-TR" sz="1400"/>
          </a:p>
        </p:txBody>
      </p:sp>
      <p:sp>
        <p:nvSpPr>
          <p:cNvPr id="30724" name="Text Box 3">
            <a:extLst>
              <a:ext uri="{FF2B5EF4-FFF2-40B4-BE49-F238E27FC236}">
                <a16:creationId xmlns:a16="http://schemas.microsoft.com/office/drawing/2014/main" id="{7166949B-44A1-6B47-864C-FED59B979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286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600" b="1">
                <a:solidFill>
                  <a:srgbClr val="000000"/>
                </a:solidFill>
              </a:rPr>
              <a:t>Running Times for Small Inputs</a:t>
            </a:r>
          </a:p>
        </p:txBody>
      </p:sp>
      <p:pic>
        <p:nvPicPr>
          <p:cNvPr id="30725" name="Picture 4">
            <a:extLst>
              <a:ext uri="{FF2B5EF4-FFF2-40B4-BE49-F238E27FC236}">
                <a16:creationId xmlns:a16="http://schemas.microsoft.com/office/drawing/2014/main" id="{78B672F2-9A47-614D-8CE2-E5BC0C8D1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038" y="1371600"/>
            <a:ext cx="6743700" cy="404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30726" name="Text Box 5">
            <a:extLst>
              <a:ext uri="{FF2B5EF4-FFF2-40B4-BE49-F238E27FC236}">
                <a16:creationId xmlns:a16="http://schemas.microsoft.com/office/drawing/2014/main" id="{61D23F8E-4E4E-8D45-B114-847D193AC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394325"/>
            <a:ext cx="22860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buClrTx/>
              <a:buFontTx/>
              <a:buNone/>
              <a:defRPr/>
            </a:pPr>
            <a:r>
              <a:rPr lang="en-US" altLang="tr-TR">
                <a:solidFill>
                  <a:srgbClr val="000000"/>
                </a:solidFill>
              </a:rPr>
              <a:t>Input size (x = n)</a:t>
            </a:r>
          </a:p>
        </p:txBody>
      </p:sp>
      <p:sp>
        <p:nvSpPr>
          <p:cNvPr id="30727" name="Text Box 6">
            <a:extLst>
              <a:ext uri="{FF2B5EF4-FFF2-40B4-BE49-F238E27FC236}">
                <a16:creationId xmlns:a16="http://schemas.microsoft.com/office/drawing/2014/main" id="{05CCE11F-A7F4-3740-96BC-3B82AD9CF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7575" y="2378075"/>
            <a:ext cx="455613" cy="185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rot="10800000" vert="eaVert" wrap="none" lIns="90000" tIns="45000" rIns="90000" bIns="45000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buClrTx/>
              <a:buFontTx/>
              <a:buNone/>
              <a:defRPr/>
            </a:pPr>
            <a:r>
              <a:rPr lang="en-US" altLang="tr-TR">
                <a:solidFill>
                  <a:srgbClr val="000000"/>
                </a:solidFill>
              </a:rPr>
              <a:t>Running time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1">
            <a:extLst>
              <a:ext uri="{FF2B5EF4-FFF2-40B4-BE49-F238E27FC236}">
                <a16:creationId xmlns:a16="http://schemas.microsoft.com/office/drawing/2014/main" id="{88F0A85A-2BD5-1F4F-8807-79BDF6A7C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1400"/>
          </a:p>
        </p:txBody>
      </p:sp>
      <p:sp>
        <p:nvSpPr>
          <p:cNvPr id="32771" name="Text Box 2">
            <a:extLst>
              <a:ext uri="{FF2B5EF4-FFF2-40B4-BE49-F238E27FC236}">
                <a16:creationId xmlns:a16="http://schemas.microsoft.com/office/drawing/2014/main" id="{393CA86D-8610-2041-92DE-E2C216538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87BAFE0C-85D8-9440-95DB-5C241D24B23A}" type="slidenum">
              <a:rPr lang="tr-TR" altLang="tr-TR" sz="14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tr-TR" altLang="tr-TR" sz="1400"/>
          </a:p>
        </p:txBody>
      </p:sp>
      <p:sp>
        <p:nvSpPr>
          <p:cNvPr id="32772" name="Text Box 3">
            <a:extLst>
              <a:ext uri="{FF2B5EF4-FFF2-40B4-BE49-F238E27FC236}">
                <a16:creationId xmlns:a16="http://schemas.microsoft.com/office/drawing/2014/main" id="{ED8CA2B0-CBB5-B24B-8D17-6C99A9F35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286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600" b="1">
                <a:solidFill>
                  <a:srgbClr val="000000"/>
                </a:solidFill>
              </a:rPr>
              <a:t>Running Times for Large Inputs</a:t>
            </a:r>
          </a:p>
        </p:txBody>
      </p:sp>
      <p:sp>
        <p:nvSpPr>
          <p:cNvPr id="32773" name="Text Box 4">
            <a:extLst>
              <a:ext uri="{FF2B5EF4-FFF2-40B4-BE49-F238E27FC236}">
                <a16:creationId xmlns:a16="http://schemas.microsoft.com/office/drawing/2014/main" id="{00EAFB05-5713-6C46-942B-A548CBDE1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394325"/>
            <a:ext cx="22860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buClrTx/>
              <a:buFontTx/>
              <a:buNone/>
              <a:defRPr/>
            </a:pPr>
            <a:r>
              <a:rPr lang="en-US" altLang="tr-TR">
                <a:solidFill>
                  <a:srgbClr val="000000"/>
                </a:solidFill>
              </a:rPr>
              <a:t>Input size (x = n)</a:t>
            </a:r>
          </a:p>
        </p:txBody>
      </p:sp>
      <p:sp>
        <p:nvSpPr>
          <p:cNvPr id="32774" name="Text Box 5">
            <a:extLst>
              <a:ext uri="{FF2B5EF4-FFF2-40B4-BE49-F238E27FC236}">
                <a16:creationId xmlns:a16="http://schemas.microsoft.com/office/drawing/2014/main" id="{C6A53ED6-AB72-E44B-92A8-ED8E1BC94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7575" y="2378075"/>
            <a:ext cx="455613" cy="185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rot="10800000" vert="eaVert" wrap="none" lIns="90000" tIns="45000" rIns="90000" bIns="45000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buClrTx/>
              <a:buFontTx/>
              <a:buNone/>
              <a:defRPr/>
            </a:pPr>
            <a:r>
              <a:rPr lang="en-US" altLang="tr-TR">
                <a:solidFill>
                  <a:srgbClr val="000000"/>
                </a:solidFill>
              </a:rPr>
              <a:t>Running time</a:t>
            </a:r>
          </a:p>
        </p:txBody>
      </p:sp>
      <p:pic>
        <p:nvPicPr>
          <p:cNvPr id="32775" name="Picture 6">
            <a:extLst>
              <a:ext uri="{FF2B5EF4-FFF2-40B4-BE49-F238E27FC236}">
                <a16:creationId xmlns:a16="http://schemas.microsoft.com/office/drawing/2014/main" id="{221B267F-CF7E-3C43-B543-86CD59BFF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425" y="1341438"/>
            <a:ext cx="6748463" cy="405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">
            <a:extLst>
              <a:ext uri="{FF2B5EF4-FFF2-40B4-BE49-F238E27FC236}">
                <a16:creationId xmlns:a16="http://schemas.microsoft.com/office/drawing/2014/main" id="{7F6EDAFB-F04A-6A48-900F-4641046E6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34819" name="Text Box 2">
            <a:extLst>
              <a:ext uri="{FF2B5EF4-FFF2-40B4-BE49-F238E27FC236}">
                <a16:creationId xmlns:a16="http://schemas.microsoft.com/office/drawing/2014/main" id="{CB5F9DE2-11F5-1647-AAA2-8179B1E1FC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FF339D0-3DDE-C846-B759-58159B20CD40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tr-TR" altLang="tr-TR" sz="800"/>
          </a:p>
        </p:txBody>
      </p:sp>
      <p:sp>
        <p:nvSpPr>
          <p:cNvPr id="34820" name="Text Box 3">
            <a:extLst>
              <a:ext uri="{FF2B5EF4-FFF2-40B4-BE49-F238E27FC236}">
                <a16:creationId xmlns:a16="http://schemas.microsoft.com/office/drawing/2014/main" id="{CEB54573-DB4E-BF47-91F8-734E75735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342900"/>
            <a:ext cx="865028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Order-of-Magnitude Analysis and Big O Notation</a:t>
            </a:r>
          </a:p>
        </p:txBody>
      </p:sp>
      <p:sp>
        <p:nvSpPr>
          <p:cNvPr id="34821" name="Text Box 4">
            <a:extLst>
              <a:ext uri="{FF2B5EF4-FFF2-40B4-BE49-F238E27FC236}">
                <a16:creationId xmlns:a16="http://schemas.microsoft.com/office/drawing/2014/main" id="{A0102AAE-F65E-E443-9097-460F3BDFB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676400"/>
            <a:ext cx="8580438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33375" indent="-333375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 marL="741363" indent="-276225"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Char char="•"/>
              <a:defRPr/>
            </a:pPr>
            <a:r>
              <a:rPr lang="tr-TR" altLang="tr-TR"/>
              <a:t>If  </a:t>
            </a:r>
            <a:r>
              <a:rPr lang="tr-TR" altLang="tr-TR" i="1"/>
              <a:t>Algorithm A requires time proportional to g(n),</a:t>
            </a:r>
            <a:r>
              <a:rPr lang="tr-TR" altLang="tr-TR"/>
              <a:t> Algorithm A is said to be </a:t>
            </a:r>
            <a:r>
              <a:rPr lang="tr-TR" altLang="tr-TR" b="1"/>
              <a:t>order g(n),</a:t>
            </a:r>
            <a:r>
              <a:rPr lang="tr-TR" altLang="tr-TR"/>
              <a:t> and it is denoted as </a:t>
            </a:r>
            <a:r>
              <a:rPr lang="tr-TR" altLang="tr-TR" b="1"/>
              <a:t>O(g(n)).</a:t>
            </a:r>
          </a:p>
          <a:p>
            <a:pPr eaLnBrk="1" hangingPunct="1">
              <a:buFont typeface="Times New Roman" panose="02020603050405020304" pitchFamily="18" charset="0"/>
              <a:buChar char="•"/>
              <a:defRPr/>
            </a:pPr>
            <a:r>
              <a:rPr lang="tr-TR" altLang="tr-TR"/>
              <a:t>The </a:t>
            </a:r>
            <a:r>
              <a:rPr lang="tr-TR" altLang="tr-TR" b="1"/>
              <a:t>function g(n)</a:t>
            </a:r>
            <a:r>
              <a:rPr lang="tr-TR" altLang="tr-TR"/>
              <a:t> is called the algorithm’s </a:t>
            </a:r>
            <a:r>
              <a:rPr lang="tr-TR" altLang="tr-TR" b="1"/>
              <a:t>growth-rate function</a:t>
            </a:r>
            <a:r>
              <a:rPr lang="tr-TR" altLang="tr-TR"/>
              <a:t>.</a:t>
            </a:r>
          </a:p>
          <a:p>
            <a:pPr eaLnBrk="1" hangingPunct="1">
              <a:buFont typeface="Times New Roman" panose="02020603050405020304" pitchFamily="18" charset="0"/>
              <a:buChar char="•"/>
              <a:defRPr/>
            </a:pPr>
            <a:r>
              <a:rPr lang="tr-TR" altLang="tr-TR"/>
              <a:t>Since the capital O is used in the notation,  this notation is called the </a:t>
            </a:r>
            <a:r>
              <a:rPr lang="tr-TR" altLang="tr-TR" b="1"/>
              <a:t>Big O notation</a:t>
            </a:r>
            <a:r>
              <a:rPr lang="tr-TR" altLang="tr-TR"/>
              <a:t>.</a:t>
            </a:r>
          </a:p>
          <a:p>
            <a:pPr eaLnBrk="1" hangingPunct="1">
              <a:buFont typeface="Times New Roman" panose="02020603050405020304" pitchFamily="18" charset="0"/>
              <a:buChar char="•"/>
              <a:defRPr/>
            </a:pPr>
            <a:r>
              <a:rPr lang="tr-TR" altLang="tr-TR"/>
              <a:t>If Algorithm A requires time proportional to </a:t>
            </a:r>
            <a:r>
              <a:rPr lang="tr-TR" altLang="tr-TR" b="1"/>
              <a:t>n</a:t>
            </a:r>
            <a:r>
              <a:rPr lang="tr-TR" altLang="tr-TR" b="1" baseline="30000"/>
              <a:t>2</a:t>
            </a:r>
            <a:r>
              <a:rPr lang="tr-TR" altLang="tr-TR"/>
              <a:t>, it is </a:t>
            </a:r>
            <a:r>
              <a:rPr lang="tr-TR" altLang="tr-TR" b="1"/>
              <a:t>O(n</a:t>
            </a:r>
            <a:r>
              <a:rPr lang="tr-TR" altLang="tr-TR" b="1" baseline="30000"/>
              <a:t>2</a:t>
            </a:r>
            <a:r>
              <a:rPr lang="tr-TR" altLang="tr-TR" b="1"/>
              <a:t>).</a:t>
            </a:r>
          </a:p>
          <a:p>
            <a:pPr eaLnBrk="1" hangingPunct="1">
              <a:buFont typeface="Times New Roman" panose="02020603050405020304" pitchFamily="18" charset="0"/>
              <a:buChar char="•"/>
              <a:defRPr/>
            </a:pPr>
            <a:r>
              <a:rPr lang="tr-TR" altLang="tr-TR"/>
              <a:t>If Algorithm A requires time proportional to </a:t>
            </a:r>
            <a:r>
              <a:rPr lang="tr-TR" altLang="tr-TR" b="1"/>
              <a:t>n</a:t>
            </a:r>
            <a:r>
              <a:rPr lang="tr-TR" altLang="tr-TR"/>
              <a:t>, it is </a:t>
            </a:r>
            <a:r>
              <a:rPr lang="tr-TR" altLang="tr-TR" b="1"/>
              <a:t>O(n).</a:t>
            </a:r>
          </a:p>
          <a:p>
            <a:pPr eaLnBrk="1" hangingPunct="1">
              <a:buClrTx/>
              <a:buFontTx/>
              <a:buNone/>
              <a:defRPr/>
            </a:pPr>
            <a:endParaRPr lang="tr-TR" altLang="tr-TR" b="1"/>
          </a:p>
          <a:p>
            <a:pPr lvl="1" eaLnBrk="1" hangingPunct="1">
              <a:buClrTx/>
              <a:buFontTx/>
              <a:buNone/>
              <a:defRPr/>
            </a:pPr>
            <a:endParaRPr lang="tr-TR" altLang="tr-TR" b="1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">
            <a:extLst>
              <a:ext uri="{FF2B5EF4-FFF2-40B4-BE49-F238E27FC236}">
                <a16:creationId xmlns:a16="http://schemas.microsoft.com/office/drawing/2014/main" id="{D44DA838-0262-0D4C-8348-756E1B8C5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36867" name="Text Box 2">
            <a:extLst>
              <a:ext uri="{FF2B5EF4-FFF2-40B4-BE49-F238E27FC236}">
                <a16:creationId xmlns:a16="http://schemas.microsoft.com/office/drawing/2014/main" id="{D398D42F-0DDE-B942-861C-0280BCA0F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D0DE226-C53D-6C48-9D14-255EC3A0FF87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tr-TR" altLang="tr-TR" sz="800"/>
          </a:p>
        </p:txBody>
      </p:sp>
      <p:sp>
        <p:nvSpPr>
          <p:cNvPr id="36868" name="Text Box 3">
            <a:extLst>
              <a:ext uri="{FF2B5EF4-FFF2-40B4-BE49-F238E27FC236}">
                <a16:creationId xmlns:a16="http://schemas.microsoft.com/office/drawing/2014/main" id="{C8D4CF62-F889-1847-8B21-D4190A095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Definition of the Order of an Algorithm</a:t>
            </a:r>
          </a:p>
        </p:txBody>
      </p:sp>
      <p:sp>
        <p:nvSpPr>
          <p:cNvPr id="36869" name="Text Box 4">
            <a:extLst>
              <a:ext uri="{FF2B5EF4-FFF2-40B4-BE49-F238E27FC236}">
                <a16:creationId xmlns:a16="http://schemas.microsoft.com/office/drawing/2014/main" id="{6677EA5C-69DB-1F4D-8C9E-2BCA31CF8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219200"/>
            <a:ext cx="8580438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42900" indent="-333375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 marL="733425" indent="-276225"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spcBef>
                <a:spcPts val="700"/>
              </a:spcBef>
              <a:buClrTx/>
              <a:buFontTx/>
              <a:buNone/>
            </a:pPr>
            <a:r>
              <a:rPr lang="tr-TR" altLang="tr-TR" sz="2800" b="1" i="1"/>
              <a:t>Definition:</a:t>
            </a:r>
          </a:p>
          <a:p>
            <a:pPr eaLnBrk="1" hangingPunct="1">
              <a:spcBef>
                <a:spcPts val="700"/>
              </a:spcBef>
              <a:buClrTx/>
              <a:buFontTx/>
              <a:buNone/>
            </a:pPr>
            <a:r>
              <a:rPr lang="tr-TR" altLang="tr-TR" sz="2800"/>
              <a:t>   </a:t>
            </a:r>
            <a:r>
              <a:rPr lang="tr-TR" altLang="tr-TR" sz="2800" b="1"/>
              <a:t>Algorithm A is order g(n)  – denoted as O(g(n)) – </a:t>
            </a:r>
          </a:p>
          <a:p>
            <a:pPr eaLnBrk="1" hangingPunct="1">
              <a:spcBef>
                <a:spcPts val="700"/>
              </a:spcBef>
              <a:buClrTx/>
              <a:buFontTx/>
              <a:buNone/>
            </a:pPr>
            <a:r>
              <a:rPr lang="tr-TR" altLang="tr-TR" sz="2800" b="1"/>
              <a:t>   if constants k and n</a:t>
            </a:r>
            <a:r>
              <a:rPr lang="tr-TR" altLang="tr-TR" sz="2800" b="1" baseline="-25000"/>
              <a:t>0</a:t>
            </a:r>
            <a:r>
              <a:rPr lang="tr-TR" altLang="tr-TR" sz="2800" b="1"/>
              <a:t> exist such that A requires </a:t>
            </a:r>
          </a:p>
          <a:p>
            <a:pPr eaLnBrk="1" hangingPunct="1">
              <a:spcBef>
                <a:spcPts val="700"/>
              </a:spcBef>
              <a:buClrTx/>
              <a:buFontTx/>
              <a:buNone/>
            </a:pPr>
            <a:r>
              <a:rPr lang="tr-TR" altLang="tr-TR" sz="2800" b="1"/>
              <a:t>   no more than  k*g(n)  time units to solve a problem </a:t>
            </a:r>
          </a:p>
          <a:p>
            <a:pPr eaLnBrk="1" hangingPunct="1">
              <a:spcBef>
                <a:spcPts val="700"/>
              </a:spcBef>
              <a:buClrTx/>
              <a:buFontTx/>
              <a:buNone/>
            </a:pPr>
            <a:r>
              <a:rPr lang="tr-TR" altLang="tr-TR" sz="2800" b="1"/>
              <a:t>   of size  n  </a:t>
            </a:r>
            <a:r>
              <a:rPr lang="tr-TR" altLang="tr-TR" sz="2800" b="1">
                <a:latin typeface="Symbol" pitchFamily="2" charset="2"/>
              </a:rPr>
              <a:t></a:t>
            </a:r>
            <a:r>
              <a:rPr lang="tr-TR" altLang="tr-TR" sz="2800" b="1"/>
              <a:t> n</a:t>
            </a:r>
            <a:r>
              <a:rPr lang="tr-TR" altLang="tr-TR" sz="2800" b="1" baseline="-25000"/>
              <a:t>0</a:t>
            </a:r>
            <a:r>
              <a:rPr lang="tr-TR" altLang="tr-TR" sz="2800" b="1"/>
              <a:t>. </a:t>
            </a:r>
            <a:r>
              <a:rPr lang="tr-TR" altLang="tr-TR" sz="2800">
                <a:sym typeface="Wingdings" pitchFamily="2" charset="2"/>
              </a:rPr>
              <a:t> </a:t>
            </a:r>
            <a:r>
              <a:rPr lang="tr-TR" altLang="tr-TR" sz="2800" b="1"/>
              <a:t>f(n) ≤ k*g(n) for all n  </a:t>
            </a:r>
            <a:r>
              <a:rPr lang="tr-TR" altLang="tr-TR" sz="2800" b="1">
                <a:latin typeface="Symbol" pitchFamily="2" charset="2"/>
              </a:rPr>
              <a:t></a:t>
            </a:r>
            <a:r>
              <a:rPr lang="tr-TR" altLang="tr-TR" sz="2800" b="1"/>
              <a:t> n</a:t>
            </a:r>
            <a:r>
              <a:rPr lang="tr-TR" altLang="tr-TR" sz="2800" b="1" baseline="-25000"/>
              <a:t>0</a:t>
            </a:r>
            <a:r>
              <a:rPr lang="tr-TR" altLang="tr-TR" sz="2800"/>
              <a:t> </a:t>
            </a:r>
            <a:endParaRPr lang="tr-TR" altLang="tr-TR" sz="2800" b="1"/>
          </a:p>
          <a:p>
            <a:pPr eaLnBrk="1" hangingPunct="1">
              <a:buClrTx/>
              <a:buFontTx/>
              <a:buNone/>
            </a:pPr>
            <a:endParaRPr lang="tr-TR" altLang="tr-TR" b="1"/>
          </a:p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tr-TR" altLang="tr-TR"/>
              <a:t>The requirement of </a:t>
            </a:r>
            <a:r>
              <a:rPr lang="tr-TR" altLang="tr-TR" b="1"/>
              <a:t>n  </a:t>
            </a:r>
            <a:r>
              <a:rPr lang="tr-TR" altLang="tr-TR" b="1">
                <a:latin typeface="Symbol" pitchFamily="2" charset="2"/>
              </a:rPr>
              <a:t></a:t>
            </a:r>
            <a:r>
              <a:rPr lang="tr-TR" altLang="tr-TR" b="1"/>
              <a:t> n</a:t>
            </a:r>
            <a:r>
              <a:rPr lang="tr-TR" altLang="tr-TR" b="1" baseline="-25000"/>
              <a:t>0</a:t>
            </a:r>
            <a:r>
              <a:rPr lang="tr-TR" altLang="tr-TR"/>
              <a:t> in the definition of O(f(n)) formalizes the notion of sufficiently large problems.</a:t>
            </a:r>
          </a:p>
          <a:p>
            <a:pPr lvl="1" eaLnBrk="1" hangingPunct="1">
              <a:buFont typeface="Times New Roman" panose="02020603050405020304" pitchFamily="18" charset="0"/>
              <a:buChar char="–"/>
            </a:pPr>
            <a:r>
              <a:rPr lang="tr-TR" altLang="tr-TR" sz="1800"/>
              <a:t>In general, many values of k and  n can satisfy this definition.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">
            <a:extLst>
              <a:ext uri="{FF2B5EF4-FFF2-40B4-BE49-F238E27FC236}">
                <a16:creationId xmlns:a16="http://schemas.microsoft.com/office/drawing/2014/main" id="{55A18976-4D8A-7448-812E-5823E391E4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38915" name="Text Box 2">
            <a:extLst>
              <a:ext uri="{FF2B5EF4-FFF2-40B4-BE49-F238E27FC236}">
                <a16:creationId xmlns:a16="http://schemas.microsoft.com/office/drawing/2014/main" id="{6B911DEA-E789-6F4B-909B-9190F43A9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C9C1863-5108-9345-A4DD-C381E7D29A3E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tr-TR" altLang="tr-TR" sz="800"/>
          </a:p>
        </p:txBody>
      </p:sp>
      <p:sp>
        <p:nvSpPr>
          <p:cNvPr id="38916" name="Text Box 3">
            <a:extLst>
              <a:ext uri="{FF2B5EF4-FFF2-40B4-BE49-F238E27FC236}">
                <a16:creationId xmlns:a16="http://schemas.microsoft.com/office/drawing/2014/main" id="{03108DBF-CBBC-F840-BF6D-0CF90B71F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Order of an Algorithm</a:t>
            </a:r>
          </a:p>
        </p:txBody>
      </p:sp>
      <p:sp>
        <p:nvSpPr>
          <p:cNvPr id="38917" name="Text Box 4">
            <a:extLst>
              <a:ext uri="{FF2B5EF4-FFF2-40B4-BE49-F238E27FC236}">
                <a16:creationId xmlns:a16="http://schemas.microsoft.com/office/drawing/2014/main" id="{BE726630-671F-BB4A-8830-363F9AECD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219200"/>
            <a:ext cx="8580438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33375" indent="-333375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Char char="•"/>
              <a:defRPr/>
            </a:pPr>
            <a:r>
              <a:rPr lang="tr-TR" altLang="tr-TR"/>
              <a:t>If an algorithm requires </a:t>
            </a:r>
            <a:r>
              <a:rPr lang="tr-TR" altLang="tr-TR" i="1"/>
              <a:t>f(n)</a:t>
            </a:r>
            <a:r>
              <a:rPr lang="tr-TR" altLang="tr-TR"/>
              <a:t> = </a:t>
            </a:r>
            <a:r>
              <a:rPr lang="tr-TR" altLang="tr-TR" i="1"/>
              <a:t>n</a:t>
            </a:r>
            <a:r>
              <a:rPr lang="tr-TR" altLang="tr-TR" i="1" baseline="30000"/>
              <a:t>2</a:t>
            </a:r>
            <a:r>
              <a:rPr lang="tr-TR" altLang="tr-TR" i="1"/>
              <a:t>–3*n+10</a:t>
            </a:r>
            <a:r>
              <a:rPr lang="tr-TR" altLang="tr-TR"/>
              <a:t> seconds to solve a problem size n. If constants k and n</a:t>
            </a:r>
            <a:r>
              <a:rPr lang="tr-TR" altLang="tr-TR" baseline="-25000"/>
              <a:t>0</a:t>
            </a:r>
            <a:r>
              <a:rPr lang="tr-TR" altLang="tr-TR"/>
              <a:t> exist such that</a:t>
            </a:r>
          </a:p>
          <a:p>
            <a:pPr eaLnBrk="1" hangingPunct="1">
              <a:buClrTx/>
              <a:buFontTx/>
              <a:buNone/>
              <a:defRPr/>
            </a:pPr>
            <a:r>
              <a:rPr lang="tr-TR" altLang="tr-TR"/>
              <a:t>		 </a:t>
            </a:r>
            <a:r>
              <a:rPr lang="tr-TR" altLang="tr-TR" i="1"/>
              <a:t>k*n</a:t>
            </a:r>
            <a:r>
              <a:rPr lang="tr-TR" altLang="tr-TR" i="1" baseline="30000"/>
              <a:t>2  </a:t>
            </a:r>
            <a:r>
              <a:rPr lang="tr-TR" altLang="tr-TR" i="1"/>
              <a:t>&gt;  n</a:t>
            </a:r>
            <a:r>
              <a:rPr lang="tr-TR" altLang="tr-TR" i="1" baseline="30000"/>
              <a:t>2</a:t>
            </a:r>
            <a:r>
              <a:rPr lang="tr-TR" altLang="tr-TR" i="1"/>
              <a:t>–3*n+10</a:t>
            </a:r>
            <a:r>
              <a:rPr lang="tr-TR" altLang="tr-TR"/>
              <a:t> 	for all </a:t>
            </a:r>
            <a:r>
              <a:rPr lang="tr-TR" altLang="tr-TR" i="1"/>
              <a:t>n </a:t>
            </a:r>
            <a:r>
              <a:rPr lang="tr-TR" altLang="tr-TR" i="1">
                <a:latin typeface="Symbol" pitchFamily="2" charset="2"/>
              </a:rPr>
              <a:t></a:t>
            </a:r>
            <a:r>
              <a:rPr lang="tr-TR" altLang="tr-TR" i="1"/>
              <a:t> n</a:t>
            </a:r>
            <a:r>
              <a:rPr lang="tr-TR" altLang="tr-TR" i="1" baseline="-25000"/>
              <a:t>0</a:t>
            </a:r>
            <a:r>
              <a:rPr lang="tr-TR" altLang="tr-TR"/>
              <a:t> .</a:t>
            </a:r>
          </a:p>
          <a:p>
            <a:pPr eaLnBrk="1" hangingPunct="1">
              <a:buClrTx/>
              <a:buFontTx/>
              <a:buNone/>
              <a:defRPr/>
            </a:pPr>
            <a:r>
              <a:rPr lang="tr-TR" altLang="tr-TR"/>
              <a:t>	the algorithm is order n</a:t>
            </a:r>
            <a:r>
              <a:rPr lang="tr-TR" altLang="tr-TR" baseline="30000"/>
              <a:t>2</a:t>
            </a:r>
            <a:r>
              <a:rPr lang="tr-TR" altLang="tr-TR" baseline="-25000"/>
              <a:t>  </a:t>
            </a:r>
            <a:r>
              <a:rPr lang="tr-TR" altLang="tr-TR"/>
              <a:t>(In fact, k is 3 and n</a:t>
            </a:r>
            <a:r>
              <a:rPr lang="tr-TR" altLang="tr-TR" baseline="-25000"/>
              <a:t>0</a:t>
            </a:r>
            <a:r>
              <a:rPr lang="tr-TR" altLang="tr-TR"/>
              <a:t> is 2)</a:t>
            </a:r>
          </a:p>
          <a:p>
            <a:pPr eaLnBrk="1" hangingPunct="1">
              <a:buClrTx/>
              <a:buFontTx/>
              <a:buNone/>
              <a:defRPr/>
            </a:pPr>
            <a:r>
              <a:rPr lang="tr-TR" altLang="tr-TR" i="1"/>
              <a:t>		3*n</a:t>
            </a:r>
            <a:r>
              <a:rPr lang="tr-TR" altLang="tr-TR" i="1" baseline="30000"/>
              <a:t>2  </a:t>
            </a:r>
            <a:r>
              <a:rPr lang="tr-TR" altLang="tr-TR" i="1"/>
              <a:t>&gt;  n</a:t>
            </a:r>
            <a:r>
              <a:rPr lang="tr-TR" altLang="tr-TR" i="1" baseline="30000"/>
              <a:t>2</a:t>
            </a:r>
            <a:r>
              <a:rPr lang="tr-TR" altLang="tr-TR" i="1"/>
              <a:t>–3*n+10</a:t>
            </a:r>
            <a:r>
              <a:rPr lang="tr-TR" altLang="tr-TR"/>
              <a:t> 	for all </a:t>
            </a:r>
            <a:r>
              <a:rPr lang="tr-TR" altLang="tr-TR" i="1"/>
              <a:t>n </a:t>
            </a:r>
            <a:r>
              <a:rPr lang="tr-TR" altLang="tr-TR" i="1">
                <a:latin typeface="Symbol" pitchFamily="2" charset="2"/>
              </a:rPr>
              <a:t></a:t>
            </a:r>
            <a:r>
              <a:rPr lang="tr-TR" altLang="tr-TR" i="1"/>
              <a:t> 2</a:t>
            </a:r>
            <a:r>
              <a:rPr lang="tr-TR" altLang="tr-TR"/>
              <a:t> .</a:t>
            </a:r>
          </a:p>
          <a:p>
            <a:pPr eaLnBrk="1" hangingPunct="1">
              <a:buClrTx/>
              <a:buFontTx/>
              <a:buNone/>
              <a:defRPr/>
            </a:pPr>
            <a:r>
              <a:rPr lang="tr-TR" altLang="tr-TR"/>
              <a:t>	Thus, the algorithm requires no more than </a:t>
            </a:r>
            <a:r>
              <a:rPr lang="tr-TR" altLang="tr-TR" i="1"/>
              <a:t>k*n</a:t>
            </a:r>
            <a:r>
              <a:rPr lang="tr-TR" altLang="tr-TR" i="1" baseline="30000"/>
              <a:t>2 </a:t>
            </a:r>
            <a:r>
              <a:rPr lang="tr-TR" altLang="tr-TR"/>
              <a:t>time units for </a:t>
            </a:r>
            <a:r>
              <a:rPr lang="tr-TR" altLang="tr-TR" i="1"/>
              <a:t>n </a:t>
            </a:r>
            <a:r>
              <a:rPr lang="tr-TR" altLang="tr-TR" i="1">
                <a:latin typeface="Symbol" pitchFamily="2" charset="2"/>
              </a:rPr>
              <a:t></a:t>
            </a:r>
            <a:r>
              <a:rPr lang="tr-TR" altLang="tr-TR" i="1"/>
              <a:t> n</a:t>
            </a:r>
            <a:r>
              <a:rPr lang="tr-TR" altLang="tr-TR" i="1" baseline="-25000"/>
              <a:t>0</a:t>
            </a:r>
            <a:r>
              <a:rPr lang="tr-TR" altLang="tr-TR"/>
              <a:t> ,</a:t>
            </a:r>
          </a:p>
          <a:p>
            <a:pPr eaLnBrk="1" hangingPunct="1">
              <a:buClrTx/>
              <a:buFontTx/>
              <a:buNone/>
              <a:defRPr/>
            </a:pPr>
            <a:r>
              <a:rPr lang="tr-TR" altLang="tr-TR"/>
              <a:t>	So it is  </a:t>
            </a:r>
            <a:r>
              <a:rPr lang="tr-TR" altLang="tr-TR" b="1"/>
              <a:t>O(n</a:t>
            </a:r>
            <a:r>
              <a:rPr lang="tr-TR" altLang="tr-TR" b="1" baseline="30000"/>
              <a:t>2</a:t>
            </a:r>
            <a:r>
              <a:rPr lang="tr-TR" altLang="tr-TR" b="1"/>
              <a:t>)</a:t>
            </a:r>
          </a:p>
          <a:p>
            <a:pPr eaLnBrk="1" hangingPunct="1">
              <a:buClrTx/>
              <a:buFontTx/>
              <a:buNone/>
              <a:defRPr/>
            </a:pPr>
            <a:endParaRPr lang="tr-TR" altLang="tr-TR" b="1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>
            <a:extLst>
              <a:ext uri="{FF2B5EF4-FFF2-40B4-BE49-F238E27FC236}">
                <a16:creationId xmlns:a16="http://schemas.microsoft.com/office/drawing/2014/main" id="{6DB1A9F9-6E7C-CD41-8C02-C7AC47F1C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40963" name="Text Box 2">
            <a:extLst>
              <a:ext uri="{FF2B5EF4-FFF2-40B4-BE49-F238E27FC236}">
                <a16:creationId xmlns:a16="http://schemas.microsoft.com/office/drawing/2014/main" id="{C9B90267-9E60-774A-BDE7-B49AFED6C9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48A5EC35-911A-F143-866F-65E23452060D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tr-TR" altLang="tr-TR" sz="800"/>
          </a:p>
        </p:txBody>
      </p:sp>
      <p:sp>
        <p:nvSpPr>
          <p:cNvPr id="40964" name="Text Box 3">
            <a:extLst>
              <a:ext uri="{FF2B5EF4-FFF2-40B4-BE49-F238E27FC236}">
                <a16:creationId xmlns:a16="http://schemas.microsoft.com/office/drawing/2014/main" id="{CE43ECD3-B5B4-DC4A-8209-579404EF5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Order of an Algorithm (cont.)</a:t>
            </a:r>
          </a:p>
        </p:txBody>
      </p:sp>
      <p:pic>
        <p:nvPicPr>
          <p:cNvPr id="40965" name="Picture 4">
            <a:extLst>
              <a:ext uri="{FF2B5EF4-FFF2-40B4-BE49-F238E27FC236}">
                <a16:creationId xmlns:a16="http://schemas.microsoft.com/office/drawing/2014/main" id="{98328350-E56A-D647-A2C6-62BE8C730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3" y="1371600"/>
            <a:ext cx="7315200" cy="441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">
            <a:extLst>
              <a:ext uri="{FF2B5EF4-FFF2-40B4-BE49-F238E27FC236}">
                <a16:creationId xmlns:a16="http://schemas.microsoft.com/office/drawing/2014/main" id="{77BE02AE-B658-F749-8052-9D5545055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38915" name="Text Box 2">
            <a:extLst>
              <a:ext uri="{FF2B5EF4-FFF2-40B4-BE49-F238E27FC236}">
                <a16:creationId xmlns:a16="http://schemas.microsoft.com/office/drawing/2014/main" id="{199F56D0-CB9C-0342-ADC5-52A96C150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387E4A94-38E2-D340-9767-8B6AE70C6453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tr-TR" altLang="tr-TR" sz="800"/>
          </a:p>
        </p:txBody>
      </p:sp>
      <p:sp>
        <p:nvSpPr>
          <p:cNvPr id="38916" name="Text Box 3">
            <a:extLst>
              <a:ext uri="{FF2B5EF4-FFF2-40B4-BE49-F238E27FC236}">
                <a16:creationId xmlns:a16="http://schemas.microsoft.com/office/drawing/2014/main" id="{D54BCBEB-927D-344A-BE1F-F4B33123A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Order of an Algorithm</a:t>
            </a:r>
          </a:p>
        </p:txBody>
      </p:sp>
      <p:sp>
        <p:nvSpPr>
          <p:cNvPr id="38917" name="Text Box 4">
            <a:extLst>
              <a:ext uri="{FF2B5EF4-FFF2-40B4-BE49-F238E27FC236}">
                <a16:creationId xmlns:a16="http://schemas.microsoft.com/office/drawing/2014/main" id="{C075930A-A054-6646-BC62-41655EACC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219200"/>
            <a:ext cx="8580438" cy="98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33375" indent="-333375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Char char="•"/>
              <a:defRPr/>
            </a:pPr>
            <a:r>
              <a:rPr lang="tr-TR" altLang="tr-TR"/>
              <a:t>Show 2</a:t>
            </a:r>
            <a:r>
              <a:rPr lang="tr-TR" altLang="tr-TR" baseline="30000"/>
              <a:t>x</a:t>
            </a:r>
            <a:r>
              <a:rPr lang="tr-TR" altLang="tr-TR"/>
              <a:t> + 17 is </a:t>
            </a:r>
            <a:r>
              <a:rPr lang="tr-TR" altLang="tr-TR" b="1"/>
              <a:t>O(2</a:t>
            </a:r>
            <a:r>
              <a:rPr lang="tr-TR" altLang="tr-TR" b="1" baseline="30000"/>
              <a:t>x</a:t>
            </a:r>
            <a:r>
              <a:rPr lang="tr-TR" altLang="tr-TR" b="1"/>
              <a:t>)</a:t>
            </a:r>
            <a:endParaRPr lang="tr-TR" altLang="tr-TR"/>
          </a:p>
          <a:p>
            <a:pPr eaLnBrk="1" hangingPunct="1">
              <a:buClrTx/>
              <a:buFontTx/>
              <a:buNone/>
              <a:defRPr/>
            </a:pPr>
            <a:endParaRPr lang="tr-TR" altLang="tr-TR" b="1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9CAFE808-9B32-E242-A2CD-7ED698C48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155825"/>
            <a:ext cx="8580438" cy="98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33375" indent="-333375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tr-TR" altLang="tr-TR"/>
              <a:t>2</a:t>
            </a:r>
            <a:r>
              <a:rPr lang="tr-TR" altLang="tr-TR" baseline="30000"/>
              <a:t>x</a:t>
            </a:r>
            <a:r>
              <a:rPr lang="tr-TR" altLang="tr-TR"/>
              <a:t> + </a:t>
            </a:r>
            <a:r>
              <a:rPr lang="tr-TR" altLang="tr-TR" b="1" i="1"/>
              <a:t>17</a:t>
            </a:r>
            <a:r>
              <a:rPr lang="tr-TR" altLang="tr-TR"/>
              <a:t> ≤ 2</a:t>
            </a:r>
            <a:r>
              <a:rPr lang="tr-TR" altLang="tr-TR" baseline="30000"/>
              <a:t>x</a:t>
            </a:r>
            <a:r>
              <a:rPr lang="tr-TR" altLang="tr-TR"/>
              <a:t> + </a:t>
            </a:r>
            <a:r>
              <a:rPr lang="tr-TR" altLang="tr-TR" b="1" i="1"/>
              <a:t>2</a:t>
            </a:r>
            <a:r>
              <a:rPr lang="tr-TR" altLang="tr-TR" b="1" i="1" baseline="30000"/>
              <a:t>x</a:t>
            </a:r>
            <a:r>
              <a:rPr lang="tr-TR" altLang="tr-TR" baseline="30000"/>
              <a:t> </a:t>
            </a:r>
            <a:r>
              <a:rPr lang="tr-TR" altLang="tr-TR"/>
              <a:t>= 2*2</a:t>
            </a:r>
            <a:r>
              <a:rPr lang="tr-TR" altLang="tr-TR" baseline="30000"/>
              <a:t>x </a:t>
            </a:r>
            <a:r>
              <a:rPr lang="tr-TR" altLang="tr-TR"/>
              <a:t>for </a:t>
            </a:r>
            <a:r>
              <a:rPr lang="tr-TR" altLang="tr-TR" b="1" i="1"/>
              <a:t>x &gt; 5</a:t>
            </a:r>
          </a:p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tr-TR" altLang="tr-TR"/>
              <a:t>Hence k = 2 and n</a:t>
            </a:r>
            <a:r>
              <a:rPr lang="tr-TR" altLang="tr-TR" baseline="-25000"/>
              <a:t>0 </a:t>
            </a:r>
            <a:r>
              <a:rPr lang="tr-TR" altLang="tr-TR"/>
              <a:t>= 5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">
            <a:extLst>
              <a:ext uri="{FF2B5EF4-FFF2-40B4-BE49-F238E27FC236}">
                <a16:creationId xmlns:a16="http://schemas.microsoft.com/office/drawing/2014/main" id="{77BE02AE-B658-F749-8052-9D5545055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38915" name="Text Box 2">
            <a:extLst>
              <a:ext uri="{FF2B5EF4-FFF2-40B4-BE49-F238E27FC236}">
                <a16:creationId xmlns:a16="http://schemas.microsoft.com/office/drawing/2014/main" id="{199F56D0-CB9C-0342-ADC5-52A96C150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BEA84BE9-7B8C-F546-8973-A600B426E4EC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tr-TR" altLang="tr-TR" sz="800"/>
          </a:p>
        </p:txBody>
      </p:sp>
      <p:sp>
        <p:nvSpPr>
          <p:cNvPr id="38916" name="Text Box 3">
            <a:extLst>
              <a:ext uri="{FF2B5EF4-FFF2-40B4-BE49-F238E27FC236}">
                <a16:creationId xmlns:a16="http://schemas.microsoft.com/office/drawing/2014/main" id="{D54BCBEB-927D-344A-BE1F-F4B33123A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Order of an Algorithm</a:t>
            </a:r>
          </a:p>
        </p:txBody>
      </p:sp>
      <p:sp>
        <p:nvSpPr>
          <p:cNvPr id="38917" name="Text Box 4">
            <a:extLst>
              <a:ext uri="{FF2B5EF4-FFF2-40B4-BE49-F238E27FC236}">
                <a16:creationId xmlns:a16="http://schemas.microsoft.com/office/drawing/2014/main" id="{C075930A-A054-6646-BC62-41655EACC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219200"/>
            <a:ext cx="8580438" cy="98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33375" indent="-333375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Char char="•"/>
              <a:defRPr/>
            </a:pPr>
            <a:r>
              <a:rPr lang="tr-TR" altLang="tr-TR" dirty="0"/>
              <a:t>Show 2</a:t>
            </a:r>
            <a:r>
              <a:rPr lang="tr-TR" altLang="tr-TR" baseline="30000" dirty="0"/>
              <a:t>x</a:t>
            </a:r>
            <a:r>
              <a:rPr lang="tr-TR" altLang="tr-TR" dirty="0"/>
              <a:t> + 17 is </a:t>
            </a:r>
            <a:r>
              <a:rPr lang="tr-TR" altLang="tr-TR" b="1" dirty="0"/>
              <a:t>O(3</a:t>
            </a:r>
            <a:r>
              <a:rPr lang="tr-TR" altLang="tr-TR" b="1" baseline="30000" dirty="0"/>
              <a:t>x</a:t>
            </a:r>
            <a:r>
              <a:rPr lang="tr-TR" altLang="tr-TR" b="1" dirty="0"/>
              <a:t>)</a:t>
            </a:r>
            <a:endParaRPr lang="tr-TR" altLang="tr-TR" dirty="0"/>
          </a:p>
          <a:p>
            <a:pPr eaLnBrk="1" hangingPunct="1">
              <a:buClrTx/>
              <a:buFontTx/>
              <a:buNone/>
              <a:defRPr/>
            </a:pPr>
            <a:endParaRPr lang="tr-TR" altLang="tr-TR" b="1" dirty="0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9CAFE808-9B32-E242-A2CD-7ED698C48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155825"/>
            <a:ext cx="8580438" cy="98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33375" indent="-333375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tr-TR" altLang="tr-TR"/>
              <a:t>2</a:t>
            </a:r>
            <a:r>
              <a:rPr lang="tr-TR" altLang="tr-TR" baseline="30000"/>
              <a:t>x</a:t>
            </a:r>
            <a:r>
              <a:rPr lang="tr-TR" altLang="tr-TR"/>
              <a:t> + </a:t>
            </a:r>
            <a:r>
              <a:rPr lang="tr-TR" altLang="tr-TR" b="1" i="1"/>
              <a:t>17</a:t>
            </a:r>
            <a:r>
              <a:rPr lang="tr-TR" altLang="tr-TR"/>
              <a:t> ≤ k3</a:t>
            </a:r>
            <a:r>
              <a:rPr lang="tr-TR" altLang="tr-TR" baseline="30000"/>
              <a:t>x</a:t>
            </a:r>
          </a:p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tr-TR" altLang="tr-TR"/>
              <a:t>Easy to see that rhs grows faster than lhs over time </a:t>
            </a:r>
            <a:r>
              <a:rPr lang="tr-TR" altLang="tr-TR">
                <a:sym typeface="Wingdings" pitchFamily="2" charset="2"/>
              </a:rPr>
              <a:t> k=1</a:t>
            </a:r>
          </a:p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en-US" altLang="tr-TR">
                <a:sym typeface="Wingdings" pitchFamily="2" charset="2"/>
              </a:rPr>
              <a:t>However when x is small 17 will still dominate  skip over some smaller values of x by using </a:t>
            </a:r>
            <a:r>
              <a:rPr lang="tr-TR" altLang="tr-TR"/>
              <a:t>n</a:t>
            </a:r>
            <a:r>
              <a:rPr lang="tr-TR" altLang="tr-TR" baseline="-25000"/>
              <a:t>0</a:t>
            </a:r>
            <a:r>
              <a:rPr lang="en-US" altLang="tr-TR">
                <a:sym typeface="Wingdings" pitchFamily="2" charset="2"/>
              </a:rPr>
              <a:t> = 2</a:t>
            </a:r>
          </a:p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tr-TR" altLang="tr-TR"/>
              <a:t>Hence k = 1 and n</a:t>
            </a:r>
            <a:r>
              <a:rPr lang="tr-TR" altLang="tr-TR" baseline="-25000"/>
              <a:t>0 </a:t>
            </a:r>
            <a:r>
              <a:rPr lang="tr-TR" altLang="tr-TR"/>
              <a:t>= 2</a:t>
            </a:r>
          </a:p>
          <a:p>
            <a:pPr eaLnBrk="1" hangingPunct="1">
              <a:buFont typeface="Times New Roman" panose="02020603050405020304" pitchFamily="18" charset="0"/>
              <a:buChar char="•"/>
            </a:pPr>
            <a:endParaRPr lang="en-US" altLang="tr-TR">
              <a:sym typeface="Wingdings" pitchFamily="2" charset="2"/>
            </a:endParaRPr>
          </a:p>
          <a:p>
            <a:pPr eaLnBrk="1" hangingPunct="1">
              <a:buFont typeface="Times New Roman" panose="02020603050405020304" pitchFamily="18" charset="0"/>
              <a:buChar char="•"/>
            </a:pPr>
            <a:endParaRPr lang="en-US" altLang="tr-TR">
              <a:sym typeface="Wingdings" pitchFamily="2" charset="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">
            <a:extLst>
              <a:ext uri="{FF2B5EF4-FFF2-40B4-BE49-F238E27FC236}">
                <a16:creationId xmlns:a16="http://schemas.microsoft.com/office/drawing/2014/main" id="{EF2CC2FB-FE6C-064D-A6E6-4AE16B93B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36867" name="Text Box 2">
            <a:extLst>
              <a:ext uri="{FF2B5EF4-FFF2-40B4-BE49-F238E27FC236}">
                <a16:creationId xmlns:a16="http://schemas.microsoft.com/office/drawing/2014/main" id="{A38480A6-F80F-134B-BB74-9A5736D81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8685321A-96EC-544F-B764-429CF73CB1E5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tr-TR" altLang="tr-TR" sz="800"/>
          </a:p>
        </p:txBody>
      </p:sp>
      <p:sp>
        <p:nvSpPr>
          <p:cNvPr id="36868" name="Text Box 3">
            <a:extLst>
              <a:ext uri="{FF2B5EF4-FFF2-40B4-BE49-F238E27FC236}">
                <a16:creationId xmlns:a16="http://schemas.microsoft.com/office/drawing/2014/main" id="{5561727B-BF1F-7F40-B2B7-0956AE14F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 dirty="0">
                <a:solidFill>
                  <a:srgbClr val="000000"/>
                </a:solidFill>
              </a:rPr>
              <a:t>Definition of </a:t>
            </a:r>
            <a:r>
              <a:rPr lang="tr-TR" altLang="tr-TR" sz="3200" b="1" dirty="0" err="1">
                <a:solidFill>
                  <a:srgbClr val="000000"/>
                </a:solidFill>
              </a:rPr>
              <a:t>the</a:t>
            </a:r>
            <a:r>
              <a:rPr lang="tr-TR" altLang="tr-TR" sz="3200" b="1" dirty="0">
                <a:solidFill>
                  <a:srgbClr val="000000"/>
                </a:solidFill>
              </a:rPr>
              <a:t> </a:t>
            </a:r>
            <a:r>
              <a:rPr lang="tr-TR" altLang="tr-TR" sz="3200" b="1" dirty="0" err="1">
                <a:solidFill>
                  <a:srgbClr val="000000"/>
                </a:solidFill>
              </a:rPr>
              <a:t>Order</a:t>
            </a:r>
            <a:r>
              <a:rPr lang="tr-TR" altLang="tr-TR" sz="3200" b="1" dirty="0">
                <a:solidFill>
                  <a:srgbClr val="000000"/>
                </a:solidFill>
              </a:rPr>
              <a:t> of an </a:t>
            </a:r>
            <a:r>
              <a:rPr lang="tr-TR" altLang="tr-TR" sz="3200" b="1" dirty="0" err="1">
                <a:solidFill>
                  <a:srgbClr val="000000"/>
                </a:solidFill>
              </a:rPr>
              <a:t>Algorithm</a:t>
            </a:r>
            <a:endParaRPr lang="tr-TR" altLang="tr-TR" sz="3200" b="1" dirty="0">
              <a:solidFill>
                <a:srgbClr val="000000"/>
              </a:solidFill>
            </a:endParaRPr>
          </a:p>
        </p:txBody>
      </p:sp>
      <p:sp>
        <p:nvSpPr>
          <p:cNvPr id="36869" name="Text Box 4">
            <a:extLst>
              <a:ext uri="{FF2B5EF4-FFF2-40B4-BE49-F238E27FC236}">
                <a16:creationId xmlns:a16="http://schemas.microsoft.com/office/drawing/2014/main" id="{27A5A86D-32B7-4A4B-BD6A-8A2E41252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219200"/>
            <a:ext cx="8580438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42900" indent="-333375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 marL="733425" indent="-276225"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spcBef>
                <a:spcPts val="700"/>
              </a:spcBef>
              <a:buClrTx/>
              <a:buFontTx/>
              <a:buNone/>
            </a:pPr>
            <a:r>
              <a:rPr lang="tr-TR" altLang="tr-TR" sz="2800" b="1" i="1"/>
              <a:t>Definition:</a:t>
            </a:r>
          </a:p>
          <a:p>
            <a:pPr eaLnBrk="1" hangingPunct="1">
              <a:spcBef>
                <a:spcPts val="700"/>
              </a:spcBef>
              <a:buClrTx/>
              <a:buFontTx/>
              <a:buNone/>
            </a:pPr>
            <a:r>
              <a:rPr lang="tr-TR" altLang="tr-TR" sz="2800"/>
              <a:t>   </a:t>
            </a:r>
            <a:r>
              <a:rPr lang="tr-TR" altLang="tr-TR" sz="2800" b="1"/>
              <a:t>Algorithm A is omega g(n)  – denoted as Ω(g(n)) – </a:t>
            </a:r>
          </a:p>
          <a:p>
            <a:pPr eaLnBrk="1" hangingPunct="1">
              <a:spcBef>
                <a:spcPts val="700"/>
              </a:spcBef>
              <a:buClrTx/>
              <a:buFontTx/>
              <a:buNone/>
            </a:pPr>
            <a:r>
              <a:rPr lang="tr-TR" altLang="tr-TR" sz="2800" b="1"/>
              <a:t>   if constants k and n</a:t>
            </a:r>
            <a:r>
              <a:rPr lang="tr-TR" altLang="tr-TR" sz="2800" b="1" baseline="-25000"/>
              <a:t>0</a:t>
            </a:r>
            <a:r>
              <a:rPr lang="tr-TR" altLang="tr-TR" sz="2800" b="1"/>
              <a:t> exist such that A requires </a:t>
            </a:r>
          </a:p>
          <a:p>
            <a:pPr eaLnBrk="1" hangingPunct="1">
              <a:spcBef>
                <a:spcPts val="700"/>
              </a:spcBef>
              <a:buClrTx/>
              <a:buFontTx/>
              <a:buNone/>
            </a:pPr>
            <a:r>
              <a:rPr lang="tr-TR" altLang="tr-TR" sz="2800" b="1"/>
              <a:t>   more than  k*g(n)  time units to solve a problem </a:t>
            </a:r>
          </a:p>
          <a:p>
            <a:pPr eaLnBrk="1" hangingPunct="1">
              <a:spcBef>
                <a:spcPts val="700"/>
              </a:spcBef>
              <a:buClrTx/>
              <a:buFontTx/>
              <a:buNone/>
            </a:pPr>
            <a:r>
              <a:rPr lang="tr-TR" altLang="tr-TR" sz="2800" b="1"/>
              <a:t>   of size  n  </a:t>
            </a:r>
            <a:r>
              <a:rPr lang="tr-TR" altLang="tr-TR" sz="2800" b="1">
                <a:latin typeface="Symbol" pitchFamily="2" charset="2"/>
              </a:rPr>
              <a:t></a:t>
            </a:r>
            <a:r>
              <a:rPr lang="tr-TR" altLang="tr-TR" sz="2800" b="1"/>
              <a:t> n</a:t>
            </a:r>
            <a:r>
              <a:rPr lang="tr-TR" altLang="tr-TR" sz="2800" b="1" baseline="-25000"/>
              <a:t>0</a:t>
            </a:r>
            <a:r>
              <a:rPr lang="tr-TR" altLang="tr-TR" sz="2800" b="1"/>
              <a:t>. </a:t>
            </a:r>
            <a:r>
              <a:rPr lang="tr-TR" altLang="tr-TR" sz="2800">
                <a:sym typeface="Wingdings" pitchFamily="2" charset="2"/>
              </a:rPr>
              <a:t> </a:t>
            </a:r>
            <a:r>
              <a:rPr lang="tr-TR" altLang="tr-TR" sz="2800" b="1"/>
              <a:t>f(n) ≥ k*g(n) for all n  </a:t>
            </a:r>
            <a:r>
              <a:rPr lang="tr-TR" altLang="tr-TR" sz="2800" b="1">
                <a:latin typeface="Symbol" pitchFamily="2" charset="2"/>
              </a:rPr>
              <a:t></a:t>
            </a:r>
            <a:r>
              <a:rPr lang="tr-TR" altLang="tr-TR" sz="2800" b="1"/>
              <a:t> n</a:t>
            </a:r>
            <a:r>
              <a:rPr lang="tr-TR" altLang="tr-TR" sz="2800" b="1" baseline="-25000"/>
              <a:t>0</a:t>
            </a:r>
            <a:r>
              <a:rPr lang="tr-TR" altLang="tr-TR" sz="2800"/>
              <a:t> </a:t>
            </a:r>
            <a:endParaRPr lang="tr-TR" altLang="tr-TR" sz="2800" b="1"/>
          </a:p>
          <a:p>
            <a:pPr eaLnBrk="1" hangingPunct="1">
              <a:spcBef>
                <a:spcPts val="700"/>
              </a:spcBef>
              <a:buClrTx/>
              <a:buFontTx/>
              <a:buNone/>
            </a:pPr>
            <a:endParaRPr lang="tr-TR" altLang="tr-TR" sz="2800" b="1"/>
          </a:p>
          <a:p>
            <a:pPr eaLnBrk="1" hangingPunct="1">
              <a:buClrTx/>
              <a:buFontTx/>
              <a:buNone/>
            </a:pPr>
            <a:endParaRPr lang="tr-TR" altLang="tr-TR" b="1"/>
          </a:p>
        </p:txBody>
      </p:sp>
      <p:pic>
        <p:nvPicPr>
          <p:cNvPr id="70662" name="Picture 1">
            <a:extLst>
              <a:ext uri="{FF2B5EF4-FFF2-40B4-BE49-F238E27FC236}">
                <a16:creationId xmlns:a16="http://schemas.microsoft.com/office/drawing/2014/main" id="{DA1CB726-1CB5-D2D2-10F9-675C366F9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3838575"/>
            <a:ext cx="76962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">
            <a:extLst>
              <a:ext uri="{FF2B5EF4-FFF2-40B4-BE49-F238E27FC236}">
                <a16:creationId xmlns:a16="http://schemas.microsoft.com/office/drawing/2014/main" id="{4FB2C0AE-EDD2-5244-A0D8-8E21263D3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36867" name="Text Box 2">
            <a:extLst>
              <a:ext uri="{FF2B5EF4-FFF2-40B4-BE49-F238E27FC236}">
                <a16:creationId xmlns:a16="http://schemas.microsoft.com/office/drawing/2014/main" id="{E30C4E26-C2E8-F04F-BCD3-D08B28937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8C6548FC-BA08-684B-9B53-2211806728F0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tr-TR" altLang="tr-TR" sz="800"/>
          </a:p>
        </p:txBody>
      </p:sp>
      <p:sp>
        <p:nvSpPr>
          <p:cNvPr id="36868" name="Text Box 3">
            <a:extLst>
              <a:ext uri="{FF2B5EF4-FFF2-40B4-BE49-F238E27FC236}">
                <a16:creationId xmlns:a16="http://schemas.microsoft.com/office/drawing/2014/main" id="{F46FEB16-4D3D-7945-90A3-CF8E479E0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 dirty="0">
                <a:solidFill>
                  <a:srgbClr val="000000"/>
                </a:solidFill>
              </a:rPr>
              <a:t>Definition of </a:t>
            </a:r>
            <a:r>
              <a:rPr lang="tr-TR" altLang="tr-TR" sz="3200" b="1" dirty="0" err="1">
                <a:solidFill>
                  <a:srgbClr val="000000"/>
                </a:solidFill>
              </a:rPr>
              <a:t>the</a:t>
            </a:r>
            <a:r>
              <a:rPr lang="tr-TR" altLang="tr-TR" sz="3200" b="1" dirty="0">
                <a:solidFill>
                  <a:srgbClr val="000000"/>
                </a:solidFill>
              </a:rPr>
              <a:t> </a:t>
            </a:r>
            <a:r>
              <a:rPr lang="tr-TR" altLang="tr-TR" sz="3200" b="1" dirty="0" err="1">
                <a:solidFill>
                  <a:srgbClr val="000000"/>
                </a:solidFill>
              </a:rPr>
              <a:t>Order</a:t>
            </a:r>
            <a:r>
              <a:rPr lang="tr-TR" altLang="tr-TR" sz="3200" b="1" dirty="0">
                <a:solidFill>
                  <a:srgbClr val="000000"/>
                </a:solidFill>
              </a:rPr>
              <a:t> of an </a:t>
            </a:r>
            <a:r>
              <a:rPr lang="tr-TR" altLang="tr-TR" sz="3200" b="1" dirty="0" err="1">
                <a:solidFill>
                  <a:srgbClr val="000000"/>
                </a:solidFill>
              </a:rPr>
              <a:t>Algorithm</a:t>
            </a:r>
            <a:endParaRPr lang="tr-TR" altLang="tr-TR" sz="3200" b="1" dirty="0">
              <a:solidFill>
                <a:srgbClr val="000000"/>
              </a:solidFill>
            </a:endParaRPr>
          </a:p>
        </p:txBody>
      </p:sp>
      <p:sp>
        <p:nvSpPr>
          <p:cNvPr id="36869" name="Text Box 4">
            <a:extLst>
              <a:ext uri="{FF2B5EF4-FFF2-40B4-BE49-F238E27FC236}">
                <a16:creationId xmlns:a16="http://schemas.microsoft.com/office/drawing/2014/main" id="{1168226B-E41B-8D43-9587-01EAB41A0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219200"/>
            <a:ext cx="8683625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42900" indent="-333375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 marL="733425" indent="-276225"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spcBef>
                <a:spcPts val="700"/>
              </a:spcBef>
              <a:buClrTx/>
              <a:buFontTx/>
              <a:buNone/>
            </a:pPr>
            <a:r>
              <a:rPr lang="tr-TR" altLang="tr-TR" sz="2800" b="1" i="1"/>
              <a:t>Definition:</a:t>
            </a:r>
          </a:p>
          <a:p>
            <a:pPr eaLnBrk="1" hangingPunct="1">
              <a:spcBef>
                <a:spcPts val="700"/>
              </a:spcBef>
              <a:buClrTx/>
              <a:buFontTx/>
              <a:buNone/>
            </a:pPr>
            <a:r>
              <a:rPr lang="tr-TR" altLang="tr-TR" sz="2800"/>
              <a:t>   </a:t>
            </a:r>
            <a:r>
              <a:rPr lang="tr-TR" altLang="tr-TR" sz="2800" b="1"/>
              <a:t>Algorithm A is theta g(n)  – denoted as 𝚹(g(n)) – </a:t>
            </a:r>
          </a:p>
          <a:p>
            <a:pPr eaLnBrk="1" hangingPunct="1">
              <a:spcBef>
                <a:spcPts val="700"/>
              </a:spcBef>
              <a:buClrTx/>
              <a:buFontTx/>
              <a:buNone/>
            </a:pPr>
            <a:r>
              <a:rPr lang="tr-TR" altLang="tr-TR" sz="2800" b="1"/>
              <a:t>   if constants k</a:t>
            </a:r>
            <a:r>
              <a:rPr lang="tr-TR" altLang="tr-TR" sz="2800" b="1" baseline="-25000"/>
              <a:t>1</a:t>
            </a:r>
            <a:r>
              <a:rPr lang="tr-TR" altLang="tr-TR" sz="2800" b="1"/>
              <a:t>, k</a:t>
            </a:r>
            <a:r>
              <a:rPr lang="tr-TR" altLang="tr-TR" sz="2800" b="1" baseline="-25000"/>
              <a:t>2 </a:t>
            </a:r>
            <a:r>
              <a:rPr lang="tr-TR" altLang="tr-TR" sz="2800" b="1"/>
              <a:t>and n</a:t>
            </a:r>
            <a:r>
              <a:rPr lang="tr-TR" altLang="tr-TR" sz="2800" b="1" baseline="-25000"/>
              <a:t>0</a:t>
            </a:r>
            <a:r>
              <a:rPr lang="tr-TR" altLang="tr-TR" sz="2800" b="1"/>
              <a:t> exist such that </a:t>
            </a:r>
          </a:p>
          <a:p>
            <a:pPr eaLnBrk="1" hangingPunct="1">
              <a:spcBef>
                <a:spcPts val="700"/>
              </a:spcBef>
              <a:buClrTx/>
              <a:buFontTx/>
              <a:buNone/>
            </a:pPr>
            <a:r>
              <a:rPr lang="tr-TR" altLang="tr-TR" sz="2800" b="1"/>
              <a:t>   k</a:t>
            </a:r>
            <a:r>
              <a:rPr lang="tr-TR" altLang="tr-TR" sz="2800" b="1" baseline="-25000"/>
              <a:t>1</a:t>
            </a:r>
            <a:r>
              <a:rPr lang="tr-TR" altLang="tr-TR" sz="2800" b="1"/>
              <a:t>*g(n) ≤</a:t>
            </a:r>
            <a:r>
              <a:rPr lang="tr-TR" altLang="tr-TR" sz="2800" b="1" baseline="-25000"/>
              <a:t> </a:t>
            </a:r>
            <a:r>
              <a:rPr lang="tr-TR" altLang="tr-TR" sz="2800" b="1"/>
              <a:t>f(n) ≤ k</a:t>
            </a:r>
            <a:r>
              <a:rPr lang="tr-TR" altLang="tr-TR" sz="2800" b="1" baseline="-25000"/>
              <a:t>2</a:t>
            </a:r>
            <a:r>
              <a:rPr lang="tr-TR" altLang="tr-TR" sz="2800" b="1"/>
              <a:t>*g(n) for all n  </a:t>
            </a:r>
            <a:r>
              <a:rPr lang="tr-TR" altLang="tr-TR" sz="2800" b="1">
                <a:latin typeface="Symbol" pitchFamily="2" charset="2"/>
              </a:rPr>
              <a:t></a:t>
            </a:r>
            <a:r>
              <a:rPr lang="tr-TR" altLang="tr-TR" sz="2800" b="1"/>
              <a:t> n</a:t>
            </a:r>
            <a:r>
              <a:rPr lang="tr-TR" altLang="tr-TR" sz="2800" b="1" baseline="-25000"/>
              <a:t>0</a:t>
            </a:r>
            <a:r>
              <a:rPr lang="tr-TR" altLang="tr-TR" sz="2800"/>
              <a:t> </a:t>
            </a:r>
          </a:p>
          <a:p>
            <a:pPr eaLnBrk="1" hangingPunct="1">
              <a:spcBef>
                <a:spcPts val="700"/>
              </a:spcBef>
              <a:buClrTx/>
              <a:buFontTx/>
              <a:buNone/>
            </a:pPr>
            <a:r>
              <a:rPr lang="tr-TR" altLang="tr-TR" sz="1400"/>
              <a:t>(Drop the equalities and you get small o and small omega (ω) notations, respectively, e.g., f(n) is o(g(n)) if f(n)&lt;kg(n))</a:t>
            </a:r>
          </a:p>
          <a:p>
            <a:pPr eaLnBrk="1" hangingPunct="1">
              <a:spcBef>
                <a:spcPts val="700"/>
              </a:spcBef>
              <a:buClrTx/>
              <a:buFontTx/>
              <a:buNone/>
            </a:pPr>
            <a:endParaRPr lang="tr-TR" altLang="tr-TR" sz="2800" b="1"/>
          </a:p>
          <a:p>
            <a:pPr eaLnBrk="1" hangingPunct="1">
              <a:buClrTx/>
              <a:buFontTx/>
              <a:buNone/>
            </a:pPr>
            <a:endParaRPr lang="tr-TR" altLang="tr-TR" b="1"/>
          </a:p>
        </p:txBody>
      </p:sp>
      <p:pic>
        <p:nvPicPr>
          <p:cNvPr id="72710" name="Picture 1">
            <a:extLst>
              <a:ext uri="{FF2B5EF4-FFF2-40B4-BE49-F238E27FC236}">
                <a16:creationId xmlns:a16="http://schemas.microsoft.com/office/drawing/2014/main" id="{0A29525A-8390-0B61-4304-E9ADBC19E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3838575"/>
            <a:ext cx="76962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">
            <a:extLst>
              <a:ext uri="{FF2B5EF4-FFF2-40B4-BE49-F238E27FC236}">
                <a16:creationId xmlns:a16="http://schemas.microsoft.com/office/drawing/2014/main" id="{C7A43ED9-47E7-0F4E-8D20-394BD9051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38915" name="Text Box 2">
            <a:extLst>
              <a:ext uri="{FF2B5EF4-FFF2-40B4-BE49-F238E27FC236}">
                <a16:creationId xmlns:a16="http://schemas.microsoft.com/office/drawing/2014/main" id="{10797352-4049-6843-BE9B-98CCE5CB6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4E9811A-7EF4-1843-B4F7-C12C873204EB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tr-TR" altLang="tr-TR" sz="800"/>
          </a:p>
        </p:txBody>
      </p:sp>
      <p:sp>
        <p:nvSpPr>
          <p:cNvPr id="38916" name="Text Box 3">
            <a:extLst>
              <a:ext uri="{FF2B5EF4-FFF2-40B4-BE49-F238E27FC236}">
                <a16:creationId xmlns:a16="http://schemas.microsoft.com/office/drawing/2014/main" id="{D6A99792-5B59-AA40-829D-79E7CE1562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Order of an Algorithm</a:t>
            </a:r>
          </a:p>
        </p:txBody>
      </p:sp>
      <p:sp>
        <p:nvSpPr>
          <p:cNvPr id="38917" name="Text Box 4">
            <a:extLst>
              <a:ext uri="{FF2B5EF4-FFF2-40B4-BE49-F238E27FC236}">
                <a16:creationId xmlns:a16="http://schemas.microsoft.com/office/drawing/2014/main" id="{44F05D4D-809A-1145-9ACD-59BFDD8A9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219200"/>
            <a:ext cx="8580438" cy="134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33375" indent="-333375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tr-TR" altLang="tr-TR"/>
              <a:t>Show f(n) = 7n</a:t>
            </a:r>
            <a:r>
              <a:rPr lang="tr-TR" altLang="tr-TR" baseline="30000"/>
              <a:t>2</a:t>
            </a:r>
            <a:r>
              <a:rPr lang="tr-TR" altLang="tr-TR"/>
              <a:t> + 1 is 𝚹(n</a:t>
            </a:r>
            <a:r>
              <a:rPr lang="tr-TR" altLang="tr-TR" baseline="30000"/>
              <a:t>2</a:t>
            </a:r>
            <a:r>
              <a:rPr lang="tr-TR" altLang="tr-TR"/>
              <a:t>)</a:t>
            </a:r>
            <a:endParaRPr lang="tr-TR" altLang="tr-TR" b="1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A7C104F6-B014-0D40-8E43-D2B290345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5" y="2298700"/>
            <a:ext cx="8580438" cy="134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33375" indent="-333375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tr-TR" altLang="tr-TR"/>
              <a:t>You need to show f(n) is O(n</a:t>
            </a:r>
            <a:r>
              <a:rPr lang="tr-TR" altLang="tr-TR" baseline="30000"/>
              <a:t>2</a:t>
            </a:r>
            <a:r>
              <a:rPr lang="tr-TR" altLang="tr-TR"/>
              <a:t>) and f(n) is Ω(n</a:t>
            </a:r>
            <a:r>
              <a:rPr lang="tr-TR" altLang="tr-TR" baseline="30000"/>
              <a:t>2</a:t>
            </a:r>
            <a:r>
              <a:rPr lang="tr-TR" altLang="tr-TR"/>
              <a:t>)</a:t>
            </a:r>
          </a:p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tr-TR" altLang="tr-TR"/>
              <a:t> f(n) is O(n</a:t>
            </a:r>
            <a:r>
              <a:rPr lang="tr-TR" altLang="tr-TR" baseline="30000"/>
              <a:t>2</a:t>
            </a:r>
            <a:r>
              <a:rPr lang="tr-TR" altLang="tr-TR"/>
              <a:t>) because 7n</a:t>
            </a:r>
            <a:r>
              <a:rPr lang="tr-TR" altLang="tr-TR" baseline="30000"/>
              <a:t>2</a:t>
            </a:r>
            <a:r>
              <a:rPr lang="tr-TR" altLang="tr-TR"/>
              <a:t> + 1 ≤ 7n</a:t>
            </a:r>
            <a:r>
              <a:rPr lang="tr-TR" altLang="tr-TR" baseline="30000"/>
              <a:t>2</a:t>
            </a:r>
            <a:r>
              <a:rPr lang="tr-TR" altLang="tr-TR"/>
              <a:t> + n</a:t>
            </a:r>
            <a:r>
              <a:rPr lang="tr-TR" altLang="tr-TR" baseline="30000"/>
              <a:t>2 </a:t>
            </a:r>
            <a:r>
              <a:rPr lang="tr-TR" altLang="tr-TR"/>
              <a:t>∀n ≥ 1 </a:t>
            </a:r>
            <a:r>
              <a:rPr lang="tr-TR" altLang="tr-TR">
                <a:sym typeface="Wingdings" pitchFamily="2" charset="2"/>
              </a:rPr>
              <a:t> k</a:t>
            </a:r>
            <a:r>
              <a:rPr lang="tr-TR" altLang="tr-TR" baseline="-25000">
                <a:sym typeface="Wingdings" pitchFamily="2" charset="2"/>
              </a:rPr>
              <a:t>1</a:t>
            </a:r>
            <a:r>
              <a:rPr lang="tr-TR" altLang="tr-TR">
                <a:sym typeface="Wingdings" pitchFamily="2" charset="2"/>
              </a:rPr>
              <a:t> = 8 n</a:t>
            </a:r>
            <a:r>
              <a:rPr lang="tr-TR" altLang="tr-TR" baseline="-25000">
                <a:sym typeface="Wingdings" pitchFamily="2" charset="2"/>
              </a:rPr>
              <a:t>0</a:t>
            </a:r>
            <a:r>
              <a:rPr lang="tr-TR" altLang="tr-TR">
                <a:sym typeface="Wingdings" pitchFamily="2" charset="2"/>
              </a:rPr>
              <a:t> = 1</a:t>
            </a:r>
          </a:p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tr-TR" altLang="tr-TR"/>
              <a:t> f(n) is Ω (n</a:t>
            </a:r>
            <a:r>
              <a:rPr lang="tr-TR" altLang="tr-TR" baseline="30000"/>
              <a:t>2</a:t>
            </a:r>
            <a:r>
              <a:rPr lang="tr-TR" altLang="tr-TR"/>
              <a:t>) because 7n</a:t>
            </a:r>
            <a:r>
              <a:rPr lang="tr-TR" altLang="tr-TR" baseline="30000"/>
              <a:t>2</a:t>
            </a:r>
            <a:r>
              <a:rPr lang="tr-TR" altLang="tr-TR"/>
              <a:t> + 1 ≥ 7n</a:t>
            </a:r>
            <a:r>
              <a:rPr lang="tr-TR" altLang="tr-TR" baseline="30000"/>
              <a:t>2</a:t>
            </a:r>
            <a:r>
              <a:rPr lang="tr-TR" altLang="tr-TR"/>
              <a:t> </a:t>
            </a:r>
            <a:r>
              <a:rPr lang="tr-TR" altLang="tr-TR" baseline="30000"/>
              <a:t> </a:t>
            </a:r>
            <a:r>
              <a:rPr lang="tr-TR" altLang="tr-TR"/>
              <a:t>∀n ≥ 0 </a:t>
            </a:r>
            <a:r>
              <a:rPr lang="tr-TR" altLang="tr-TR">
                <a:sym typeface="Wingdings" pitchFamily="2" charset="2"/>
              </a:rPr>
              <a:t> k</a:t>
            </a:r>
            <a:r>
              <a:rPr lang="tr-TR" altLang="tr-TR" baseline="-25000">
                <a:sym typeface="Wingdings" pitchFamily="2" charset="2"/>
              </a:rPr>
              <a:t>2</a:t>
            </a:r>
            <a:r>
              <a:rPr lang="tr-TR" altLang="tr-TR">
                <a:sym typeface="Wingdings" pitchFamily="2" charset="2"/>
              </a:rPr>
              <a:t> = 7 n</a:t>
            </a:r>
            <a:r>
              <a:rPr lang="tr-TR" altLang="tr-TR" baseline="-25000">
                <a:sym typeface="Wingdings" pitchFamily="2" charset="2"/>
              </a:rPr>
              <a:t>0</a:t>
            </a:r>
            <a:r>
              <a:rPr lang="tr-TR" altLang="tr-TR">
                <a:sym typeface="Wingdings" pitchFamily="2" charset="2"/>
              </a:rPr>
              <a:t> = 0</a:t>
            </a:r>
          </a:p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tr-TR" altLang="tr-TR">
                <a:sym typeface="Wingdings" pitchFamily="2" charset="2"/>
              </a:rPr>
              <a:t>Pick the largest n</a:t>
            </a:r>
            <a:r>
              <a:rPr lang="tr-TR" altLang="tr-TR" baseline="-25000">
                <a:sym typeface="Wingdings" pitchFamily="2" charset="2"/>
              </a:rPr>
              <a:t>0 </a:t>
            </a:r>
            <a:r>
              <a:rPr lang="tr-TR" altLang="tr-TR">
                <a:sym typeface="Wingdings" pitchFamily="2" charset="2"/>
              </a:rPr>
              <a:t>to satisfy both conditions naturally  k</a:t>
            </a:r>
            <a:r>
              <a:rPr lang="tr-TR" altLang="tr-TR" baseline="-25000">
                <a:sym typeface="Wingdings" pitchFamily="2" charset="2"/>
              </a:rPr>
              <a:t>1</a:t>
            </a:r>
            <a:r>
              <a:rPr lang="tr-TR" altLang="tr-TR">
                <a:sym typeface="Wingdings" pitchFamily="2" charset="2"/>
              </a:rPr>
              <a:t> = 8, k</a:t>
            </a:r>
            <a:r>
              <a:rPr lang="tr-TR" altLang="tr-TR" baseline="-25000">
                <a:sym typeface="Wingdings" pitchFamily="2" charset="2"/>
              </a:rPr>
              <a:t>2</a:t>
            </a:r>
            <a:r>
              <a:rPr lang="tr-TR" altLang="tr-TR">
                <a:sym typeface="Wingdings" pitchFamily="2" charset="2"/>
              </a:rPr>
              <a:t> = 7, n</a:t>
            </a:r>
            <a:r>
              <a:rPr lang="tr-TR" altLang="tr-TR" baseline="-25000">
                <a:sym typeface="Wingdings" pitchFamily="2" charset="2"/>
              </a:rPr>
              <a:t>0</a:t>
            </a:r>
            <a:r>
              <a:rPr lang="tr-TR" altLang="tr-TR">
                <a:sym typeface="Wingdings" pitchFamily="2" charset="2"/>
              </a:rPr>
              <a:t> = 1</a:t>
            </a:r>
          </a:p>
          <a:p>
            <a:pPr eaLnBrk="1" hangingPunct="1">
              <a:buFont typeface="Times New Roman" panose="02020603050405020304" pitchFamily="18" charset="0"/>
              <a:buChar char="•"/>
            </a:pPr>
            <a:endParaRPr lang="tr-TR" altLang="tr-TR"/>
          </a:p>
          <a:p>
            <a:pPr eaLnBrk="1" hangingPunct="1">
              <a:buFont typeface="Times New Roman" panose="02020603050405020304" pitchFamily="18" charset="0"/>
              <a:buChar char="•"/>
            </a:pPr>
            <a:endParaRPr lang="tr-TR" altLang="tr-TR" b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2221BB-2B95-1096-321C-E0A2B4C51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988" y="5172075"/>
            <a:ext cx="4456112" cy="154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1">
            <a:extLst>
              <a:ext uri="{FF2B5EF4-FFF2-40B4-BE49-F238E27FC236}">
                <a16:creationId xmlns:a16="http://schemas.microsoft.com/office/drawing/2014/main" id="{80442607-2C5F-2F4F-9F03-6C845CA17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43011" name="Text Box 2">
            <a:extLst>
              <a:ext uri="{FF2B5EF4-FFF2-40B4-BE49-F238E27FC236}">
                <a16:creationId xmlns:a16="http://schemas.microsoft.com/office/drawing/2014/main" id="{4BF2D2FA-F6F9-5247-BA26-F272969CD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1ECC1DC0-DB95-A440-A0AF-737F3A35DE90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tr-TR" altLang="tr-TR" sz="800"/>
          </a:p>
        </p:txBody>
      </p:sp>
      <p:sp>
        <p:nvSpPr>
          <p:cNvPr id="43012" name="Text Box 3">
            <a:extLst>
              <a:ext uri="{FF2B5EF4-FFF2-40B4-BE49-F238E27FC236}">
                <a16:creationId xmlns:a16="http://schemas.microsoft.com/office/drawing/2014/main" id="{F7D76BBF-C9D5-5D4E-B17A-E9B8DADCD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A Comparison of Growth-Rate Functions</a:t>
            </a:r>
          </a:p>
        </p:txBody>
      </p:sp>
      <p:pic>
        <p:nvPicPr>
          <p:cNvPr id="43013" name="Picture 4">
            <a:extLst>
              <a:ext uri="{FF2B5EF4-FFF2-40B4-BE49-F238E27FC236}">
                <a16:creationId xmlns:a16="http://schemas.microsoft.com/office/drawing/2014/main" id="{87B203E5-189E-3144-B12B-9CC957E50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3" y="1143000"/>
            <a:ext cx="8405812" cy="426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1">
            <a:extLst>
              <a:ext uri="{FF2B5EF4-FFF2-40B4-BE49-F238E27FC236}">
                <a16:creationId xmlns:a16="http://schemas.microsoft.com/office/drawing/2014/main" id="{B8B98F78-CEF9-6F4D-A5E5-43D7F65D6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45059" name="Text Box 2">
            <a:extLst>
              <a:ext uri="{FF2B5EF4-FFF2-40B4-BE49-F238E27FC236}">
                <a16:creationId xmlns:a16="http://schemas.microsoft.com/office/drawing/2014/main" id="{7D861BC8-2209-B945-BC1B-A35392DA9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642FE29-8E40-C04C-BE88-4B9F5363EAE4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tr-TR" altLang="tr-TR" sz="800"/>
          </a:p>
        </p:txBody>
      </p:sp>
      <p:sp>
        <p:nvSpPr>
          <p:cNvPr id="45060" name="Text Box 3">
            <a:extLst>
              <a:ext uri="{FF2B5EF4-FFF2-40B4-BE49-F238E27FC236}">
                <a16:creationId xmlns:a16="http://schemas.microsoft.com/office/drawing/2014/main" id="{DA522547-6FB3-5F48-903B-72173193F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Growth-Rate Functions</a:t>
            </a:r>
          </a:p>
        </p:txBody>
      </p:sp>
      <p:sp>
        <p:nvSpPr>
          <p:cNvPr id="45061" name="Text Box 4">
            <a:extLst>
              <a:ext uri="{FF2B5EF4-FFF2-40B4-BE49-F238E27FC236}">
                <a16:creationId xmlns:a16="http://schemas.microsoft.com/office/drawing/2014/main" id="{51D8E7FF-FA1F-6A44-95E9-9419E8537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95400"/>
            <a:ext cx="8704263" cy="474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42900" indent="-333375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 b="1"/>
              <a:t>O(1)             </a:t>
            </a:r>
            <a:r>
              <a:rPr lang="tr-TR" altLang="tr-TR" sz="1800"/>
              <a:t>Time requirement is </a:t>
            </a:r>
            <a:r>
              <a:rPr lang="tr-TR" altLang="tr-TR" sz="1800" b="1"/>
              <a:t>constant</a:t>
            </a:r>
            <a:r>
              <a:rPr lang="tr-TR" altLang="tr-TR" sz="1800"/>
              <a:t>, and it is independent of the problem’s size.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 b="1"/>
              <a:t>O(log</a:t>
            </a:r>
            <a:r>
              <a:rPr lang="tr-TR" altLang="tr-TR" sz="1800" b="1" baseline="-25000"/>
              <a:t>2</a:t>
            </a:r>
            <a:r>
              <a:rPr lang="tr-TR" altLang="tr-TR" sz="1800" b="1"/>
              <a:t>n)	</a:t>
            </a:r>
            <a:r>
              <a:rPr lang="tr-TR" altLang="tr-TR" sz="1800"/>
              <a:t>     Time requirement for a </a:t>
            </a:r>
            <a:r>
              <a:rPr lang="tr-TR" altLang="tr-TR" sz="1800" b="1"/>
              <a:t>logarithmic</a:t>
            </a:r>
            <a:r>
              <a:rPr lang="tr-TR" altLang="tr-TR" sz="1800"/>
              <a:t> algorithm increases increases slowly 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/>
              <a:t>		     as the problem size increases.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 b="1"/>
              <a:t>O(n)</a:t>
            </a:r>
            <a:r>
              <a:rPr lang="tr-TR" altLang="tr-TR" sz="1800"/>
              <a:t>	     Time requirement for a </a:t>
            </a:r>
            <a:r>
              <a:rPr lang="tr-TR" altLang="tr-TR" sz="1800" b="1"/>
              <a:t>linear</a:t>
            </a:r>
            <a:r>
              <a:rPr lang="tr-TR" altLang="tr-TR" sz="1800"/>
              <a:t> algorithm increases directly with the size 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/>
              <a:t>		     of the problem.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 b="1"/>
              <a:t>O(n*log</a:t>
            </a:r>
            <a:r>
              <a:rPr lang="tr-TR" altLang="tr-TR" sz="1800" b="1" baseline="-25000"/>
              <a:t>2</a:t>
            </a:r>
            <a:r>
              <a:rPr lang="tr-TR" altLang="tr-TR" sz="1800" b="1"/>
              <a:t>n)</a:t>
            </a:r>
            <a:r>
              <a:rPr lang="tr-TR" altLang="tr-TR" sz="1800"/>
              <a:t> Time requirement for a </a:t>
            </a:r>
            <a:r>
              <a:rPr lang="tr-TR" altLang="tr-TR" sz="1800" b="1"/>
              <a:t>n*log</a:t>
            </a:r>
            <a:r>
              <a:rPr lang="tr-TR" altLang="tr-TR" sz="1800" b="1" baseline="-25000"/>
              <a:t>2</a:t>
            </a:r>
            <a:r>
              <a:rPr lang="tr-TR" altLang="tr-TR" sz="1800" b="1"/>
              <a:t>n</a:t>
            </a:r>
            <a:r>
              <a:rPr lang="tr-TR" altLang="tr-TR" sz="1800"/>
              <a:t> algorithm increases more rapidly than 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/>
              <a:t>		     a linear algorithm.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 b="1"/>
              <a:t>O(n</a:t>
            </a:r>
            <a:r>
              <a:rPr lang="tr-TR" altLang="tr-TR" sz="1800" b="1" baseline="30000"/>
              <a:t>2</a:t>
            </a:r>
            <a:r>
              <a:rPr lang="tr-TR" altLang="tr-TR" sz="1800" b="1"/>
              <a:t>)</a:t>
            </a:r>
            <a:r>
              <a:rPr lang="tr-TR" altLang="tr-TR" sz="1800"/>
              <a:t> 	     Time requirement for a </a:t>
            </a:r>
            <a:r>
              <a:rPr lang="tr-TR" altLang="tr-TR" sz="1800" b="1"/>
              <a:t>quadratic</a:t>
            </a:r>
            <a:r>
              <a:rPr lang="tr-TR" altLang="tr-TR" sz="1800"/>
              <a:t> algorithm increases rapidly with the 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/>
              <a:t>		     size of the problem.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 b="1"/>
              <a:t>O(n</a:t>
            </a:r>
            <a:r>
              <a:rPr lang="tr-TR" altLang="tr-TR" sz="1800" b="1" baseline="30000"/>
              <a:t>3</a:t>
            </a:r>
            <a:r>
              <a:rPr lang="tr-TR" altLang="tr-TR" sz="1800" b="1"/>
              <a:t>)</a:t>
            </a:r>
            <a:r>
              <a:rPr lang="tr-TR" altLang="tr-TR" sz="1800"/>
              <a:t> 	     Time requirement for a c</a:t>
            </a:r>
            <a:r>
              <a:rPr lang="tr-TR" altLang="tr-TR" sz="1800" b="1"/>
              <a:t>ubic</a:t>
            </a:r>
            <a:r>
              <a:rPr lang="tr-TR" altLang="tr-TR" sz="1800"/>
              <a:t> algorithm increases more rapidly with the 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/>
              <a:t>		     size of the problem than the time requirement for a quadratic algorithm.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 b="1"/>
              <a:t>O(2</a:t>
            </a:r>
            <a:r>
              <a:rPr lang="tr-TR" altLang="tr-TR" sz="1800" b="1" baseline="30000"/>
              <a:t>n</a:t>
            </a:r>
            <a:r>
              <a:rPr lang="tr-TR" altLang="tr-TR" sz="1800" b="1"/>
              <a:t>)</a:t>
            </a:r>
            <a:r>
              <a:rPr lang="tr-TR" altLang="tr-TR" sz="1800"/>
              <a:t>	     As the size of the problem increases, the time requirement for an 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 b="1"/>
              <a:t>		     exponential</a:t>
            </a:r>
            <a:r>
              <a:rPr lang="tr-TR" altLang="tr-TR" sz="1800"/>
              <a:t> algorithm increases too rapidly to be practical.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endParaRPr lang="tr-TR" altLang="tr-TR" sz="18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1">
            <a:extLst>
              <a:ext uri="{FF2B5EF4-FFF2-40B4-BE49-F238E27FC236}">
                <a16:creationId xmlns:a16="http://schemas.microsoft.com/office/drawing/2014/main" id="{08B9E1CB-3AF8-3943-AE8B-E78984B7A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47107" name="Text Box 2">
            <a:extLst>
              <a:ext uri="{FF2B5EF4-FFF2-40B4-BE49-F238E27FC236}">
                <a16:creationId xmlns:a16="http://schemas.microsoft.com/office/drawing/2014/main" id="{F09C37FC-1811-0B4B-8ACE-EF041FBA7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915CD09-7CC3-B84B-9D06-CE276FF4AA92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tr-TR" altLang="tr-TR" sz="800"/>
          </a:p>
        </p:txBody>
      </p:sp>
      <p:sp>
        <p:nvSpPr>
          <p:cNvPr id="47108" name="Text Box 3">
            <a:extLst>
              <a:ext uri="{FF2B5EF4-FFF2-40B4-BE49-F238E27FC236}">
                <a16:creationId xmlns:a16="http://schemas.microsoft.com/office/drawing/2014/main" id="{A455A7C0-3171-5B44-809D-E7AD8A101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Growth-Rate Functions</a:t>
            </a:r>
          </a:p>
        </p:txBody>
      </p:sp>
      <p:sp>
        <p:nvSpPr>
          <p:cNvPr id="47109" name="Text Box 4">
            <a:extLst>
              <a:ext uri="{FF2B5EF4-FFF2-40B4-BE49-F238E27FC236}">
                <a16:creationId xmlns:a16="http://schemas.microsoft.com/office/drawing/2014/main" id="{74168377-F91E-1C4D-BC71-07EB0A9EB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219200"/>
            <a:ext cx="8580438" cy="526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33375" indent="-333375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Char char="•"/>
              <a:defRPr/>
            </a:pPr>
            <a:r>
              <a:rPr lang="tr-TR" altLang="tr-TR"/>
              <a:t>If an algorithm takes 1 second to run with the problem size 8, what is the time requirement (approximately) for that algorithm with the problem size 16?</a:t>
            </a:r>
          </a:p>
          <a:p>
            <a:pPr eaLnBrk="1" hangingPunct="1">
              <a:buFont typeface="Times New Roman" panose="02020603050405020304" pitchFamily="18" charset="0"/>
              <a:buChar char="•"/>
              <a:defRPr/>
            </a:pPr>
            <a:r>
              <a:rPr lang="tr-TR" altLang="tr-TR"/>
              <a:t>If its order is:</a:t>
            </a:r>
          </a:p>
          <a:p>
            <a:pPr eaLnBrk="1" hangingPunct="1">
              <a:buClrTx/>
              <a:buFontTx/>
              <a:buNone/>
              <a:defRPr/>
            </a:pPr>
            <a:r>
              <a:rPr lang="tr-TR" altLang="tr-TR" b="1"/>
              <a:t>	O(1)</a:t>
            </a:r>
            <a:r>
              <a:rPr lang="tr-TR" altLang="tr-TR"/>
              <a:t> 	</a:t>
            </a:r>
            <a:r>
              <a:rPr lang="tr-TR" altLang="tr-TR">
                <a:latin typeface="Wingdings" pitchFamily="2" charset="2"/>
              </a:rPr>
              <a:t></a:t>
            </a:r>
            <a:r>
              <a:rPr lang="tr-TR" altLang="tr-TR"/>
              <a:t>  T(n) = 1 second</a:t>
            </a:r>
          </a:p>
          <a:p>
            <a:pPr eaLnBrk="1" hangingPunct="1">
              <a:buClrTx/>
              <a:buFontTx/>
              <a:buNone/>
              <a:defRPr/>
            </a:pPr>
            <a:r>
              <a:rPr lang="tr-TR" altLang="tr-TR" b="1"/>
              <a:t>	O(log</a:t>
            </a:r>
            <a:r>
              <a:rPr lang="tr-TR" altLang="tr-TR" b="1" baseline="-25000"/>
              <a:t>2</a:t>
            </a:r>
            <a:r>
              <a:rPr lang="tr-TR" altLang="tr-TR" b="1"/>
              <a:t>n)	</a:t>
            </a:r>
            <a:r>
              <a:rPr lang="tr-TR" altLang="tr-TR">
                <a:latin typeface="Wingdings" pitchFamily="2" charset="2"/>
              </a:rPr>
              <a:t></a:t>
            </a:r>
            <a:r>
              <a:rPr lang="tr-TR" altLang="tr-TR" b="1"/>
              <a:t>  </a:t>
            </a:r>
            <a:r>
              <a:rPr lang="tr-TR" altLang="tr-TR"/>
              <a:t>T(n) = (1*log</a:t>
            </a:r>
            <a:r>
              <a:rPr lang="tr-TR" altLang="tr-TR" baseline="-25000"/>
              <a:t>2</a:t>
            </a:r>
            <a:r>
              <a:rPr lang="tr-TR" altLang="tr-TR"/>
              <a:t>16) / log</a:t>
            </a:r>
            <a:r>
              <a:rPr lang="tr-TR" altLang="tr-TR" baseline="-25000"/>
              <a:t>2</a:t>
            </a:r>
            <a:r>
              <a:rPr lang="tr-TR" altLang="tr-TR"/>
              <a:t>8 = 4/3 seconds</a:t>
            </a:r>
          </a:p>
          <a:p>
            <a:pPr eaLnBrk="1" hangingPunct="1">
              <a:buClrTx/>
              <a:buFontTx/>
              <a:buNone/>
              <a:defRPr/>
            </a:pPr>
            <a:r>
              <a:rPr lang="tr-TR" altLang="tr-TR" b="1"/>
              <a:t>	O(n)	</a:t>
            </a:r>
            <a:r>
              <a:rPr lang="tr-TR" altLang="tr-TR">
                <a:latin typeface="Wingdings" pitchFamily="2" charset="2"/>
              </a:rPr>
              <a:t></a:t>
            </a:r>
            <a:r>
              <a:rPr lang="tr-TR" altLang="tr-TR" b="1"/>
              <a:t>  </a:t>
            </a:r>
            <a:r>
              <a:rPr lang="tr-TR" altLang="tr-TR"/>
              <a:t>T(n) = (1*16) / 8 = 2 seconds</a:t>
            </a:r>
          </a:p>
          <a:p>
            <a:pPr eaLnBrk="1" hangingPunct="1">
              <a:buClrTx/>
              <a:buFontTx/>
              <a:buNone/>
              <a:defRPr/>
            </a:pPr>
            <a:r>
              <a:rPr lang="tr-TR" altLang="tr-TR" b="1"/>
              <a:t>	O(n*log</a:t>
            </a:r>
            <a:r>
              <a:rPr lang="tr-TR" altLang="tr-TR" b="1" baseline="-25000"/>
              <a:t>2</a:t>
            </a:r>
            <a:r>
              <a:rPr lang="tr-TR" altLang="tr-TR" b="1"/>
              <a:t>n)	</a:t>
            </a:r>
            <a:r>
              <a:rPr lang="tr-TR" altLang="tr-TR">
                <a:latin typeface="Wingdings" pitchFamily="2" charset="2"/>
              </a:rPr>
              <a:t></a:t>
            </a:r>
            <a:r>
              <a:rPr lang="tr-TR" altLang="tr-TR" b="1"/>
              <a:t>  </a:t>
            </a:r>
            <a:r>
              <a:rPr lang="tr-TR" altLang="tr-TR"/>
              <a:t>T(n) = (1*16*log</a:t>
            </a:r>
            <a:r>
              <a:rPr lang="tr-TR" altLang="tr-TR" baseline="-25000"/>
              <a:t>2</a:t>
            </a:r>
            <a:r>
              <a:rPr lang="tr-TR" altLang="tr-TR"/>
              <a:t>16) / 8*log</a:t>
            </a:r>
            <a:r>
              <a:rPr lang="tr-TR" altLang="tr-TR" baseline="-25000"/>
              <a:t>2</a:t>
            </a:r>
            <a:r>
              <a:rPr lang="tr-TR" altLang="tr-TR"/>
              <a:t>8 = 8/3 seconds</a:t>
            </a:r>
          </a:p>
          <a:p>
            <a:pPr eaLnBrk="1" hangingPunct="1">
              <a:buClrTx/>
              <a:buFontTx/>
              <a:buNone/>
              <a:defRPr/>
            </a:pPr>
            <a:r>
              <a:rPr lang="tr-TR" altLang="tr-TR" b="1"/>
              <a:t>	O(n</a:t>
            </a:r>
            <a:r>
              <a:rPr lang="tr-TR" altLang="tr-TR" b="1" baseline="30000"/>
              <a:t>2</a:t>
            </a:r>
            <a:r>
              <a:rPr lang="tr-TR" altLang="tr-TR" b="1"/>
              <a:t>)	</a:t>
            </a:r>
            <a:r>
              <a:rPr lang="tr-TR" altLang="tr-TR">
                <a:latin typeface="Wingdings" pitchFamily="2" charset="2"/>
              </a:rPr>
              <a:t></a:t>
            </a:r>
            <a:r>
              <a:rPr lang="tr-TR" altLang="tr-TR" b="1"/>
              <a:t>  </a:t>
            </a:r>
            <a:r>
              <a:rPr lang="tr-TR" altLang="tr-TR"/>
              <a:t>T(n) = (1*16</a:t>
            </a:r>
            <a:r>
              <a:rPr lang="tr-TR" altLang="tr-TR" baseline="30000"/>
              <a:t>2</a:t>
            </a:r>
            <a:r>
              <a:rPr lang="tr-TR" altLang="tr-TR"/>
              <a:t>) / 8</a:t>
            </a:r>
            <a:r>
              <a:rPr lang="tr-TR" altLang="tr-TR" baseline="30000"/>
              <a:t>2</a:t>
            </a:r>
            <a:r>
              <a:rPr lang="tr-TR" altLang="tr-TR"/>
              <a:t> = 4 seconds</a:t>
            </a:r>
          </a:p>
          <a:p>
            <a:pPr eaLnBrk="1" hangingPunct="1">
              <a:buClrTx/>
              <a:buFontTx/>
              <a:buNone/>
              <a:defRPr/>
            </a:pPr>
            <a:r>
              <a:rPr lang="tr-TR" altLang="tr-TR" b="1"/>
              <a:t>	O(n</a:t>
            </a:r>
            <a:r>
              <a:rPr lang="tr-TR" altLang="tr-TR" b="1" baseline="30000"/>
              <a:t>3</a:t>
            </a:r>
            <a:r>
              <a:rPr lang="tr-TR" altLang="tr-TR" b="1"/>
              <a:t>)	</a:t>
            </a:r>
            <a:r>
              <a:rPr lang="tr-TR" altLang="tr-TR">
                <a:latin typeface="Wingdings" pitchFamily="2" charset="2"/>
              </a:rPr>
              <a:t></a:t>
            </a:r>
            <a:r>
              <a:rPr lang="tr-TR" altLang="tr-TR" b="1"/>
              <a:t>  </a:t>
            </a:r>
            <a:r>
              <a:rPr lang="tr-TR" altLang="tr-TR"/>
              <a:t>T(n) = (1*16</a:t>
            </a:r>
            <a:r>
              <a:rPr lang="tr-TR" altLang="tr-TR" baseline="30000"/>
              <a:t>3</a:t>
            </a:r>
            <a:r>
              <a:rPr lang="tr-TR" altLang="tr-TR"/>
              <a:t>) / 8</a:t>
            </a:r>
            <a:r>
              <a:rPr lang="tr-TR" altLang="tr-TR" baseline="30000"/>
              <a:t>3</a:t>
            </a:r>
            <a:r>
              <a:rPr lang="tr-TR" altLang="tr-TR"/>
              <a:t> = 8 seconds</a:t>
            </a:r>
          </a:p>
          <a:p>
            <a:pPr eaLnBrk="1" hangingPunct="1">
              <a:buClrTx/>
              <a:buFontTx/>
              <a:buNone/>
              <a:defRPr/>
            </a:pPr>
            <a:r>
              <a:rPr lang="tr-TR" altLang="tr-TR" b="1"/>
              <a:t>	O(2</a:t>
            </a:r>
            <a:r>
              <a:rPr lang="tr-TR" altLang="tr-TR" b="1" baseline="30000"/>
              <a:t>n</a:t>
            </a:r>
            <a:r>
              <a:rPr lang="tr-TR" altLang="tr-TR" b="1"/>
              <a:t>)	</a:t>
            </a:r>
            <a:r>
              <a:rPr lang="tr-TR" altLang="tr-TR">
                <a:latin typeface="Wingdings" pitchFamily="2" charset="2"/>
              </a:rPr>
              <a:t></a:t>
            </a:r>
            <a:r>
              <a:rPr lang="tr-TR" altLang="tr-TR" b="1"/>
              <a:t>  </a:t>
            </a:r>
            <a:r>
              <a:rPr lang="tr-TR" altLang="tr-TR"/>
              <a:t>T(n) = (1*2</a:t>
            </a:r>
            <a:r>
              <a:rPr lang="tr-TR" altLang="tr-TR" baseline="30000"/>
              <a:t>16</a:t>
            </a:r>
            <a:r>
              <a:rPr lang="tr-TR" altLang="tr-TR"/>
              <a:t>) / 2</a:t>
            </a:r>
            <a:r>
              <a:rPr lang="tr-TR" altLang="tr-TR" baseline="30000"/>
              <a:t>8</a:t>
            </a:r>
            <a:r>
              <a:rPr lang="tr-TR" altLang="tr-TR"/>
              <a:t> = 2</a:t>
            </a:r>
            <a:r>
              <a:rPr lang="tr-TR" altLang="tr-TR" baseline="30000"/>
              <a:t>8</a:t>
            </a:r>
            <a:r>
              <a:rPr lang="tr-TR" altLang="tr-TR"/>
              <a:t> seconds = 256 seconds</a:t>
            </a:r>
          </a:p>
          <a:p>
            <a:pPr eaLnBrk="1" hangingPunct="1">
              <a:buClrTx/>
              <a:buFontTx/>
              <a:buNone/>
              <a:defRPr/>
            </a:pPr>
            <a:endParaRPr lang="tr-TR" altLang="tr-T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1">
            <a:extLst>
              <a:ext uri="{FF2B5EF4-FFF2-40B4-BE49-F238E27FC236}">
                <a16:creationId xmlns:a16="http://schemas.microsoft.com/office/drawing/2014/main" id="{12D6A2D2-2578-0C43-A0A4-7BD6CB6B7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49155" name="Text Box 2">
            <a:extLst>
              <a:ext uri="{FF2B5EF4-FFF2-40B4-BE49-F238E27FC236}">
                <a16:creationId xmlns:a16="http://schemas.microsoft.com/office/drawing/2014/main" id="{BA69215B-CBD7-474C-9C3F-E11A5F7FE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8F0ACF8E-4C5E-E047-84DD-CE683AA868C0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tr-TR" altLang="tr-TR" sz="800"/>
          </a:p>
        </p:txBody>
      </p:sp>
      <p:sp>
        <p:nvSpPr>
          <p:cNvPr id="49156" name="Text Box 3">
            <a:extLst>
              <a:ext uri="{FF2B5EF4-FFF2-40B4-BE49-F238E27FC236}">
                <a16:creationId xmlns:a16="http://schemas.microsoft.com/office/drawing/2014/main" id="{B3DA8A8A-52A7-A04F-8832-5E97EE6D0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Properties of Growth-Rate Functions</a:t>
            </a:r>
          </a:p>
        </p:txBody>
      </p:sp>
      <p:sp>
        <p:nvSpPr>
          <p:cNvPr id="49157" name="Text Box 4">
            <a:extLst>
              <a:ext uri="{FF2B5EF4-FFF2-40B4-BE49-F238E27FC236}">
                <a16:creationId xmlns:a16="http://schemas.microsoft.com/office/drawing/2014/main" id="{F5B70E84-8073-8243-AD91-AB3E08F2DC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219200"/>
            <a:ext cx="8580438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 marL="790575" indent="-333375"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AutoNum type="arabicPeriod"/>
              <a:defRPr/>
            </a:pPr>
            <a:r>
              <a:rPr lang="tr-TR" altLang="tr-TR" i="1"/>
              <a:t>We can ignore low-order terms in an algorithm’s growth-rate function.</a:t>
            </a:r>
          </a:p>
          <a:p>
            <a:pPr lvl="1" eaLnBrk="1" hangingPunct="1">
              <a:buFont typeface="Times New Roman" panose="02020603050405020304" pitchFamily="18" charset="0"/>
              <a:buChar char="–"/>
              <a:defRPr/>
            </a:pPr>
            <a:r>
              <a:rPr lang="tr-TR" altLang="tr-TR" sz="1800"/>
              <a:t>If an algorithm is O(n</a:t>
            </a:r>
            <a:r>
              <a:rPr lang="tr-TR" altLang="tr-TR" sz="1800" baseline="30000"/>
              <a:t>3</a:t>
            </a:r>
            <a:r>
              <a:rPr lang="tr-TR" altLang="tr-TR" sz="1800"/>
              <a:t>+4n</a:t>
            </a:r>
            <a:r>
              <a:rPr lang="tr-TR" altLang="tr-TR" sz="1800" baseline="30000"/>
              <a:t>2</a:t>
            </a:r>
            <a:r>
              <a:rPr lang="tr-TR" altLang="tr-TR" sz="1800"/>
              <a:t>+3n), it is also O(n</a:t>
            </a:r>
            <a:r>
              <a:rPr lang="tr-TR" altLang="tr-TR" sz="1800" baseline="30000"/>
              <a:t>3</a:t>
            </a:r>
            <a:r>
              <a:rPr lang="tr-TR" altLang="tr-TR" sz="1800"/>
              <a:t>).</a:t>
            </a:r>
          </a:p>
          <a:p>
            <a:pPr lvl="1" eaLnBrk="1" hangingPunct="1">
              <a:buFont typeface="Times New Roman" panose="02020603050405020304" pitchFamily="18" charset="0"/>
              <a:buChar char="–"/>
              <a:defRPr/>
            </a:pPr>
            <a:r>
              <a:rPr lang="tr-TR" altLang="tr-TR" sz="1800"/>
              <a:t>We only use the higher-order term as algorithm’s growth-rate function.</a:t>
            </a:r>
          </a:p>
          <a:p>
            <a:pPr lvl="1" eaLnBrk="1" hangingPunct="1">
              <a:buClrTx/>
              <a:buFontTx/>
              <a:buNone/>
              <a:defRPr/>
            </a:pPr>
            <a:endParaRPr lang="tr-TR" altLang="tr-TR" sz="1800"/>
          </a:p>
          <a:p>
            <a:pPr eaLnBrk="1" hangingPunct="1">
              <a:buFont typeface="Times New Roman" panose="02020603050405020304" pitchFamily="18" charset="0"/>
              <a:buAutoNum type="arabicPeriod"/>
              <a:defRPr/>
            </a:pPr>
            <a:r>
              <a:rPr lang="tr-TR" altLang="tr-TR" i="1"/>
              <a:t>We can ignore a multiplicative constant in the higher-order term of an algorithm’s growth-rate function.</a:t>
            </a:r>
          </a:p>
          <a:p>
            <a:pPr lvl="1" eaLnBrk="1" hangingPunct="1">
              <a:buFont typeface="Times New Roman" panose="02020603050405020304" pitchFamily="18" charset="0"/>
              <a:buChar char="–"/>
              <a:defRPr/>
            </a:pPr>
            <a:r>
              <a:rPr lang="tr-TR" altLang="tr-TR" sz="1800"/>
              <a:t>If an algorithm is O(5n</a:t>
            </a:r>
            <a:r>
              <a:rPr lang="tr-TR" altLang="tr-TR" sz="1800" baseline="30000"/>
              <a:t>3</a:t>
            </a:r>
            <a:r>
              <a:rPr lang="tr-TR" altLang="tr-TR" sz="1800"/>
              <a:t>), it is also O(n</a:t>
            </a:r>
            <a:r>
              <a:rPr lang="tr-TR" altLang="tr-TR" sz="1800" baseline="30000"/>
              <a:t>3</a:t>
            </a:r>
            <a:r>
              <a:rPr lang="tr-TR" altLang="tr-TR" sz="1800"/>
              <a:t>).</a:t>
            </a:r>
          </a:p>
          <a:p>
            <a:pPr lvl="1" eaLnBrk="1" hangingPunct="1">
              <a:buClrTx/>
              <a:buFontTx/>
              <a:buNone/>
              <a:defRPr/>
            </a:pPr>
            <a:endParaRPr lang="tr-TR" altLang="tr-TR" sz="1800"/>
          </a:p>
          <a:p>
            <a:pPr eaLnBrk="1" hangingPunct="1">
              <a:buFont typeface="Times New Roman" panose="02020603050405020304" pitchFamily="18" charset="0"/>
              <a:buAutoNum type="arabicPeriod"/>
              <a:defRPr/>
            </a:pPr>
            <a:r>
              <a:rPr lang="tr-TR" altLang="tr-TR" i="1"/>
              <a:t>O(f(n)) + O(g(n)) = O(f(n)+g(n))</a:t>
            </a:r>
          </a:p>
          <a:p>
            <a:pPr lvl="1" eaLnBrk="1" hangingPunct="1">
              <a:buFont typeface="Times New Roman" panose="02020603050405020304" pitchFamily="18" charset="0"/>
              <a:buChar char="–"/>
              <a:defRPr/>
            </a:pPr>
            <a:r>
              <a:rPr lang="tr-TR" altLang="tr-TR" sz="1800"/>
              <a:t>We can combine growth-rate functions.</a:t>
            </a:r>
          </a:p>
          <a:p>
            <a:pPr lvl="1" eaLnBrk="1" hangingPunct="1">
              <a:buFont typeface="Times New Roman" panose="02020603050405020304" pitchFamily="18" charset="0"/>
              <a:buChar char="–"/>
              <a:defRPr/>
            </a:pPr>
            <a:r>
              <a:rPr lang="tr-TR" altLang="tr-TR" sz="1800"/>
              <a:t>If an algorithm is O(n</a:t>
            </a:r>
            <a:r>
              <a:rPr lang="tr-TR" altLang="tr-TR" sz="1800" baseline="30000"/>
              <a:t>3</a:t>
            </a:r>
            <a:r>
              <a:rPr lang="tr-TR" altLang="tr-TR" sz="1800"/>
              <a:t>) + O(4n), it is also O(n</a:t>
            </a:r>
            <a:r>
              <a:rPr lang="tr-TR" altLang="tr-TR" sz="1800" baseline="30000"/>
              <a:t>3 </a:t>
            </a:r>
            <a:r>
              <a:rPr lang="tr-TR" altLang="tr-TR" sz="1800"/>
              <a:t>+4n</a:t>
            </a:r>
            <a:r>
              <a:rPr lang="tr-TR" altLang="tr-TR" sz="1800" baseline="30000"/>
              <a:t>2</a:t>
            </a:r>
            <a:r>
              <a:rPr lang="tr-TR" altLang="tr-TR" sz="1800"/>
              <a:t>) </a:t>
            </a:r>
            <a:r>
              <a:rPr lang="tr-TR" altLang="tr-TR" sz="1800">
                <a:latin typeface="Wingdings" pitchFamily="2" charset="2"/>
              </a:rPr>
              <a:t></a:t>
            </a:r>
            <a:r>
              <a:rPr lang="tr-TR" altLang="tr-TR" sz="1800"/>
              <a:t> So, it is O(n</a:t>
            </a:r>
            <a:r>
              <a:rPr lang="tr-TR" altLang="tr-TR" sz="1800" baseline="30000"/>
              <a:t>3</a:t>
            </a:r>
            <a:r>
              <a:rPr lang="tr-TR" altLang="tr-TR" sz="1800"/>
              <a:t>).</a:t>
            </a:r>
          </a:p>
          <a:p>
            <a:pPr lvl="1" eaLnBrk="1" hangingPunct="1">
              <a:buFont typeface="Times New Roman" panose="02020603050405020304" pitchFamily="18" charset="0"/>
              <a:buChar char="–"/>
              <a:defRPr/>
            </a:pPr>
            <a:r>
              <a:rPr lang="tr-TR" altLang="tr-TR" sz="1800"/>
              <a:t>Similar rules hold for multiplication.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1">
            <a:extLst>
              <a:ext uri="{FF2B5EF4-FFF2-40B4-BE49-F238E27FC236}">
                <a16:creationId xmlns:a16="http://schemas.microsoft.com/office/drawing/2014/main" id="{60827E8B-933C-8E49-9401-F159FA510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53251" name="Text Box 2">
            <a:extLst>
              <a:ext uri="{FF2B5EF4-FFF2-40B4-BE49-F238E27FC236}">
                <a16:creationId xmlns:a16="http://schemas.microsoft.com/office/drawing/2014/main" id="{38035980-0A71-D843-92C6-8066719CB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76462981-2611-6F45-BB7D-9E1F7E0322D4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tr-TR" altLang="tr-TR" sz="800"/>
          </a:p>
        </p:txBody>
      </p:sp>
      <p:sp>
        <p:nvSpPr>
          <p:cNvPr id="53252" name="Text Box 3">
            <a:extLst>
              <a:ext uri="{FF2B5EF4-FFF2-40B4-BE49-F238E27FC236}">
                <a16:creationId xmlns:a16="http://schemas.microsoft.com/office/drawing/2014/main" id="{87DD5951-D08B-FE4A-93A4-2627DF94F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Growth-Rate Functions – Example1</a:t>
            </a:r>
          </a:p>
        </p:txBody>
      </p:sp>
      <p:sp>
        <p:nvSpPr>
          <p:cNvPr id="53253" name="Text Box 4">
            <a:extLst>
              <a:ext uri="{FF2B5EF4-FFF2-40B4-BE49-F238E27FC236}">
                <a16:creationId xmlns:a16="http://schemas.microsoft.com/office/drawing/2014/main" id="{3E139EAB-C59C-8346-9928-DE1F81A93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219200"/>
            <a:ext cx="8580438" cy="561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42900" indent="-333375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FontTx/>
              <a:buNone/>
              <a:defRPr/>
            </a:pPr>
            <a:r>
              <a:rPr lang="tr-TR" altLang="tr-TR"/>
              <a:t>							</a:t>
            </a:r>
            <a:r>
              <a:rPr lang="tr-TR" altLang="tr-TR" b="1" u="sng"/>
              <a:t>Cost</a:t>
            </a:r>
            <a:r>
              <a:rPr lang="tr-TR" altLang="tr-TR" b="1"/>
              <a:t>		</a:t>
            </a:r>
            <a:r>
              <a:rPr lang="tr-TR" altLang="tr-TR" b="1" u="sng"/>
              <a:t>Times</a:t>
            </a:r>
          </a:p>
          <a:p>
            <a:pPr eaLnBrk="1" hangingPunct="1">
              <a:lnSpc>
                <a:spcPct val="90000"/>
              </a:lnSpc>
              <a:buClrTx/>
              <a:buFontTx/>
              <a:buNone/>
              <a:defRPr/>
            </a:pPr>
            <a:r>
              <a:rPr lang="tr-TR" altLang="tr-TR"/>
              <a:t>	</a:t>
            </a:r>
            <a:r>
              <a:rPr lang="tr-TR" altLang="tr-TR">
                <a:latin typeface="Courier New" panose="02070309020205020404" pitchFamily="49" charset="0"/>
              </a:rPr>
              <a:t>i = 1;					 </a:t>
            </a:r>
            <a:r>
              <a:rPr lang="tr-TR" altLang="tr-TR"/>
              <a:t>c1		   1</a:t>
            </a:r>
          </a:p>
          <a:p>
            <a:pPr eaLnBrk="1" hangingPunct="1">
              <a:lnSpc>
                <a:spcPct val="90000"/>
              </a:lnSpc>
              <a:buClrTx/>
              <a:buFontTx/>
              <a:buNone/>
              <a:defRPr/>
            </a:pPr>
            <a:r>
              <a:rPr lang="tr-TR" altLang="tr-TR">
                <a:latin typeface="Courier New" panose="02070309020205020404" pitchFamily="49" charset="0"/>
              </a:rPr>
              <a:t>	sum = 0;					 </a:t>
            </a:r>
            <a:r>
              <a:rPr lang="tr-TR" altLang="tr-TR"/>
              <a:t>c2		   1</a:t>
            </a:r>
          </a:p>
          <a:p>
            <a:pPr eaLnBrk="1" hangingPunct="1">
              <a:lnSpc>
                <a:spcPct val="90000"/>
              </a:lnSpc>
              <a:buClrTx/>
              <a:buFontTx/>
              <a:buNone/>
              <a:defRPr/>
            </a:pPr>
            <a:r>
              <a:rPr lang="tr-TR" altLang="tr-TR">
                <a:latin typeface="Courier New" panose="02070309020205020404" pitchFamily="49" charset="0"/>
              </a:rPr>
              <a:t>	while (i &lt;= n) {			 </a:t>
            </a:r>
            <a:r>
              <a:rPr lang="tr-TR" altLang="tr-TR"/>
              <a:t>c3		   n+1</a:t>
            </a:r>
          </a:p>
          <a:p>
            <a:pPr eaLnBrk="1" hangingPunct="1">
              <a:lnSpc>
                <a:spcPct val="90000"/>
              </a:lnSpc>
              <a:buClrTx/>
              <a:buFontTx/>
              <a:buNone/>
              <a:defRPr/>
            </a:pPr>
            <a:r>
              <a:rPr lang="tr-TR" altLang="tr-TR">
                <a:latin typeface="Courier New" panose="02070309020205020404" pitchFamily="49" charset="0"/>
              </a:rPr>
              <a:t>		i = i + 1;			 </a:t>
            </a:r>
            <a:r>
              <a:rPr lang="tr-TR" altLang="tr-TR"/>
              <a:t>c4		   n</a:t>
            </a:r>
            <a:r>
              <a:rPr lang="tr-TR" altLang="tr-TR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lnSpc>
                <a:spcPct val="90000"/>
              </a:lnSpc>
              <a:buClrTx/>
              <a:buFontTx/>
              <a:buNone/>
              <a:defRPr/>
            </a:pPr>
            <a:r>
              <a:rPr lang="tr-TR" altLang="tr-TR">
                <a:latin typeface="Courier New" panose="02070309020205020404" pitchFamily="49" charset="0"/>
              </a:rPr>
              <a:t>		sum = sum + i;			 </a:t>
            </a:r>
            <a:r>
              <a:rPr lang="tr-TR" altLang="tr-TR"/>
              <a:t>c5		   n</a:t>
            </a:r>
          </a:p>
          <a:p>
            <a:pPr eaLnBrk="1" hangingPunct="1">
              <a:lnSpc>
                <a:spcPct val="90000"/>
              </a:lnSpc>
              <a:buClrTx/>
              <a:buFontTx/>
              <a:buNone/>
              <a:defRPr/>
            </a:pPr>
            <a:r>
              <a:rPr lang="tr-TR" altLang="tr-TR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lnSpc>
                <a:spcPct val="90000"/>
              </a:lnSpc>
              <a:buClrTx/>
              <a:buFontTx/>
              <a:buNone/>
              <a:defRPr/>
            </a:pPr>
            <a:endParaRPr lang="tr-TR" altLang="tr-TR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ClrTx/>
              <a:buFontTx/>
              <a:buNone/>
              <a:defRPr/>
            </a:pPr>
            <a:r>
              <a:rPr lang="tr-TR" altLang="tr-TR"/>
              <a:t>T(n)  	=  c1 + c2 + (n+1)*c3 + n*c4 + n*c5 </a:t>
            </a:r>
          </a:p>
          <a:p>
            <a:pPr eaLnBrk="1" hangingPunct="1">
              <a:lnSpc>
                <a:spcPct val="90000"/>
              </a:lnSpc>
              <a:buClrTx/>
              <a:buFontTx/>
              <a:buNone/>
              <a:defRPr/>
            </a:pPr>
            <a:r>
              <a:rPr lang="tr-TR" altLang="tr-TR"/>
              <a:t>		= (c3+c4+c5)*n + (c1+c2+c3)</a:t>
            </a:r>
          </a:p>
          <a:p>
            <a:pPr eaLnBrk="1" hangingPunct="1">
              <a:lnSpc>
                <a:spcPct val="90000"/>
              </a:lnSpc>
              <a:buClrTx/>
              <a:buFontTx/>
              <a:buNone/>
              <a:defRPr/>
            </a:pPr>
            <a:r>
              <a:rPr lang="tr-TR" altLang="tr-TR"/>
              <a:t>		= a*n + b</a:t>
            </a:r>
          </a:p>
          <a:p>
            <a:pPr eaLnBrk="1" hangingPunct="1">
              <a:lnSpc>
                <a:spcPct val="90000"/>
              </a:lnSpc>
              <a:buClrTx/>
              <a:buFontTx/>
              <a:buNone/>
              <a:defRPr/>
            </a:pPr>
            <a:r>
              <a:rPr lang="tr-TR" altLang="tr-TR"/>
              <a:t>	</a:t>
            </a:r>
            <a:r>
              <a:rPr lang="tr-TR" altLang="tr-TR">
                <a:latin typeface="Wingdings" pitchFamily="2" charset="2"/>
              </a:rPr>
              <a:t></a:t>
            </a:r>
            <a:r>
              <a:rPr lang="tr-TR" altLang="tr-TR"/>
              <a:t> So, the growth-rate function for this algorithm is  </a:t>
            </a:r>
            <a:r>
              <a:rPr lang="tr-TR" altLang="tr-TR" b="1"/>
              <a:t>O(n)</a:t>
            </a:r>
          </a:p>
          <a:p>
            <a:pPr eaLnBrk="1" hangingPunct="1">
              <a:lnSpc>
                <a:spcPct val="90000"/>
              </a:lnSpc>
              <a:buClrTx/>
              <a:buFontTx/>
              <a:buNone/>
              <a:defRPr/>
            </a:pPr>
            <a:endParaRPr lang="tr-TR" altLang="tr-TR" b="1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1">
            <a:extLst>
              <a:ext uri="{FF2B5EF4-FFF2-40B4-BE49-F238E27FC236}">
                <a16:creationId xmlns:a16="http://schemas.microsoft.com/office/drawing/2014/main" id="{A290551C-5B27-5148-8F9F-7159B81FF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55299" name="Text Box 2">
            <a:extLst>
              <a:ext uri="{FF2B5EF4-FFF2-40B4-BE49-F238E27FC236}">
                <a16:creationId xmlns:a16="http://schemas.microsoft.com/office/drawing/2014/main" id="{18B50B25-503B-CA40-AD3C-CC2D54ACA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DAEA3B2-3539-7548-A72A-2ABAAE963F5B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tr-TR" altLang="tr-TR" sz="800"/>
          </a:p>
        </p:txBody>
      </p:sp>
      <p:sp>
        <p:nvSpPr>
          <p:cNvPr id="55300" name="Text Box 3">
            <a:extLst>
              <a:ext uri="{FF2B5EF4-FFF2-40B4-BE49-F238E27FC236}">
                <a16:creationId xmlns:a16="http://schemas.microsoft.com/office/drawing/2014/main" id="{23B85515-96B4-EA44-9A42-A19E71DB2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Growth-Rate Functions – Example3</a:t>
            </a:r>
          </a:p>
        </p:txBody>
      </p:sp>
      <p:sp>
        <p:nvSpPr>
          <p:cNvPr id="55301" name="Text Box 4">
            <a:extLst>
              <a:ext uri="{FF2B5EF4-FFF2-40B4-BE49-F238E27FC236}">
                <a16:creationId xmlns:a16="http://schemas.microsoft.com/office/drawing/2014/main" id="{349D72A5-BA20-3040-825A-68875CB64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3" y="1104900"/>
            <a:ext cx="8582025" cy="520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42900" indent="-333375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FontTx/>
              <a:buNone/>
              <a:defRPr/>
            </a:pPr>
            <a:r>
              <a:rPr lang="tr-TR" altLang="tr-TR"/>
              <a:t>						</a:t>
            </a:r>
            <a:r>
              <a:rPr lang="tr-TR" altLang="tr-TR" b="1"/>
              <a:t>		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/>
              <a:t>			</a:t>
            </a:r>
            <a:r>
              <a:rPr lang="tr-TR" altLang="tr-TR" sz="2000">
                <a:latin typeface="Courier New" panose="02070309020205020404" pitchFamily="49" charset="0"/>
              </a:rPr>
              <a:t>for (i=1; i&lt;=n; i++)		 		 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endParaRPr lang="tr-TR" altLang="tr-TR" sz="200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>
                <a:latin typeface="Courier New" panose="02070309020205020404" pitchFamily="49" charset="0"/>
              </a:rPr>
              <a:t>	  			for (j=1; j&lt;=i; j++)	 		  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endParaRPr lang="tr-TR" altLang="tr-TR" sz="200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>
                <a:latin typeface="Courier New" panose="02070309020205020404" pitchFamily="49" charset="0"/>
              </a:rPr>
              <a:t>	    			for (k=1; k&lt;=j; k++) 		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endParaRPr lang="tr-TR" altLang="tr-TR" sz="200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>
                <a:latin typeface="Courier New" panose="02070309020205020404" pitchFamily="49" charset="0"/>
              </a:rPr>
              <a:t>		  				x=x+1;			 		  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endParaRPr lang="tr-TR" altLang="tr-TR" sz="200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endParaRPr lang="tr-TR" altLang="tr-TR" sz="2000"/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T(n) 	=              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endParaRPr lang="tr-TR" altLang="tr-TR" sz="2000"/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endParaRPr lang="tr-TR" altLang="tr-TR" sz="2000"/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	</a:t>
            </a:r>
            <a:r>
              <a:rPr lang="tr-TR" altLang="tr-TR" sz="2000">
                <a:latin typeface="Wingdings" pitchFamily="2" charset="2"/>
              </a:rPr>
              <a:t></a:t>
            </a:r>
            <a:r>
              <a:rPr lang="tr-TR" altLang="tr-TR" sz="2000"/>
              <a:t> So, the growth-rate function for this algorithm is  </a:t>
            </a:r>
            <a:r>
              <a:rPr lang="tr-TR" altLang="tr-TR" sz="2000" b="1"/>
              <a:t>O(n</a:t>
            </a:r>
            <a:r>
              <a:rPr lang="tr-TR" altLang="tr-TR" sz="2000" b="1" baseline="30000"/>
              <a:t>3</a:t>
            </a:r>
            <a:r>
              <a:rPr lang="tr-TR" altLang="tr-TR" sz="2000" b="1"/>
              <a:t>)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endParaRPr lang="tr-TR" altLang="tr-TR" sz="2000" b="1"/>
          </a:p>
        </p:txBody>
      </p:sp>
      <p:graphicFrame>
        <p:nvGraphicFramePr>
          <p:cNvPr id="87046" name="Object 5">
            <a:extLst>
              <a:ext uri="{FF2B5EF4-FFF2-40B4-BE49-F238E27FC236}">
                <a16:creationId xmlns:a16="http://schemas.microsoft.com/office/drawing/2014/main" id="{34842FE4-0B02-AFF1-6C9F-D7ECF0A5D8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0213" y="4664075"/>
          <a:ext cx="1227137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90600" imgH="508000" progId="">
                  <p:embed/>
                </p:oleObj>
              </mc:Choice>
              <mc:Fallback>
                <p:oleObj r:id="rId3" imgW="990600" imgH="50800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0213" y="4664075"/>
                        <a:ext cx="1227137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1">
            <a:extLst>
              <a:ext uri="{FF2B5EF4-FFF2-40B4-BE49-F238E27FC236}">
                <a16:creationId xmlns:a16="http://schemas.microsoft.com/office/drawing/2014/main" id="{993CE773-0D1B-4840-881D-718B222B5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57347" name="Text Box 2">
            <a:extLst>
              <a:ext uri="{FF2B5EF4-FFF2-40B4-BE49-F238E27FC236}">
                <a16:creationId xmlns:a16="http://schemas.microsoft.com/office/drawing/2014/main" id="{099C2F1F-CAD6-8C45-836C-EA3DA117D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12F444D-47E2-9140-8115-8AF5E4F882C6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tr-TR" altLang="tr-TR" sz="800"/>
          </a:p>
        </p:txBody>
      </p:sp>
      <p:sp>
        <p:nvSpPr>
          <p:cNvPr id="57348" name="Text Box 3">
            <a:extLst>
              <a:ext uri="{FF2B5EF4-FFF2-40B4-BE49-F238E27FC236}">
                <a16:creationId xmlns:a16="http://schemas.microsoft.com/office/drawing/2014/main" id="{58189797-D8C0-504C-BF43-CB908B8C0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Growth-Rate Functions – Example2</a:t>
            </a:r>
          </a:p>
        </p:txBody>
      </p:sp>
      <p:sp>
        <p:nvSpPr>
          <p:cNvPr id="57349" name="Text Box 4">
            <a:extLst>
              <a:ext uri="{FF2B5EF4-FFF2-40B4-BE49-F238E27FC236}">
                <a16:creationId xmlns:a16="http://schemas.microsoft.com/office/drawing/2014/main" id="{43CFE04B-F54D-2648-854C-1989DCBE1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219200"/>
            <a:ext cx="8580438" cy="543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42900" indent="-333375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						</a:t>
            </a:r>
            <a:r>
              <a:rPr lang="tr-TR" altLang="tr-TR" sz="2000" b="1" u="sng"/>
              <a:t>Cost</a:t>
            </a:r>
            <a:r>
              <a:rPr lang="tr-TR" altLang="tr-TR" sz="2000" b="1"/>
              <a:t>		</a:t>
            </a:r>
            <a:r>
              <a:rPr lang="tr-TR" altLang="tr-TR" sz="2000" b="1" u="sng"/>
              <a:t>Times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	</a:t>
            </a:r>
            <a:r>
              <a:rPr lang="tr-TR" altLang="tr-TR" sz="2000">
                <a:latin typeface="Courier New" panose="02070309020205020404" pitchFamily="49" charset="0"/>
              </a:rPr>
              <a:t>i=1;				 c1		  1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>
                <a:latin typeface="Courier New" panose="02070309020205020404" pitchFamily="49" charset="0"/>
              </a:rPr>
              <a:t>	sum = 0;		 		 c2		  1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>
                <a:latin typeface="Courier New" panose="02070309020205020404" pitchFamily="49" charset="0"/>
              </a:rPr>
              <a:t>	while (i &lt;= n) { 		 c3		  n+1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>
                <a:latin typeface="Courier New" panose="02070309020205020404" pitchFamily="49" charset="0"/>
              </a:rPr>
              <a:t>		j=1;				 c4		  n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>
                <a:latin typeface="Courier New" panose="02070309020205020404" pitchFamily="49" charset="0"/>
              </a:rPr>
              <a:t>		while (j &lt;= n) {		 c5	 	 n*(n+1)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>
                <a:latin typeface="Courier New" panose="02070309020205020404" pitchFamily="49" charset="0"/>
              </a:rPr>
              <a:t>		    sum = sum + i;	 c6		  n*n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>
                <a:latin typeface="Courier New" panose="02070309020205020404" pitchFamily="49" charset="0"/>
              </a:rPr>
              <a:t>		    j = j + 1; 		 c7		  n*n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>
                <a:latin typeface="Courier New" panose="02070309020205020404" pitchFamily="49" charset="0"/>
              </a:rPr>
              <a:t>	   }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>
                <a:latin typeface="Courier New" panose="02070309020205020404" pitchFamily="49" charset="0"/>
              </a:rPr>
              <a:t>	   i = i +1;			 c8		  n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T(n) 	=  c1 + c2 + (n+1)*c3 + n*c4 + n*(n+1)*c5+n*n*c6+n*n*c7+n*c8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		= (c5+c6+c7)*n</a:t>
            </a:r>
            <a:r>
              <a:rPr lang="tr-TR" altLang="tr-TR" sz="2000" baseline="30000"/>
              <a:t>2</a:t>
            </a:r>
            <a:r>
              <a:rPr lang="tr-TR" altLang="tr-TR" sz="2000"/>
              <a:t> + (c3+c4+c5+c8)*n + (c1+c2+c3)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		= a*n</a:t>
            </a:r>
            <a:r>
              <a:rPr lang="tr-TR" altLang="tr-TR" sz="2000" baseline="30000"/>
              <a:t>2</a:t>
            </a:r>
            <a:r>
              <a:rPr lang="tr-TR" altLang="tr-TR" sz="2000"/>
              <a:t> + b*n + c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	</a:t>
            </a:r>
            <a:r>
              <a:rPr lang="tr-TR" altLang="tr-TR" sz="2000">
                <a:latin typeface="Wingdings" pitchFamily="2" charset="2"/>
              </a:rPr>
              <a:t></a:t>
            </a:r>
            <a:r>
              <a:rPr lang="tr-TR" altLang="tr-TR" sz="2000"/>
              <a:t> So, the growth-rate function for this algorithm is  </a:t>
            </a:r>
            <a:r>
              <a:rPr lang="tr-TR" altLang="tr-TR" sz="2000" b="1"/>
              <a:t>O(n</a:t>
            </a:r>
            <a:r>
              <a:rPr lang="tr-TR" altLang="tr-TR" sz="2000" b="1" baseline="30000"/>
              <a:t>2</a:t>
            </a:r>
            <a:r>
              <a:rPr lang="tr-TR" altLang="tr-TR" sz="2000" b="1"/>
              <a:t>)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endParaRPr lang="tr-TR" altLang="tr-TR" sz="2000" b="1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12">
            <a:extLst>
              <a:ext uri="{FF2B5EF4-FFF2-40B4-BE49-F238E27FC236}">
                <a16:creationId xmlns:a16="http://schemas.microsoft.com/office/drawing/2014/main" id="{4817D1F5-9CBE-2B8F-6CE5-81A20DCFB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488" y="1749425"/>
            <a:ext cx="7226300" cy="412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4" name="Text Box 1">
            <a:extLst>
              <a:ext uri="{FF2B5EF4-FFF2-40B4-BE49-F238E27FC236}">
                <a16:creationId xmlns:a16="http://schemas.microsoft.com/office/drawing/2014/main" id="{4C18A017-05CD-5446-AF15-A09F01802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59395" name="Text Box 2">
            <a:extLst>
              <a:ext uri="{FF2B5EF4-FFF2-40B4-BE49-F238E27FC236}">
                <a16:creationId xmlns:a16="http://schemas.microsoft.com/office/drawing/2014/main" id="{806CA012-3BC8-354A-BE65-9BA31763C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57C087EB-852E-BA4F-9254-F21C0FB256CB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tr-TR" altLang="tr-TR" sz="800"/>
          </a:p>
        </p:txBody>
      </p:sp>
      <p:sp>
        <p:nvSpPr>
          <p:cNvPr id="59396" name="Text Box 3">
            <a:extLst>
              <a:ext uri="{FF2B5EF4-FFF2-40B4-BE49-F238E27FC236}">
                <a16:creationId xmlns:a16="http://schemas.microsoft.com/office/drawing/2014/main" id="{D4A3DE9A-F9F7-7C4F-82A1-52B7DBE70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 dirty="0" err="1">
                <a:solidFill>
                  <a:srgbClr val="000000"/>
                </a:solidFill>
              </a:rPr>
              <a:t>Growth</a:t>
            </a:r>
            <a:r>
              <a:rPr lang="tr-TR" altLang="tr-TR" sz="3200" b="1" dirty="0">
                <a:solidFill>
                  <a:srgbClr val="000000"/>
                </a:solidFill>
              </a:rPr>
              <a:t>-Rate </a:t>
            </a:r>
            <a:r>
              <a:rPr lang="tr-TR" altLang="tr-TR" sz="3200" b="1" dirty="0" err="1">
                <a:solidFill>
                  <a:srgbClr val="000000"/>
                </a:solidFill>
              </a:rPr>
              <a:t>Functions</a:t>
            </a:r>
            <a:r>
              <a:rPr lang="tr-TR" altLang="tr-TR" sz="3200" b="1" dirty="0">
                <a:solidFill>
                  <a:srgbClr val="000000"/>
                </a:solidFill>
              </a:rPr>
              <a:t> – Example3</a:t>
            </a:r>
          </a:p>
        </p:txBody>
      </p:sp>
      <p:sp>
        <p:nvSpPr>
          <p:cNvPr id="59397" name="Text Box 4">
            <a:extLst>
              <a:ext uri="{FF2B5EF4-FFF2-40B4-BE49-F238E27FC236}">
                <a16:creationId xmlns:a16="http://schemas.microsoft.com/office/drawing/2014/main" id="{E6F33A8D-8185-3340-97AA-17C475B44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19200"/>
            <a:ext cx="8932863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42900" indent="-333375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Char char="•"/>
              <a:defRPr/>
            </a:pPr>
            <a:r>
              <a:rPr lang="tr-TR" altLang="tr-TR" dirty="0"/>
              <a:t>F</a:t>
            </a:r>
            <a:r>
              <a:rPr lang="tr-TR" altLang="tr-TR"/>
              <a:t>ill</a:t>
            </a:r>
            <a:r>
              <a:rPr lang="tr-TR" altLang="tr-TR" dirty="0"/>
              <a:t> in </a:t>
            </a:r>
            <a:r>
              <a:rPr lang="tr-TR" altLang="tr-TR" dirty="0" err="1"/>
              <a:t>the</a:t>
            </a:r>
            <a:r>
              <a:rPr lang="tr-TR" altLang="tr-TR" dirty="0"/>
              <a:t> </a:t>
            </a:r>
            <a:r>
              <a:rPr lang="tr-TR" altLang="tr-TR" dirty="0" err="1"/>
              <a:t>boxes</a:t>
            </a:r>
            <a:r>
              <a:rPr lang="tr-TR" altLang="tr-TR" dirty="0"/>
              <a:t> </a:t>
            </a:r>
            <a:r>
              <a:rPr lang="tr-TR" altLang="tr-TR" dirty="0" err="1"/>
              <a:t>below</a:t>
            </a:r>
            <a:endParaRPr lang="tr-TR" altLang="tr-TR" dirty="0"/>
          </a:p>
          <a:p>
            <a:pPr eaLnBrk="1" hangingPunct="1">
              <a:buFont typeface="Times New Roman" panose="02020603050405020304" pitchFamily="18" charset="0"/>
              <a:buChar char="•"/>
              <a:defRPr/>
            </a:pPr>
            <a:endParaRPr lang="tr-TR" altLang="tr-TR" dirty="0"/>
          </a:p>
          <a:p>
            <a:pPr eaLnBrk="1" hangingPunct="1">
              <a:buFont typeface="Times New Roman" panose="02020603050405020304" pitchFamily="18" charset="0"/>
              <a:buChar char="•"/>
              <a:defRPr/>
            </a:pPr>
            <a:endParaRPr lang="tr-TR" altLang="tr-TR" dirty="0"/>
          </a:p>
          <a:p>
            <a:pPr eaLnBrk="1" hangingPunct="1">
              <a:buFont typeface="Times New Roman" panose="02020603050405020304" pitchFamily="18" charset="0"/>
              <a:buChar char="•"/>
              <a:defRPr/>
            </a:pPr>
            <a:endParaRPr lang="tr-TR" altLang="tr-TR" dirty="0"/>
          </a:p>
          <a:p>
            <a:pPr eaLnBrk="1" hangingPunct="1">
              <a:buFont typeface="Times New Roman" panose="02020603050405020304" pitchFamily="18" charset="0"/>
              <a:buChar char="•"/>
              <a:defRPr/>
            </a:pPr>
            <a:endParaRPr lang="tr-TR" altLang="tr-TR" dirty="0"/>
          </a:p>
          <a:p>
            <a:pPr eaLnBrk="1" hangingPunct="1">
              <a:buFont typeface="Times New Roman" panose="02020603050405020304" pitchFamily="18" charset="0"/>
              <a:buChar char="•"/>
              <a:defRPr/>
            </a:pPr>
            <a:endParaRPr lang="tr-TR" altLang="tr-TR" dirty="0"/>
          </a:p>
          <a:p>
            <a:pPr eaLnBrk="1" hangingPunct="1">
              <a:buFont typeface="Times New Roman" panose="02020603050405020304" pitchFamily="18" charset="0"/>
              <a:buChar char="•"/>
              <a:defRPr/>
            </a:pPr>
            <a:endParaRPr lang="tr-TR" altLang="tr-TR" dirty="0"/>
          </a:p>
          <a:p>
            <a:pPr eaLnBrk="1" hangingPunct="1">
              <a:buFont typeface="Times New Roman" panose="02020603050405020304" pitchFamily="18" charset="0"/>
              <a:buChar char="•"/>
              <a:defRPr/>
            </a:pPr>
            <a:endParaRPr lang="tr-TR" altLang="tr-T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96DDDF-5EA0-0F40-525C-7DD70A408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2565400"/>
            <a:ext cx="792163" cy="355600"/>
          </a:xfrm>
          <a:prstGeom prst="rect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BW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C19B3C-CDE0-51CD-1404-DD326207F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7838" y="3095625"/>
            <a:ext cx="792162" cy="355600"/>
          </a:xfrm>
          <a:prstGeom prst="rect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BW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BDD9DC-BE21-EF6A-11A1-47DD744B7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013" y="3721100"/>
            <a:ext cx="792162" cy="355600"/>
          </a:xfrm>
          <a:prstGeom prst="rect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BW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06A810-E000-0715-5DE7-495ACD943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538" y="4267200"/>
            <a:ext cx="792162" cy="355600"/>
          </a:xfrm>
          <a:prstGeom prst="rect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BW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A27F8D-B427-06B5-65D9-2E8F259CD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538" y="4811713"/>
            <a:ext cx="792162" cy="355600"/>
          </a:xfrm>
          <a:prstGeom prst="rect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BW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68EFD0-513F-E896-F84F-F27096413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25" y="5357813"/>
            <a:ext cx="792163" cy="355600"/>
          </a:xfrm>
          <a:prstGeom prst="rect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BW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1">
            <a:extLst>
              <a:ext uri="{FF2B5EF4-FFF2-40B4-BE49-F238E27FC236}">
                <a16:creationId xmlns:a16="http://schemas.microsoft.com/office/drawing/2014/main" id="{4C18A017-05CD-5446-AF15-A09F01802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59395" name="Text Box 2">
            <a:extLst>
              <a:ext uri="{FF2B5EF4-FFF2-40B4-BE49-F238E27FC236}">
                <a16:creationId xmlns:a16="http://schemas.microsoft.com/office/drawing/2014/main" id="{806CA012-3BC8-354A-BE65-9BA31763C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1263D30C-82DB-4E40-A313-0794AD4A3517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46</a:t>
            </a:fld>
            <a:endParaRPr lang="tr-TR" altLang="tr-TR" sz="800"/>
          </a:p>
        </p:txBody>
      </p:sp>
      <p:sp>
        <p:nvSpPr>
          <p:cNvPr id="59396" name="Text Box 3">
            <a:extLst>
              <a:ext uri="{FF2B5EF4-FFF2-40B4-BE49-F238E27FC236}">
                <a16:creationId xmlns:a16="http://schemas.microsoft.com/office/drawing/2014/main" id="{D4A3DE9A-F9F7-7C4F-82A1-52B7DBE70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 dirty="0" err="1">
                <a:solidFill>
                  <a:srgbClr val="000000"/>
                </a:solidFill>
              </a:rPr>
              <a:t>Growth</a:t>
            </a:r>
            <a:r>
              <a:rPr lang="tr-TR" altLang="tr-TR" sz="3200" b="1" dirty="0">
                <a:solidFill>
                  <a:srgbClr val="000000"/>
                </a:solidFill>
              </a:rPr>
              <a:t>-Rate </a:t>
            </a:r>
            <a:r>
              <a:rPr lang="tr-TR" altLang="tr-TR" sz="3200" b="1" dirty="0" err="1">
                <a:solidFill>
                  <a:srgbClr val="000000"/>
                </a:solidFill>
              </a:rPr>
              <a:t>Functions</a:t>
            </a:r>
            <a:r>
              <a:rPr lang="tr-TR" altLang="tr-TR" sz="3200" b="1" dirty="0">
                <a:solidFill>
                  <a:srgbClr val="000000"/>
                </a:solidFill>
              </a:rPr>
              <a:t> – Examples4-5</a:t>
            </a:r>
          </a:p>
        </p:txBody>
      </p:sp>
      <p:sp>
        <p:nvSpPr>
          <p:cNvPr id="59397" name="Text Box 4">
            <a:extLst>
              <a:ext uri="{FF2B5EF4-FFF2-40B4-BE49-F238E27FC236}">
                <a16:creationId xmlns:a16="http://schemas.microsoft.com/office/drawing/2014/main" id="{E6F33A8D-8185-3340-97AA-17C475B44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19200"/>
            <a:ext cx="8932863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42900" indent="-333375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Char char="•"/>
              <a:defRPr/>
            </a:pPr>
            <a:r>
              <a:rPr lang="tr-TR" altLang="tr-TR" dirty="0" err="1"/>
              <a:t>For</a:t>
            </a:r>
            <a:r>
              <a:rPr lang="tr-TR" altLang="tr-TR" dirty="0"/>
              <a:t> </a:t>
            </a:r>
            <a:r>
              <a:rPr lang="tr-TR" altLang="tr-TR" dirty="0" err="1"/>
              <a:t>nxn</a:t>
            </a:r>
            <a:r>
              <a:rPr lang="tr-TR" altLang="tr-TR" dirty="0"/>
              <a:t> </a:t>
            </a:r>
            <a:r>
              <a:rPr lang="tr-TR" altLang="tr-TR" dirty="0" err="1"/>
              <a:t>matrices</a:t>
            </a:r>
            <a:r>
              <a:rPr lang="tr-TR" altLang="tr-TR" dirty="0"/>
              <a:t>, time </a:t>
            </a:r>
            <a:r>
              <a:rPr lang="tr-TR" altLang="tr-TR" dirty="0" err="1"/>
              <a:t>complexity</a:t>
            </a:r>
            <a:r>
              <a:rPr lang="tr-TR" altLang="tr-TR" dirty="0"/>
              <a:t> is: O(n</a:t>
            </a:r>
            <a:r>
              <a:rPr lang="tr-TR" altLang="tr-TR" baseline="30000" dirty="0"/>
              <a:t>3</a:t>
            </a:r>
            <a:r>
              <a:rPr lang="tr-TR" altLang="tr-TR" dirty="0"/>
              <a:t>)</a:t>
            </a:r>
          </a:p>
          <a:p>
            <a:pPr eaLnBrk="1" hangingPunct="1">
              <a:buFont typeface="Times New Roman" panose="02020603050405020304" pitchFamily="18" charset="0"/>
              <a:buChar char="•"/>
              <a:defRPr/>
            </a:pPr>
            <a:endParaRPr lang="tr-TR" altLang="tr-TR" dirty="0"/>
          </a:p>
          <a:p>
            <a:pPr eaLnBrk="1" hangingPunct="1">
              <a:buFont typeface="Times New Roman" panose="02020603050405020304" pitchFamily="18" charset="0"/>
              <a:buChar char="•"/>
              <a:defRPr/>
            </a:pPr>
            <a:endParaRPr lang="tr-TR" altLang="tr-TR" dirty="0"/>
          </a:p>
          <a:p>
            <a:pPr eaLnBrk="1" hangingPunct="1">
              <a:buFont typeface="Times New Roman" panose="02020603050405020304" pitchFamily="18" charset="0"/>
              <a:buChar char="•"/>
              <a:defRPr/>
            </a:pPr>
            <a:endParaRPr lang="tr-TR" altLang="tr-TR" dirty="0"/>
          </a:p>
          <a:p>
            <a:pPr eaLnBrk="1" hangingPunct="1">
              <a:buFont typeface="Times New Roman" panose="02020603050405020304" pitchFamily="18" charset="0"/>
              <a:buChar char="•"/>
              <a:defRPr/>
            </a:pPr>
            <a:endParaRPr lang="tr-TR" altLang="tr-TR" dirty="0"/>
          </a:p>
          <a:p>
            <a:pPr eaLnBrk="1" hangingPunct="1">
              <a:buFont typeface="Times New Roman" panose="02020603050405020304" pitchFamily="18" charset="0"/>
              <a:buChar char="•"/>
              <a:defRPr/>
            </a:pPr>
            <a:endParaRPr lang="tr-TR" altLang="tr-TR" dirty="0"/>
          </a:p>
          <a:p>
            <a:pPr eaLnBrk="1" hangingPunct="1">
              <a:buFont typeface="Times New Roman" panose="02020603050405020304" pitchFamily="18" charset="0"/>
              <a:buChar char="•"/>
              <a:defRPr/>
            </a:pPr>
            <a:endParaRPr lang="tr-TR" altLang="tr-TR" dirty="0"/>
          </a:p>
          <a:p>
            <a:pPr eaLnBrk="1" hangingPunct="1">
              <a:buFont typeface="Times New Roman" panose="02020603050405020304" pitchFamily="18" charset="0"/>
              <a:buChar char="•"/>
              <a:defRPr/>
            </a:pPr>
            <a:endParaRPr lang="tr-TR" altLang="tr-TR" dirty="0"/>
          </a:p>
          <a:p>
            <a:pPr eaLnBrk="1" hangingPunct="1">
              <a:buFont typeface="Times New Roman" panose="02020603050405020304" pitchFamily="18" charset="0"/>
              <a:buChar char="•"/>
              <a:defRPr/>
            </a:pPr>
            <a:endParaRPr lang="tr-TR" altLang="tr-TR" dirty="0"/>
          </a:p>
          <a:p>
            <a:pPr eaLnBrk="1" hangingPunct="1">
              <a:buFont typeface="Times New Roman" panose="02020603050405020304" pitchFamily="18" charset="0"/>
              <a:buChar char="•"/>
              <a:defRPr/>
            </a:pPr>
            <a:r>
              <a:rPr lang="tr-TR" altLang="tr-TR" dirty="0"/>
              <a:t>How </a:t>
            </a:r>
            <a:r>
              <a:rPr lang="tr-TR" altLang="tr-TR" dirty="0" err="1"/>
              <a:t>about</a:t>
            </a:r>
            <a:r>
              <a:rPr lang="tr-TR" altLang="tr-TR" dirty="0"/>
              <a:t> </a:t>
            </a:r>
            <a:r>
              <a:rPr lang="tr-TR" altLang="tr-TR" dirty="0" err="1"/>
              <a:t>this</a:t>
            </a:r>
            <a:r>
              <a:rPr lang="tr-TR" altLang="tr-TR" dirty="0"/>
              <a:t> </a:t>
            </a:r>
            <a:r>
              <a:rPr lang="tr-TR" altLang="tr-TR" dirty="0" err="1"/>
              <a:t>one</a:t>
            </a:r>
            <a:r>
              <a:rPr lang="tr-TR" altLang="tr-TR" dirty="0"/>
              <a:t>? O(</a:t>
            </a:r>
            <a:r>
              <a:rPr lang="tr-TR" altLang="tr-TR" dirty="0" err="1"/>
              <a:t>logn</a:t>
            </a:r>
            <a:r>
              <a:rPr lang="tr-TR" altLang="tr-TR" dirty="0"/>
              <a:t>)</a:t>
            </a:r>
          </a:p>
        </p:txBody>
      </p:sp>
      <p:pic>
        <p:nvPicPr>
          <p:cNvPr id="93190" name="Picture 5">
            <a:extLst>
              <a:ext uri="{FF2B5EF4-FFF2-40B4-BE49-F238E27FC236}">
                <a16:creationId xmlns:a16="http://schemas.microsoft.com/office/drawing/2014/main" id="{E0A89AE8-1928-4255-DB52-7A208C724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830388"/>
            <a:ext cx="6808787" cy="305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AA041EB-742C-FF84-50A5-ABD126A80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1322388"/>
            <a:ext cx="790575" cy="355600"/>
          </a:xfrm>
          <a:prstGeom prst="rect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BW"/>
          </a:p>
        </p:txBody>
      </p:sp>
      <p:pic>
        <p:nvPicPr>
          <p:cNvPr id="93192" name="Picture 7">
            <a:extLst>
              <a:ext uri="{FF2B5EF4-FFF2-40B4-BE49-F238E27FC236}">
                <a16:creationId xmlns:a16="http://schemas.microsoft.com/office/drawing/2014/main" id="{112B1BCB-5281-1C02-8516-7B44ECFEC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5743575"/>
            <a:ext cx="55022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5CD2233-84E1-A506-E13C-9E6993F89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5267325"/>
            <a:ext cx="1079500" cy="355600"/>
          </a:xfrm>
          <a:prstGeom prst="rect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BW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1">
            <a:extLst>
              <a:ext uri="{FF2B5EF4-FFF2-40B4-BE49-F238E27FC236}">
                <a16:creationId xmlns:a16="http://schemas.microsoft.com/office/drawing/2014/main" id="{4C18A017-05CD-5446-AF15-A09F01802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59395" name="Text Box 2">
            <a:extLst>
              <a:ext uri="{FF2B5EF4-FFF2-40B4-BE49-F238E27FC236}">
                <a16:creationId xmlns:a16="http://schemas.microsoft.com/office/drawing/2014/main" id="{806CA012-3BC8-354A-BE65-9BA31763C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2D62D8C1-8FA0-D941-ACBB-DC7DDDC058FA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tr-TR" altLang="tr-TR" sz="800"/>
          </a:p>
        </p:txBody>
      </p:sp>
      <p:sp>
        <p:nvSpPr>
          <p:cNvPr id="59396" name="Text Box 3">
            <a:extLst>
              <a:ext uri="{FF2B5EF4-FFF2-40B4-BE49-F238E27FC236}">
                <a16:creationId xmlns:a16="http://schemas.microsoft.com/office/drawing/2014/main" id="{D4A3DE9A-F9F7-7C4F-82A1-52B7DBE70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 dirty="0" err="1">
                <a:solidFill>
                  <a:srgbClr val="000000"/>
                </a:solidFill>
              </a:rPr>
              <a:t>Growth</a:t>
            </a:r>
            <a:r>
              <a:rPr lang="tr-TR" altLang="tr-TR" sz="3200" b="1" dirty="0">
                <a:solidFill>
                  <a:srgbClr val="000000"/>
                </a:solidFill>
              </a:rPr>
              <a:t>-Rate </a:t>
            </a:r>
            <a:r>
              <a:rPr lang="tr-TR" altLang="tr-TR" sz="3200" b="1" dirty="0" err="1">
                <a:solidFill>
                  <a:srgbClr val="000000"/>
                </a:solidFill>
              </a:rPr>
              <a:t>Functions</a:t>
            </a:r>
            <a:r>
              <a:rPr lang="tr-TR" altLang="tr-TR" sz="3200" b="1" dirty="0">
                <a:solidFill>
                  <a:srgbClr val="000000"/>
                </a:solidFill>
              </a:rPr>
              <a:t> – Example6</a:t>
            </a:r>
          </a:p>
        </p:txBody>
      </p:sp>
      <p:sp>
        <p:nvSpPr>
          <p:cNvPr id="59397" name="Text Box 4">
            <a:extLst>
              <a:ext uri="{FF2B5EF4-FFF2-40B4-BE49-F238E27FC236}">
                <a16:creationId xmlns:a16="http://schemas.microsoft.com/office/drawing/2014/main" id="{E6F33A8D-8185-3340-97AA-17C475B44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19200"/>
            <a:ext cx="8932863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42900" indent="-333375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Char char="•"/>
              <a:defRPr/>
            </a:pPr>
            <a:r>
              <a:rPr lang="tr-TR" altLang="tr-TR" dirty="0" err="1"/>
              <a:t>Fill</a:t>
            </a:r>
            <a:r>
              <a:rPr lang="tr-TR" altLang="tr-TR" dirty="0"/>
              <a:t> in </a:t>
            </a:r>
            <a:r>
              <a:rPr lang="tr-TR" altLang="tr-TR" dirty="0" err="1"/>
              <a:t>the</a:t>
            </a:r>
            <a:r>
              <a:rPr lang="tr-TR" altLang="tr-TR" dirty="0"/>
              <a:t> </a:t>
            </a:r>
            <a:r>
              <a:rPr lang="tr-TR" altLang="tr-TR" dirty="0" err="1"/>
              <a:t>boxes</a:t>
            </a:r>
            <a:r>
              <a:rPr lang="tr-TR" altLang="tr-TR" dirty="0"/>
              <a:t> </a:t>
            </a:r>
            <a:r>
              <a:rPr lang="tr-TR" altLang="tr-TR" dirty="0" err="1"/>
              <a:t>below</a:t>
            </a:r>
            <a:endParaRPr lang="tr-TR" altLang="tr-TR" dirty="0"/>
          </a:p>
        </p:txBody>
      </p:sp>
      <p:pic>
        <p:nvPicPr>
          <p:cNvPr id="95238" name="Picture 2">
            <a:extLst>
              <a:ext uri="{FF2B5EF4-FFF2-40B4-BE49-F238E27FC236}">
                <a16:creationId xmlns:a16="http://schemas.microsoft.com/office/drawing/2014/main" id="{0CB43D16-7C09-A255-0E4C-08F369DA5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1703388"/>
            <a:ext cx="5184775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9E03146-C241-28B8-3892-307BDA8BF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713" y="1844675"/>
            <a:ext cx="503237" cy="288925"/>
          </a:xfrm>
          <a:prstGeom prst="rect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BW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4B32A7-FA9D-FCB0-BDA6-0A98F1413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6063" y="2973388"/>
            <a:ext cx="503237" cy="287337"/>
          </a:xfrm>
          <a:prstGeom prst="rect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BW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C36A5C-EB6D-9C25-FFF4-C71E2FC7B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700" y="4078288"/>
            <a:ext cx="503238" cy="287337"/>
          </a:xfrm>
          <a:prstGeom prst="rect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BW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378F2B-7C55-9174-7E67-C5CB2EEE7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1775" y="5183188"/>
            <a:ext cx="503238" cy="287337"/>
          </a:xfrm>
          <a:prstGeom prst="rect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BW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78C2D5-DB62-4CA7-88CE-E29D000DE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6308725"/>
            <a:ext cx="503238" cy="288925"/>
          </a:xfrm>
          <a:prstGeom prst="rect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BW"/>
          </a:p>
        </p:txBody>
      </p:sp>
      <p:pic>
        <p:nvPicPr>
          <p:cNvPr id="95244" name="Picture 4">
            <a:extLst>
              <a:ext uri="{FF2B5EF4-FFF2-40B4-BE49-F238E27FC236}">
                <a16:creationId xmlns:a16="http://schemas.microsoft.com/office/drawing/2014/main" id="{F58765FD-C347-9049-212D-015A6E688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9213" y="4795838"/>
            <a:ext cx="1309687" cy="102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1">
            <a:extLst>
              <a:ext uri="{FF2B5EF4-FFF2-40B4-BE49-F238E27FC236}">
                <a16:creationId xmlns:a16="http://schemas.microsoft.com/office/drawing/2014/main" id="{4C18A017-05CD-5446-AF15-A09F01802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59395" name="Text Box 2">
            <a:extLst>
              <a:ext uri="{FF2B5EF4-FFF2-40B4-BE49-F238E27FC236}">
                <a16:creationId xmlns:a16="http://schemas.microsoft.com/office/drawing/2014/main" id="{806CA012-3BC8-354A-BE65-9BA31763C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4064660-D68C-F149-B559-130F3CEE65E7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48</a:t>
            </a:fld>
            <a:endParaRPr lang="tr-TR" altLang="tr-TR" sz="800"/>
          </a:p>
        </p:txBody>
      </p:sp>
      <p:sp>
        <p:nvSpPr>
          <p:cNvPr id="59396" name="Text Box 3">
            <a:extLst>
              <a:ext uri="{FF2B5EF4-FFF2-40B4-BE49-F238E27FC236}">
                <a16:creationId xmlns:a16="http://schemas.microsoft.com/office/drawing/2014/main" id="{D4A3DE9A-F9F7-7C4F-82A1-52B7DBE70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Growth-Rate Functions – Recursive Algorithms</a:t>
            </a:r>
          </a:p>
        </p:txBody>
      </p:sp>
      <p:sp>
        <p:nvSpPr>
          <p:cNvPr id="59397" name="Text Box 4">
            <a:extLst>
              <a:ext uri="{FF2B5EF4-FFF2-40B4-BE49-F238E27FC236}">
                <a16:creationId xmlns:a16="http://schemas.microsoft.com/office/drawing/2014/main" id="{E6F33A8D-8185-3340-97AA-17C475B44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19200"/>
            <a:ext cx="8932863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42900" indent="-333375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 dirty="0" err="1">
                <a:latin typeface="Courier New" panose="02070309020205020404" pitchFamily="49" charset="0"/>
              </a:rPr>
              <a:t>void</a:t>
            </a:r>
            <a:r>
              <a:rPr lang="tr-TR" altLang="tr-TR" sz="1800" dirty="0">
                <a:latin typeface="Courier New" panose="02070309020205020404" pitchFamily="49" charset="0"/>
              </a:rPr>
              <a:t> </a:t>
            </a:r>
            <a:r>
              <a:rPr lang="tr-TR" altLang="tr-TR" sz="1800" dirty="0" err="1">
                <a:latin typeface="Courier New" panose="02070309020205020404" pitchFamily="49" charset="0"/>
              </a:rPr>
              <a:t>hanoi</a:t>
            </a:r>
            <a:r>
              <a:rPr lang="tr-TR" altLang="tr-TR" sz="1800" dirty="0">
                <a:latin typeface="Courier New" panose="02070309020205020404" pitchFamily="49" charset="0"/>
              </a:rPr>
              <a:t>(</a:t>
            </a:r>
            <a:r>
              <a:rPr lang="tr-TR" altLang="tr-TR" sz="1800" dirty="0" err="1">
                <a:latin typeface="Courier New" panose="02070309020205020404" pitchFamily="49" charset="0"/>
              </a:rPr>
              <a:t>int</a:t>
            </a:r>
            <a:r>
              <a:rPr lang="tr-TR" altLang="tr-TR" sz="1800" dirty="0">
                <a:latin typeface="Courier New" panose="02070309020205020404" pitchFamily="49" charset="0"/>
              </a:rPr>
              <a:t> n, </a:t>
            </a:r>
            <a:r>
              <a:rPr lang="tr-TR" altLang="tr-TR" sz="1800" dirty="0" err="1">
                <a:latin typeface="Courier New" panose="02070309020205020404" pitchFamily="49" charset="0"/>
              </a:rPr>
              <a:t>char</a:t>
            </a:r>
            <a:r>
              <a:rPr lang="tr-TR" altLang="tr-TR" sz="1800" dirty="0">
                <a:latin typeface="Courier New" panose="02070309020205020404" pitchFamily="49" charset="0"/>
              </a:rPr>
              <a:t> </a:t>
            </a:r>
            <a:r>
              <a:rPr lang="tr-TR" altLang="tr-TR" sz="1800" dirty="0" err="1">
                <a:latin typeface="Courier New" panose="02070309020205020404" pitchFamily="49" charset="0"/>
              </a:rPr>
              <a:t>source</a:t>
            </a:r>
            <a:r>
              <a:rPr lang="tr-TR" altLang="tr-TR" sz="1800" dirty="0">
                <a:latin typeface="Courier New" panose="02070309020205020404" pitchFamily="49" charset="0"/>
              </a:rPr>
              <a:t>, </a:t>
            </a:r>
            <a:r>
              <a:rPr lang="tr-TR" altLang="tr-TR" sz="1800" dirty="0" err="1">
                <a:latin typeface="Courier New" panose="02070309020205020404" pitchFamily="49" charset="0"/>
              </a:rPr>
              <a:t>char</a:t>
            </a:r>
            <a:r>
              <a:rPr lang="tr-TR" altLang="tr-TR" sz="1800" dirty="0">
                <a:latin typeface="Courier New" panose="02070309020205020404" pitchFamily="49" charset="0"/>
              </a:rPr>
              <a:t> dest, </a:t>
            </a:r>
            <a:r>
              <a:rPr lang="tr-TR" altLang="tr-TR" sz="1800" dirty="0" err="1">
                <a:latin typeface="Courier New" panose="02070309020205020404" pitchFamily="49" charset="0"/>
              </a:rPr>
              <a:t>char</a:t>
            </a:r>
            <a:r>
              <a:rPr lang="tr-TR" altLang="tr-TR" sz="1800" dirty="0">
                <a:latin typeface="Courier New" panose="02070309020205020404" pitchFamily="49" charset="0"/>
              </a:rPr>
              <a:t> </a:t>
            </a:r>
            <a:r>
              <a:rPr lang="tr-TR" altLang="tr-TR" sz="1800" dirty="0" err="1">
                <a:latin typeface="Courier New" panose="02070309020205020404" pitchFamily="49" charset="0"/>
              </a:rPr>
              <a:t>spare</a:t>
            </a:r>
            <a:r>
              <a:rPr lang="tr-TR" altLang="tr-TR" sz="1800" dirty="0">
                <a:latin typeface="Courier New" panose="02070309020205020404" pitchFamily="49" charset="0"/>
              </a:rPr>
              <a:t>) { //</a:t>
            </a:r>
            <a:r>
              <a:rPr lang="tr-TR" altLang="tr-TR" sz="1800" dirty="0" err="1">
                <a:latin typeface="Courier New" panose="02070309020205020404" pitchFamily="49" charset="0"/>
              </a:rPr>
              <a:t>Cost</a:t>
            </a:r>
            <a:r>
              <a:rPr lang="tr-TR" altLang="tr-TR" sz="1800" dirty="0">
                <a:latin typeface="Courier New" panose="02070309020205020404" pitchFamily="49" charset="0"/>
              </a:rPr>
              <a:t>     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 dirty="0">
                <a:latin typeface="Courier New" panose="02070309020205020404" pitchFamily="49" charset="0"/>
              </a:rPr>
              <a:t>  </a:t>
            </a:r>
            <a:r>
              <a:rPr lang="tr-TR" altLang="tr-TR" sz="1800" dirty="0" err="1">
                <a:latin typeface="Courier New" panose="02070309020205020404" pitchFamily="49" charset="0"/>
              </a:rPr>
              <a:t>if</a:t>
            </a:r>
            <a:r>
              <a:rPr lang="tr-TR" altLang="tr-TR" sz="1800" dirty="0">
                <a:latin typeface="Courier New" panose="02070309020205020404" pitchFamily="49" charset="0"/>
              </a:rPr>
              <a:t> (n &gt; 0) { 							 						//c1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 dirty="0">
                <a:latin typeface="Courier New" panose="02070309020205020404" pitchFamily="49" charset="0"/>
              </a:rPr>
              <a:t>	 </a:t>
            </a:r>
            <a:r>
              <a:rPr lang="tr-TR" altLang="tr-TR" sz="1800" dirty="0" err="1">
                <a:latin typeface="Courier New" panose="02070309020205020404" pitchFamily="49" charset="0"/>
              </a:rPr>
              <a:t>hanoi</a:t>
            </a:r>
            <a:r>
              <a:rPr lang="tr-TR" altLang="tr-TR" sz="1800" dirty="0">
                <a:latin typeface="Courier New" panose="02070309020205020404" pitchFamily="49" charset="0"/>
              </a:rPr>
              <a:t>(n-1, </a:t>
            </a:r>
            <a:r>
              <a:rPr lang="tr-TR" altLang="tr-TR" sz="1800" dirty="0" err="1">
                <a:latin typeface="Courier New" panose="02070309020205020404" pitchFamily="49" charset="0"/>
              </a:rPr>
              <a:t>source</a:t>
            </a:r>
            <a:r>
              <a:rPr lang="tr-TR" altLang="tr-TR" sz="1800" dirty="0">
                <a:latin typeface="Courier New" panose="02070309020205020404" pitchFamily="49" charset="0"/>
              </a:rPr>
              <a:t>, </a:t>
            </a:r>
            <a:r>
              <a:rPr lang="tr-TR" altLang="tr-TR" sz="1800" dirty="0" err="1">
                <a:latin typeface="Courier New" panose="02070309020205020404" pitchFamily="49" charset="0"/>
              </a:rPr>
              <a:t>spare</a:t>
            </a:r>
            <a:r>
              <a:rPr lang="tr-TR" altLang="tr-TR" sz="1800" dirty="0">
                <a:latin typeface="Courier New" panose="02070309020205020404" pitchFamily="49" charset="0"/>
              </a:rPr>
              <a:t>, dest); 				 		//c2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 dirty="0">
                <a:latin typeface="Courier New" panose="02070309020205020404" pitchFamily="49" charset="0"/>
              </a:rPr>
              <a:t>    </a:t>
            </a:r>
            <a:r>
              <a:rPr lang="tr-TR" altLang="tr-TR" sz="1800" dirty="0" err="1">
                <a:latin typeface="Courier New" panose="02070309020205020404" pitchFamily="49" charset="0"/>
              </a:rPr>
              <a:t>cout</a:t>
            </a:r>
            <a:r>
              <a:rPr lang="tr-TR" altLang="tr-TR" sz="1800" dirty="0">
                <a:latin typeface="Courier New" panose="02070309020205020404" pitchFamily="49" charset="0"/>
              </a:rPr>
              <a:t> &lt;&lt; "</a:t>
            </a:r>
            <a:r>
              <a:rPr lang="tr-TR" altLang="tr-TR" sz="1800" dirty="0" err="1">
                <a:latin typeface="Courier New" panose="02070309020205020404" pitchFamily="49" charset="0"/>
              </a:rPr>
              <a:t>Move</a:t>
            </a:r>
            <a:r>
              <a:rPr lang="tr-TR" altLang="tr-TR" sz="1800" dirty="0">
                <a:latin typeface="Courier New" panose="02070309020205020404" pitchFamily="49" charset="0"/>
              </a:rPr>
              <a:t> top disk </a:t>
            </a:r>
            <a:r>
              <a:rPr lang="tr-TR" altLang="tr-TR" sz="1800" dirty="0" err="1">
                <a:latin typeface="Courier New" panose="02070309020205020404" pitchFamily="49" charset="0"/>
              </a:rPr>
              <a:t>from</a:t>
            </a:r>
            <a:r>
              <a:rPr lang="tr-TR" altLang="tr-TR" sz="1800" dirty="0">
                <a:latin typeface="Courier New" panose="02070309020205020404" pitchFamily="49" charset="0"/>
              </a:rPr>
              <a:t> </a:t>
            </a:r>
            <a:r>
              <a:rPr lang="tr-TR" altLang="tr-TR" sz="1800" dirty="0" err="1">
                <a:latin typeface="Courier New" panose="02070309020205020404" pitchFamily="49" charset="0"/>
              </a:rPr>
              <a:t>pole</a:t>
            </a:r>
            <a:r>
              <a:rPr lang="tr-TR" altLang="tr-TR" sz="1800" dirty="0">
                <a:latin typeface="Courier New" panose="02070309020205020404" pitchFamily="49" charset="0"/>
              </a:rPr>
              <a:t> " &lt;&lt; </a:t>
            </a:r>
            <a:r>
              <a:rPr lang="tr-TR" altLang="tr-TR" sz="1800" dirty="0" err="1">
                <a:latin typeface="Courier New" panose="02070309020205020404" pitchFamily="49" charset="0"/>
              </a:rPr>
              <a:t>source</a:t>
            </a:r>
            <a:r>
              <a:rPr lang="tr-TR" altLang="tr-TR" sz="1800" dirty="0">
                <a:latin typeface="Courier New" panose="02070309020205020404" pitchFamily="49" charset="0"/>
              </a:rPr>
              <a:t> 		 	//c3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 dirty="0">
                <a:latin typeface="Courier New" panose="02070309020205020404" pitchFamily="49" charset="0"/>
              </a:rPr>
              <a:t>		  &lt;&lt; " </a:t>
            </a:r>
            <a:r>
              <a:rPr lang="tr-TR" altLang="tr-TR" sz="1800" dirty="0" err="1">
                <a:latin typeface="Courier New" panose="02070309020205020404" pitchFamily="49" charset="0"/>
              </a:rPr>
              <a:t>to</a:t>
            </a:r>
            <a:r>
              <a:rPr lang="tr-TR" altLang="tr-TR" sz="1800" dirty="0">
                <a:latin typeface="Courier New" panose="02070309020205020404" pitchFamily="49" charset="0"/>
              </a:rPr>
              <a:t> </a:t>
            </a:r>
            <a:r>
              <a:rPr lang="tr-TR" altLang="tr-TR" sz="1800" dirty="0" err="1">
                <a:latin typeface="Courier New" panose="02070309020205020404" pitchFamily="49" charset="0"/>
              </a:rPr>
              <a:t>pole</a:t>
            </a:r>
            <a:r>
              <a:rPr lang="tr-TR" altLang="tr-TR" sz="1800" dirty="0">
                <a:latin typeface="Courier New" panose="02070309020205020404" pitchFamily="49" charset="0"/>
              </a:rPr>
              <a:t> " &lt;&lt; dest &lt;&lt; </a:t>
            </a:r>
            <a:r>
              <a:rPr lang="tr-TR" altLang="tr-TR" sz="1800" dirty="0" err="1">
                <a:latin typeface="Courier New" panose="02070309020205020404" pitchFamily="49" charset="0"/>
              </a:rPr>
              <a:t>endl</a:t>
            </a:r>
            <a:r>
              <a:rPr lang="tr-TR" altLang="tr-TR" sz="1800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 dirty="0">
                <a:latin typeface="Courier New" panose="02070309020205020404" pitchFamily="49" charset="0"/>
              </a:rPr>
              <a:t>	 </a:t>
            </a:r>
            <a:r>
              <a:rPr lang="tr-TR" altLang="tr-TR" sz="1800" dirty="0" err="1">
                <a:latin typeface="Courier New" panose="02070309020205020404" pitchFamily="49" charset="0"/>
              </a:rPr>
              <a:t>hanoi</a:t>
            </a:r>
            <a:r>
              <a:rPr lang="tr-TR" altLang="tr-TR" sz="1800" dirty="0">
                <a:latin typeface="Courier New" panose="02070309020205020404" pitchFamily="49" charset="0"/>
              </a:rPr>
              <a:t>(n-1, </a:t>
            </a:r>
            <a:r>
              <a:rPr lang="tr-TR" altLang="tr-TR" sz="1800" dirty="0" err="1">
                <a:latin typeface="Courier New" panose="02070309020205020404" pitchFamily="49" charset="0"/>
              </a:rPr>
              <a:t>spare</a:t>
            </a:r>
            <a:r>
              <a:rPr lang="tr-TR" altLang="tr-TR" sz="1800" dirty="0">
                <a:latin typeface="Courier New" panose="02070309020205020404" pitchFamily="49" charset="0"/>
              </a:rPr>
              <a:t>, dest, </a:t>
            </a:r>
            <a:r>
              <a:rPr lang="tr-TR" altLang="tr-TR" sz="1800" dirty="0" err="1">
                <a:latin typeface="Courier New" panose="02070309020205020404" pitchFamily="49" charset="0"/>
              </a:rPr>
              <a:t>source</a:t>
            </a:r>
            <a:r>
              <a:rPr lang="tr-TR" altLang="tr-TR" sz="1800" dirty="0">
                <a:latin typeface="Courier New" panose="02070309020205020404" pitchFamily="49" charset="0"/>
              </a:rPr>
              <a:t>); 	   			 		//c4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 dirty="0">
                <a:latin typeface="Courier New" panose="02070309020205020404" pitchFamily="49" charset="0"/>
              </a:rPr>
              <a:t>  } 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endParaRPr lang="tr-TR" altLang="tr-TR" sz="1800" dirty="0">
              <a:latin typeface="Courier New" panose="02070309020205020404" pitchFamily="49" charset="0"/>
            </a:endParaRPr>
          </a:p>
          <a:p>
            <a:pPr eaLnBrk="1" hangingPunct="1">
              <a:buFont typeface="Times New Roman" panose="02020603050405020304" pitchFamily="18" charset="0"/>
              <a:buChar char="•"/>
              <a:defRPr/>
            </a:pPr>
            <a:endParaRPr lang="tr-TR" altLang="tr-TR" dirty="0"/>
          </a:p>
          <a:p>
            <a:pPr eaLnBrk="1" hangingPunct="1">
              <a:buFont typeface="Times New Roman" panose="02020603050405020304" pitchFamily="18" charset="0"/>
              <a:buChar char="•"/>
              <a:defRPr/>
            </a:pPr>
            <a:r>
              <a:rPr lang="tr-TR" altLang="tr-TR" dirty="0" err="1"/>
              <a:t>The</a:t>
            </a:r>
            <a:r>
              <a:rPr lang="tr-TR" altLang="tr-TR" dirty="0"/>
              <a:t> time-</a:t>
            </a:r>
            <a:r>
              <a:rPr lang="tr-TR" altLang="tr-TR" dirty="0" err="1"/>
              <a:t>complexity</a:t>
            </a:r>
            <a:r>
              <a:rPr lang="tr-TR" altLang="tr-TR" dirty="0"/>
              <a:t> </a:t>
            </a:r>
            <a:r>
              <a:rPr lang="tr-TR" altLang="tr-TR" dirty="0" err="1"/>
              <a:t>function</a:t>
            </a:r>
            <a:r>
              <a:rPr lang="tr-TR" altLang="tr-TR" dirty="0"/>
              <a:t> T(n) of a </a:t>
            </a:r>
            <a:r>
              <a:rPr lang="tr-TR" altLang="tr-TR" dirty="0" err="1"/>
              <a:t>recursive</a:t>
            </a:r>
            <a:r>
              <a:rPr lang="tr-TR" altLang="tr-TR" dirty="0"/>
              <a:t> </a:t>
            </a:r>
            <a:r>
              <a:rPr lang="tr-TR" altLang="tr-TR" dirty="0" err="1"/>
              <a:t>algorithm</a:t>
            </a:r>
            <a:r>
              <a:rPr lang="tr-TR" altLang="tr-TR" dirty="0"/>
              <a:t> is </a:t>
            </a:r>
            <a:r>
              <a:rPr lang="tr-TR" altLang="tr-TR" dirty="0" err="1"/>
              <a:t>defined</a:t>
            </a:r>
            <a:r>
              <a:rPr lang="tr-TR" altLang="tr-TR" dirty="0"/>
              <a:t> in </a:t>
            </a:r>
            <a:r>
              <a:rPr lang="tr-TR" altLang="tr-TR" dirty="0" err="1"/>
              <a:t>terms</a:t>
            </a:r>
            <a:r>
              <a:rPr lang="tr-TR" altLang="tr-TR" dirty="0"/>
              <a:t> of </a:t>
            </a:r>
            <a:r>
              <a:rPr lang="tr-TR" altLang="tr-TR" dirty="0" err="1"/>
              <a:t>itself</a:t>
            </a:r>
            <a:r>
              <a:rPr lang="tr-TR" altLang="tr-TR" dirty="0"/>
              <a:t>, </a:t>
            </a:r>
            <a:r>
              <a:rPr lang="tr-TR" altLang="tr-TR" dirty="0" err="1"/>
              <a:t>and</a:t>
            </a:r>
            <a:r>
              <a:rPr lang="tr-TR" altLang="tr-TR" dirty="0"/>
              <a:t> </a:t>
            </a:r>
            <a:r>
              <a:rPr lang="tr-TR" altLang="tr-TR" dirty="0" err="1"/>
              <a:t>this</a:t>
            </a:r>
            <a:r>
              <a:rPr lang="tr-TR" altLang="tr-TR" dirty="0"/>
              <a:t> is </a:t>
            </a:r>
            <a:r>
              <a:rPr lang="tr-TR" altLang="tr-TR" dirty="0" err="1"/>
              <a:t>known</a:t>
            </a:r>
            <a:r>
              <a:rPr lang="tr-TR" altLang="tr-TR" dirty="0"/>
              <a:t> as </a:t>
            </a:r>
            <a:r>
              <a:rPr lang="tr-TR" altLang="tr-TR" b="1" dirty="0" err="1"/>
              <a:t>recurrence</a:t>
            </a:r>
            <a:r>
              <a:rPr lang="tr-TR" altLang="tr-TR" b="1" dirty="0"/>
              <a:t> </a:t>
            </a:r>
            <a:r>
              <a:rPr lang="tr-TR" altLang="tr-TR" b="1" dirty="0" err="1"/>
              <a:t>equation</a:t>
            </a:r>
            <a:r>
              <a:rPr lang="tr-TR" altLang="tr-TR" dirty="0"/>
              <a:t> </a:t>
            </a:r>
            <a:r>
              <a:rPr lang="tr-TR" altLang="tr-TR" dirty="0" err="1"/>
              <a:t>for</a:t>
            </a:r>
            <a:r>
              <a:rPr lang="tr-TR" altLang="tr-TR" dirty="0"/>
              <a:t> T(n).</a:t>
            </a:r>
          </a:p>
          <a:p>
            <a:pPr eaLnBrk="1" hangingPunct="1">
              <a:buFont typeface="Times New Roman" panose="02020603050405020304" pitchFamily="18" charset="0"/>
              <a:buChar char="•"/>
              <a:defRPr/>
            </a:pPr>
            <a:r>
              <a:rPr lang="tr-TR" altLang="tr-TR" dirty="0" err="1"/>
              <a:t>To</a:t>
            </a:r>
            <a:r>
              <a:rPr lang="tr-TR" altLang="tr-TR" dirty="0"/>
              <a:t> </a:t>
            </a:r>
            <a:r>
              <a:rPr lang="tr-TR" altLang="tr-TR" dirty="0" err="1"/>
              <a:t>find</a:t>
            </a:r>
            <a:r>
              <a:rPr lang="tr-TR" altLang="tr-TR" dirty="0"/>
              <a:t> </a:t>
            </a:r>
            <a:r>
              <a:rPr lang="tr-TR" altLang="tr-TR" dirty="0" err="1"/>
              <a:t>the</a:t>
            </a:r>
            <a:r>
              <a:rPr lang="tr-TR" altLang="tr-TR" dirty="0"/>
              <a:t> </a:t>
            </a:r>
            <a:r>
              <a:rPr lang="tr-TR" altLang="tr-TR" dirty="0" err="1"/>
              <a:t>growth</a:t>
            </a:r>
            <a:r>
              <a:rPr lang="tr-TR" altLang="tr-TR" dirty="0"/>
              <a:t>-rate </a:t>
            </a:r>
            <a:r>
              <a:rPr lang="tr-TR" altLang="tr-TR" dirty="0" err="1"/>
              <a:t>function</a:t>
            </a:r>
            <a:r>
              <a:rPr lang="tr-TR" altLang="tr-TR" dirty="0"/>
              <a:t> </a:t>
            </a:r>
            <a:r>
              <a:rPr lang="tr-TR" altLang="tr-TR" dirty="0" err="1"/>
              <a:t>for</a:t>
            </a:r>
            <a:r>
              <a:rPr lang="tr-TR" altLang="tr-TR" dirty="0"/>
              <a:t> a </a:t>
            </a:r>
            <a:r>
              <a:rPr lang="tr-TR" altLang="tr-TR" dirty="0" err="1"/>
              <a:t>recursive</a:t>
            </a:r>
            <a:r>
              <a:rPr lang="tr-TR" altLang="tr-TR" dirty="0"/>
              <a:t> </a:t>
            </a:r>
            <a:r>
              <a:rPr lang="tr-TR" altLang="tr-TR" dirty="0" err="1"/>
              <a:t>algorithm</a:t>
            </a:r>
            <a:r>
              <a:rPr lang="tr-TR" altLang="tr-TR" dirty="0"/>
              <a:t>, </a:t>
            </a:r>
            <a:r>
              <a:rPr lang="tr-TR" altLang="tr-TR" dirty="0" err="1"/>
              <a:t>we</a:t>
            </a:r>
            <a:r>
              <a:rPr lang="tr-TR" altLang="tr-TR" dirty="0"/>
              <a:t> </a:t>
            </a:r>
            <a:r>
              <a:rPr lang="tr-TR" altLang="tr-TR" dirty="0" err="1"/>
              <a:t>have</a:t>
            </a:r>
            <a:r>
              <a:rPr lang="tr-TR" altLang="tr-TR" dirty="0"/>
              <a:t> </a:t>
            </a:r>
            <a:r>
              <a:rPr lang="tr-TR" altLang="tr-TR" dirty="0" err="1"/>
              <a:t>to</a:t>
            </a:r>
            <a:r>
              <a:rPr lang="tr-TR" altLang="tr-TR" dirty="0"/>
              <a:t> </a:t>
            </a:r>
            <a:r>
              <a:rPr lang="tr-TR" altLang="tr-TR" dirty="0" err="1"/>
              <a:t>solve</a:t>
            </a:r>
            <a:r>
              <a:rPr lang="tr-TR" altLang="tr-TR" dirty="0"/>
              <a:t> </a:t>
            </a:r>
            <a:r>
              <a:rPr lang="tr-TR" altLang="tr-TR" dirty="0" err="1"/>
              <a:t>its</a:t>
            </a:r>
            <a:r>
              <a:rPr lang="tr-TR" altLang="tr-TR" dirty="0"/>
              <a:t> </a:t>
            </a:r>
            <a:r>
              <a:rPr lang="tr-TR" altLang="tr-TR" dirty="0" err="1"/>
              <a:t>recurrence</a:t>
            </a:r>
            <a:r>
              <a:rPr lang="tr-TR" altLang="tr-TR" dirty="0"/>
              <a:t> </a:t>
            </a:r>
            <a:r>
              <a:rPr lang="tr-TR" altLang="tr-TR" dirty="0" err="1"/>
              <a:t>relation</a:t>
            </a:r>
            <a:r>
              <a:rPr lang="tr-TR" altLang="tr-TR" dirty="0"/>
              <a:t>.</a:t>
            </a:r>
          </a:p>
        </p:txBody>
      </p:sp>
      <p:pic>
        <p:nvPicPr>
          <p:cNvPr id="97286" name="Picture 6" descr="Tower_of_Hanoi">
            <a:extLst>
              <a:ext uri="{FF2B5EF4-FFF2-40B4-BE49-F238E27FC236}">
                <a16:creationId xmlns:a16="http://schemas.microsoft.com/office/drawing/2014/main" id="{DFF1BCC5-35CF-47F4-BCE8-C793D1223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8" t="11407"/>
          <a:stretch>
            <a:fillRect/>
          </a:stretch>
        </p:blipFill>
        <p:spPr bwMode="auto">
          <a:xfrm>
            <a:off x="3081338" y="3270250"/>
            <a:ext cx="298132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1">
            <a:extLst>
              <a:ext uri="{FF2B5EF4-FFF2-40B4-BE49-F238E27FC236}">
                <a16:creationId xmlns:a16="http://schemas.microsoft.com/office/drawing/2014/main" id="{62ADD99C-F3BD-B249-8D55-23A0B04D6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61443" name="Text Box 2">
            <a:extLst>
              <a:ext uri="{FF2B5EF4-FFF2-40B4-BE49-F238E27FC236}">
                <a16:creationId xmlns:a16="http://schemas.microsoft.com/office/drawing/2014/main" id="{002DF834-3AA1-5548-9FBA-08278314D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B5B2892-6828-3D42-B7C6-77B1618B555C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49</a:t>
            </a:fld>
            <a:endParaRPr lang="tr-TR" altLang="tr-TR" sz="800"/>
          </a:p>
        </p:txBody>
      </p:sp>
      <p:sp>
        <p:nvSpPr>
          <p:cNvPr id="61444" name="Text Box 3">
            <a:extLst>
              <a:ext uri="{FF2B5EF4-FFF2-40B4-BE49-F238E27FC236}">
                <a16:creationId xmlns:a16="http://schemas.microsoft.com/office/drawing/2014/main" id="{26541166-7C16-614D-B9C1-4BF313B6C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Growth-Rate Functions – Hanoi Towers</a:t>
            </a:r>
          </a:p>
        </p:txBody>
      </p:sp>
      <p:sp>
        <p:nvSpPr>
          <p:cNvPr id="61445" name="Text Box 4">
            <a:extLst>
              <a:ext uri="{FF2B5EF4-FFF2-40B4-BE49-F238E27FC236}">
                <a16:creationId xmlns:a16="http://schemas.microsoft.com/office/drawing/2014/main" id="{1555E336-A026-6A49-B490-6B3FD39F7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219200"/>
            <a:ext cx="8580438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33375" indent="-333375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lnSpc>
                <a:spcPct val="90000"/>
              </a:lnSpc>
              <a:buFont typeface="Times New Roman" panose="02020603050405020304" pitchFamily="18" charset="0"/>
              <a:buChar char="•"/>
              <a:defRPr/>
            </a:pPr>
            <a:r>
              <a:rPr lang="tr-TR" altLang="tr-TR"/>
              <a:t>What is the cost of  </a:t>
            </a:r>
            <a:r>
              <a:rPr lang="tr-TR" altLang="tr-TR">
                <a:latin typeface="Courier New" panose="02070309020205020404" pitchFamily="49" charset="0"/>
              </a:rPr>
              <a:t>hanoi(n,’A’,’B’,’C’)</a:t>
            </a:r>
            <a:r>
              <a:rPr lang="tr-TR" altLang="tr-TR"/>
              <a:t>?</a:t>
            </a:r>
          </a:p>
          <a:p>
            <a:pPr eaLnBrk="1" hangingPunct="1">
              <a:lnSpc>
                <a:spcPct val="90000"/>
              </a:lnSpc>
              <a:buClrTx/>
              <a:buFontTx/>
              <a:buNone/>
              <a:defRPr/>
            </a:pPr>
            <a:endParaRPr lang="tr-TR" altLang="tr-TR"/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when n=0 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	T(0) = c1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endParaRPr lang="tr-TR" altLang="tr-TR" sz="2000"/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when n&gt;0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	T(n) = c1 + c2 + T(n-1) + c3 + c4 + T(n-1)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		 = 2*T(n-1) + (c1+c2+c3+c4)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		 = </a:t>
            </a:r>
            <a:r>
              <a:rPr lang="tr-TR" altLang="tr-TR" sz="2000" b="1"/>
              <a:t>2*T(n-1) + c</a:t>
            </a:r>
            <a:r>
              <a:rPr lang="tr-TR" altLang="tr-TR" sz="2000"/>
              <a:t>	</a:t>
            </a:r>
            <a:r>
              <a:rPr lang="tr-TR" altLang="tr-TR" sz="2000">
                <a:latin typeface="Wingdings" pitchFamily="2" charset="2"/>
              </a:rPr>
              <a:t></a:t>
            </a:r>
            <a:r>
              <a:rPr lang="tr-TR" altLang="tr-TR" sz="2000"/>
              <a:t>  recurrence equation for the growth-rate				                    function of hanoi-towers algorithm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endParaRPr lang="tr-TR" altLang="tr-TR" sz="2000"/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defRPr/>
            </a:pPr>
            <a:r>
              <a:rPr lang="tr-TR" altLang="tr-TR" sz="2000"/>
              <a:t>Now, we have to solve this recurrence equation to find the growth-rate function of hanoi-towers algorithm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endParaRPr lang="tr-TR" altLang="tr-TR" sz="20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1">
            <a:extLst>
              <a:ext uri="{FF2B5EF4-FFF2-40B4-BE49-F238E27FC236}">
                <a16:creationId xmlns:a16="http://schemas.microsoft.com/office/drawing/2014/main" id="{BB171801-727F-5B4B-B604-812ECD049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63491" name="Text Box 2">
            <a:extLst>
              <a:ext uri="{FF2B5EF4-FFF2-40B4-BE49-F238E27FC236}">
                <a16:creationId xmlns:a16="http://schemas.microsoft.com/office/drawing/2014/main" id="{FF4AE19B-A2FD-EE43-8517-4F6A945C5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2751CF3-E8C4-9349-89A6-0E3975BF4585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50</a:t>
            </a:fld>
            <a:endParaRPr lang="tr-TR" altLang="tr-TR" sz="800"/>
          </a:p>
        </p:txBody>
      </p:sp>
      <p:sp>
        <p:nvSpPr>
          <p:cNvPr id="63492" name="Text Box 3">
            <a:extLst>
              <a:ext uri="{FF2B5EF4-FFF2-40B4-BE49-F238E27FC236}">
                <a16:creationId xmlns:a16="http://schemas.microsoft.com/office/drawing/2014/main" id="{A6ECE4BE-4F18-E645-A454-95399955A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Growth-Rate Functions – Hanoi Towers (cont.)</a:t>
            </a:r>
          </a:p>
        </p:txBody>
      </p:sp>
      <p:sp>
        <p:nvSpPr>
          <p:cNvPr id="63493" name="Text Box 4">
            <a:extLst>
              <a:ext uri="{FF2B5EF4-FFF2-40B4-BE49-F238E27FC236}">
                <a16:creationId xmlns:a16="http://schemas.microsoft.com/office/drawing/2014/main" id="{482BE5B0-4F8D-2440-8C4F-BFED0AE45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219200"/>
            <a:ext cx="8991600" cy="512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33375" indent="-333375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spcBef>
                <a:spcPts val="500"/>
              </a:spcBef>
              <a:buFont typeface="Times New Roman" panose="02020603050405020304" pitchFamily="18" charset="0"/>
              <a:buChar char="•"/>
              <a:defRPr/>
            </a:pPr>
            <a:r>
              <a:rPr lang="tr-TR" altLang="tr-TR" sz="2000"/>
              <a:t>There are many methods to solve recurrence equations, but we will use a simple method known as </a:t>
            </a:r>
            <a:r>
              <a:rPr lang="tr-TR" altLang="tr-TR" sz="2000" i="1"/>
              <a:t>repeated substitutions</a:t>
            </a:r>
            <a:r>
              <a:rPr lang="tr-TR" altLang="tr-TR" sz="2000"/>
              <a:t>.</a:t>
            </a:r>
          </a:p>
          <a:p>
            <a:pPr eaLnBrk="1" hangingPunct="1">
              <a:spcBef>
                <a:spcPts val="500"/>
              </a:spcBef>
              <a:buClrTx/>
              <a:buFontTx/>
              <a:buNone/>
              <a:defRPr/>
            </a:pPr>
            <a:endParaRPr lang="tr-TR" altLang="tr-TR" sz="2000"/>
          </a:p>
          <a:p>
            <a:pPr eaLnBrk="1" hangingPunct="1"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T(n) = 2*T(n-1) + c</a:t>
            </a:r>
          </a:p>
          <a:p>
            <a:pPr eaLnBrk="1" hangingPunct="1"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	   = 2 * (2*T(n-2)+c) + c</a:t>
            </a:r>
          </a:p>
          <a:p>
            <a:pPr eaLnBrk="1" hangingPunct="1"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	   = 2 * (2* (2*T(n-3)+c) + c) + c </a:t>
            </a:r>
          </a:p>
          <a:p>
            <a:pPr eaLnBrk="1" hangingPunct="1"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	   = 2</a:t>
            </a:r>
            <a:r>
              <a:rPr lang="tr-TR" altLang="tr-TR" sz="2000" baseline="30000"/>
              <a:t>3</a:t>
            </a:r>
            <a:r>
              <a:rPr lang="tr-TR" altLang="tr-TR" sz="2000"/>
              <a:t> * T(n-3) + (2</a:t>
            </a:r>
            <a:r>
              <a:rPr lang="tr-TR" altLang="tr-TR" sz="2000" baseline="30000"/>
              <a:t>2</a:t>
            </a:r>
            <a:r>
              <a:rPr lang="tr-TR" altLang="tr-TR" sz="2000"/>
              <a:t>+2</a:t>
            </a:r>
            <a:r>
              <a:rPr lang="tr-TR" altLang="tr-TR" sz="2000" baseline="30000"/>
              <a:t>1</a:t>
            </a:r>
            <a:r>
              <a:rPr lang="tr-TR" altLang="tr-TR" sz="2000"/>
              <a:t>+2</a:t>
            </a:r>
            <a:r>
              <a:rPr lang="tr-TR" altLang="tr-TR" sz="2000" baseline="30000"/>
              <a:t>0</a:t>
            </a:r>
            <a:r>
              <a:rPr lang="tr-TR" altLang="tr-TR" sz="2000"/>
              <a:t>)*c  (assuming n&gt;2)</a:t>
            </a:r>
          </a:p>
          <a:p>
            <a:pPr eaLnBrk="1" hangingPunct="1"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when substitution repeated i-1</a:t>
            </a:r>
            <a:r>
              <a:rPr lang="tr-TR" altLang="tr-TR" sz="2000" baseline="30000"/>
              <a:t>th</a:t>
            </a:r>
            <a:r>
              <a:rPr lang="tr-TR" altLang="tr-TR" sz="2000"/>
              <a:t> times</a:t>
            </a:r>
          </a:p>
          <a:p>
            <a:pPr eaLnBrk="1" hangingPunct="1"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	   = 2</a:t>
            </a:r>
            <a:r>
              <a:rPr lang="tr-TR" altLang="tr-TR" sz="2000" baseline="30000"/>
              <a:t>i</a:t>
            </a:r>
            <a:r>
              <a:rPr lang="tr-TR" altLang="tr-TR" sz="2000"/>
              <a:t> * T(n-i) + (2</a:t>
            </a:r>
            <a:r>
              <a:rPr lang="tr-TR" altLang="tr-TR" sz="2000" baseline="30000"/>
              <a:t>i-1</a:t>
            </a:r>
            <a:r>
              <a:rPr lang="tr-TR" altLang="tr-TR" sz="2000"/>
              <a:t>+ ... +2</a:t>
            </a:r>
            <a:r>
              <a:rPr lang="tr-TR" altLang="tr-TR" sz="2000" baseline="30000"/>
              <a:t>1</a:t>
            </a:r>
            <a:r>
              <a:rPr lang="tr-TR" altLang="tr-TR" sz="2000"/>
              <a:t>+2</a:t>
            </a:r>
            <a:r>
              <a:rPr lang="tr-TR" altLang="tr-TR" sz="2000" baseline="30000"/>
              <a:t>0</a:t>
            </a:r>
            <a:r>
              <a:rPr lang="tr-TR" altLang="tr-TR" sz="2000"/>
              <a:t>)*c</a:t>
            </a:r>
          </a:p>
          <a:p>
            <a:pPr eaLnBrk="1" hangingPunct="1"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when i=n</a:t>
            </a:r>
          </a:p>
          <a:p>
            <a:pPr eaLnBrk="1" hangingPunct="1"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	   = 2</a:t>
            </a:r>
            <a:r>
              <a:rPr lang="tr-TR" altLang="tr-TR" sz="2000" baseline="30000"/>
              <a:t>n</a:t>
            </a:r>
            <a:r>
              <a:rPr lang="tr-TR" altLang="tr-TR" sz="2000"/>
              <a:t> * T(0) + (2</a:t>
            </a:r>
            <a:r>
              <a:rPr lang="tr-TR" altLang="tr-TR" sz="2000" baseline="30000"/>
              <a:t>n-1</a:t>
            </a:r>
            <a:r>
              <a:rPr lang="tr-TR" altLang="tr-TR" sz="2000"/>
              <a:t>+ ... +2</a:t>
            </a:r>
            <a:r>
              <a:rPr lang="tr-TR" altLang="tr-TR" sz="2000" baseline="30000"/>
              <a:t>1</a:t>
            </a:r>
            <a:r>
              <a:rPr lang="tr-TR" altLang="tr-TR" sz="2000"/>
              <a:t>+2</a:t>
            </a:r>
            <a:r>
              <a:rPr lang="tr-TR" altLang="tr-TR" sz="2000" baseline="30000"/>
              <a:t>0</a:t>
            </a:r>
            <a:r>
              <a:rPr lang="tr-TR" altLang="tr-TR" sz="2000"/>
              <a:t>)*c</a:t>
            </a:r>
          </a:p>
          <a:p>
            <a:pPr eaLnBrk="1" hangingPunct="1"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	   = 2</a:t>
            </a:r>
            <a:r>
              <a:rPr lang="tr-TR" altLang="tr-TR" sz="2000" baseline="30000"/>
              <a:t>n</a:t>
            </a:r>
            <a:r>
              <a:rPr lang="tr-TR" altLang="tr-TR" sz="2000"/>
              <a:t> * c1 + (       )*c</a:t>
            </a:r>
          </a:p>
          <a:p>
            <a:pPr eaLnBrk="1" hangingPunct="1">
              <a:spcBef>
                <a:spcPts val="500"/>
              </a:spcBef>
              <a:buClrTx/>
              <a:buFontTx/>
              <a:buNone/>
              <a:defRPr/>
            </a:pPr>
            <a:endParaRPr lang="tr-TR" altLang="tr-TR" sz="2000"/>
          </a:p>
          <a:p>
            <a:pPr eaLnBrk="1" hangingPunct="1"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	   = 2</a:t>
            </a:r>
            <a:r>
              <a:rPr lang="tr-TR" altLang="tr-TR" sz="2000" baseline="30000"/>
              <a:t>n</a:t>
            </a:r>
            <a:r>
              <a:rPr lang="tr-TR" altLang="tr-TR" sz="2000"/>
              <a:t> * c1 + ( 2</a:t>
            </a:r>
            <a:r>
              <a:rPr lang="tr-TR" altLang="tr-TR" sz="2000" baseline="30000"/>
              <a:t>n</a:t>
            </a:r>
            <a:r>
              <a:rPr lang="tr-TR" altLang="tr-TR" sz="2000"/>
              <a:t>-1 )*c  = 2</a:t>
            </a:r>
            <a:r>
              <a:rPr lang="tr-TR" altLang="tr-TR" sz="2000" baseline="30000"/>
              <a:t>n</a:t>
            </a:r>
            <a:r>
              <a:rPr lang="tr-TR" altLang="tr-TR" sz="2000"/>
              <a:t>*(c1+c) – c 	</a:t>
            </a:r>
            <a:r>
              <a:rPr lang="tr-TR" altLang="tr-TR" sz="2000">
                <a:latin typeface="Wingdings" pitchFamily="2" charset="2"/>
              </a:rPr>
              <a:t></a:t>
            </a:r>
            <a:r>
              <a:rPr lang="tr-TR" altLang="tr-TR" sz="2000"/>
              <a:t> So, the growth rate function is </a:t>
            </a:r>
            <a:r>
              <a:rPr lang="tr-TR" altLang="tr-TR" sz="2000" b="1"/>
              <a:t>O(2</a:t>
            </a:r>
            <a:r>
              <a:rPr lang="tr-TR" altLang="tr-TR" sz="2000" b="1" baseline="30000"/>
              <a:t>n</a:t>
            </a:r>
            <a:r>
              <a:rPr lang="tr-TR" altLang="tr-TR" sz="2000" b="1"/>
              <a:t>)</a:t>
            </a:r>
          </a:p>
        </p:txBody>
      </p:sp>
      <p:graphicFrame>
        <p:nvGraphicFramePr>
          <p:cNvPr id="101382" name="Object 5">
            <a:extLst>
              <a:ext uri="{FF2B5EF4-FFF2-40B4-BE49-F238E27FC236}">
                <a16:creationId xmlns:a16="http://schemas.microsoft.com/office/drawing/2014/main" id="{A2793482-B997-5247-C4CD-2C034FA2AF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9150" y="5105400"/>
          <a:ext cx="5619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44500" imgH="622300" progId="">
                  <p:embed/>
                </p:oleObj>
              </mc:Choice>
              <mc:Fallback>
                <p:oleObj r:id="rId3" imgW="444500" imgH="62230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5105400"/>
                        <a:ext cx="56197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76D11682-E358-7921-EAB1-55EAFF1B59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9775" y="3143250"/>
            <a:ext cx="3182938" cy="240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40" name="TextBox 2">
            <a:extLst>
              <a:ext uri="{FF2B5EF4-FFF2-40B4-BE49-F238E27FC236}">
                <a16:creationId xmlns:a16="http://schemas.microsoft.com/office/drawing/2014/main" id="{0E0F9A56-A779-28E5-8B0F-39227F74C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2563" y="5300663"/>
            <a:ext cx="2000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tr-TR" altLang="tr-TR" sz="1200">
                <a:solidFill>
                  <a:schemeClr val="accent2"/>
                </a:solidFill>
              </a:rPr>
              <a:t>2a = 2 + 4 + 8 + ..  + 2</a:t>
            </a:r>
            <a:r>
              <a:rPr lang="tr-TR" altLang="tr-TR" sz="1200" baseline="30000">
                <a:solidFill>
                  <a:schemeClr val="accent2"/>
                </a:solidFill>
              </a:rPr>
              <a:t>n-1</a:t>
            </a:r>
            <a:r>
              <a:rPr lang="tr-TR" altLang="tr-TR" sz="1200">
                <a:solidFill>
                  <a:schemeClr val="accent2"/>
                </a:solidFill>
              </a:rPr>
              <a:t> + 2</a:t>
            </a:r>
            <a:r>
              <a:rPr lang="tr-TR" altLang="tr-TR" sz="1200" baseline="30000">
                <a:solidFill>
                  <a:schemeClr val="accent2"/>
                </a:solidFill>
              </a:rPr>
              <a:t>n</a:t>
            </a:r>
          </a:p>
          <a:p>
            <a:r>
              <a:rPr lang="tr-TR" altLang="tr-TR" sz="1200">
                <a:solidFill>
                  <a:schemeClr val="accent2"/>
                </a:solidFill>
              </a:rPr>
              <a:t>a = 1 + 2 + 4 + 8 + .. + 2</a:t>
            </a:r>
            <a:r>
              <a:rPr lang="tr-TR" altLang="tr-TR" sz="1200" baseline="30000">
                <a:solidFill>
                  <a:schemeClr val="accent2"/>
                </a:solidFill>
              </a:rPr>
              <a:t>n-1</a:t>
            </a:r>
          </a:p>
          <a:p>
            <a:r>
              <a:rPr lang="tr-TR" altLang="tr-TR" sz="1200">
                <a:solidFill>
                  <a:schemeClr val="accent2"/>
                </a:solidFill>
              </a:rPr>
              <a:t>2a – a is your result 2</a:t>
            </a:r>
            <a:r>
              <a:rPr lang="tr-TR" altLang="tr-TR" sz="1200" baseline="30000">
                <a:solidFill>
                  <a:schemeClr val="accent2"/>
                </a:solidFill>
              </a:rPr>
              <a:t>n </a:t>
            </a:r>
            <a:r>
              <a:rPr lang="tr-TR" altLang="tr-TR" sz="1200">
                <a:solidFill>
                  <a:schemeClr val="accent2"/>
                </a:solidFill>
              </a:rPr>
              <a:t>- 1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4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D4AFB0E9-CE45-E748-81E0-AE4EEFA0DC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tr-TR" dirty="0"/>
              <a:t>More Recursive Algorithms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8AE3F3EE-E180-A24D-8081-F92E5433C9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981200"/>
            <a:ext cx="89916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fact(</a:t>
            </a: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  <a:r>
              <a:rPr lang="en-US" altLang="tr-TR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if (n ==0) 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		return (1);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else 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 return (n * fact(n-1));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alt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T(n) = T(n-1) + c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	= (T(n-2) + c) + c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	= (T(n-3) + c) + c + c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	= (T(n-</a:t>
            </a: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) + </a:t>
            </a: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*c)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when </a:t>
            </a: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=n 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 T(0) + n*c  T(n) = O(n)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tr-TR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Date Placeholder 3">
            <a:extLst>
              <a:ext uri="{FF2B5EF4-FFF2-40B4-BE49-F238E27FC236}">
                <a16:creationId xmlns:a16="http://schemas.microsoft.com/office/drawing/2014/main" id="{689BDF15-6874-BABC-E0AF-5A00354F54F5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2819400" y="6477000"/>
            <a:ext cx="3419475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SzPct val="45000"/>
            </a:pPr>
            <a:fld id="{899D9C6C-9395-7743-BFF4-DF2851BC5F59}" type="datetime1">
              <a:rPr lang="en-US" altLang="tr-TR" sz="800">
                <a:solidFill>
                  <a:srgbClr val="000000"/>
                </a:solidFill>
                <a:ea typeface="DejaVu Sans" charset="0"/>
                <a:cs typeface="DejaVu Sans" charset="0"/>
              </a:rPr>
              <a:pPr algn="ctr" eaLnBrk="1" hangingPunct="1">
                <a:buSzPct val="45000"/>
              </a:pPr>
              <a:t>8/30/22</a:t>
            </a:fld>
            <a:endParaRPr lang="en-US" altLang="tr-TR" sz="8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105474" name="Slide Number Placeholder 5">
            <a:extLst>
              <a:ext uri="{FF2B5EF4-FFF2-40B4-BE49-F238E27FC236}">
                <a16:creationId xmlns:a16="http://schemas.microsoft.com/office/drawing/2014/main" id="{9E408FD8-A032-72ED-B69C-525138C75E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noFill/>
        </p:spPr>
        <p:txBody>
          <a:bodyPr/>
          <a:lstStyle>
            <a:lvl1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fld id="{D6DD21E2-26D3-6545-BCF5-64451093EC23}" type="slidenum">
              <a:rPr lang="en-US" altLang="tr-TR" sz="80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52</a:t>
            </a:fld>
            <a:endParaRPr lang="en-US" altLang="tr-TR" sz="8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117764" name="Rectangle 2">
            <a:extLst>
              <a:ext uri="{FF2B5EF4-FFF2-40B4-BE49-F238E27FC236}">
                <a16:creationId xmlns:a16="http://schemas.microsoft.com/office/drawing/2014/main" id="{5DB0E137-90C4-E34E-8E9B-8BBA43F03B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72400" cy="685800"/>
          </a:xfrm>
        </p:spPr>
        <p:txBody>
          <a:bodyPr/>
          <a:lstStyle/>
          <a:p>
            <a:pPr eaLnBrk="1" hangingPunct="1">
              <a:buFont typeface="Times New Roman" charset="0"/>
              <a:buNone/>
              <a:defRPr/>
            </a:pPr>
            <a:r>
              <a:rPr lang="en-US" altLang="tr-TR">
                <a:solidFill>
                  <a:schemeClr val="tx1"/>
                </a:solidFill>
                <a:ea typeface="Times New Roman" charset="0"/>
                <a:cs typeface="Times New Roman" charset="0"/>
              </a:rPr>
              <a:t>Tracing the call </a:t>
            </a:r>
            <a:r>
              <a:rPr lang="en-US" altLang="tr-TR">
                <a:solidFill>
                  <a:schemeClr val="tx1"/>
                </a:solidFill>
                <a:latin typeface="Courier New" charset="0"/>
                <a:ea typeface="Times New Roman" charset="0"/>
                <a:cs typeface="Times New Roman" charset="0"/>
              </a:rPr>
              <a:t>fact</a:t>
            </a:r>
            <a:r>
              <a:rPr lang="en-US" altLang="tr-TR">
                <a:solidFill>
                  <a:schemeClr val="tx1"/>
                </a:solidFill>
                <a:latin typeface="Courier New" charset="0"/>
              </a:rPr>
              <a:t> (3)</a:t>
            </a:r>
          </a:p>
        </p:txBody>
      </p:sp>
      <p:graphicFrame>
        <p:nvGraphicFramePr>
          <p:cNvPr id="174083" name="Group 3">
            <a:extLst>
              <a:ext uri="{FF2B5EF4-FFF2-40B4-BE49-F238E27FC236}">
                <a16:creationId xmlns:a16="http://schemas.microsoft.com/office/drawing/2014/main" id="{225E437B-386C-344E-8037-6958EB1AD735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1143000"/>
          <a:ext cx="1828800" cy="544195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442879536"/>
                    </a:ext>
                  </a:extLst>
                </a:gridCol>
              </a:tblGrid>
              <a:tr h="725488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670748"/>
                  </a:ext>
                </a:extLst>
              </a:tr>
              <a:tr h="812800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294219"/>
                  </a:ext>
                </a:extLst>
              </a:tr>
              <a:tr h="846138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965561"/>
                  </a:ext>
                </a:extLst>
              </a:tr>
              <a:tr h="1120775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844825"/>
                  </a:ext>
                </a:extLst>
              </a:tr>
              <a:tr h="1066800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N =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if (N==0) 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return (3*</a:t>
                      </a: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fact(2)</a:t>
                      </a: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)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378009"/>
                  </a:ext>
                </a:extLst>
              </a:tr>
              <a:tr h="869950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After original call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10387"/>
                  </a:ext>
                </a:extLst>
              </a:tr>
            </a:tbl>
          </a:graphicData>
        </a:graphic>
      </p:graphicFrame>
      <p:graphicFrame>
        <p:nvGraphicFramePr>
          <p:cNvPr id="174103" name="Group 23">
            <a:extLst>
              <a:ext uri="{FF2B5EF4-FFF2-40B4-BE49-F238E27FC236}">
                <a16:creationId xmlns:a16="http://schemas.microsoft.com/office/drawing/2014/main" id="{2539CADF-34C4-CD44-BF56-968A399D8AFD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1143000"/>
          <a:ext cx="1905000" cy="5253038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3043760148"/>
                    </a:ext>
                  </a:extLst>
                </a:gridCol>
              </a:tblGrid>
              <a:tr h="668338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117771"/>
                  </a:ext>
                </a:extLst>
              </a:tr>
              <a:tr h="666750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460629"/>
                  </a:ext>
                </a:extLst>
              </a:tr>
              <a:tr h="1027113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675249"/>
                  </a:ext>
                </a:extLst>
              </a:tr>
              <a:tr h="1143000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N =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if (N==0) 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return (2*</a:t>
                      </a: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fact(1)</a:t>
                      </a: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)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078593"/>
                  </a:ext>
                </a:extLst>
              </a:tr>
              <a:tr h="1079500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N =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if (N==0) 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return (3*</a:t>
                      </a: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fact(2)</a:t>
                      </a: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)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47274"/>
                  </a:ext>
                </a:extLst>
              </a:tr>
              <a:tr h="668338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After 1</a:t>
                      </a:r>
                      <a:r>
                        <a:rPr kumimoji="0" lang="en-US" altLang="tr-TR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st</a:t>
                      </a: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 call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461657"/>
                  </a:ext>
                </a:extLst>
              </a:tr>
            </a:tbl>
          </a:graphicData>
        </a:graphic>
      </p:graphicFrame>
      <p:graphicFrame>
        <p:nvGraphicFramePr>
          <p:cNvPr id="174123" name="Group 43">
            <a:extLst>
              <a:ext uri="{FF2B5EF4-FFF2-40B4-BE49-F238E27FC236}">
                <a16:creationId xmlns:a16="http://schemas.microsoft.com/office/drawing/2014/main" id="{4243719F-E15B-EB48-99BE-1CA0F2C8B18B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1143000"/>
          <a:ext cx="1828800" cy="5260975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3576520039"/>
                    </a:ext>
                  </a:extLst>
                </a:gridCol>
              </a:tblGrid>
              <a:tr h="698500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7965208"/>
                  </a:ext>
                </a:extLst>
              </a:tr>
              <a:tr h="695325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370755"/>
                  </a:ext>
                </a:extLst>
              </a:tr>
              <a:tr h="1057275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N =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if (N==0) 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return (1*</a:t>
                      </a: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fact(0)</a:t>
                      </a: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)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669891"/>
                  </a:ext>
                </a:extLst>
              </a:tr>
              <a:tr h="1055688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N =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if (N==0) 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return (2*</a:t>
                      </a: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fact(1)</a:t>
                      </a: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) 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352958"/>
                  </a:ext>
                </a:extLst>
              </a:tr>
              <a:tr h="1055688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N =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if (N==0) 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return (3*</a:t>
                      </a: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fact(2)</a:t>
                      </a: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)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433998"/>
                  </a:ext>
                </a:extLst>
              </a:tr>
              <a:tr h="698500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After 2</a:t>
                      </a:r>
                      <a:r>
                        <a:rPr kumimoji="0" lang="en-US" altLang="tr-TR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nd</a:t>
                      </a: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 call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090026"/>
                  </a:ext>
                </a:extLst>
              </a:tr>
            </a:tbl>
          </a:graphicData>
        </a:graphic>
      </p:graphicFrame>
      <p:graphicFrame>
        <p:nvGraphicFramePr>
          <p:cNvPr id="174143" name="Group 63">
            <a:extLst>
              <a:ext uri="{FF2B5EF4-FFF2-40B4-BE49-F238E27FC236}">
                <a16:creationId xmlns:a16="http://schemas.microsoft.com/office/drawing/2014/main" id="{676FBF64-E1FE-0948-847A-AEE1ED0AA9FC}"/>
              </a:ext>
            </a:extLst>
          </p:cNvPr>
          <p:cNvGraphicFramePr>
            <a:graphicFrameLocks noGrp="1"/>
          </p:cNvGraphicFramePr>
          <p:nvPr/>
        </p:nvGraphicFramePr>
        <p:xfrm>
          <a:off x="6705600" y="914400"/>
          <a:ext cx="1905000" cy="5451475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314551993"/>
                    </a:ext>
                  </a:extLst>
                </a:gridCol>
              </a:tblGrid>
              <a:tr h="677733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565467"/>
                  </a:ext>
                </a:extLst>
              </a:tr>
              <a:tr h="1024002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N =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if (N==0) true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return (1)</a:t>
                      </a:r>
                      <a:endParaRPr kumimoji="0" lang="en-US" altLang="tr-TR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T="45693" marB="45693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67172"/>
                  </a:ext>
                </a:extLst>
              </a:tr>
              <a:tr h="1024002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N =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if (N==0) 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return (1*</a:t>
                      </a: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fact(0)</a:t>
                      </a: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)</a:t>
                      </a:r>
                    </a:p>
                  </a:txBody>
                  <a:tcPr marT="45693" marB="45693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550578"/>
                  </a:ext>
                </a:extLst>
              </a:tr>
              <a:tr h="1024002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N =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if (N==0) 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return (2*</a:t>
                      </a: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fact(1)</a:t>
                      </a: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)</a:t>
                      </a:r>
                    </a:p>
                  </a:txBody>
                  <a:tcPr marT="45693" marB="45693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754436"/>
                  </a:ext>
                </a:extLst>
              </a:tr>
              <a:tr h="1024002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N =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if (N==0) 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return (3*</a:t>
                      </a: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fact(2)</a:t>
                      </a: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)</a:t>
                      </a:r>
                    </a:p>
                  </a:txBody>
                  <a:tcPr marT="45693" marB="45693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072468"/>
                  </a:ext>
                </a:extLst>
              </a:tr>
              <a:tr h="677733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After 3rd call</a:t>
                      </a:r>
                    </a:p>
                  </a:txBody>
                  <a:tcPr marT="45693" marB="45693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99337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Date Placeholder 3">
            <a:extLst>
              <a:ext uri="{FF2B5EF4-FFF2-40B4-BE49-F238E27FC236}">
                <a16:creationId xmlns:a16="http://schemas.microsoft.com/office/drawing/2014/main" id="{B585B6ED-1048-D8F9-C085-713E2C459EEB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2819400" y="6477000"/>
            <a:ext cx="3419475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SzPct val="45000"/>
            </a:pPr>
            <a:fld id="{C503EABA-D0D4-BB4B-A1D6-DC5861746636}" type="datetime1">
              <a:rPr lang="en-US" altLang="tr-TR" sz="800">
                <a:solidFill>
                  <a:srgbClr val="000000"/>
                </a:solidFill>
                <a:ea typeface="DejaVu Sans" charset="0"/>
                <a:cs typeface="DejaVu Sans" charset="0"/>
              </a:rPr>
              <a:pPr algn="ctr" eaLnBrk="1" hangingPunct="1">
                <a:buSzPct val="45000"/>
              </a:pPr>
              <a:t>8/30/22</a:t>
            </a:fld>
            <a:endParaRPr lang="en-US" altLang="tr-TR" sz="8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106498" name="Slide Number Placeholder 5">
            <a:extLst>
              <a:ext uri="{FF2B5EF4-FFF2-40B4-BE49-F238E27FC236}">
                <a16:creationId xmlns:a16="http://schemas.microsoft.com/office/drawing/2014/main" id="{CA846CBD-8F66-0F7C-2140-22D7D8CD92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noFill/>
        </p:spPr>
        <p:txBody>
          <a:bodyPr/>
          <a:lstStyle>
            <a:lvl1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fld id="{2C0C6FBE-7847-1F43-905F-9A7B79A07A9F}" type="slidenum">
              <a:rPr lang="en-US" altLang="tr-TR" sz="800">
                <a:solidFill>
                  <a:srgbClr val="000000"/>
                </a:solidFill>
                <a:ea typeface="DejaVu Sans" charset="0"/>
                <a:cs typeface="DejaVu Sans" charset="0"/>
              </a:rPr>
              <a:pPr/>
              <a:t>53</a:t>
            </a:fld>
            <a:endParaRPr lang="en-US" altLang="tr-TR" sz="8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118788" name="Rectangle 2">
            <a:extLst>
              <a:ext uri="{FF2B5EF4-FFF2-40B4-BE49-F238E27FC236}">
                <a16:creationId xmlns:a16="http://schemas.microsoft.com/office/drawing/2014/main" id="{8E8C6593-BA14-8545-8A77-749070E997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72400" cy="685800"/>
          </a:xfrm>
        </p:spPr>
        <p:txBody>
          <a:bodyPr/>
          <a:lstStyle/>
          <a:p>
            <a:pPr eaLnBrk="1" hangingPunct="1">
              <a:buFont typeface="Times New Roman" charset="0"/>
              <a:buNone/>
              <a:defRPr/>
            </a:pPr>
            <a:r>
              <a:rPr lang="en-US" altLang="tr-TR">
                <a:solidFill>
                  <a:schemeClr val="tx1"/>
                </a:solidFill>
                <a:ea typeface="Times New Roman" charset="0"/>
                <a:cs typeface="Times New Roman" charset="0"/>
              </a:rPr>
              <a:t>Tracing the call </a:t>
            </a:r>
            <a:r>
              <a:rPr lang="en-US" altLang="tr-TR">
                <a:solidFill>
                  <a:schemeClr val="tx1"/>
                </a:solidFill>
                <a:latin typeface="Courier New" charset="0"/>
                <a:ea typeface="Times New Roman" charset="0"/>
                <a:cs typeface="Times New Roman" charset="0"/>
              </a:rPr>
              <a:t>fact</a:t>
            </a:r>
            <a:r>
              <a:rPr lang="en-US" altLang="tr-TR">
                <a:solidFill>
                  <a:schemeClr val="tx1"/>
                </a:solidFill>
                <a:latin typeface="Courier New" charset="0"/>
              </a:rPr>
              <a:t> (3)</a:t>
            </a:r>
          </a:p>
        </p:txBody>
      </p:sp>
      <p:graphicFrame>
        <p:nvGraphicFramePr>
          <p:cNvPr id="175107" name="Group 3">
            <a:extLst>
              <a:ext uri="{FF2B5EF4-FFF2-40B4-BE49-F238E27FC236}">
                <a16:creationId xmlns:a16="http://schemas.microsoft.com/office/drawing/2014/main" id="{6621EEB4-D914-CA46-A3B7-09D3E46BED13}"/>
              </a:ext>
            </a:extLst>
          </p:cNvPr>
          <p:cNvGraphicFramePr>
            <a:graphicFrameLocks noGrp="1"/>
          </p:cNvGraphicFramePr>
          <p:nvPr/>
        </p:nvGraphicFramePr>
        <p:xfrm>
          <a:off x="4724400" y="1066800"/>
          <a:ext cx="1828800" cy="544195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115494790"/>
                    </a:ext>
                  </a:extLst>
                </a:gridCol>
              </a:tblGrid>
              <a:tr h="725488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696153"/>
                  </a:ext>
                </a:extLst>
              </a:tr>
              <a:tr h="812800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421997"/>
                  </a:ext>
                </a:extLst>
              </a:tr>
              <a:tr h="846138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601448"/>
                  </a:ext>
                </a:extLst>
              </a:tr>
              <a:tr h="1120775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079543"/>
                  </a:ext>
                </a:extLst>
              </a:tr>
              <a:tr h="1066800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N =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if (N==0) 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return (3* </a:t>
                      </a: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2</a:t>
                      </a: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)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372514"/>
                  </a:ext>
                </a:extLst>
              </a:tr>
              <a:tr h="869950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After return from </a:t>
                      </a: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1st</a:t>
                      </a:r>
                      <a:r>
                        <a:rPr kumimoji="0" lang="tr-TR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call</a:t>
                      </a:r>
                      <a:endParaRPr kumimoji="0" lang="en-US" alt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600982"/>
                  </a:ext>
                </a:extLst>
              </a:tr>
            </a:tbl>
          </a:graphicData>
        </a:graphic>
      </p:graphicFrame>
      <p:graphicFrame>
        <p:nvGraphicFramePr>
          <p:cNvPr id="175127" name="Group 23">
            <a:extLst>
              <a:ext uri="{FF2B5EF4-FFF2-40B4-BE49-F238E27FC236}">
                <a16:creationId xmlns:a16="http://schemas.microsoft.com/office/drawing/2014/main" id="{89469E79-43C2-864F-979D-1A86B54049C0}"/>
              </a:ext>
            </a:extLst>
          </p:cNvPr>
          <p:cNvGraphicFramePr>
            <a:graphicFrameLocks noGrp="1"/>
          </p:cNvGraphicFramePr>
          <p:nvPr/>
        </p:nvGraphicFramePr>
        <p:xfrm>
          <a:off x="2743200" y="1143000"/>
          <a:ext cx="1905000" cy="5303838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580126699"/>
                    </a:ext>
                  </a:extLst>
                </a:gridCol>
              </a:tblGrid>
              <a:tr h="685870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981642"/>
                  </a:ext>
                </a:extLst>
              </a:tr>
              <a:tr h="733500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324043"/>
                  </a:ext>
                </a:extLst>
              </a:tr>
              <a:tr h="1012929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929730"/>
                  </a:ext>
                </a:extLst>
              </a:tr>
              <a:tr h="1024243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N =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if (N==0) 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return (2* </a:t>
                      </a: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1</a:t>
                      </a: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)</a:t>
                      </a:r>
                    </a:p>
                  </a:txBody>
                  <a:tcPr marT="45730" marB="4573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1407"/>
                  </a:ext>
                </a:extLst>
              </a:tr>
              <a:tr h="1024243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N =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if (N==0) 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return (3*</a:t>
                      </a: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fact(2)</a:t>
                      </a: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)</a:t>
                      </a:r>
                    </a:p>
                  </a:txBody>
                  <a:tcPr marT="45730" marB="4573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837078"/>
                  </a:ext>
                </a:extLst>
              </a:tr>
              <a:tr h="823054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After return from </a:t>
                      </a: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2nd</a:t>
                      </a:r>
                      <a:r>
                        <a:rPr kumimoji="0" lang="tr-TR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call</a:t>
                      </a:r>
                      <a:endParaRPr kumimoji="0" lang="en-US" altLang="tr-T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30" marB="45730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0939578"/>
                  </a:ext>
                </a:extLst>
              </a:tr>
            </a:tbl>
          </a:graphicData>
        </a:graphic>
      </p:graphicFrame>
      <p:graphicFrame>
        <p:nvGraphicFramePr>
          <p:cNvPr id="175147" name="Group 43">
            <a:extLst>
              <a:ext uri="{FF2B5EF4-FFF2-40B4-BE49-F238E27FC236}">
                <a16:creationId xmlns:a16="http://schemas.microsoft.com/office/drawing/2014/main" id="{6686D31F-D1ED-8445-A66A-5D82909F3D30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143000"/>
          <a:ext cx="1905000" cy="52578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797810525"/>
                    </a:ext>
                  </a:extLst>
                </a:gridCol>
              </a:tblGrid>
              <a:tr h="685847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0449282"/>
                  </a:ext>
                </a:extLst>
              </a:tr>
              <a:tr h="676321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tr-TR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6768304"/>
                  </a:ext>
                </a:extLst>
              </a:tr>
              <a:tr h="1024204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N =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if (N==0) 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return (1* </a:t>
                      </a: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1</a:t>
                      </a: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)</a:t>
                      </a:r>
                    </a:p>
                  </a:txBody>
                  <a:tcPr marT="45726" marB="45726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23483"/>
                  </a:ext>
                </a:extLst>
              </a:tr>
              <a:tr h="1024204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N =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if (N==0) 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return (2*</a:t>
                      </a: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fact(1)</a:t>
                      </a: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)</a:t>
                      </a:r>
                    </a:p>
                  </a:txBody>
                  <a:tcPr marT="45726" marB="45726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67959"/>
                  </a:ext>
                </a:extLst>
              </a:tr>
              <a:tr h="1024204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N =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if (N==0) 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return (3*</a:t>
                      </a: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fact(2)</a:t>
                      </a: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)</a:t>
                      </a:r>
                    </a:p>
                  </a:txBody>
                  <a:tcPr marT="45726" marB="45726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867309"/>
                  </a:ext>
                </a:extLst>
              </a:tr>
              <a:tr h="823022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After return from </a:t>
                      </a: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3rd</a:t>
                      </a:r>
                      <a:r>
                        <a:rPr kumimoji="0" lang="tr-TR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call</a:t>
                      </a: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 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186470"/>
                  </a:ext>
                </a:extLst>
              </a:tr>
            </a:tbl>
          </a:graphicData>
        </a:graphic>
      </p:graphicFrame>
      <p:graphicFrame>
        <p:nvGraphicFramePr>
          <p:cNvPr id="175169" name="Group 65">
            <a:extLst>
              <a:ext uri="{FF2B5EF4-FFF2-40B4-BE49-F238E27FC236}">
                <a16:creationId xmlns:a16="http://schemas.microsoft.com/office/drawing/2014/main" id="{1D266212-983F-2D49-ADC0-600C6379B9DE}"/>
              </a:ext>
            </a:extLst>
          </p:cNvPr>
          <p:cNvGraphicFramePr>
            <a:graphicFrameLocks noGrp="1"/>
          </p:cNvGraphicFramePr>
          <p:nvPr/>
        </p:nvGraphicFramePr>
        <p:xfrm>
          <a:off x="6781800" y="1066800"/>
          <a:ext cx="1828800" cy="544195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695831023"/>
                    </a:ext>
                  </a:extLst>
                </a:gridCol>
              </a:tblGrid>
              <a:tr h="725488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092733"/>
                  </a:ext>
                </a:extLst>
              </a:tr>
              <a:tr h="812800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690509"/>
                  </a:ext>
                </a:extLst>
              </a:tr>
              <a:tr h="846138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593351"/>
                  </a:ext>
                </a:extLst>
              </a:tr>
              <a:tr h="1120775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780708"/>
                  </a:ext>
                </a:extLst>
              </a:tr>
              <a:tr h="1066800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256702"/>
                  </a:ext>
                </a:extLst>
              </a:tr>
              <a:tr h="869950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1pPr>
                      <a:lvl2pPr marL="457200">
                        <a:spcBef>
                          <a:spcPts val="4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2pPr>
                      <a:lvl3pPr marL="914400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3pPr>
                      <a:lvl4pPr marL="1371600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4pPr>
                      <a:lvl5pPr marL="1828800">
                        <a:spcBef>
                          <a:spcPts val="3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5pPr>
                      <a:lvl6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6pPr>
                      <a:lvl7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7pPr>
                      <a:lvl8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8pPr>
                      <a:lvl9pPr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tr-T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return </a:t>
                      </a:r>
                      <a:r>
                        <a:rPr kumimoji="0" lang="en-US" altLang="tr-T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Droid Sans Fallback" charset="0"/>
                          <a:cs typeface="Droid Sans Fallback" charset="0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296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D4AFB0E9-CE45-E748-81E0-AE4EEFA0DC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tr-TR" dirty="0"/>
              <a:t>More Recursive Algorithms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8AE3F3EE-E180-A24D-8081-F92E5433C9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981200"/>
            <a:ext cx="8991600" cy="45720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defRPr/>
            </a:pPr>
            <a:r>
              <a:rPr lang="en" dirty="0">
                <a:latin typeface="Courier New" panose="02070309020205020404" pitchFamily="49" charset="0"/>
                <a:cs typeface="Courier New" panose="02070309020205020404" pitchFamily="49" charset="0"/>
              </a:rPr>
              <a:t>bool </a:t>
            </a:r>
            <a:r>
              <a:rPr lang="e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isPalindrome</a:t>
            </a:r>
            <a:r>
              <a:rPr lang="en" dirty="0">
                <a:latin typeface="Courier New" panose="02070309020205020404" pitchFamily="49" charset="0"/>
                <a:cs typeface="Courier New" panose="02070309020205020404" pitchFamily="49" charset="0"/>
              </a:rPr>
              <a:t> (string s) {</a:t>
            </a:r>
            <a:br>
              <a:rPr lang="en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s.length</a:t>
            </a:r>
            <a:r>
              <a:rPr lang="en" dirty="0">
                <a:latin typeface="Courier New" panose="02070309020205020404" pitchFamily="49" charset="0"/>
                <a:cs typeface="Courier New" panose="02070309020205020404" pitchFamily="49" charset="0"/>
              </a:rPr>
              <a:t>() &lt;= 1) return true;</a:t>
            </a:r>
            <a:br>
              <a:rPr lang="en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dirty="0">
                <a:latin typeface="Courier New" panose="02070309020205020404" pitchFamily="49" charset="0"/>
                <a:cs typeface="Courier New" panose="02070309020205020404" pitchFamily="49" charset="0"/>
              </a:rPr>
              <a:t>return (s[0]==s[</a:t>
            </a:r>
            <a:r>
              <a:rPr lang="e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s.length</a:t>
            </a:r>
            <a:r>
              <a:rPr lang="en" dirty="0">
                <a:latin typeface="Courier New" panose="02070309020205020404" pitchFamily="49" charset="0"/>
                <a:cs typeface="Courier New" panose="02070309020205020404" pitchFamily="49" charset="0"/>
              </a:rPr>
              <a:t>()-1])</a:t>
            </a:r>
            <a:br>
              <a:rPr lang="en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dirty="0">
                <a:latin typeface="Courier New" panose="02070309020205020404" pitchFamily="49" charset="0"/>
                <a:cs typeface="Courier New" panose="02070309020205020404" pitchFamily="49" charset="0"/>
              </a:rPr>
              <a:t>&amp;&amp; </a:t>
            </a:r>
            <a:r>
              <a:rPr lang="e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isPalindrome</a:t>
            </a:r>
            <a:r>
              <a:rPr lang="e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s.substr</a:t>
            </a:r>
            <a:r>
              <a:rPr lang="en" dirty="0">
                <a:latin typeface="Courier New" panose="02070309020205020404" pitchFamily="49" charset="0"/>
                <a:cs typeface="Courier New" panose="02070309020205020404" pitchFamily="49" charset="0"/>
              </a:rPr>
              <a:t>(1,s.length()-2)); } </a:t>
            </a:r>
            <a:endParaRPr lang="e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tr-TR" sz="2000" b="1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tr-TR" sz="2000" b="1" dirty="0"/>
          </a:p>
          <a:p>
            <a:pPr marL="0" indent="0" eaLnBrk="1" hangingPunct="1">
              <a:lnSpc>
                <a:spcPct val="90000"/>
              </a:lnSpc>
              <a:defRPr/>
            </a:pPr>
            <a:r>
              <a:rPr lang="en-US" alt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T(n) = T(n-2) + c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= (T(n-4) + c) + c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= (T(n-6) + c) + c + c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= (T(n-</a:t>
            </a:r>
            <a:r>
              <a:rPr lang="en-US" alt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+ </a:t>
            </a:r>
            <a:r>
              <a:rPr lang="en-US" alt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/2*c)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when </a:t>
            </a:r>
            <a:r>
              <a:rPr lang="en-US" altLang="tr-T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=n </a:t>
            </a:r>
            <a:r>
              <a:rPr lang="en-US" altLang="tr-TR" sz="2000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 T(0) + n/2*c  T(n) = O(n)</a:t>
            </a:r>
            <a:r>
              <a:rPr lang="en-US" alt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tr-TR" sz="20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tr-TR" sz="2000" b="1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D4AFB0E9-CE45-E748-81E0-AE4EEFA0DC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tr-TR" dirty="0"/>
              <a:t>More Recursive Algorithms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8AE3F3EE-E180-A24D-8081-F92E5433C9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981200"/>
            <a:ext cx="89916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fib(</a:t>
            </a: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  <a:r>
              <a:rPr lang="en-US" altLang="tr-TR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{ //1 1 2 3 5 8 13 21 34 ..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alt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alt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D4AFB0E9-CE45-E748-81E0-AE4EEFA0DC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tr-TR" dirty="0"/>
              <a:t>More Recursive Algorithms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8AE3F3EE-E180-A24D-8081-F92E5433C9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981200"/>
            <a:ext cx="89916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fib(</a:t>
            </a: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  <a:r>
              <a:rPr lang="en-US" altLang="tr-TR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{ //1 1 2 3 5 8 13 21 34 ..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if (n == 1) return 1; if (n == 2) return 1;  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else 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 return fib(n-1) + fib(n-2);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T(n) = 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D4AFB0E9-CE45-E748-81E0-AE4EEFA0DC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tr-TR" dirty="0"/>
              <a:t>More Recursive Algorithms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8AE3F3EE-E180-A24D-8081-F92E5433C9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981200"/>
            <a:ext cx="89916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fib(</a:t>
            </a: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  <a:r>
              <a:rPr lang="en-US" altLang="tr-TR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{ //1 1 2 3 5 8 13 21 34 ..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if (n == 1) return 1; if (n == 2) return 1;  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else 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 return fib(n-1) + fib(n-2);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T(n) = T(n-1) + T(n-2) + c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= (T(n-2) + T(n-3) + c) + (T(n-3) + T(n-4) + c) + c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= gets nasty if we continue substituting; let’s be smarter.</a:t>
            </a:r>
            <a:endParaRPr lang="en-US" alt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D4AFB0E9-CE45-E748-81E0-AE4EEFA0DC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tr-TR" dirty="0"/>
              <a:t>More Recursive Algorithms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8AE3F3EE-E180-A24D-8081-F92E5433C9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981200"/>
            <a:ext cx="89916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fib(</a:t>
            </a: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  <a:r>
              <a:rPr lang="en-US" altLang="tr-TR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{ //1 1 2 3 5 8 13 21 34 ..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if (n == 1) return 1; if (n == 2) return 1;  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else 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 return fib(n-1) + fib(n-2);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T(n) = T(n-1) + T(n-2) + c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T(n-1) + T(n-2) + c &lt; T(n-1) + T(n-1) + c = O(2</a:t>
            </a:r>
            <a:r>
              <a:rPr lang="en-US" altLang="tr-TR" sz="1400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as we showed in slide37.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This shows that it cannot exceed O(2</a:t>
            </a:r>
            <a:r>
              <a:rPr lang="en-US" altLang="tr-TR" sz="1400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), hence an upper bound.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D4AFB0E9-CE45-E748-81E0-AE4EEFA0DC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tr-TR" dirty="0"/>
              <a:t>More Recursive Algorithms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8AE3F3EE-E180-A24D-8081-F92E5433C9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693863"/>
            <a:ext cx="8991600" cy="50482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fib(</a:t>
            </a: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  <a:r>
              <a:rPr lang="en-US" altLang="tr-TR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{ //1 1 2 3 5 8 13 21 34 ..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if (n == 1) return 1; if (n == 2) return 1;  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else 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 return fib(n-1) + fib(n-2);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T(n) = T(n-1) + T(n-2) + c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T(n-1) + T(n-2) + c &lt; T(n-1) + T(n-1) + c = O(2</a:t>
            </a:r>
            <a:r>
              <a:rPr lang="en-US" altLang="tr-TR" sz="1400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as we showed in slide37.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This shows that it cannot exceed O(2</a:t>
            </a:r>
            <a:r>
              <a:rPr lang="en-US" altLang="tr-TR" sz="1400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), hence an upper bound.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let’s go for the </a:t>
            </a:r>
            <a:r>
              <a:rPr lang="en-US" altLang="tr-TR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lower</a:t>
            </a: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bound; if it’s </a:t>
            </a:r>
            <a:r>
              <a:rPr lang="en-US" altLang="zh-CN" sz="1400" dirty="0">
                <a:solidFill>
                  <a:srgbClr val="C00000"/>
                </a:solidFill>
                <a:ea typeface="宋体" panose="02010600030101010101" pitchFamily="2" charset="-122"/>
                <a:sym typeface="Symbol" pitchFamily="2" charset="2"/>
              </a:rPr>
              <a:t></a:t>
            </a: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(2</a:t>
            </a:r>
            <a:r>
              <a:rPr lang="en-US" altLang="tr-TR" sz="1400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), then T(n) is </a:t>
            </a:r>
            <a:r>
              <a:rPr lang="en-US" altLang="zh-CN" sz="1400" dirty="0">
                <a:solidFill>
                  <a:srgbClr val="FFC000"/>
                </a:solidFill>
                <a:ea typeface="宋体" panose="02010600030101010101" pitchFamily="2" charset="-122"/>
                <a:sym typeface="Symbol" pitchFamily="2" charset="2"/>
              </a:rPr>
              <a:t></a:t>
            </a: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(2</a:t>
            </a:r>
            <a:r>
              <a:rPr lang="en-US" altLang="tr-TR" sz="1400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T(n-1) + T(n-2) + c &gt; T(n-2) + T(n-2) + c //cos T(n-1) &gt; T(n-2) slightly.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T(n) = 2T(n-2) + c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  = 2(2T(n-4) + c) + c = 4T(n-4) + 3c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  = 2(2(2T(n-6) + c) + c) + c = 8T(n-6) + 7c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  = 				= 16T(n-8) + 15c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  = 2</a:t>
            </a:r>
            <a:r>
              <a:rPr lang="en-US" altLang="tr-TR" sz="1400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T(n-2i) + (2</a:t>
            </a:r>
            <a:r>
              <a:rPr lang="en-US" altLang="tr-TR" sz="1400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-1)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when </a:t>
            </a:r>
            <a:r>
              <a:rPr lang="en-US" altLang="tr-T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n/2 </a:t>
            </a: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 2</a:t>
            </a:r>
            <a:r>
              <a:rPr lang="en-US" altLang="tr-TR" sz="1400" baseline="30000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n/2</a:t>
            </a: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T(0) + 2</a:t>
            </a:r>
            <a:r>
              <a:rPr lang="en-US" altLang="tr-TR" sz="1400" baseline="30000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n/2</a:t>
            </a: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-1 = </a:t>
            </a:r>
            <a:r>
              <a:rPr lang="en-US" altLang="zh-CN" sz="1400" dirty="0">
                <a:solidFill>
                  <a:srgbClr val="C00000"/>
                </a:solidFill>
                <a:ea typeface="宋体" panose="02010600030101010101" pitchFamily="2" charset="-122"/>
                <a:sym typeface="Symbol" pitchFamily="2" charset="2"/>
              </a:rPr>
              <a:t></a:t>
            </a: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(2</a:t>
            </a:r>
            <a:r>
              <a:rPr lang="en-US" altLang="tr-TR" sz="1400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is the lower bound for T(n).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D4AFB0E9-CE45-E748-81E0-AE4EEFA0DC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tr-TR" dirty="0"/>
              <a:t>More Recursive Algorithms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8AE3F3EE-E180-A24D-8081-F92E5433C9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981200"/>
            <a:ext cx="8991600" cy="50482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fib(</a:t>
            </a: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  <a:r>
              <a:rPr lang="en-US" altLang="tr-TR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{ //1 1 2 3 5 8 13 21 34 ..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if (n == 1) return 1; if (n == 2) return 1;  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else 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 return fib(n-1) + fib(n-2);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Alternative method.				</a:t>
            </a:r>
            <a:r>
              <a:rPr lang="en-US" altLang="tr-TR" sz="1300" dirty="0">
                <a:solidFill>
                  <a:srgbClr val="1A29E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Lots of re-computations.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Guess T(n) = O(2</a:t>
            </a:r>
            <a:r>
              <a:rPr lang="en-US" altLang="tr-TR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tr-TR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‘cos n </a:t>
            </a:r>
            <a:r>
              <a:rPr lang="en-US" altLang="tr-TR" sz="1300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 </a:t>
            </a:r>
            <a:r>
              <a:rPr lang="en-US" altLang="tr-TR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n-1+n-2=2n-3 doubling, seems to be exponential. You can also get this guess from the recursion tree.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Assume T(n-1) = O(2</a:t>
            </a:r>
            <a:r>
              <a:rPr lang="en-US" altLang="tr-TR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n-1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), induction hypothesis.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T(n) = T(n-1) + T(n-2) + O(1)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	= O(2</a:t>
            </a:r>
            <a:r>
              <a:rPr lang="en-US" altLang="tr-TR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n-1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) + O(2</a:t>
            </a:r>
            <a:r>
              <a:rPr lang="en-US" altLang="tr-TR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n-2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) + O(1) = O(2</a:t>
            </a:r>
            <a:r>
              <a:rPr lang="en-US" altLang="tr-TR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</p:txBody>
      </p:sp>
      <p:pic>
        <p:nvPicPr>
          <p:cNvPr id="119811" name="Picture 2">
            <a:extLst>
              <a:ext uri="{FF2B5EF4-FFF2-40B4-BE49-F238E27FC236}">
                <a16:creationId xmlns:a16="http://schemas.microsoft.com/office/drawing/2014/main" id="{36F2D732-CA1F-8625-F4DA-CF4978B15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538" y="2708275"/>
            <a:ext cx="2657475" cy="132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D4AFB0E9-CE45-E748-81E0-AE4EEFA0DC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tr-TR" dirty="0"/>
              <a:t>More Recursive Algorithms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8AE3F3EE-E180-A24D-8081-F92E5433C9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981200"/>
            <a:ext cx="8991600" cy="50482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fib(</a:t>
            </a: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  <a:r>
              <a:rPr lang="en-US" altLang="tr-TR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{ //1 1 2 3 5 8 13 21 34 ..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if (n == 1) return 1; if (n == 2) return 1;  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else 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 return fib(n-1) + fib(n-2);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T(n) = O(2</a:t>
            </a:r>
            <a:r>
              <a:rPr lang="en-US" altLang="tr-TR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). Can you solve fib in O(n)?</a:t>
            </a:r>
            <a:endParaRPr lang="en-US" altLang="tr-TR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9" name="Rectangle 3">
            <a:extLst>
              <a:ext uri="{FF2B5EF4-FFF2-40B4-BE49-F238E27FC236}">
                <a16:creationId xmlns:a16="http://schemas.microsoft.com/office/drawing/2014/main" id="{8AE3F3EE-E180-A24D-8081-F92E5433C9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981200"/>
            <a:ext cx="8991600" cy="50482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fibo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  <a:r>
              <a:rPr lang="en-US" altLang="tr-TR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{ //1 1 2 3 5 8 13 21 34 ..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if (n == 1) return 1; if (n == 2) return 1;  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else 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 return </a:t>
            </a: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fibo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(n-1) + </a:t>
            </a: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fibo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(n-2);</a:t>
            </a:r>
            <a:endParaRPr lang="en-US" altLang="tr-TR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T(n) = O(2</a:t>
            </a:r>
            <a:r>
              <a:rPr lang="en-US" altLang="tr-TR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). Can you solve fib in O(n)? </a:t>
            </a:r>
            <a:r>
              <a:rPr lang="en-US" altLang="tr-T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(Non-rec).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					                            a=1, b = c = 0;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tr-T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tr-T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tr-T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		    or				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				 </a:t>
            </a: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 </a:t>
            </a:r>
            <a:r>
              <a:rPr lang="en-US" altLang="tr-T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recomputations</a:t>
            </a:r>
            <a:r>
              <a:rPr lang="en-US" altLang="tr-T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avoided!</a:t>
            </a:r>
          </a:p>
        </p:txBody>
      </p:sp>
      <p:pic>
        <p:nvPicPr>
          <p:cNvPr id="123906" name="Picture 7">
            <a:extLst>
              <a:ext uri="{FF2B5EF4-FFF2-40B4-BE49-F238E27FC236}">
                <a16:creationId xmlns:a16="http://schemas.microsoft.com/office/drawing/2014/main" id="{BA9D002D-B511-E466-14C8-5201DACE9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4941888"/>
            <a:ext cx="1612900" cy="176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618" name="Rectangle 2">
            <a:extLst>
              <a:ext uri="{FF2B5EF4-FFF2-40B4-BE49-F238E27FC236}">
                <a16:creationId xmlns:a16="http://schemas.microsoft.com/office/drawing/2014/main" id="{D4AFB0E9-CE45-E748-81E0-AE4EEFA0DC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tr-TR" dirty="0"/>
              <a:t>More Recursive Algorithms</a:t>
            </a:r>
          </a:p>
        </p:txBody>
      </p:sp>
      <p:pic>
        <p:nvPicPr>
          <p:cNvPr id="123908" name="Picture 5">
            <a:extLst>
              <a:ext uri="{FF2B5EF4-FFF2-40B4-BE49-F238E27FC236}">
                <a16:creationId xmlns:a16="http://schemas.microsoft.com/office/drawing/2014/main" id="{BE9CFF20-127F-8D96-0AB4-ED34119E1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4581525"/>
            <a:ext cx="2082800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909" name="Picture 2">
            <a:extLst>
              <a:ext uri="{FF2B5EF4-FFF2-40B4-BE49-F238E27FC236}">
                <a16:creationId xmlns:a16="http://schemas.microsoft.com/office/drawing/2014/main" id="{944A9D03-1046-8C9F-30A3-D564A2660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2913" y="4675188"/>
            <a:ext cx="2657475" cy="132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D4AFB0E9-CE45-E748-81E0-AE4EEFA0DC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tr-TR" dirty="0"/>
              <a:t>More Recursive Algorithms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8AE3F3EE-E180-A24D-8081-F92E5433C9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981200"/>
            <a:ext cx="8991600" cy="50482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Count positive integers in an array recursively?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countPos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* A, </a:t>
            </a: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j) {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alt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alt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alt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alt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altLang="tr-T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D4AFB0E9-CE45-E748-81E0-AE4EEFA0DC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tr-TR" dirty="0"/>
              <a:t>More Recursive Algorithms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8AE3F3EE-E180-A24D-8081-F92E5433C9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981200"/>
            <a:ext cx="8991600" cy="50482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Count positive integers in an array recursively?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countPos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* A, </a:t>
            </a: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j) { </a:t>
            </a:r>
            <a:r>
              <a:rPr lang="en-US" altLang="tr-TR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//1st call </a:t>
            </a:r>
            <a:r>
              <a:rPr lang="en-US" altLang="tr-TR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countPos</a:t>
            </a:r>
            <a:r>
              <a:rPr lang="en-US" altLang="tr-TR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(A, n-1)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if (j &lt; 0) return 0;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if (A[j] &gt; 0) return 1 + </a:t>
            </a: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countPos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(A, j-1);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else 		 return 0 + </a:t>
            </a:r>
            <a:r>
              <a:rPr lang="en-US" alt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countPos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(A, j-1);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T(n) = T(n-1) + c </a:t>
            </a: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 T(n) = O(n) from slide 38.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tr-TR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Iterative version is also O(n).</a:t>
            </a:r>
            <a:endParaRPr lang="en-US" alt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alt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altLang="tr-T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1">
            <a:extLst>
              <a:ext uri="{FF2B5EF4-FFF2-40B4-BE49-F238E27FC236}">
                <a16:creationId xmlns:a16="http://schemas.microsoft.com/office/drawing/2014/main" id="{673E9490-6745-8346-B98C-E44FE57EB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65539" name="Text Box 2">
            <a:extLst>
              <a:ext uri="{FF2B5EF4-FFF2-40B4-BE49-F238E27FC236}">
                <a16:creationId xmlns:a16="http://schemas.microsoft.com/office/drawing/2014/main" id="{2B3265E0-45AF-0D4F-A183-C32159DBE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217B487E-B4D3-1C4E-9653-C7B51B26FA9B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65</a:t>
            </a:fld>
            <a:endParaRPr lang="tr-TR" altLang="tr-TR" sz="800"/>
          </a:p>
        </p:txBody>
      </p:sp>
      <p:sp>
        <p:nvSpPr>
          <p:cNvPr id="65540" name="Text Box 3">
            <a:extLst>
              <a:ext uri="{FF2B5EF4-FFF2-40B4-BE49-F238E27FC236}">
                <a16:creationId xmlns:a16="http://schemas.microsoft.com/office/drawing/2014/main" id="{7283325B-91A7-5140-A93A-BA3317387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What to Analyze</a:t>
            </a:r>
          </a:p>
        </p:txBody>
      </p:sp>
      <p:sp>
        <p:nvSpPr>
          <p:cNvPr id="65541" name="Text Box 4">
            <a:extLst>
              <a:ext uri="{FF2B5EF4-FFF2-40B4-BE49-F238E27FC236}">
                <a16:creationId xmlns:a16="http://schemas.microsoft.com/office/drawing/2014/main" id="{45EBD305-79FB-554F-889E-2A6D58BDD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990600"/>
            <a:ext cx="8580438" cy="556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33375" indent="-333375">
              <a:buClr>
                <a:srgbClr val="000000"/>
              </a:buClr>
              <a:buSzPct val="100000"/>
              <a:buFont typeface="Times New Roman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 marL="733425" indent="-276225">
              <a:buClr>
                <a:srgbClr val="000000"/>
              </a:buClr>
              <a:buSzPct val="100000"/>
              <a:buFont typeface="Times New Roman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00"/>
              </a:spcBef>
              <a:buFont typeface="Times New Roman" charset="0"/>
              <a:buChar char="•"/>
              <a:defRPr/>
            </a:pPr>
            <a:r>
              <a:rPr lang="tr-TR" altLang="tr-TR">
                <a:solidFill>
                  <a:srgbClr val="000000"/>
                </a:solidFill>
              </a:rPr>
              <a:t>An algorithm can require different times to solve different problems of the same size.</a:t>
            </a:r>
          </a:p>
          <a:p>
            <a:pPr lvl="1" eaLnBrk="1" hangingPunct="1">
              <a:lnSpc>
                <a:spcPct val="90000"/>
              </a:lnSpc>
              <a:spcBef>
                <a:spcPts val="450"/>
              </a:spcBef>
              <a:buFont typeface="Times New Roman" charset="0"/>
              <a:buChar char="–"/>
              <a:defRPr/>
            </a:pPr>
            <a:r>
              <a:rPr lang="tr-TR" altLang="tr-TR" sz="1800">
                <a:solidFill>
                  <a:srgbClr val="000000"/>
                </a:solidFill>
              </a:rPr>
              <a:t>Eg. Searching an item in a list of n elements using sequential search. </a:t>
            </a:r>
            <a:r>
              <a:rPr lang="tr-TR" altLang="tr-TR" sz="1800">
                <a:solidFill>
                  <a:srgbClr val="000000"/>
                </a:solidFill>
                <a:latin typeface="Wingdings" charset="2"/>
              </a:rPr>
              <a:t></a:t>
            </a:r>
            <a:r>
              <a:rPr lang="tr-TR" altLang="tr-TR" sz="1800">
                <a:solidFill>
                  <a:srgbClr val="000000"/>
                </a:solidFill>
              </a:rPr>
              <a:t> Cost: 1,2,...,n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Font typeface="Times New Roman" charset="0"/>
              <a:buChar char="•"/>
              <a:defRPr/>
            </a:pPr>
            <a:r>
              <a:rPr lang="tr-TR" altLang="tr-TR" b="1" i="1">
                <a:solidFill>
                  <a:srgbClr val="000000"/>
                </a:solidFill>
              </a:rPr>
              <a:t>Worst-Case Analysis</a:t>
            </a:r>
            <a:r>
              <a:rPr lang="tr-TR" altLang="tr-TR">
                <a:solidFill>
                  <a:srgbClr val="000000"/>
                </a:solidFill>
              </a:rPr>
              <a:t> –The maximum amount of time that an algorithm require to solve a problem of size n.</a:t>
            </a:r>
          </a:p>
          <a:p>
            <a:pPr lvl="1" eaLnBrk="1" hangingPunct="1">
              <a:lnSpc>
                <a:spcPct val="90000"/>
              </a:lnSpc>
              <a:spcBef>
                <a:spcPts val="450"/>
              </a:spcBef>
              <a:buFont typeface="Times New Roman" charset="0"/>
              <a:buChar char="–"/>
              <a:defRPr/>
            </a:pPr>
            <a:r>
              <a:rPr lang="tr-TR" altLang="tr-TR" sz="1800">
                <a:solidFill>
                  <a:srgbClr val="000000"/>
                </a:solidFill>
              </a:rPr>
              <a:t>This gives an upper bound for the time complexity of an algorithm.</a:t>
            </a:r>
          </a:p>
          <a:p>
            <a:pPr lvl="1" eaLnBrk="1" hangingPunct="1">
              <a:lnSpc>
                <a:spcPct val="90000"/>
              </a:lnSpc>
              <a:spcBef>
                <a:spcPts val="450"/>
              </a:spcBef>
              <a:buFont typeface="Times New Roman" charset="0"/>
              <a:buChar char="–"/>
              <a:defRPr/>
            </a:pPr>
            <a:r>
              <a:rPr lang="tr-TR" altLang="tr-TR" sz="1800">
                <a:solidFill>
                  <a:srgbClr val="000000"/>
                </a:solidFill>
              </a:rPr>
              <a:t>Normally, we try to find worst-case behavior of an algorithm.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Font typeface="Times New Roman" charset="0"/>
              <a:buChar char="•"/>
              <a:defRPr/>
            </a:pPr>
            <a:r>
              <a:rPr lang="tr-TR" altLang="tr-TR" b="1" i="1">
                <a:solidFill>
                  <a:srgbClr val="000000"/>
                </a:solidFill>
              </a:rPr>
              <a:t>Best-Case Analysis</a:t>
            </a:r>
            <a:r>
              <a:rPr lang="tr-TR" altLang="tr-TR">
                <a:solidFill>
                  <a:srgbClr val="000000"/>
                </a:solidFill>
              </a:rPr>
              <a:t> –The minimum amount of time that an algorithm require to solve a problem of size n.</a:t>
            </a:r>
          </a:p>
          <a:p>
            <a:pPr lvl="1" eaLnBrk="1" hangingPunct="1">
              <a:lnSpc>
                <a:spcPct val="90000"/>
              </a:lnSpc>
              <a:spcBef>
                <a:spcPts val="450"/>
              </a:spcBef>
              <a:buFont typeface="Times New Roman" charset="0"/>
              <a:buChar char="–"/>
              <a:defRPr/>
            </a:pPr>
            <a:r>
              <a:rPr lang="tr-TR" altLang="tr-TR" sz="1800">
                <a:solidFill>
                  <a:srgbClr val="000000"/>
                </a:solidFill>
              </a:rPr>
              <a:t>The best case behavior of an algorithm is NOT so useful. 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Font typeface="Times New Roman" charset="0"/>
              <a:buChar char="•"/>
              <a:defRPr/>
            </a:pPr>
            <a:r>
              <a:rPr lang="tr-TR" altLang="tr-TR" b="1" i="1">
                <a:solidFill>
                  <a:srgbClr val="000000"/>
                </a:solidFill>
              </a:rPr>
              <a:t>Average-Case Analysis</a:t>
            </a:r>
            <a:r>
              <a:rPr lang="tr-TR" altLang="tr-TR">
                <a:solidFill>
                  <a:srgbClr val="000000"/>
                </a:solidFill>
              </a:rPr>
              <a:t> –The average amount of time that an algorithm require to solve a problem of size n.</a:t>
            </a:r>
          </a:p>
          <a:p>
            <a:pPr lvl="1" eaLnBrk="1" hangingPunct="1">
              <a:lnSpc>
                <a:spcPct val="90000"/>
              </a:lnSpc>
              <a:spcBef>
                <a:spcPts val="450"/>
              </a:spcBef>
              <a:buFont typeface="Times New Roman" charset="0"/>
              <a:buChar char="–"/>
              <a:defRPr/>
            </a:pPr>
            <a:r>
              <a:rPr lang="tr-TR" altLang="tr-TR" sz="1800">
                <a:solidFill>
                  <a:srgbClr val="000000"/>
                </a:solidFill>
              </a:rPr>
              <a:t>Sometimes, it is difficult to find the average-case behavior of an algorithm.</a:t>
            </a:r>
          </a:p>
          <a:p>
            <a:pPr lvl="1" eaLnBrk="1" hangingPunct="1">
              <a:lnSpc>
                <a:spcPct val="90000"/>
              </a:lnSpc>
              <a:spcBef>
                <a:spcPts val="450"/>
              </a:spcBef>
              <a:buFont typeface="Times New Roman" charset="0"/>
              <a:buChar char="–"/>
              <a:defRPr/>
            </a:pPr>
            <a:r>
              <a:rPr lang="tr-TR" altLang="tr-TR" sz="1800">
                <a:solidFill>
                  <a:srgbClr val="000000"/>
                </a:solidFill>
              </a:rPr>
              <a:t>We have to look at all possible data organizations of a given size n, and their distribution probabilities of these organizations.</a:t>
            </a:r>
          </a:p>
          <a:p>
            <a:pPr lvl="1" eaLnBrk="1" hangingPunct="1">
              <a:lnSpc>
                <a:spcPct val="90000"/>
              </a:lnSpc>
              <a:spcBef>
                <a:spcPts val="450"/>
              </a:spcBef>
              <a:buFont typeface="Times New Roman" charset="0"/>
              <a:buChar char="–"/>
              <a:defRPr/>
            </a:pPr>
            <a:r>
              <a:rPr lang="tr-TR" altLang="tr-TR" sz="1800" b="1" i="1">
                <a:solidFill>
                  <a:srgbClr val="000000"/>
                </a:solidFill>
              </a:rPr>
              <a:t>Worst-case analysis is more common than average-case analysis.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>
            <a:extLst>
              <a:ext uri="{FF2B5EF4-FFF2-40B4-BE49-F238E27FC236}">
                <a16:creationId xmlns:a16="http://schemas.microsoft.com/office/drawing/2014/main" id="{3C375E80-E5D8-2143-B9EE-23E08561E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67587" name="Text Box 2">
            <a:extLst>
              <a:ext uri="{FF2B5EF4-FFF2-40B4-BE49-F238E27FC236}">
                <a16:creationId xmlns:a16="http://schemas.microsoft.com/office/drawing/2014/main" id="{0D1C53D0-37A0-F846-A7D0-3CC90FC35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4C84CA8-6CB7-9346-A47A-0869BE115916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66</a:t>
            </a:fld>
            <a:endParaRPr lang="tr-TR" altLang="tr-TR" sz="800"/>
          </a:p>
        </p:txBody>
      </p:sp>
      <p:sp>
        <p:nvSpPr>
          <p:cNvPr id="67588" name="Text Box 3">
            <a:extLst>
              <a:ext uri="{FF2B5EF4-FFF2-40B4-BE49-F238E27FC236}">
                <a16:creationId xmlns:a16="http://schemas.microsoft.com/office/drawing/2014/main" id="{B2870E85-446A-4342-9619-27977DA59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Sequential Search</a:t>
            </a:r>
          </a:p>
        </p:txBody>
      </p:sp>
      <p:sp>
        <p:nvSpPr>
          <p:cNvPr id="67589" name="Text Box 4">
            <a:extLst>
              <a:ext uri="{FF2B5EF4-FFF2-40B4-BE49-F238E27FC236}">
                <a16:creationId xmlns:a16="http://schemas.microsoft.com/office/drawing/2014/main" id="{4A0AFB43-47D1-0049-991E-D39E5D5CE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219200"/>
            <a:ext cx="8580438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42900" indent="-333375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>
                <a:latin typeface="Courier New" panose="02070309020205020404" pitchFamily="49" charset="0"/>
              </a:rPr>
              <a:t>int sequentialSearch(const int a[], int item, int n){</a:t>
            </a:r>
          </a:p>
          <a:p>
            <a:pPr eaLnBrk="1" hangingPunct="1">
              <a:lnSpc>
                <a:spcPct val="90000"/>
              </a:lnSpc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>
                <a:latin typeface="Courier New" panose="02070309020205020404" pitchFamily="49" charset="0"/>
              </a:rPr>
              <a:t>	for (int i = 0; i &lt; n &amp;&amp; a[i]!= item; i++);</a:t>
            </a:r>
          </a:p>
          <a:p>
            <a:pPr eaLnBrk="1" hangingPunct="1">
              <a:lnSpc>
                <a:spcPct val="90000"/>
              </a:lnSpc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>
                <a:latin typeface="Courier New" panose="02070309020205020404" pitchFamily="49" charset="0"/>
              </a:rPr>
              <a:t>	if (i == n)</a:t>
            </a:r>
          </a:p>
          <a:p>
            <a:pPr eaLnBrk="1" hangingPunct="1">
              <a:lnSpc>
                <a:spcPct val="90000"/>
              </a:lnSpc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>
                <a:latin typeface="Courier New" panose="02070309020205020404" pitchFamily="49" charset="0"/>
              </a:rPr>
              <a:t>		return –1;</a:t>
            </a:r>
          </a:p>
          <a:p>
            <a:pPr eaLnBrk="1" hangingPunct="1">
              <a:lnSpc>
                <a:spcPct val="90000"/>
              </a:lnSpc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>
                <a:latin typeface="Courier New" panose="02070309020205020404" pitchFamily="49" charset="0"/>
              </a:rPr>
              <a:t>	return i;</a:t>
            </a:r>
          </a:p>
          <a:p>
            <a:pPr eaLnBrk="1" hangingPunct="1">
              <a:lnSpc>
                <a:spcPct val="90000"/>
              </a:lnSpc>
              <a:spcBef>
                <a:spcPts val="450"/>
              </a:spcBef>
              <a:buClrTx/>
              <a:buFontTx/>
              <a:buNone/>
              <a:defRPr/>
            </a:pPr>
            <a:r>
              <a:rPr lang="tr-TR" altLang="tr-TR" sz="180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 b="1" i="1"/>
              <a:t>Unsuccessful Search:</a:t>
            </a:r>
            <a:r>
              <a:rPr lang="tr-TR" altLang="tr-TR" sz="2000"/>
              <a:t>	</a:t>
            </a:r>
            <a:r>
              <a:rPr lang="tr-TR" altLang="tr-TR" sz="2000">
                <a:latin typeface="Wingdings" pitchFamily="2" charset="2"/>
              </a:rPr>
              <a:t></a:t>
            </a:r>
            <a:r>
              <a:rPr lang="tr-TR" altLang="tr-TR" sz="2000"/>
              <a:t> O(n)</a:t>
            </a:r>
          </a:p>
          <a:p>
            <a:pPr eaLnBrk="1" hangingPunct="1">
              <a:lnSpc>
                <a:spcPct val="90000"/>
              </a:lnSpc>
              <a:spcBef>
                <a:spcPts val="450"/>
              </a:spcBef>
              <a:buClrTx/>
              <a:buFontTx/>
              <a:buNone/>
              <a:defRPr/>
            </a:pPr>
            <a:endParaRPr lang="tr-TR" altLang="tr-TR" sz="180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 b="1" i="1"/>
              <a:t>Successful Search: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 b="1"/>
              <a:t>	Best-Case:</a:t>
            </a:r>
            <a:r>
              <a:rPr lang="tr-TR" altLang="tr-TR" sz="2000"/>
              <a:t>  </a:t>
            </a:r>
            <a:r>
              <a:rPr lang="tr-TR" altLang="tr-TR" sz="2000" i="1"/>
              <a:t>item</a:t>
            </a:r>
            <a:r>
              <a:rPr lang="tr-TR" altLang="tr-TR" sz="2000"/>
              <a:t> is in the first location of the array </a:t>
            </a:r>
            <a:r>
              <a:rPr lang="tr-TR" altLang="tr-TR" sz="2000">
                <a:latin typeface="Wingdings" pitchFamily="2" charset="2"/>
              </a:rPr>
              <a:t></a:t>
            </a:r>
            <a:r>
              <a:rPr lang="tr-TR" altLang="tr-TR" sz="2000"/>
              <a:t>O(1)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	</a:t>
            </a:r>
            <a:r>
              <a:rPr lang="tr-TR" altLang="tr-TR" sz="2000" b="1"/>
              <a:t>Worst-Case:</a:t>
            </a:r>
            <a:r>
              <a:rPr lang="tr-TR" altLang="tr-TR" sz="2000"/>
              <a:t> </a:t>
            </a:r>
            <a:r>
              <a:rPr lang="tr-TR" altLang="tr-TR" sz="2000" i="1"/>
              <a:t>item</a:t>
            </a:r>
            <a:r>
              <a:rPr lang="tr-TR" altLang="tr-TR" sz="2000"/>
              <a:t> is in the last location of the array </a:t>
            </a:r>
            <a:r>
              <a:rPr lang="tr-TR" altLang="tr-TR" sz="2000">
                <a:latin typeface="Wingdings" pitchFamily="2" charset="2"/>
              </a:rPr>
              <a:t></a:t>
            </a:r>
            <a:r>
              <a:rPr lang="tr-TR" altLang="tr-TR" sz="2000"/>
              <a:t>O(n)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	</a:t>
            </a:r>
            <a:r>
              <a:rPr lang="tr-TR" altLang="tr-TR" sz="2000" b="1"/>
              <a:t>Average-Case</a:t>
            </a:r>
            <a:r>
              <a:rPr lang="tr-TR" altLang="tr-TR" sz="2000"/>
              <a:t>: The number of key comparisons 1, 2, ..., n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				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endParaRPr lang="tr-TR" altLang="tr-TR" sz="2000"/>
          </a:p>
          <a:p>
            <a:pPr eaLnBrk="1" hangingPunct="1">
              <a:lnSpc>
                <a:spcPct val="90000"/>
              </a:lnSpc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				                </a:t>
            </a:r>
            <a:r>
              <a:rPr lang="tr-TR" altLang="tr-TR" sz="2000">
                <a:latin typeface="Wingdings" pitchFamily="2" charset="2"/>
              </a:rPr>
              <a:t></a:t>
            </a:r>
            <a:r>
              <a:rPr lang="tr-TR" altLang="tr-TR" sz="2000"/>
              <a:t> O(n)</a:t>
            </a:r>
          </a:p>
        </p:txBody>
      </p:sp>
      <p:graphicFrame>
        <p:nvGraphicFramePr>
          <p:cNvPr id="132102" name="Object 5">
            <a:extLst>
              <a:ext uri="{FF2B5EF4-FFF2-40B4-BE49-F238E27FC236}">
                <a16:creationId xmlns:a16="http://schemas.microsoft.com/office/drawing/2014/main" id="{6CA5CC4B-C461-4BA6-0260-9693FB1078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2400" y="5257800"/>
          <a:ext cx="1677988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43000" imgH="635000" progId="">
                  <p:embed/>
                </p:oleObj>
              </mc:Choice>
              <mc:Fallback>
                <p:oleObj r:id="rId3" imgW="1143000" imgH="63500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5257800"/>
                        <a:ext cx="1677988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1">
            <a:extLst>
              <a:ext uri="{FF2B5EF4-FFF2-40B4-BE49-F238E27FC236}">
                <a16:creationId xmlns:a16="http://schemas.microsoft.com/office/drawing/2014/main" id="{3D4B8760-6BCB-DF4E-A319-B94EF15F7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69635" name="Text Box 2">
            <a:extLst>
              <a:ext uri="{FF2B5EF4-FFF2-40B4-BE49-F238E27FC236}">
                <a16:creationId xmlns:a16="http://schemas.microsoft.com/office/drawing/2014/main" id="{8BB969F6-B049-3A4A-AABA-1A86D2376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648E2C9-35D6-A34E-B6F7-2E5C538C2195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67</a:t>
            </a:fld>
            <a:endParaRPr lang="tr-TR" altLang="tr-TR" sz="800"/>
          </a:p>
        </p:txBody>
      </p:sp>
      <p:sp>
        <p:nvSpPr>
          <p:cNvPr id="69636" name="Text Box 3">
            <a:extLst>
              <a:ext uri="{FF2B5EF4-FFF2-40B4-BE49-F238E27FC236}">
                <a16:creationId xmlns:a16="http://schemas.microsoft.com/office/drawing/2014/main" id="{BC4F7BC1-0414-D041-8064-D4E0EA9A2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Binary Search</a:t>
            </a:r>
          </a:p>
        </p:txBody>
      </p:sp>
      <p:sp>
        <p:nvSpPr>
          <p:cNvPr id="69637" name="Text Box 4">
            <a:extLst>
              <a:ext uri="{FF2B5EF4-FFF2-40B4-BE49-F238E27FC236}">
                <a16:creationId xmlns:a16="http://schemas.microsoft.com/office/drawing/2014/main" id="{66246B75-0E7F-764E-8FB2-4491CAEDF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2082800"/>
            <a:ext cx="8580438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42900" indent="-333375"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lnSpc>
                <a:spcPct val="85000"/>
              </a:lnSpc>
              <a:buClrTx/>
              <a:buFontTx/>
              <a:buNone/>
              <a:defRPr/>
            </a:pPr>
            <a:r>
              <a:rPr lang="tr-TR" altLang="tr-TR" sz="2000">
                <a:solidFill>
                  <a:srgbClr val="000000"/>
                </a:solidFill>
                <a:latin typeface="Courier New" charset="0"/>
              </a:rPr>
              <a:t>int binarySearch(int a[], int size, int x) {</a:t>
            </a:r>
          </a:p>
          <a:p>
            <a:pPr eaLnBrk="1" hangingPunct="1">
              <a:lnSpc>
                <a:spcPct val="85000"/>
              </a:lnSpc>
              <a:buClrTx/>
              <a:buFontTx/>
              <a:buNone/>
              <a:defRPr/>
            </a:pPr>
            <a:r>
              <a:rPr lang="tr-TR" altLang="tr-TR" sz="2000">
                <a:solidFill>
                  <a:srgbClr val="000000"/>
                </a:solidFill>
                <a:latin typeface="Courier New" charset="0"/>
              </a:rPr>
              <a:t>   int low =0;</a:t>
            </a:r>
          </a:p>
          <a:p>
            <a:pPr eaLnBrk="1" hangingPunct="1">
              <a:lnSpc>
                <a:spcPct val="85000"/>
              </a:lnSpc>
              <a:buClrTx/>
              <a:buFontTx/>
              <a:buNone/>
              <a:defRPr/>
            </a:pPr>
            <a:r>
              <a:rPr lang="tr-TR" altLang="tr-TR" sz="2000">
                <a:solidFill>
                  <a:srgbClr val="000000"/>
                </a:solidFill>
                <a:latin typeface="Courier New" charset="0"/>
              </a:rPr>
              <a:t>   int high = size –1;</a:t>
            </a:r>
          </a:p>
          <a:p>
            <a:pPr eaLnBrk="1" hangingPunct="1">
              <a:lnSpc>
                <a:spcPct val="85000"/>
              </a:lnSpc>
              <a:buClrTx/>
              <a:buFontTx/>
              <a:buNone/>
              <a:defRPr/>
            </a:pPr>
            <a:r>
              <a:rPr lang="tr-TR" altLang="tr-TR" sz="2000">
                <a:solidFill>
                  <a:srgbClr val="000000"/>
                </a:solidFill>
                <a:latin typeface="Courier New" charset="0"/>
              </a:rPr>
              <a:t>   int mid; 	  // mid will be the index of </a:t>
            </a:r>
          </a:p>
          <a:p>
            <a:pPr eaLnBrk="1" hangingPunct="1">
              <a:lnSpc>
                <a:spcPct val="85000"/>
              </a:lnSpc>
              <a:buClrTx/>
              <a:buFontTx/>
              <a:buNone/>
              <a:defRPr/>
            </a:pPr>
            <a:r>
              <a:rPr lang="tr-TR" altLang="tr-TR" sz="2000">
                <a:solidFill>
                  <a:srgbClr val="000000"/>
                </a:solidFill>
                <a:latin typeface="Courier New" charset="0"/>
              </a:rPr>
              <a:t>   		  	  // target when it’s found.</a:t>
            </a:r>
          </a:p>
          <a:p>
            <a:pPr eaLnBrk="1" hangingPunct="1">
              <a:lnSpc>
                <a:spcPct val="85000"/>
              </a:lnSpc>
              <a:buClrTx/>
              <a:buFontTx/>
              <a:buNone/>
              <a:defRPr/>
            </a:pPr>
            <a:r>
              <a:rPr lang="tr-TR" altLang="tr-TR" sz="2000">
                <a:solidFill>
                  <a:srgbClr val="000000"/>
                </a:solidFill>
                <a:latin typeface="Courier New" charset="0"/>
              </a:rPr>
              <a:t>   while (low &lt;= high) {</a:t>
            </a:r>
          </a:p>
          <a:p>
            <a:pPr eaLnBrk="1" hangingPunct="1">
              <a:lnSpc>
                <a:spcPct val="85000"/>
              </a:lnSpc>
              <a:buClrTx/>
              <a:buFontTx/>
              <a:buNone/>
              <a:defRPr/>
            </a:pPr>
            <a:r>
              <a:rPr lang="tr-TR" altLang="tr-TR" sz="2000">
                <a:solidFill>
                  <a:srgbClr val="000000"/>
                </a:solidFill>
                <a:latin typeface="Courier New" charset="0"/>
              </a:rPr>
              <a:t> 	   mid = (low + high)/2;</a:t>
            </a:r>
          </a:p>
          <a:p>
            <a:pPr eaLnBrk="1" hangingPunct="1">
              <a:lnSpc>
                <a:spcPct val="85000"/>
              </a:lnSpc>
              <a:buClrTx/>
              <a:buFontTx/>
              <a:buNone/>
              <a:defRPr/>
            </a:pPr>
            <a:r>
              <a:rPr lang="tr-TR" altLang="tr-TR" sz="2000">
                <a:solidFill>
                  <a:srgbClr val="000000"/>
                </a:solidFill>
                <a:latin typeface="Courier New" charset="0"/>
              </a:rPr>
              <a:t>	   if (a[mid] &lt; x)</a:t>
            </a:r>
          </a:p>
          <a:p>
            <a:pPr eaLnBrk="1" hangingPunct="1">
              <a:lnSpc>
                <a:spcPct val="85000"/>
              </a:lnSpc>
              <a:buClrTx/>
              <a:buFontTx/>
              <a:buNone/>
              <a:defRPr/>
            </a:pPr>
            <a:r>
              <a:rPr lang="tr-TR" altLang="tr-TR" sz="2000">
                <a:solidFill>
                  <a:srgbClr val="000000"/>
                </a:solidFill>
                <a:latin typeface="Courier New" charset="0"/>
              </a:rPr>
              <a:t>        low = mid + 1;</a:t>
            </a:r>
          </a:p>
          <a:p>
            <a:pPr eaLnBrk="1" hangingPunct="1">
              <a:lnSpc>
                <a:spcPct val="85000"/>
              </a:lnSpc>
              <a:buClrTx/>
              <a:buFontTx/>
              <a:buNone/>
              <a:defRPr/>
            </a:pPr>
            <a:r>
              <a:rPr lang="tr-TR" altLang="tr-TR" sz="2000">
                <a:solidFill>
                  <a:srgbClr val="000000"/>
                </a:solidFill>
                <a:latin typeface="Courier New" charset="0"/>
              </a:rPr>
              <a:t>	   else if (a[mid] &gt; x)</a:t>
            </a:r>
          </a:p>
          <a:p>
            <a:pPr eaLnBrk="1" hangingPunct="1">
              <a:lnSpc>
                <a:spcPct val="85000"/>
              </a:lnSpc>
              <a:buClrTx/>
              <a:buFontTx/>
              <a:buNone/>
              <a:defRPr/>
            </a:pPr>
            <a:r>
              <a:rPr lang="tr-TR" altLang="tr-TR" sz="2000">
                <a:solidFill>
                  <a:srgbClr val="000000"/>
                </a:solidFill>
                <a:latin typeface="Courier New" charset="0"/>
              </a:rPr>
              <a:t>		   high  = mid – 1; </a:t>
            </a:r>
          </a:p>
          <a:p>
            <a:pPr eaLnBrk="1" hangingPunct="1">
              <a:lnSpc>
                <a:spcPct val="85000"/>
              </a:lnSpc>
              <a:buClrTx/>
              <a:buFontTx/>
              <a:buNone/>
              <a:defRPr/>
            </a:pPr>
            <a:r>
              <a:rPr lang="tr-TR" altLang="tr-TR" sz="2000">
                <a:solidFill>
                  <a:srgbClr val="000000"/>
                </a:solidFill>
                <a:latin typeface="Courier New" charset="0"/>
              </a:rPr>
              <a:t>     else </a:t>
            </a:r>
          </a:p>
          <a:p>
            <a:pPr eaLnBrk="1" hangingPunct="1">
              <a:lnSpc>
                <a:spcPct val="85000"/>
              </a:lnSpc>
              <a:buClrTx/>
              <a:buFontTx/>
              <a:buNone/>
              <a:defRPr/>
            </a:pPr>
            <a:r>
              <a:rPr lang="tr-TR" altLang="tr-TR" sz="2000">
                <a:solidFill>
                  <a:srgbClr val="000000"/>
                </a:solidFill>
                <a:latin typeface="Courier New" charset="0"/>
              </a:rPr>
              <a:t>		   return mid;</a:t>
            </a:r>
          </a:p>
          <a:p>
            <a:pPr eaLnBrk="1" hangingPunct="1">
              <a:lnSpc>
                <a:spcPct val="85000"/>
              </a:lnSpc>
              <a:buClrTx/>
              <a:buFontTx/>
              <a:buNone/>
              <a:defRPr/>
            </a:pPr>
            <a:r>
              <a:rPr lang="tr-TR" altLang="tr-TR" sz="2000">
                <a:solidFill>
                  <a:srgbClr val="000000"/>
                </a:solidFill>
                <a:latin typeface="Courier New" charset="0"/>
              </a:rPr>
              <a:t>   }</a:t>
            </a:r>
          </a:p>
          <a:p>
            <a:pPr eaLnBrk="1" hangingPunct="1">
              <a:lnSpc>
                <a:spcPct val="85000"/>
              </a:lnSpc>
              <a:buClrTx/>
              <a:buFontTx/>
              <a:buNone/>
              <a:defRPr/>
            </a:pPr>
            <a:r>
              <a:rPr lang="tr-TR" altLang="tr-TR" sz="2000">
                <a:solidFill>
                  <a:srgbClr val="000000"/>
                </a:solidFill>
                <a:latin typeface="Courier New" charset="0"/>
              </a:rPr>
              <a:t>   return –1;</a:t>
            </a:r>
          </a:p>
          <a:p>
            <a:pPr eaLnBrk="1" hangingPunct="1">
              <a:lnSpc>
                <a:spcPct val="85000"/>
              </a:lnSpc>
              <a:buClrTx/>
              <a:buFontTx/>
              <a:buNone/>
              <a:defRPr/>
            </a:pPr>
            <a:r>
              <a:rPr lang="tr-TR" altLang="tr-TR" sz="2000">
                <a:solidFill>
                  <a:srgbClr val="000000"/>
                </a:solidFill>
                <a:latin typeface="Courier New" charset="0"/>
              </a:rPr>
              <a:t>}</a:t>
            </a:r>
          </a:p>
        </p:txBody>
      </p:sp>
      <p:sp>
        <p:nvSpPr>
          <p:cNvPr id="69638" name="Text Box 5">
            <a:extLst>
              <a:ext uri="{FF2B5EF4-FFF2-40B4-BE49-F238E27FC236}">
                <a16:creationId xmlns:a16="http://schemas.microsoft.com/office/drawing/2014/main" id="{5D035078-8922-324E-9D97-690AA78F1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475" y="1189038"/>
            <a:ext cx="5902325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buClrTx/>
              <a:buFontTx/>
              <a:buNone/>
              <a:defRPr/>
            </a:pPr>
            <a:r>
              <a:rPr lang="en-US" altLang="tr-TR">
                <a:solidFill>
                  <a:srgbClr val="000000"/>
                </a:solidFill>
              </a:rPr>
              <a:t>We can do binary search if the array is sorted: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1">
            <a:extLst>
              <a:ext uri="{FF2B5EF4-FFF2-40B4-BE49-F238E27FC236}">
                <a16:creationId xmlns:a16="http://schemas.microsoft.com/office/drawing/2014/main" id="{829982C4-2E6F-B043-B76B-8ACC45F60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71683" name="Text Box 2">
            <a:extLst>
              <a:ext uri="{FF2B5EF4-FFF2-40B4-BE49-F238E27FC236}">
                <a16:creationId xmlns:a16="http://schemas.microsoft.com/office/drawing/2014/main" id="{B15C9F3A-8FD7-CA48-8261-C5E05FB67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8B881B90-8C6F-3549-B304-45B28F21240C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68</a:t>
            </a:fld>
            <a:endParaRPr lang="tr-TR" altLang="tr-TR" sz="800"/>
          </a:p>
        </p:txBody>
      </p:sp>
      <p:sp>
        <p:nvSpPr>
          <p:cNvPr id="71684" name="Text Box 3">
            <a:extLst>
              <a:ext uri="{FF2B5EF4-FFF2-40B4-BE49-F238E27FC236}">
                <a16:creationId xmlns:a16="http://schemas.microsoft.com/office/drawing/2014/main" id="{31C33DBE-8F92-6E43-B9FD-1C3D26587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tr-TR" altLang="tr-TR" sz="3200" b="1">
                <a:solidFill>
                  <a:srgbClr val="000000"/>
                </a:solidFill>
              </a:rPr>
              <a:t>Binary Search – Analysis </a:t>
            </a:r>
          </a:p>
        </p:txBody>
      </p:sp>
      <p:sp>
        <p:nvSpPr>
          <p:cNvPr id="71685" name="Text Box 4">
            <a:extLst>
              <a:ext uri="{FF2B5EF4-FFF2-40B4-BE49-F238E27FC236}">
                <a16:creationId xmlns:a16="http://schemas.microsoft.com/office/drawing/2014/main" id="{826E7D65-8062-EF42-98E1-6C88FC2B4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219200"/>
            <a:ext cx="8580438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33375" indent="-333375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 marL="733425" indent="-276225"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3375" algn="l"/>
                <a:tab pos="790575" algn="l"/>
                <a:tab pos="1247775" algn="l"/>
                <a:tab pos="1704975" algn="l"/>
                <a:tab pos="2162175" algn="l"/>
                <a:tab pos="2619375" algn="l"/>
                <a:tab pos="3076575" algn="l"/>
                <a:tab pos="3533775" algn="l"/>
                <a:tab pos="3990975" algn="l"/>
                <a:tab pos="4448175" algn="l"/>
                <a:tab pos="4905375" algn="l"/>
                <a:tab pos="5362575" algn="l"/>
                <a:tab pos="5819775" algn="l"/>
                <a:tab pos="6276975" algn="l"/>
                <a:tab pos="6734175" algn="l"/>
                <a:tab pos="7191375" algn="l"/>
                <a:tab pos="7648575" algn="l"/>
                <a:tab pos="8105775" algn="l"/>
                <a:tab pos="8562975" algn="l"/>
                <a:tab pos="9020175" algn="l"/>
                <a:tab pos="94773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spcBef>
                <a:spcPts val="500"/>
              </a:spcBef>
              <a:buFont typeface="Times New Roman" panose="02020603050405020304" pitchFamily="18" charset="0"/>
              <a:buChar char="•"/>
              <a:defRPr/>
            </a:pPr>
            <a:r>
              <a:rPr lang="tr-TR" altLang="tr-TR" sz="2000"/>
              <a:t>For an unsuccessful search: </a:t>
            </a:r>
          </a:p>
          <a:p>
            <a:pPr lvl="1" eaLnBrk="1" hangingPunct="1">
              <a:spcBef>
                <a:spcPts val="500"/>
              </a:spcBef>
              <a:buFont typeface="Times New Roman" panose="02020603050405020304" pitchFamily="18" charset="0"/>
              <a:buChar char="–"/>
              <a:defRPr/>
            </a:pPr>
            <a:r>
              <a:rPr lang="tr-TR" altLang="tr-TR" sz="2000"/>
              <a:t>The number of iterations in the loop is  </a:t>
            </a:r>
            <a:r>
              <a:rPr lang="tr-TR" altLang="tr-TR" sz="2000">
                <a:latin typeface="Symbol" pitchFamily="2" charset="2"/>
              </a:rPr>
              <a:t></a:t>
            </a:r>
            <a:r>
              <a:rPr lang="tr-TR" altLang="tr-TR" sz="2000"/>
              <a:t>log</a:t>
            </a:r>
            <a:r>
              <a:rPr lang="tr-TR" altLang="tr-TR" sz="2000" baseline="-25000"/>
              <a:t>2</a:t>
            </a:r>
            <a:r>
              <a:rPr lang="tr-TR" altLang="tr-TR" sz="2000"/>
              <a:t>n</a:t>
            </a:r>
            <a:r>
              <a:rPr lang="tr-TR" altLang="tr-TR" sz="2000">
                <a:latin typeface="Symbol" pitchFamily="2" charset="2"/>
              </a:rPr>
              <a:t></a:t>
            </a:r>
            <a:r>
              <a:rPr lang="tr-TR" altLang="tr-TR" sz="2000"/>
              <a:t> + 1</a:t>
            </a:r>
          </a:p>
          <a:p>
            <a:pPr lvl="1" eaLnBrk="1" hangingPunct="1"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			</a:t>
            </a:r>
            <a:r>
              <a:rPr lang="tr-TR" altLang="tr-TR" sz="2000">
                <a:latin typeface="Wingdings" pitchFamily="2" charset="2"/>
              </a:rPr>
              <a:t></a:t>
            </a:r>
            <a:r>
              <a:rPr lang="tr-TR" altLang="tr-TR" sz="2000"/>
              <a:t>  O(log</a:t>
            </a:r>
            <a:r>
              <a:rPr lang="tr-TR" altLang="tr-TR" sz="2000" baseline="-25000"/>
              <a:t>2</a:t>
            </a:r>
            <a:r>
              <a:rPr lang="tr-TR" altLang="tr-TR" sz="2000"/>
              <a:t>n)</a:t>
            </a:r>
          </a:p>
          <a:p>
            <a:pPr eaLnBrk="1" hangingPunct="1">
              <a:spcBef>
                <a:spcPts val="500"/>
              </a:spcBef>
              <a:buFont typeface="Times New Roman" panose="02020603050405020304" pitchFamily="18" charset="0"/>
              <a:buChar char="•"/>
              <a:defRPr/>
            </a:pPr>
            <a:r>
              <a:rPr lang="tr-TR" altLang="tr-TR" sz="2000"/>
              <a:t>For a successful search:</a:t>
            </a:r>
          </a:p>
          <a:p>
            <a:pPr lvl="1" eaLnBrk="1" hangingPunct="1">
              <a:spcBef>
                <a:spcPts val="500"/>
              </a:spcBef>
              <a:buFont typeface="Times New Roman" panose="02020603050405020304" pitchFamily="18" charset="0"/>
              <a:buChar char="–"/>
              <a:defRPr/>
            </a:pPr>
            <a:r>
              <a:rPr lang="tr-TR" altLang="tr-TR" sz="2000" b="1" i="1"/>
              <a:t>Best-Case:</a:t>
            </a:r>
            <a:r>
              <a:rPr lang="tr-TR" altLang="tr-TR" sz="2000"/>
              <a:t> The number of iterations is 1. 		 </a:t>
            </a:r>
            <a:r>
              <a:rPr lang="tr-TR" altLang="tr-TR" sz="2000">
                <a:latin typeface="Wingdings" pitchFamily="2" charset="2"/>
              </a:rPr>
              <a:t></a:t>
            </a:r>
            <a:r>
              <a:rPr lang="tr-TR" altLang="tr-TR" sz="2000"/>
              <a:t> O(1)</a:t>
            </a:r>
          </a:p>
          <a:p>
            <a:pPr lvl="1" eaLnBrk="1" hangingPunct="1">
              <a:spcBef>
                <a:spcPts val="500"/>
              </a:spcBef>
              <a:buFont typeface="Times New Roman" panose="02020603050405020304" pitchFamily="18" charset="0"/>
              <a:buChar char="–"/>
              <a:defRPr/>
            </a:pPr>
            <a:r>
              <a:rPr lang="tr-TR" altLang="tr-TR" sz="2000" b="1" i="1"/>
              <a:t>Worst-Case:</a:t>
            </a:r>
            <a:r>
              <a:rPr lang="tr-TR" altLang="tr-TR" sz="2000"/>
              <a:t> The number of iterations is  </a:t>
            </a:r>
            <a:r>
              <a:rPr lang="tr-TR" altLang="tr-TR" sz="2000">
                <a:latin typeface="Symbol" pitchFamily="2" charset="2"/>
              </a:rPr>
              <a:t></a:t>
            </a:r>
            <a:r>
              <a:rPr lang="tr-TR" altLang="tr-TR" sz="2000"/>
              <a:t>log</a:t>
            </a:r>
            <a:r>
              <a:rPr lang="tr-TR" altLang="tr-TR" sz="2000" baseline="-25000"/>
              <a:t>2</a:t>
            </a:r>
            <a:r>
              <a:rPr lang="tr-TR" altLang="tr-TR" sz="2000"/>
              <a:t>n</a:t>
            </a:r>
            <a:r>
              <a:rPr lang="tr-TR" altLang="tr-TR" sz="2000">
                <a:latin typeface="Symbol" pitchFamily="2" charset="2"/>
              </a:rPr>
              <a:t></a:t>
            </a:r>
            <a:r>
              <a:rPr lang="tr-TR" altLang="tr-TR" sz="2000"/>
              <a:t> +1	 </a:t>
            </a:r>
            <a:r>
              <a:rPr lang="tr-TR" altLang="tr-TR" sz="2000">
                <a:latin typeface="Wingdings" pitchFamily="2" charset="2"/>
              </a:rPr>
              <a:t></a:t>
            </a:r>
            <a:r>
              <a:rPr lang="tr-TR" altLang="tr-TR" sz="2000"/>
              <a:t> O(log</a:t>
            </a:r>
            <a:r>
              <a:rPr lang="tr-TR" altLang="tr-TR" sz="2000" baseline="-25000"/>
              <a:t>2</a:t>
            </a:r>
            <a:r>
              <a:rPr lang="tr-TR" altLang="tr-TR" sz="2000"/>
              <a:t>n)</a:t>
            </a:r>
          </a:p>
          <a:p>
            <a:pPr lvl="1" eaLnBrk="1" hangingPunct="1">
              <a:spcBef>
                <a:spcPts val="500"/>
              </a:spcBef>
              <a:buFont typeface="Times New Roman" panose="02020603050405020304" pitchFamily="18" charset="0"/>
              <a:buChar char="–"/>
              <a:defRPr/>
            </a:pPr>
            <a:r>
              <a:rPr lang="tr-TR" altLang="tr-TR" sz="2000" b="1" i="1"/>
              <a:t>Average-Case:</a:t>
            </a:r>
            <a:r>
              <a:rPr lang="tr-TR" altLang="tr-TR" sz="2000"/>
              <a:t> 	The avg. # of iterations &lt; log</a:t>
            </a:r>
            <a:r>
              <a:rPr lang="tr-TR" altLang="tr-TR" sz="2000" baseline="-25000"/>
              <a:t>2</a:t>
            </a:r>
            <a:r>
              <a:rPr lang="tr-TR" altLang="tr-TR" sz="2000"/>
              <a:t>n 	 </a:t>
            </a:r>
            <a:r>
              <a:rPr lang="tr-TR" altLang="tr-TR" sz="2000">
                <a:latin typeface="Wingdings" pitchFamily="2" charset="2"/>
              </a:rPr>
              <a:t></a:t>
            </a:r>
            <a:r>
              <a:rPr lang="tr-TR" altLang="tr-TR" sz="2000"/>
              <a:t> O(log</a:t>
            </a:r>
            <a:r>
              <a:rPr lang="tr-TR" altLang="tr-TR" sz="2000" baseline="-25000"/>
              <a:t>2</a:t>
            </a:r>
            <a:r>
              <a:rPr lang="tr-TR" altLang="tr-TR" sz="2000"/>
              <a:t>n)</a:t>
            </a:r>
          </a:p>
          <a:p>
            <a:pPr lvl="1" eaLnBrk="1" hangingPunct="1">
              <a:spcBef>
                <a:spcPts val="500"/>
              </a:spcBef>
              <a:buClrTx/>
              <a:buFontTx/>
              <a:buNone/>
              <a:defRPr/>
            </a:pPr>
            <a:endParaRPr lang="tr-TR" altLang="tr-TR" sz="2000"/>
          </a:p>
          <a:p>
            <a:pPr lvl="1" eaLnBrk="1" hangingPunct="1"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>
                <a:latin typeface="Courier New" panose="02070309020205020404" pitchFamily="49" charset="0"/>
              </a:rPr>
              <a:t>0  1  2  3  4  5  6   </a:t>
            </a:r>
            <a:r>
              <a:rPr lang="tr-TR" altLang="tr-TR" sz="2000">
                <a:latin typeface="Wingdings" pitchFamily="2" charset="2"/>
              </a:rPr>
              <a:t></a:t>
            </a:r>
            <a:r>
              <a:rPr lang="tr-TR" altLang="tr-TR" sz="2000"/>
              <a:t> an array with size 7</a:t>
            </a:r>
          </a:p>
          <a:p>
            <a:pPr lvl="1" eaLnBrk="1" hangingPunct="1"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>
                <a:latin typeface="Courier New" panose="02070309020205020404" pitchFamily="49" charset="0"/>
              </a:rPr>
              <a:t>3  2  3  1  3  2  3   </a:t>
            </a:r>
            <a:r>
              <a:rPr lang="tr-TR" altLang="tr-TR" sz="2000">
                <a:latin typeface="Wingdings" pitchFamily="2" charset="2"/>
              </a:rPr>
              <a:t></a:t>
            </a:r>
            <a:r>
              <a:rPr lang="tr-TR" altLang="tr-TR" sz="2000">
                <a:latin typeface="Courier New" panose="02070309020205020404" pitchFamily="49" charset="0"/>
              </a:rPr>
              <a:t> </a:t>
            </a:r>
            <a:r>
              <a:rPr lang="tr-TR" altLang="tr-TR" sz="2000"/>
              <a:t># of iterations</a:t>
            </a:r>
          </a:p>
          <a:p>
            <a:pPr lvl="1" eaLnBrk="1" hangingPunct="1">
              <a:spcBef>
                <a:spcPts val="500"/>
              </a:spcBef>
              <a:buClrTx/>
              <a:buFontTx/>
              <a:buNone/>
              <a:defRPr/>
            </a:pPr>
            <a:r>
              <a:rPr lang="tr-TR" altLang="tr-TR" sz="2000"/>
              <a:t>The average # of iterations = 17/7 = 2.4285 &lt; log</a:t>
            </a:r>
            <a:r>
              <a:rPr lang="tr-TR" altLang="tr-TR" sz="2000" baseline="-25000"/>
              <a:t>2</a:t>
            </a:r>
            <a:r>
              <a:rPr lang="tr-TR" altLang="tr-TR" sz="2000"/>
              <a:t>7</a:t>
            </a:r>
          </a:p>
        </p:txBody>
      </p:sp>
      <p:sp>
        <p:nvSpPr>
          <p:cNvPr id="71686" name="Text Box 5">
            <a:extLst>
              <a:ext uri="{FF2B5EF4-FFF2-40B4-BE49-F238E27FC236}">
                <a16:creationId xmlns:a16="http://schemas.microsoft.com/office/drawing/2014/main" id="{77F8B67E-9F06-5B45-8CDF-E85C974CD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3" y="5522913"/>
            <a:ext cx="905033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buClrTx/>
              <a:buFontTx/>
              <a:buNone/>
              <a:defRPr/>
            </a:pPr>
            <a:r>
              <a:rPr lang="en-US" altLang="tr-TR">
                <a:solidFill>
                  <a:srgbClr val="000000"/>
                </a:solidFill>
              </a:rPr>
              <a:t>For a proof of the general case see: http://raider.mountunion.edu/~cindricbb/sp06/340/avgbinsearch.html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1">
            <a:extLst>
              <a:ext uri="{FF2B5EF4-FFF2-40B4-BE49-F238E27FC236}">
                <a16:creationId xmlns:a16="http://schemas.microsoft.com/office/drawing/2014/main" id="{4F70E0A5-8C9F-F746-A3B3-4BBEE3433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tr-TR" altLang="tr-TR" sz="800"/>
          </a:p>
        </p:txBody>
      </p:sp>
      <p:sp>
        <p:nvSpPr>
          <p:cNvPr id="73731" name="Text Box 2">
            <a:extLst>
              <a:ext uri="{FF2B5EF4-FFF2-40B4-BE49-F238E27FC236}">
                <a16:creationId xmlns:a16="http://schemas.microsoft.com/office/drawing/2014/main" id="{D9CA4D08-214C-F540-B73A-3BFE93A49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C26F1E34-9F90-C043-96AD-B3D28E6F56ED}" type="slidenum">
              <a:rPr lang="tr-TR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69</a:t>
            </a:fld>
            <a:endParaRPr lang="tr-TR" altLang="tr-TR" sz="800"/>
          </a:p>
        </p:txBody>
      </p:sp>
      <p:sp>
        <p:nvSpPr>
          <p:cNvPr id="73732" name="Text Box 3">
            <a:extLst>
              <a:ext uri="{FF2B5EF4-FFF2-40B4-BE49-F238E27FC236}">
                <a16:creationId xmlns:a16="http://schemas.microsoft.com/office/drawing/2014/main" id="{F73808D5-9B66-6143-A3EB-01DC15662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algn="ctr" eaLnBrk="1" hangingPunct="1">
              <a:buClrTx/>
              <a:buFontTx/>
              <a:buNone/>
              <a:defRPr/>
            </a:pPr>
            <a:r>
              <a:rPr lang="en-US" altLang="tr-TR" sz="2800" b="1">
                <a:solidFill>
                  <a:srgbClr val="000000"/>
                </a:solidFill>
                <a:ea typeface="굴림" charset="-127"/>
                <a:cs typeface="굴림" charset="-127"/>
              </a:rPr>
              <a:t>How much better is </a:t>
            </a:r>
            <a:r>
              <a:rPr lang="en-US" altLang="tr-TR" sz="2800" b="1" i="1">
                <a:solidFill>
                  <a:srgbClr val="000000"/>
                </a:solidFill>
                <a:ea typeface="굴림" charset="-127"/>
                <a:cs typeface="굴림" charset="-127"/>
              </a:rPr>
              <a:t>O(log</a:t>
            </a:r>
            <a:r>
              <a:rPr lang="en-US" altLang="tr-TR" sz="2800" b="1" i="1" baseline="-25000">
                <a:solidFill>
                  <a:srgbClr val="000000"/>
                </a:solidFill>
                <a:ea typeface="굴림" charset="-127"/>
                <a:cs typeface="굴림" charset="-127"/>
              </a:rPr>
              <a:t>2</a:t>
            </a:r>
            <a:r>
              <a:rPr lang="en-US" altLang="tr-TR" sz="2800" b="1" i="1">
                <a:solidFill>
                  <a:srgbClr val="000000"/>
                </a:solidFill>
                <a:ea typeface="굴림" charset="-127"/>
                <a:cs typeface="굴림" charset="-127"/>
              </a:rPr>
              <a:t>n)</a:t>
            </a:r>
            <a:r>
              <a:rPr lang="en-US" altLang="tr-TR" sz="2800" b="1">
                <a:solidFill>
                  <a:srgbClr val="000000"/>
                </a:solidFill>
                <a:ea typeface="굴림" charset="-127"/>
                <a:cs typeface="굴림" charset="-127"/>
              </a:rPr>
              <a:t>?</a:t>
            </a:r>
          </a:p>
        </p:txBody>
      </p:sp>
      <p:sp>
        <p:nvSpPr>
          <p:cNvPr id="73733" name="Text Box 4">
            <a:extLst>
              <a:ext uri="{FF2B5EF4-FFF2-40B4-BE49-F238E27FC236}">
                <a16:creationId xmlns:a16="http://schemas.microsoft.com/office/drawing/2014/main" id="{42658176-4A6E-A64F-A64F-46364821D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219200"/>
            <a:ext cx="8580438" cy="534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42900" indent="-333375">
              <a:spcBef>
                <a:spcPts val="6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2400">
                <a:solidFill>
                  <a:srgbClr val="000000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>
                <a:solidFill>
                  <a:srgbClr val="000000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600">
                <a:solidFill>
                  <a:srgbClr val="000000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400">
                <a:solidFill>
                  <a:srgbClr val="000000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200">
                <a:solidFill>
                  <a:srgbClr val="000000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200">
                <a:solidFill>
                  <a:srgbClr val="000000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200">
                <a:solidFill>
                  <a:srgbClr val="000000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200">
                <a:solidFill>
                  <a:srgbClr val="000000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42900" algn="l"/>
                <a:tab pos="904875" algn="l"/>
                <a:tab pos="1819275" algn="l"/>
                <a:tab pos="2733675" algn="l"/>
                <a:tab pos="3648075" algn="l"/>
                <a:tab pos="4562475" algn="l"/>
                <a:tab pos="5476875" algn="l"/>
                <a:tab pos="6391275" algn="l"/>
                <a:tab pos="7305675" algn="l"/>
                <a:tab pos="8220075" algn="l"/>
                <a:tab pos="9134475" algn="l"/>
                <a:tab pos="10048875" algn="l"/>
                <a:tab pos="10050463" algn="l"/>
                <a:tab pos="10507663" algn="l"/>
                <a:tab pos="10509250" algn="l"/>
                <a:tab pos="10510838" algn="l"/>
                <a:tab pos="10512425" algn="l"/>
                <a:tab pos="10514013" algn="l"/>
              </a:tabLst>
              <a:defRPr sz="1200">
                <a:solidFill>
                  <a:srgbClr val="000000"/>
                </a:solidFill>
                <a:latin typeface="Times New Roman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>
              <a:buClrTx/>
              <a:buFontTx/>
              <a:buNone/>
              <a:defRPr/>
            </a:pPr>
            <a:r>
              <a:rPr lang="en-US" altLang="tr-TR" b="1" i="1">
                <a:ea typeface="굴림" charset="-127"/>
                <a:cs typeface="굴림" charset="-127"/>
              </a:rPr>
              <a:t>	</a:t>
            </a:r>
            <a:r>
              <a:rPr lang="en-US" altLang="tr-TR" b="1" i="1" u="sng">
                <a:ea typeface="굴림" charset="-127"/>
                <a:cs typeface="굴림" charset="-127"/>
              </a:rPr>
              <a:t>n</a:t>
            </a:r>
            <a:r>
              <a:rPr lang="en-US" altLang="tr-TR" b="1" i="1">
                <a:ea typeface="굴림" charset="-127"/>
                <a:cs typeface="굴림" charset="-127"/>
              </a:rPr>
              <a:t> 				</a:t>
            </a:r>
            <a:r>
              <a:rPr lang="en-US" altLang="tr-TR" b="1" i="1" u="sng">
                <a:ea typeface="굴림" charset="-127"/>
                <a:cs typeface="굴림" charset="-127"/>
              </a:rPr>
              <a:t>O(</a:t>
            </a:r>
            <a:r>
              <a:rPr lang="en-US" altLang="tr-TR" sz="2000" b="1" i="1" u="sng">
                <a:ea typeface="굴림" charset="-127"/>
                <a:cs typeface="굴림" charset="-127"/>
              </a:rPr>
              <a:t>log</a:t>
            </a:r>
            <a:r>
              <a:rPr lang="en-US" altLang="tr-TR" sz="2000" b="1" i="1" u="sng" baseline="-25000">
                <a:ea typeface="굴림" charset="-127"/>
                <a:cs typeface="굴림" charset="-127"/>
              </a:rPr>
              <a:t>2</a:t>
            </a:r>
            <a:r>
              <a:rPr lang="en-US" altLang="tr-TR" sz="2000" b="1" i="1" u="sng">
                <a:ea typeface="굴림" charset="-127"/>
                <a:cs typeface="굴림" charset="-127"/>
              </a:rPr>
              <a:t>n</a:t>
            </a:r>
            <a:r>
              <a:rPr lang="en-US" altLang="tr-TR" b="1" i="1" u="sng">
                <a:ea typeface="굴림" charset="-127"/>
                <a:cs typeface="굴림" charset="-127"/>
              </a:rPr>
              <a:t>)</a:t>
            </a:r>
          </a:p>
          <a:p>
            <a:pPr eaLnBrk="1" hangingPunct="1">
              <a:buClrTx/>
              <a:buFontTx/>
              <a:buNone/>
              <a:defRPr/>
            </a:pPr>
            <a:r>
              <a:rPr lang="en-US" altLang="tr-TR">
                <a:ea typeface="굴림" charset="-127"/>
                <a:cs typeface="굴림" charset="-127"/>
              </a:rPr>
              <a:t>	16			  	  4</a:t>
            </a:r>
          </a:p>
          <a:p>
            <a:pPr eaLnBrk="1" hangingPunct="1">
              <a:buClrTx/>
              <a:buFontTx/>
              <a:buNone/>
              <a:defRPr/>
            </a:pPr>
            <a:r>
              <a:rPr lang="en-US" altLang="tr-TR">
                <a:ea typeface="굴림" charset="-127"/>
                <a:cs typeface="굴림" charset="-127"/>
              </a:rPr>
              <a:t>	64			  	  6</a:t>
            </a:r>
          </a:p>
          <a:p>
            <a:pPr eaLnBrk="1" hangingPunct="1">
              <a:buClrTx/>
              <a:buFontTx/>
              <a:buNone/>
              <a:defRPr/>
            </a:pPr>
            <a:r>
              <a:rPr lang="en-US" altLang="tr-TR">
                <a:ea typeface="굴림" charset="-127"/>
                <a:cs typeface="굴림" charset="-127"/>
              </a:rPr>
              <a:t>	256 			  	  8</a:t>
            </a:r>
          </a:p>
          <a:p>
            <a:pPr eaLnBrk="1" hangingPunct="1">
              <a:buClrTx/>
              <a:buFontTx/>
              <a:buNone/>
              <a:defRPr/>
            </a:pPr>
            <a:r>
              <a:rPr lang="en-US" altLang="tr-TR">
                <a:ea typeface="굴림" charset="-127"/>
                <a:cs typeface="굴림" charset="-127"/>
              </a:rPr>
              <a:t>	1024             	 	 10</a:t>
            </a:r>
          </a:p>
          <a:p>
            <a:pPr eaLnBrk="1" hangingPunct="1">
              <a:buClrTx/>
              <a:buFontTx/>
              <a:buNone/>
              <a:defRPr/>
            </a:pPr>
            <a:r>
              <a:rPr lang="en-US" altLang="tr-TR">
                <a:ea typeface="굴림" charset="-127"/>
                <a:cs typeface="굴림" charset="-127"/>
              </a:rPr>
              <a:t>	16,384 		 	 14</a:t>
            </a:r>
          </a:p>
          <a:p>
            <a:pPr eaLnBrk="1" hangingPunct="1">
              <a:buClrTx/>
              <a:buFontTx/>
              <a:buNone/>
              <a:defRPr/>
            </a:pPr>
            <a:r>
              <a:rPr lang="en-US" altLang="tr-TR">
                <a:ea typeface="굴림" charset="-127"/>
                <a:cs typeface="굴림" charset="-127"/>
              </a:rPr>
              <a:t>	131,072 		 	 17</a:t>
            </a:r>
          </a:p>
          <a:p>
            <a:pPr eaLnBrk="1" hangingPunct="1">
              <a:buClrTx/>
              <a:buFontTx/>
              <a:buNone/>
              <a:defRPr/>
            </a:pPr>
            <a:r>
              <a:rPr lang="en-US" altLang="tr-TR">
                <a:ea typeface="굴림" charset="-127"/>
                <a:cs typeface="굴림" charset="-127"/>
              </a:rPr>
              <a:t>	262,144 		 	 18</a:t>
            </a:r>
          </a:p>
          <a:p>
            <a:pPr eaLnBrk="1" hangingPunct="1">
              <a:buClrTx/>
              <a:buFontTx/>
              <a:buNone/>
              <a:defRPr/>
            </a:pPr>
            <a:r>
              <a:rPr lang="en-US" altLang="tr-TR">
                <a:ea typeface="굴림" charset="-127"/>
                <a:cs typeface="굴림" charset="-127"/>
              </a:rPr>
              <a:t>	524,288 		 	 19</a:t>
            </a:r>
          </a:p>
          <a:p>
            <a:pPr eaLnBrk="1" hangingPunct="1">
              <a:buClrTx/>
              <a:buFontTx/>
              <a:buNone/>
              <a:defRPr/>
            </a:pPr>
            <a:r>
              <a:rPr lang="en-US" altLang="tr-TR">
                <a:ea typeface="굴림" charset="-127"/>
                <a:cs typeface="굴림" charset="-127"/>
              </a:rPr>
              <a:t>	1,048,576 		 	 20</a:t>
            </a:r>
          </a:p>
          <a:p>
            <a:pPr eaLnBrk="1" hangingPunct="1">
              <a:buClrTx/>
              <a:buFontTx/>
              <a:buNone/>
              <a:defRPr/>
            </a:pPr>
            <a:r>
              <a:rPr lang="en-US" altLang="tr-TR">
                <a:ea typeface="굴림" charset="-127"/>
                <a:cs typeface="굴림" charset="-127"/>
              </a:rPr>
              <a:t>	1,073,741,824 	 	 30</a:t>
            </a:r>
          </a:p>
          <a:p>
            <a:pPr eaLnBrk="1" hangingPunct="1">
              <a:buClrTx/>
              <a:buFontTx/>
              <a:buNone/>
              <a:defRPr/>
            </a:pPr>
            <a:endParaRPr lang="en-US" altLang="tr-TR">
              <a:ea typeface="굴림" charset="-127"/>
              <a:cs typeface="굴림" charset="-127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Times New Roman"/>
        <a:ea typeface="Droid Sans Fallback"/>
        <a:cs typeface="Droid Sans Fallback"/>
      </a:majorFont>
      <a:minorFont>
        <a:latin typeface="Times New Roman"/>
        <a:ea typeface="Droid Sans Fallback"/>
        <a:cs typeface="Droid Sans Fallback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tr-TR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tr-TR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Times New Roman"/>
        <a:ea typeface="Droid Sans Fallback"/>
        <a:cs typeface="Droid Sans Fallback"/>
      </a:majorFont>
      <a:minorFont>
        <a:latin typeface="Times New Roman"/>
        <a:ea typeface="Droid Sans Fallback"/>
        <a:cs typeface="Droid Sans Fallback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tr-TR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tr-TR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 1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1474</TotalTime>
  <Words>7142</Words>
  <Application>Microsoft Macintosh PowerPoint</Application>
  <PresentationFormat>On-screen Show (4:3)</PresentationFormat>
  <Paragraphs>807</Paragraphs>
  <Slides>69</Slides>
  <Notes>66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9" baseType="lpstr">
      <vt:lpstr>Arial</vt:lpstr>
      <vt:lpstr>Bodoni 72 Book</vt:lpstr>
      <vt:lpstr>Calibri</vt:lpstr>
      <vt:lpstr>Courier New</vt:lpstr>
      <vt:lpstr>Symbol</vt:lpstr>
      <vt:lpstr>Times New Roman</vt:lpstr>
      <vt:lpstr>Wingdings</vt:lpstr>
      <vt:lpstr>Office Theme</vt:lpstr>
      <vt:lpstr>Office Theme</vt:lpstr>
      <vt:lpstr>Equation</vt:lpstr>
      <vt:lpstr>COMP 302 Algorithms and Data Structures</vt:lpstr>
      <vt:lpstr>Evaluation</vt:lpstr>
      <vt:lpstr>Evaluation</vt:lpstr>
      <vt:lpstr>Evaluation</vt:lpstr>
      <vt:lpstr>PowerPoint Presentation</vt:lpstr>
      <vt:lpstr>COMP 302 Algorithms and Data Structures</vt:lpstr>
      <vt:lpstr>COMP 302 Algorithms and Data Structures</vt:lpstr>
      <vt:lpstr>C++</vt:lpstr>
      <vt:lpstr>C++</vt:lpstr>
      <vt:lpstr>Projects</vt:lpstr>
      <vt:lpstr>Projects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More Recursive Algorithms</vt:lpstr>
      <vt:lpstr>Tracing the call fact (3)</vt:lpstr>
      <vt:lpstr>Tracing the call fact (3)</vt:lpstr>
      <vt:lpstr>More Recursive Algorithms</vt:lpstr>
      <vt:lpstr>More Recursive Algorithms</vt:lpstr>
      <vt:lpstr>More Recursive Algorithms</vt:lpstr>
      <vt:lpstr>More Recursive Algorithms</vt:lpstr>
      <vt:lpstr>More Recursive Algorithms</vt:lpstr>
      <vt:lpstr>More Recursive Algorithms</vt:lpstr>
      <vt:lpstr>More Recursive Algorithms</vt:lpstr>
      <vt:lpstr>More Recursive Algorithms</vt:lpstr>
      <vt:lpstr>More Recursive Algorithms</vt:lpstr>
      <vt:lpstr>More Recursive Algorithms</vt:lpstr>
      <vt:lpstr>More Recursive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 Analysis</dc:title>
  <dc:creator>Nihan kesm cicekli</dc:creator>
  <cp:lastModifiedBy>Boyce Sigweni (Staff)</cp:lastModifiedBy>
  <cp:revision>146</cp:revision>
  <cp:lastPrinted>1601-01-01T00:00:00Z</cp:lastPrinted>
  <dcterms:created xsi:type="dcterms:W3CDTF">2003-10-03T08:07:42Z</dcterms:created>
  <dcterms:modified xsi:type="dcterms:W3CDTF">2022-08-30T13:23:51Z</dcterms:modified>
</cp:coreProperties>
</file>
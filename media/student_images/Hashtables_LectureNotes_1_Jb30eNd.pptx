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9"/>
  </p:notesMasterIdLst>
  <p:sldIdLst>
    <p:sldId id="256" r:id="rId2"/>
    <p:sldId id="310" r:id="rId3"/>
    <p:sldId id="257" r:id="rId4"/>
    <p:sldId id="301" r:id="rId5"/>
    <p:sldId id="258" r:id="rId6"/>
    <p:sldId id="320" r:id="rId7"/>
    <p:sldId id="321" r:id="rId8"/>
    <p:sldId id="326" r:id="rId9"/>
    <p:sldId id="327" r:id="rId10"/>
    <p:sldId id="329" r:id="rId11"/>
    <p:sldId id="302" r:id="rId12"/>
    <p:sldId id="314" r:id="rId13"/>
    <p:sldId id="328" r:id="rId14"/>
    <p:sldId id="322" r:id="rId15"/>
    <p:sldId id="324" r:id="rId16"/>
    <p:sldId id="325" r:id="rId17"/>
    <p:sldId id="30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78087" autoAdjust="0"/>
  </p:normalViewPr>
  <p:slideViewPr>
    <p:cSldViewPr snapToGrid="0" snapToObjects="1">
      <p:cViewPr varScale="1">
        <p:scale>
          <a:sx n="64" d="100"/>
          <a:sy n="64" d="100"/>
        </p:scale>
        <p:origin x="13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C1F28-7673-D041-BC6C-697A8B432E1A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C9A9A-3303-234F-902B-69392EB8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9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>
            <a:extLst>
              <a:ext uri="{FF2B5EF4-FFF2-40B4-BE49-F238E27FC236}">
                <a16:creationId xmlns:a16="http://schemas.microsoft.com/office/drawing/2014/main" id="{6180191B-800D-2049-8675-C65304B900C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87155216-03FB-614D-B19A-0F1F515E1892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8195" name="Text Box 1">
            <a:extLst>
              <a:ext uri="{FF2B5EF4-FFF2-40B4-BE49-F238E27FC236}">
                <a16:creationId xmlns:a16="http://schemas.microsoft.com/office/drawing/2014/main" id="{4798BA90-F700-C840-8068-220DA8728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4D1CA419-F54E-4448-B5B6-267CA13B5684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2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65540" name="Rectangle 2">
            <a:extLst>
              <a:ext uri="{FF2B5EF4-FFF2-40B4-BE49-F238E27FC236}">
                <a16:creationId xmlns:a16="http://schemas.microsoft.com/office/drawing/2014/main" id="{AF4777AB-BCD3-B24E-B392-991DB5689C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41" name="Rectangle 3">
            <a:extLst>
              <a:ext uri="{FF2B5EF4-FFF2-40B4-BE49-F238E27FC236}">
                <a16:creationId xmlns:a16="http://schemas.microsoft.com/office/drawing/2014/main" id="{F41C32A9-7948-9F45-93B7-E5596C4E2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176670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>
            <a:extLst>
              <a:ext uri="{FF2B5EF4-FFF2-40B4-BE49-F238E27FC236}">
                <a16:creationId xmlns:a16="http://schemas.microsoft.com/office/drawing/2014/main" id="{7F18BF0F-6986-B141-84EE-F61BCBBF13D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DFFCD07C-A3C7-EC40-B61C-E064CFB89FF4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3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0243" name="Text Box 1">
            <a:extLst>
              <a:ext uri="{FF2B5EF4-FFF2-40B4-BE49-F238E27FC236}">
                <a16:creationId xmlns:a16="http://schemas.microsoft.com/office/drawing/2014/main" id="{CB0EEED2-3226-314A-8064-5A81959B4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133C30D1-2182-9842-9099-9FB86F070A07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3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C35C6C19-CB95-084F-8420-A505886926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9" name="Rectangle 3">
            <a:extLst>
              <a:ext uri="{FF2B5EF4-FFF2-40B4-BE49-F238E27FC236}">
                <a16:creationId xmlns:a16="http://schemas.microsoft.com/office/drawing/2014/main" id="{58BB3B4E-62B5-B242-B0D7-33F70E752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970734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>
            <a:extLst>
              <a:ext uri="{FF2B5EF4-FFF2-40B4-BE49-F238E27FC236}">
                <a16:creationId xmlns:a16="http://schemas.microsoft.com/office/drawing/2014/main" id="{7A7D4710-4082-2E49-8344-8BE7F424126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03C6B39-B92A-714E-99C7-32C016B428FF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4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2291" name="Text Box 1">
            <a:extLst>
              <a:ext uri="{FF2B5EF4-FFF2-40B4-BE49-F238E27FC236}">
                <a16:creationId xmlns:a16="http://schemas.microsoft.com/office/drawing/2014/main" id="{7E1CA4E3-1CF3-B249-8B83-D55F6BBA9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76032767-0C8A-5747-8530-F4FD56BA7E80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4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948D9068-C2D8-A347-A0C2-1D23411DC3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6B3F355E-D0D8-424D-8751-AF1CE81D2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636433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8224EF14-F4F2-1444-A3E4-DA57B4BD538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BB50CCD-5439-A948-92FB-46229B7B69C7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5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71C8B81D-E3DA-6E40-A66A-F37A8DD2F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8D81356B-AE5C-D543-BFFE-C36CF950AA30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5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DAF05C64-C4CC-844A-893F-0D70E30F29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DACC72E9-B899-0849-A5C2-5CA464FEEE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452668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5410E-3C03-114E-2EA5-364E8C47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3524A443-87FE-DF32-EED5-6150CD801EA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BB50CCD-5439-A948-92FB-46229B7B69C7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6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64F70FAD-38DE-90B2-15F9-0C1EF5F6D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8D81356B-AE5C-D543-BFFE-C36CF950AA30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6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85E3F760-CA28-5D11-2CC5-BA6DDA210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E7E42A18-69B1-B373-E4CA-9C475438A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73344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D6353-687A-6EB0-55D9-A1B276C2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115686E3-8267-8E3A-CB5F-C151D467F95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BB50CCD-5439-A948-92FB-46229B7B69C7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7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984F42A5-F66F-EBFC-8E0E-9E8AD21FD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8D81356B-AE5C-D543-BFFE-C36CF950AA30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7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2D26F7D8-C08A-01A6-1DF1-861F633A19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15913D2A-84AC-0808-4B16-FC54C7059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500326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0FD7A-CBD1-AB63-5966-B85DE965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0A2C6EFF-7F75-09FE-A280-DD856AA1FD1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BB50CCD-5439-A948-92FB-46229B7B69C7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8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A9FB136F-9000-B042-67EB-E22870F29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8D81356B-AE5C-D543-BFFE-C36CF950AA30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8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2088384F-76C0-1FC2-4FA8-FEC1860FA1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5BEC1ABF-2DB9-BA16-3064-250DC16FD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833825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80E75-A9B1-F78D-F00B-32732122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BA06BF8C-E99B-73FA-BAE8-CFFCDA2EF0C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BB50CCD-5439-A948-92FB-46229B7B69C7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9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76E4940B-B195-8A79-7687-2767921E1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8D81356B-AE5C-D543-BFFE-C36CF950AA30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9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079CDDEB-AF56-7D6D-D1FD-9E19CCBF3A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6BD360F9-5DD9-31A5-7064-29950E53F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025006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402624-8A5E-6914-40BC-7CAC8104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101095E0-9344-34F0-829E-5FBBD7F8CC1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BB50CCD-5439-A948-92FB-46229B7B69C7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10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C4AFA14E-9047-508F-9BC8-6DEA6FCB6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8D81356B-AE5C-D543-BFFE-C36CF950AA30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10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DA9BB85A-D8EC-4238-0BE1-554BF1F00E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0DBF49D5-4F14-5636-7835-C605EA246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30388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2107BE6B-E6D6-D244-8909-7661486E922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14F6F31-0936-DC4B-AAC9-F7E56BB91555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11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AF842F9A-3D7A-5D46-9DD2-450E2DBCC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834B589A-894D-774C-B58B-C60485BB572A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11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A2CD85D3-8220-B943-964D-8D31F42650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904ADCCF-5B9E-764F-A923-3CC4BA001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476822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E543414C-16D2-0247-B837-3E0FC692E3E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1A6FCA4-BA93-274B-BD0D-8BA091A153FC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12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5083B1D6-8821-8E4D-97A3-8B85FA6C7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2BF2CE33-6216-B440-85A1-0B012AB9841E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12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C64F1D0B-F455-8041-935F-8035F48A3B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1AC6919D-86A0-AE46-9E05-1724A92EE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936765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8F258-2845-2439-E4BB-6459B6FC1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D83149C2-C3C4-E544-25FB-AF65CBFFFC2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1A6FCA4-BA93-274B-BD0D-8BA091A153FC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13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5F9DDB87-A246-1304-FEE1-60D660F8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2BF2CE33-6216-B440-85A1-0B012AB9841E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13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CE961B37-30A0-1692-FA1A-71CAD8FB9C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65FF99A1-0CC4-0D3F-EB82-A1460C2F6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537905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01034-A928-ADD5-9AEB-F6D581B5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A80D3851-B90A-9A18-BC88-8C07EEBF639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1A6FCA4-BA93-274B-BD0D-8BA091A153FC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14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D319BA3B-1852-94EA-36DE-11075A3BA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2BF2CE33-6216-B440-85A1-0B012AB9841E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14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CFCD5093-85A5-D92A-9B45-9A8485F09E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5FA31C70-6DB0-C2D3-51FD-02D9DFF0C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666386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F3288-70E4-E20C-25EB-D7AEC841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DAB4BC21-0F40-B832-6EB7-7DCB174F371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1A6FCA4-BA93-274B-BD0D-8BA091A153FC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15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CA611549-2F01-8C55-A428-8AD30FAA6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2BF2CE33-6216-B440-85A1-0B012AB9841E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15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80C0AF04-8666-C8D1-5378-AE048D368C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58F51C18-E624-1B30-0DED-6291B03E4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22994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AA4EE-DC01-E9FD-BF58-9C169181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14A97D2B-A507-1367-A145-69B925BDFA0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1A6FCA4-BA93-274B-BD0D-8BA091A153FC}" type="slidenum">
              <a:rPr lang="en-US" altLang="tr-TR">
                <a:ea typeface="ＭＳ Ｐゴシック" charset="-128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16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589F63B7-FB25-330B-7FF1-341024871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2BF2CE33-6216-B440-85A1-0B012AB9841E}" type="slidenum">
              <a:rPr lang="en-US" altLang="tr-TR" smtClean="0">
                <a:ea typeface="ＭＳ Ｐゴシック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16</a:t>
            </a:fld>
            <a:endParaRPr lang="en-US" altLang="tr-TR">
              <a:ea typeface="ＭＳ Ｐゴシック" charset="-128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A65F33A9-1EA9-FC2A-B465-139D290174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9BE38440-B653-993D-AB39-345993107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385112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92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9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" y="2733709"/>
            <a:ext cx="8621256" cy="1373070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Data Structures and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Mr. Jwaone Gaboitaolelwe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2733709"/>
            <a:ext cx="2479962" cy="1190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789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FF262AB5-EFF5-B649-B5CB-02606BEBC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F9AEE99E-461E-8F48-B9DC-F16D3D8D0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30426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400" b="1" dirty="0">
                <a:latin typeface="Times New Roman" charset="0"/>
              </a:rPr>
              <a:t>Hashing and Hash tables</a:t>
            </a:r>
          </a:p>
        </p:txBody>
      </p:sp>
    </p:spTree>
    <p:extLst>
      <p:ext uri="{BB962C8B-B14F-4D97-AF65-F5344CB8AC3E}">
        <p14:creationId xmlns:p14="http://schemas.microsoft.com/office/powerpoint/2010/main" val="1940419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857AEE2F-78FE-CA4D-945E-C5110D94B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800"/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8C529D61-75B1-1842-99ED-1265B057C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152400"/>
            <a:ext cx="86502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2800" b="1" dirty="0"/>
              <a:t>Hash tables</a:t>
            </a:r>
          </a:p>
        </p:txBody>
      </p:sp>
      <p:sp>
        <p:nvSpPr>
          <p:cNvPr id="9220" name="Text Box 3">
            <a:extLst>
              <a:ext uri="{FF2B5EF4-FFF2-40B4-BE49-F238E27FC236}">
                <a16:creationId xmlns:a16="http://schemas.microsoft.com/office/drawing/2014/main" id="{8C3C9C3B-2504-D24A-8C0C-0A11C270E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629" y="838200"/>
            <a:ext cx="9564234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i="1" dirty="0"/>
              <a:t>What are Hash Tables?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A hash table is a data structure that stores key-value pairs and allows you to access data in constant time, on average.“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i="1" dirty="0"/>
              <a:t>What is hashing?</a:t>
            </a:r>
          </a:p>
          <a:p>
            <a:pPr marL="457200" marR="0">
              <a:lnSpc>
                <a:spcPct val="107000"/>
              </a:lnSpc>
              <a:spcAft>
                <a:spcPts val="800"/>
              </a:spcAft>
            </a:pPr>
            <a:r>
              <a:rPr lang="en-US" sz="2800" dirty="0"/>
              <a:t>Hashing is a way to transform a key (e.g., "Ada") into an address in a data structure where it can be directly accessed. This avoids the need to scan every element sequentially. </a:t>
            </a:r>
          </a:p>
          <a:p>
            <a:pPr>
              <a:spcBef>
                <a:spcPts val="700"/>
              </a:spcBef>
              <a:buFont typeface="Times New Roman" charset="0"/>
              <a:buChar char="•"/>
              <a:defRPr/>
            </a:pPr>
            <a:endParaRPr lang="en-US" altLang="tr-TR" sz="2400" dirty="0"/>
          </a:p>
          <a:p>
            <a:pPr lvl="1" eaLnBrk="1" hangingPunct="1">
              <a:buFont typeface="Times New Roman" charset="0"/>
              <a:buChar char="•"/>
              <a:defRPr/>
            </a:pPr>
            <a:endParaRPr lang="en-US" altLang="tr-TR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A78D80-23FE-D83B-F6F5-CB31D0579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647" y="5054900"/>
            <a:ext cx="6144482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33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">
            <a:extLst>
              <a:ext uri="{FF2B5EF4-FFF2-40B4-BE49-F238E27FC236}">
                <a16:creationId xmlns:a16="http://schemas.microsoft.com/office/drawing/2014/main" id="{DECAED9D-99C8-0741-85C2-BB70CFD46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800"/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B9BA83AF-8208-FB44-8F2F-7495245ED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152400"/>
            <a:ext cx="86502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2800" b="1" dirty="0"/>
              <a:t>Examples of Real-Life Use Cases</a:t>
            </a:r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id="{928FCBB5-BEDA-BE47-8090-D00B78290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58" y="1104900"/>
            <a:ext cx="9862456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indent="0">
              <a:spcBef>
                <a:spcPts val="700"/>
              </a:spcBef>
              <a:defRPr/>
            </a:pPr>
            <a:r>
              <a:rPr lang="en-US" altLang="tr-TR" sz="2800" dirty="0"/>
              <a:t>We encounter hashing and hash tables almost everywhere. </a:t>
            </a:r>
          </a:p>
          <a:p>
            <a:pPr marL="0" indent="0">
              <a:spcBef>
                <a:spcPts val="700"/>
              </a:spcBef>
              <a:defRPr/>
            </a:pPr>
            <a:endParaRPr lang="en-US" altLang="tr-TR" sz="2800" dirty="0"/>
          </a:p>
          <a:p>
            <a:pPr marL="0" indent="0">
              <a:spcBef>
                <a:spcPts val="700"/>
              </a:spcBef>
              <a:defRPr/>
            </a:pPr>
            <a:r>
              <a:rPr lang="en-US" altLang="tr-TR" sz="2800" dirty="0"/>
              <a:t>Examples include:</a:t>
            </a:r>
          </a:p>
          <a:p>
            <a:pPr marL="914400" lvl="1" indent="-45720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altLang="tr-TR" dirty="0"/>
              <a:t>Dictionary lookup</a:t>
            </a:r>
          </a:p>
          <a:p>
            <a:pPr marL="914400" lvl="1" indent="-45720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altLang="tr-TR" dirty="0"/>
              <a:t>DNS Resolution</a:t>
            </a:r>
          </a:p>
          <a:p>
            <a:pPr marL="914400" lvl="1" indent="-45720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altLang="tr-TR" dirty="0"/>
              <a:t>Databases</a:t>
            </a:r>
          </a:p>
          <a:p>
            <a:pPr marL="914400" lvl="1" indent="-45720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altLang="tr-TR" dirty="0"/>
              <a:t>Cryptography</a:t>
            </a:r>
          </a:p>
          <a:p>
            <a:pPr marL="914400" lvl="1" indent="-45720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altLang="tr-TR" dirty="0"/>
              <a:t>Phone books</a:t>
            </a:r>
          </a:p>
          <a:p>
            <a:pPr lvl="1">
              <a:spcBef>
                <a:spcPts val="800"/>
              </a:spcBef>
              <a:buFont typeface="Times New Roman" charset="0"/>
              <a:buChar char="–"/>
              <a:defRPr/>
            </a:pPr>
            <a:endParaRPr lang="en-US" altLang="tr-TR" sz="3200" dirty="0"/>
          </a:p>
          <a:p>
            <a:pPr>
              <a:spcBef>
                <a:spcPts val="800"/>
              </a:spcBef>
              <a:buClrTx/>
              <a:defRPr/>
            </a:pPr>
            <a:endParaRPr lang="en-US" altLang="tr-TR" sz="3200" dirty="0"/>
          </a:p>
        </p:txBody>
      </p:sp>
    </p:spTree>
    <p:extLst>
      <p:ext uri="{BB962C8B-B14F-4D97-AF65-F5344CB8AC3E}">
        <p14:creationId xmlns:p14="http://schemas.microsoft.com/office/powerpoint/2010/main" val="21147467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>
            <a:extLst>
              <a:ext uri="{FF2B5EF4-FFF2-40B4-BE49-F238E27FC236}">
                <a16:creationId xmlns:a16="http://schemas.microsoft.com/office/drawing/2014/main" id="{C3AADE14-266C-E444-ACEC-649380F75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44F41680-892F-6545-9765-F61A6EAF0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Hash Functions</a:t>
            </a:r>
          </a:p>
        </p:txBody>
      </p:sp>
      <p:sp>
        <p:nvSpPr>
          <p:cNvPr id="13316" name="Text Box 3">
            <a:extLst>
              <a:ext uri="{FF2B5EF4-FFF2-40B4-BE49-F238E27FC236}">
                <a16:creationId xmlns:a16="http://schemas.microsoft.com/office/drawing/2014/main" id="{06D11C69-552F-4E43-AF2F-98C5058EF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71" y="1524001"/>
            <a:ext cx="9560379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tr-TR" sz="2800" b="1" dirty="0"/>
              <a:t>What is a Hash Function?</a:t>
            </a: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tr-TR" sz="2800" dirty="0"/>
              <a:t>A function used to transform a given key into an index that is within the bounds of the underlying array or table.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en-US" altLang="tr-TR" dirty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tr-TR" sz="2800" b="1" dirty="0"/>
              <a:t>Ideal properties of  a hash function: </a:t>
            </a:r>
          </a:p>
          <a:p>
            <a:pPr lvl="1">
              <a:lnSpc>
                <a:spcPct val="90000"/>
              </a:lnSpc>
              <a:spcBef>
                <a:spcPts val="800"/>
              </a:spcBef>
              <a:buFont typeface="Times New Roman" charset="0"/>
              <a:buChar char="–"/>
              <a:defRPr/>
            </a:pPr>
            <a:r>
              <a:rPr lang="en-US" altLang="tr-TR" dirty="0"/>
              <a:t>Fast to compute</a:t>
            </a:r>
          </a:p>
          <a:p>
            <a:pPr lvl="1">
              <a:lnSpc>
                <a:spcPct val="90000"/>
              </a:lnSpc>
              <a:spcBef>
                <a:spcPts val="800"/>
              </a:spcBef>
              <a:buFont typeface="Times New Roman" charset="0"/>
              <a:buChar char="–"/>
              <a:defRPr/>
            </a:pPr>
            <a:r>
              <a:rPr lang="en-US" altLang="tr-TR" dirty="0"/>
              <a:t>Distribute keys uniformly across the table </a:t>
            </a:r>
          </a:p>
          <a:p>
            <a:pPr lvl="1">
              <a:lnSpc>
                <a:spcPct val="90000"/>
              </a:lnSpc>
              <a:spcBef>
                <a:spcPts val="800"/>
              </a:spcBef>
              <a:buFont typeface="Times New Roman" charset="0"/>
              <a:buChar char="–"/>
              <a:defRPr/>
            </a:pPr>
            <a:r>
              <a:rPr lang="en-US" altLang="tr-TR" dirty="0"/>
              <a:t>No occurrence of collisions.</a:t>
            </a:r>
          </a:p>
        </p:txBody>
      </p:sp>
    </p:spTree>
    <p:extLst>
      <p:ext uri="{BB962C8B-B14F-4D97-AF65-F5344CB8AC3E}">
        <p14:creationId xmlns:p14="http://schemas.microsoft.com/office/powerpoint/2010/main" val="18856013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6793-D58A-AF8C-2758-1FB33308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>
            <a:extLst>
              <a:ext uri="{FF2B5EF4-FFF2-40B4-BE49-F238E27FC236}">
                <a16:creationId xmlns:a16="http://schemas.microsoft.com/office/drawing/2014/main" id="{1E0A9DC4-D384-2FDA-AE34-FB9E1A1D4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EA4F50F4-CCE3-31B3-69E2-6C46D70CC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Example of Hash Function</a:t>
            </a:r>
          </a:p>
        </p:txBody>
      </p:sp>
      <p:sp>
        <p:nvSpPr>
          <p:cNvPr id="13316" name="Text Box 3">
            <a:extLst>
              <a:ext uri="{FF2B5EF4-FFF2-40B4-BE49-F238E27FC236}">
                <a16:creationId xmlns:a16="http://schemas.microsoft.com/office/drawing/2014/main" id="{BB3D73F1-2B66-1B80-71EE-8DE8B5A64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71" y="1524001"/>
            <a:ext cx="9560379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tr-TR" sz="2800" b="1" dirty="0"/>
              <a:t>Numeric Example:</a:t>
            </a: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tr-TR" sz="2800" dirty="0"/>
              <a:t>If the key is 45 and we have a table size of 7, the hash function could be 45 % 7 = 3. This means that 45 is mapped to index 3.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en-US" altLang="tr-TR" sz="2800" dirty="0"/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tr-TR" sz="2800" dirty="0"/>
              <a:t>If the key is 14 and we have a table size of 21?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1341013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88E9-77D4-77BD-8B3A-3F82C9B2D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>
            <a:extLst>
              <a:ext uri="{FF2B5EF4-FFF2-40B4-BE49-F238E27FC236}">
                <a16:creationId xmlns:a16="http://schemas.microsoft.com/office/drawing/2014/main" id="{71E73B6A-9954-9F58-BFF1-0877532C7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3E526A31-E8D6-6DF9-C4A4-616B3CA18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Example of Hash Function </a:t>
            </a:r>
          </a:p>
        </p:txBody>
      </p:sp>
      <p:sp>
        <p:nvSpPr>
          <p:cNvPr id="13316" name="Text Box 3">
            <a:extLst>
              <a:ext uri="{FF2B5EF4-FFF2-40B4-BE49-F238E27FC236}">
                <a16:creationId xmlns:a16="http://schemas.microsoft.com/office/drawing/2014/main" id="{354D261E-FE64-E245-9272-0238DC6A5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14" y="1315131"/>
            <a:ext cx="10526486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tr-TR" sz="2800" b="1" dirty="0"/>
              <a:t>Alphanumeric Example: </a:t>
            </a:r>
          </a:p>
          <a:p>
            <a:pPr marL="457200" lvl="1" indent="0">
              <a:lnSpc>
                <a:spcPct val="90000"/>
              </a:lnSpc>
              <a:spcBef>
                <a:spcPts val="800"/>
              </a:spcBef>
              <a:defRPr/>
            </a:pPr>
            <a:r>
              <a:rPr lang="en-US" altLang="tr-TR" dirty="0"/>
              <a:t>Step 1:</a:t>
            </a:r>
          </a:p>
          <a:p>
            <a:pPr marL="631825" lvl="2">
              <a:lnSpc>
                <a:spcPct val="90000"/>
              </a:lnSpc>
              <a:spcBef>
                <a:spcPts val="800"/>
              </a:spcBef>
              <a:defRPr/>
            </a:pPr>
            <a:r>
              <a:rPr lang="en-US" altLang="tr-TR" dirty="0"/>
              <a:t> Find the ASCII values of each character: J = 77, i = 105, a = 97.</a:t>
            </a:r>
          </a:p>
          <a:p>
            <a:pPr marL="457200" lvl="1" indent="0">
              <a:lnSpc>
                <a:spcPct val="150000"/>
              </a:lnSpc>
              <a:spcBef>
                <a:spcPts val="800"/>
              </a:spcBef>
              <a:defRPr/>
            </a:pPr>
            <a:r>
              <a:rPr lang="en-US" altLang="tr-TR" dirty="0"/>
              <a:t>Step 2:</a:t>
            </a:r>
          </a:p>
          <a:p>
            <a:pPr marL="631825" lvl="2">
              <a:lnSpc>
                <a:spcPct val="90000"/>
              </a:lnSpc>
              <a:spcBef>
                <a:spcPts val="800"/>
              </a:spcBef>
              <a:defRPr/>
            </a:pPr>
            <a:r>
              <a:rPr lang="en-US" altLang="tr-TR" dirty="0"/>
              <a:t>Sum the ASCII values: 77 + 105 + 97 = 279.</a:t>
            </a:r>
          </a:p>
          <a:p>
            <a:pPr marL="457200" lvl="1" indent="0">
              <a:lnSpc>
                <a:spcPct val="150000"/>
              </a:lnSpc>
              <a:spcBef>
                <a:spcPts val="800"/>
              </a:spcBef>
              <a:defRPr/>
            </a:pPr>
            <a:r>
              <a:rPr lang="en-US" altLang="tr-TR" dirty="0"/>
              <a:t>Step 3: </a:t>
            </a:r>
          </a:p>
          <a:p>
            <a:pPr marL="631825" lvl="2">
              <a:lnSpc>
                <a:spcPct val="90000"/>
              </a:lnSpc>
              <a:spcBef>
                <a:spcPts val="800"/>
              </a:spcBef>
              <a:defRPr/>
            </a:pPr>
            <a:r>
              <a:rPr lang="en-US" altLang="tr-TR" dirty="0"/>
              <a:t>Use the modulo operator to find the index: 279 % 11 =4.</a:t>
            </a:r>
          </a:p>
          <a:p>
            <a:pPr marL="457200" lvl="1" indent="0">
              <a:lnSpc>
                <a:spcPct val="150000"/>
              </a:lnSpc>
              <a:spcBef>
                <a:spcPts val="800"/>
              </a:spcBef>
              <a:defRPr/>
            </a:pPr>
            <a:r>
              <a:rPr lang="en-US" altLang="tr-TR" dirty="0"/>
              <a:t>Step 4: </a:t>
            </a:r>
          </a:p>
          <a:p>
            <a:pPr marL="631825" lvl="2">
              <a:lnSpc>
                <a:spcPct val="90000"/>
              </a:lnSpc>
              <a:spcBef>
                <a:spcPts val="800"/>
              </a:spcBef>
              <a:defRPr/>
            </a:pPr>
            <a:r>
              <a:rPr lang="en-US" altLang="tr-TR" dirty="0"/>
              <a:t>Store “Mia" at index 4 in the hash table of collisions.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8152845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3D7AA-7314-A138-B090-D8471F9B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>
            <a:extLst>
              <a:ext uri="{FF2B5EF4-FFF2-40B4-BE49-F238E27FC236}">
                <a16:creationId xmlns:a16="http://schemas.microsoft.com/office/drawing/2014/main" id="{585C85B5-0407-5F83-3052-2F1445B4D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670D5A7D-DC58-060C-2068-71E47EFB5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Example of Hash Function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E6E408-B1A8-C448-F9F2-5B9EE8D75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143" y="2760991"/>
            <a:ext cx="8382000" cy="202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459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0788C-7989-6872-CD50-97A2917C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>
            <a:extLst>
              <a:ext uri="{FF2B5EF4-FFF2-40B4-BE49-F238E27FC236}">
                <a16:creationId xmlns:a16="http://schemas.microsoft.com/office/drawing/2014/main" id="{D082407C-F351-0977-EE05-3D2F291BB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411E2F88-1441-9145-12AF-3EFC24E4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Example of Hash Function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C350A-5BFA-6F07-1A93-4429792296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521"/>
          <a:stretch/>
        </p:blipFill>
        <p:spPr>
          <a:xfrm>
            <a:off x="1971614" y="1385817"/>
            <a:ext cx="8086786" cy="31030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C55357-71BD-F45E-FA9E-39B322D4DD8A}"/>
              </a:ext>
            </a:extLst>
          </p:cNvPr>
          <p:cNvSpPr/>
          <p:nvPr/>
        </p:nvSpPr>
        <p:spPr>
          <a:xfrm>
            <a:off x="4349493" y="2333520"/>
            <a:ext cx="293914" cy="2068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1D82AD-2CF3-E307-AFDC-C80178252500}"/>
              </a:ext>
            </a:extLst>
          </p:cNvPr>
          <p:cNvSpPr/>
          <p:nvPr/>
        </p:nvSpPr>
        <p:spPr>
          <a:xfrm>
            <a:off x="5634007" y="2333520"/>
            <a:ext cx="457200" cy="2068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A6E0DB-BDA1-FF60-A8F5-71BA6492C905}"/>
              </a:ext>
            </a:extLst>
          </p:cNvPr>
          <p:cNvSpPr/>
          <p:nvPr/>
        </p:nvSpPr>
        <p:spPr>
          <a:xfrm>
            <a:off x="7021286" y="2387950"/>
            <a:ext cx="457200" cy="2013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33CC12-4AFD-FFD9-A669-405F6ACBA3D3}"/>
              </a:ext>
            </a:extLst>
          </p:cNvPr>
          <p:cNvSpPr/>
          <p:nvPr/>
        </p:nvSpPr>
        <p:spPr>
          <a:xfrm>
            <a:off x="8311242" y="2333521"/>
            <a:ext cx="1491993" cy="2013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4A84CD-E1BD-EA51-3613-B5F5530216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573"/>
          <a:stretch/>
        </p:blipFill>
        <p:spPr>
          <a:xfrm>
            <a:off x="2189873" y="4911106"/>
            <a:ext cx="7802667" cy="125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59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AA33E-EA68-62B1-B230-EB747EC1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>
            <a:extLst>
              <a:ext uri="{FF2B5EF4-FFF2-40B4-BE49-F238E27FC236}">
                <a16:creationId xmlns:a16="http://schemas.microsoft.com/office/drawing/2014/main" id="{DC58AE47-42C4-F34B-3EE1-45B5ADDD7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C193129A-1635-5854-4329-FB4371561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Example of Hash Function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97BB4-C665-F15A-63E1-9F9716F11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607" y="1588665"/>
            <a:ext cx="8086786" cy="488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662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EC448D2B-5780-024A-9246-F1CBB1322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83DACE27-2E4E-A948-81B0-FC3A1125E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8150" y="457200"/>
            <a:ext cx="83502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Common Hash Functions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B8EE4-8547-AEF4-55B5-2586AB3B1753}"/>
              </a:ext>
            </a:extLst>
          </p:cNvPr>
          <p:cNvSpPr txBox="1"/>
          <p:nvPr/>
        </p:nvSpPr>
        <p:spPr>
          <a:xfrm>
            <a:off x="576944" y="1412201"/>
            <a:ext cx="985157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/>
            </a:pPr>
            <a:r>
              <a:rPr lang="en-US" altLang="tr-TR" sz="2800" dirty="0">
                <a:solidFill>
                  <a:srgbClr val="000000"/>
                </a:solidFill>
                <a:latin typeface="Times New Roman" charset="0"/>
                <a:ea typeface="ＭＳ Ｐゴシック" charset="-128"/>
              </a:rPr>
              <a:t>There are several hash functions that have been developed over time.</a:t>
            </a:r>
          </a:p>
          <a:p>
            <a:pPr>
              <a:spcBef>
                <a:spcPts val="700"/>
              </a:spcBef>
              <a:defRPr/>
            </a:pPr>
            <a:r>
              <a:rPr lang="en-US" altLang="tr-TR" sz="2800" dirty="0">
                <a:solidFill>
                  <a:srgbClr val="000000"/>
                </a:solidFill>
                <a:latin typeface="Times New Roman" charset="0"/>
                <a:ea typeface="ＭＳ Ｐゴシック" charset="-128"/>
              </a:rPr>
              <a:t>Examples include:</a:t>
            </a:r>
          </a:p>
          <a:p>
            <a:pPr lvl="1" indent="-457200">
              <a:spcBef>
                <a:spcPts val="700"/>
              </a:spcBef>
              <a:buFont typeface="Arial" panose="020B0604020202020204" pitchFamily="34" charset="0"/>
              <a:buChar char="•"/>
              <a:defRPr/>
            </a:pPr>
            <a:r>
              <a:rPr lang="pt-BR" altLang="tr-TR" sz="2800" dirty="0">
                <a:solidFill>
                  <a:srgbClr val="000000"/>
                </a:solidFill>
                <a:latin typeface="Times New Roman" charset="0"/>
                <a:ea typeface="ＭＳ Ｐゴシック" charset="-128"/>
              </a:rPr>
              <a:t>DJB2, </a:t>
            </a:r>
          </a:p>
          <a:p>
            <a:pPr lvl="1" indent="-457200">
              <a:spcBef>
                <a:spcPts val="700"/>
              </a:spcBef>
              <a:buFont typeface="Arial" panose="020B0604020202020204" pitchFamily="34" charset="0"/>
              <a:buChar char="•"/>
              <a:defRPr/>
            </a:pPr>
            <a:r>
              <a:rPr lang="pt-BR" altLang="tr-TR" sz="2800" dirty="0">
                <a:solidFill>
                  <a:srgbClr val="000000"/>
                </a:solidFill>
                <a:latin typeface="Times New Roman" charset="0"/>
                <a:ea typeface="ＭＳ Ｐゴシック" charset="-128"/>
              </a:rPr>
              <a:t>MD5</a:t>
            </a:r>
          </a:p>
          <a:p>
            <a:pPr lvl="1" indent="-457200">
              <a:spcBef>
                <a:spcPts val="700"/>
              </a:spcBef>
              <a:buFont typeface="Arial" panose="020B0604020202020204" pitchFamily="34" charset="0"/>
              <a:buChar char="•"/>
              <a:defRPr/>
            </a:pPr>
            <a:r>
              <a:rPr lang="pt-BR" altLang="tr-TR" sz="2800" dirty="0">
                <a:solidFill>
                  <a:srgbClr val="000000"/>
                </a:solidFill>
                <a:latin typeface="Times New Roman" charset="0"/>
                <a:ea typeface="ＭＳ Ｐゴシック" charset="-128"/>
              </a:rPr>
              <a:t>SHA family hashes.</a:t>
            </a:r>
          </a:p>
        </p:txBody>
      </p:sp>
    </p:spTree>
    <p:extLst>
      <p:ext uri="{BB962C8B-B14F-4D97-AF65-F5344CB8AC3E}">
        <p14:creationId xmlns:p14="http://schemas.microsoft.com/office/powerpoint/2010/main" val="1902085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22FD8B34-1D47-554A-9A0A-72CF2FA41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0F23C157-AA13-1E41-B92D-7986A4B1C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Collisions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8A52B109-B8B1-C836-F8DC-5D444375C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829" y="1219200"/>
            <a:ext cx="9644742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i="1" dirty="0"/>
              <a:t>What are Collisions?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When a hash function maps two different keys to the same index in the hash table</a:t>
            </a:r>
          </a:p>
          <a:p>
            <a:pPr marL="457200" marR="0">
              <a:lnSpc>
                <a:spcPct val="107000"/>
              </a:lnSpc>
              <a:spcAft>
                <a:spcPts val="800"/>
              </a:spcAft>
            </a:pPr>
            <a:endParaRPr lang="en-US" sz="2800" dirty="0"/>
          </a:p>
          <a:p>
            <a:pPr>
              <a:spcBef>
                <a:spcPts val="700"/>
              </a:spcBef>
              <a:buFont typeface="Times New Roman" charset="0"/>
              <a:buChar char="•"/>
              <a:defRPr/>
            </a:pPr>
            <a:endParaRPr lang="en-US" altLang="tr-TR" sz="2400" dirty="0"/>
          </a:p>
          <a:p>
            <a:pPr lvl="1" eaLnBrk="1" hangingPunct="1">
              <a:buFont typeface="Times New Roman" charset="0"/>
              <a:buChar char="•"/>
              <a:defRPr/>
            </a:pPr>
            <a:endParaRPr lang="en-US" altLang="tr-TR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FAC73-23BA-CAF6-FF65-C5290E188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812294"/>
            <a:ext cx="6607628" cy="377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064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4A4C8-EB7E-437D-71CC-1C6B3E79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45083E2B-9553-CDB4-CD4B-12CB451B7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FE6B9EA7-17FD-A8B7-44F8-A40E0EA90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Collisions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78090E0B-7302-5264-C90E-94EA4E2CE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829" y="1219200"/>
            <a:ext cx="9644742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i="1" dirty="0"/>
              <a:t>Collision Resolution Techniques?</a:t>
            </a:r>
          </a:p>
          <a:p>
            <a:pPr marL="574675" marR="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Open addressing: A collision resolution technique that involves finding an empty slot within the hash table by following a defined sequence when a collision occurs.</a:t>
            </a:r>
          </a:p>
          <a:p>
            <a:pPr marL="574675" marR="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Chaining: A collision resolution technique that uses data structures to store elements that collide at the same index.</a:t>
            </a:r>
          </a:p>
          <a:p>
            <a:pPr marL="457200" marR="0">
              <a:lnSpc>
                <a:spcPct val="107000"/>
              </a:lnSpc>
              <a:spcAft>
                <a:spcPts val="800"/>
              </a:spcAft>
            </a:pPr>
            <a:endParaRPr lang="en-US" sz="2800" dirty="0"/>
          </a:p>
          <a:p>
            <a:pPr marL="457200" marR="0">
              <a:lnSpc>
                <a:spcPct val="107000"/>
              </a:lnSpc>
              <a:spcAft>
                <a:spcPts val="800"/>
              </a:spcAft>
            </a:pPr>
            <a:endParaRPr lang="en-US" sz="2800" dirty="0"/>
          </a:p>
          <a:p>
            <a:pPr>
              <a:spcBef>
                <a:spcPts val="700"/>
              </a:spcBef>
              <a:buFont typeface="Times New Roman" charset="0"/>
              <a:buChar char="•"/>
              <a:defRPr/>
            </a:pPr>
            <a:endParaRPr lang="en-US" altLang="tr-TR" sz="2400" dirty="0"/>
          </a:p>
          <a:p>
            <a:pPr lvl="1" eaLnBrk="1" hangingPunct="1">
              <a:buFont typeface="Times New Roman" charset="0"/>
              <a:buChar char="•"/>
              <a:defRPr/>
            </a:pPr>
            <a:endParaRPr lang="en-US" altLang="tr-TR" sz="3200" dirty="0"/>
          </a:p>
        </p:txBody>
      </p:sp>
    </p:spTree>
    <p:extLst>
      <p:ext uri="{BB962C8B-B14F-4D97-AF65-F5344CB8AC3E}">
        <p14:creationId xmlns:p14="http://schemas.microsoft.com/office/powerpoint/2010/main" val="11412451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2B70-7FFF-5E1F-2018-84A258F9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3E37C297-57A0-EAEA-1D09-BDE94D0FF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AB0331A0-350C-6268-2F7C-BD2C7FB03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886" y="370114"/>
            <a:ext cx="8523514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Examples of open addressing techniques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80C48F70-E4DF-74EF-1D47-9B04138D4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58" y="1491343"/>
            <a:ext cx="10036628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1. Linear Probing: When a collision occurs, move to the next slot in sequence until an empty slot is found.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2. Quadratic Probing: When a collision occurs, the next slot is determined by adding a quadratic function of the probe number to the original index. This means that instead of moving to the next slot linearly, you move in larger steps (e.g., 1^2, 2^2, 3^2, etc.).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3. Double Hashing: When a collision occurs, a secondary hash function is used to determine the step size for probing. Instead of just adding a fixed or growing step, double hashing makes the step size dynamic.</a:t>
            </a:r>
            <a:endParaRPr lang="en-US" altLang="tr-TR" sz="3200" dirty="0"/>
          </a:p>
        </p:txBody>
      </p:sp>
    </p:spTree>
    <p:extLst>
      <p:ext uri="{BB962C8B-B14F-4D97-AF65-F5344CB8AC3E}">
        <p14:creationId xmlns:p14="http://schemas.microsoft.com/office/powerpoint/2010/main" val="4369714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798F-9EDC-63CE-B456-554BDEDF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C1661B4D-68B9-DB97-8473-B958E0594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51AC63A8-E7B8-B027-A5B7-4CD4BB644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886" y="370114"/>
            <a:ext cx="8523514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Examples of Chaining techniques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AA468389-C58B-EDAE-3D92-2C15C9444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58" y="1371600"/>
            <a:ext cx="10036628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1. Linked Lists: Each bucket in the hash table points to a linked list where all the colliding elements are stored.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2. Dynamic Arrays: Each bucket points to a dynamic array.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3. Balanced Trees (e.g., Red-Black Trees): Each bucket can use a balanced tree to store the elements.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4. Hash Table at Each Bucket (Double Hashing): Each bucket contains another smaller hash table.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5. Skip Lists: Each bucket can use a skip list instead of a linked list.</a:t>
            </a:r>
            <a:endParaRPr lang="en-US" altLang="tr-TR" sz="3200" dirty="0"/>
          </a:p>
        </p:txBody>
      </p:sp>
    </p:spTree>
    <p:extLst>
      <p:ext uri="{BB962C8B-B14F-4D97-AF65-F5344CB8AC3E}">
        <p14:creationId xmlns:p14="http://schemas.microsoft.com/office/powerpoint/2010/main" val="15597382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F7EFF-0485-D0DF-FC2B-4CBA8257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5013AD9D-6A9E-93CD-78BE-974CAB6A1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tr-TR" sz="1400"/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7E9AFE9C-4C54-6426-39EE-3370A495B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886" y="370114"/>
            <a:ext cx="8523514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tr-TR" sz="4000" b="1" dirty="0"/>
              <a:t>Ways of avoiding collisions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C6264E9F-8155-CFBC-C45C-9D96ABE36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58" y="1371600"/>
            <a:ext cx="10036628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9725" indent="-339725"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6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1. Bigger Tables: To avoid collisions, make the hash tables bigger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2. Load Factor: The ratio of the number of elements to the size of the table. Keeping the load factor low (typically &lt; 0.7) can reduce collisions.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3. Rehashing: A technique to expand the hash table size and reassign elements when the load factor becomes too high.</a:t>
            </a:r>
            <a:endParaRPr lang="en-US" altLang="tr-TR" sz="3200" dirty="0"/>
          </a:p>
        </p:txBody>
      </p:sp>
    </p:spTree>
    <p:extLst>
      <p:ext uri="{BB962C8B-B14F-4D97-AF65-F5344CB8AC3E}">
        <p14:creationId xmlns:p14="http://schemas.microsoft.com/office/powerpoint/2010/main" val="19073057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Example Section: Using Python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627" y="833809"/>
            <a:ext cx="1455057" cy="815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264903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45439</TotalTime>
  <Words>756</Words>
  <Application>Microsoft Office PowerPoint</Application>
  <PresentationFormat>Widescreen</PresentationFormat>
  <Paragraphs>104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ＭＳ Ｐゴシック</vt:lpstr>
      <vt:lpstr>Arial</vt:lpstr>
      <vt:lpstr>Calibri</vt:lpstr>
      <vt:lpstr>Times New Roman</vt:lpstr>
      <vt:lpstr>Trebuchet MS</vt:lpstr>
      <vt:lpstr>Berlin</vt:lpstr>
      <vt:lpstr>Data Structures and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Practical Example Section: Using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Analysis and Design</dc:title>
  <dc:creator>Microsoft Office User</dc:creator>
  <cp:lastModifiedBy>JWAONE GABOITAOLELWE</cp:lastModifiedBy>
  <cp:revision>52</cp:revision>
  <dcterms:created xsi:type="dcterms:W3CDTF">2016-12-06T16:10:55Z</dcterms:created>
  <dcterms:modified xsi:type="dcterms:W3CDTF">2024-11-05T11:10:39Z</dcterms:modified>
</cp:coreProperties>
</file>
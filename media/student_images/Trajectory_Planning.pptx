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9144000" cy="6858000" type="screen4x3"/>
  <p:notesSz cx="9144000" cy="6858000"/>
  <p:defaultTextStyle>
    <a:defPPr>
      <a:defRPr lang="en-B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54"/>
    <p:restoredTop sz="94624"/>
  </p:normalViewPr>
  <p:slideViewPr>
    <p:cSldViewPr>
      <p:cViewPr varScale="1">
        <p:scale>
          <a:sx n="78" d="100"/>
          <a:sy n="78" d="100"/>
        </p:scale>
        <p:origin x="1762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C2EC11C-5FEE-F218-5C36-95CF8EA6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 object 18"/>
          <p:cNvSpPr/>
          <p:nvPr/>
        </p:nvSpPr>
        <p:spPr>
          <a:xfrm>
            <a:off x="900683" y="115823"/>
            <a:ext cx="3383279" cy="483234"/>
          </a:xfrm>
          <a:custGeom>
            <a:avLst/>
            <a:gdLst/>
            <a:ahLst/>
            <a:cxnLst/>
            <a:rect l="l" t="t" r="r" b="b"/>
            <a:pathLst>
              <a:path w="3383279" h="483234">
                <a:moveTo>
                  <a:pt x="3383279" y="0"/>
                </a:moveTo>
                <a:lnTo>
                  <a:pt x="0" y="0"/>
                </a:lnTo>
                <a:lnTo>
                  <a:pt x="0" y="483108"/>
                </a:lnTo>
                <a:lnTo>
                  <a:pt x="3383279" y="483108"/>
                </a:lnTo>
                <a:lnTo>
                  <a:pt x="33832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7052" y="771271"/>
            <a:ext cx="524383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5535" y="1265048"/>
            <a:ext cx="8192770" cy="2743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21" Type="http://schemas.openxmlformats.org/officeDocument/2006/relationships/image" Target="../media/image72.png"/><Relationship Id="rId34" Type="http://schemas.openxmlformats.org/officeDocument/2006/relationships/image" Target="../media/image85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33" Type="http://schemas.openxmlformats.org/officeDocument/2006/relationships/image" Target="../media/image84.png"/><Relationship Id="rId38" Type="http://schemas.openxmlformats.org/officeDocument/2006/relationships/image" Target="../media/image89.png"/><Relationship Id="rId2" Type="http://schemas.openxmlformats.org/officeDocument/2006/relationships/image" Target="../media/image53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37" Type="http://schemas.openxmlformats.org/officeDocument/2006/relationships/image" Target="../media/image88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36" Type="http://schemas.openxmlformats.org/officeDocument/2006/relationships/image" Target="../media/image87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31" Type="http://schemas.openxmlformats.org/officeDocument/2006/relationships/image" Target="../media/image82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Relationship Id="rId35" Type="http://schemas.openxmlformats.org/officeDocument/2006/relationships/image" Target="../media/image86.png"/><Relationship Id="rId8" Type="http://schemas.openxmlformats.org/officeDocument/2006/relationships/image" Target="../media/image59.png"/><Relationship Id="rId3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A95B8B-2DFB-5278-56FB-AA9804EA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4173"/>
            <a:ext cx="6174233" cy="1007285"/>
          </a:xfrm>
        </p:spPr>
        <p:txBody>
          <a:bodyPr/>
          <a:lstStyle/>
          <a:p>
            <a:r>
              <a:rPr lang="en-GB" sz="5400" b="1" i="1" spc="-95" dirty="0">
                <a:solidFill>
                  <a:srgbClr val="660066"/>
                </a:solidFill>
                <a:latin typeface="Cambria"/>
                <a:cs typeface="Cambria"/>
              </a:rPr>
              <a:t>Trajectory</a:t>
            </a:r>
            <a:r>
              <a:rPr lang="en-GB" sz="5400" b="1" i="1" spc="155" dirty="0">
                <a:solidFill>
                  <a:srgbClr val="660066"/>
                </a:solidFill>
                <a:latin typeface="Cambria"/>
                <a:cs typeface="Cambria"/>
              </a:rPr>
              <a:t> </a:t>
            </a:r>
            <a:r>
              <a:rPr lang="en-GB" sz="5400" b="1" i="1" spc="-95" dirty="0">
                <a:solidFill>
                  <a:srgbClr val="660066"/>
                </a:solidFill>
                <a:latin typeface="Cambria"/>
                <a:cs typeface="Cambria"/>
              </a:rPr>
              <a:t>Planning</a:t>
            </a:r>
            <a:br>
              <a:rPr lang="en-GB" sz="2400" dirty="0">
                <a:latin typeface="Cambria"/>
                <a:cs typeface="Cambria"/>
              </a:rPr>
            </a:br>
            <a:endParaRPr lang="en-BW" dirty="0"/>
          </a:p>
        </p:txBody>
      </p:sp>
    </p:spTree>
    <p:extLst>
      <p:ext uri="{BB962C8B-B14F-4D97-AF65-F5344CB8AC3E}">
        <p14:creationId xmlns:p14="http://schemas.microsoft.com/office/powerpoint/2010/main" val="4211066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6579" y="533400"/>
            <a:ext cx="302006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300" dirty="0">
                <a:solidFill>
                  <a:srgbClr val="66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</a:t>
            </a:r>
            <a:r>
              <a:rPr lang="en-GB" sz="3600" b="1" spc="-300" dirty="0">
                <a:solidFill>
                  <a:srgbClr val="66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3600" b="1" spc="-300" dirty="0" err="1">
                <a:solidFill>
                  <a:srgbClr val="66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</a:t>
            </a:r>
            <a:r>
              <a:rPr sz="3600" b="1" spc="-300" dirty="0">
                <a:solidFill>
                  <a:srgbClr val="66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sz="3600" b="1" spc="-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1342" y="1599973"/>
            <a:ext cx="7981315" cy="3658053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365"/>
              </a:spcBef>
            </a:pPr>
            <a:r>
              <a:rPr sz="2500" b="1" i="1" spc="-95" dirty="0">
                <a:solidFill>
                  <a:srgbClr val="660066"/>
                </a:solidFill>
                <a:latin typeface="Cambria"/>
                <a:cs typeface="Cambria"/>
              </a:rPr>
              <a:t>Trajectory</a:t>
            </a:r>
            <a:r>
              <a:rPr sz="2500" b="1" i="1" spc="155" dirty="0">
                <a:solidFill>
                  <a:srgbClr val="660066"/>
                </a:solidFill>
                <a:latin typeface="Cambria"/>
                <a:cs typeface="Cambria"/>
              </a:rPr>
              <a:t> </a:t>
            </a:r>
            <a:r>
              <a:rPr sz="2500" b="1" i="1" spc="-95" dirty="0">
                <a:solidFill>
                  <a:srgbClr val="660066"/>
                </a:solidFill>
                <a:latin typeface="Cambria"/>
                <a:cs typeface="Cambria"/>
              </a:rPr>
              <a:t>Planning</a:t>
            </a:r>
            <a:endParaRPr sz="2500" dirty="0">
              <a:latin typeface="Cambria"/>
              <a:cs typeface="Cambria"/>
            </a:endParaRPr>
          </a:p>
          <a:p>
            <a:pPr marL="12700" marR="5158740" indent="77470">
              <a:lnSpc>
                <a:spcPts val="4220"/>
              </a:lnSpc>
              <a:spcBef>
                <a:spcPts val="200"/>
              </a:spcBef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5.1 INTRODUCTION</a:t>
            </a:r>
            <a:endParaRPr sz="2400" dirty="0">
              <a:latin typeface="Tahoma"/>
              <a:cs typeface="Tahoma"/>
            </a:endParaRPr>
          </a:p>
          <a:p>
            <a:pPr marL="209550" marR="5080" indent="-209550">
              <a:lnSpc>
                <a:spcPct val="110000"/>
              </a:lnSpc>
              <a:spcBef>
                <a:spcPts val="1420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Path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planning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relates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way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robot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moved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from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one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location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 another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controlled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40458C"/>
                </a:solidFill>
                <a:latin typeface="Tahoma"/>
                <a:cs typeface="Tahoma"/>
              </a:rPr>
              <a:t>manner.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3300"/>
              </a:buClr>
              <a:buFont typeface="Symbol"/>
              <a:buChar char=""/>
            </a:pPr>
            <a:endParaRPr sz="2150" dirty="0">
              <a:latin typeface="Tahoma"/>
              <a:cs typeface="Tahoma"/>
            </a:endParaRPr>
          </a:p>
          <a:p>
            <a:pPr marL="209550" marR="217170" indent="-209550">
              <a:lnSpc>
                <a:spcPct val="110000"/>
              </a:lnSpc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The sequence of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movements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for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controlled movement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between 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motion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segments,</a:t>
            </a:r>
            <a:r>
              <a:rPr sz="2000" spc="-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straight-line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motions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or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sequential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motions.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3300"/>
              </a:buClr>
              <a:buFont typeface="Symbol"/>
              <a:buChar char=""/>
            </a:pPr>
            <a:endParaRPr sz="2350" dirty="0">
              <a:latin typeface="Tahoma"/>
              <a:cs typeface="Tahoma"/>
            </a:endParaRPr>
          </a:p>
          <a:p>
            <a:pPr marL="208915" indent="-196850">
              <a:lnSpc>
                <a:spcPct val="100000"/>
              </a:lnSpc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It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requires the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use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of both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kinematics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dynamics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robots.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375" y="333756"/>
            <a:ext cx="3922970" cy="23713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043" y="2157769"/>
            <a:ext cx="7532045" cy="31607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0739" y="1214183"/>
            <a:ext cx="2749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5.1</a:t>
            </a:r>
            <a:r>
              <a:rPr spc="-40" dirty="0"/>
              <a:t> </a:t>
            </a:r>
            <a:r>
              <a:rPr spc="-5" dirty="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027" y="1988883"/>
            <a:ext cx="792734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order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determine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 robot</a:t>
            </a:r>
            <a:r>
              <a:rPr sz="24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40458C"/>
                </a:solidFill>
                <a:latin typeface="Tahoma"/>
                <a:cs typeface="Tahoma"/>
              </a:rPr>
              <a:t>trajectory,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consider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the </a:t>
            </a:r>
            <a:r>
              <a:rPr sz="24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location,</a:t>
            </a:r>
            <a:r>
              <a:rPr sz="24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velocity,</a:t>
            </a:r>
            <a:r>
              <a:rPr sz="24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position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desired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end-effector</a:t>
            </a:r>
            <a:r>
              <a:rPr sz="24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as</a:t>
            </a:r>
            <a:r>
              <a:rPr sz="24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well </a:t>
            </a:r>
            <a:r>
              <a:rPr sz="2400" spc="-7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as kinematic constraints condition of robot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and dynamic </a:t>
            </a:r>
            <a:r>
              <a:rPr sz="24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characteristic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0458C"/>
              </a:buClr>
              <a:buFont typeface="Arial MT"/>
              <a:buChar char="•"/>
            </a:pPr>
            <a:endParaRPr sz="2350">
              <a:latin typeface="Tahoma"/>
              <a:cs typeface="Tahoma"/>
            </a:endParaRPr>
          </a:p>
          <a:p>
            <a:pPr marL="299085" marR="44132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kinematic constraints condition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: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each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joint’s range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of </a:t>
            </a:r>
            <a:r>
              <a:rPr sz="2400" spc="-7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motion,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work</a:t>
            </a:r>
            <a:r>
              <a:rPr sz="24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space’s</a:t>
            </a:r>
            <a:r>
              <a:rPr sz="2400" spc="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limitation,</a:t>
            </a:r>
            <a:r>
              <a:rPr sz="24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singularity problem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40458C"/>
              </a:buClr>
              <a:buFont typeface="Arial MT"/>
              <a:buChar char="•"/>
            </a:pPr>
            <a:endParaRPr sz="2350">
              <a:latin typeface="Tahoma"/>
              <a:cs typeface="Tahoma"/>
            </a:endParaRPr>
          </a:p>
          <a:p>
            <a:pPr marL="299085" marR="112585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Dynamic characteristic</a:t>
            </a:r>
            <a:r>
              <a:rPr sz="24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:</a:t>
            </a:r>
            <a:r>
              <a:rPr sz="24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torque’s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 limitation, </a:t>
            </a:r>
            <a:r>
              <a:rPr sz="2400" spc="-7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maximum</a:t>
            </a:r>
            <a:r>
              <a:rPr sz="24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velocity,</a:t>
            </a:r>
            <a:r>
              <a:rPr sz="24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acceleration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4027" y="1157033"/>
            <a:ext cx="2147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heavy" spc="-5" dirty="0">
                <a:uFill>
                  <a:solidFill>
                    <a:srgbClr val="40458C"/>
                  </a:solidFill>
                </a:uFill>
                <a:latin typeface="Tahoma"/>
                <a:cs typeface="Tahoma"/>
              </a:rPr>
              <a:t>Consideration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590" y="868109"/>
            <a:ext cx="76885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/>
              <a:t>As </a:t>
            </a:r>
            <a:r>
              <a:rPr sz="2000" dirty="0"/>
              <a:t>shown </a:t>
            </a:r>
            <a:r>
              <a:rPr sz="2000" spc="-5" dirty="0"/>
              <a:t>in Fig. 5.A1, the </a:t>
            </a:r>
            <a:r>
              <a:rPr sz="2000" dirty="0"/>
              <a:t>basic </a:t>
            </a:r>
            <a:r>
              <a:rPr sz="2000" spc="-5" dirty="0"/>
              <a:t>problem is </a:t>
            </a:r>
            <a:r>
              <a:rPr sz="2000" dirty="0"/>
              <a:t>to </a:t>
            </a:r>
            <a:r>
              <a:rPr sz="2000" spc="-10" dirty="0"/>
              <a:t>move </a:t>
            </a:r>
            <a:r>
              <a:rPr sz="2000" spc="-5" dirty="0"/>
              <a:t>the manipulator </a:t>
            </a:r>
            <a:r>
              <a:rPr sz="2000" spc="-610" dirty="0"/>
              <a:t> </a:t>
            </a:r>
            <a:r>
              <a:rPr sz="2000" spc="-10" dirty="0"/>
              <a:t>from</a:t>
            </a:r>
            <a:r>
              <a:rPr sz="2000" spc="-5" dirty="0"/>
              <a:t> </a:t>
            </a:r>
            <a:r>
              <a:rPr sz="2000" dirty="0"/>
              <a:t>an</a:t>
            </a:r>
            <a:r>
              <a:rPr sz="2000" spc="-15" dirty="0"/>
              <a:t> </a:t>
            </a:r>
            <a:r>
              <a:rPr sz="2000" spc="-5" dirty="0"/>
              <a:t>initial</a:t>
            </a:r>
            <a:r>
              <a:rPr sz="2000" spc="30" dirty="0"/>
              <a:t> </a:t>
            </a:r>
            <a:r>
              <a:rPr sz="2000" dirty="0"/>
              <a:t>position</a:t>
            </a:r>
            <a:r>
              <a:rPr sz="2000" spc="-10" dirty="0"/>
              <a:t> </a:t>
            </a:r>
            <a:r>
              <a:rPr sz="2000" dirty="0"/>
              <a:t>to some</a:t>
            </a:r>
            <a:r>
              <a:rPr sz="2000" spc="-25" dirty="0"/>
              <a:t> </a:t>
            </a:r>
            <a:r>
              <a:rPr sz="2000" spc="-5" dirty="0"/>
              <a:t>desired</a:t>
            </a:r>
            <a:r>
              <a:rPr sz="2000" spc="-30" dirty="0"/>
              <a:t> </a:t>
            </a:r>
            <a:r>
              <a:rPr sz="2000" spc="-5" dirty="0"/>
              <a:t>final</a:t>
            </a:r>
            <a:r>
              <a:rPr sz="2000" spc="15" dirty="0"/>
              <a:t> </a:t>
            </a:r>
            <a:r>
              <a:rPr sz="2000" spc="-5" dirty="0"/>
              <a:t>position.</a:t>
            </a:r>
            <a:endParaRPr sz="2000"/>
          </a:p>
        </p:txBody>
      </p:sp>
      <p:sp>
        <p:nvSpPr>
          <p:cNvPr id="5" name="object 5"/>
          <p:cNvSpPr txBox="1"/>
          <p:nvPr/>
        </p:nvSpPr>
        <p:spPr>
          <a:xfrm>
            <a:off x="402590" y="5196272"/>
            <a:ext cx="750062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general,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this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motion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involves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both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change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orientation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change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position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the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tool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relative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station.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7040" y="2073375"/>
            <a:ext cx="3700528" cy="221620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42452" y="4613020"/>
            <a:ext cx="540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FIGURE</a:t>
            </a:r>
            <a:r>
              <a:rPr sz="1200" b="1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5.A1</a:t>
            </a:r>
            <a:r>
              <a:rPr sz="1200" b="1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:</a:t>
            </a:r>
            <a:r>
              <a:rPr sz="1200" b="1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200" b="1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executing</a:t>
            </a:r>
            <a:r>
              <a:rPr sz="1200" b="1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trajectory,</a:t>
            </a:r>
            <a:r>
              <a:rPr sz="1200" b="1" dirty="0">
                <a:solidFill>
                  <a:srgbClr val="40458C"/>
                </a:solidFill>
                <a:latin typeface="Tahoma"/>
                <a:cs typeface="Tahoma"/>
              </a:rPr>
              <a:t> a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manipulator</a:t>
            </a:r>
            <a:r>
              <a:rPr sz="1200" b="1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moves</a:t>
            </a:r>
            <a:r>
              <a:rPr sz="1200" b="1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from</a:t>
            </a:r>
            <a:r>
              <a:rPr sz="1200" b="1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40458C"/>
                </a:solidFill>
                <a:latin typeface="Tahoma"/>
                <a:cs typeface="Tahoma"/>
              </a:rPr>
              <a:t>its </a:t>
            </a:r>
            <a:r>
              <a:rPr sz="1200" b="1" spc="-3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initial</a:t>
            </a:r>
            <a:r>
              <a:rPr sz="1200" b="1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position</a:t>
            </a:r>
            <a:r>
              <a:rPr sz="1200" b="1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200" b="1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 desired</a:t>
            </a:r>
            <a:r>
              <a:rPr sz="1200" b="1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goal</a:t>
            </a:r>
            <a:r>
              <a:rPr sz="1200" b="1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position</a:t>
            </a:r>
            <a:r>
              <a:rPr sz="1200" b="1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200" b="1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smooth</a:t>
            </a:r>
            <a:r>
              <a:rPr sz="1200" b="1" spc="3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b="1" spc="-5" dirty="0">
                <a:solidFill>
                  <a:srgbClr val="40458C"/>
                </a:solidFill>
                <a:latin typeface="Tahoma"/>
                <a:cs typeface="Tahoma"/>
              </a:rPr>
              <a:t>manner.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1555496"/>
            <a:ext cx="3667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5.2</a:t>
            </a:r>
            <a:r>
              <a:rPr spc="-10" dirty="0"/>
              <a:t> </a:t>
            </a:r>
            <a:r>
              <a:rPr spc="-55" dirty="0"/>
              <a:t>PATH</a:t>
            </a:r>
            <a:r>
              <a:rPr dirty="0"/>
              <a:t> </a:t>
            </a:r>
            <a:r>
              <a:rPr spc="-15" dirty="0"/>
              <a:t>VS.</a:t>
            </a:r>
            <a:r>
              <a:rPr spc="5" dirty="0"/>
              <a:t> </a:t>
            </a:r>
            <a:r>
              <a:rPr spc="-15" dirty="0"/>
              <a:t>TRAJECTORY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0739" y="2091944"/>
            <a:ext cx="7941309" cy="141605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26060" marR="704215" indent="-226060">
              <a:lnSpc>
                <a:spcPct val="80800"/>
              </a:lnSpc>
              <a:spcBef>
                <a:spcPts val="650"/>
              </a:spcBef>
              <a:buClr>
                <a:srgbClr val="FF3300"/>
              </a:buClr>
              <a:buSzPct val="83333"/>
              <a:buFont typeface="Symbol"/>
              <a:buChar char=""/>
              <a:tabLst>
                <a:tab pos="226060" algn="l"/>
              </a:tabLst>
            </a:pPr>
            <a:r>
              <a:rPr sz="2400" spc="-15" dirty="0">
                <a:solidFill>
                  <a:srgbClr val="33CC33"/>
                </a:solidFill>
                <a:latin typeface="Tahoma"/>
                <a:cs typeface="Tahoma"/>
              </a:rPr>
              <a:t>Path: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 sequence of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robot configurations in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particular order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without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regard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timing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these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configurations.</a:t>
            </a:r>
            <a:endParaRPr sz="2000">
              <a:latin typeface="Tahoma"/>
              <a:cs typeface="Tahoma"/>
            </a:endParaRPr>
          </a:p>
          <a:p>
            <a:pPr marL="226060" marR="5080" indent="-226060">
              <a:lnSpc>
                <a:spcPct val="80800"/>
              </a:lnSpc>
              <a:spcBef>
                <a:spcPts val="1895"/>
              </a:spcBef>
              <a:buClr>
                <a:srgbClr val="FF3300"/>
              </a:buClr>
              <a:buSzPct val="83333"/>
              <a:buFont typeface="Symbol"/>
              <a:buChar char=""/>
              <a:tabLst>
                <a:tab pos="226060" algn="l"/>
              </a:tabLst>
            </a:pPr>
            <a:r>
              <a:rPr sz="2400" spc="-30" dirty="0">
                <a:solidFill>
                  <a:srgbClr val="33CC33"/>
                </a:solidFill>
                <a:latin typeface="Tahoma"/>
                <a:cs typeface="Tahoma"/>
              </a:rPr>
              <a:t>Trajectory:</a:t>
            </a:r>
            <a:r>
              <a:rPr sz="240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It</a:t>
            </a:r>
            <a:r>
              <a:rPr sz="20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 concerned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about</a:t>
            </a:r>
            <a:r>
              <a:rPr sz="2000" spc="114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when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each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part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the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path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must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attained,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thus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specifying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timing.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7239" y="4053832"/>
            <a:ext cx="3819995" cy="13922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26739" y="5746496"/>
            <a:ext cx="3199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spc="-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5.1</a:t>
            </a:r>
            <a:r>
              <a:rPr sz="12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Sequential robot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movements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in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path.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0093" y="3201876"/>
            <a:ext cx="4561045" cy="25008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9565" y="1084008"/>
            <a:ext cx="7697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5.3 </a:t>
            </a:r>
            <a:r>
              <a:rPr spc="-25" dirty="0"/>
              <a:t>JOINT-SPACE</a:t>
            </a:r>
            <a:r>
              <a:rPr spc="15" dirty="0"/>
              <a:t> </a:t>
            </a:r>
            <a:r>
              <a:rPr spc="-15" dirty="0"/>
              <a:t>VS.</a:t>
            </a:r>
            <a:r>
              <a:rPr spc="5" dirty="0"/>
              <a:t> </a:t>
            </a:r>
            <a:r>
              <a:rPr spc="-10" dirty="0"/>
              <a:t>CARTESIAN-SPCAE</a:t>
            </a:r>
            <a:r>
              <a:rPr spc="15" dirty="0"/>
              <a:t> </a:t>
            </a:r>
            <a:r>
              <a:rPr spc="-5" dirty="0"/>
              <a:t>DESCRIPTIONS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5765" y="1477200"/>
            <a:ext cx="8188959" cy="1882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ts val="2185"/>
              </a:lnSpc>
              <a:spcBef>
                <a:spcPts val="10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spc="-5" dirty="0">
                <a:solidFill>
                  <a:srgbClr val="33CC33"/>
                </a:solidFill>
                <a:latin typeface="Tahoma"/>
                <a:cs typeface="Tahoma"/>
              </a:rPr>
              <a:t>Joint-space</a:t>
            </a:r>
            <a:r>
              <a:rPr sz="2000" spc="-5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33CC33"/>
                </a:solidFill>
                <a:latin typeface="Tahoma"/>
                <a:cs typeface="Tahoma"/>
              </a:rPr>
              <a:t>description:</a:t>
            </a:r>
            <a:endParaRPr sz="2000">
              <a:latin typeface="Tahoma"/>
              <a:cs typeface="Tahoma"/>
            </a:endParaRPr>
          </a:p>
          <a:p>
            <a:pPr marL="251460" indent="-163195">
              <a:lnSpc>
                <a:spcPts val="1875"/>
              </a:lnSpc>
              <a:buChar char="-"/>
              <a:tabLst>
                <a:tab pos="252095" algn="l"/>
              </a:tabLst>
            </a:pP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description</a:t>
            </a:r>
            <a:r>
              <a:rPr sz="1900" spc="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9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9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motion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9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19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made</a:t>
            </a:r>
            <a:r>
              <a:rPr sz="19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by</a:t>
            </a:r>
            <a:r>
              <a:rPr sz="19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9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robot</a:t>
            </a:r>
            <a:r>
              <a:rPr sz="19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by</a:t>
            </a:r>
            <a:r>
              <a:rPr sz="19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its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19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values.</a:t>
            </a:r>
            <a:endParaRPr sz="1900">
              <a:latin typeface="Tahoma"/>
              <a:cs typeface="Tahoma"/>
            </a:endParaRPr>
          </a:p>
          <a:p>
            <a:pPr marL="251460" indent="-163195">
              <a:lnSpc>
                <a:spcPts val="2090"/>
              </a:lnSpc>
              <a:buChar char="-"/>
              <a:tabLst>
                <a:tab pos="252095" algn="l"/>
              </a:tabLst>
            </a:pP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motion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between</a:t>
            </a:r>
            <a:r>
              <a:rPr sz="1900" spc="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9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two</a:t>
            </a:r>
            <a:r>
              <a:rPr sz="19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points</a:t>
            </a:r>
            <a:r>
              <a:rPr sz="1900" spc="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unpredictable.</a:t>
            </a:r>
            <a:endParaRPr sz="1900">
              <a:latin typeface="Tahoma"/>
              <a:cs typeface="Tahoma"/>
            </a:endParaRPr>
          </a:p>
          <a:p>
            <a:pPr marL="208915" indent="-196850">
              <a:lnSpc>
                <a:spcPts val="2220"/>
              </a:lnSpc>
              <a:spcBef>
                <a:spcPts val="47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33CC33"/>
                </a:solidFill>
                <a:latin typeface="Tahoma"/>
                <a:cs typeface="Tahoma"/>
              </a:rPr>
              <a:t>Cartesian</a:t>
            </a:r>
            <a:r>
              <a:rPr sz="2000" spc="-3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CC33"/>
                </a:solidFill>
                <a:latin typeface="Tahoma"/>
                <a:cs typeface="Tahoma"/>
              </a:rPr>
              <a:t>space</a:t>
            </a:r>
            <a:r>
              <a:rPr sz="2000" spc="-5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33CC33"/>
                </a:solidFill>
                <a:latin typeface="Tahoma"/>
                <a:cs typeface="Tahoma"/>
              </a:rPr>
              <a:t>description:</a:t>
            </a:r>
            <a:endParaRPr sz="2000">
              <a:latin typeface="Tahoma"/>
              <a:cs typeface="Tahoma"/>
            </a:endParaRPr>
          </a:p>
          <a:p>
            <a:pPr marL="251460" indent="-163195">
              <a:lnSpc>
                <a:spcPts val="1885"/>
              </a:lnSpc>
              <a:buChar char="-"/>
              <a:tabLst>
                <a:tab pos="252095" algn="l"/>
              </a:tabLst>
            </a:pP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motion</a:t>
            </a:r>
            <a:r>
              <a:rPr sz="19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between</a:t>
            </a:r>
            <a:r>
              <a:rPr sz="1900" spc="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9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two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points</a:t>
            </a:r>
            <a:r>
              <a:rPr sz="1900" spc="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9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known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at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all</a:t>
            </a:r>
            <a:r>
              <a:rPr sz="19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times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19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controllable.</a:t>
            </a:r>
            <a:endParaRPr sz="1900">
              <a:latin typeface="Tahoma"/>
              <a:cs typeface="Tahoma"/>
            </a:endParaRPr>
          </a:p>
          <a:p>
            <a:pPr marL="241300" marR="822960" indent="-153035">
              <a:lnSpc>
                <a:spcPct val="80000"/>
              </a:lnSpc>
              <a:spcBef>
                <a:spcPts val="240"/>
              </a:spcBef>
              <a:buChar char="-"/>
              <a:tabLst>
                <a:tab pos="252095" algn="l"/>
              </a:tabLst>
            </a:pP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It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9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easy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9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visualize</a:t>
            </a:r>
            <a:r>
              <a:rPr sz="1900" spc="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40458C"/>
                </a:solidFill>
                <a:latin typeface="Tahoma"/>
                <a:cs typeface="Tahoma"/>
              </a:rPr>
              <a:t>trajectory,</a:t>
            </a:r>
            <a:r>
              <a:rPr sz="1900" spc="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but</a:t>
            </a:r>
            <a:r>
              <a:rPr sz="19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it</a:t>
            </a:r>
            <a:r>
              <a:rPr sz="19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900" spc="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difficult</a:t>
            </a:r>
            <a:r>
              <a:rPr sz="1900" spc="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9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40458C"/>
                </a:solidFill>
                <a:latin typeface="Tahoma"/>
                <a:cs typeface="Tahoma"/>
              </a:rPr>
              <a:t>ensure</a:t>
            </a:r>
            <a:r>
              <a:rPr sz="19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5" dirty="0">
                <a:solidFill>
                  <a:srgbClr val="40458C"/>
                </a:solidFill>
                <a:latin typeface="Tahoma"/>
                <a:cs typeface="Tahoma"/>
              </a:rPr>
              <a:t>that </a:t>
            </a:r>
            <a:r>
              <a:rPr sz="1900" spc="-58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40458C"/>
                </a:solidFill>
                <a:latin typeface="Tahoma"/>
                <a:cs typeface="Tahoma"/>
              </a:rPr>
              <a:t>singularity.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565" y="5960808"/>
            <a:ext cx="2567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5080" indent="-5715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5.2</a:t>
            </a:r>
            <a:r>
              <a:rPr sz="1200" spc="-3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Sequential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motions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 robot </a:t>
            </a:r>
            <a:r>
              <a:rPr sz="1200" spc="-3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follow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a</a:t>
            </a:r>
            <a:r>
              <a:rPr sz="12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straight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line.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727" y="3610633"/>
            <a:ext cx="3326871" cy="226521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87165" y="5732208"/>
            <a:ext cx="4559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5.3</a:t>
            </a:r>
            <a:r>
              <a:rPr sz="12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1200" spc="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12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(a)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specified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in 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Cartesian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coordinates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may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force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robot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run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into </a:t>
            </a:r>
            <a:r>
              <a:rPr sz="1200" spc="-15" dirty="0">
                <a:solidFill>
                  <a:srgbClr val="40458C"/>
                </a:solidFill>
                <a:latin typeface="Tahoma"/>
                <a:cs typeface="Tahoma"/>
              </a:rPr>
              <a:t>itself,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(b) </a:t>
            </a:r>
            <a:r>
              <a:rPr sz="1200" spc="-3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12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may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requires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 sudden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change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angles.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527" y="1084008"/>
            <a:ext cx="540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5.4 BASICS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TRAJECTORY</a:t>
            </a:r>
            <a:r>
              <a:rPr dirty="0"/>
              <a:t> </a:t>
            </a:r>
            <a:r>
              <a:rPr spc="-10" dirty="0"/>
              <a:t>PLANNING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472" y="1504632"/>
            <a:ext cx="7974965" cy="1311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Let</a:t>
            </a: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</a:t>
            </a:r>
            <a:r>
              <a:rPr sz="20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F89F7"/>
                </a:solidFill>
                <a:latin typeface="Tahoma"/>
                <a:cs typeface="Tahoma"/>
              </a:rPr>
              <a:t>consider</a:t>
            </a:r>
            <a:r>
              <a:rPr sz="2000" spc="-1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simple</a:t>
            </a:r>
            <a:r>
              <a:rPr sz="20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3300"/>
                </a:solidFill>
                <a:latin typeface="Tahoma"/>
                <a:cs typeface="Tahoma"/>
              </a:rPr>
              <a:t>2</a:t>
            </a:r>
            <a:r>
              <a:rPr sz="2000" spc="-2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ahoma"/>
                <a:cs typeface="Tahoma"/>
              </a:rPr>
              <a:t>degree</a:t>
            </a:r>
            <a:r>
              <a:rPr sz="2000" spc="-1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3300"/>
                </a:solidFill>
                <a:latin typeface="Tahoma"/>
                <a:cs typeface="Tahoma"/>
              </a:rPr>
              <a:t>of</a:t>
            </a:r>
            <a:r>
              <a:rPr sz="2000" spc="-10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ahoma"/>
                <a:cs typeface="Tahoma"/>
              </a:rPr>
              <a:t>freedom</a:t>
            </a:r>
            <a:r>
              <a:rPr sz="2000" spc="-30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ahoma"/>
                <a:cs typeface="Tahoma"/>
              </a:rPr>
              <a:t>robot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208915" indent="-196850">
              <a:lnSpc>
                <a:spcPct val="100000"/>
              </a:lnSpc>
              <a:spcBef>
                <a:spcPts val="3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spc="-35" dirty="0">
                <a:solidFill>
                  <a:srgbClr val="660066"/>
                </a:solidFill>
                <a:latin typeface="Tahoma"/>
                <a:cs typeface="Tahoma"/>
              </a:rPr>
              <a:t>We</a:t>
            </a:r>
            <a:r>
              <a:rPr sz="20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desire</a:t>
            </a:r>
            <a:r>
              <a:rPr sz="20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to </a:t>
            </a:r>
            <a:r>
              <a:rPr sz="2000" spc="-10" dirty="0">
                <a:solidFill>
                  <a:srgbClr val="FF3300"/>
                </a:solidFill>
                <a:latin typeface="Tahoma"/>
                <a:cs typeface="Tahoma"/>
              </a:rPr>
              <a:t>move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</a:t>
            </a:r>
            <a:r>
              <a:rPr sz="20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robot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from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FF3300"/>
                </a:solidFill>
                <a:latin typeface="Tahoma"/>
                <a:cs typeface="Tahoma"/>
              </a:rPr>
              <a:t>Point</a:t>
            </a:r>
            <a:r>
              <a:rPr sz="2000" spc="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3300"/>
                </a:solidFill>
                <a:latin typeface="Tahoma"/>
                <a:cs typeface="Tahoma"/>
              </a:rPr>
              <a:t>A</a:t>
            </a:r>
            <a:r>
              <a:rPr sz="2000" spc="-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3300"/>
                </a:solidFill>
                <a:latin typeface="Tahoma"/>
                <a:cs typeface="Tahoma"/>
              </a:rPr>
              <a:t>to</a:t>
            </a:r>
            <a:r>
              <a:rPr sz="2000" spc="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FF3300"/>
                </a:solidFill>
                <a:latin typeface="Tahoma"/>
                <a:cs typeface="Tahoma"/>
              </a:rPr>
              <a:t>Point</a:t>
            </a:r>
            <a:r>
              <a:rPr sz="2000" spc="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Tahoma"/>
                <a:cs typeface="Tahoma"/>
              </a:rPr>
              <a:t>B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209550" marR="5080" indent="-209550">
              <a:lnSpc>
                <a:spcPct val="110000"/>
              </a:lnSpc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Let</a:t>
            </a: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 </a:t>
            </a:r>
            <a:r>
              <a:rPr sz="2000" dirty="0">
                <a:solidFill>
                  <a:srgbClr val="6F89F7"/>
                </a:solidFill>
                <a:latin typeface="Tahoma"/>
                <a:cs typeface="Tahoma"/>
              </a:rPr>
              <a:t>assume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that both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joints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of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 robot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can 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move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at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 maximum </a:t>
            </a:r>
            <a:r>
              <a:rPr sz="2000" spc="-6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rate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of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10</a:t>
            </a:r>
            <a:r>
              <a:rPr sz="20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degree/sec.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46" y="3709270"/>
            <a:ext cx="2780606" cy="210534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8127" y="3739705"/>
            <a:ext cx="8226425" cy="26123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307079" marR="412750" indent="-170815">
              <a:lnSpc>
                <a:spcPts val="1939"/>
              </a:lnSpc>
              <a:spcBef>
                <a:spcPts val="345"/>
              </a:spcBef>
              <a:buClr>
                <a:srgbClr val="05DEFB"/>
              </a:buClr>
              <a:buFont typeface="Symbol"/>
              <a:buChar char=""/>
              <a:tabLst>
                <a:tab pos="3298825" algn="l"/>
              </a:tabLst>
            </a:pP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Move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robot from</a:t>
            </a:r>
            <a:r>
              <a:rPr sz="1800" b="1" spc="-9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</a:t>
            </a:r>
            <a:r>
              <a:rPr sz="1800" b="1" spc="-1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to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B, to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run both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joints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at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their</a:t>
            </a:r>
            <a:r>
              <a:rPr sz="1800" b="1" spc="-4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maximum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angular</a:t>
            </a:r>
            <a:r>
              <a:rPr sz="1800" b="1" spc="-3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velocities.</a:t>
            </a:r>
            <a:endParaRPr sz="1800">
              <a:latin typeface="Times New Roman"/>
              <a:cs typeface="Times New Roman"/>
            </a:endParaRPr>
          </a:p>
          <a:p>
            <a:pPr marL="3307079" marR="5080" indent="-170815">
              <a:lnSpc>
                <a:spcPts val="1939"/>
              </a:lnSpc>
              <a:spcBef>
                <a:spcPts val="1095"/>
              </a:spcBef>
              <a:buClr>
                <a:srgbClr val="05DEFB"/>
              </a:buClr>
              <a:buFont typeface="Symbol"/>
              <a:buChar char=""/>
              <a:tabLst>
                <a:tab pos="3286760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After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2 [sec],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lower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link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will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have finished its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motion,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while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 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upper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link continues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for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another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3 [sec].</a:t>
            </a:r>
            <a:endParaRPr sz="1800">
              <a:latin typeface="Times New Roman"/>
              <a:cs typeface="Times New Roman"/>
            </a:endParaRPr>
          </a:p>
          <a:p>
            <a:pPr marL="3307079" marR="300990" indent="-170815">
              <a:lnSpc>
                <a:spcPts val="1939"/>
              </a:lnSpc>
              <a:spcBef>
                <a:spcPts val="1205"/>
              </a:spcBef>
              <a:buClr>
                <a:srgbClr val="05DEFB"/>
              </a:buClr>
              <a:buFont typeface="Symbol"/>
              <a:buChar char=""/>
              <a:tabLst>
                <a:tab pos="3295650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 path is irregular and the distances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traveled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by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robot’s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end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are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not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uniform.</a:t>
            </a:r>
            <a:endParaRPr sz="1800">
              <a:latin typeface="Times New Roman"/>
              <a:cs typeface="Times New Roman"/>
            </a:endParaRPr>
          </a:p>
          <a:p>
            <a:pPr marL="536575" marR="4980305" indent="-524510">
              <a:lnSpc>
                <a:spcPct val="100000"/>
              </a:lnSpc>
              <a:spcBef>
                <a:spcPts val="1365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5.4</a:t>
            </a:r>
            <a:r>
              <a:rPr sz="12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Joint-space</a:t>
            </a:r>
            <a:r>
              <a:rPr sz="12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nonnormalized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movements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robot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two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degrees of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freedom.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490" y="1142746"/>
            <a:ext cx="540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5.4 BASICS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TRAJECTORY</a:t>
            </a:r>
            <a:r>
              <a:rPr dirty="0"/>
              <a:t> </a:t>
            </a:r>
            <a:r>
              <a:rPr spc="-10" dirty="0"/>
              <a:t>PLANNING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4690" y="5667121"/>
            <a:ext cx="325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5.5</a:t>
            </a:r>
            <a:r>
              <a:rPr sz="12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Joint-space,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normalized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movements</a:t>
            </a:r>
            <a:endParaRPr sz="1200">
              <a:latin typeface="Tahoma"/>
              <a:cs typeface="Tahoma"/>
            </a:endParaRPr>
          </a:p>
          <a:p>
            <a:pPr marL="536575">
              <a:lnSpc>
                <a:spcPct val="100000"/>
              </a:lnSpc>
            </a:pP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robot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two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degrees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freedom.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7490" y="3947667"/>
            <a:ext cx="4704715" cy="93154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2880" marR="5080" indent="-170815">
              <a:lnSpc>
                <a:spcPts val="1939"/>
              </a:lnSpc>
              <a:spcBef>
                <a:spcPts val="345"/>
              </a:spcBef>
              <a:buClr>
                <a:srgbClr val="05DEFB"/>
              </a:buClr>
              <a:buFont typeface="Symbol"/>
              <a:buChar char=""/>
              <a:tabLst>
                <a:tab pos="174625" algn="l"/>
              </a:tabLst>
            </a:pP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Both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joints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move at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different speeds, but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move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continuously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together.</a:t>
            </a:r>
            <a:endParaRPr sz="1800">
              <a:latin typeface="Times New Roman"/>
              <a:cs typeface="Times New Roman"/>
            </a:endParaRPr>
          </a:p>
          <a:p>
            <a:pPr marL="170815" indent="-158750">
              <a:lnSpc>
                <a:spcPct val="100000"/>
              </a:lnSpc>
              <a:spcBef>
                <a:spcPts val="850"/>
              </a:spcBef>
              <a:buClr>
                <a:srgbClr val="05DEFB"/>
              </a:buClr>
              <a:buFont typeface="Symbol"/>
              <a:buChar char=""/>
              <a:tabLst>
                <a:tab pos="171450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resulting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trajectory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will</a:t>
            </a:r>
            <a:r>
              <a:rPr sz="1800" b="1" spc="-3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be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different.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444" y="3120627"/>
            <a:ext cx="3115984" cy="2357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4690" y="1568551"/>
            <a:ext cx="750379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 marR="5080" indent="-209550" algn="just">
              <a:lnSpc>
                <a:spcPct val="110000"/>
              </a:lnSpc>
              <a:spcBef>
                <a:spcPts val="100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Let</a:t>
            </a: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 </a:t>
            </a:r>
            <a:r>
              <a:rPr sz="2000" dirty="0">
                <a:solidFill>
                  <a:srgbClr val="6F89F7"/>
                </a:solidFill>
                <a:latin typeface="Tahoma"/>
                <a:cs typeface="Tahoma"/>
              </a:rPr>
              <a:t>assume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that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 motions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of both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joints are normalized by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 </a:t>
            </a:r>
            <a:r>
              <a:rPr sz="2000" spc="-6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u="sng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ahoma"/>
                <a:cs typeface="Tahoma"/>
              </a:rPr>
              <a:t>common </a:t>
            </a:r>
            <a:r>
              <a:rPr sz="2000" u="sng" spc="-5" dirty="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  <a:latin typeface="Tahoma"/>
                <a:cs typeface="Tahoma"/>
              </a:rPr>
              <a:t>factor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such that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 joint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with smaller motion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will </a:t>
            </a:r>
            <a:r>
              <a:rPr sz="2000" spc="-10" dirty="0">
                <a:solidFill>
                  <a:srgbClr val="6F89F7"/>
                </a:solidFill>
                <a:latin typeface="Tahoma"/>
                <a:cs typeface="Tahoma"/>
              </a:rPr>
              <a:t>move </a:t>
            </a:r>
            <a:r>
              <a:rPr sz="2000" spc="-6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F89F7"/>
                </a:solidFill>
                <a:latin typeface="Tahoma"/>
                <a:cs typeface="Tahoma"/>
              </a:rPr>
              <a:t>proportionally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slower and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both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joints will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start and stop </a:t>
            </a:r>
            <a:r>
              <a:rPr sz="2000" spc="-5" dirty="0">
                <a:solidFill>
                  <a:srgbClr val="6F89F7"/>
                </a:solidFill>
                <a:latin typeface="Tahoma"/>
                <a:cs typeface="Tahoma"/>
              </a:rPr>
              <a:t>their </a:t>
            </a:r>
            <a:r>
              <a:rPr sz="2000" spc="-6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F89F7"/>
                </a:solidFill>
                <a:latin typeface="Tahoma"/>
                <a:cs typeface="Tahoma"/>
              </a:rPr>
              <a:t>motion</a:t>
            </a:r>
            <a:r>
              <a:rPr sz="2000" spc="-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6F89F7"/>
                </a:solidFill>
                <a:latin typeface="Tahoma"/>
                <a:cs typeface="Tahoma"/>
              </a:rPr>
              <a:t>simultaneously.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9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590" y="1099883"/>
            <a:ext cx="540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5.4 BASICS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TRAJECTORY</a:t>
            </a:r>
            <a:r>
              <a:rPr dirty="0"/>
              <a:t> </a:t>
            </a:r>
            <a:r>
              <a:rPr spc="-10" dirty="0"/>
              <a:t>PLANNING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190" y="5595683"/>
            <a:ext cx="273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5080" indent="-5715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spc="6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5.6</a:t>
            </a:r>
            <a:r>
              <a:rPr sz="1200" spc="3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1200" spc="9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movements</a:t>
            </a:r>
            <a:r>
              <a:rPr sz="1200" spc="8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a</a:t>
            </a:r>
            <a:r>
              <a:rPr sz="1200" spc="-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two-degree-of-freedom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robot.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1590" y="4057205"/>
            <a:ext cx="4707890" cy="93154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2880" marR="5080" indent="-170815">
              <a:lnSpc>
                <a:spcPts val="1939"/>
              </a:lnSpc>
              <a:spcBef>
                <a:spcPts val="345"/>
              </a:spcBef>
              <a:buClr>
                <a:srgbClr val="05DEFB"/>
              </a:buClr>
              <a:buFont typeface="Symbol"/>
              <a:buChar char=""/>
              <a:tabLst>
                <a:tab pos="174625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Divide the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line into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five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segments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and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solve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for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necessary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angles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F89F7"/>
                </a:solidFill>
                <a:latin typeface="Symbol"/>
                <a:cs typeface="Symbol"/>
              </a:rPr>
              <a:t></a:t>
            </a:r>
            <a:r>
              <a:rPr sz="1800" spc="-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and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F89F7"/>
                </a:solidFill>
                <a:latin typeface="Symbol"/>
                <a:cs typeface="Symbol"/>
              </a:rPr>
              <a:t></a:t>
            </a:r>
            <a:r>
              <a:rPr sz="1800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at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each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point.</a:t>
            </a:r>
            <a:endParaRPr sz="1800">
              <a:latin typeface="Times New Roman"/>
              <a:cs typeface="Times New Roman"/>
            </a:endParaRPr>
          </a:p>
          <a:p>
            <a:pPr marL="170815" indent="-158750">
              <a:lnSpc>
                <a:spcPct val="100000"/>
              </a:lnSpc>
              <a:spcBef>
                <a:spcPts val="850"/>
              </a:spcBef>
              <a:buClr>
                <a:srgbClr val="05DEFB"/>
              </a:buClr>
              <a:buFont typeface="Symbol"/>
              <a:buChar char=""/>
              <a:tabLst>
                <a:tab pos="171450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joint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angles 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are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not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uniformly changing.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2" y="3049523"/>
            <a:ext cx="3276599" cy="25847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4027" y="1525781"/>
            <a:ext cx="8418830" cy="1520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marR="5080" indent="-213995">
              <a:lnSpc>
                <a:spcPct val="110000"/>
              </a:lnSpc>
              <a:spcBef>
                <a:spcPts val="95"/>
              </a:spcBef>
              <a:buClr>
                <a:srgbClr val="FF3300"/>
              </a:buClr>
              <a:buFont typeface="Symbol"/>
              <a:buChar char=""/>
              <a:tabLst>
                <a:tab pos="213995" algn="l"/>
              </a:tabLst>
            </a:pP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Let</a:t>
            </a:r>
            <a:r>
              <a:rPr sz="2000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 </a:t>
            </a:r>
            <a:r>
              <a:rPr sz="2000" dirty="0">
                <a:solidFill>
                  <a:srgbClr val="6F89F7"/>
                </a:solidFill>
                <a:latin typeface="Tahoma"/>
                <a:cs typeface="Tahoma"/>
              </a:rPr>
              <a:t>assume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that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the robot</a:t>
            </a:r>
            <a:r>
              <a:rPr sz="2000" spc="-5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s hand follows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 known path between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points </a:t>
            </a:r>
            <a:r>
              <a:rPr sz="2000" spc="-6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and</a:t>
            </a:r>
            <a:r>
              <a:rPr sz="20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B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in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straight line.</a:t>
            </a:r>
            <a:endParaRPr sz="2000">
              <a:latin typeface="Tahoma"/>
              <a:cs typeface="Tahoma"/>
            </a:endParaRPr>
          </a:p>
          <a:p>
            <a:pPr marL="209550" marR="297815" indent="-209550">
              <a:lnSpc>
                <a:spcPct val="110000"/>
              </a:lnSpc>
              <a:spcBef>
                <a:spcPts val="1210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The</a:t>
            </a:r>
            <a:r>
              <a:rPr sz="2000" spc="-3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simplest</a:t>
            </a:r>
            <a:r>
              <a:rPr sz="20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solution</a:t>
            </a:r>
            <a:r>
              <a:rPr sz="20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would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be</a:t>
            </a:r>
            <a:r>
              <a:rPr sz="20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to </a:t>
            </a:r>
            <a:r>
              <a:rPr sz="2000" spc="-15" dirty="0">
                <a:solidFill>
                  <a:srgbClr val="660066"/>
                </a:solidFill>
                <a:latin typeface="Tahoma"/>
                <a:cs typeface="Tahoma"/>
              </a:rPr>
              <a:t>draw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 a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line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between</a:t>
            </a:r>
            <a:r>
              <a:rPr sz="20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points</a:t>
            </a:r>
            <a:r>
              <a:rPr sz="20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and</a:t>
            </a:r>
            <a:r>
              <a:rPr sz="20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60066"/>
                </a:solidFill>
                <a:latin typeface="Tahoma"/>
                <a:cs typeface="Tahoma"/>
              </a:rPr>
              <a:t>B, </a:t>
            </a:r>
            <a:r>
              <a:rPr sz="2000" spc="-6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60066"/>
                </a:solidFill>
                <a:latin typeface="Tahoma"/>
                <a:cs typeface="Tahoma"/>
              </a:rPr>
              <a:t>so</a:t>
            </a:r>
            <a:r>
              <a:rPr sz="20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called </a:t>
            </a:r>
            <a:r>
              <a:rPr sz="2000" spc="-5" dirty="0">
                <a:solidFill>
                  <a:srgbClr val="6F89F7"/>
                </a:solidFill>
                <a:latin typeface="Tahoma"/>
                <a:cs typeface="Tahoma"/>
              </a:rPr>
              <a:t>interpolation</a:t>
            </a:r>
            <a:r>
              <a:rPr sz="2000" spc="-5" dirty="0">
                <a:solidFill>
                  <a:srgbClr val="660066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10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8465" y="1157033"/>
            <a:ext cx="540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5.4 BASICS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TRAJECTORY</a:t>
            </a:r>
            <a:r>
              <a:rPr dirty="0"/>
              <a:t> </a:t>
            </a:r>
            <a:r>
              <a:rPr spc="-10" dirty="0"/>
              <a:t>PLANNING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9127" y="3182429"/>
            <a:ext cx="8116570" cy="270954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602990" marR="48260" indent="-161925">
              <a:lnSpc>
                <a:spcPts val="1839"/>
              </a:lnSpc>
              <a:spcBef>
                <a:spcPts val="330"/>
              </a:spcBef>
              <a:buClr>
                <a:srgbClr val="05DEFB"/>
              </a:buClr>
              <a:buFont typeface="Symbol"/>
              <a:buChar char=""/>
              <a:tabLst>
                <a:tab pos="3596004" algn="l"/>
              </a:tabLst>
            </a:pPr>
            <a:r>
              <a:rPr sz="17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It is assumed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that the </a:t>
            </a:r>
            <a:r>
              <a:rPr sz="17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robot’s </a:t>
            </a:r>
            <a:r>
              <a:rPr sz="1700" b="1" dirty="0">
                <a:solidFill>
                  <a:srgbClr val="FF3300"/>
                </a:solidFill>
                <a:latin typeface="Times New Roman"/>
                <a:cs typeface="Times New Roman"/>
              </a:rPr>
              <a:t>actuators </a:t>
            </a:r>
            <a:r>
              <a:rPr sz="17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are </a:t>
            </a:r>
            <a:r>
              <a:rPr sz="17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FF3300"/>
                </a:solidFill>
                <a:latin typeface="Times New Roman"/>
                <a:cs typeface="Times New Roman"/>
              </a:rPr>
              <a:t>strong</a:t>
            </a:r>
            <a:r>
              <a:rPr sz="1700" b="1" spc="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3300"/>
                </a:solidFill>
                <a:latin typeface="Times New Roman"/>
                <a:cs typeface="Times New Roman"/>
              </a:rPr>
              <a:t>enough </a:t>
            </a:r>
            <a:r>
              <a:rPr sz="17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to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provide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large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forces</a:t>
            </a:r>
            <a:r>
              <a:rPr sz="1700" b="1" spc="-3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necessary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to</a:t>
            </a:r>
            <a:r>
              <a:rPr sz="17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accelerate</a:t>
            </a:r>
            <a:r>
              <a:rPr sz="1700" b="1" spc="-3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and decelerate</a:t>
            </a:r>
            <a:r>
              <a:rPr sz="1700" b="1" spc="-5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7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joints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as</a:t>
            </a:r>
            <a:r>
              <a:rPr sz="17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needed.</a:t>
            </a:r>
            <a:endParaRPr sz="1700">
              <a:latin typeface="Times New Roman"/>
              <a:cs typeface="Times New Roman"/>
            </a:endParaRPr>
          </a:p>
          <a:p>
            <a:pPr marL="3595370" indent="-154305">
              <a:lnSpc>
                <a:spcPts val="2039"/>
              </a:lnSpc>
              <a:spcBef>
                <a:spcPts val="1030"/>
              </a:spcBef>
              <a:buClr>
                <a:srgbClr val="05DEFB"/>
              </a:buClr>
              <a:buFont typeface="Symbol"/>
              <a:buChar char=""/>
              <a:tabLst>
                <a:tab pos="3596004" algn="l"/>
              </a:tabLst>
            </a:pPr>
            <a:r>
              <a:rPr sz="17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Divide</a:t>
            </a:r>
            <a:r>
              <a:rPr sz="17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7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6F89F7"/>
                </a:solidFill>
                <a:latin typeface="Times New Roman"/>
                <a:cs typeface="Times New Roman"/>
              </a:rPr>
              <a:t>segments</a:t>
            </a:r>
            <a:r>
              <a:rPr sz="17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differently.</a:t>
            </a:r>
            <a:endParaRPr sz="1700">
              <a:latin typeface="Times New Roman"/>
              <a:cs typeface="Times New Roman"/>
            </a:endParaRPr>
          </a:p>
          <a:p>
            <a:pPr marL="3775075" marR="5080" lvl="1" indent="-172720">
              <a:lnSpc>
                <a:spcPts val="1670"/>
              </a:lnSpc>
              <a:spcBef>
                <a:spcPts val="160"/>
              </a:spcBef>
              <a:buClr>
                <a:srgbClr val="FF3300"/>
              </a:buClr>
              <a:buFont typeface="Symbol"/>
              <a:buChar char=""/>
              <a:tabLst>
                <a:tab pos="3745229" algn="l"/>
              </a:tabLst>
            </a:pP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arm </a:t>
            </a:r>
            <a:r>
              <a:rPr sz="15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moves</a:t>
            </a:r>
            <a:r>
              <a:rPr sz="15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at 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smaller</a:t>
            </a:r>
            <a:r>
              <a:rPr sz="1500" b="1" spc="-3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segments</a:t>
            </a:r>
            <a:r>
              <a:rPr sz="1500" b="1" spc="2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as</a:t>
            </a:r>
            <a:r>
              <a:rPr sz="15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we</a:t>
            </a:r>
            <a:r>
              <a:rPr sz="1500" b="1" spc="-2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speed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 up</a:t>
            </a:r>
            <a:r>
              <a:rPr sz="15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at </a:t>
            </a:r>
            <a:r>
              <a:rPr sz="1500" b="1" spc="-36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5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beginning.</a:t>
            </a:r>
            <a:endParaRPr sz="1500">
              <a:latin typeface="Times New Roman"/>
              <a:cs typeface="Times New Roman"/>
            </a:endParaRPr>
          </a:p>
          <a:p>
            <a:pPr marL="3779520" lvl="1" indent="-147955">
              <a:lnSpc>
                <a:spcPts val="1495"/>
              </a:lnSpc>
              <a:buClr>
                <a:srgbClr val="FF3300"/>
              </a:buClr>
              <a:buFont typeface="Symbol"/>
              <a:buChar char=""/>
              <a:tabLst>
                <a:tab pos="3780154" algn="l"/>
              </a:tabLst>
            </a:pP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Go</a:t>
            </a:r>
            <a:r>
              <a:rPr sz="15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at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a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constant</a:t>
            </a:r>
            <a:r>
              <a:rPr sz="1500" b="1" spc="-3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cruising</a:t>
            </a:r>
            <a:r>
              <a:rPr sz="1500" b="1" spc="-3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rate.</a:t>
            </a:r>
            <a:endParaRPr sz="1500">
              <a:latin typeface="Times New Roman"/>
              <a:cs typeface="Times New Roman"/>
            </a:endParaRPr>
          </a:p>
          <a:p>
            <a:pPr marL="3822700" marR="351155" lvl="1" indent="-190500">
              <a:lnSpc>
                <a:spcPts val="1620"/>
              </a:lnSpc>
              <a:spcBef>
                <a:spcPts val="115"/>
              </a:spcBef>
              <a:buClr>
                <a:srgbClr val="FF3300"/>
              </a:buClr>
              <a:buFont typeface="Symbol"/>
              <a:buChar char=""/>
              <a:tabLst>
                <a:tab pos="3768090" algn="l"/>
              </a:tabLst>
            </a:pP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Decelerate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with 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smaller </a:t>
            </a:r>
            <a:r>
              <a:rPr sz="15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segments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as 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approaching </a:t>
            </a:r>
            <a:r>
              <a:rPr sz="1500" b="1" spc="-36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6F89F7"/>
                </a:solidFill>
                <a:latin typeface="Times New Roman"/>
                <a:cs typeface="Times New Roman"/>
              </a:rPr>
              <a:t>point</a:t>
            </a:r>
            <a:r>
              <a:rPr sz="1500" b="1" spc="-3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5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B.</a:t>
            </a:r>
            <a:endParaRPr sz="1500">
              <a:latin typeface="Times New Roman"/>
              <a:cs typeface="Times New Roman"/>
            </a:endParaRPr>
          </a:p>
          <a:p>
            <a:pPr marL="584200" marR="5155565" indent="-571500">
              <a:lnSpc>
                <a:spcPct val="100000"/>
              </a:lnSpc>
              <a:spcBef>
                <a:spcPts val="1085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660066"/>
                </a:solidFill>
                <a:latin typeface="Tahoma"/>
                <a:cs typeface="Tahoma"/>
              </a:rPr>
              <a:t>5.7</a:t>
            </a:r>
            <a:r>
              <a:rPr sz="12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planning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an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acceleration-deceleration</a:t>
            </a:r>
            <a:r>
              <a:rPr sz="1200" spc="8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regiment.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866" y="1591310"/>
            <a:ext cx="8100695" cy="82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 marR="5080" indent="-60960">
              <a:lnSpc>
                <a:spcPct val="110000"/>
              </a:lnSpc>
              <a:spcBef>
                <a:spcPts val="100"/>
              </a:spcBef>
              <a:buClr>
                <a:srgbClr val="FF3300"/>
              </a:buClr>
              <a:buFont typeface="Symbol"/>
              <a:buChar char=""/>
              <a:tabLst>
                <a:tab pos="195580" algn="l"/>
              </a:tabLst>
            </a:pP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Let</a:t>
            </a:r>
            <a:r>
              <a:rPr sz="1500" spc="-5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s</a:t>
            </a:r>
            <a:r>
              <a:rPr sz="15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F89F7"/>
                </a:solidFill>
                <a:latin typeface="Tahoma"/>
                <a:cs typeface="Tahoma"/>
              </a:rPr>
              <a:t>assume</a:t>
            </a:r>
            <a:r>
              <a:rPr sz="1500" spc="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that</a:t>
            </a:r>
            <a:r>
              <a:rPr sz="15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the</a:t>
            </a:r>
            <a:r>
              <a:rPr sz="1500" spc="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robot</a:t>
            </a:r>
            <a:r>
              <a:rPr sz="1500" spc="-5" dirty="0">
                <a:solidFill>
                  <a:srgbClr val="660066"/>
                </a:solidFill>
                <a:latin typeface="Times New Roman"/>
                <a:cs typeface="Times New Roman"/>
              </a:rPr>
              <a:t>’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s</a:t>
            </a:r>
            <a:r>
              <a:rPr sz="1500" dirty="0">
                <a:solidFill>
                  <a:srgbClr val="660066"/>
                </a:solidFill>
                <a:latin typeface="Tahoma"/>
                <a:cs typeface="Tahoma"/>
              </a:rPr>
              <a:t> hand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follows</a:t>
            </a:r>
            <a:r>
              <a:rPr sz="15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60066"/>
                </a:solidFill>
                <a:latin typeface="Tahoma"/>
                <a:cs typeface="Tahoma"/>
              </a:rPr>
              <a:t>a</a:t>
            </a:r>
            <a:r>
              <a:rPr sz="15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known</a:t>
            </a:r>
            <a:r>
              <a:rPr sz="1500" spc="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path</a:t>
            </a:r>
            <a:r>
              <a:rPr sz="15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between point</a:t>
            </a:r>
            <a:r>
              <a:rPr sz="15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60066"/>
                </a:solidFill>
                <a:latin typeface="Tahoma"/>
                <a:cs typeface="Tahoma"/>
              </a:rPr>
              <a:t>A</a:t>
            </a:r>
            <a:r>
              <a:rPr sz="1500" spc="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60066"/>
                </a:solidFill>
                <a:latin typeface="Tahoma"/>
                <a:cs typeface="Tahoma"/>
              </a:rPr>
              <a:t>and</a:t>
            </a:r>
            <a:r>
              <a:rPr sz="15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B</a:t>
            </a:r>
            <a:r>
              <a:rPr sz="1500" spc="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with straight </a:t>
            </a:r>
            <a:r>
              <a:rPr sz="1500" spc="-45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line.</a:t>
            </a:r>
            <a:endParaRPr sz="1500">
              <a:latin typeface="Tahoma"/>
              <a:cs typeface="Tahoma"/>
            </a:endParaRPr>
          </a:p>
          <a:p>
            <a:pPr marL="160020" indent="-147955">
              <a:lnSpc>
                <a:spcPct val="100000"/>
              </a:lnSpc>
              <a:spcBef>
                <a:spcPts val="555"/>
              </a:spcBef>
              <a:buClr>
                <a:srgbClr val="FF3300"/>
              </a:buClr>
              <a:buFont typeface="Symbol"/>
              <a:buChar char=""/>
              <a:tabLst>
                <a:tab pos="160655" algn="l"/>
              </a:tabLst>
            </a:pP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The</a:t>
            </a:r>
            <a:r>
              <a:rPr sz="1500" spc="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simplest</a:t>
            </a:r>
            <a:r>
              <a:rPr sz="15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solution</a:t>
            </a:r>
            <a:r>
              <a:rPr sz="15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would be</a:t>
            </a:r>
            <a:r>
              <a:rPr sz="1500" spc="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to</a:t>
            </a:r>
            <a:r>
              <a:rPr sz="1500" spc="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15" dirty="0">
                <a:solidFill>
                  <a:srgbClr val="660066"/>
                </a:solidFill>
                <a:latin typeface="Tahoma"/>
                <a:cs typeface="Tahoma"/>
              </a:rPr>
              <a:t>draw</a:t>
            </a:r>
            <a:r>
              <a:rPr sz="1500" dirty="0">
                <a:solidFill>
                  <a:srgbClr val="660066"/>
                </a:solidFill>
                <a:latin typeface="Tahoma"/>
                <a:cs typeface="Tahoma"/>
              </a:rPr>
              <a:t> a</a:t>
            </a:r>
            <a:r>
              <a:rPr sz="1500" spc="3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line</a:t>
            </a:r>
            <a:r>
              <a:rPr sz="15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between</a:t>
            </a:r>
            <a:r>
              <a:rPr sz="15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points</a:t>
            </a:r>
            <a:r>
              <a:rPr sz="1500" dirty="0">
                <a:solidFill>
                  <a:srgbClr val="660066"/>
                </a:solidFill>
                <a:latin typeface="Tahoma"/>
                <a:cs typeface="Tahoma"/>
              </a:rPr>
              <a:t> A</a:t>
            </a:r>
            <a:r>
              <a:rPr sz="1500" spc="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60066"/>
                </a:solidFill>
                <a:latin typeface="Tahoma"/>
                <a:cs typeface="Tahoma"/>
              </a:rPr>
              <a:t>and</a:t>
            </a:r>
            <a:r>
              <a:rPr sz="15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60066"/>
                </a:solidFill>
                <a:latin typeface="Tahoma"/>
                <a:cs typeface="Tahoma"/>
              </a:rPr>
              <a:t>B,</a:t>
            </a:r>
            <a:r>
              <a:rPr sz="1500" spc="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so</a:t>
            </a:r>
            <a:r>
              <a:rPr sz="1500" spc="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called</a:t>
            </a:r>
            <a:r>
              <a:rPr sz="1500" spc="-1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500" spc="-5" dirty="0">
                <a:solidFill>
                  <a:srgbClr val="6F89F7"/>
                </a:solidFill>
                <a:latin typeface="Tahoma"/>
                <a:cs typeface="Tahoma"/>
              </a:rPr>
              <a:t>interpolation</a:t>
            </a:r>
            <a:r>
              <a:rPr sz="1500" spc="-5" dirty="0">
                <a:solidFill>
                  <a:srgbClr val="660066"/>
                </a:solidFill>
                <a:latin typeface="Tahoma"/>
                <a:cs typeface="Tahoma"/>
              </a:rPr>
              <a:t>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614" y="2566896"/>
            <a:ext cx="3523835" cy="27184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11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1064958"/>
            <a:ext cx="540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5.4 BASICS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TRAJECTORY</a:t>
            </a:r>
            <a:r>
              <a:rPr dirty="0"/>
              <a:t> </a:t>
            </a:r>
            <a:r>
              <a:rPr spc="-10" dirty="0"/>
              <a:t>PLANNING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5560758"/>
            <a:ext cx="38500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5.8</a:t>
            </a:r>
            <a:r>
              <a:rPr sz="12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Blending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 different</a:t>
            </a:r>
            <a:r>
              <a:rPr sz="12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motion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segments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path.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547871"/>
            <a:ext cx="9067800" cy="1800225"/>
            <a:chOff x="0" y="3547871"/>
            <a:chExt cx="9067800" cy="18002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547871"/>
              <a:ext cx="4495799" cy="179222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5800" y="3570731"/>
              <a:ext cx="4571999" cy="177698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64540" y="1490856"/>
            <a:ext cx="7593965" cy="19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 marR="392430" indent="-209550">
              <a:lnSpc>
                <a:spcPct val="110000"/>
              </a:lnSpc>
              <a:spcBef>
                <a:spcPts val="9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Next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level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trajectory planning is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between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multiple points 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for </a:t>
            </a:r>
            <a:r>
              <a:rPr sz="2000" spc="-6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continuous</a:t>
            </a:r>
            <a:r>
              <a:rPr sz="2000" spc="-2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movements.</a:t>
            </a:r>
            <a:endParaRPr sz="2000">
              <a:latin typeface="Tahoma"/>
              <a:cs typeface="Tahoma"/>
            </a:endParaRPr>
          </a:p>
          <a:p>
            <a:pPr marL="208915" indent="-196850">
              <a:lnSpc>
                <a:spcPct val="100000"/>
              </a:lnSpc>
              <a:spcBef>
                <a:spcPts val="600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Stop-and-go</a:t>
            </a:r>
            <a:r>
              <a:rPr sz="2000" spc="-3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motion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create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jerky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motions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with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unnecessary</a:t>
            </a:r>
            <a:r>
              <a:rPr sz="2000" spc="-2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stops.</a:t>
            </a:r>
            <a:endParaRPr sz="2000">
              <a:latin typeface="Tahoma"/>
              <a:cs typeface="Tahoma"/>
            </a:endParaRPr>
          </a:p>
          <a:p>
            <a:pPr marL="193675" indent="-181610">
              <a:lnSpc>
                <a:spcPct val="100000"/>
              </a:lnSpc>
              <a:spcBef>
                <a:spcPts val="1285"/>
              </a:spcBef>
              <a:buClr>
                <a:srgbClr val="05DEFB"/>
              </a:buClr>
              <a:buFont typeface="Symbol"/>
              <a:buChar char=""/>
              <a:tabLst>
                <a:tab pos="194310" algn="l"/>
              </a:tabLst>
            </a:pP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Blend</a:t>
            </a:r>
            <a:r>
              <a:rPr sz="20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two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portions</a:t>
            </a:r>
            <a:r>
              <a:rPr sz="2000" b="1" spc="-4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motion</a:t>
            </a:r>
            <a:r>
              <a:rPr sz="2000" b="1" spc="-4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at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point</a:t>
            </a:r>
            <a:r>
              <a:rPr sz="2000" b="1" spc="-3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B.</a:t>
            </a:r>
            <a:endParaRPr sz="2000">
              <a:latin typeface="Times New Roman"/>
              <a:cs typeface="Times New Roman"/>
            </a:endParaRPr>
          </a:p>
          <a:p>
            <a:pPr marL="193675" indent="-181610">
              <a:lnSpc>
                <a:spcPct val="100000"/>
              </a:lnSpc>
              <a:spcBef>
                <a:spcPts val="715"/>
              </a:spcBef>
              <a:buClr>
                <a:srgbClr val="05DEFB"/>
              </a:buClr>
              <a:buFont typeface="Symbol"/>
              <a:buChar char=""/>
              <a:tabLst>
                <a:tab pos="194310" algn="l"/>
              </a:tabLst>
            </a:pP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Specify</a:t>
            </a:r>
            <a:r>
              <a:rPr sz="2000" b="1" spc="-3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two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via</a:t>
            </a:r>
            <a:r>
              <a:rPr sz="20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point</a:t>
            </a:r>
            <a:r>
              <a:rPr sz="20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D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and</a:t>
            </a:r>
            <a:r>
              <a:rPr sz="20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E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before</a:t>
            </a:r>
            <a:r>
              <a:rPr sz="2000" b="1" spc="-2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after</a:t>
            </a:r>
            <a:r>
              <a:rPr sz="2000" b="1" spc="-7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point</a:t>
            </a:r>
            <a:r>
              <a:rPr sz="20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12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0740" y="5408358"/>
            <a:ext cx="43967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spc="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5.9</a:t>
            </a:r>
            <a:r>
              <a:rPr sz="1200" spc="-25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An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alternative</a:t>
            </a:r>
            <a:r>
              <a:rPr sz="1200" spc="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scheme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for</a:t>
            </a:r>
            <a:r>
              <a:rPr sz="12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ensuring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robot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will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go </a:t>
            </a:r>
            <a:r>
              <a:rPr sz="1200" spc="-3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through</a:t>
            </a:r>
            <a:r>
              <a:rPr sz="12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 specified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during</a:t>
            </a:r>
            <a:r>
              <a:rPr sz="12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blending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motion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segments.</a:t>
            </a:r>
            <a:endParaRPr sz="1200">
              <a:latin typeface="Tahoma"/>
              <a:cs typeface="Tahoma"/>
            </a:endParaRPr>
          </a:p>
          <a:p>
            <a:pPr marL="12700" marR="112395">
              <a:lnSpc>
                <a:spcPct val="100000"/>
              </a:lnSpc>
            </a:pPr>
            <a:r>
              <a:rPr sz="1200" spc="-45" dirty="0">
                <a:solidFill>
                  <a:srgbClr val="40458C"/>
                </a:solidFill>
                <a:latin typeface="Tahoma"/>
                <a:cs typeface="Tahoma"/>
              </a:rPr>
              <a:t>Two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via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points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D and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are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picked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such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will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fall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on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straight-line</a:t>
            </a:r>
            <a:r>
              <a:rPr sz="1200" spc="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section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segment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ensuring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2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2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robot </a:t>
            </a:r>
            <a:r>
              <a:rPr sz="1200" spc="-3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will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pass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through</a:t>
            </a:r>
            <a:r>
              <a:rPr sz="12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12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B.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79714" y="3881310"/>
            <a:ext cx="127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F89F7"/>
                </a:solidFill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8490" y="4762096"/>
            <a:ext cx="753935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FIGURE 5.A2 : Position, 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velocity,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and 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acceleration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profiles for 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linear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interpolation</a:t>
            </a:r>
            <a:r>
              <a:rPr sz="2000" spc="-4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parabolic</a:t>
            </a:r>
            <a:r>
              <a:rPr sz="2000" spc="-3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blends.</a:t>
            </a:r>
            <a:r>
              <a:rPr sz="2000" spc="-4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 set</a:t>
            </a:r>
            <a:r>
              <a:rPr sz="2000" spc="-1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of curves</a:t>
            </a:r>
            <a:r>
              <a:rPr sz="2000" spc="-3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on</a:t>
            </a:r>
            <a:r>
              <a:rPr sz="2000" spc="-1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left</a:t>
            </a:r>
            <a:r>
              <a:rPr sz="20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are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based </a:t>
            </a:r>
            <a:r>
              <a:rPr sz="2000" spc="-484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on</a:t>
            </a:r>
            <a:r>
              <a:rPr sz="20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a higher</a:t>
            </a:r>
            <a:r>
              <a:rPr sz="2000" spc="-3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acceleration</a:t>
            </a:r>
            <a:r>
              <a:rPr sz="2000" spc="-4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during</a:t>
            </a:r>
            <a:r>
              <a:rPr sz="2000" spc="-4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blends</a:t>
            </a:r>
            <a:r>
              <a:rPr sz="2000" spc="-3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than</a:t>
            </a:r>
            <a:r>
              <a:rPr sz="20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 that</a:t>
            </a:r>
            <a:r>
              <a:rPr sz="2000" spc="-3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on</a:t>
            </a:r>
            <a:r>
              <a:rPr sz="2000" spc="-1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58C"/>
                </a:solidFill>
                <a:latin typeface="Times New Roman"/>
                <a:cs typeface="Times New Roman"/>
              </a:rPr>
              <a:t>right.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2" y="2051305"/>
            <a:ext cx="8424671" cy="22158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3090" y="856100"/>
            <a:ext cx="7694930" cy="945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35"/>
              </a:spcBef>
              <a:tabLst>
                <a:tab pos="4403725" algn="l"/>
              </a:tabLst>
            </a:pP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r>
              <a:rPr sz="2000" spc="5" dirty="0">
                <a:latin typeface="Times New Roman"/>
                <a:cs typeface="Times New Roman"/>
              </a:rPr>
              <a:t>gu</a:t>
            </a:r>
            <a:r>
              <a:rPr sz="2000" dirty="0">
                <a:latin typeface="Times New Roman"/>
                <a:cs typeface="Times New Roman"/>
              </a:rPr>
              <a:t>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how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po</a:t>
            </a:r>
            <a:r>
              <a:rPr sz="2000" dirty="0">
                <a:latin typeface="Times New Roman"/>
                <a:cs typeface="Times New Roman"/>
              </a:rPr>
              <a:t>ss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-5" dirty="0">
                <a:latin typeface="Times New Roman"/>
                <a:cs typeface="Times New Roman"/>
              </a:rPr>
              <a:t>lit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wh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re</a:t>
            </a:r>
            <a:r>
              <a:rPr lang="en-GB" sz="2000" dirty="0">
                <a:latin typeface="Times New Roman"/>
                <a:cs typeface="Times New Roman"/>
              </a:rPr>
              <a:t> </a:t>
            </a:r>
            <a:r>
              <a:rPr sz="3000" spc="-989" baseline="-4166" dirty="0">
                <a:solidFill>
                  <a:srgbClr val="000000"/>
                </a:solidFill>
                <a:latin typeface="Symbol"/>
                <a:cs typeface="Symbol"/>
              </a:rPr>
              <a:t></a:t>
            </a:r>
            <a:r>
              <a:rPr sz="2850" spc="-2220" baseline="11695" dirty="0">
                <a:solidFill>
                  <a:srgbClr val="000000"/>
                </a:solidFill>
                <a:latin typeface="Arial MT"/>
                <a:cs typeface="Arial MT"/>
              </a:rPr>
              <a:t></a:t>
            </a:r>
            <a:r>
              <a:rPr sz="2850" spc="-1889" baseline="11695" dirty="0">
                <a:solidFill>
                  <a:srgbClr val="000000"/>
                </a:solidFill>
                <a:latin typeface="Arial MT"/>
                <a:cs typeface="Arial MT"/>
              </a:rPr>
              <a:t></a:t>
            </a:r>
            <a:r>
              <a:rPr lang="en-GB" sz="2850" spc="-179" baseline="116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w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ho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qu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spc="-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spc="5" dirty="0">
                <a:latin typeface="Times New Roman"/>
                <a:cs typeface="Times New Roman"/>
              </a:rPr>
              <a:t>gh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</a:t>
            </a:r>
            <a:r>
              <a:rPr sz="2000" spc="5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  </a:t>
            </a:r>
            <a:r>
              <a:rPr sz="2000" spc="-5" dirty="0">
                <a:latin typeface="Times New Roman"/>
                <a:cs typeface="Times New Roman"/>
              </a:rPr>
              <a:t>case </a:t>
            </a:r>
            <a:r>
              <a:rPr sz="2000" dirty="0">
                <a:latin typeface="Times New Roman"/>
                <a:cs typeface="Times New Roman"/>
              </a:rPr>
              <a:t>we quickly </a:t>
            </a:r>
            <a:r>
              <a:rPr sz="2000" spc="-5" dirty="0">
                <a:latin typeface="Times New Roman"/>
                <a:cs typeface="Times New Roman"/>
              </a:rPr>
              <a:t>accelerate, </a:t>
            </a:r>
            <a:r>
              <a:rPr sz="2000" dirty="0">
                <a:latin typeface="Times New Roman"/>
                <a:cs typeface="Times New Roman"/>
              </a:rPr>
              <a:t>then coast </a:t>
            </a:r>
            <a:r>
              <a:rPr sz="2000" spc="-5" dirty="0">
                <a:latin typeface="Times New Roman"/>
                <a:cs typeface="Times New Roman"/>
              </a:rPr>
              <a:t>at </a:t>
            </a:r>
            <a:r>
              <a:rPr sz="2000" dirty="0">
                <a:latin typeface="Times New Roman"/>
                <a:cs typeface="Times New Roman"/>
              </a:rPr>
              <a:t>constant </a:t>
            </a:r>
            <a:r>
              <a:rPr sz="2000" spc="-5" dirty="0">
                <a:latin typeface="Times New Roman"/>
                <a:cs typeface="Times New Roman"/>
              </a:rPr>
              <a:t>velocity,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5" dirty="0">
                <a:latin typeface="Times New Roman"/>
                <a:cs typeface="Times New Roman"/>
              </a:rPr>
              <a:t>then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decelerate.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13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47944" y="3796284"/>
            <a:ext cx="3057525" cy="1914525"/>
            <a:chOff x="5647944" y="3796284"/>
            <a:chExt cx="3057525" cy="1914525"/>
          </a:xfrm>
        </p:grpSpPr>
        <p:sp>
          <p:nvSpPr>
            <p:cNvPr id="5" name="object 5"/>
            <p:cNvSpPr/>
            <p:nvPr/>
          </p:nvSpPr>
          <p:spPr>
            <a:xfrm>
              <a:off x="5890641" y="4038981"/>
              <a:ext cx="2571750" cy="1428750"/>
            </a:xfrm>
            <a:custGeom>
              <a:avLst/>
              <a:gdLst/>
              <a:ahLst/>
              <a:cxnLst/>
              <a:rect l="l" t="t" r="r" b="b"/>
              <a:pathLst>
                <a:path w="2571750" h="1428750">
                  <a:moveTo>
                    <a:pt x="2571749" y="0"/>
                  </a:moveTo>
                  <a:lnTo>
                    <a:pt x="0" y="0"/>
                  </a:lnTo>
                  <a:lnTo>
                    <a:pt x="0" y="1428750"/>
                  </a:lnTo>
                  <a:lnTo>
                    <a:pt x="2571749" y="1428750"/>
                  </a:lnTo>
                  <a:lnTo>
                    <a:pt x="2571749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52516" y="3800856"/>
              <a:ext cx="3048000" cy="238125"/>
            </a:xfrm>
            <a:custGeom>
              <a:avLst/>
              <a:gdLst/>
              <a:ahLst/>
              <a:cxnLst/>
              <a:rect l="l" t="t" r="r" b="b"/>
              <a:pathLst>
                <a:path w="3048000" h="238125">
                  <a:moveTo>
                    <a:pt x="3048000" y="0"/>
                  </a:moveTo>
                  <a:lnTo>
                    <a:pt x="0" y="0"/>
                  </a:lnTo>
                  <a:lnTo>
                    <a:pt x="238125" y="238125"/>
                  </a:lnTo>
                  <a:lnTo>
                    <a:pt x="2809875" y="238125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F0E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2516" y="5467731"/>
              <a:ext cx="3048000" cy="238125"/>
            </a:xfrm>
            <a:custGeom>
              <a:avLst/>
              <a:gdLst/>
              <a:ahLst/>
              <a:cxnLst/>
              <a:rect l="l" t="t" r="r" b="b"/>
              <a:pathLst>
                <a:path w="3048000" h="238125">
                  <a:moveTo>
                    <a:pt x="2809875" y="0"/>
                  </a:moveTo>
                  <a:lnTo>
                    <a:pt x="238125" y="0"/>
                  </a:lnTo>
                  <a:lnTo>
                    <a:pt x="0" y="238125"/>
                  </a:lnTo>
                  <a:lnTo>
                    <a:pt x="3048000" y="238125"/>
                  </a:lnTo>
                  <a:lnTo>
                    <a:pt x="2809875" y="0"/>
                  </a:lnTo>
                  <a:close/>
                </a:path>
              </a:pathLst>
            </a:custGeom>
            <a:solidFill>
              <a:srgbClr val="BEAE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52517" y="3800856"/>
              <a:ext cx="238125" cy="1905000"/>
            </a:xfrm>
            <a:custGeom>
              <a:avLst/>
              <a:gdLst/>
              <a:ahLst/>
              <a:cxnLst/>
              <a:rect l="l" t="t" r="r" b="b"/>
              <a:pathLst>
                <a:path w="238125" h="1905000">
                  <a:moveTo>
                    <a:pt x="0" y="0"/>
                  </a:moveTo>
                  <a:lnTo>
                    <a:pt x="0" y="1905000"/>
                  </a:lnTo>
                  <a:lnTo>
                    <a:pt x="238125" y="1666875"/>
                  </a:lnTo>
                  <a:lnTo>
                    <a:pt x="238125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E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62392" y="3800856"/>
              <a:ext cx="238125" cy="1905000"/>
            </a:xfrm>
            <a:custGeom>
              <a:avLst/>
              <a:gdLst/>
              <a:ahLst/>
              <a:cxnLst/>
              <a:rect l="l" t="t" r="r" b="b"/>
              <a:pathLst>
                <a:path w="238125" h="1905000">
                  <a:moveTo>
                    <a:pt x="238125" y="0"/>
                  </a:moveTo>
                  <a:lnTo>
                    <a:pt x="0" y="238125"/>
                  </a:lnTo>
                  <a:lnTo>
                    <a:pt x="0" y="1666875"/>
                  </a:lnTo>
                  <a:lnTo>
                    <a:pt x="238125" y="190500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8E82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52516" y="3800856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0" y="0"/>
                  </a:moveTo>
                  <a:lnTo>
                    <a:pt x="3047999" y="0"/>
                  </a:lnTo>
                  <a:lnTo>
                    <a:pt x="3047999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  <a:path w="3048000" h="1905000">
                  <a:moveTo>
                    <a:pt x="238125" y="238125"/>
                  </a:moveTo>
                  <a:lnTo>
                    <a:pt x="2809874" y="238125"/>
                  </a:lnTo>
                  <a:lnTo>
                    <a:pt x="2809874" y="1666875"/>
                  </a:lnTo>
                  <a:lnTo>
                    <a:pt x="238125" y="1666875"/>
                  </a:lnTo>
                  <a:lnTo>
                    <a:pt x="238125" y="238125"/>
                  </a:lnTo>
                  <a:close/>
                </a:path>
                <a:path w="3048000" h="1905000">
                  <a:moveTo>
                    <a:pt x="0" y="0"/>
                  </a:moveTo>
                  <a:lnTo>
                    <a:pt x="238125" y="238125"/>
                  </a:lnTo>
                </a:path>
                <a:path w="3048000" h="1905000">
                  <a:moveTo>
                    <a:pt x="0" y="1905000"/>
                  </a:moveTo>
                  <a:lnTo>
                    <a:pt x="238125" y="1666875"/>
                  </a:lnTo>
                </a:path>
                <a:path w="3048000" h="1905000">
                  <a:moveTo>
                    <a:pt x="3048000" y="0"/>
                  </a:moveTo>
                  <a:lnTo>
                    <a:pt x="2809875" y="238125"/>
                  </a:lnTo>
                </a:path>
                <a:path w="3048000" h="1905000">
                  <a:moveTo>
                    <a:pt x="3048000" y="1905000"/>
                  </a:moveTo>
                  <a:lnTo>
                    <a:pt x="2809875" y="1666875"/>
                  </a:lnTo>
                </a:path>
              </a:pathLst>
            </a:custGeom>
            <a:ln w="9144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74027" y="1012571"/>
            <a:ext cx="573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5.5</a:t>
            </a:r>
            <a:r>
              <a:rPr spc="-10" dirty="0"/>
              <a:t> </a:t>
            </a:r>
            <a:r>
              <a:rPr spc="-25" dirty="0"/>
              <a:t>JOINT-SPACE</a:t>
            </a:r>
            <a:r>
              <a:rPr spc="5" dirty="0"/>
              <a:t> </a:t>
            </a:r>
            <a:r>
              <a:rPr spc="-15" dirty="0"/>
              <a:t>TRAJECTORY</a:t>
            </a:r>
            <a:r>
              <a:rPr spc="-10" dirty="0"/>
              <a:t> PLANNING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9972" y="1341554"/>
            <a:ext cx="7887334" cy="233997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300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5.5.1</a:t>
            </a:r>
            <a:r>
              <a:rPr sz="20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Third-Order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Polynomial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Planning</a:t>
            </a:r>
            <a:endParaRPr sz="2000">
              <a:latin typeface="Tahoma"/>
              <a:cs typeface="Tahoma"/>
            </a:endParaRPr>
          </a:p>
          <a:p>
            <a:pPr marL="170815" marR="659130" indent="-158750">
              <a:lnSpc>
                <a:spcPts val="2640"/>
              </a:lnSpc>
              <a:spcBef>
                <a:spcPts val="90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dirty="0"/>
              <a:t>	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How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 motions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 a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robot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can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be planned in joint-space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with </a:t>
            </a:r>
            <a:r>
              <a:rPr sz="2000" spc="-6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controlled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characteristics.</a:t>
            </a:r>
            <a:endParaRPr sz="2000">
              <a:latin typeface="Tahoma"/>
              <a:cs typeface="Tahoma"/>
            </a:endParaRPr>
          </a:p>
          <a:p>
            <a:pPr marL="208915" indent="-196850">
              <a:lnSpc>
                <a:spcPct val="100000"/>
              </a:lnSpc>
              <a:spcBef>
                <a:spcPts val="46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spc="-10" dirty="0">
                <a:solidFill>
                  <a:srgbClr val="33CC33"/>
                </a:solidFill>
                <a:latin typeface="Tahoma"/>
                <a:cs typeface="Tahoma"/>
              </a:rPr>
              <a:t>Polynomials</a:t>
            </a:r>
            <a:r>
              <a:rPr sz="2000" spc="-1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CC33"/>
                </a:solidFill>
                <a:latin typeface="Tahoma"/>
                <a:cs typeface="Tahoma"/>
              </a:rPr>
              <a:t>of</a:t>
            </a:r>
            <a:r>
              <a:rPr sz="2000" spc="-10" dirty="0">
                <a:solidFill>
                  <a:srgbClr val="33CC33"/>
                </a:solidFill>
                <a:latin typeface="Tahoma"/>
                <a:cs typeface="Tahoma"/>
              </a:rPr>
              <a:t> different</a:t>
            </a:r>
            <a:r>
              <a:rPr sz="2000" spc="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33CC33"/>
                </a:solidFill>
                <a:latin typeface="Tahoma"/>
                <a:cs typeface="Tahoma"/>
              </a:rPr>
              <a:t>orders</a:t>
            </a:r>
            <a:endParaRPr sz="2000">
              <a:latin typeface="Tahoma"/>
              <a:cs typeface="Tahoma"/>
            </a:endParaRPr>
          </a:p>
          <a:p>
            <a:pPr marL="208915" indent="-196850">
              <a:lnSpc>
                <a:spcPct val="100000"/>
              </a:lnSpc>
              <a:spcBef>
                <a:spcPts val="240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spc="-5" dirty="0">
                <a:solidFill>
                  <a:srgbClr val="33CC33"/>
                </a:solidFill>
                <a:latin typeface="Tahoma"/>
                <a:cs typeface="Tahoma"/>
              </a:rPr>
              <a:t>Linear</a:t>
            </a:r>
            <a:r>
              <a:rPr sz="2000" spc="-1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33CC33"/>
                </a:solidFill>
                <a:latin typeface="Tahoma"/>
                <a:cs typeface="Tahoma"/>
              </a:rPr>
              <a:t>functions</a:t>
            </a:r>
            <a:r>
              <a:rPr sz="2000" spc="-1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CC33"/>
                </a:solidFill>
                <a:latin typeface="Tahoma"/>
                <a:cs typeface="Tahoma"/>
              </a:rPr>
              <a:t>with</a:t>
            </a:r>
            <a:r>
              <a:rPr sz="2000" spc="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33CC33"/>
                </a:solidFill>
                <a:latin typeface="Tahoma"/>
                <a:cs typeface="Tahoma"/>
              </a:rPr>
              <a:t>parabolic</a:t>
            </a:r>
            <a:r>
              <a:rPr sz="2000" spc="-5" dirty="0">
                <a:solidFill>
                  <a:srgbClr val="33CC33"/>
                </a:solidFill>
                <a:latin typeface="Tahoma"/>
                <a:cs typeface="Tahoma"/>
              </a:rPr>
              <a:t> blends</a:t>
            </a:r>
            <a:endParaRPr sz="2000">
              <a:latin typeface="Tahoma"/>
              <a:cs typeface="Tahoma"/>
            </a:endParaRPr>
          </a:p>
          <a:p>
            <a:pPr marL="171450" marR="5080" indent="-171450">
              <a:lnSpc>
                <a:spcPts val="1939"/>
              </a:lnSpc>
              <a:spcBef>
                <a:spcPts val="890"/>
              </a:spcBef>
              <a:buClr>
                <a:srgbClr val="05DEFB"/>
              </a:buClr>
              <a:buFont typeface="Symbol"/>
              <a:buChar char=""/>
              <a:tabLst>
                <a:tab pos="171450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initial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location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and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orientation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of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robot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is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known,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and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using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inverse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kinematic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equations,</a:t>
            </a:r>
            <a:r>
              <a:rPr sz="1800" b="1" spc="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we</a:t>
            </a:r>
            <a:r>
              <a:rPr sz="18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find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final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joint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angles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for</a:t>
            </a:r>
            <a:r>
              <a:rPr sz="1800" b="1" spc="-3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desired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position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2087" y="4058554"/>
            <a:ext cx="59118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3995" indent="-176530">
              <a:lnSpc>
                <a:spcPct val="100000"/>
              </a:lnSpc>
              <a:spcBef>
                <a:spcPts val="135"/>
              </a:spcBef>
              <a:buFont typeface="Symbol"/>
              <a:buChar char=""/>
              <a:tabLst>
                <a:tab pos="214629" algn="l"/>
              </a:tabLst>
            </a:pPr>
            <a:r>
              <a:rPr sz="2850" i="1" spc="-22" baseline="2923" dirty="0">
                <a:latin typeface="Times New Roman"/>
                <a:cs typeface="Times New Roman"/>
              </a:rPr>
              <a:t>c</a:t>
            </a:r>
            <a:r>
              <a:rPr sz="1100" spc="5" dirty="0">
                <a:latin typeface="Times New Roman"/>
                <a:cs typeface="Times New Roman"/>
              </a:rPr>
              <a:t>3</a:t>
            </a:r>
            <a:r>
              <a:rPr sz="2850" i="1" spc="7" baseline="2923" dirty="0">
                <a:latin typeface="Times New Roman"/>
                <a:cs typeface="Times New Roman"/>
              </a:rPr>
              <a:t>t</a:t>
            </a:r>
            <a:r>
              <a:rPr sz="2850" i="1" spc="-465" baseline="2923" dirty="0">
                <a:latin typeface="Times New Roman"/>
                <a:cs typeface="Times New Roman"/>
              </a:rPr>
              <a:t> </a:t>
            </a:r>
            <a:r>
              <a:rPr sz="1650" spc="15" baseline="47979" dirty="0">
                <a:latin typeface="Times New Roman"/>
                <a:cs typeface="Times New Roman"/>
              </a:rPr>
              <a:t>3</a:t>
            </a:r>
            <a:endParaRPr sz="1650" baseline="47979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75944" y="4405884"/>
            <a:ext cx="1762125" cy="1457325"/>
            <a:chOff x="1075944" y="4405884"/>
            <a:chExt cx="1762125" cy="1457325"/>
          </a:xfrm>
        </p:grpSpPr>
        <p:sp>
          <p:nvSpPr>
            <p:cNvPr id="15" name="object 15"/>
            <p:cNvSpPr/>
            <p:nvPr/>
          </p:nvSpPr>
          <p:spPr>
            <a:xfrm>
              <a:off x="1080516" y="4410456"/>
              <a:ext cx="1752600" cy="1447800"/>
            </a:xfrm>
            <a:custGeom>
              <a:avLst/>
              <a:gdLst/>
              <a:ahLst/>
              <a:cxnLst/>
              <a:rect l="l" t="t" r="r" b="b"/>
              <a:pathLst>
                <a:path w="1752600" h="1447800">
                  <a:moveTo>
                    <a:pt x="11684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1168400" y="1447800"/>
                  </a:lnTo>
                  <a:lnTo>
                    <a:pt x="1168400" y="904875"/>
                  </a:lnTo>
                  <a:lnTo>
                    <a:pt x="1460500" y="904875"/>
                  </a:lnTo>
                  <a:lnTo>
                    <a:pt x="1460500" y="1085850"/>
                  </a:lnTo>
                  <a:lnTo>
                    <a:pt x="1752600" y="723900"/>
                  </a:lnTo>
                  <a:lnTo>
                    <a:pt x="1460500" y="361950"/>
                  </a:lnTo>
                  <a:lnTo>
                    <a:pt x="1460500" y="542925"/>
                  </a:lnTo>
                  <a:lnTo>
                    <a:pt x="1168400" y="542925"/>
                  </a:lnTo>
                  <a:lnTo>
                    <a:pt x="11684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80516" y="4410456"/>
              <a:ext cx="1752600" cy="1447800"/>
            </a:xfrm>
            <a:custGeom>
              <a:avLst/>
              <a:gdLst/>
              <a:ahLst/>
              <a:cxnLst/>
              <a:rect l="l" t="t" r="r" b="b"/>
              <a:pathLst>
                <a:path w="1752600" h="1447800">
                  <a:moveTo>
                    <a:pt x="0" y="0"/>
                  </a:moveTo>
                  <a:lnTo>
                    <a:pt x="1168400" y="0"/>
                  </a:lnTo>
                  <a:lnTo>
                    <a:pt x="1168400" y="542925"/>
                  </a:lnTo>
                  <a:lnTo>
                    <a:pt x="1460500" y="542925"/>
                  </a:lnTo>
                  <a:lnTo>
                    <a:pt x="1460500" y="361950"/>
                  </a:lnTo>
                  <a:lnTo>
                    <a:pt x="1752600" y="723900"/>
                  </a:lnTo>
                  <a:lnTo>
                    <a:pt x="1460500" y="1085850"/>
                  </a:lnTo>
                  <a:lnTo>
                    <a:pt x="1460500" y="904875"/>
                  </a:lnTo>
                  <a:lnTo>
                    <a:pt x="1168400" y="904875"/>
                  </a:lnTo>
                  <a:lnTo>
                    <a:pt x="11684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8366" y="3503019"/>
            <a:ext cx="1964689" cy="157226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422909">
              <a:lnSpc>
                <a:spcPct val="100000"/>
              </a:lnSpc>
              <a:spcBef>
                <a:spcPts val="1090"/>
              </a:spcBef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orientation.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10"/>
              </a:spcBef>
            </a:pPr>
            <a:r>
              <a:rPr sz="3075" spc="-97" baseline="2710" dirty="0">
                <a:latin typeface="Symbol"/>
                <a:cs typeface="Symbol"/>
              </a:rPr>
              <a:t></a:t>
            </a:r>
            <a:r>
              <a:rPr sz="3075" spc="-337" baseline="2710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i="1" spc="195" baseline="2923" dirty="0">
                <a:latin typeface="Times New Roman"/>
                <a:cs typeface="Times New Roman"/>
              </a:rPr>
              <a:t>t</a:t>
            </a:r>
            <a:r>
              <a:rPr sz="2850" spc="15" baseline="2923" dirty="0">
                <a:latin typeface="Times New Roman"/>
                <a:cs typeface="Times New Roman"/>
              </a:rPr>
              <a:t>)</a:t>
            </a:r>
            <a:r>
              <a:rPr sz="2850" spc="-52" baseline="2923" dirty="0"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latin typeface="Symbol"/>
                <a:cs typeface="Symbol"/>
              </a:rPr>
              <a:t></a:t>
            </a:r>
            <a:r>
              <a:rPr sz="2850" spc="-89" baseline="2923" dirty="0">
                <a:latin typeface="Times New Roman"/>
                <a:cs typeface="Times New Roman"/>
              </a:rPr>
              <a:t> </a:t>
            </a:r>
            <a:r>
              <a:rPr sz="2850" i="1" baseline="2923" dirty="0">
                <a:latin typeface="Times New Roman"/>
                <a:cs typeface="Times New Roman"/>
              </a:rPr>
              <a:t>c</a:t>
            </a:r>
            <a:r>
              <a:rPr sz="1100" spc="1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latin typeface="Symbol"/>
                <a:cs typeface="Symbol"/>
              </a:rPr>
              <a:t></a:t>
            </a:r>
            <a:r>
              <a:rPr sz="2850" spc="-225" baseline="2923" dirty="0">
                <a:latin typeface="Times New Roman"/>
                <a:cs typeface="Times New Roman"/>
              </a:rPr>
              <a:t> </a:t>
            </a:r>
            <a:r>
              <a:rPr sz="2850" i="1" spc="-157" baseline="2923" dirty="0">
                <a:latin typeface="Times New Roman"/>
                <a:cs typeface="Times New Roman"/>
              </a:rPr>
              <a:t>c</a:t>
            </a:r>
            <a:r>
              <a:rPr sz="1100" spc="-45" dirty="0">
                <a:latin typeface="Times New Roman"/>
                <a:cs typeface="Times New Roman"/>
              </a:rPr>
              <a:t>1</a:t>
            </a:r>
            <a:r>
              <a:rPr sz="2850" i="1" spc="7" baseline="2923" dirty="0">
                <a:latin typeface="Times New Roman"/>
                <a:cs typeface="Times New Roman"/>
              </a:rPr>
              <a:t>t</a:t>
            </a:r>
            <a:r>
              <a:rPr sz="2850" i="1" spc="-75" baseline="2923" dirty="0"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latin typeface="Symbol"/>
                <a:cs typeface="Symbol"/>
              </a:rPr>
              <a:t></a:t>
            </a:r>
            <a:r>
              <a:rPr sz="2850" spc="-225" baseline="2923" dirty="0">
                <a:latin typeface="Times New Roman"/>
                <a:cs typeface="Times New Roman"/>
              </a:rPr>
              <a:t> </a:t>
            </a:r>
            <a:r>
              <a:rPr sz="2850" i="1" spc="30" baseline="2923" dirty="0">
                <a:latin typeface="Times New Roman"/>
                <a:cs typeface="Times New Roman"/>
              </a:rPr>
              <a:t>c</a:t>
            </a:r>
            <a:r>
              <a:rPr sz="1100" spc="40" dirty="0">
                <a:latin typeface="Times New Roman"/>
                <a:cs typeface="Times New Roman"/>
              </a:rPr>
              <a:t>2</a:t>
            </a:r>
            <a:r>
              <a:rPr sz="2850" i="1" spc="7" baseline="2923" dirty="0">
                <a:latin typeface="Times New Roman"/>
                <a:cs typeface="Times New Roman"/>
              </a:rPr>
              <a:t>t</a:t>
            </a:r>
            <a:r>
              <a:rPr sz="2850" i="1" spc="-412" baseline="2923" dirty="0">
                <a:latin typeface="Times New Roman"/>
                <a:cs typeface="Times New Roman"/>
              </a:rPr>
              <a:t> </a:t>
            </a:r>
            <a:r>
              <a:rPr sz="1650" spc="15" baseline="47979" dirty="0">
                <a:latin typeface="Times New Roman"/>
                <a:cs typeface="Times New Roman"/>
              </a:rPr>
              <a:t>2</a:t>
            </a:r>
            <a:endParaRPr sz="1650" baseline="47979">
              <a:latin typeface="Times New Roman"/>
              <a:cs typeface="Times New Roman"/>
            </a:endParaRPr>
          </a:p>
          <a:p>
            <a:pPr marL="829310">
              <a:lnSpc>
                <a:spcPct val="100000"/>
              </a:lnSpc>
              <a:spcBef>
                <a:spcPts val="240"/>
              </a:spcBef>
            </a:pPr>
            <a:r>
              <a:rPr sz="2700" spc="-67" baseline="3086" dirty="0">
                <a:latin typeface="Symbol"/>
                <a:cs typeface="Symbol"/>
              </a:rPr>
              <a:t></a:t>
            </a:r>
            <a:r>
              <a:rPr sz="2700" spc="-284" baseline="3086" dirty="0">
                <a:latin typeface="Times New Roman"/>
                <a:cs typeface="Times New Roman"/>
              </a:rPr>
              <a:t> </a:t>
            </a:r>
            <a:r>
              <a:rPr sz="2550" spc="-7" baseline="3267" dirty="0">
                <a:latin typeface="Times New Roman"/>
                <a:cs typeface="Times New Roman"/>
              </a:rPr>
              <a:t>(</a:t>
            </a:r>
            <a:r>
              <a:rPr sz="2550" i="1" spc="44" baseline="3267" dirty="0">
                <a:latin typeface="Times New Roman"/>
                <a:cs typeface="Times New Roman"/>
              </a:rPr>
              <a:t>t</a:t>
            </a:r>
            <a:r>
              <a:rPr sz="1000" i="1" dirty="0">
                <a:latin typeface="Times New Roman"/>
                <a:cs typeface="Times New Roman"/>
              </a:rPr>
              <a:t>i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2550" spc="7" baseline="3267" dirty="0">
                <a:latin typeface="Times New Roman"/>
                <a:cs typeface="Times New Roman"/>
              </a:rPr>
              <a:t>)</a:t>
            </a:r>
            <a:r>
              <a:rPr sz="2550" spc="-52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</a:t>
            </a:r>
            <a:r>
              <a:rPr sz="2550" spc="-322" baseline="3267" dirty="0">
                <a:latin typeface="Times New Roman"/>
                <a:cs typeface="Times New Roman"/>
              </a:rPr>
              <a:t> </a:t>
            </a:r>
            <a:r>
              <a:rPr sz="2700" spc="75" baseline="3086" dirty="0">
                <a:latin typeface="Symbol"/>
                <a:cs typeface="Symbol"/>
              </a:rPr>
              <a:t></a:t>
            </a:r>
            <a:r>
              <a:rPr sz="1000" i="1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  <a:p>
            <a:pPr marL="796925">
              <a:lnSpc>
                <a:spcPct val="100000"/>
              </a:lnSpc>
              <a:spcBef>
                <a:spcPts val="890"/>
              </a:spcBef>
            </a:pPr>
            <a:r>
              <a:rPr sz="2700" spc="-67" baseline="3086" dirty="0">
                <a:latin typeface="Symbol"/>
                <a:cs typeface="Symbol"/>
              </a:rPr>
              <a:t></a:t>
            </a:r>
            <a:r>
              <a:rPr sz="2700" spc="-284" baseline="3086" dirty="0">
                <a:latin typeface="Times New Roman"/>
                <a:cs typeface="Times New Roman"/>
              </a:rPr>
              <a:t> </a:t>
            </a:r>
            <a:r>
              <a:rPr sz="2550" spc="-15" baseline="3267" dirty="0">
                <a:latin typeface="Times New Roman"/>
                <a:cs typeface="Times New Roman"/>
              </a:rPr>
              <a:t>(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277" baseline="3267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 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2550" spc="7" baseline="3267" dirty="0">
                <a:latin typeface="Times New Roman"/>
                <a:cs typeface="Times New Roman"/>
              </a:rPr>
              <a:t>)</a:t>
            </a:r>
            <a:r>
              <a:rPr sz="2550" spc="-52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</a:t>
            </a:r>
            <a:r>
              <a:rPr sz="2550" spc="-322" baseline="3267" dirty="0">
                <a:latin typeface="Times New Roman"/>
                <a:cs typeface="Times New Roman"/>
              </a:rPr>
              <a:t> </a:t>
            </a:r>
            <a:r>
              <a:rPr sz="2700" spc="-67" baseline="3086" dirty="0">
                <a:latin typeface="Symbol"/>
                <a:cs typeface="Symbol"/>
              </a:rPr>
              <a:t></a:t>
            </a:r>
            <a:r>
              <a:rPr sz="2700" spc="-209" baseline="3086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14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3144" y="5111267"/>
            <a:ext cx="815975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-409" dirty="0">
                <a:latin typeface="Symbol"/>
                <a:cs typeface="Symbol"/>
              </a:rPr>
              <a:t></a:t>
            </a:r>
            <a:r>
              <a:rPr sz="2550" spc="-1664" baseline="16339" dirty="0">
                <a:latin typeface="Arial MT"/>
                <a:cs typeface="Arial MT"/>
              </a:rPr>
              <a:t></a:t>
            </a:r>
            <a:r>
              <a:rPr sz="1700" spc="-5" dirty="0">
                <a:latin typeface="Times New Roman"/>
                <a:cs typeface="Times New Roman"/>
              </a:rPr>
              <a:t>(</a:t>
            </a:r>
            <a:r>
              <a:rPr sz="1700" i="1" spc="5" dirty="0">
                <a:latin typeface="Times New Roman"/>
                <a:cs typeface="Times New Roman"/>
              </a:rPr>
              <a:t>t</a:t>
            </a:r>
            <a:r>
              <a:rPr sz="1700" i="1" spc="7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)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Symbol"/>
                <a:cs typeface="Symbol"/>
              </a:rPr>
              <a:t>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7227" y="5210176"/>
            <a:ext cx="1869439" cy="10217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225425" algn="ctr">
              <a:lnSpc>
                <a:spcPct val="100000"/>
              </a:lnSpc>
              <a:spcBef>
                <a:spcPts val="575"/>
              </a:spcBef>
            </a:pPr>
            <a:r>
              <a:rPr sz="1000" i="1" spc="-5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  <a:p>
            <a:pPr marL="488315">
              <a:lnSpc>
                <a:spcPct val="100000"/>
              </a:lnSpc>
              <a:spcBef>
                <a:spcPts val="894"/>
              </a:spcBef>
            </a:pPr>
            <a:r>
              <a:rPr sz="2700" spc="-577" baseline="3086" dirty="0">
                <a:latin typeface="Symbol"/>
                <a:cs typeface="Symbol"/>
              </a:rPr>
              <a:t></a:t>
            </a:r>
            <a:r>
              <a:rPr sz="2550" spc="-1664" baseline="14705" dirty="0">
                <a:latin typeface="Arial MT"/>
                <a:cs typeface="Arial MT"/>
              </a:rPr>
              <a:t></a:t>
            </a:r>
            <a:r>
              <a:rPr sz="2550" spc="-7" baseline="3267" dirty="0">
                <a:latin typeface="Times New Roman"/>
                <a:cs typeface="Times New Roman"/>
              </a:rPr>
              <a:t>(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277" baseline="3267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 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2550" spc="7" baseline="3267" dirty="0">
                <a:latin typeface="Times New Roman"/>
                <a:cs typeface="Times New Roman"/>
              </a:rPr>
              <a:t>)</a:t>
            </a:r>
            <a:r>
              <a:rPr sz="2550" spc="-44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</a:t>
            </a:r>
            <a:r>
              <a:rPr sz="2550" spc="-82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Times New Roman"/>
                <a:cs typeface="Times New Roman"/>
              </a:rPr>
              <a:t>0</a:t>
            </a:r>
            <a:endParaRPr sz="2550" baseline="3267">
              <a:latin typeface="Times New Roman"/>
              <a:cs typeface="Times New Roman"/>
            </a:endParaRPr>
          </a:p>
          <a:p>
            <a:pPr marL="199390" indent="-161925">
              <a:lnSpc>
                <a:spcPct val="100000"/>
              </a:lnSpc>
              <a:spcBef>
                <a:spcPts val="950"/>
              </a:spcBef>
              <a:buClr>
                <a:srgbClr val="05DEFB"/>
              </a:buClr>
              <a:buFont typeface="Symbol"/>
              <a:buChar char=""/>
              <a:tabLst>
                <a:tab pos="200025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Initial</a:t>
            </a:r>
            <a:r>
              <a:rPr sz="1800" b="1" spc="-3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Condition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19772" y="4868449"/>
            <a:ext cx="10096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51147" y="4997363"/>
            <a:ext cx="12954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1660" algn="l"/>
                <a:tab pos="1206500" algn="l"/>
              </a:tabLst>
            </a:pPr>
            <a:r>
              <a:rPr sz="1200" spc="-10" dirty="0">
                <a:latin typeface="Times New Roman"/>
                <a:cs typeface="Times New Roman"/>
              </a:rPr>
              <a:t>1	2	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59800" y="4862564"/>
            <a:ext cx="215836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0" dirty="0">
                <a:latin typeface="Symbol"/>
                <a:cs typeface="Symbol"/>
              </a:rPr>
              <a:t></a:t>
            </a:r>
            <a:r>
              <a:rPr sz="2150" spc="-235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Times New Roman"/>
                <a:cs typeface="Times New Roman"/>
              </a:rPr>
              <a:t>(</a:t>
            </a:r>
            <a:r>
              <a:rPr sz="2050" i="1" spc="125" dirty="0">
                <a:latin typeface="Times New Roman"/>
                <a:cs typeface="Times New Roman"/>
              </a:rPr>
              <a:t>t</a:t>
            </a:r>
            <a:r>
              <a:rPr sz="2050" spc="-5" dirty="0">
                <a:latin typeface="Times New Roman"/>
                <a:cs typeface="Times New Roman"/>
              </a:rPr>
              <a:t>)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</a:t>
            </a:r>
            <a:r>
              <a:rPr sz="2050" spc="-7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c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-9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</a:t>
            </a:r>
            <a:r>
              <a:rPr sz="2050" spc="-1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2</a:t>
            </a:r>
            <a:r>
              <a:rPr sz="2050" i="1" spc="-10" dirty="0">
                <a:latin typeface="Times New Roman"/>
                <a:cs typeface="Times New Roman"/>
              </a:rPr>
              <a:t>c</a:t>
            </a:r>
            <a:r>
              <a:rPr sz="2050" i="1" spc="130" dirty="0">
                <a:latin typeface="Times New Roman"/>
                <a:cs typeface="Times New Roman"/>
              </a:rPr>
              <a:t> </a:t>
            </a:r>
            <a:r>
              <a:rPr sz="2050" i="1" spc="-5" dirty="0">
                <a:latin typeface="Times New Roman"/>
                <a:cs typeface="Times New Roman"/>
              </a:rPr>
              <a:t>t</a:t>
            </a:r>
            <a:r>
              <a:rPr sz="2050" i="1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</a:t>
            </a:r>
            <a:r>
              <a:rPr sz="2050" spc="-200" dirty="0">
                <a:latin typeface="Times New Roman"/>
                <a:cs typeface="Times New Roman"/>
              </a:rPr>
              <a:t> </a:t>
            </a:r>
            <a:r>
              <a:rPr sz="2050" spc="-80" dirty="0">
                <a:latin typeface="Times New Roman"/>
                <a:cs typeface="Times New Roman"/>
              </a:rPr>
              <a:t>3</a:t>
            </a:r>
            <a:r>
              <a:rPr sz="2050" i="1" spc="-10" dirty="0">
                <a:latin typeface="Times New Roman"/>
                <a:cs typeface="Times New Roman"/>
              </a:rPr>
              <a:t>c</a:t>
            </a:r>
            <a:r>
              <a:rPr sz="2050" i="1" spc="55" dirty="0">
                <a:latin typeface="Times New Roman"/>
                <a:cs typeface="Times New Roman"/>
              </a:rPr>
              <a:t> </a:t>
            </a:r>
            <a:r>
              <a:rPr sz="2050" i="1" spc="-5" dirty="0">
                <a:latin typeface="Times New Roman"/>
                <a:cs typeface="Times New Roman"/>
              </a:rPr>
              <a:t>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44042" y="4825273"/>
            <a:ext cx="11176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1375" dirty="0">
                <a:latin typeface="Arial MT"/>
                <a:cs typeface="Arial MT"/>
              </a:rPr>
              <a:t>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2427" y="5170042"/>
            <a:ext cx="2301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 indent="-161925">
              <a:lnSpc>
                <a:spcPct val="100000"/>
              </a:lnSpc>
              <a:spcBef>
                <a:spcPts val="100"/>
              </a:spcBef>
              <a:buClr>
                <a:srgbClr val="05DEFB"/>
              </a:buClr>
              <a:buFont typeface="Symbol"/>
              <a:buChar char=""/>
              <a:tabLst>
                <a:tab pos="174625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First</a:t>
            </a:r>
            <a:r>
              <a:rPr sz="1800" b="1" spc="-3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derivative</a:t>
            </a:r>
            <a:r>
              <a:rPr sz="1800" b="1" spc="-3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of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83115" y="5416930"/>
            <a:ext cx="227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polynomial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of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equation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95406" y="4015690"/>
            <a:ext cx="1193165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700" spc="-60" baseline="3086" dirty="0">
                <a:latin typeface="Symbol"/>
                <a:cs typeface="Symbol"/>
              </a:rPr>
              <a:t></a:t>
            </a:r>
            <a:r>
              <a:rPr sz="2700" spc="-292" baseline="3086" dirty="0">
                <a:latin typeface="Times New Roman"/>
                <a:cs typeface="Times New Roman"/>
              </a:rPr>
              <a:t> </a:t>
            </a:r>
            <a:r>
              <a:rPr sz="2550" spc="-7" baseline="3267" dirty="0">
                <a:latin typeface="Times New Roman"/>
                <a:cs typeface="Times New Roman"/>
              </a:rPr>
              <a:t>(</a:t>
            </a:r>
            <a:r>
              <a:rPr sz="2550" i="1" spc="44" baseline="3267" dirty="0">
                <a:latin typeface="Times New Roman"/>
                <a:cs typeface="Times New Roman"/>
              </a:rPr>
              <a:t>t</a:t>
            </a:r>
            <a:r>
              <a:rPr sz="1000" i="1" dirty="0">
                <a:latin typeface="Times New Roman"/>
                <a:cs typeface="Times New Roman"/>
              </a:rPr>
              <a:t>i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2550" spc="7" baseline="3267" dirty="0">
                <a:latin typeface="Times New Roman"/>
                <a:cs typeface="Times New Roman"/>
              </a:rPr>
              <a:t>)</a:t>
            </a:r>
            <a:r>
              <a:rPr sz="2550" spc="-44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</a:t>
            </a:r>
            <a:r>
              <a:rPr sz="2550" spc="-82" baseline="3267" dirty="0">
                <a:latin typeface="Times New Roman"/>
                <a:cs typeface="Times New Roman"/>
              </a:rPr>
              <a:t> </a:t>
            </a:r>
            <a:r>
              <a:rPr sz="2550" i="1" baseline="3267" dirty="0">
                <a:latin typeface="Times New Roman"/>
                <a:cs typeface="Times New Roman"/>
              </a:rPr>
              <a:t>c</a:t>
            </a:r>
            <a:r>
              <a:rPr sz="1000" dirty="0">
                <a:latin typeface="Times New Roman"/>
                <a:cs typeface="Times New Roman"/>
              </a:rPr>
              <a:t>0 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</a:t>
            </a:r>
            <a:r>
              <a:rPr sz="2550" spc="-322" baseline="3267" dirty="0">
                <a:latin typeface="Times New Roman"/>
                <a:cs typeface="Times New Roman"/>
              </a:rPr>
              <a:t> </a:t>
            </a:r>
            <a:r>
              <a:rPr sz="2700" spc="82" baseline="3086" dirty="0">
                <a:latin typeface="Symbol"/>
                <a:cs typeface="Symbol"/>
              </a:rPr>
              <a:t></a:t>
            </a:r>
            <a:r>
              <a:rPr sz="1000" i="1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07255" y="4551951"/>
            <a:ext cx="5803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31495" algn="l"/>
              </a:tabLst>
            </a:pPr>
            <a:r>
              <a:rPr sz="1000" i="1" dirty="0">
                <a:latin typeface="Times New Roman"/>
                <a:cs typeface="Times New Roman"/>
              </a:rPr>
              <a:t>f	f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41040" y="4414920"/>
            <a:ext cx="2488565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700" spc="-67" baseline="3086" dirty="0">
                <a:latin typeface="Symbol"/>
                <a:cs typeface="Symbol"/>
              </a:rPr>
              <a:t></a:t>
            </a:r>
            <a:r>
              <a:rPr sz="2700" spc="-284" baseline="3086" dirty="0">
                <a:latin typeface="Times New Roman"/>
                <a:cs typeface="Times New Roman"/>
              </a:rPr>
              <a:t> </a:t>
            </a:r>
            <a:r>
              <a:rPr sz="2550" spc="-7" baseline="3267" dirty="0">
                <a:latin typeface="Times New Roman"/>
                <a:cs typeface="Times New Roman"/>
              </a:rPr>
              <a:t>(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277" baseline="3267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 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2550" spc="7" baseline="3267" dirty="0">
                <a:latin typeface="Times New Roman"/>
                <a:cs typeface="Times New Roman"/>
              </a:rPr>
              <a:t>)</a:t>
            </a:r>
            <a:r>
              <a:rPr sz="2550" spc="-44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</a:t>
            </a:r>
            <a:r>
              <a:rPr sz="2550" spc="-82" baseline="3267" dirty="0">
                <a:latin typeface="Times New Roman"/>
                <a:cs typeface="Times New Roman"/>
              </a:rPr>
              <a:t> </a:t>
            </a:r>
            <a:r>
              <a:rPr sz="2550" i="1" spc="-7" baseline="3267" dirty="0">
                <a:latin typeface="Times New Roman"/>
                <a:cs typeface="Times New Roman"/>
              </a:rPr>
              <a:t>c</a:t>
            </a:r>
            <a:r>
              <a:rPr sz="1000" dirty="0">
                <a:latin typeface="Times New Roman"/>
                <a:cs typeface="Times New Roman"/>
              </a:rPr>
              <a:t>0 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</a:t>
            </a:r>
            <a:r>
              <a:rPr sz="2550" spc="-202" baseline="3267" dirty="0">
                <a:latin typeface="Times New Roman"/>
                <a:cs typeface="Times New Roman"/>
              </a:rPr>
              <a:t> </a:t>
            </a:r>
            <a:r>
              <a:rPr sz="2550" i="1" spc="-150" baseline="3267" dirty="0">
                <a:latin typeface="Times New Roman"/>
                <a:cs typeface="Times New Roman"/>
              </a:rPr>
              <a:t>c</a:t>
            </a:r>
            <a:r>
              <a:rPr sz="1000" spc="-45" dirty="0">
                <a:latin typeface="Times New Roman"/>
                <a:cs typeface="Times New Roman"/>
              </a:rPr>
              <a:t>1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277" baseline="3267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  </a:t>
            </a:r>
            <a:r>
              <a:rPr sz="1000" i="1" spc="-45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</a:t>
            </a:r>
            <a:r>
              <a:rPr sz="2550" spc="-202" baseline="3267" dirty="0">
                <a:latin typeface="Times New Roman"/>
                <a:cs typeface="Times New Roman"/>
              </a:rPr>
              <a:t> </a:t>
            </a:r>
            <a:r>
              <a:rPr sz="2550" i="1" spc="22" baseline="3267" dirty="0">
                <a:latin typeface="Times New Roman"/>
                <a:cs typeface="Times New Roman"/>
              </a:rPr>
              <a:t>c</a:t>
            </a:r>
            <a:r>
              <a:rPr sz="1000" spc="30" dirty="0">
                <a:latin typeface="Times New Roman"/>
                <a:cs typeface="Times New Roman"/>
              </a:rPr>
              <a:t>2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367" baseline="3267" dirty="0">
                <a:latin typeface="Times New Roman"/>
                <a:cs typeface="Times New Roman"/>
              </a:rPr>
              <a:t> </a:t>
            </a:r>
            <a:r>
              <a:rPr sz="1500" baseline="47222" dirty="0">
                <a:latin typeface="Times New Roman"/>
                <a:cs typeface="Times New Roman"/>
              </a:rPr>
              <a:t>2 </a:t>
            </a:r>
            <a:r>
              <a:rPr sz="1500" spc="67" baseline="47222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</a:t>
            </a:r>
            <a:r>
              <a:rPr sz="2550" spc="-209" baseline="3267" dirty="0">
                <a:latin typeface="Times New Roman"/>
                <a:cs typeface="Times New Roman"/>
              </a:rPr>
              <a:t> </a:t>
            </a:r>
            <a:r>
              <a:rPr sz="2550" i="1" spc="-22" baseline="3267" dirty="0">
                <a:latin typeface="Times New Roman"/>
                <a:cs typeface="Times New Roman"/>
              </a:rPr>
              <a:t>c</a:t>
            </a:r>
            <a:r>
              <a:rPr sz="1000" dirty="0">
                <a:latin typeface="Times New Roman"/>
                <a:cs typeface="Times New Roman"/>
              </a:rPr>
              <a:t>3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419" baseline="3267" dirty="0">
                <a:latin typeface="Times New Roman"/>
                <a:cs typeface="Times New Roman"/>
              </a:rPr>
              <a:t> </a:t>
            </a:r>
            <a:r>
              <a:rPr sz="1500" baseline="47222" dirty="0">
                <a:latin typeface="Times New Roman"/>
                <a:cs typeface="Times New Roman"/>
              </a:rPr>
              <a:t>3</a:t>
            </a:r>
            <a:endParaRPr sz="1500" baseline="47222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13505" y="5272804"/>
            <a:ext cx="482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i="1" dirty="0">
                <a:latin typeface="Times New Roman"/>
                <a:cs typeface="Times New Roman"/>
              </a:rPr>
              <a:t>f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40998" y="4665166"/>
            <a:ext cx="2526030" cy="7727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75"/>
              </a:spcBef>
            </a:pPr>
            <a:r>
              <a:rPr sz="1800" spc="-409" dirty="0">
                <a:latin typeface="Symbol"/>
                <a:cs typeface="Symbol"/>
              </a:rPr>
              <a:t></a:t>
            </a:r>
            <a:r>
              <a:rPr sz="2550" spc="-1664" baseline="16339" dirty="0">
                <a:latin typeface="Arial MT"/>
                <a:cs typeface="Arial MT"/>
              </a:rPr>
              <a:t></a:t>
            </a:r>
            <a:r>
              <a:rPr sz="1700" spc="-5" dirty="0">
                <a:latin typeface="Times New Roman"/>
                <a:cs typeface="Times New Roman"/>
              </a:rPr>
              <a:t>(</a:t>
            </a:r>
            <a:r>
              <a:rPr sz="1700" i="1" spc="5" dirty="0">
                <a:latin typeface="Times New Roman"/>
                <a:cs typeface="Times New Roman"/>
              </a:rPr>
              <a:t>t</a:t>
            </a:r>
            <a:r>
              <a:rPr sz="1500" i="1" spc="-7" baseline="-25000" dirty="0">
                <a:latin typeface="Times New Roman"/>
                <a:cs typeface="Times New Roman"/>
              </a:rPr>
              <a:t>i</a:t>
            </a:r>
            <a:r>
              <a:rPr sz="1500" i="1" spc="-44" baseline="-250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)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Symbol"/>
                <a:cs typeface="Symbol"/>
              </a:rPr>
              <a:t>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i="1" spc="-120" dirty="0">
                <a:latin typeface="Times New Roman"/>
                <a:cs typeface="Times New Roman"/>
              </a:rPr>
              <a:t>c</a:t>
            </a:r>
            <a:r>
              <a:rPr sz="1500" spc="-7" baseline="-25000" dirty="0">
                <a:latin typeface="Times New Roman"/>
                <a:cs typeface="Times New Roman"/>
              </a:rPr>
              <a:t>1</a:t>
            </a:r>
            <a:r>
              <a:rPr sz="1500" baseline="-25000" dirty="0">
                <a:latin typeface="Times New Roman"/>
                <a:cs typeface="Times New Roman"/>
              </a:rPr>
              <a:t> </a:t>
            </a:r>
            <a:r>
              <a:rPr sz="1500" spc="-15" baseline="-250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Symbol"/>
                <a:cs typeface="Symbol"/>
              </a:rPr>
              <a:t>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85"/>
              </a:spcBef>
            </a:pPr>
            <a:r>
              <a:rPr sz="2700" spc="-577" baseline="3086" dirty="0">
                <a:latin typeface="Symbol"/>
                <a:cs typeface="Symbol"/>
              </a:rPr>
              <a:t></a:t>
            </a:r>
            <a:r>
              <a:rPr sz="2550" spc="-1664" baseline="14705" dirty="0">
                <a:latin typeface="Arial MT"/>
                <a:cs typeface="Arial MT"/>
              </a:rPr>
              <a:t></a:t>
            </a:r>
            <a:r>
              <a:rPr sz="2550" spc="-7" baseline="3267" dirty="0">
                <a:latin typeface="Times New Roman"/>
                <a:cs typeface="Times New Roman"/>
              </a:rPr>
              <a:t>(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277" baseline="3267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 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2550" spc="7" baseline="3267" dirty="0">
                <a:latin typeface="Times New Roman"/>
                <a:cs typeface="Times New Roman"/>
              </a:rPr>
              <a:t>)</a:t>
            </a:r>
            <a:r>
              <a:rPr sz="2550" spc="-44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</a:t>
            </a:r>
            <a:r>
              <a:rPr sz="2550" spc="-75" baseline="3267" dirty="0">
                <a:latin typeface="Times New Roman"/>
                <a:cs typeface="Times New Roman"/>
              </a:rPr>
              <a:t> </a:t>
            </a:r>
            <a:r>
              <a:rPr sz="2550" i="1" spc="-150" baseline="3267" dirty="0">
                <a:latin typeface="Times New Roman"/>
                <a:cs typeface="Times New Roman"/>
              </a:rPr>
              <a:t>c</a:t>
            </a:r>
            <a:r>
              <a:rPr sz="1000" dirty="0">
                <a:latin typeface="Times New Roman"/>
                <a:cs typeface="Times New Roman"/>
              </a:rPr>
              <a:t>1 </a:t>
            </a:r>
            <a:r>
              <a:rPr sz="1000" spc="-114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</a:t>
            </a:r>
            <a:r>
              <a:rPr sz="2550" spc="-165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Times New Roman"/>
                <a:cs typeface="Times New Roman"/>
              </a:rPr>
              <a:t>2</a:t>
            </a:r>
            <a:r>
              <a:rPr sz="2550" i="1" spc="22" baseline="3267" dirty="0">
                <a:latin typeface="Times New Roman"/>
                <a:cs typeface="Times New Roman"/>
              </a:rPr>
              <a:t>c</a:t>
            </a:r>
            <a:r>
              <a:rPr sz="1000" spc="30" dirty="0">
                <a:latin typeface="Times New Roman"/>
                <a:cs typeface="Times New Roman"/>
              </a:rPr>
              <a:t>2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277" baseline="3267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  </a:t>
            </a:r>
            <a:r>
              <a:rPr sz="1000" i="1" spc="-50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</a:t>
            </a:r>
            <a:r>
              <a:rPr sz="2550" spc="-240" baseline="3267" dirty="0">
                <a:latin typeface="Times New Roman"/>
                <a:cs typeface="Times New Roman"/>
              </a:rPr>
              <a:t> </a:t>
            </a:r>
            <a:r>
              <a:rPr sz="2550" spc="-67" baseline="3267" dirty="0">
                <a:latin typeface="Times New Roman"/>
                <a:cs typeface="Times New Roman"/>
              </a:rPr>
              <a:t>3</a:t>
            </a:r>
            <a:r>
              <a:rPr sz="2550" i="1" spc="-22" baseline="3267" dirty="0">
                <a:latin typeface="Times New Roman"/>
                <a:cs typeface="Times New Roman"/>
              </a:rPr>
              <a:t>c</a:t>
            </a:r>
            <a:r>
              <a:rPr sz="1000" spc="-5" dirty="0">
                <a:latin typeface="Times New Roman"/>
                <a:cs typeface="Times New Roman"/>
              </a:rPr>
              <a:t>3</a:t>
            </a:r>
            <a:r>
              <a:rPr sz="2550" i="1" spc="7" baseline="3267" dirty="0">
                <a:latin typeface="Times New Roman"/>
                <a:cs typeface="Times New Roman"/>
              </a:rPr>
              <a:t>t</a:t>
            </a:r>
            <a:r>
              <a:rPr sz="2550" i="1" spc="-367" baseline="3267" dirty="0">
                <a:latin typeface="Times New Roman"/>
                <a:cs typeface="Times New Roman"/>
              </a:rPr>
              <a:t> </a:t>
            </a:r>
            <a:r>
              <a:rPr sz="1500" baseline="47222" dirty="0">
                <a:latin typeface="Times New Roman"/>
                <a:cs typeface="Times New Roman"/>
              </a:rPr>
              <a:t>2  </a:t>
            </a:r>
            <a:r>
              <a:rPr sz="1500" spc="-150" baseline="47222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Symbol"/>
                <a:cs typeface="Symbol"/>
              </a:rPr>
              <a:t></a:t>
            </a:r>
            <a:r>
              <a:rPr sz="2550" spc="-82" baseline="3267" dirty="0">
                <a:latin typeface="Times New Roman"/>
                <a:cs typeface="Times New Roman"/>
              </a:rPr>
              <a:t> </a:t>
            </a:r>
            <a:r>
              <a:rPr sz="2550" spc="15" baseline="3267" dirty="0">
                <a:latin typeface="Times New Roman"/>
                <a:cs typeface="Times New Roman"/>
              </a:rPr>
              <a:t>0</a:t>
            </a:r>
            <a:endParaRPr sz="2550" baseline="3267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60427" y="5725667"/>
            <a:ext cx="237299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2880" marR="5080" indent="-170815">
              <a:lnSpc>
                <a:spcPts val="1939"/>
              </a:lnSpc>
              <a:spcBef>
                <a:spcPts val="345"/>
              </a:spcBef>
              <a:buClr>
                <a:srgbClr val="05DEFB"/>
              </a:buClr>
              <a:buFont typeface="Symbol"/>
              <a:buChar char=""/>
              <a:tabLst>
                <a:tab pos="174625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Substituting the initial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and final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conditions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7540" y="106235"/>
            <a:ext cx="7962265" cy="44928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150" dirty="0">
              <a:latin typeface="Cambria"/>
              <a:cs typeface="Cambria"/>
            </a:endParaRPr>
          </a:p>
          <a:p>
            <a:pPr marL="546100" lvl="1" indent="-521334">
              <a:lnSpc>
                <a:spcPct val="100000"/>
              </a:lnSpc>
              <a:buAutoNum type="arabicPeriod" startAt="5"/>
              <a:tabLst>
                <a:tab pos="546735" algn="l"/>
              </a:tabLst>
            </a:pPr>
            <a:r>
              <a:rPr sz="2400" spc="-25" dirty="0">
                <a:solidFill>
                  <a:srgbClr val="40458C"/>
                </a:solidFill>
                <a:latin typeface="Tahoma"/>
                <a:cs typeface="Tahoma"/>
              </a:rPr>
              <a:t>JOINT-SPACE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TRAJECTORY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PLANNING</a:t>
            </a:r>
            <a:endParaRPr sz="2400" dirty="0">
              <a:latin typeface="Tahoma"/>
              <a:cs typeface="Tahoma"/>
            </a:endParaRPr>
          </a:p>
          <a:p>
            <a:pPr marL="239395">
              <a:lnSpc>
                <a:spcPct val="100000"/>
              </a:lnSpc>
              <a:spcBef>
                <a:spcPts val="2185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5.5.2</a:t>
            </a:r>
            <a:r>
              <a:rPr sz="20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Fifth-Order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Polynomial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Planning</a:t>
            </a:r>
            <a:endParaRPr sz="2000" dirty="0">
              <a:latin typeface="Tahoma"/>
              <a:cs typeface="Tahoma"/>
            </a:endParaRPr>
          </a:p>
          <a:p>
            <a:pPr marL="335915" lvl="2" indent="-196850">
              <a:lnSpc>
                <a:spcPct val="100000"/>
              </a:lnSpc>
              <a:spcBef>
                <a:spcPts val="1490"/>
              </a:spcBef>
              <a:buClr>
                <a:srgbClr val="FF3300"/>
              </a:buClr>
              <a:buFont typeface="Symbol"/>
              <a:buChar char=""/>
              <a:tabLst>
                <a:tab pos="336550" algn="l"/>
              </a:tabLst>
            </a:pP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Specify the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initial</a:t>
            </a:r>
            <a:r>
              <a:rPr sz="2000" spc="2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and</a:t>
            </a:r>
            <a:r>
              <a:rPr sz="2000" spc="-2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ending</a:t>
            </a:r>
            <a:r>
              <a:rPr sz="2000" spc="-2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accelerations</a:t>
            </a:r>
            <a:r>
              <a:rPr sz="2000" spc="-2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for</a:t>
            </a:r>
            <a:r>
              <a:rPr sz="2000" spc="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a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segment.</a:t>
            </a:r>
            <a:endParaRPr sz="2000" dirty="0">
              <a:latin typeface="Tahoma"/>
              <a:cs typeface="Tahoma"/>
            </a:endParaRPr>
          </a:p>
          <a:p>
            <a:pPr marL="297815" marR="319405" lvl="2" indent="-158750">
              <a:lnSpc>
                <a:spcPct val="110000"/>
              </a:lnSpc>
              <a:spcBef>
                <a:spcPts val="960"/>
              </a:spcBef>
              <a:buClr>
                <a:srgbClr val="FF3300"/>
              </a:buClr>
              <a:buFont typeface="Symbol"/>
              <a:buChar char=""/>
              <a:tabLst>
                <a:tab pos="336550" algn="l"/>
              </a:tabLst>
            </a:pPr>
            <a:r>
              <a:rPr dirty="0"/>
              <a:t>	</a:t>
            </a:r>
            <a:r>
              <a:rPr sz="2000" spc="-100" dirty="0">
                <a:solidFill>
                  <a:srgbClr val="A50021"/>
                </a:solidFill>
                <a:latin typeface="Tahoma"/>
                <a:cs typeface="Tahoma"/>
              </a:rPr>
              <a:t>To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use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a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fifth-order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polynomial</a:t>
            </a:r>
            <a:r>
              <a:rPr sz="2000" spc="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for</a:t>
            </a:r>
            <a:r>
              <a:rPr sz="2000" spc="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planning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a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A50021"/>
                </a:solidFill>
                <a:latin typeface="Tahoma"/>
                <a:cs typeface="Tahoma"/>
              </a:rPr>
              <a:t>trajectory,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total </a:t>
            </a:r>
            <a:r>
              <a:rPr sz="2000" spc="-6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number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 boundary</a:t>
            </a:r>
            <a:r>
              <a:rPr sz="2000" spc="-3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conditions</a:t>
            </a:r>
            <a:r>
              <a:rPr sz="2000" spc="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is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6.</a:t>
            </a:r>
            <a:endParaRPr sz="2000" dirty="0">
              <a:latin typeface="Tahoma"/>
              <a:cs typeface="Tahoma"/>
            </a:endParaRPr>
          </a:p>
          <a:p>
            <a:pPr marL="255270" marR="17780" indent="-190500">
              <a:lnSpc>
                <a:spcPct val="89800"/>
              </a:lnSpc>
              <a:spcBef>
                <a:spcPts val="1490"/>
              </a:spcBef>
              <a:buClr>
                <a:srgbClr val="05DEFB"/>
              </a:buClr>
              <a:buFont typeface="Symbol"/>
              <a:buChar char=""/>
              <a:tabLst>
                <a:tab pos="247015" algn="l"/>
              </a:tabLst>
            </a:pP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Calculation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of the 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coefficients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of a 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fifth-order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polynomial 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with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position, </a:t>
            </a:r>
            <a:r>
              <a:rPr sz="2000" b="1" spc="-49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velocity and an 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acceleration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boundary conditions can be possible </a:t>
            </a:r>
            <a:r>
              <a:rPr sz="20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with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 below</a:t>
            </a:r>
            <a:r>
              <a:rPr sz="20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89F7"/>
                </a:solidFill>
                <a:latin typeface="Times New Roman"/>
                <a:cs typeface="Times New Roman"/>
              </a:rPr>
              <a:t>equations.</a:t>
            </a:r>
            <a:endParaRPr sz="2000" dirty="0">
              <a:latin typeface="Times New Roman"/>
              <a:cs typeface="Times New Roman"/>
            </a:endParaRPr>
          </a:p>
          <a:p>
            <a:pPr marR="351155" algn="ctr">
              <a:lnSpc>
                <a:spcPct val="100000"/>
              </a:lnSpc>
              <a:spcBef>
                <a:spcPts val="1805"/>
              </a:spcBef>
            </a:pPr>
            <a:r>
              <a:rPr sz="2500" spc="-70" dirty="0">
                <a:latin typeface="Symbol"/>
                <a:cs typeface="Symbol"/>
              </a:rPr>
              <a:t></a:t>
            </a:r>
            <a:r>
              <a:rPr sz="2500" spc="-27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(</a:t>
            </a:r>
            <a:r>
              <a:rPr sz="2350" i="1" spc="155" dirty="0">
                <a:latin typeface="Times New Roman"/>
                <a:cs typeface="Times New Roman"/>
              </a:rPr>
              <a:t>t</a:t>
            </a:r>
            <a:r>
              <a:rPr sz="2350" spc="5" dirty="0">
                <a:latin typeface="Times New Roman"/>
                <a:cs typeface="Times New Roman"/>
              </a:rPr>
              <a:t>)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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c</a:t>
            </a:r>
            <a:r>
              <a:rPr sz="2025" spc="22" baseline="-4115" dirty="0">
                <a:latin typeface="Times New Roman"/>
                <a:cs typeface="Times New Roman"/>
              </a:rPr>
              <a:t>0</a:t>
            </a:r>
            <a:r>
              <a:rPr sz="2025" baseline="-4115" dirty="0">
                <a:latin typeface="Times New Roman"/>
                <a:cs typeface="Times New Roman"/>
              </a:rPr>
              <a:t> </a:t>
            </a:r>
            <a:r>
              <a:rPr sz="2025" spc="-67" baseline="-411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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i="1" spc="-135" dirty="0">
                <a:latin typeface="Times New Roman"/>
                <a:cs typeface="Times New Roman"/>
              </a:rPr>
              <a:t>c</a:t>
            </a:r>
            <a:r>
              <a:rPr sz="2025" spc="-75" baseline="-4115" dirty="0">
                <a:latin typeface="Times New Roman"/>
                <a:cs typeface="Times New Roman"/>
              </a:rPr>
              <a:t>1</a:t>
            </a:r>
            <a:r>
              <a:rPr sz="2350" i="1" dirty="0">
                <a:latin typeface="Times New Roman"/>
                <a:cs typeface="Times New Roman"/>
              </a:rPr>
              <a:t>t</a:t>
            </a:r>
            <a:r>
              <a:rPr sz="2350" i="1" spc="-6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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i="1" spc="20" dirty="0">
                <a:latin typeface="Times New Roman"/>
                <a:cs typeface="Times New Roman"/>
              </a:rPr>
              <a:t>c</a:t>
            </a:r>
            <a:r>
              <a:rPr sz="2025" spc="82" baseline="-4115" dirty="0">
                <a:latin typeface="Times New Roman"/>
                <a:cs typeface="Times New Roman"/>
              </a:rPr>
              <a:t>2</a:t>
            </a:r>
            <a:r>
              <a:rPr sz="2350" i="1" dirty="0">
                <a:latin typeface="Times New Roman"/>
                <a:cs typeface="Times New Roman"/>
              </a:rPr>
              <a:t>t</a:t>
            </a:r>
            <a:r>
              <a:rPr sz="2350" i="1" spc="-340" dirty="0">
                <a:latin typeface="Times New Roman"/>
                <a:cs typeface="Times New Roman"/>
              </a:rPr>
              <a:t> </a:t>
            </a:r>
            <a:r>
              <a:rPr sz="2025" spc="22" baseline="43209" dirty="0">
                <a:latin typeface="Times New Roman"/>
                <a:cs typeface="Times New Roman"/>
              </a:rPr>
              <a:t>2</a:t>
            </a:r>
            <a:r>
              <a:rPr sz="2025" baseline="43209" dirty="0">
                <a:latin typeface="Times New Roman"/>
                <a:cs typeface="Times New Roman"/>
              </a:rPr>
              <a:t> </a:t>
            </a:r>
            <a:r>
              <a:rPr sz="2025" spc="-67" baseline="43209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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c</a:t>
            </a:r>
            <a:r>
              <a:rPr sz="2025" spc="22" baseline="-4115" dirty="0">
                <a:latin typeface="Times New Roman"/>
                <a:cs typeface="Times New Roman"/>
              </a:rPr>
              <a:t>3</a:t>
            </a:r>
            <a:r>
              <a:rPr sz="2350" i="1" dirty="0">
                <a:latin typeface="Times New Roman"/>
                <a:cs typeface="Times New Roman"/>
              </a:rPr>
              <a:t>t</a:t>
            </a:r>
            <a:r>
              <a:rPr sz="2350" i="1" spc="-385" dirty="0">
                <a:latin typeface="Times New Roman"/>
                <a:cs typeface="Times New Roman"/>
              </a:rPr>
              <a:t> </a:t>
            </a:r>
            <a:r>
              <a:rPr sz="2025" spc="22" baseline="43209" dirty="0">
                <a:latin typeface="Times New Roman"/>
                <a:cs typeface="Times New Roman"/>
              </a:rPr>
              <a:t>3</a:t>
            </a:r>
            <a:r>
              <a:rPr sz="2025" baseline="43209" dirty="0">
                <a:latin typeface="Times New Roman"/>
                <a:cs typeface="Times New Roman"/>
              </a:rPr>
              <a:t> </a:t>
            </a:r>
            <a:r>
              <a:rPr sz="2025" spc="-127" baseline="43209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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i="1" spc="20" dirty="0">
                <a:latin typeface="Times New Roman"/>
                <a:cs typeface="Times New Roman"/>
              </a:rPr>
              <a:t>c</a:t>
            </a:r>
            <a:r>
              <a:rPr sz="2025" spc="82" baseline="-4115" dirty="0">
                <a:latin typeface="Times New Roman"/>
                <a:cs typeface="Times New Roman"/>
              </a:rPr>
              <a:t>4</a:t>
            </a:r>
            <a:r>
              <a:rPr sz="2350" i="1" dirty="0">
                <a:latin typeface="Times New Roman"/>
                <a:cs typeface="Times New Roman"/>
              </a:rPr>
              <a:t>t</a:t>
            </a:r>
            <a:r>
              <a:rPr sz="2350" i="1" spc="-340" dirty="0">
                <a:latin typeface="Times New Roman"/>
                <a:cs typeface="Times New Roman"/>
              </a:rPr>
              <a:t> </a:t>
            </a:r>
            <a:r>
              <a:rPr sz="2025" spc="22" baseline="43209" dirty="0">
                <a:latin typeface="Times New Roman"/>
                <a:cs typeface="Times New Roman"/>
              </a:rPr>
              <a:t>4</a:t>
            </a:r>
            <a:r>
              <a:rPr sz="2025" baseline="43209" dirty="0">
                <a:latin typeface="Times New Roman"/>
                <a:cs typeface="Times New Roman"/>
              </a:rPr>
              <a:t> </a:t>
            </a:r>
            <a:r>
              <a:rPr sz="2025" spc="-67" baseline="43209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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c</a:t>
            </a:r>
            <a:r>
              <a:rPr sz="2025" spc="52" baseline="-4115" dirty="0">
                <a:latin typeface="Times New Roman"/>
                <a:cs typeface="Times New Roman"/>
              </a:rPr>
              <a:t>5</a:t>
            </a:r>
            <a:r>
              <a:rPr sz="2350" i="1" dirty="0">
                <a:latin typeface="Times New Roman"/>
                <a:cs typeface="Times New Roman"/>
              </a:rPr>
              <a:t>t</a:t>
            </a:r>
            <a:r>
              <a:rPr sz="2350" i="1" spc="-385" dirty="0">
                <a:latin typeface="Times New Roman"/>
                <a:cs typeface="Times New Roman"/>
              </a:rPr>
              <a:t> </a:t>
            </a:r>
            <a:r>
              <a:rPr sz="2025" spc="22" baseline="43209" dirty="0">
                <a:latin typeface="Times New Roman"/>
                <a:cs typeface="Times New Roman"/>
              </a:rPr>
              <a:t>5</a:t>
            </a:r>
            <a:endParaRPr sz="2025" baseline="43209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3674" y="5161940"/>
            <a:ext cx="1130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1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8140" y="5376594"/>
            <a:ext cx="322135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73100" algn="l"/>
                <a:tab pos="1398905" algn="l"/>
                <a:tab pos="2272030" algn="l"/>
                <a:tab pos="3120390" algn="l"/>
              </a:tabLst>
            </a:pPr>
            <a:r>
              <a:rPr sz="1350" spc="10" dirty="0">
                <a:latin typeface="Times New Roman"/>
                <a:cs typeface="Times New Roman"/>
              </a:rPr>
              <a:t>1	2	3	4	5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5341" y="5153540"/>
            <a:ext cx="439102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110615" algn="l"/>
                <a:tab pos="2709545" algn="l"/>
              </a:tabLst>
            </a:pPr>
            <a:r>
              <a:rPr sz="2500" spc="-60" dirty="0">
                <a:latin typeface="Symbol"/>
                <a:cs typeface="Symbol"/>
              </a:rPr>
              <a:t></a:t>
            </a:r>
            <a:r>
              <a:rPr sz="2500" spc="-3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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t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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3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i="1" spc="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t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4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i="1" spc="165" dirty="0">
                <a:latin typeface="Times New Roman"/>
                <a:cs typeface="Times New Roman"/>
              </a:rPr>
              <a:t>t</a:t>
            </a:r>
            <a:r>
              <a:rPr sz="2025" spc="15" baseline="43209" dirty="0">
                <a:latin typeface="Times New Roman"/>
                <a:cs typeface="Times New Roman"/>
              </a:rPr>
              <a:t>3</a:t>
            </a:r>
            <a:r>
              <a:rPr sz="2025" baseline="43209" dirty="0">
                <a:latin typeface="Times New Roman"/>
                <a:cs typeface="Times New Roman"/>
              </a:rPr>
              <a:t> </a:t>
            </a:r>
            <a:r>
              <a:rPr sz="2025" spc="-120" baseline="4320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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i="1" spc="4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t</a:t>
            </a:r>
            <a:r>
              <a:rPr sz="2400" i="1" spc="-385" dirty="0">
                <a:latin typeface="Times New Roman"/>
                <a:cs typeface="Times New Roman"/>
              </a:rPr>
              <a:t> </a:t>
            </a:r>
            <a:r>
              <a:rPr sz="2025" spc="15" baseline="43209" dirty="0">
                <a:latin typeface="Times New Roman"/>
                <a:cs typeface="Times New Roman"/>
              </a:rPr>
              <a:t>4</a:t>
            </a:r>
            <a:endParaRPr sz="2025" baseline="43209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4611" y="5084315"/>
            <a:ext cx="126364" cy="39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1610" dirty="0">
                <a:latin typeface="Arial MT"/>
                <a:cs typeface="Arial MT"/>
              </a:rPr>
              <a:t>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0123" y="5730674"/>
            <a:ext cx="3898265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400" spc="-760" dirty="0">
                <a:latin typeface="Symbol"/>
                <a:cs typeface="Symbol"/>
              </a:rPr>
              <a:t></a:t>
            </a:r>
            <a:r>
              <a:rPr sz="3450" b="1" spc="-2310" baseline="10869" dirty="0">
                <a:latin typeface="Arial"/>
                <a:cs typeface="Arial"/>
              </a:rPr>
              <a:t></a:t>
            </a:r>
            <a:r>
              <a:rPr sz="3450" b="1" spc="-442" baseline="10869" dirty="0">
                <a:latin typeface="Arial"/>
                <a:cs typeface="Arial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(</a:t>
            </a:r>
            <a:r>
              <a:rPr sz="2300" i="1" spc="145" dirty="0">
                <a:latin typeface="Times New Roman"/>
                <a:cs typeface="Times New Roman"/>
              </a:rPr>
              <a:t>t</a:t>
            </a:r>
            <a:r>
              <a:rPr sz="2300" spc="-5" dirty="0">
                <a:latin typeface="Times New Roman"/>
                <a:cs typeface="Times New Roman"/>
              </a:rPr>
              <a:t>)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Symbol"/>
                <a:cs typeface="Symbol"/>
              </a:rPr>
              <a:t>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2</a:t>
            </a:r>
            <a:r>
              <a:rPr sz="2300" i="1" spc="10" dirty="0">
                <a:latin typeface="Times New Roman"/>
                <a:cs typeface="Times New Roman"/>
              </a:rPr>
              <a:t>c</a:t>
            </a:r>
            <a:r>
              <a:rPr sz="1950" spc="22" baseline="-4273" dirty="0">
                <a:latin typeface="Times New Roman"/>
                <a:cs typeface="Times New Roman"/>
              </a:rPr>
              <a:t>2</a:t>
            </a:r>
            <a:r>
              <a:rPr sz="1950" baseline="-4273" dirty="0">
                <a:latin typeface="Times New Roman"/>
                <a:cs typeface="Times New Roman"/>
              </a:rPr>
              <a:t> </a:t>
            </a:r>
            <a:r>
              <a:rPr sz="1950" spc="-52" baseline="-4273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Symbol"/>
                <a:cs typeface="Symbol"/>
              </a:rPr>
              <a:t></a:t>
            </a:r>
            <a:r>
              <a:rPr sz="2300" spc="-19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6</a:t>
            </a:r>
            <a:r>
              <a:rPr sz="2300" i="1" spc="-35" dirty="0">
                <a:latin typeface="Times New Roman"/>
                <a:cs typeface="Times New Roman"/>
              </a:rPr>
              <a:t>c</a:t>
            </a:r>
            <a:r>
              <a:rPr sz="1950" spc="22" baseline="-4273" dirty="0">
                <a:latin typeface="Times New Roman"/>
                <a:cs typeface="Times New Roman"/>
              </a:rPr>
              <a:t>3</a:t>
            </a:r>
            <a:r>
              <a:rPr sz="2300" i="1" spc="-5" dirty="0">
                <a:latin typeface="Times New Roman"/>
                <a:cs typeface="Times New Roman"/>
              </a:rPr>
              <a:t>t</a:t>
            </a:r>
            <a:r>
              <a:rPr sz="2300" i="1" spc="-70" dirty="0">
                <a:latin typeface="Times New Roman"/>
                <a:cs typeface="Times New Roman"/>
              </a:rPr>
              <a:t> </a:t>
            </a:r>
            <a:r>
              <a:rPr sz="2300" spc="165" dirty="0">
                <a:latin typeface="Symbol"/>
                <a:cs typeface="Symbol"/>
              </a:rPr>
              <a:t></a:t>
            </a:r>
            <a:r>
              <a:rPr sz="2300" spc="-5" dirty="0">
                <a:latin typeface="Times New Roman"/>
                <a:cs typeface="Times New Roman"/>
              </a:rPr>
              <a:t>12</a:t>
            </a:r>
            <a:r>
              <a:rPr sz="2300" i="1" spc="10" dirty="0">
                <a:latin typeface="Times New Roman"/>
                <a:cs typeface="Times New Roman"/>
              </a:rPr>
              <a:t>c</a:t>
            </a:r>
            <a:r>
              <a:rPr sz="1950" spc="82" baseline="-4273" dirty="0">
                <a:latin typeface="Times New Roman"/>
                <a:cs typeface="Times New Roman"/>
              </a:rPr>
              <a:t>4</a:t>
            </a:r>
            <a:r>
              <a:rPr sz="2300" i="1" spc="-5" dirty="0">
                <a:latin typeface="Times New Roman"/>
                <a:cs typeface="Times New Roman"/>
              </a:rPr>
              <a:t>t</a:t>
            </a:r>
            <a:r>
              <a:rPr sz="2300" i="1" spc="-335" dirty="0">
                <a:latin typeface="Times New Roman"/>
                <a:cs typeface="Times New Roman"/>
              </a:rPr>
              <a:t> </a:t>
            </a:r>
            <a:r>
              <a:rPr sz="1950" spc="22" baseline="44871" dirty="0">
                <a:latin typeface="Times New Roman"/>
                <a:cs typeface="Times New Roman"/>
              </a:rPr>
              <a:t>2</a:t>
            </a:r>
            <a:r>
              <a:rPr sz="1950" baseline="44871" dirty="0">
                <a:latin typeface="Times New Roman"/>
                <a:cs typeface="Times New Roman"/>
              </a:rPr>
              <a:t> </a:t>
            </a:r>
            <a:r>
              <a:rPr sz="1950" spc="-52" baseline="44871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Symbol"/>
                <a:cs typeface="Symbol"/>
              </a:rPr>
              <a:t></a:t>
            </a:r>
            <a:r>
              <a:rPr sz="2300" spc="-15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20</a:t>
            </a:r>
            <a:r>
              <a:rPr sz="2300" i="1" spc="-35" dirty="0">
                <a:latin typeface="Times New Roman"/>
                <a:cs typeface="Times New Roman"/>
              </a:rPr>
              <a:t>c</a:t>
            </a:r>
            <a:r>
              <a:rPr sz="1950" spc="52" baseline="-4273" dirty="0">
                <a:latin typeface="Times New Roman"/>
                <a:cs typeface="Times New Roman"/>
              </a:rPr>
              <a:t>5</a:t>
            </a:r>
            <a:r>
              <a:rPr sz="2300" i="1" spc="-5" dirty="0">
                <a:latin typeface="Times New Roman"/>
                <a:cs typeface="Times New Roman"/>
              </a:rPr>
              <a:t>t</a:t>
            </a:r>
            <a:r>
              <a:rPr sz="2300" i="1" spc="-380" dirty="0">
                <a:latin typeface="Times New Roman"/>
                <a:cs typeface="Times New Roman"/>
              </a:rPr>
              <a:t> </a:t>
            </a:r>
            <a:r>
              <a:rPr sz="1950" spc="22" baseline="44871" dirty="0">
                <a:latin typeface="Times New Roman"/>
                <a:cs typeface="Times New Roman"/>
              </a:rPr>
              <a:t>3</a:t>
            </a:r>
            <a:endParaRPr sz="1950" baseline="4487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4990" y="1157033"/>
            <a:ext cx="573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5.5</a:t>
            </a:r>
            <a:r>
              <a:rPr spc="-10" dirty="0"/>
              <a:t> </a:t>
            </a:r>
            <a:r>
              <a:rPr spc="-25" dirty="0"/>
              <a:t>JOINT-SPACE</a:t>
            </a:r>
            <a:r>
              <a:rPr spc="5" dirty="0"/>
              <a:t> </a:t>
            </a:r>
            <a:r>
              <a:rPr spc="-15" dirty="0"/>
              <a:t>TRAJECTORY</a:t>
            </a:r>
            <a:r>
              <a:rPr spc="-10" dirty="0"/>
              <a:t> PLANNING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190" y="1830641"/>
            <a:ext cx="7468870" cy="1714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5575" marR="546100" indent="-143510">
              <a:lnSpc>
                <a:spcPct val="111700"/>
              </a:lnSpc>
              <a:spcBef>
                <a:spcPts val="135"/>
              </a:spcBef>
              <a:buClr>
                <a:srgbClr val="FF3300"/>
              </a:buClr>
              <a:buSzPct val="111111"/>
              <a:buFont typeface="Symbol"/>
              <a:buChar char=""/>
              <a:tabLst>
                <a:tab pos="209550" algn="l"/>
              </a:tabLst>
            </a:pPr>
            <a:r>
              <a:rPr dirty="0"/>
              <a:t>	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Linear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segment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can be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blended</a:t>
            </a:r>
            <a:r>
              <a:rPr sz="1800" spc="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with</a:t>
            </a:r>
            <a:r>
              <a:rPr sz="1800" spc="2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6F89F7"/>
                </a:solidFill>
                <a:latin typeface="Tahoma"/>
                <a:cs typeface="Tahoma"/>
              </a:rPr>
              <a:t>parabolic</a:t>
            </a:r>
            <a:r>
              <a:rPr sz="1800" spc="2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sections at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beginning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and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 the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end </a:t>
            </a:r>
            <a:r>
              <a:rPr sz="1800" spc="-10" dirty="0">
                <a:solidFill>
                  <a:srgbClr val="6F89F7"/>
                </a:solidFill>
                <a:latin typeface="Tahoma"/>
                <a:cs typeface="Tahoma"/>
              </a:rPr>
              <a:t>of</a:t>
            </a:r>
            <a:r>
              <a:rPr sz="1800" spc="1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the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6F89F7"/>
                </a:solidFill>
                <a:latin typeface="Tahoma"/>
                <a:cs typeface="Tahoma"/>
              </a:rPr>
              <a:t>motion</a:t>
            </a:r>
            <a:r>
              <a:rPr sz="1800" spc="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segment,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creating</a:t>
            </a:r>
            <a:r>
              <a:rPr sz="1800" spc="1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continuous </a:t>
            </a:r>
            <a:r>
              <a:rPr sz="1800" spc="-54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position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 and </a:t>
            </a:r>
            <a:r>
              <a:rPr sz="1800" spc="-25" dirty="0">
                <a:solidFill>
                  <a:srgbClr val="6F89F7"/>
                </a:solidFill>
                <a:latin typeface="Tahoma"/>
                <a:cs typeface="Tahoma"/>
              </a:rPr>
              <a:t>velocity.</a:t>
            </a:r>
            <a:endParaRPr sz="1800">
              <a:latin typeface="Tahoma"/>
              <a:cs typeface="Tahoma"/>
            </a:endParaRPr>
          </a:p>
          <a:p>
            <a:pPr marL="209550" marR="5080" indent="-209550">
              <a:lnSpc>
                <a:spcPct val="113300"/>
              </a:lnSpc>
              <a:spcBef>
                <a:spcPts val="1125"/>
              </a:spcBef>
              <a:buClr>
                <a:srgbClr val="FF3300"/>
              </a:buClr>
              <a:buSzPct val="111111"/>
              <a:buFont typeface="Symbol"/>
              <a:buChar char=""/>
              <a:tabLst>
                <a:tab pos="209550" algn="l"/>
              </a:tabLst>
            </a:pPr>
            <a:r>
              <a:rPr sz="1800" spc="-10" dirty="0">
                <a:solidFill>
                  <a:srgbClr val="6F89F7"/>
                </a:solidFill>
                <a:latin typeface="Tahoma"/>
                <a:cs typeface="Tahoma"/>
              </a:rPr>
              <a:t>Acceleration</a:t>
            </a:r>
            <a:r>
              <a:rPr sz="1800" spc="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is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constant</a:t>
            </a:r>
            <a:r>
              <a:rPr sz="1800" spc="-2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6F89F7"/>
                </a:solidFill>
                <a:latin typeface="Tahoma"/>
                <a:cs typeface="Tahoma"/>
              </a:rPr>
              <a:t>for</a:t>
            </a:r>
            <a:r>
              <a:rPr sz="1800" spc="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the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6F89F7"/>
                </a:solidFill>
                <a:latin typeface="Tahoma"/>
                <a:cs typeface="Tahoma"/>
              </a:rPr>
              <a:t>parabolic</a:t>
            </a:r>
            <a:r>
              <a:rPr sz="1800" spc="2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sections,</a:t>
            </a:r>
            <a:r>
              <a:rPr sz="1800" spc="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yielding</a:t>
            </a:r>
            <a:r>
              <a:rPr sz="1800" spc="1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a</a:t>
            </a:r>
            <a:r>
              <a:rPr sz="1800" spc="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continuous </a:t>
            </a:r>
            <a:r>
              <a:rPr sz="1800" spc="-54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6F89F7"/>
                </a:solidFill>
                <a:latin typeface="Tahoma"/>
                <a:cs typeface="Tahoma"/>
              </a:rPr>
              <a:t>velocity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at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the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common</a:t>
            </a:r>
            <a:r>
              <a:rPr sz="1800" spc="-10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6F89F7"/>
                </a:solidFill>
                <a:latin typeface="Tahoma"/>
                <a:cs typeface="Tahoma"/>
              </a:rPr>
              <a:t>points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 A</a:t>
            </a:r>
            <a:r>
              <a:rPr sz="1800" spc="-15" dirty="0">
                <a:solidFill>
                  <a:srgbClr val="6F89F7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6F89F7"/>
                </a:solidFill>
                <a:latin typeface="Tahoma"/>
                <a:cs typeface="Tahoma"/>
              </a:rPr>
              <a:t>and </a:t>
            </a:r>
            <a:r>
              <a:rPr sz="1800" spc="-15" dirty="0">
                <a:solidFill>
                  <a:srgbClr val="6F89F7"/>
                </a:solidFill>
                <a:latin typeface="Tahoma"/>
                <a:cs typeface="Tahoma"/>
              </a:rPr>
              <a:t>B.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368" y="3732050"/>
            <a:ext cx="3285086" cy="21247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590" y="6063996"/>
            <a:ext cx="40976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60066"/>
                </a:solidFill>
                <a:latin typeface="Tahoma"/>
                <a:cs typeface="Tahoma"/>
              </a:rPr>
              <a:t>Fig.</a:t>
            </a:r>
            <a:r>
              <a:rPr sz="1200" spc="1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660066"/>
                </a:solidFill>
                <a:latin typeface="Tahoma"/>
                <a:cs typeface="Tahoma"/>
              </a:rPr>
              <a:t>5.13</a:t>
            </a:r>
            <a:r>
              <a:rPr sz="1200" spc="-2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Scheme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for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linear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segments</a:t>
            </a:r>
            <a:r>
              <a:rPr sz="1200" spc="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200" spc="39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40458C"/>
                </a:solidFill>
                <a:latin typeface="Tahoma"/>
                <a:cs typeface="Tahoma"/>
              </a:rPr>
              <a:t>parabolic</a:t>
            </a:r>
            <a:r>
              <a:rPr sz="12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40458C"/>
                </a:solidFill>
                <a:latin typeface="Tahoma"/>
                <a:cs typeface="Tahoma"/>
              </a:rPr>
              <a:t>blends.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93785" y="4501451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>
                <a:moveTo>
                  <a:pt x="0" y="0"/>
                </a:moveTo>
                <a:lnTo>
                  <a:pt x="148736" y="0"/>
                </a:lnTo>
              </a:path>
            </a:pathLst>
          </a:custGeom>
          <a:ln w="10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97749" y="4496420"/>
            <a:ext cx="14859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15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6767" y="4303479"/>
            <a:ext cx="216598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spc="-52" baseline="2777" dirty="0">
                <a:latin typeface="Symbol"/>
                <a:cs typeface="Symbol"/>
              </a:rPr>
              <a:t></a:t>
            </a:r>
            <a:r>
              <a:rPr sz="3000" spc="-315" baseline="2777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i="1" spc="202" baseline="2923" dirty="0">
                <a:latin typeface="Times New Roman"/>
                <a:cs typeface="Times New Roman"/>
              </a:rPr>
              <a:t>t</a:t>
            </a:r>
            <a:r>
              <a:rPr sz="2850" spc="15" baseline="2923" dirty="0">
                <a:latin typeface="Times New Roman"/>
                <a:cs typeface="Times New Roman"/>
              </a:rPr>
              <a:t>)</a:t>
            </a:r>
            <a:r>
              <a:rPr sz="2850" spc="-44" baseline="2923" dirty="0">
                <a:latin typeface="Times New Roman"/>
                <a:cs typeface="Times New Roman"/>
              </a:rPr>
              <a:t> </a:t>
            </a:r>
            <a:r>
              <a:rPr sz="2850" spc="30" baseline="2923" dirty="0">
                <a:latin typeface="Symbol"/>
                <a:cs typeface="Symbol"/>
              </a:rPr>
              <a:t></a:t>
            </a:r>
            <a:r>
              <a:rPr sz="2850" spc="-82" baseline="2923" dirty="0">
                <a:latin typeface="Times New Roman"/>
                <a:cs typeface="Times New Roman"/>
              </a:rPr>
              <a:t> </a:t>
            </a:r>
            <a:r>
              <a:rPr sz="2850" i="1" spc="7" baseline="2923" dirty="0">
                <a:latin typeface="Times New Roman"/>
                <a:cs typeface="Times New Roman"/>
              </a:rPr>
              <a:t>c</a:t>
            </a:r>
            <a:r>
              <a:rPr sz="1100" spc="15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2850" spc="30" baseline="2923" dirty="0">
                <a:latin typeface="Symbol"/>
                <a:cs typeface="Symbol"/>
              </a:rPr>
              <a:t></a:t>
            </a:r>
            <a:r>
              <a:rPr sz="2850" spc="-225" baseline="2923" dirty="0">
                <a:latin typeface="Times New Roman"/>
                <a:cs typeface="Times New Roman"/>
              </a:rPr>
              <a:t> </a:t>
            </a:r>
            <a:r>
              <a:rPr sz="2850" i="1" spc="-150" baseline="2923" dirty="0">
                <a:latin typeface="Times New Roman"/>
                <a:cs typeface="Times New Roman"/>
              </a:rPr>
              <a:t>c</a:t>
            </a:r>
            <a:r>
              <a:rPr sz="1100" spc="-35" dirty="0">
                <a:latin typeface="Times New Roman"/>
                <a:cs typeface="Times New Roman"/>
              </a:rPr>
              <a:t>1</a:t>
            </a:r>
            <a:r>
              <a:rPr sz="2850" i="1" spc="15" baseline="2923" dirty="0">
                <a:latin typeface="Times New Roman"/>
                <a:cs typeface="Times New Roman"/>
              </a:rPr>
              <a:t>t</a:t>
            </a:r>
            <a:r>
              <a:rPr sz="2850" i="1" spc="-67" baseline="2923" dirty="0">
                <a:latin typeface="Times New Roman"/>
                <a:cs typeface="Times New Roman"/>
              </a:rPr>
              <a:t> </a:t>
            </a:r>
            <a:r>
              <a:rPr sz="2850" spc="30" baseline="2923" dirty="0">
                <a:latin typeface="Symbol"/>
                <a:cs typeface="Symbol"/>
              </a:rPr>
              <a:t></a:t>
            </a:r>
            <a:r>
              <a:rPr sz="2850" spc="15" baseline="2923" dirty="0">
                <a:latin typeface="Times New Roman"/>
                <a:cs typeface="Times New Roman"/>
              </a:rPr>
              <a:t> </a:t>
            </a:r>
            <a:r>
              <a:rPr sz="2850" spc="22" baseline="38011" dirty="0">
                <a:latin typeface="Times New Roman"/>
                <a:cs typeface="Times New Roman"/>
              </a:rPr>
              <a:t>1</a:t>
            </a:r>
            <a:r>
              <a:rPr sz="2850" spc="-104" baseline="38011" dirty="0">
                <a:latin typeface="Times New Roman"/>
                <a:cs typeface="Times New Roman"/>
              </a:rPr>
              <a:t> </a:t>
            </a:r>
            <a:r>
              <a:rPr sz="2850" i="1" spc="37" baseline="2923" dirty="0">
                <a:latin typeface="Times New Roman"/>
                <a:cs typeface="Times New Roman"/>
              </a:rPr>
              <a:t>c</a:t>
            </a:r>
            <a:r>
              <a:rPr sz="1100" spc="50" dirty="0">
                <a:latin typeface="Times New Roman"/>
                <a:cs typeface="Times New Roman"/>
              </a:rPr>
              <a:t>2</a:t>
            </a:r>
            <a:r>
              <a:rPr sz="2850" i="1" spc="15" baseline="2923" dirty="0">
                <a:latin typeface="Times New Roman"/>
                <a:cs typeface="Times New Roman"/>
              </a:rPr>
              <a:t>t</a:t>
            </a:r>
            <a:r>
              <a:rPr sz="2850" i="1" spc="-412" baseline="2923" dirty="0">
                <a:latin typeface="Times New Roman"/>
                <a:cs typeface="Times New Roman"/>
              </a:rPr>
              <a:t> </a:t>
            </a:r>
            <a:r>
              <a:rPr sz="1650" spc="22" baseline="47979" dirty="0">
                <a:latin typeface="Times New Roman"/>
                <a:cs typeface="Times New Roman"/>
              </a:rPr>
              <a:t>2</a:t>
            </a:r>
            <a:endParaRPr sz="1650" baseline="4797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1371" y="4623223"/>
            <a:ext cx="1439545" cy="78867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90"/>
              </a:spcBef>
            </a:pPr>
            <a:r>
              <a:rPr sz="3000" spc="-622" baseline="2777" dirty="0">
                <a:latin typeface="Symbol"/>
                <a:cs typeface="Symbol"/>
              </a:rPr>
              <a:t></a:t>
            </a:r>
            <a:r>
              <a:rPr sz="2850" spc="-1845" baseline="14619" dirty="0">
                <a:latin typeface="Arial MT"/>
                <a:cs typeface="Arial MT"/>
              </a:rPr>
              <a:t>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i="1" spc="202" baseline="2923" dirty="0">
                <a:latin typeface="Times New Roman"/>
                <a:cs typeface="Times New Roman"/>
              </a:rPr>
              <a:t>t</a:t>
            </a:r>
            <a:r>
              <a:rPr sz="2850" spc="15" baseline="2923" dirty="0">
                <a:latin typeface="Times New Roman"/>
                <a:cs typeface="Times New Roman"/>
              </a:rPr>
              <a:t>)</a:t>
            </a:r>
            <a:r>
              <a:rPr sz="2850" spc="-52" baseline="2923" dirty="0">
                <a:latin typeface="Times New Roman"/>
                <a:cs typeface="Times New Roman"/>
              </a:rPr>
              <a:t> </a:t>
            </a:r>
            <a:r>
              <a:rPr sz="2850" spc="30" baseline="2923" dirty="0">
                <a:latin typeface="Symbol"/>
                <a:cs typeface="Symbol"/>
              </a:rPr>
              <a:t></a:t>
            </a:r>
            <a:r>
              <a:rPr sz="2850" spc="-82" baseline="2923" dirty="0">
                <a:latin typeface="Times New Roman"/>
                <a:cs typeface="Times New Roman"/>
              </a:rPr>
              <a:t> </a:t>
            </a:r>
            <a:r>
              <a:rPr sz="2850" i="1" spc="-150" baseline="2923" dirty="0">
                <a:latin typeface="Times New Roman"/>
                <a:cs typeface="Times New Roman"/>
              </a:rPr>
              <a:t>c</a:t>
            </a:r>
            <a:r>
              <a:rPr sz="1100" spc="15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20" dirty="0">
                <a:latin typeface="Times New Roman"/>
                <a:cs typeface="Times New Roman"/>
              </a:rPr>
              <a:t> </a:t>
            </a:r>
            <a:r>
              <a:rPr sz="2850" spc="30" baseline="2923" dirty="0">
                <a:latin typeface="Symbol"/>
                <a:cs typeface="Symbol"/>
              </a:rPr>
              <a:t></a:t>
            </a:r>
            <a:r>
              <a:rPr sz="2850" spc="-217" baseline="2923" dirty="0">
                <a:latin typeface="Times New Roman"/>
                <a:cs typeface="Times New Roman"/>
              </a:rPr>
              <a:t> </a:t>
            </a:r>
            <a:r>
              <a:rPr sz="2850" i="1" spc="37" baseline="2923" dirty="0">
                <a:latin typeface="Times New Roman"/>
                <a:cs typeface="Times New Roman"/>
              </a:rPr>
              <a:t>c</a:t>
            </a:r>
            <a:r>
              <a:rPr sz="1100" spc="50" dirty="0">
                <a:latin typeface="Times New Roman"/>
                <a:cs typeface="Times New Roman"/>
              </a:rPr>
              <a:t>2</a:t>
            </a:r>
            <a:r>
              <a:rPr sz="2850" i="1" spc="15" baseline="2923" dirty="0">
                <a:latin typeface="Times New Roman"/>
                <a:cs typeface="Times New Roman"/>
              </a:rPr>
              <a:t>t</a:t>
            </a:r>
            <a:endParaRPr sz="2850" baseline="2923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  <a:spcBef>
                <a:spcPts val="560"/>
              </a:spcBef>
            </a:pPr>
            <a:r>
              <a:rPr sz="3075" spc="-982" baseline="2710" dirty="0">
                <a:latin typeface="Symbol"/>
                <a:cs typeface="Symbol"/>
              </a:rPr>
              <a:t></a:t>
            </a:r>
            <a:r>
              <a:rPr sz="2850" b="1" spc="-1882" baseline="14619" dirty="0">
                <a:latin typeface="Arial"/>
                <a:cs typeface="Arial"/>
              </a:rPr>
              <a:t></a:t>
            </a:r>
            <a:r>
              <a:rPr sz="2850" b="1" spc="-352" baseline="14619" dirty="0">
                <a:latin typeface="Arial"/>
                <a:cs typeface="Arial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i="1" spc="202" baseline="2923" dirty="0">
                <a:latin typeface="Times New Roman"/>
                <a:cs typeface="Times New Roman"/>
              </a:rPr>
              <a:t>t</a:t>
            </a:r>
            <a:r>
              <a:rPr sz="2850" spc="15" baseline="2923" dirty="0">
                <a:latin typeface="Times New Roman"/>
                <a:cs typeface="Times New Roman"/>
              </a:rPr>
              <a:t>)</a:t>
            </a:r>
            <a:r>
              <a:rPr sz="2850" spc="-52" baseline="2923" dirty="0">
                <a:latin typeface="Times New Roman"/>
                <a:cs typeface="Times New Roman"/>
              </a:rPr>
              <a:t> </a:t>
            </a:r>
            <a:r>
              <a:rPr sz="2850" spc="30" baseline="2923" dirty="0">
                <a:latin typeface="Symbol"/>
                <a:cs typeface="Symbol"/>
              </a:rPr>
              <a:t></a:t>
            </a:r>
            <a:r>
              <a:rPr sz="2850" spc="-82" baseline="2923" dirty="0">
                <a:latin typeface="Times New Roman"/>
                <a:cs typeface="Times New Roman"/>
              </a:rPr>
              <a:t> </a:t>
            </a:r>
            <a:r>
              <a:rPr sz="2850" i="1" spc="37" baseline="2923" dirty="0">
                <a:latin typeface="Times New Roman"/>
                <a:cs typeface="Times New Roman"/>
              </a:rPr>
              <a:t>c</a:t>
            </a:r>
            <a:r>
              <a:rPr sz="1100" spc="15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09560" y="4488525"/>
            <a:ext cx="148590" cy="0"/>
          </a:xfrm>
          <a:custGeom>
            <a:avLst/>
            <a:gdLst/>
            <a:ahLst/>
            <a:cxnLst/>
            <a:rect l="l" t="t" r="r" b="b"/>
            <a:pathLst>
              <a:path w="148590">
                <a:moveTo>
                  <a:pt x="0" y="0"/>
                </a:moveTo>
                <a:lnTo>
                  <a:pt x="148547" y="0"/>
                </a:lnTo>
              </a:path>
            </a:pathLst>
          </a:custGeom>
          <a:ln w="10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013500" y="4483511"/>
            <a:ext cx="14859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15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00268" y="4290199"/>
            <a:ext cx="16871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75" spc="-89" baseline="2710" dirty="0">
                <a:latin typeface="Symbol"/>
                <a:cs typeface="Symbol"/>
              </a:rPr>
              <a:t></a:t>
            </a:r>
            <a:r>
              <a:rPr sz="3075" spc="-337" baseline="2710" dirty="0">
                <a:latin typeface="Times New Roman"/>
                <a:cs typeface="Times New Roman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i="1" spc="202" baseline="2923" dirty="0">
                <a:latin typeface="Times New Roman"/>
                <a:cs typeface="Times New Roman"/>
              </a:rPr>
              <a:t>t</a:t>
            </a:r>
            <a:r>
              <a:rPr sz="2850" spc="15" baseline="2923" dirty="0">
                <a:latin typeface="Times New Roman"/>
                <a:cs typeface="Times New Roman"/>
              </a:rPr>
              <a:t>)</a:t>
            </a:r>
            <a:r>
              <a:rPr sz="2850" spc="-52" baseline="2923" dirty="0"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latin typeface="Symbol"/>
                <a:cs typeface="Symbol"/>
              </a:rPr>
              <a:t></a:t>
            </a:r>
            <a:r>
              <a:rPr sz="2850" spc="-359" baseline="2923" dirty="0">
                <a:latin typeface="Times New Roman"/>
                <a:cs typeface="Times New Roman"/>
              </a:rPr>
              <a:t> </a:t>
            </a:r>
            <a:r>
              <a:rPr sz="3075" spc="75" baseline="2710" dirty="0">
                <a:latin typeface="Symbol"/>
                <a:cs typeface="Symbol"/>
              </a:rPr>
              <a:t></a:t>
            </a:r>
            <a:r>
              <a:rPr sz="1100" i="1" spc="5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 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latin typeface="Symbol"/>
                <a:cs typeface="Symbol"/>
              </a:rPr>
              <a:t></a:t>
            </a:r>
            <a:r>
              <a:rPr sz="2850" spc="15" baseline="2923" dirty="0">
                <a:latin typeface="Times New Roman"/>
                <a:cs typeface="Times New Roman"/>
              </a:rPr>
              <a:t> </a:t>
            </a:r>
            <a:r>
              <a:rPr sz="2850" spc="22" baseline="38011" dirty="0">
                <a:latin typeface="Times New Roman"/>
                <a:cs typeface="Times New Roman"/>
              </a:rPr>
              <a:t>1</a:t>
            </a:r>
            <a:r>
              <a:rPr sz="2850" spc="-112" baseline="38011" dirty="0">
                <a:latin typeface="Times New Roman"/>
                <a:cs typeface="Times New Roman"/>
              </a:rPr>
              <a:t> </a:t>
            </a:r>
            <a:r>
              <a:rPr sz="2850" i="1" spc="37" baseline="2923" dirty="0">
                <a:latin typeface="Times New Roman"/>
                <a:cs typeface="Times New Roman"/>
              </a:rPr>
              <a:t>c</a:t>
            </a:r>
            <a:r>
              <a:rPr sz="1100" spc="45" dirty="0">
                <a:latin typeface="Times New Roman"/>
                <a:cs typeface="Times New Roman"/>
              </a:rPr>
              <a:t>2</a:t>
            </a:r>
            <a:r>
              <a:rPr sz="2850" i="1" spc="15" baseline="2923" dirty="0">
                <a:latin typeface="Times New Roman"/>
                <a:cs typeface="Times New Roman"/>
              </a:rPr>
              <a:t>t</a:t>
            </a:r>
            <a:r>
              <a:rPr sz="2850" i="1" spc="-412" baseline="2923" dirty="0">
                <a:latin typeface="Times New Roman"/>
                <a:cs typeface="Times New Roman"/>
              </a:rPr>
              <a:t> </a:t>
            </a:r>
            <a:r>
              <a:rPr sz="1650" spc="15" baseline="47979" dirty="0">
                <a:latin typeface="Times New Roman"/>
                <a:cs typeface="Times New Roman"/>
              </a:rPr>
              <a:t>2</a:t>
            </a:r>
            <a:endParaRPr sz="1650" baseline="47979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85334" y="4809268"/>
            <a:ext cx="9715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2620" y="4681618"/>
            <a:ext cx="98806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spc="-415" dirty="0">
                <a:latin typeface="Symbol"/>
                <a:cs typeface="Symbol"/>
              </a:rPr>
              <a:t></a:t>
            </a:r>
            <a:r>
              <a:rPr sz="2850" spc="-1852" baseline="11695" dirty="0">
                <a:latin typeface="Arial MT"/>
                <a:cs typeface="Arial MT"/>
              </a:rPr>
              <a:t>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spc="130" dirty="0">
                <a:latin typeface="Times New Roman"/>
                <a:cs typeface="Times New Roman"/>
              </a:rPr>
              <a:t>t</a:t>
            </a:r>
            <a:r>
              <a:rPr sz="1900" spc="10" dirty="0">
                <a:latin typeface="Times New Roman"/>
                <a:cs typeface="Times New Roman"/>
              </a:rPr>
              <a:t>)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Symbol"/>
                <a:cs typeface="Symbol"/>
              </a:rPr>
              <a:t>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c</a:t>
            </a:r>
            <a:r>
              <a:rPr sz="1900" i="1" spc="135" dirty="0">
                <a:latin typeface="Times New Roman"/>
                <a:cs typeface="Times New Roman"/>
              </a:rPr>
              <a:t> </a:t>
            </a:r>
            <a:r>
              <a:rPr sz="1900" i="1" spc="5" dirty="0">
                <a:latin typeface="Times New Roman"/>
                <a:cs typeface="Times New Roman"/>
              </a:rPr>
              <a:t>t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94144" y="5061158"/>
            <a:ext cx="922019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75" spc="-989" baseline="2710" dirty="0">
                <a:latin typeface="Symbol"/>
                <a:cs typeface="Symbol"/>
              </a:rPr>
              <a:t></a:t>
            </a:r>
            <a:r>
              <a:rPr sz="2850" b="1" spc="-1889" baseline="14619" dirty="0">
                <a:latin typeface="Arial"/>
                <a:cs typeface="Arial"/>
              </a:rPr>
              <a:t></a:t>
            </a:r>
            <a:r>
              <a:rPr sz="2850" b="1" spc="-352" baseline="14619" dirty="0">
                <a:latin typeface="Arial"/>
                <a:cs typeface="Arial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i="1" spc="195" baseline="2923" dirty="0">
                <a:latin typeface="Times New Roman"/>
                <a:cs typeface="Times New Roman"/>
              </a:rPr>
              <a:t>t</a:t>
            </a:r>
            <a:r>
              <a:rPr sz="2850" spc="15" baseline="2923" dirty="0">
                <a:latin typeface="Times New Roman"/>
                <a:cs typeface="Times New Roman"/>
              </a:rPr>
              <a:t>)</a:t>
            </a:r>
            <a:r>
              <a:rPr sz="2850" spc="-52" baseline="2923" dirty="0"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latin typeface="Symbol"/>
                <a:cs typeface="Symbol"/>
              </a:rPr>
              <a:t></a:t>
            </a:r>
            <a:r>
              <a:rPr sz="2850" spc="-82" baseline="2923" dirty="0">
                <a:latin typeface="Times New Roman"/>
                <a:cs typeface="Times New Roman"/>
              </a:rPr>
              <a:t> </a:t>
            </a:r>
            <a:r>
              <a:rPr sz="2850" i="1" spc="37" baseline="2923" dirty="0">
                <a:latin typeface="Times New Roman"/>
                <a:cs typeface="Times New Roman"/>
              </a:rPr>
              <a:t>c</a:t>
            </a:r>
            <a:r>
              <a:rPr sz="1100" spc="1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87440" y="4703064"/>
            <a:ext cx="466725" cy="238125"/>
            <a:chOff x="6187440" y="4703064"/>
            <a:chExt cx="466725" cy="238125"/>
          </a:xfrm>
        </p:grpSpPr>
        <p:sp>
          <p:nvSpPr>
            <p:cNvPr id="19" name="object 19"/>
            <p:cNvSpPr/>
            <p:nvPr/>
          </p:nvSpPr>
          <p:spPr>
            <a:xfrm>
              <a:off x="6192012" y="4707635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1428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14287" y="171450"/>
                  </a:lnTo>
                  <a:lnTo>
                    <a:pt x="14287" y="57150"/>
                  </a:lnTo>
                  <a:close/>
                </a:path>
                <a:path w="457200" h="228600">
                  <a:moveTo>
                    <a:pt x="57150" y="57150"/>
                  </a:moveTo>
                  <a:lnTo>
                    <a:pt x="28575" y="57150"/>
                  </a:lnTo>
                  <a:lnTo>
                    <a:pt x="28575" y="171450"/>
                  </a:lnTo>
                  <a:lnTo>
                    <a:pt x="57150" y="171450"/>
                  </a:lnTo>
                  <a:lnTo>
                    <a:pt x="57150" y="57150"/>
                  </a:lnTo>
                  <a:close/>
                </a:path>
                <a:path w="457200" h="228600">
                  <a:moveTo>
                    <a:pt x="457187" y="114300"/>
                  </a:moveTo>
                  <a:lnTo>
                    <a:pt x="342887" y="0"/>
                  </a:lnTo>
                  <a:lnTo>
                    <a:pt x="342887" y="57150"/>
                  </a:lnTo>
                  <a:lnTo>
                    <a:pt x="71424" y="57150"/>
                  </a:lnTo>
                  <a:lnTo>
                    <a:pt x="71424" y="171450"/>
                  </a:lnTo>
                  <a:lnTo>
                    <a:pt x="342887" y="171450"/>
                  </a:lnTo>
                  <a:lnTo>
                    <a:pt x="342887" y="228600"/>
                  </a:lnTo>
                  <a:lnTo>
                    <a:pt x="457187" y="114300"/>
                  </a:lnTo>
                  <a:close/>
                </a:path>
              </a:pathLst>
            </a:custGeom>
            <a:solidFill>
              <a:srgbClr val="6F8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63449" y="4707636"/>
              <a:ext cx="386080" cy="228600"/>
            </a:xfrm>
            <a:custGeom>
              <a:avLst/>
              <a:gdLst/>
              <a:ahLst/>
              <a:cxnLst/>
              <a:rect l="l" t="t" r="r" b="b"/>
              <a:pathLst>
                <a:path w="386079" h="228600">
                  <a:moveTo>
                    <a:pt x="271462" y="0"/>
                  </a:moveTo>
                  <a:lnTo>
                    <a:pt x="271462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271462" y="171450"/>
                  </a:lnTo>
                  <a:lnTo>
                    <a:pt x="271462" y="228600"/>
                  </a:lnTo>
                  <a:lnTo>
                    <a:pt x="385762" y="114300"/>
                  </a:lnTo>
                  <a:lnTo>
                    <a:pt x="271462" y="0"/>
                  </a:lnTo>
                  <a:close/>
                </a:path>
              </a:pathLst>
            </a:custGeom>
            <a:ln w="9144">
              <a:solidFill>
                <a:srgbClr val="05D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92012" y="4764786"/>
              <a:ext cx="57150" cy="114300"/>
            </a:xfrm>
            <a:custGeom>
              <a:avLst/>
              <a:gdLst/>
              <a:ahLst/>
              <a:cxnLst/>
              <a:rect l="l" t="t" r="r" b="b"/>
              <a:pathLst>
                <a:path w="57150" h="114300">
                  <a:moveTo>
                    <a:pt x="28575" y="114300"/>
                  </a:moveTo>
                  <a:lnTo>
                    <a:pt x="57150" y="114300"/>
                  </a:lnTo>
                  <a:lnTo>
                    <a:pt x="57150" y="0"/>
                  </a:lnTo>
                  <a:lnTo>
                    <a:pt x="28575" y="0"/>
                  </a:lnTo>
                  <a:lnTo>
                    <a:pt x="28575" y="114300"/>
                  </a:lnTo>
                  <a:close/>
                </a:path>
                <a:path w="57150" h="114300">
                  <a:moveTo>
                    <a:pt x="0" y="114300"/>
                  </a:moveTo>
                  <a:lnTo>
                    <a:pt x="14287" y="114300"/>
                  </a:lnTo>
                  <a:lnTo>
                    <a:pt x="14287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9144">
              <a:solidFill>
                <a:srgbClr val="05D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36052" y="5174996"/>
            <a:ext cx="27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Tahoma"/>
                <a:cs typeface="Tahoma"/>
              </a:rPr>
              <a:t>2nd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16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21826" y="4889245"/>
            <a:ext cx="229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0000"/>
                </a:solidFill>
                <a:latin typeface="Tahoma"/>
                <a:cs typeface="Tahoma"/>
              </a:rPr>
              <a:t>1st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79076" y="4603495"/>
            <a:ext cx="27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Tahoma"/>
                <a:cs typeface="Tahoma"/>
              </a:rPr>
              <a:t>2nd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953" y="1283645"/>
            <a:ext cx="2368222" cy="15299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2952" y="2723565"/>
            <a:ext cx="6669405" cy="6902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225"/>
              </a:spcBef>
              <a:tabLst>
                <a:tab pos="1249680" algn="l"/>
                <a:tab pos="1374775" algn="l"/>
                <a:tab pos="1675130" algn="l"/>
                <a:tab pos="4587875" algn="l"/>
              </a:tabLst>
            </a:pPr>
            <a:r>
              <a:rPr sz="2400" spc="-15" baseline="3472" dirty="0">
                <a:solidFill>
                  <a:srgbClr val="40458C"/>
                </a:solidFill>
                <a:latin typeface="Tahoma"/>
                <a:cs typeface="Tahoma"/>
              </a:rPr>
              <a:t>Initial</a:t>
            </a:r>
            <a:r>
              <a:rPr sz="2400" spc="60" baseline="3472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baseline="3472" dirty="0">
                <a:solidFill>
                  <a:srgbClr val="40458C"/>
                </a:solidFill>
                <a:latin typeface="Tahoma"/>
                <a:cs typeface="Tahoma"/>
              </a:rPr>
              <a:t>velocity		</a:t>
            </a:r>
            <a:r>
              <a:rPr sz="2400" spc="-7" baseline="3472" dirty="0">
                <a:solidFill>
                  <a:srgbClr val="40458C"/>
                </a:solidFill>
                <a:latin typeface="Tahoma"/>
                <a:cs typeface="Tahoma"/>
              </a:rPr>
              <a:t>0,	a</a:t>
            </a:r>
            <a:r>
              <a:rPr sz="2400" spc="30" baseline="3472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baseline="3472" dirty="0">
                <a:solidFill>
                  <a:srgbClr val="40458C"/>
                </a:solidFill>
                <a:latin typeface="Tahoma"/>
                <a:cs typeface="Tahoma"/>
              </a:rPr>
              <a:t>constant</a:t>
            </a:r>
            <a:r>
              <a:rPr sz="2400" spc="52" baseline="3472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baseline="3472" dirty="0">
                <a:solidFill>
                  <a:srgbClr val="40458C"/>
                </a:solidFill>
                <a:latin typeface="Tahoma"/>
                <a:cs typeface="Tahoma"/>
              </a:rPr>
              <a:t>known</a:t>
            </a:r>
            <a:r>
              <a:rPr sz="2400" spc="52" baseline="3472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baseline="3472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2400" spc="52" baseline="3472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baseline="3472" dirty="0">
                <a:solidFill>
                  <a:srgbClr val="40458C"/>
                </a:solidFill>
                <a:latin typeface="Tahoma"/>
                <a:cs typeface="Tahoma"/>
              </a:rPr>
              <a:t>velocity	</a:t>
            </a:r>
            <a:r>
              <a:rPr sz="2050" spc="-65" dirty="0">
                <a:latin typeface="Symbol"/>
                <a:cs typeface="Symbol"/>
              </a:rPr>
              <a:t>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400" spc="-15" baseline="3472" dirty="0">
                <a:solidFill>
                  <a:srgbClr val="40458C"/>
                </a:solidFill>
                <a:latin typeface="Tahoma"/>
                <a:cs typeface="Tahoma"/>
              </a:rPr>
              <a:t>in the linear</a:t>
            </a:r>
            <a:r>
              <a:rPr sz="2400" spc="-7" baseline="3472" dirty="0">
                <a:solidFill>
                  <a:srgbClr val="40458C"/>
                </a:solidFill>
                <a:latin typeface="Tahoma"/>
                <a:cs typeface="Tahoma"/>
              </a:rPr>
              <a:t> portion, </a:t>
            </a:r>
            <a:r>
              <a:rPr sz="2400" spc="-727" baseline="3472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C"/>
                </a:solidFill>
                <a:latin typeface="Tahoma"/>
                <a:cs typeface="Tahoma"/>
              </a:rPr>
              <a:t>final</a:t>
            </a:r>
            <a:r>
              <a:rPr sz="16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C"/>
                </a:solidFill>
                <a:latin typeface="Tahoma"/>
                <a:cs typeface="Tahoma"/>
              </a:rPr>
              <a:t>velocity	</a:t>
            </a:r>
            <a:r>
              <a:rPr sz="1600" spc="-5" dirty="0">
                <a:solidFill>
                  <a:srgbClr val="40458C"/>
                </a:solidFill>
                <a:latin typeface="Tahoma"/>
                <a:cs typeface="Tahoma"/>
              </a:rPr>
              <a:t>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9927" y="939546"/>
            <a:ext cx="573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5.5</a:t>
            </a:r>
            <a:r>
              <a:rPr spc="-10" dirty="0"/>
              <a:t> </a:t>
            </a:r>
            <a:r>
              <a:rPr spc="-25" dirty="0"/>
              <a:t>JOINT-SPACE</a:t>
            </a:r>
            <a:r>
              <a:rPr spc="5" dirty="0"/>
              <a:t> </a:t>
            </a:r>
            <a:r>
              <a:rPr spc="-15" dirty="0"/>
              <a:t>TRAJECTORY</a:t>
            </a:r>
            <a:r>
              <a:rPr spc="-10" dirty="0"/>
              <a:t> PLANNING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33775" y="2162663"/>
            <a:ext cx="9715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1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908" y="1532847"/>
            <a:ext cx="1701800" cy="78549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sz="2000" spc="-35" dirty="0">
                <a:latin typeface="Symbol"/>
                <a:cs typeface="Symbol"/>
              </a:rPr>
              <a:t></a:t>
            </a:r>
            <a:r>
              <a:rPr sz="2000" spc="-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spc="10" dirty="0">
                <a:latin typeface="Times New Roman"/>
                <a:cs typeface="Times New Roman"/>
              </a:rPr>
              <a:t>t</a:t>
            </a:r>
            <a:r>
              <a:rPr sz="1900" i="1" spc="7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0)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</a:t>
            </a:r>
            <a:r>
              <a:rPr sz="1650" i="1" spc="7" baseline="-25252" dirty="0">
                <a:latin typeface="Times New Roman"/>
                <a:cs typeface="Times New Roman"/>
              </a:rPr>
              <a:t>i</a:t>
            </a:r>
            <a:r>
              <a:rPr sz="1650" i="1" baseline="-25252" dirty="0">
                <a:latin typeface="Times New Roman"/>
                <a:cs typeface="Times New Roman"/>
              </a:rPr>
              <a:t> </a:t>
            </a:r>
            <a:r>
              <a:rPr sz="1650" i="1" spc="187" baseline="-25252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c</a:t>
            </a:r>
            <a:r>
              <a:rPr sz="1650" spc="15" baseline="-25252" dirty="0">
                <a:latin typeface="Times New Roman"/>
                <a:cs typeface="Times New Roman"/>
              </a:rPr>
              <a:t>0</a:t>
            </a:r>
            <a:endParaRPr sz="1650" baseline="-25252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2000" spc="-445" dirty="0">
                <a:latin typeface="Symbol"/>
                <a:cs typeface="Symbol"/>
              </a:rPr>
              <a:t></a:t>
            </a:r>
            <a:r>
              <a:rPr sz="2850" spc="-1845" baseline="16081" dirty="0">
                <a:latin typeface="Arial MT"/>
                <a:cs typeface="Arial MT"/>
              </a:rPr>
              <a:t>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spc="10" dirty="0">
                <a:latin typeface="Times New Roman"/>
                <a:cs typeface="Times New Roman"/>
              </a:rPr>
              <a:t>t</a:t>
            </a:r>
            <a:r>
              <a:rPr sz="1900" i="1" spc="7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0)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0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c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8056" y="2407831"/>
            <a:ext cx="923925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75" spc="-982" baseline="2710" dirty="0">
                <a:latin typeface="Symbol"/>
                <a:cs typeface="Symbol"/>
              </a:rPr>
              <a:t></a:t>
            </a:r>
            <a:r>
              <a:rPr sz="2850" b="1" spc="-1882" baseline="14619" dirty="0">
                <a:latin typeface="Arial"/>
                <a:cs typeface="Arial"/>
              </a:rPr>
              <a:t></a:t>
            </a:r>
            <a:r>
              <a:rPr sz="2850" b="1" spc="-352" baseline="14619" dirty="0">
                <a:latin typeface="Arial"/>
                <a:cs typeface="Arial"/>
              </a:rPr>
              <a:t> </a:t>
            </a:r>
            <a:r>
              <a:rPr sz="2850" baseline="2923" dirty="0">
                <a:latin typeface="Times New Roman"/>
                <a:cs typeface="Times New Roman"/>
              </a:rPr>
              <a:t>(</a:t>
            </a:r>
            <a:r>
              <a:rPr sz="2850" i="1" spc="202" baseline="2923" dirty="0">
                <a:latin typeface="Times New Roman"/>
                <a:cs typeface="Times New Roman"/>
              </a:rPr>
              <a:t>t</a:t>
            </a:r>
            <a:r>
              <a:rPr sz="2850" spc="15" baseline="2923" dirty="0">
                <a:latin typeface="Times New Roman"/>
                <a:cs typeface="Times New Roman"/>
              </a:rPr>
              <a:t>)</a:t>
            </a:r>
            <a:r>
              <a:rPr sz="2850" spc="-52" baseline="2923" dirty="0">
                <a:latin typeface="Times New Roman"/>
                <a:cs typeface="Times New Roman"/>
              </a:rPr>
              <a:t> </a:t>
            </a:r>
            <a:r>
              <a:rPr sz="2850" spc="30" baseline="2923" dirty="0">
                <a:latin typeface="Symbol"/>
                <a:cs typeface="Symbol"/>
              </a:rPr>
              <a:t></a:t>
            </a:r>
            <a:r>
              <a:rPr sz="2850" spc="-82" baseline="2923" dirty="0">
                <a:latin typeface="Times New Roman"/>
                <a:cs typeface="Times New Roman"/>
              </a:rPr>
              <a:t> </a:t>
            </a:r>
            <a:r>
              <a:rPr sz="2850" i="1" spc="37" baseline="2923" dirty="0">
                <a:latin typeface="Times New Roman"/>
                <a:cs typeface="Times New Roman"/>
              </a:rPr>
              <a:t>c</a:t>
            </a:r>
            <a:r>
              <a:rPr sz="1100" spc="15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75104" y="2192783"/>
            <a:ext cx="9652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3802" y="1636388"/>
            <a:ext cx="801370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850" spc="52" baseline="2923" dirty="0">
                <a:latin typeface="Symbol"/>
                <a:cs typeface="Symbol"/>
              </a:rPr>
              <a:t></a:t>
            </a:r>
            <a:r>
              <a:rPr sz="1900" i="1" spc="-20" dirty="0">
                <a:latin typeface="Times New Roman"/>
                <a:cs typeface="Times New Roman"/>
              </a:rPr>
              <a:t>c</a:t>
            </a:r>
            <a:r>
              <a:rPr sz="1650" spc="15" baseline="-25252" dirty="0">
                <a:latin typeface="Times New Roman"/>
                <a:cs typeface="Times New Roman"/>
              </a:rPr>
              <a:t>0</a:t>
            </a:r>
            <a:r>
              <a:rPr sz="1650" baseline="-25252" dirty="0">
                <a:latin typeface="Times New Roman"/>
                <a:cs typeface="Times New Roman"/>
              </a:rPr>
              <a:t> </a:t>
            </a:r>
            <a:r>
              <a:rPr sz="1650" spc="135" baseline="-25252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</a:t>
            </a:r>
            <a:r>
              <a:rPr sz="1650" i="1" spc="7" baseline="-25252" dirty="0">
                <a:latin typeface="Times New Roman"/>
                <a:cs typeface="Times New Roman"/>
              </a:rPr>
              <a:t>i</a:t>
            </a:r>
            <a:endParaRPr sz="1650" baseline="-25252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33802" y="2025831"/>
            <a:ext cx="74549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850" spc="37" baseline="35087" dirty="0">
                <a:latin typeface="Symbol"/>
                <a:cs typeface="Symbol"/>
              </a:rPr>
              <a:t></a:t>
            </a:r>
            <a:r>
              <a:rPr sz="1900" i="1" spc="25" dirty="0">
                <a:latin typeface="Times New Roman"/>
                <a:cs typeface="Times New Roman"/>
              </a:rPr>
              <a:t>c</a:t>
            </a:r>
            <a:r>
              <a:rPr sz="1900" i="1" spc="44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9204" y="2068046"/>
            <a:ext cx="14732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15" dirty="0">
                <a:latin typeface="Symbol"/>
                <a:cs typeface="Symbol"/>
              </a:rPr>
              <a:t>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59204" y="2497891"/>
            <a:ext cx="328295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15" dirty="0">
                <a:latin typeface="Symbol"/>
                <a:cs typeface="Symbol"/>
              </a:rPr>
              <a:t></a:t>
            </a:r>
            <a:r>
              <a:rPr sz="1900" spc="29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3804" y="2421241"/>
            <a:ext cx="802005" cy="336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421640" algn="l"/>
              </a:tabLst>
            </a:pPr>
            <a:r>
              <a:rPr sz="2850" spc="52" baseline="30701" dirty="0">
                <a:latin typeface="Symbol"/>
                <a:cs typeface="Symbol"/>
              </a:rPr>
              <a:t></a:t>
            </a:r>
            <a:r>
              <a:rPr sz="1900" i="1" spc="15" dirty="0">
                <a:latin typeface="Times New Roman"/>
                <a:cs typeface="Times New Roman"/>
              </a:rPr>
              <a:t>c</a:t>
            </a:r>
            <a:r>
              <a:rPr sz="1900" i="1" dirty="0">
                <a:latin typeface="Times New Roman"/>
                <a:cs typeface="Times New Roman"/>
              </a:rPr>
              <a:t>	</a:t>
            </a:r>
            <a:r>
              <a:rPr sz="1900" spc="20" dirty="0">
                <a:latin typeface="Symbol"/>
                <a:cs typeface="Symbol"/>
              </a:rPr>
              <a:t>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2000" spc="-660" dirty="0">
                <a:latin typeface="Symbol"/>
                <a:cs typeface="Symbol"/>
              </a:rPr>
              <a:t></a:t>
            </a:r>
            <a:r>
              <a:rPr sz="2850" spc="-2220" baseline="16081" dirty="0">
                <a:latin typeface="Arial MT"/>
                <a:cs typeface="Arial MT"/>
              </a:rPr>
              <a:t></a:t>
            </a:r>
            <a:endParaRPr sz="2850" baseline="16081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37104" y="2026920"/>
            <a:ext cx="466725" cy="238125"/>
            <a:chOff x="2737104" y="2026920"/>
            <a:chExt cx="466725" cy="238125"/>
          </a:xfrm>
        </p:grpSpPr>
        <p:sp>
          <p:nvSpPr>
            <p:cNvPr id="17" name="object 17"/>
            <p:cNvSpPr/>
            <p:nvPr/>
          </p:nvSpPr>
          <p:spPr>
            <a:xfrm>
              <a:off x="2741676" y="2031491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1428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14287" y="171450"/>
                  </a:lnTo>
                  <a:lnTo>
                    <a:pt x="14287" y="57150"/>
                  </a:lnTo>
                  <a:close/>
                </a:path>
                <a:path w="457200" h="228600">
                  <a:moveTo>
                    <a:pt x="57150" y="57150"/>
                  </a:moveTo>
                  <a:lnTo>
                    <a:pt x="28575" y="57150"/>
                  </a:lnTo>
                  <a:lnTo>
                    <a:pt x="28575" y="171450"/>
                  </a:lnTo>
                  <a:lnTo>
                    <a:pt x="57150" y="171450"/>
                  </a:lnTo>
                  <a:lnTo>
                    <a:pt x="57150" y="57150"/>
                  </a:lnTo>
                  <a:close/>
                </a:path>
                <a:path w="457200" h="228600">
                  <a:moveTo>
                    <a:pt x="457200" y="114300"/>
                  </a:moveTo>
                  <a:lnTo>
                    <a:pt x="342900" y="0"/>
                  </a:lnTo>
                  <a:lnTo>
                    <a:pt x="342900" y="57150"/>
                  </a:lnTo>
                  <a:lnTo>
                    <a:pt x="71437" y="57150"/>
                  </a:lnTo>
                  <a:lnTo>
                    <a:pt x="71437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close/>
                </a:path>
              </a:pathLst>
            </a:custGeom>
            <a:solidFill>
              <a:srgbClr val="6F8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13113" y="2031492"/>
              <a:ext cx="386080" cy="228600"/>
            </a:xfrm>
            <a:custGeom>
              <a:avLst/>
              <a:gdLst/>
              <a:ahLst/>
              <a:cxnLst/>
              <a:rect l="l" t="t" r="r" b="b"/>
              <a:pathLst>
                <a:path w="386080" h="228600">
                  <a:moveTo>
                    <a:pt x="271462" y="0"/>
                  </a:moveTo>
                  <a:lnTo>
                    <a:pt x="271462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271462" y="171450"/>
                  </a:lnTo>
                  <a:lnTo>
                    <a:pt x="271462" y="228600"/>
                  </a:lnTo>
                  <a:lnTo>
                    <a:pt x="385762" y="114300"/>
                  </a:lnTo>
                  <a:lnTo>
                    <a:pt x="271462" y="0"/>
                  </a:lnTo>
                  <a:close/>
                </a:path>
              </a:pathLst>
            </a:custGeom>
            <a:ln w="9144">
              <a:solidFill>
                <a:srgbClr val="05D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1676" y="2088642"/>
              <a:ext cx="57150" cy="114300"/>
            </a:xfrm>
            <a:custGeom>
              <a:avLst/>
              <a:gdLst/>
              <a:ahLst/>
              <a:cxnLst/>
              <a:rect l="l" t="t" r="r" b="b"/>
              <a:pathLst>
                <a:path w="57150" h="114300">
                  <a:moveTo>
                    <a:pt x="28575" y="114300"/>
                  </a:moveTo>
                  <a:lnTo>
                    <a:pt x="57150" y="114300"/>
                  </a:lnTo>
                  <a:lnTo>
                    <a:pt x="57150" y="0"/>
                  </a:lnTo>
                  <a:lnTo>
                    <a:pt x="28575" y="0"/>
                  </a:lnTo>
                  <a:lnTo>
                    <a:pt x="28575" y="114300"/>
                  </a:lnTo>
                  <a:close/>
                </a:path>
                <a:path w="57150" h="114300">
                  <a:moveTo>
                    <a:pt x="0" y="114300"/>
                  </a:moveTo>
                  <a:lnTo>
                    <a:pt x="14287" y="114300"/>
                  </a:lnTo>
                  <a:lnTo>
                    <a:pt x="14287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9144">
              <a:solidFill>
                <a:srgbClr val="05D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6342075" y="4493860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115" y="0"/>
                </a:lnTo>
              </a:path>
            </a:pathLst>
          </a:custGeom>
          <a:ln w="10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45452" y="6183377"/>
            <a:ext cx="1064260" cy="0"/>
          </a:xfrm>
          <a:custGeom>
            <a:avLst/>
            <a:gdLst/>
            <a:ahLst/>
            <a:cxnLst/>
            <a:rect l="l" t="t" r="r" b="b"/>
            <a:pathLst>
              <a:path w="1064259">
                <a:moveTo>
                  <a:pt x="0" y="0"/>
                </a:moveTo>
                <a:lnTo>
                  <a:pt x="1064034" y="0"/>
                </a:lnTo>
              </a:path>
            </a:pathLst>
          </a:custGeom>
          <a:ln w="104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00329" y="3466571"/>
            <a:ext cx="863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74795" y="4815316"/>
            <a:ext cx="863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25507" y="5343754"/>
            <a:ext cx="863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39275" y="4190429"/>
            <a:ext cx="13081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42646" y="4487740"/>
            <a:ext cx="13081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dirty="0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33772" y="3969715"/>
            <a:ext cx="596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f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40062" y="3969715"/>
            <a:ext cx="51879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44500" algn="l"/>
              </a:tabLst>
            </a:pPr>
            <a:r>
              <a:rPr sz="950" i="1" dirty="0">
                <a:latin typeface="Times New Roman"/>
                <a:cs typeface="Times New Roman"/>
              </a:rPr>
              <a:t>f	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10931" y="3969715"/>
            <a:ext cx="596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42003" y="4964098"/>
            <a:ext cx="54737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49885" algn="l"/>
              </a:tabLst>
            </a:pPr>
            <a:r>
              <a:rPr sz="950" i="1" dirty="0">
                <a:latin typeface="Times New Roman"/>
                <a:cs typeface="Times New Roman"/>
              </a:rPr>
              <a:t>i	</a:t>
            </a:r>
            <a:r>
              <a:rPr sz="950" dirty="0">
                <a:latin typeface="Times New Roman"/>
                <a:cs typeface="Times New Roman"/>
              </a:rPr>
              <a:t>2</a:t>
            </a:r>
            <a:r>
              <a:rPr sz="950" spc="17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46091" y="4964098"/>
            <a:ext cx="596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f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77955" y="4964098"/>
            <a:ext cx="863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42003" y="5492535"/>
            <a:ext cx="596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53722" y="5492535"/>
            <a:ext cx="863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96864" y="5492535"/>
            <a:ext cx="596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f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28728" y="5492535"/>
            <a:ext cx="863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83239" y="3487919"/>
            <a:ext cx="196215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650" i="1" dirty="0">
                <a:latin typeface="Times New Roman"/>
                <a:cs typeface="Times New Roman"/>
              </a:rPr>
              <a:t>t</a:t>
            </a:r>
            <a:r>
              <a:rPr sz="1425" i="1" baseline="-26315" dirty="0">
                <a:latin typeface="Times New Roman"/>
                <a:cs typeface="Times New Roman"/>
              </a:rPr>
              <a:t>b</a:t>
            </a:r>
            <a:endParaRPr sz="1425" baseline="-26315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07205" y="5513891"/>
            <a:ext cx="84455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i="1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97638" y="5205136"/>
            <a:ext cx="170180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u="sng" spc="-6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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283291" y="3311955"/>
            <a:ext cx="611505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59715" algn="l"/>
              </a:tabLst>
            </a:pPr>
            <a:r>
              <a:rPr sz="1650" i="1" dirty="0">
                <a:latin typeface="Times New Roman"/>
                <a:cs typeface="Times New Roman"/>
              </a:rPr>
              <a:t>c	</a:t>
            </a:r>
            <a:r>
              <a:rPr sz="1650" spc="5" dirty="0">
                <a:latin typeface="Symbol"/>
                <a:cs typeface="Symbol"/>
              </a:rPr>
              <a:t>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2625" u="sng" spc="-97" baseline="33333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</a:t>
            </a:r>
            <a:endParaRPr sz="2625" baseline="33333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54068" y="3761186"/>
            <a:ext cx="3502660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325120" algn="l"/>
                <a:tab pos="2717800" algn="l"/>
              </a:tabLst>
            </a:pPr>
            <a:r>
              <a:rPr sz="1750" spc="-50" dirty="0">
                <a:latin typeface="Symbol"/>
                <a:cs typeface="Symbol"/>
              </a:rPr>
              <a:t></a:t>
            </a:r>
            <a:r>
              <a:rPr sz="1750" spc="-50" dirty="0">
                <a:latin typeface="Times New Roman"/>
                <a:cs typeface="Times New Roman"/>
              </a:rPr>
              <a:t>	</a:t>
            </a:r>
            <a:r>
              <a:rPr sz="1650" spc="5" dirty="0">
                <a:latin typeface="Symbol"/>
                <a:cs typeface="Symbol"/>
              </a:rPr>
              <a:t></a:t>
            </a:r>
            <a:r>
              <a:rPr sz="1650" spc="-185" dirty="0">
                <a:latin typeface="Times New Roman"/>
                <a:cs typeface="Times New Roman"/>
              </a:rPr>
              <a:t> </a:t>
            </a:r>
            <a:r>
              <a:rPr sz="1750" spc="45" dirty="0">
                <a:latin typeface="Symbol"/>
                <a:cs typeface="Symbol"/>
              </a:rPr>
              <a:t></a:t>
            </a:r>
            <a:r>
              <a:rPr sz="1425" i="1" spc="7" baseline="-26315" dirty="0">
                <a:latin typeface="Times New Roman"/>
                <a:cs typeface="Times New Roman"/>
              </a:rPr>
              <a:t>B</a:t>
            </a:r>
            <a:r>
              <a:rPr sz="1425" i="1" baseline="-26315" dirty="0">
                <a:latin typeface="Times New Roman"/>
                <a:cs typeface="Times New Roman"/>
              </a:rPr>
              <a:t> </a:t>
            </a:r>
            <a:r>
              <a:rPr sz="1425" i="1" spc="-7" baseline="-26315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</a:t>
            </a:r>
            <a:r>
              <a:rPr sz="1650" spc="-160" dirty="0">
                <a:latin typeface="Times New Roman"/>
                <a:cs typeface="Times New Roman"/>
              </a:rPr>
              <a:t> </a:t>
            </a:r>
            <a:r>
              <a:rPr sz="3225" spc="-284" baseline="-2583" dirty="0">
                <a:latin typeface="Symbol"/>
                <a:cs typeface="Symbol"/>
              </a:rPr>
              <a:t></a:t>
            </a:r>
            <a:r>
              <a:rPr sz="1750" spc="90" dirty="0">
                <a:latin typeface="Symbol"/>
                <a:cs typeface="Symbol"/>
              </a:rPr>
              <a:t></a:t>
            </a:r>
            <a:r>
              <a:rPr sz="1425" i="1" spc="7" baseline="-26315" dirty="0">
                <a:latin typeface="Times New Roman"/>
                <a:cs typeface="Times New Roman"/>
              </a:rPr>
              <a:t>A</a:t>
            </a:r>
            <a:r>
              <a:rPr sz="1425" i="1" baseline="-26315" dirty="0">
                <a:latin typeface="Times New Roman"/>
                <a:cs typeface="Times New Roman"/>
              </a:rPr>
              <a:t> </a:t>
            </a:r>
            <a:r>
              <a:rPr sz="1425" i="1" spc="-75" baseline="-26315" dirty="0">
                <a:latin typeface="Times New Roman"/>
                <a:cs typeface="Times New Roman"/>
              </a:rPr>
              <a:t> </a:t>
            </a:r>
            <a:r>
              <a:rPr sz="1650" spc="130" dirty="0">
                <a:latin typeface="Symbol"/>
                <a:cs typeface="Symbol"/>
              </a:rPr>
              <a:t></a:t>
            </a:r>
            <a:r>
              <a:rPr sz="1750" spc="-10" dirty="0">
                <a:latin typeface="Symbol"/>
                <a:cs typeface="Symbol"/>
              </a:rPr>
              <a:t></a:t>
            </a:r>
            <a:r>
              <a:rPr sz="1425" i="1" baseline="-26315" dirty="0">
                <a:latin typeface="Times New Roman"/>
                <a:cs typeface="Times New Roman"/>
              </a:rPr>
              <a:t>i</a:t>
            </a:r>
            <a:r>
              <a:rPr sz="1425" i="1" spc="97" baseline="-26315" dirty="0">
                <a:latin typeface="Times New Roman"/>
                <a:cs typeface="Times New Roman"/>
              </a:rPr>
              <a:t> </a:t>
            </a:r>
            <a:r>
              <a:rPr sz="3225" spc="-262" baseline="-2583" dirty="0">
                <a:latin typeface="Symbol"/>
                <a:cs typeface="Symbol"/>
              </a:rPr>
              <a:t></a:t>
            </a:r>
            <a:r>
              <a:rPr sz="3225" spc="-262" baseline="-2583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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130" dirty="0">
                <a:latin typeface="Times New Roman"/>
                <a:cs typeface="Times New Roman"/>
              </a:rPr>
              <a:t>2</a:t>
            </a:r>
            <a:r>
              <a:rPr sz="1750" spc="90" dirty="0">
                <a:latin typeface="Symbol"/>
                <a:cs typeface="Symbol"/>
              </a:rPr>
              <a:t></a:t>
            </a:r>
            <a:r>
              <a:rPr sz="1425" i="1" spc="7" baseline="-26315" dirty="0">
                <a:latin typeface="Times New Roman"/>
                <a:cs typeface="Times New Roman"/>
              </a:rPr>
              <a:t>A</a:t>
            </a:r>
            <a:r>
              <a:rPr sz="1425" i="1" baseline="-26315" dirty="0">
                <a:latin typeface="Times New Roman"/>
                <a:cs typeface="Times New Roman"/>
              </a:rPr>
              <a:t> </a:t>
            </a:r>
            <a:r>
              <a:rPr sz="1425" i="1" spc="-75" baseline="-26315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</a:t>
            </a:r>
            <a:r>
              <a:rPr sz="1650" spc="-210" dirty="0">
                <a:latin typeface="Times New Roman"/>
                <a:cs typeface="Times New Roman"/>
              </a:rPr>
              <a:t> </a:t>
            </a:r>
            <a:r>
              <a:rPr sz="1750" spc="40" dirty="0">
                <a:latin typeface="Symbol"/>
                <a:cs typeface="Symbol"/>
              </a:rPr>
              <a:t></a:t>
            </a:r>
            <a:r>
              <a:rPr sz="1650" spc="-10" dirty="0">
                <a:latin typeface="Times New Roman"/>
                <a:cs typeface="Times New Roman"/>
              </a:rPr>
              <a:t>(</a:t>
            </a:r>
            <a:r>
              <a:rPr sz="1650" i="1" dirty="0">
                <a:latin typeface="Times New Roman"/>
                <a:cs typeface="Times New Roman"/>
              </a:rPr>
              <a:t>t	</a:t>
            </a:r>
            <a:r>
              <a:rPr sz="1650" spc="5" dirty="0">
                <a:latin typeface="Symbol"/>
                <a:cs typeface="Symbol"/>
              </a:rPr>
              <a:t></a:t>
            </a:r>
            <a:r>
              <a:rPr sz="1650" spc="-13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2</a:t>
            </a:r>
            <a:r>
              <a:rPr sz="1650" i="1" dirty="0">
                <a:latin typeface="Times New Roman"/>
                <a:cs typeface="Times New Roman"/>
              </a:rPr>
              <a:t>t </a:t>
            </a:r>
            <a:r>
              <a:rPr sz="1650" i="1" spc="-1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)</a:t>
            </a:r>
            <a:r>
              <a:rPr sz="1650" spc="-140" dirty="0">
                <a:latin typeface="Times New Roman"/>
                <a:cs typeface="Times New Roman"/>
              </a:rPr>
              <a:t> </a:t>
            </a:r>
            <a:r>
              <a:rPr sz="1650" spc="130" dirty="0">
                <a:latin typeface="Symbol"/>
                <a:cs typeface="Symbol"/>
              </a:rPr>
              <a:t></a:t>
            </a:r>
            <a:r>
              <a:rPr sz="1750" spc="-50" dirty="0">
                <a:latin typeface="Symbol"/>
                <a:cs typeface="Symbol"/>
              </a:rPr>
              <a:t>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846276" y="4206858"/>
            <a:ext cx="1177925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940435" algn="l"/>
              </a:tabLst>
            </a:pPr>
            <a:r>
              <a:rPr sz="1650" dirty="0">
                <a:latin typeface="Symbol"/>
                <a:cs typeface="Symbol"/>
              </a:rPr>
              <a:t>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425" baseline="-8771" dirty="0">
                <a:latin typeface="Times New Roman"/>
                <a:cs typeface="Times New Roman"/>
              </a:rPr>
              <a:t>2</a:t>
            </a:r>
            <a:r>
              <a:rPr sz="1425" spc="97" baseline="-877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Symbol"/>
                <a:cs typeface="Symbol"/>
              </a:rPr>
              <a:t>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56534" y="4311771"/>
            <a:ext cx="2847975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42975" algn="l"/>
              </a:tabLst>
            </a:pPr>
            <a:r>
              <a:rPr sz="1650" spc="5" dirty="0">
                <a:latin typeface="Symbol"/>
                <a:cs typeface="Symbol"/>
              </a:rPr>
              <a:t>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2</a:t>
            </a:r>
            <a:r>
              <a:rPr sz="1650" spc="-260" dirty="0">
                <a:latin typeface="Times New Roman"/>
                <a:cs typeface="Times New Roman"/>
              </a:rPr>
              <a:t> </a:t>
            </a:r>
            <a:r>
              <a:rPr sz="2475" spc="104" baseline="-15151" dirty="0">
                <a:latin typeface="Symbol"/>
                <a:cs typeface="Symbol"/>
              </a:rPr>
              <a:t></a:t>
            </a:r>
            <a:r>
              <a:rPr sz="1750" spc="-10" dirty="0">
                <a:latin typeface="Symbol"/>
                <a:cs typeface="Symbol"/>
              </a:rPr>
              <a:t></a:t>
            </a:r>
            <a:r>
              <a:rPr sz="1425" i="1" baseline="-26315" dirty="0">
                <a:latin typeface="Times New Roman"/>
                <a:cs typeface="Times New Roman"/>
              </a:rPr>
              <a:t>i  </a:t>
            </a:r>
            <a:r>
              <a:rPr sz="1650" spc="5" dirty="0">
                <a:latin typeface="Symbol"/>
                <a:cs typeface="Symbol"/>
              </a:rPr>
              <a:t>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i="1" spc="-15" dirty="0">
                <a:latin typeface="Times New Roman"/>
                <a:cs typeface="Times New Roman"/>
              </a:rPr>
              <a:t>c</a:t>
            </a:r>
            <a:r>
              <a:rPr sz="1425" spc="37" baseline="-26315" dirty="0">
                <a:latin typeface="Times New Roman"/>
                <a:cs typeface="Times New Roman"/>
              </a:rPr>
              <a:t>2</a:t>
            </a:r>
            <a:r>
              <a:rPr sz="1650" i="1" dirty="0">
                <a:latin typeface="Times New Roman"/>
                <a:cs typeface="Times New Roman"/>
              </a:rPr>
              <a:t>t</a:t>
            </a:r>
            <a:r>
              <a:rPr sz="1425" i="1" baseline="-26315" dirty="0">
                <a:latin typeface="Times New Roman"/>
                <a:cs typeface="Times New Roman"/>
              </a:rPr>
              <a:t>b   </a:t>
            </a:r>
            <a:r>
              <a:rPr sz="1425" i="1" spc="-52" baseline="-26315" dirty="0">
                <a:latin typeface="Times New Roman"/>
                <a:cs typeface="Times New Roman"/>
              </a:rPr>
              <a:t> </a:t>
            </a:r>
            <a:r>
              <a:rPr sz="2475" baseline="-15151" dirty="0">
                <a:latin typeface="Symbol"/>
                <a:cs typeface="Symbol"/>
              </a:rPr>
              <a:t></a:t>
            </a:r>
            <a:r>
              <a:rPr sz="2475" spc="-217" baseline="-15151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</a:t>
            </a:r>
            <a:r>
              <a:rPr sz="1650" spc="-210" dirty="0">
                <a:latin typeface="Times New Roman"/>
                <a:cs typeface="Times New Roman"/>
              </a:rPr>
              <a:t> </a:t>
            </a:r>
            <a:r>
              <a:rPr sz="1750" spc="40" dirty="0">
                <a:latin typeface="Symbol"/>
                <a:cs typeface="Symbol"/>
              </a:rPr>
              <a:t></a:t>
            </a:r>
            <a:r>
              <a:rPr sz="1650" spc="-15" dirty="0">
                <a:latin typeface="Times New Roman"/>
                <a:cs typeface="Times New Roman"/>
              </a:rPr>
              <a:t>(</a:t>
            </a:r>
            <a:r>
              <a:rPr sz="1650" i="1" dirty="0">
                <a:latin typeface="Times New Roman"/>
                <a:cs typeface="Times New Roman"/>
              </a:rPr>
              <a:t>t</a:t>
            </a:r>
            <a:r>
              <a:rPr sz="1650" i="1" spc="-204" dirty="0">
                <a:latin typeface="Times New Roman"/>
                <a:cs typeface="Times New Roman"/>
              </a:rPr>
              <a:t> </a:t>
            </a:r>
            <a:r>
              <a:rPr sz="1425" i="1" baseline="-26315" dirty="0">
                <a:latin typeface="Times New Roman"/>
                <a:cs typeface="Times New Roman"/>
              </a:rPr>
              <a:t>f  </a:t>
            </a:r>
            <a:r>
              <a:rPr sz="1425" i="1" spc="-60" baseline="-26315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</a:t>
            </a:r>
            <a:r>
              <a:rPr sz="1650" spc="-13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2</a:t>
            </a:r>
            <a:r>
              <a:rPr sz="1650" i="1" dirty="0">
                <a:latin typeface="Times New Roman"/>
                <a:cs typeface="Times New Roman"/>
              </a:rPr>
              <a:t>t</a:t>
            </a:r>
            <a:r>
              <a:rPr sz="1425" i="1" baseline="-26315" dirty="0">
                <a:latin typeface="Times New Roman"/>
                <a:cs typeface="Times New Roman"/>
              </a:rPr>
              <a:t>b</a:t>
            </a:r>
            <a:r>
              <a:rPr sz="1425" i="1" spc="-52" baseline="-263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)</a:t>
            </a:r>
            <a:r>
              <a:rPr sz="1650" spc="-140" dirty="0">
                <a:latin typeface="Times New Roman"/>
                <a:cs typeface="Times New Roman"/>
              </a:rPr>
              <a:t> </a:t>
            </a:r>
            <a:r>
              <a:rPr sz="1650" spc="130" dirty="0">
                <a:latin typeface="Symbol"/>
                <a:cs typeface="Symbol"/>
              </a:rPr>
              <a:t></a:t>
            </a:r>
            <a:r>
              <a:rPr sz="1750" spc="-10" dirty="0">
                <a:latin typeface="Symbol"/>
                <a:cs typeface="Symbol"/>
              </a:rPr>
              <a:t></a:t>
            </a:r>
            <a:r>
              <a:rPr sz="1425" i="1" baseline="-26315" dirty="0">
                <a:latin typeface="Times New Roman"/>
                <a:cs typeface="Times New Roman"/>
              </a:rPr>
              <a:t>i</a:t>
            </a:r>
            <a:endParaRPr sz="1425" baseline="-26315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871676" y="4511966"/>
            <a:ext cx="10668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dirty="0">
                <a:latin typeface="Symbol"/>
                <a:cs typeface="Symbol"/>
              </a:rPr>
              <a:t>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79809" y="4511966"/>
            <a:ext cx="10668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dirty="0">
                <a:latin typeface="Symbol"/>
                <a:cs typeface="Symbol"/>
              </a:rPr>
              <a:t>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81934" y="4809467"/>
            <a:ext cx="1363345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2655" algn="l"/>
              </a:tabLst>
            </a:pPr>
            <a:r>
              <a:rPr sz="1650" spc="5" dirty="0">
                <a:latin typeface="Symbol"/>
                <a:cs typeface="Symbol"/>
              </a:rPr>
              <a:t></a:t>
            </a:r>
            <a:r>
              <a:rPr sz="1650" spc="-185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Symbol"/>
                <a:cs typeface="Symbol"/>
              </a:rPr>
              <a:t>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</a:t>
            </a:r>
            <a:r>
              <a:rPr sz="1650" spc="-135" dirty="0">
                <a:latin typeface="Times New Roman"/>
                <a:cs typeface="Times New Roman"/>
              </a:rPr>
              <a:t> </a:t>
            </a:r>
            <a:r>
              <a:rPr sz="1650" i="1" spc="80" dirty="0">
                <a:latin typeface="Times New Roman"/>
                <a:cs typeface="Times New Roman"/>
              </a:rPr>
              <a:t>c</a:t>
            </a:r>
            <a:r>
              <a:rPr sz="1650" i="1" dirty="0">
                <a:latin typeface="Times New Roman"/>
                <a:cs typeface="Times New Roman"/>
              </a:rPr>
              <a:t> t	</a:t>
            </a:r>
            <a:r>
              <a:rPr sz="1650" spc="5" dirty="0">
                <a:latin typeface="Symbol"/>
                <a:cs typeface="Symbol"/>
              </a:rPr>
              <a:t></a:t>
            </a:r>
            <a:r>
              <a:rPr sz="1650" spc="-210" dirty="0">
                <a:latin typeface="Times New Roman"/>
                <a:cs typeface="Times New Roman"/>
              </a:rPr>
              <a:t> </a:t>
            </a:r>
            <a:r>
              <a:rPr sz="1750" spc="40" dirty="0">
                <a:latin typeface="Symbol"/>
                <a:cs typeface="Symbol"/>
              </a:rPr>
              <a:t></a:t>
            </a:r>
            <a:r>
              <a:rPr sz="1650" spc="-15" dirty="0">
                <a:latin typeface="Times New Roman"/>
                <a:cs typeface="Times New Roman"/>
              </a:rPr>
              <a:t>(</a:t>
            </a:r>
            <a:r>
              <a:rPr sz="1650" i="1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65804" y="4820866"/>
            <a:ext cx="494665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spc="5" dirty="0">
                <a:latin typeface="Symbol"/>
                <a:cs typeface="Symbol"/>
              </a:rPr>
              <a:t></a:t>
            </a:r>
            <a:r>
              <a:rPr sz="1650" spc="-13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2</a:t>
            </a:r>
            <a:r>
              <a:rPr sz="1650" i="1" dirty="0">
                <a:latin typeface="Times New Roman"/>
                <a:cs typeface="Times New Roman"/>
              </a:rPr>
              <a:t>t </a:t>
            </a:r>
            <a:r>
              <a:rPr sz="1650" i="1" spc="-1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84504" y="5201196"/>
            <a:ext cx="10668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dirty="0">
                <a:latin typeface="Symbol"/>
                <a:cs typeface="Symbol"/>
              </a:rPr>
              <a:t>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92894" y="5201196"/>
            <a:ext cx="10668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dirty="0">
                <a:latin typeface="Symbol"/>
                <a:cs typeface="Symbol"/>
              </a:rPr>
              <a:t>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81934" y="5337926"/>
            <a:ext cx="495934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5" dirty="0">
                <a:latin typeface="Symbol"/>
                <a:cs typeface="Symbol"/>
              </a:rPr>
              <a:t></a:t>
            </a:r>
            <a:r>
              <a:rPr sz="1650" spc="-185" dirty="0">
                <a:latin typeface="Times New Roman"/>
                <a:cs typeface="Times New Roman"/>
              </a:rPr>
              <a:t> </a:t>
            </a:r>
            <a:r>
              <a:rPr sz="1750" spc="-50" dirty="0">
                <a:latin typeface="Symbol"/>
                <a:cs typeface="Symbol"/>
              </a:rPr>
              <a:t>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94839" y="5337928"/>
            <a:ext cx="701040" cy="29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0350" algn="l"/>
              </a:tabLst>
            </a:pPr>
            <a:r>
              <a:rPr sz="1650" i="1" dirty="0">
                <a:latin typeface="Times New Roman"/>
                <a:cs typeface="Times New Roman"/>
              </a:rPr>
              <a:t>t	</a:t>
            </a:r>
            <a:r>
              <a:rPr sz="1650" spc="5" dirty="0">
                <a:latin typeface="Symbol"/>
                <a:cs typeface="Symbol"/>
              </a:rPr>
              <a:t></a:t>
            </a:r>
            <a:r>
              <a:rPr sz="1650" spc="-210" dirty="0">
                <a:latin typeface="Times New Roman"/>
                <a:cs typeface="Times New Roman"/>
              </a:rPr>
              <a:t> </a:t>
            </a:r>
            <a:r>
              <a:rPr sz="1750" spc="40" dirty="0">
                <a:latin typeface="Symbol"/>
                <a:cs typeface="Symbol"/>
              </a:rPr>
              <a:t></a:t>
            </a:r>
            <a:r>
              <a:rPr sz="1650" spc="-15" dirty="0">
                <a:latin typeface="Times New Roman"/>
                <a:cs typeface="Times New Roman"/>
              </a:rPr>
              <a:t>(</a:t>
            </a:r>
            <a:r>
              <a:rPr sz="1650" i="1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16547" y="5349325"/>
            <a:ext cx="494665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spc="5" dirty="0">
                <a:latin typeface="Symbol"/>
                <a:cs typeface="Symbol"/>
              </a:rPr>
              <a:t></a:t>
            </a:r>
            <a:r>
              <a:rPr sz="1650" spc="-13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2</a:t>
            </a:r>
            <a:r>
              <a:rPr sz="1650" i="1" dirty="0">
                <a:latin typeface="Times New Roman"/>
                <a:cs typeface="Times New Roman"/>
              </a:rPr>
              <a:t>t </a:t>
            </a:r>
            <a:r>
              <a:rPr sz="1650" i="1" spc="-1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84504" y="5394417"/>
            <a:ext cx="41529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0675" algn="l"/>
              </a:tabLst>
            </a:pPr>
            <a:r>
              <a:rPr sz="1650" dirty="0">
                <a:latin typeface="Symbol"/>
                <a:cs typeface="Symbol"/>
              </a:rPr>
              <a:t>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dirty="0">
                <a:latin typeface="Symbol"/>
                <a:cs typeface="Symbol"/>
              </a:rPr>
              <a:t>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084504" y="5569938"/>
            <a:ext cx="41529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dirty="0">
                <a:latin typeface="Symbol"/>
                <a:cs typeface="Symbol"/>
              </a:rPr>
              <a:t></a:t>
            </a:r>
            <a:r>
              <a:rPr sz="1650" spc="32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b</a:t>
            </a:r>
            <a:r>
              <a:rPr sz="950" i="1" spc="2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Symbol"/>
                <a:cs typeface="Symbol"/>
              </a:rPr>
              <a:t>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00738" y="5783938"/>
            <a:ext cx="1087755" cy="6743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750" spc="-10" dirty="0">
                <a:latin typeface="Symbol"/>
                <a:cs typeface="Symbol"/>
              </a:rPr>
              <a:t></a:t>
            </a:r>
            <a:r>
              <a:rPr sz="1425" i="1" baseline="-26315" dirty="0">
                <a:latin typeface="Times New Roman"/>
                <a:cs typeface="Times New Roman"/>
              </a:rPr>
              <a:t>i  </a:t>
            </a:r>
            <a:r>
              <a:rPr sz="1650" spc="130" dirty="0">
                <a:latin typeface="Symbol"/>
                <a:cs typeface="Symbol"/>
              </a:rPr>
              <a:t></a:t>
            </a:r>
            <a:r>
              <a:rPr sz="1750" spc="-50" dirty="0">
                <a:latin typeface="Symbol"/>
                <a:cs typeface="Symbol"/>
              </a:rPr>
              <a:t></a:t>
            </a:r>
            <a:r>
              <a:rPr sz="1750" spc="-190" dirty="0">
                <a:latin typeface="Times New Roman"/>
                <a:cs typeface="Times New Roman"/>
              </a:rPr>
              <a:t> </a:t>
            </a:r>
            <a:r>
              <a:rPr sz="1425" i="1" baseline="-26315" dirty="0">
                <a:latin typeface="Times New Roman"/>
                <a:cs typeface="Times New Roman"/>
              </a:rPr>
              <a:t>f  </a:t>
            </a:r>
            <a:r>
              <a:rPr sz="1425" i="1" spc="-60" baseline="-26315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</a:t>
            </a:r>
            <a:r>
              <a:rPr sz="1650" spc="-210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Symbol"/>
                <a:cs typeface="Symbol"/>
              </a:rPr>
              <a:t></a:t>
            </a:r>
            <a:r>
              <a:rPr sz="1650" i="1" dirty="0">
                <a:latin typeface="Times New Roman"/>
                <a:cs typeface="Times New Roman"/>
              </a:rPr>
              <a:t>t</a:t>
            </a:r>
            <a:r>
              <a:rPr sz="1650" i="1" spc="-204" dirty="0">
                <a:latin typeface="Times New Roman"/>
                <a:cs typeface="Times New Roman"/>
              </a:rPr>
              <a:t> </a:t>
            </a:r>
            <a:r>
              <a:rPr sz="1425" i="1" baseline="-26315" dirty="0">
                <a:latin typeface="Times New Roman"/>
                <a:cs typeface="Times New Roman"/>
              </a:rPr>
              <a:t>f</a:t>
            </a:r>
            <a:endParaRPr sz="1425" baseline="-26315">
              <a:latin typeface="Times New Roman"/>
              <a:cs typeface="Times New Roman"/>
            </a:endParaRPr>
          </a:p>
          <a:p>
            <a:pPr marL="45085" algn="ctr">
              <a:lnSpc>
                <a:spcPct val="100000"/>
              </a:lnSpc>
              <a:spcBef>
                <a:spcPts val="455"/>
              </a:spcBef>
            </a:pPr>
            <a:r>
              <a:rPr sz="1750" spc="-65" dirty="0">
                <a:latin typeface="Symbol"/>
                <a:cs typeface="Symbol"/>
              </a:rPr>
              <a:t>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253518" y="6012850"/>
            <a:ext cx="577850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650" spc="35" dirty="0">
                <a:latin typeface="Symbol"/>
                <a:cs typeface="Symbol"/>
              </a:rPr>
              <a:t></a:t>
            </a:r>
            <a:r>
              <a:rPr sz="1650" i="1" spc="35" dirty="0">
                <a:latin typeface="Times New Roman"/>
                <a:cs typeface="Times New Roman"/>
              </a:rPr>
              <a:t>t</a:t>
            </a:r>
            <a:r>
              <a:rPr sz="1425" i="1" spc="52" baseline="-26315" dirty="0">
                <a:latin typeface="Times New Roman"/>
                <a:cs typeface="Times New Roman"/>
              </a:rPr>
              <a:t>b</a:t>
            </a:r>
            <a:r>
              <a:rPr sz="1425" i="1" spc="397" baseline="-26315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695659" y="3766440"/>
            <a:ext cx="147955" cy="0"/>
          </a:xfrm>
          <a:custGeom>
            <a:avLst/>
            <a:gdLst/>
            <a:ahLst/>
            <a:cxnLst/>
            <a:rect l="l" t="t" r="r" b="b"/>
            <a:pathLst>
              <a:path w="147955">
                <a:moveTo>
                  <a:pt x="0" y="0"/>
                </a:moveTo>
                <a:lnTo>
                  <a:pt x="147732" y="0"/>
                </a:lnTo>
              </a:path>
            </a:pathLst>
          </a:custGeom>
          <a:ln w="125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2208448" y="3557341"/>
            <a:ext cx="9779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94623" y="3404438"/>
            <a:ext cx="14986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2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98604" y="3761536"/>
            <a:ext cx="14986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2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09955" y="3735948"/>
            <a:ext cx="131127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045" algn="l"/>
                <a:tab pos="1080135" algn="l"/>
              </a:tabLst>
            </a:pPr>
            <a:r>
              <a:rPr sz="1150" i="1" spc="-15" dirty="0">
                <a:latin typeface="Times New Roman"/>
                <a:cs typeface="Times New Roman"/>
              </a:rPr>
              <a:t>A	</a:t>
            </a:r>
            <a:r>
              <a:rPr sz="1150" i="1" spc="-5" dirty="0">
                <a:latin typeface="Times New Roman"/>
                <a:cs typeface="Times New Roman"/>
              </a:rPr>
              <a:t>i	</a:t>
            </a:r>
            <a:r>
              <a:rPr sz="1150" spc="-10" dirty="0">
                <a:latin typeface="Times New Roman"/>
                <a:cs typeface="Times New Roman"/>
              </a:rPr>
              <a:t>2</a:t>
            </a:r>
            <a:r>
              <a:rPr sz="1150" spc="210" dirty="0">
                <a:latin typeface="Times New Roman"/>
                <a:cs typeface="Times New Roman"/>
              </a:rPr>
              <a:t> </a:t>
            </a:r>
            <a:r>
              <a:rPr sz="1150" i="1" spc="-10" dirty="0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8982" y="3550689"/>
            <a:ext cx="139001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0835" algn="l"/>
                <a:tab pos="1122680" algn="l"/>
              </a:tabLst>
            </a:pPr>
            <a:r>
              <a:rPr sz="2100" spc="-75" dirty="0">
                <a:latin typeface="Symbol"/>
                <a:cs typeface="Symbol"/>
              </a:rPr>
              <a:t></a:t>
            </a:r>
            <a:r>
              <a:rPr sz="2100" spc="-75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Symbol"/>
                <a:cs typeface="Symbol"/>
              </a:rPr>
              <a:t></a:t>
            </a:r>
            <a:r>
              <a:rPr sz="2000" spc="-229" dirty="0">
                <a:latin typeface="Times New Roman"/>
                <a:cs typeface="Times New Roman"/>
              </a:rPr>
              <a:t> </a:t>
            </a:r>
            <a:r>
              <a:rPr sz="2100" spc="-75" dirty="0">
                <a:latin typeface="Symbol"/>
                <a:cs typeface="Symbol"/>
              </a:rPr>
              <a:t></a:t>
            </a:r>
            <a:r>
              <a:rPr sz="2100" spc="4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Symbol"/>
                <a:cs typeface="Symbol"/>
              </a:rPr>
              <a:t></a:t>
            </a:r>
            <a:r>
              <a:rPr sz="2000" spc="-25" dirty="0">
                <a:latin typeface="Times New Roman"/>
                <a:cs typeface="Times New Roman"/>
              </a:rPr>
              <a:t>	</a:t>
            </a:r>
            <a:r>
              <a:rPr sz="2000" i="1" spc="-20" dirty="0">
                <a:latin typeface="Times New Roman"/>
                <a:cs typeface="Times New Roman"/>
              </a:rPr>
              <a:t>c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15" dirty="0"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23530" y="4143037"/>
            <a:ext cx="120650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i="1" spc="-15" dirty="0">
                <a:latin typeface="Times New Roman"/>
                <a:cs typeface="Times New Roman"/>
              </a:rPr>
              <a:t>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28384" y="4143037"/>
            <a:ext cx="261620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5" dirty="0">
                <a:latin typeface="Times New Roman"/>
                <a:cs typeface="Times New Roman"/>
              </a:rPr>
              <a:t>2</a:t>
            </a:r>
            <a:r>
              <a:rPr sz="1250" spc="229" dirty="0">
                <a:latin typeface="Times New Roman"/>
                <a:cs typeface="Times New Roman"/>
              </a:rPr>
              <a:t> </a:t>
            </a:r>
            <a:r>
              <a:rPr sz="1250" i="1" spc="-15" dirty="0">
                <a:latin typeface="Times New Roman"/>
                <a:cs typeface="Times New Roman"/>
              </a:rPr>
              <a:t>b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4753" y="3942884"/>
            <a:ext cx="1450340" cy="370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82905" algn="l"/>
                <a:tab pos="1033144" algn="l"/>
              </a:tabLst>
            </a:pPr>
            <a:r>
              <a:rPr sz="2250" spc="-520" dirty="0">
                <a:latin typeface="Symbol"/>
                <a:cs typeface="Symbol"/>
              </a:rPr>
              <a:t></a:t>
            </a:r>
            <a:r>
              <a:rPr sz="3225" spc="-2167" baseline="15503" dirty="0">
                <a:latin typeface="Arial MT"/>
                <a:cs typeface="Arial MT"/>
              </a:rPr>
              <a:t></a:t>
            </a:r>
            <a:r>
              <a:rPr sz="3225" baseline="15503" dirty="0">
                <a:latin typeface="Arial MT"/>
                <a:cs typeface="Arial MT"/>
              </a:rPr>
              <a:t>	</a:t>
            </a:r>
            <a:r>
              <a:rPr sz="2150" spc="-20" dirty="0">
                <a:latin typeface="Symbol"/>
                <a:cs typeface="Symbol"/>
              </a:rPr>
              <a:t></a:t>
            </a:r>
            <a:r>
              <a:rPr sz="2150" spc="-80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Times New Roman"/>
                <a:cs typeface="Times New Roman"/>
              </a:rPr>
              <a:t>c</a:t>
            </a:r>
            <a:r>
              <a:rPr sz="2150" i="1" spc="90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t</a:t>
            </a:r>
            <a:r>
              <a:rPr sz="2150" i="1" dirty="0">
                <a:latin typeface="Times New Roman"/>
                <a:cs typeface="Times New Roman"/>
              </a:rPr>
              <a:t>	</a:t>
            </a:r>
            <a:r>
              <a:rPr sz="2150" spc="-20" dirty="0">
                <a:latin typeface="Symbol"/>
                <a:cs typeface="Symbol"/>
              </a:rPr>
              <a:t></a:t>
            </a:r>
            <a:r>
              <a:rPr sz="2150" spc="-180" dirty="0">
                <a:latin typeface="Times New Roman"/>
                <a:cs typeface="Times New Roman"/>
              </a:rPr>
              <a:t> </a:t>
            </a:r>
            <a:r>
              <a:rPr sz="2250" spc="-90" dirty="0">
                <a:latin typeface="Symbol"/>
                <a:cs typeface="Symbol"/>
              </a:rPr>
              <a:t>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171015" y="4550656"/>
            <a:ext cx="6540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03603" y="4550656"/>
            <a:ext cx="11366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10" dirty="0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400419" y="4550656"/>
            <a:ext cx="11366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10" dirty="0">
                <a:latin typeface="Times New Roman"/>
                <a:cs typeface="Times New Roman"/>
              </a:rPr>
              <a:t>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356083" y="4550656"/>
            <a:ext cx="6540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5" dirty="0">
                <a:latin typeface="Times New Roman"/>
                <a:cs typeface="Times New Roman"/>
              </a:rPr>
              <a:t>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667229" y="4550656"/>
            <a:ext cx="11366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10" dirty="0">
                <a:latin typeface="Times New Roman"/>
                <a:cs typeface="Times New Roman"/>
              </a:rPr>
              <a:t>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866533" y="4550656"/>
            <a:ext cx="9779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10" dirty="0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16585" y="5030004"/>
            <a:ext cx="120650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i="1" spc="-15" dirty="0">
                <a:latin typeface="Times New Roman"/>
                <a:cs typeface="Times New Roman"/>
              </a:rPr>
              <a:t>B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453881" y="5030004"/>
            <a:ext cx="120650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i="1" spc="-15" dirty="0">
                <a:latin typeface="Times New Roman"/>
                <a:cs typeface="Times New Roman"/>
              </a:rPr>
              <a:t>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60159" y="4829840"/>
            <a:ext cx="165735" cy="370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7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05278" y="4829840"/>
            <a:ext cx="351155" cy="370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-20" dirty="0">
                <a:latin typeface="Symbol"/>
                <a:cs typeface="Symbol"/>
              </a:rPr>
              <a:t></a:t>
            </a:r>
            <a:r>
              <a:rPr sz="2150" spc="-245" dirty="0">
                <a:latin typeface="Times New Roman"/>
                <a:cs typeface="Times New Roman"/>
              </a:rPr>
              <a:t> </a:t>
            </a:r>
            <a:r>
              <a:rPr sz="2250" spc="-7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0897" y="4230631"/>
            <a:ext cx="4382135" cy="97028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60"/>
              </a:spcBef>
              <a:tabLst>
                <a:tab pos="369570" algn="l"/>
                <a:tab pos="844550" algn="l"/>
                <a:tab pos="1604010" algn="l"/>
                <a:tab pos="3111500" algn="l"/>
                <a:tab pos="3789045" algn="l"/>
              </a:tabLst>
            </a:pPr>
            <a:r>
              <a:rPr sz="2100" spc="-75" dirty="0">
                <a:latin typeface="Symbol"/>
                <a:cs typeface="Symbol"/>
              </a:rPr>
              <a:t></a:t>
            </a:r>
            <a:r>
              <a:rPr sz="2100" spc="-75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Symbol"/>
                <a:cs typeface="Symbol"/>
              </a:rPr>
              <a:t></a:t>
            </a:r>
            <a:r>
              <a:rPr sz="2000" spc="-229" dirty="0">
                <a:latin typeface="Times New Roman"/>
                <a:cs typeface="Times New Roman"/>
              </a:rPr>
              <a:t> </a:t>
            </a:r>
            <a:r>
              <a:rPr sz="2100" spc="-75" dirty="0">
                <a:latin typeface="Symbol"/>
                <a:cs typeface="Symbol"/>
              </a:rPr>
              <a:t>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Symbol"/>
                <a:cs typeface="Symbol"/>
              </a:rPr>
              <a:t></a:t>
            </a:r>
            <a:r>
              <a:rPr sz="2000" spc="-260" dirty="0">
                <a:latin typeface="Times New Roman"/>
                <a:cs typeface="Times New Roman"/>
              </a:rPr>
              <a:t> </a:t>
            </a:r>
            <a:r>
              <a:rPr sz="2100" spc="25" dirty="0">
                <a:solidFill>
                  <a:srgbClr val="0000FF"/>
                </a:solidFill>
                <a:latin typeface="Symbol"/>
                <a:cs typeface="Symbol"/>
              </a:rPr>
              <a:t></a:t>
            </a:r>
            <a:r>
              <a:rPr sz="2000" spc="-25" dirty="0">
                <a:solidFill>
                  <a:srgbClr val="0000FF"/>
                </a:solidFill>
                <a:latin typeface="Times New Roman"/>
                <a:cs typeface="Times New Roman"/>
              </a:rPr>
              <a:t>((</a:t>
            </a:r>
            <a:r>
              <a:rPr sz="200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2000" i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000" spc="-22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25" i="1" spc="-15" baseline="-24154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1725" i="1" spc="-75" baseline="-2415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2000" spc="-1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000" spc="-22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25" i="1" spc="-15" baseline="-24154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1725" i="1" spc="-75" baseline="-2415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20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Symbol"/>
                <a:cs typeface="Symbol"/>
              </a:rPr>
              <a:t></a:t>
            </a:r>
            <a:r>
              <a:rPr sz="2000" spc="-229" dirty="0">
                <a:latin typeface="Times New Roman"/>
                <a:cs typeface="Times New Roman"/>
              </a:rPr>
              <a:t> </a:t>
            </a:r>
            <a:r>
              <a:rPr sz="2100" spc="-75" dirty="0">
                <a:latin typeface="Symbol"/>
                <a:cs typeface="Symbol"/>
              </a:rPr>
              <a:t>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Symbol"/>
                <a:cs typeface="Symbol"/>
              </a:rPr>
              <a:t></a:t>
            </a:r>
            <a:r>
              <a:rPr sz="2000" spc="-260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</a:t>
            </a:r>
            <a:r>
              <a:rPr sz="2000" spc="-30" dirty="0">
                <a:latin typeface="Times New Roman"/>
                <a:cs typeface="Times New Roman"/>
              </a:rPr>
              <a:t>(</a:t>
            </a:r>
            <a:r>
              <a:rPr sz="2000" i="1" spc="-15" dirty="0">
                <a:latin typeface="Times New Roman"/>
                <a:cs typeface="Times New Roman"/>
              </a:rPr>
              <a:t>t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Symbol"/>
                <a:cs typeface="Symbol"/>
              </a:rPr>
              <a:t>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2</a:t>
            </a:r>
            <a:r>
              <a:rPr sz="2000" i="1" spc="-15" dirty="0">
                <a:latin typeface="Times New Roman"/>
                <a:cs typeface="Times New Roman"/>
              </a:rPr>
              <a:t>t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19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150"/>
              </a:spcBef>
            </a:pPr>
            <a:r>
              <a:rPr sz="2150" spc="-20" dirty="0">
                <a:latin typeface="Symbol"/>
                <a:cs typeface="Symbol"/>
              </a:rPr>
              <a:t></a:t>
            </a:r>
            <a:r>
              <a:rPr sz="2150" spc="-180" dirty="0">
                <a:latin typeface="Times New Roman"/>
                <a:cs typeface="Times New Roman"/>
              </a:rPr>
              <a:t> </a:t>
            </a:r>
            <a:r>
              <a:rPr sz="2250" spc="-90" dirty="0">
                <a:latin typeface="Symbol"/>
                <a:cs typeface="Symbol"/>
              </a:rPr>
              <a:t>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43633" y="4767326"/>
            <a:ext cx="64579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925" algn="l"/>
              </a:tabLst>
            </a:pPr>
            <a:r>
              <a:rPr sz="2150" spc="-1445" dirty="0">
                <a:latin typeface="Arial MT"/>
                <a:cs typeface="Arial MT"/>
              </a:rPr>
              <a:t>	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04640" y="5491746"/>
            <a:ext cx="275590" cy="56261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290"/>
              </a:spcBef>
            </a:pPr>
            <a:r>
              <a:rPr sz="1050" i="1" spc="-1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sz="3000" spc="-847" baseline="-15277" dirty="0">
                <a:latin typeface="Symbol"/>
                <a:cs typeface="Symbol"/>
              </a:rPr>
              <a:t></a:t>
            </a:r>
            <a:r>
              <a:rPr sz="1900" spc="-565" dirty="0">
                <a:latin typeface="Arial MT"/>
                <a:cs typeface="Arial MT"/>
              </a:rPr>
              <a:t></a:t>
            </a:r>
            <a:r>
              <a:rPr sz="1650" i="1" spc="-847" baseline="-53030" dirty="0">
                <a:latin typeface="Times New Roman"/>
                <a:cs typeface="Times New Roman"/>
              </a:rPr>
              <a:t>f</a:t>
            </a:r>
            <a:endParaRPr sz="1650" baseline="-5303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41045" y="5445903"/>
            <a:ext cx="407670" cy="67437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650"/>
              </a:spcBef>
            </a:pPr>
            <a:r>
              <a:rPr sz="1050" spc="-10" dirty="0">
                <a:latin typeface="Times New Roman"/>
                <a:cs typeface="Times New Roman"/>
              </a:rPr>
              <a:t>2</a:t>
            </a:r>
            <a:r>
              <a:rPr sz="1050" spc="190" dirty="0">
                <a:latin typeface="Times New Roman"/>
                <a:cs typeface="Times New Roman"/>
              </a:rPr>
              <a:t> </a:t>
            </a:r>
            <a:r>
              <a:rPr sz="1050" i="1" spc="-1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15" dirty="0">
                <a:latin typeface="Symbol"/>
                <a:cs typeface="Symbol"/>
              </a:rPr>
              <a:t>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32384" y="5345271"/>
            <a:ext cx="1239520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29565" algn="l"/>
                <a:tab pos="880744" algn="l"/>
              </a:tabLst>
            </a:pPr>
            <a:r>
              <a:rPr sz="1900" spc="-434" dirty="0">
                <a:latin typeface="Symbol"/>
                <a:cs typeface="Symbol"/>
              </a:rPr>
              <a:t></a:t>
            </a:r>
            <a:r>
              <a:rPr sz="2700" spc="-1807" baseline="15432" dirty="0">
                <a:latin typeface="Arial MT"/>
                <a:cs typeface="Arial MT"/>
              </a:rPr>
              <a:t></a:t>
            </a:r>
            <a:r>
              <a:rPr sz="2700" baseline="15432" dirty="0">
                <a:latin typeface="Arial MT"/>
                <a:cs typeface="Arial MT"/>
              </a:rPr>
              <a:t>	</a:t>
            </a:r>
            <a:r>
              <a:rPr sz="1800" spc="-5" dirty="0">
                <a:latin typeface="Symbol"/>
                <a:cs typeface="Symbol"/>
              </a:rPr>
              <a:t>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c</a:t>
            </a:r>
            <a:r>
              <a:rPr sz="1800" i="1" spc="8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t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Symbol"/>
                <a:cs typeface="Symbol"/>
              </a:rPr>
              <a:t>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Symbol"/>
                <a:cs typeface="Symbol"/>
              </a:rPr>
              <a:t></a:t>
            </a:r>
            <a:endParaRPr sz="1900">
              <a:latin typeface="Symbol"/>
              <a:cs typeface="Symbo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088819" y="5166029"/>
            <a:ext cx="3063875" cy="428625"/>
            <a:chOff x="2088819" y="5166029"/>
            <a:chExt cx="3063875" cy="428625"/>
          </a:xfrm>
        </p:grpSpPr>
        <p:sp>
          <p:nvSpPr>
            <p:cNvPr id="82" name="object 82"/>
            <p:cNvSpPr/>
            <p:nvPr/>
          </p:nvSpPr>
          <p:spPr>
            <a:xfrm>
              <a:off x="2093391" y="5170601"/>
              <a:ext cx="3054985" cy="419734"/>
            </a:xfrm>
            <a:custGeom>
              <a:avLst/>
              <a:gdLst/>
              <a:ahLst/>
              <a:cxnLst/>
              <a:rect l="l" t="t" r="r" b="b"/>
              <a:pathLst>
                <a:path w="3054985" h="419735">
                  <a:moveTo>
                    <a:pt x="0" y="0"/>
                  </a:moveTo>
                  <a:lnTo>
                    <a:pt x="750392" y="200736"/>
                  </a:lnTo>
                  <a:lnTo>
                    <a:pt x="750392" y="419430"/>
                  </a:lnTo>
                  <a:lnTo>
                    <a:pt x="3054680" y="419430"/>
                  </a:lnTo>
                  <a:lnTo>
                    <a:pt x="3054680" y="44526"/>
                  </a:lnTo>
                  <a:lnTo>
                    <a:pt x="750392" y="44526"/>
                  </a:lnTo>
                  <a:lnTo>
                    <a:pt x="750392" y="1070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093391" y="5170601"/>
              <a:ext cx="3054985" cy="419734"/>
            </a:xfrm>
            <a:custGeom>
              <a:avLst/>
              <a:gdLst/>
              <a:ahLst/>
              <a:cxnLst/>
              <a:rect l="l" t="t" r="r" b="b"/>
              <a:pathLst>
                <a:path w="3054985" h="419735">
                  <a:moveTo>
                    <a:pt x="750392" y="44526"/>
                  </a:moveTo>
                  <a:lnTo>
                    <a:pt x="1134440" y="44526"/>
                  </a:lnTo>
                  <a:lnTo>
                    <a:pt x="1710512" y="44526"/>
                  </a:lnTo>
                  <a:lnTo>
                    <a:pt x="3054680" y="44526"/>
                  </a:lnTo>
                  <a:lnTo>
                    <a:pt x="3054680" y="107010"/>
                  </a:lnTo>
                  <a:lnTo>
                    <a:pt x="3054680" y="200736"/>
                  </a:lnTo>
                  <a:lnTo>
                    <a:pt x="3054680" y="419430"/>
                  </a:lnTo>
                  <a:lnTo>
                    <a:pt x="1710512" y="419430"/>
                  </a:lnTo>
                  <a:lnTo>
                    <a:pt x="1134440" y="419430"/>
                  </a:lnTo>
                  <a:lnTo>
                    <a:pt x="750392" y="419430"/>
                  </a:lnTo>
                  <a:lnTo>
                    <a:pt x="750392" y="200736"/>
                  </a:lnTo>
                  <a:lnTo>
                    <a:pt x="0" y="0"/>
                  </a:lnTo>
                  <a:lnTo>
                    <a:pt x="750392" y="107010"/>
                  </a:lnTo>
                  <a:lnTo>
                    <a:pt x="750392" y="44526"/>
                  </a:lnTo>
                  <a:close/>
                </a:path>
              </a:pathLst>
            </a:custGeom>
            <a:ln w="9144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2992723" y="5247957"/>
            <a:ext cx="20059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40458C"/>
                </a:solidFill>
                <a:latin typeface="Tahoma"/>
                <a:cs typeface="Tahoma"/>
              </a:rPr>
              <a:t>Constant</a:t>
            </a:r>
            <a:r>
              <a:rPr sz="16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16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C"/>
                </a:solidFill>
                <a:latin typeface="Tahoma"/>
                <a:cs typeface="Tahoma"/>
              </a:rPr>
              <a:t>velocity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17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37627" y="1524952"/>
            <a:ext cx="5877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u="sng" spc="-6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Linear</a:t>
            </a:r>
            <a:r>
              <a:rPr sz="1800" b="1" u="sng" spc="14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2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function</a:t>
            </a:r>
            <a:r>
              <a:rPr sz="1800" b="1" u="sng" spc="13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9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with</a:t>
            </a:r>
            <a:r>
              <a:rPr sz="1800" b="1" u="sng" spc="14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2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parabolic</a:t>
            </a:r>
            <a:r>
              <a:rPr sz="1800" b="1" u="sng" spc="14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blends</a:t>
            </a:r>
            <a:r>
              <a:rPr sz="1800" b="1" u="sng" spc="13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5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for</a:t>
            </a:r>
            <a:r>
              <a:rPr sz="1800" b="1" u="sng" spc="14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4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a</a:t>
            </a:r>
            <a:r>
              <a:rPr sz="1800" b="1" u="sng" spc="18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2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path</a:t>
            </a:r>
            <a:r>
              <a:rPr sz="1800" b="1" u="sng" spc="145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10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with</a:t>
            </a:r>
            <a:r>
              <a:rPr sz="1800" b="1" u="sng" spc="15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 </a:t>
            </a:r>
            <a:r>
              <a:rPr sz="1800" b="1" u="sng" spc="-5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via </a:t>
            </a:r>
            <a:r>
              <a:rPr sz="1800" b="1" spc="-385" dirty="0">
                <a:solidFill>
                  <a:srgbClr val="40458C"/>
                </a:solidFill>
                <a:latin typeface="Cambria"/>
                <a:cs typeface="Cambria"/>
              </a:rPr>
              <a:t> </a:t>
            </a:r>
            <a:r>
              <a:rPr sz="1800" b="1" u="sng" spc="-20" dirty="0">
                <a:solidFill>
                  <a:srgbClr val="40458C"/>
                </a:solidFill>
                <a:uFill>
                  <a:solidFill>
                    <a:srgbClr val="40458C"/>
                  </a:solidFill>
                </a:uFill>
                <a:latin typeface="Cambria"/>
                <a:cs typeface="Cambria"/>
              </a:rPr>
              <a:t>points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4289" y="2193919"/>
            <a:ext cx="6450775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5"/>
              </a:lnSpc>
            </a:pPr>
            <a:r>
              <a:rPr sz="1800" spc="-30" dirty="0">
                <a:solidFill>
                  <a:srgbClr val="40458C"/>
                </a:solidFill>
                <a:latin typeface="SimSun"/>
                <a:cs typeface="SimSun"/>
              </a:rPr>
              <a:t>Figure</a:t>
            </a:r>
            <a:r>
              <a:rPr sz="1800" spc="-30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-15" dirty="0">
                <a:solidFill>
                  <a:srgbClr val="40458C"/>
                </a:solidFill>
                <a:latin typeface="SimSun"/>
                <a:cs typeface="SimSun"/>
              </a:rPr>
              <a:t>1.9</a:t>
            </a:r>
            <a:r>
              <a:rPr sz="1800" spc="-29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170" dirty="0">
                <a:solidFill>
                  <a:srgbClr val="40458C"/>
                </a:solidFill>
                <a:latin typeface="SimSun"/>
                <a:cs typeface="SimSun"/>
              </a:rPr>
              <a:t>shows</a:t>
            </a:r>
            <a:r>
              <a:rPr sz="1800" spc="-30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110" dirty="0">
                <a:solidFill>
                  <a:srgbClr val="40458C"/>
                </a:solidFill>
                <a:latin typeface="SimSun"/>
                <a:cs typeface="SimSun"/>
              </a:rPr>
              <a:t>a</a:t>
            </a:r>
            <a:r>
              <a:rPr sz="1800" spc="-29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-60" dirty="0">
                <a:solidFill>
                  <a:srgbClr val="40458C"/>
                </a:solidFill>
                <a:latin typeface="SimSun"/>
                <a:cs typeface="SimSun"/>
              </a:rPr>
              <a:t>set</a:t>
            </a:r>
            <a:r>
              <a:rPr sz="1800" spc="-30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-50" dirty="0">
                <a:solidFill>
                  <a:srgbClr val="40458C"/>
                </a:solidFill>
                <a:latin typeface="SimSun"/>
                <a:cs typeface="SimSun"/>
              </a:rPr>
              <a:t>of</a:t>
            </a:r>
            <a:r>
              <a:rPr sz="1800" spc="-300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-15" dirty="0">
                <a:solidFill>
                  <a:srgbClr val="40458C"/>
                </a:solidFill>
                <a:latin typeface="SimSun"/>
                <a:cs typeface="SimSun"/>
              </a:rPr>
              <a:t>joint-space</a:t>
            </a:r>
            <a:r>
              <a:rPr sz="1800" spc="-30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-120" dirty="0">
                <a:solidFill>
                  <a:srgbClr val="40458C"/>
                </a:solidFill>
                <a:latin typeface="SimSun"/>
                <a:cs typeface="SimSun"/>
              </a:rPr>
              <a:t>via</a:t>
            </a:r>
            <a:r>
              <a:rPr sz="1800" spc="-29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-45" dirty="0">
                <a:solidFill>
                  <a:srgbClr val="40458C"/>
                </a:solidFill>
                <a:latin typeface="SimSun"/>
                <a:cs typeface="SimSun"/>
              </a:rPr>
              <a:t>points</a:t>
            </a:r>
            <a:r>
              <a:rPr sz="1800" spc="-28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-135" dirty="0">
                <a:solidFill>
                  <a:srgbClr val="40458C"/>
                </a:solidFill>
                <a:latin typeface="SimSun"/>
                <a:cs typeface="SimSun"/>
              </a:rPr>
              <a:t>for</a:t>
            </a:r>
            <a:endParaRPr sz="1800" dirty="0">
              <a:latin typeface="SimSun"/>
              <a:cs typeface="SimSun"/>
            </a:endParaRPr>
          </a:p>
          <a:p>
            <a:pPr>
              <a:lnSpc>
                <a:spcPts val="2055"/>
              </a:lnSpc>
              <a:tabLst>
                <a:tab pos="1343660" algn="l"/>
              </a:tabLst>
            </a:pPr>
            <a:r>
              <a:rPr sz="1800" spc="250" dirty="0">
                <a:solidFill>
                  <a:srgbClr val="40458C"/>
                </a:solidFill>
                <a:latin typeface="SimSun"/>
                <a:cs typeface="SimSun"/>
              </a:rPr>
              <a:t>some</a:t>
            </a:r>
            <a:r>
              <a:rPr sz="1800" spc="-305" dirty="0">
                <a:solidFill>
                  <a:srgbClr val="40458C"/>
                </a:solidFill>
                <a:latin typeface="SimSun"/>
                <a:cs typeface="SimSun"/>
              </a:rPr>
              <a:t> </a:t>
            </a:r>
            <a:r>
              <a:rPr sz="1800" spc="-190" dirty="0">
                <a:solidFill>
                  <a:srgbClr val="40458C"/>
                </a:solidFill>
                <a:latin typeface="SimSun"/>
                <a:cs typeface="SimSun"/>
              </a:rPr>
              <a:t>joint	</a:t>
            </a:r>
            <a:r>
              <a:rPr sz="1800" spc="-300" dirty="0">
                <a:solidFill>
                  <a:srgbClr val="40458C"/>
                </a:solidFill>
                <a:latin typeface="SimSun"/>
                <a:cs typeface="SimSun"/>
              </a:rPr>
              <a:t>.</a:t>
            </a:r>
            <a:endParaRPr sz="1800" dirty="0">
              <a:latin typeface="SimSun"/>
              <a:cs typeface="SimSu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3428" y="2706880"/>
            <a:ext cx="4983242" cy="32249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44164" y="5889371"/>
            <a:ext cx="4001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FIGURE</a:t>
            </a:r>
            <a:r>
              <a:rPr sz="1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1.9</a:t>
            </a:r>
            <a:r>
              <a:rPr sz="14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: Multisegment</a:t>
            </a:r>
            <a:r>
              <a:rPr sz="1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linear</a:t>
            </a:r>
            <a:r>
              <a:rPr sz="14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path</a:t>
            </a:r>
            <a:r>
              <a:rPr sz="14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4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blends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18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2504" y="2745296"/>
            <a:ext cx="1555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Symbol"/>
                <a:cs typeface="Symbol"/>
              </a:rPr>
              <a:t>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34389" y="868108"/>
            <a:ext cx="573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5.5</a:t>
            </a:r>
            <a:r>
              <a:rPr spc="-10" dirty="0"/>
              <a:t> </a:t>
            </a:r>
            <a:r>
              <a:rPr spc="-25" dirty="0"/>
              <a:t>JOINT-SPACE</a:t>
            </a:r>
            <a:r>
              <a:rPr spc="5" dirty="0"/>
              <a:t> </a:t>
            </a:r>
            <a:r>
              <a:rPr spc="-15" dirty="0"/>
              <a:t>TRAJECTORY</a:t>
            </a:r>
            <a:r>
              <a:rPr spc="-10" dirty="0"/>
              <a:t> PLANNING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0240" y="1317371"/>
            <a:ext cx="573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5.5</a:t>
            </a:r>
            <a:r>
              <a:rPr spc="-10" dirty="0"/>
              <a:t> </a:t>
            </a:r>
            <a:r>
              <a:rPr spc="-25" dirty="0"/>
              <a:t>JOINT-SPACE</a:t>
            </a:r>
            <a:r>
              <a:rPr spc="5" dirty="0"/>
              <a:t> </a:t>
            </a:r>
            <a:r>
              <a:rPr spc="-15" dirty="0"/>
              <a:t>TRAJECTORY</a:t>
            </a:r>
            <a:r>
              <a:rPr spc="-10" dirty="0"/>
              <a:t> PLANNING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19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6440" y="1909320"/>
            <a:ext cx="8115934" cy="2855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6364" algn="just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5.5.4</a:t>
            </a:r>
            <a:r>
              <a:rPr sz="20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Linear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Segments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Parabolic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Blends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Via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Points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ahoma"/>
              <a:cs typeface="Tahoma"/>
            </a:endParaRPr>
          </a:p>
          <a:p>
            <a:pPr marL="288290" marR="43180" indent="-238125">
              <a:lnSpc>
                <a:spcPct val="109300"/>
              </a:lnSpc>
              <a:buClr>
                <a:srgbClr val="FF3300"/>
              </a:buClr>
              <a:buFont typeface="Symbol"/>
              <a:buChar char=""/>
              <a:tabLst>
                <a:tab pos="247650" algn="l"/>
              </a:tabLst>
            </a:pP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The position of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 robot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at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time </a:t>
            </a:r>
            <a:r>
              <a:rPr sz="2100" spc="-10" dirty="0">
                <a:solidFill>
                  <a:srgbClr val="A50021"/>
                </a:solidFill>
                <a:latin typeface="Tahoma"/>
                <a:cs typeface="Tahoma"/>
              </a:rPr>
              <a:t>t</a:t>
            </a:r>
            <a:r>
              <a:rPr sz="1950" spc="-15" baseline="-21367" dirty="0">
                <a:solidFill>
                  <a:srgbClr val="A50021"/>
                </a:solidFill>
                <a:latin typeface="Tahoma"/>
                <a:cs typeface="Tahoma"/>
              </a:rPr>
              <a:t>0</a:t>
            </a:r>
            <a:r>
              <a:rPr sz="1950" spc="-7" baseline="-21367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is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known and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using the inverse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kinematic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equations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</a:t>
            </a:r>
            <a:r>
              <a:rPr sz="2000" spc="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robot,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joint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angles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at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via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points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and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at </a:t>
            </a:r>
            <a:r>
              <a:rPr sz="2000" spc="-6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end</a:t>
            </a:r>
            <a:r>
              <a:rPr sz="2000" spc="-2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 the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motion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can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be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found.</a:t>
            </a:r>
            <a:endParaRPr sz="2000">
              <a:latin typeface="Tahoma"/>
              <a:cs typeface="Tahoma"/>
            </a:endParaRPr>
          </a:p>
          <a:p>
            <a:pPr marL="208915" marR="310515" indent="-158750" algn="just">
              <a:lnSpc>
                <a:spcPct val="110000"/>
              </a:lnSpc>
              <a:spcBef>
                <a:spcPts val="1685"/>
              </a:spcBef>
              <a:buClr>
                <a:srgbClr val="FF3300"/>
              </a:buClr>
              <a:buFont typeface="Symbol"/>
              <a:buChar char=""/>
              <a:tabLst>
                <a:tab pos="247650" algn="l"/>
              </a:tabLst>
            </a:pPr>
            <a:r>
              <a:rPr dirty="0"/>
              <a:t>	</a:t>
            </a:r>
            <a:r>
              <a:rPr sz="2000" spc="-100" dirty="0">
                <a:solidFill>
                  <a:srgbClr val="A50021"/>
                </a:solidFill>
                <a:latin typeface="Tahoma"/>
                <a:cs typeface="Tahoma"/>
              </a:rPr>
              <a:t>To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blend the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motion segments </a:t>
            </a:r>
            <a:r>
              <a:rPr sz="2000" spc="-30" dirty="0">
                <a:solidFill>
                  <a:srgbClr val="A50021"/>
                </a:solidFill>
                <a:latin typeface="Tahoma"/>
                <a:cs typeface="Tahoma"/>
              </a:rPr>
              <a:t>together,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 boundary conditions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 </a:t>
            </a:r>
            <a:r>
              <a:rPr sz="2000" spc="-6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each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point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to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calculate the coefficients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 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parabolic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segments is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used.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800" y="4953000"/>
            <a:ext cx="6934200" cy="426720"/>
          </a:xfrm>
          <a:prstGeom prst="rect">
            <a:avLst/>
          </a:prstGeom>
          <a:solidFill>
            <a:srgbClr val="6F89F7"/>
          </a:solidFill>
        </p:spPr>
        <p:txBody>
          <a:bodyPr vert="horz" wrap="square" lIns="0" tIns="43180" rIns="0" bIns="0" rtlCol="0">
            <a:spAutoFit/>
          </a:bodyPr>
          <a:lstStyle/>
          <a:p>
            <a:pPr marL="287655" indent="-196850">
              <a:lnSpc>
                <a:spcPct val="100000"/>
              </a:lnSpc>
              <a:spcBef>
                <a:spcPts val="340"/>
              </a:spcBef>
              <a:buClr>
                <a:srgbClr val="FF3300"/>
              </a:buClr>
              <a:buFont typeface="Symbol"/>
              <a:buChar char=""/>
              <a:tabLst>
                <a:tab pos="288290" algn="l"/>
              </a:tabLst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Maximum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allowable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accelerations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20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exceeded.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490" y="1012571"/>
            <a:ext cx="573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5.5</a:t>
            </a:r>
            <a:r>
              <a:rPr spc="-10" dirty="0"/>
              <a:t> </a:t>
            </a:r>
            <a:r>
              <a:rPr spc="-25" dirty="0"/>
              <a:t>JOINT-SPACE</a:t>
            </a:r>
            <a:r>
              <a:rPr spc="5" dirty="0"/>
              <a:t> </a:t>
            </a:r>
            <a:r>
              <a:rPr spc="-15" dirty="0"/>
              <a:t>TRAJECTORY</a:t>
            </a:r>
            <a:r>
              <a:rPr spc="-10" dirty="0"/>
              <a:t> PLANNING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763" y="4255008"/>
            <a:ext cx="8382000" cy="1096010"/>
          </a:xfrm>
          <a:prstGeom prst="rect">
            <a:avLst/>
          </a:prstGeom>
          <a:solidFill>
            <a:srgbClr val="6F89F7"/>
          </a:solidFill>
        </p:spPr>
        <p:txBody>
          <a:bodyPr vert="horz" wrap="square" lIns="0" tIns="12065" rIns="0" bIns="0" rtlCol="0">
            <a:spAutoFit/>
          </a:bodyPr>
          <a:lstStyle/>
          <a:p>
            <a:pPr marL="250190" marR="213360" indent="-158750">
              <a:lnSpc>
                <a:spcPct val="110000"/>
              </a:lnSpc>
              <a:spcBef>
                <a:spcPts val="95"/>
              </a:spcBef>
              <a:buClr>
                <a:srgbClr val="FF3300"/>
              </a:buClr>
              <a:buFont typeface="Symbol"/>
              <a:buChar char=""/>
              <a:tabLst>
                <a:tab pos="288925" algn="l"/>
                <a:tab pos="1481455" algn="l"/>
              </a:tabLst>
            </a:pPr>
            <a:r>
              <a:rPr dirty="0"/>
              <a:t>	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Combinations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of lower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order polynomials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for different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segments of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2000" spc="-6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trajectory	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blending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together to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satisfy all required boundary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conditions</a:t>
            </a:r>
            <a:r>
              <a:rPr sz="20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required.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900"/>
              </a:spcBef>
            </a:pPr>
            <a:r>
              <a:rPr spc="-5" dirty="0"/>
              <a:t>5.5.5</a:t>
            </a:r>
            <a:r>
              <a:rPr spc="-45" dirty="0"/>
              <a:t> </a:t>
            </a:r>
            <a:r>
              <a:rPr spc="-5" dirty="0"/>
              <a:t>Higher</a:t>
            </a:r>
            <a:r>
              <a:rPr spc="-20" dirty="0"/>
              <a:t> </a:t>
            </a:r>
            <a:r>
              <a:rPr spc="-5" dirty="0"/>
              <a:t>Order</a:t>
            </a:r>
            <a:r>
              <a:rPr spc="-10" dirty="0"/>
              <a:t> </a:t>
            </a:r>
            <a:r>
              <a:rPr spc="-20" dirty="0"/>
              <a:t>Trajectories</a:t>
            </a:r>
          </a:p>
          <a:p>
            <a:pPr marL="183515" marR="17780" indent="-158750">
              <a:lnSpc>
                <a:spcPct val="110000"/>
              </a:lnSpc>
              <a:spcBef>
                <a:spcPts val="560"/>
              </a:spcBef>
              <a:buClr>
                <a:srgbClr val="FF3300"/>
              </a:buClr>
              <a:buFont typeface="Symbol"/>
              <a:buChar char=""/>
              <a:tabLst>
                <a:tab pos="222250" algn="l"/>
              </a:tabLst>
            </a:pPr>
            <a:r>
              <a:rPr dirty="0">
                <a:solidFill>
                  <a:srgbClr val="000000"/>
                </a:solidFill>
              </a:rPr>
              <a:t>	</a:t>
            </a:r>
            <a:r>
              <a:rPr spc="-5" dirty="0">
                <a:solidFill>
                  <a:srgbClr val="A50021"/>
                </a:solidFill>
              </a:rPr>
              <a:t>Incorporating the initial </a:t>
            </a:r>
            <a:r>
              <a:rPr dirty="0">
                <a:solidFill>
                  <a:srgbClr val="A50021"/>
                </a:solidFill>
              </a:rPr>
              <a:t>and </a:t>
            </a:r>
            <a:r>
              <a:rPr spc="-5" dirty="0">
                <a:solidFill>
                  <a:srgbClr val="A50021"/>
                </a:solidFill>
              </a:rPr>
              <a:t>final boundary conditions </a:t>
            </a:r>
            <a:r>
              <a:rPr dirty="0">
                <a:solidFill>
                  <a:srgbClr val="A50021"/>
                </a:solidFill>
              </a:rPr>
              <a:t>together with </a:t>
            </a:r>
            <a:r>
              <a:rPr spc="5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this information enables us </a:t>
            </a:r>
            <a:r>
              <a:rPr dirty="0">
                <a:solidFill>
                  <a:srgbClr val="A50021"/>
                </a:solidFill>
              </a:rPr>
              <a:t>to use </a:t>
            </a:r>
            <a:r>
              <a:rPr spc="-5" dirty="0">
                <a:solidFill>
                  <a:srgbClr val="A50021"/>
                </a:solidFill>
              </a:rPr>
              <a:t>higher order polynomials in the </a:t>
            </a:r>
            <a:r>
              <a:rPr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below</a:t>
            </a:r>
            <a:r>
              <a:rPr spc="5" dirty="0">
                <a:solidFill>
                  <a:srgbClr val="A50021"/>
                </a:solidFill>
              </a:rPr>
              <a:t> </a:t>
            </a:r>
            <a:r>
              <a:rPr spc="-10" dirty="0">
                <a:solidFill>
                  <a:srgbClr val="A50021"/>
                </a:solidFill>
              </a:rPr>
              <a:t>form,</a:t>
            </a:r>
            <a:r>
              <a:rPr spc="-5" dirty="0">
                <a:solidFill>
                  <a:srgbClr val="A50021"/>
                </a:solidFill>
              </a:rPr>
              <a:t> </a:t>
            </a:r>
            <a:r>
              <a:rPr dirty="0">
                <a:solidFill>
                  <a:srgbClr val="A50021"/>
                </a:solidFill>
              </a:rPr>
              <a:t>so</a:t>
            </a:r>
            <a:r>
              <a:rPr spc="-20" dirty="0">
                <a:solidFill>
                  <a:srgbClr val="A50021"/>
                </a:solidFill>
              </a:rPr>
              <a:t> </a:t>
            </a:r>
            <a:r>
              <a:rPr dirty="0">
                <a:solidFill>
                  <a:srgbClr val="A50021"/>
                </a:solidFill>
              </a:rPr>
              <a:t>that</a:t>
            </a:r>
            <a:r>
              <a:rPr spc="10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the</a:t>
            </a:r>
            <a:r>
              <a:rPr spc="5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trajectory</a:t>
            </a:r>
            <a:r>
              <a:rPr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will</a:t>
            </a:r>
            <a:r>
              <a:rPr spc="40" dirty="0">
                <a:solidFill>
                  <a:srgbClr val="A50021"/>
                </a:solidFill>
              </a:rPr>
              <a:t> </a:t>
            </a:r>
            <a:r>
              <a:rPr dirty="0">
                <a:solidFill>
                  <a:srgbClr val="A50021"/>
                </a:solidFill>
              </a:rPr>
              <a:t>pass</a:t>
            </a:r>
            <a:r>
              <a:rPr spc="-30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through</a:t>
            </a:r>
            <a:r>
              <a:rPr spc="-10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all</a:t>
            </a:r>
            <a:r>
              <a:rPr spc="10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specified</a:t>
            </a:r>
            <a:r>
              <a:rPr spc="-10" dirty="0">
                <a:solidFill>
                  <a:srgbClr val="A50021"/>
                </a:solidFill>
              </a:rPr>
              <a:t> </a:t>
            </a:r>
            <a:r>
              <a:rPr dirty="0">
                <a:solidFill>
                  <a:srgbClr val="A50021"/>
                </a:solidFill>
              </a:rPr>
              <a:t>points.</a:t>
            </a:r>
          </a:p>
          <a:p>
            <a:pPr marR="541655" algn="ctr">
              <a:lnSpc>
                <a:spcPct val="100000"/>
              </a:lnSpc>
              <a:spcBef>
                <a:spcPts val="1225"/>
              </a:spcBef>
            </a:pPr>
            <a:r>
              <a:rPr sz="3075" spc="-97" baseline="2710" dirty="0">
                <a:solidFill>
                  <a:srgbClr val="000000"/>
                </a:solidFill>
                <a:latin typeface="Symbol"/>
                <a:cs typeface="Symbol"/>
              </a:rPr>
              <a:t></a:t>
            </a:r>
            <a:r>
              <a:rPr sz="3075" spc="-337" baseline="27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50" i="1" spc="195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50" spc="15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2850" spc="-52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2850" spc="-82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i="1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1100" spc="1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850" spc="-217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i="1" spc="-165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1100" spc="-4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850" i="1" spc="7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50" i="1" spc="-75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850" spc="-217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i="1" spc="22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1100" spc="45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850" i="1" spc="7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50" i="1" spc="-419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15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650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-52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850" spc="-225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i="1" spc="-22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1100" spc="10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r>
              <a:rPr sz="2850" i="1" spc="7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50" i="1" spc="-465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15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r>
              <a:rPr sz="1650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-104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spc="232" baseline="2923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850" spc="-44" baseline="2923" dirty="0">
                <a:solidFill>
                  <a:srgbClr val="000000"/>
                </a:solidFill>
                <a:latin typeface="Arial MT"/>
                <a:cs typeface="Arial MT"/>
              </a:rPr>
              <a:t></a:t>
            </a:r>
            <a:r>
              <a:rPr sz="2850" spc="359" baseline="2923" dirty="0">
                <a:solidFill>
                  <a:srgbClr val="000000"/>
                </a:solidFill>
                <a:latin typeface="Arial MT"/>
                <a:cs typeface="Arial MT"/>
              </a:rPr>
              <a:t></a:t>
            </a:r>
            <a:r>
              <a:rPr sz="2850" spc="22" baseline="2923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850" spc="-225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i="1" spc="30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1100" i="1" spc="8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100" spc="-55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1100" spc="-4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850" i="1" spc="7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50" i="1" spc="-412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i="1" spc="120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650" spc="-82" baseline="47979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1650" spc="15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1650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50" spc="-179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spc="22" baseline="2923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850" spc="-225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50" i="1" spc="30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1100" i="1" spc="6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50" i="1" spc="307" baseline="292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650" i="1" spc="15" baseline="47979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sz="1650" baseline="47979">
              <a:latin typeface="Times New Roman"/>
              <a:cs typeface="Times New Roman"/>
            </a:endParaRPr>
          </a:p>
          <a:p>
            <a:pPr marL="183515" marR="888365" indent="-158750">
              <a:lnSpc>
                <a:spcPct val="110000"/>
              </a:lnSpc>
              <a:spcBef>
                <a:spcPts val="760"/>
              </a:spcBef>
              <a:buClr>
                <a:srgbClr val="FF3300"/>
              </a:buClr>
              <a:buFont typeface="Symbol"/>
              <a:buChar char=""/>
              <a:tabLst>
                <a:tab pos="222250" algn="l"/>
              </a:tabLst>
            </a:pPr>
            <a:r>
              <a:rPr dirty="0">
                <a:solidFill>
                  <a:srgbClr val="000000"/>
                </a:solidFill>
              </a:rPr>
              <a:t>	</a:t>
            </a:r>
            <a:r>
              <a:rPr spc="-5" dirty="0">
                <a:solidFill>
                  <a:srgbClr val="A50021"/>
                </a:solidFill>
              </a:rPr>
              <a:t>It</a:t>
            </a:r>
            <a:r>
              <a:rPr spc="15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requires extensive</a:t>
            </a:r>
            <a:r>
              <a:rPr spc="-20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calculation</a:t>
            </a:r>
            <a:r>
              <a:rPr spc="5" dirty="0">
                <a:solidFill>
                  <a:srgbClr val="A50021"/>
                </a:solidFill>
              </a:rPr>
              <a:t> </a:t>
            </a:r>
            <a:r>
              <a:rPr spc="-10" dirty="0">
                <a:solidFill>
                  <a:srgbClr val="A50021"/>
                </a:solidFill>
              </a:rPr>
              <a:t>for</a:t>
            </a:r>
            <a:r>
              <a:rPr dirty="0">
                <a:solidFill>
                  <a:srgbClr val="A50021"/>
                </a:solidFill>
              </a:rPr>
              <a:t> each</a:t>
            </a:r>
            <a:r>
              <a:rPr spc="-10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joint</a:t>
            </a:r>
            <a:r>
              <a:rPr spc="10" dirty="0">
                <a:solidFill>
                  <a:srgbClr val="A50021"/>
                </a:solidFill>
              </a:rPr>
              <a:t> </a:t>
            </a:r>
            <a:r>
              <a:rPr dirty="0">
                <a:solidFill>
                  <a:srgbClr val="A50021"/>
                </a:solidFill>
              </a:rPr>
              <a:t>and</a:t>
            </a:r>
            <a:r>
              <a:rPr spc="-15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higher</a:t>
            </a:r>
            <a:r>
              <a:rPr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order </a:t>
            </a:r>
            <a:r>
              <a:rPr spc="-610" dirty="0">
                <a:solidFill>
                  <a:srgbClr val="A50021"/>
                </a:solidFill>
              </a:rPr>
              <a:t> </a:t>
            </a:r>
            <a:r>
              <a:rPr spc="-5" dirty="0">
                <a:solidFill>
                  <a:srgbClr val="A50021"/>
                </a:solidFill>
              </a:rPr>
              <a:t>polynomials.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2952" y="5365178"/>
            <a:ext cx="235966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540"/>
              </a:spcBef>
              <a:buChar char="•"/>
              <a:tabLst>
                <a:tab pos="246379" algn="l"/>
              </a:tabLst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3-5-3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endParaRPr sz="2400">
              <a:latin typeface="Tahoma"/>
              <a:cs typeface="Tahoma"/>
            </a:endParaRPr>
          </a:p>
          <a:p>
            <a:pPr marL="245745" indent="-233679">
              <a:lnSpc>
                <a:spcPct val="100000"/>
              </a:lnSpc>
              <a:spcBef>
                <a:spcPts val="1440"/>
              </a:spcBef>
              <a:buChar char="•"/>
              <a:tabLst>
                <a:tab pos="246379" algn="l"/>
              </a:tabLst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4-3-4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7052" y="1084008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21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052" y="1509906"/>
            <a:ext cx="8131175" cy="1534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 marR="5080" indent="-209550">
              <a:lnSpc>
                <a:spcPct val="110000"/>
              </a:lnSpc>
              <a:spcBef>
                <a:spcPts val="95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Cartesian-space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trajectories relate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to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 motions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 a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robot relative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to </a:t>
            </a:r>
            <a:r>
              <a:rPr sz="2000" spc="-6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Cartesian</a:t>
            </a:r>
            <a:r>
              <a:rPr sz="2000" spc="-3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reference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frame.</a:t>
            </a:r>
            <a:endParaRPr sz="2000">
              <a:latin typeface="Tahoma"/>
              <a:cs typeface="Tahoma"/>
            </a:endParaRPr>
          </a:p>
          <a:p>
            <a:pPr marL="170815" marR="517525" indent="-158750">
              <a:lnSpc>
                <a:spcPct val="110000"/>
              </a:lnSpc>
              <a:spcBef>
                <a:spcPts val="1320"/>
              </a:spcBef>
              <a:buClr>
                <a:srgbClr val="FF3300"/>
              </a:buClr>
              <a:buFont typeface="Symbol"/>
              <a:buChar char=""/>
              <a:tabLst>
                <a:tab pos="209550" algn="l"/>
              </a:tabLst>
            </a:pPr>
            <a:r>
              <a:rPr dirty="0"/>
              <a:t>	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In</a:t>
            </a:r>
            <a:r>
              <a:rPr sz="2000" spc="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Cartesian-space,</a:t>
            </a:r>
            <a:r>
              <a:rPr sz="2000" spc="-3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</a:t>
            </a:r>
            <a:r>
              <a:rPr sz="2000" spc="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joint</a:t>
            </a:r>
            <a:r>
              <a:rPr sz="2000" spc="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A50021"/>
                </a:solidFill>
                <a:latin typeface="Tahoma"/>
                <a:cs typeface="Tahoma"/>
              </a:rPr>
              <a:t>values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must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be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repeatedly calculated </a:t>
            </a:r>
            <a:r>
              <a:rPr sz="2000" spc="-61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through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inverse</a:t>
            </a:r>
            <a:r>
              <a:rPr sz="2000" spc="-2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kinematic equations</a:t>
            </a:r>
            <a:r>
              <a:rPr sz="2000" spc="-2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50021"/>
                </a:solidFill>
                <a:latin typeface="Tahoma"/>
                <a:cs typeface="Tahoma"/>
              </a:rPr>
              <a:t>of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robot.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7868" y="3262884"/>
            <a:ext cx="3276600" cy="426720"/>
          </a:xfrm>
          <a:prstGeom prst="rect">
            <a:avLst/>
          </a:prstGeom>
          <a:solidFill>
            <a:srgbClr val="787878"/>
          </a:solidFill>
        </p:spPr>
        <p:txBody>
          <a:bodyPr vert="horz" wrap="square" lIns="0" tIns="42545" rIns="0" bIns="0" rtlCol="0">
            <a:spAutoFit/>
          </a:bodyPr>
          <a:lstStyle/>
          <a:p>
            <a:pPr marL="288290" indent="-197485">
              <a:lnSpc>
                <a:spcPct val="100000"/>
              </a:lnSpc>
              <a:spcBef>
                <a:spcPts val="335"/>
              </a:spcBef>
              <a:buClr>
                <a:srgbClr val="FF3300"/>
              </a:buClr>
              <a:buFont typeface="Symbol"/>
              <a:buChar char=""/>
              <a:tabLst>
                <a:tab pos="288925" algn="l"/>
              </a:tabLst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Computer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Loop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652" y="3688448"/>
            <a:ext cx="7291070" cy="22752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795"/>
              </a:spcBef>
              <a:buClr>
                <a:srgbClr val="05DEFB"/>
              </a:buClr>
              <a:buAutoNum type="arabicParenBoth"/>
              <a:tabLst>
                <a:tab pos="335915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Increment the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time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by </a:t>
            </a:r>
            <a:r>
              <a:rPr sz="1800" b="1" spc="25" dirty="0">
                <a:solidFill>
                  <a:srgbClr val="6F89F7"/>
                </a:solidFill>
                <a:latin typeface="Times New Roman"/>
                <a:cs typeface="Times New Roman"/>
              </a:rPr>
              <a:t>t=t+</a:t>
            </a:r>
            <a:r>
              <a:rPr sz="1800" b="1" spc="25" dirty="0">
                <a:solidFill>
                  <a:srgbClr val="6F89F7"/>
                </a:solidFill>
                <a:latin typeface="Georgia"/>
                <a:cs typeface="Georgia"/>
              </a:rPr>
              <a:t>D</a:t>
            </a:r>
            <a:r>
              <a:rPr sz="1800" b="1" spc="25" dirty="0">
                <a:solidFill>
                  <a:srgbClr val="6F89F7"/>
                </a:solidFill>
                <a:latin typeface="Times New Roman"/>
                <a:cs typeface="Times New Roman"/>
              </a:rPr>
              <a:t>t.</a:t>
            </a:r>
            <a:endParaRPr sz="1800">
              <a:latin typeface="Times New Roman"/>
              <a:cs typeface="Times New Roman"/>
            </a:endParaRPr>
          </a:p>
          <a:p>
            <a:pPr marL="335915" marR="5080" indent="-335915">
              <a:lnSpc>
                <a:spcPts val="1939"/>
              </a:lnSpc>
              <a:spcBef>
                <a:spcPts val="944"/>
              </a:spcBef>
              <a:buClr>
                <a:srgbClr val="05DEFB"/>
              </a:buClr>
              <a:buAutoNum type="arabicParenBoth"/>
              <a:tabLst>
                <a:tab pos="335915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Calculate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position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and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orientation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of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hand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based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on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selected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function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for</a:t>
            </a:r>
            <a:r>
              <a:rPr sz="1800" b="1" spc="-4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trajectory.</a:t>
            </a:r>
            <a:endParaRPr sz="1800">
              <a:latin typeface="Times New Roman"/>
              <a:cs typeface="Times New Roman"/>
            </a:endParaRPr>
          </a:p>
          <a:p>
            <a:pPr marL="335915" marR="175260" indent="-335915">
              <a:lnSpc>
                <a:spcPts val="1939"/>
              </a:lnSpc>
              <a:spcBef>
                <a:spcPts val="770"/>
              </a:spcBef>
              <a:buClr>
                <a:srgbClr val="05DEFB"/>
              </a:buClr>
              <a:buAutoNum type="arabicParenBoth"/>
              <a:tabLst>
                <a:tab pos="335915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Calculate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2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joint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values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for</a:t>
            </a:r>
            <a:r>
              <a:rPr sz="1800" b="1" spc="-2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position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and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orientation 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through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 </a:t>
            </a:r>
            <a:r>
              <a:rPr sz="1800" b="1" spc="-434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inverse kinematic equations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of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F89F7"/>
                </a:solidFill>
                <a:latin typeface="Times New Roman"/>
                <a:cs typeface="Times New Roman"/>
              </a:rPr>
              <a:t>robot.</a:t>
            </a:r>
            <a:endParaRPr sz="1800">
              <a:latin typeface="Times New Roman"/>
              <a:cs typeface="Times New Roman"/>
            </a:endParaRPr>
          </a:p>
          <a:p>
            <a:pPr marL="335280" indent="-323215">
              <a:lnSpc>
                <a:spcPct val="100000"/>
              </a:lnSpc>
              <a:spcBef>
                <a:spcPts val="70"/>
              </a:spcBef>
              <a:buClr>
                <a:srgbClr val="05DEFB"/>
              </a:buClr>
              <a:buAutoNum type="arabicParenBoth"/>
              <a:tabLst>
                <a:tab pos="335915" algn="l"/>
              </a:tabLst>
            </a:pP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Send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joint</a:t>
            </a:r>
            <a:r>
              <a:rPr sz="1800" b="1" spc="1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information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to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the</a:t>
            </a:r>
            <a:r>
              <a:rPr sz="1800" b="1" spc="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controller.</a:t>
            </a:r>
            <a:endParaRPr sz="1800">
              <a:latin typeface="Times New Roman"/>
              <a:cs typeface="Times New Roman"/>
            </a:endParaRPr>
          </a:p>
          <a:p>
            <a:pPr marL="335280" indent="-323215">
              <a:lnSpc>
                <a:spcPct val="100000"/>
              </a:lnSpc>
              <a:spcBef>
                <a:spcPts val="990"/>
              </a:spcBef>
              <a:buClr>
                <a:srgbClr val="05DEFB"/>
              </a:buClr>
              <a:buAutoNum type="arabicParenBoth"/>
              <a:tabLst>
                <a:tab pos="335915" algn="l"/>
              </a:tabLst>
            </a:pP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Go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to</a:t>
            </a:r>
            <a:r>
              <a:rPr sz="1800" b="1" spc="-1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beginning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 of</a:t>
            </a:r>
            <a:r>
              <a:rPr sz="1800" b="1" spc="-20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89F7"/>
                </a:solidFill>
                <a:latin typeface="Times New Roman"/>
                <a:cs typeface="Times New Roman"/>
              </a:rPr>
              <a:t>the</a:t>
            </a:r>
            <a:r>
              <a:rPr sz="1800" b="1" spc="5" dirty="0">
                <a:solidFill>
                  <a:srgbClr val="6F89F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89F7"/>
                </a:solidFill>
                <a:latin typeface="Times New Roman"/>
                <a:cs typeface="Times New Roman"/>
              </a:rPr>
              <a:t>loop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2014346"/>
            <a:ext cx="190499" cy="1950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9839" y="1940687"/>
            <a:ext cx="616331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If possible, we still prefer to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plan Cartesian trajectories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separately</a:t>
            </a:r>
            <a:r>
              <a:rPr sz="2000" spc="-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for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position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20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orientation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3965066"/>
            <a:ext cx="190499" cy="19507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9839" y="3891407"/>
            <a:ext cx="7239634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number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knots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interpolated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Cartesian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space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endParaRPr sz="2000">
              <a:latin typeface="Tahoma"/>
              <a:cs typeface="Tahoma"/>
            </a:endParaRPr>
          </a:p>
          <a:p>
            <a:pPr marL="12700" marR="82550">
              <a:lnSpc>
                <a:spcPct val="200000"/>
              </a:lnSpc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typically</a:t>
            </a:r>
            <a:r>
              <a:rPr sz="20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low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(e.g.,</a:t>
            </a:r>
            <a:r>
              <a:rPr sz="2000" spc="-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2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knots for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a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PTP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motion,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3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if</a:t>
            </a:r>
            <a:r>
              <a:rPr sz="20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“via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point”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added):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use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simple interpolating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paths,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such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as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straight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lines…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22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7052" y="1050671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96049" y="2231898"/>
            <a:ext cx="2637155" cy="2097405"/>
            <a:chOff x="496049" y="2231898"/>
            <a:chExt cx="2637155" cy="2097405"/>
          </a:xfrm>
        </p:grpSpPr>
        <p:sp>
          <p:nvSpPr>
            <p:cNvPr id="4" name="object 4"/>
            <p:cNvSpPr/>
            <p:nvPr/>
          </p:nvSpPr>
          <p:spPr>
            <a:xfrm>
              <a:off x="515086" y="2250948"/>
              <a:ext cx="2599055" cy="2059305"/>
            </a:xfrm>
            <a:custGeom>
              <a:avLst/>
              <a:gdLst/>
              <a:ahLst/>
              <a:cxnLst/>
              <a:rect l="l" t="t" r="r" b="b"/>
              <a:pathLst>
                <a:path w="2599055" h="2059304">
                  <a:moveTo>
                    <a:pt x="960145" y="1295400"/>
                  </a:moveTo>
                  <a:lnTo>
                    <a:pt x="2598445" y="1295400"/>
                  </a:lnTo>
                </a:path>
                <a:path w="2599055" h="2059304">
                  <a:moveTo>
                    <a:pt x="960145" y="1295400"/>
                  </a:moveTo>
                  <a:lnTo>
                    <a:pt x="0" y="2058936"/>
                  </a:lnTo>
                </a:path>
                <a:path w="2599055" h="2059304">
                  <a:moveTo>
                    <a:pt x="960145" y="1295400"/>
                  </a:moveTo>
                  <a:lnTo>
                    <a:pt x="960145" y="0"/>
                  </a:lnTo>
                </a:path>
              </a:pathLst>
            </a:custGeom>
            <a:ln w="38100">
              <a:solidFill>
                <a:srgbClr val="FFCF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843" y="2606057"/>
              <a:ext cx="2235835" cy="521334"/>
            </a:xfrm>
            <a:custGeom>
              <a:avLst/>
              <a:gdLst/>
              <a:ahLst/>
              <a:cxnLst/>
              <a:rect l="l" t="t" r="r" b="b"/>
              <a:pathLst>
                <a:path w="2235835" h="521335">
                  <a:moveTo>
                    <a:pt x="0" y="0"/>
                  </a:moveTo>
                  <a:lnTo>
                    <a:pt x="2235695" y="521169"/>
                  </a:lnTo>
                </a:path>
              </a:pathLst>
            </a:custGeom>
            <a:ln w="38100">
              <a:solidFill>
                <a:srgbClr val="1822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766" y="2565965"/>
              <a:ext cx="75575" cy="755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0473" y="3087173"/>
              <a:ext cx="75575" cy="7557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79575" y="2314955"/>
            <a:ext cx="20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1822CD"/>
                </a:solidFill>
                <a:latin typeface="Tahoma"/>
                <a:cs typeface="Tahoma"/>
              </a:rPr>
              <a:t>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125" y="2292223"/>
            <a:ext cx="2044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p</a:t>
            </a:r>
            <a:r>
              <a:rPr sz="1300" spc="5" dirty="0">
                <a:latin typeface="Tahoma"/>
                <a:cs typeface="Tahoma"/>
              </a:rPr>
              <a:t>i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7525" y="2931985"/>
            <a:ext cx="2197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p</a:t>
            </a:r>
            <a:r>
              <a:rPr sz="1300" spc="5" dirty="0">
                <a:latin typeface="Tahoma"/>
                <a:cs typeface="Tahoma"/>
              </a:rPr>
              <a:t>f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1512" y="4540567"/>
            <a:ext cx="2472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ahoma"/>
                <a:cs typeface="Tahoma"/>
              </a:rPr>
              <a:t>p</a:t>
            </a:r>
            <a:r>
              <a:rPr sz="2000" dirty="0">
                <a:latin typeface="Tahoma"/>
                <a:cs typeface="Tahoma"/>
              </a:rPr>
              <a:t>ath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40" dirty="0">
                <a:latin typeface="Tahoma"/>
                <a:cs typeface="Tahoma"/>
              </a:rPr>
              <a:t>r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5" dirty="0">
                <a:latin typeface="Tahoma"/>
                <a:cs typeface="Tahoma"/>
              </a:rPr>
              <a:t>m</a:t>
            </a:r>
            <a:r>
              <a:rPr sz="2000" dirty="0">
                <a:latin typeface="Tahoma"/>
                <a:cs typeface="Tahoma"/>
              </a:rPr>
              <a:t>ete</a:t>
            </a:r>
            <a:r>
              <a:rPr sz="2000" spc="-5" dirty="0">
                <a:latin typeface="Tahoma"/>
                <a:cs typeface="Tahoma"/>
              </a:rPr>
              <a:t>riz</a:t>
            </a:r>
            <a:r>
              <a:rPr sz="2000" dirty="0">
                <a:latin typeface="Tahoma"/>
                <a:cs typeface="Tahoma"/>
              </a:rPr>
              <a:t>at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2000" dirty="0">
                <a:latin typeface="Tahoma"/>
                <a:cs typeface="Tahoma"/>
              </a:rPr>
              <a:t>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73477" y="5645911"/>
            <a:ext cx="10731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i="1" dirty="0">
                <a:latin typeface="Times New Roman"/>
                <a:cs typeface="Times New Roman"/>
              </a:rPr>
              <a:t>i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0461" y="5645911"/>
            <a:ext cx="10731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i="1" dirty="0">
                <a:latin typeface="Times New Roman"/>
                <a:cs typeface="Times New Roman"/>
              </a:rPr>
              <a:t>f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6391" y="5645911"/>
            <a:ext cx="107314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i="1" dirty="0">
                <a:latin typeface="Times New Roman"/>
                <a:cs typeface="Times New Roman"/>
              </a:rPr>
              <a:t>i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7869" y="5385308"/>
            <a:ext cx="3799840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56080" algn="l"/>
                <a:tab pos="2922270" algn="l"/>
              </a:tabLst>
            </a:pPr>
            <a:r>
              <a:rPr sz="3450" i="1" spc="90" dirty="0">
                <a:latin typeface="Times New Roman"/>
                <a:cs typeface="Times New Roman"/>
              </a:rPr>
              <a:t>p</a:t>
            </a:r>
            <a:r>
              <a:rPr sz="3450" spc="90" dirty="0">
                <a:latin typeface="Times New Roman"/>
                <a:cs typeface="Times New Roman"/>
              </a:rPr>
              <a:t>(</a:t>
            </a:r>
            <a:r>
              <a:rPr sz="3450" i="1" spc="90" dirty="0">
                <a:latin typeface="Times New Roman"/>
                <a:cs typeface="Times New Roman"/>
              </a:rPr>
              <a:t>s</a:t>
            </a:r>
            <a:r>
              <a:rPr sz="3450" spc="90" dirty="0">
                <a:latin typeface="Times New Roman"/>
                <a:cs typeface="Times New Roman"/>
              </a:rPr>
              <a:t>)</a:t>
            </a:r>
            <a:r>
              <a:rPr sz="3450" spc="-7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Symbol"/>
                <a:cs typeface="Symbol"/>
              </a:rPr>
              <a:t></a:t>
            </a:r>
            <a:r>
              <a:rPr sz="3450" spc="375" dirty="0">
                <a:latin typeface="Times New Roman"/>
                <a:cs typeface="Times New Roman"/>
              </a:rPr>
              <a:t> </a:t>
            </a:r>
            <a:r>
              <a:rPr sz="3450" i="1" dirty="0">
                <a:latin typeface="Times New Roman"/>
                <a:cs typeface="Times New Roman"/>
              </a:rPr>
              <a:t>p	</a:t>
            </a:r>
            <a:r>
              <a:rPr sz="3450" dirty="0">
                <a:latin typeface="Symbol"/>
                <a:cs typeface="Symbol"/>
              </a:rPr>
              <a:t></a:t>
            </a:r>
            <a:r>
              <a:rPr sz="3450" spc="-170" dirty="0">
                <a:latin typeface="Times New Roman"/>
                <a:cs typeface="Times New Roman"/>
              </a:rPr>
              <a:t> </a:t>
            </a:r>
            <a:r>
              <a:rPr sz="3450" i="1" spc="55" dirty="0">
                <a:latin typeface="Times New Roman"/>
                <a:cs typeface="Times New Roman"/>
              </a:rPr>
              <a:t>s</a:t>
            </a:r>
            <a:r>
              <a:rPr sz="3450" spc="55" dirty="0">
                <a:latin typeface="Times New Roman"/>
                <a:cs typeface="Times New Roman"/>
              </a:rPr>
              <a:t>(</a:t>
            </a:r>
            <a:r>
              <a:rPr sz="3450" spc="-345" dirty="0">
                <a:latin typeface="Times New Roman"/>
                <a:cs typeface="Times New Roman"/>
              </a:rPr>
              <a:t> </a:t>
            </a:r>
            <a:r>
              <a:rPr sz="3450" i="1" dirty="0">
                <a:latin typeface="Times New Roman"/>
                <a:cs typeface="Times New Roman"/>
              </a:rPr>
              <a:t>p	</a:t>
            </a:r>
            <a:r>
              <a:rPr sz="3450" dirty="0">
                <a:latin typeface="Symbol"/>
                <a:cs typeface="Symbol"/>
              </a:rPr>
              <a:t></a:t>
            </a:r>
            <a:r>
              <a:rPr sz="3450" spc="110" dirty="0">
                <a:latin typeface="Times New Roman"/>
                <a:cs typeface="Times New Roman"/>
              </a:rPr>
              <a:t> </a:t>
            </a:r>
            <a:r>
              <a:rPr sz="3450" i="1" dirty="0">
                <a:latin typeface="Times New Roman"/>
                <a:cs typeface="Times New Roman"/>
              </a:rPr>
              <a:t>p</a:t>
            </a:r>
            <a:r>
              <a:rPr sz="3450" i="1" spc="10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)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9008" y="2354579"/>
            <a:ext cx="2825750" cy="1315720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0">
              <a:lnSpc>
                <a:spcPts val="2305"/>
              </a:lnSpc>
            </a:pPr>
            <a:r>
              <a:rPr sz="2000" spc="-5" dirty="0">
                <a:latin typeface="Tahoma"/>
                <a:cs typeface="Tahoma"/>
              </a:rPr>
              <a:t>GIVEN</a:t>
            </a:r>
            <a:endParaRPr sz="2000">
              <a:latin typeface="Tahoma"/>
              <a:cs typeface="Tahoma"/>
            </a:endParaRPr>
          </a:p>
          <a:p>
            <a:pPr marL="90170">
              <a:lnSpc>
                <a:spcPct val="100000"/>
              </a:lnSpc>
              <a:spcBef>
                <a:spcPts val="800"/>
              </a:spcBef>
              <a:tabLst>
                <a:tab pos="554355" algn="l"/>
              </a:tabLst>
            </a:pPr>
            <a:r>
              <a:rPr sz="3825" i="1" spc="-82" baseline="14161" dirty="0">
                <a:latin typeface="Times New Roman"/>
                <a:cs typeface="Times New Roman"/>
              </a:rPr>
              <a:t>p</a:t>
            </a:r>
            <a:r>
              <a:rPr sz="1700" i="1" spc="5" dirty="0">
                <a:latin typeface="Times New Roman"/>
                <a:cs typeface="Times New Roman"/>
              </a:rPr>
              <a:t>i</a:t>
            </a:r>
            <a:r>
              <a:rPr sz="1700" i="1" spc="-125" dirty="0">
                <a:latin typeface="Times New Roman"/>
                <a:cs typeface="Times New Roman"/>
              </a:rPr>
              <a:t> </a:t>
            </a:r>
            <a:r>
              <a:rPr sz="3825" spc="7" baseline="14161" dirty="0">
                <a:latin typeface="Times New Roman"/>
                <a:cs typeface="Times New Roman"/>
              </a:rPr>
              <a:t>,</a:t>
            </a:r>
            <a:r>
              <a:rPr sz="3825" baseline="14161" dirty="0">
                <a:latin typeface="Times New Roman"/>
                <a:cs typeface="Times New Roman"/>
              </a:rPr>
              <a:t>	</a:t>
            </a:r>
            <a:r>
              <a:rPr sz="3825" i="1" spc="22" baseline="14161" dirty="0">
                <a:latin typeface="Times New Roman"/>
                <a:cs typeface="Times New Roman"/>
              </a:rPr>
              <a:t>p</a:t>
            </a:r>
            <a:r>
              <a:rPr sz="3825" i="1" spc="-494" baseline="14161" dirty="0">
                <a:latin typeface="Times New Roman"/>
                <a:cs typeface="Times New Roman"/>
              </a:rPr>
              <a:t> </a:t>
            </a:r>
            <a:r>
              <a:rPr sz="1700" i="1" spc="5" dirty="0">
                <a:latin typeface="Times New Roman"/>
                <a:cs typeface="Times New Roman"/>
              </a:rPr>
              <a:t>f</a:t>
            </a:r>
            <a:r>
              <a:rPr sz="1700" i="1" spc="2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,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v</a:t>
            </a:r>
            <a:r>
              <a:rPr sz="2250" spc="-37" baseline="-16666" dirty="0">
                <a:latin typeface="Times New Roman"/>
                <a:cs typeface="Times New Roman"/>
              </a:rPr>
              <a:t>m</a:t>
            </a:r>
            <a:r>
              <a:rPr sz="2250" spc="-15" baseline="-16666" dirty="0">
                <a:latin typeface="Times New Roman"/>
                <a:cs typeface="Times New Roman"/>
              </a:rPr>
              <a:t>a</a:t>
            </a:r>
            <a:r>
              <a:rPr sz="2250" baseline="-16666" dirty="0">
                <a:latin typeface="Times New Roman"/>
                <a:cs typeface="Times New Roman"/>
              </a:rPr>
              <a:t>x</a:t>
            </a:r>
            <a:r>
              <a:rPr sz="2250" spc="-142" baseline="-1666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,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spc="130" dirty="0">
                <a:latin typeface="Times New Roman"/>
                <a:cs typeface="Times New Roman"/>
              </a:rPr>
              <a:t>a</a:t>
            </a:r>
            <a:r>
              <a:rPr sz="2250" spc="-37" baseline="-16666" dirty="0">
                <a:latin typeface="Times New Roman"/>
                <a:cs typeface="Times New Roman"/>
              </a:rPr>
              <a:t>m</a:t>
            </a:r>
            <a:r>
              <a:rPr sz="2250" spc="-15" baseline="-16666" dirty="0">
                <a:latin typeface="Times New Roman"/>
                <a:cs typeface="Times New Roman"/>
              </a:rPr>
              <a:t>a</a:t>
            </a:r>
            <a:r>
              <a:rPr sz="2250" baseline="-16666" dirty="0">
                <a:latin typeface="Times New Roman"/>
                <a:cs typeface="Times New Roman"/>
              </a:rPr>
              <a:t>x</a:t>
            </a:r>
            <a:endParaRPr sz="2250" baseline="-16666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675"/>
              </a:spcBef>
              <a:tabLst>
                <a:tab pos="487680" algn="l"/>
              </a:tabLst>
            </a:pPr>
            <a:r>
              <a:rPr sz="2550" i="1" spc="-75" dirty="0">
                <a:latin typeface="Times New Roman"/>
                <a:cs typeface="Times New Roman"/>
              </a:rPr>
              <a:t>v</a:t>
            </a:r>
            <a:r>
              <a:rPr sz="2550" i="1" spc="7" baseline="-21241" dirty="0">
                <a:latin typeface="Times New Roman"/>
                <a:cs typeface="Times New Roman"/>
              </a:rPr>
              <a:t>i</a:t>
            </a:r>
            <a:r>
              <a:rPr sz="2550" i="1" spc="-187" baseline="-21241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,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15" dirty="0">
                <a:latin typeface="Times New Roman"/>
                <a:cs typeface="Times New Roman"/>
              </a:rPr>
              <a:t>v</a:t>
            </a:r>
            <a:r>
              <a:rPr sz="2550" spc="-225" dirty="0">
                <a:latin typeface="Times New Roman"/>
                <a:cs typeface="Times New Roman"/>
              </a:rPr>
              <a:t> </a:t>
            </a:r>
            <a:r>
              <a:rPr sz="2550" i="1" spc="7" baseline="-21241" dirty="0">
                <a:latin typeface="Times New Roman"/>
                <a:cs typeface="Times New Roman"/>
              </a:rPr>
              <a:t>f</a:t>
            </a:r>
            <a:r>
              <a:rPr sz="2550" i="1" baseline="-21241" dirty="0">
                <a:latin typeface="Times New Roman"/>
                <a:cs typeface="Times New Roman"/>
              </a:rPr>
              <a:t> </a:t>
            </a:r>
            <a:r>
              <a:rPr sz="2550" i="1" spc="-240" baseline="-21241" dirty="0">
                <a:latin typeface="Times New Roman"/>
                <a:cs typeface="Times New Roman"/>
              </a:rPr>
              <a:t> </a:t>
            </a:r>
            <a:r>
              <a:rPr sz="2550" spc="-5" dirty="0">
                <a:latin typeface="Times New Roman"/>
                <a:cs typeface="Times New Roman"/>
              </a:rPr>
              <a:t>(</a:t>
            </a:r>
            <a:r>
              <a:rPr sz="2550" spc="10" dirty="0">
                <a:latin typeface="Times New Roman"/>
                <a:cs typeface="Times New Roman"/>
              </a:rPr>
              <a:t>t</a:t>
            </a:r>
            <a:r>
              <a:rPr sz="2550" spc="-65" dirty="0">
                <a:latin typeface="Times New Roman"/>
                <a:cs typeface="Times New Roman"/>
              </a:rPr>
              <a:t>y</a:t>
            </a:r>
            <a:r>
              <a:rPr sz="2550" spc="15" dirty="0">
                <a:latin typeface="Times New Roman"/>
                <a:cs typeface="Times New Roman"/>
              </a:rPr>
              <a:t>p</a:t>
            </a:r>
            <a:r>
              <a:rPr sz="2550" spc="10" dirty="0">
                <a:latin typeface="Times New Roman"/>
                <a:cs typeface="Times New Roman"/>
              </a:rPr>
              <a:t>i</a:t>
            </a:r>
            <a:r>
              <a:rPr sz="2550" spc="-10" dirty="0">
                <a:latin typeface="Times New Roman"/>
                <a:cs typeface="Times New Roman"/>
              </a:rPr>
              <a:t>ca</a:t>
            </a:r>
            <a:r>
              <a:rPr sz="2550" spc="-30" dirty="0">
                <a:latin typeface="Times New Roman"/>
                <a:cs typeface="Times New Roman"/>
              </a:rPr>
              <a:t>ll</a:t>
            </a:r>
            <a:r>
              <a:rPr sz="2550" spc="15" dirty="0">
                <a:latin typeface="Times New Roman"/>
                <a:cs typeface="Times New Roman"/>
              </a:rPr>
              <a:t>y</a:t>
            </a:r>
            <a:r>
              <a:rPr sz="2550" spc="-75" dirty="0">
                <a:latin typeface="Times New Roman"/>
                <a:cs typeface="Times New Roman"/>
              </a:rPr>
              <a:t> </a:t>
            </a:r>
            <a:r>
              <a:rPr sz="2550" spc="15" dirty="0">
                <a:latin typeface="Times New Roman"/>
                <a:cs typeface="Times New Roman"/>
              </a:rPr>
              <a:t>=</a:t>
            </a:r>
            <a:r>
              <a:rPr sz="255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Times New Roman"/>
                <a:cs typeface="Times New Roman"/>
              </a:rPr>
              <a:t>0)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51947" y="4123099"/>
            <a:ext cx="74295" cy="546100"/>
            <a:chOff x="6351947" y="4123099"/>
            <a:chExt cx="74295" cy="546100"/>
          </a:xfrm>
        </p:grpSpPr>
        <p:sp>
          <p:nvSpPr>
            <p:cNvPr id="18" name="object 18"/>
            <p:cNvSpPr/>
            <p:nvPr/>
          </p:nvSpPr>
          <p:spPr>
            <a:xfrm>
              <a:off x="6416406" y="4123099"/>
              <a:ext cx="0" cy="546100"/>
            </a:xfrm>
            <a:custGeom>
              <a:avLst/>
              <a:gdLst/>
              <a:ahLst/>
              <a:cxnLst/>
              <a:rect l="l" t="t" r="r" b="b"/>
              <a:pathLst>
                <a:path h="546100">
                  <a:moveTo>
                    <a:pt x="0" y="0"/>
                  </a:moveTo>
                  <a:lnTo>
                    <a:pt x="0" y="545756"/>
                  </a:lnTo>
                </a:path>
              </a:pathLst>
            </a:custGeom>
            <a:ln w="18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61155" y="4123099"/>
              <a:ext cx="0" cy="546100"/>
            </a:xfrm>
            <a:custGeom>
              <a:avLst/>
              <a:gdLst/>
              <a:ahLst/>
              <a:cxnLst/>
              <a:rect l="l" t="t" r="r" b="b"/>
              <a:pathLst>
                <a:path h="546100">
                  <a:moveTo>
                    <a:pt x="0" y="0"/>
                  </a:moveTo>
                  <a:lnTo>
                    <a:pt x="0" y="545756"/>
                  </a:lnTo>
                </a:path>
              </a:pathLst>
            </a:custGeom>
            <a:ln w="18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588784" y="4123099"/>
            <a:ext cx="74295" cy="546100"/>
            <a:chOff x="7588784" y="4123099"/>
            <a:chExt cx="74295" cy="546100"/>
          </a:xfrm>
        </p:grpSpPr>
        <p:sp>
          <p:nvSpPr>
            <p:cNvPr id="21" name="object 21"/>
            <p:cNvSpPr/>
            <p:nvPr/>
          </p:nvSpPr>
          <p:spPr>
            <a:xfrm>
              <a:off x="7653243" y="4123099"/>
              <a:ext cx="0" cy="546100"/>
            </a:xfrm>
            <a:custGeom>
              <a:avLst/>
              <a:gdLst/>
              <a:ahLst/>
              <a:cxnLst/>
              <a:rect l="l" t="t" r="r" b="b"/>
              <a:pathLst>
                <a:path h="546100">
                  <a:moveTo>
                    <a:pt x="0" y="0"/>
                  </a:moveTo>
                  <a:lnTo>
                    <a:pt x="0" y="545756"/>
                  </a:lnTo>
                </a:path>
              </a:pathLst>
            </a:custGeom>
            <a:ln w="18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97992" y="4123099"/>
              <a:ext cx="0" cy="546100"/>
            </a:xfrm>
            <a:custGeom>
              <a:avLst/>
              <a:gdLst/>
              <a:ahLst/>
              <a:cxnLst/>
              <a:rect l="l" t="t" r="r" b="b"/>
              <a:pathLst>
                <a:path h="546100">
                  <a:moveTo>
                    <a:pt x="0" y="0"/>
                  </a:moveTo>
                  <a:lnTo>
                    <a:pt x="0" y="545756"/>
                  </a:lnTo>
                </a:path>
              </a:pathLst>
            </a:custGeom>
            <a:ln w="18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807285" y="4104594"/>
            <a:ext cx="1764664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95960" algn="l"/>
                <a:tab pos="1153160" algn="l"/>
              </a:tabLst>
            </a:pPr>
            <a:r>
              <a:rPr sz="2900" spc="-10" dirty="0">
                <a:latin typeface="Times New Roman"/>
                <a:cs typeface="Times New Roman"/>
              </a:rPr>
              <a:t>L=	</a:t>
            </a:r>
            <a:r>
              <a:rPr sz="2900" i="1" spc="15" dirty="0">
                <a:latin typeface="Times New Roman"/>
                <a:cs typeface="Times New Roman"/>
              </a:rPr>
              <a:t>p</a:t>
            </a:r>
            <a:r>
              <a:rPr sz="2900" i="1" spc="-375" dirty="0">
                <a:latin typeface="Times New Roman"/>
                <a:cs typeface="Times New Roman"/>
              </a:rPr>
              <a:t> </a:t>
            </a:r>
            <a:r>
              <a:rPr sz="2925" i="1" baseline="-21367" dirty="0">
                <a:latin typeface="Times New Roman"/>
                <a:cs typeface="Times New Roman"/>
              </a:rPr>
              <a:t>f	</a:t>
            </a:r>
            <a:r>
              <a:rPr sz="2900" spc="15" dirty="0">
                <a:latin typeface="Symbol"/>
                <a:cs typeface="Symbol"/>
              </a:rPr>
              <a:t></a:t>
            </a:r>
            <a:r>
              <a:rPr sz="2900" spc="75" dirty="0">
                <a:latin typeface="Times New Roman"/>
                <a:cs typeface="Times New Roman"/>
              </a:rPr>
              <a:t> </a:t>
            </a:r>
            <a:r>
              <a:rPr sz="2900" i="1" spc="-35" dirty="0">
                <a:latin typeface="Times New Roman"/>
                <a:cs typeface="Times New Roman"/>
              </a:rPr>
              <a:t>p</a:t>
            </a:r>
            <a:r>
              <a:rPr sz="2925" i="1" spc="-52" baseline="-21367" dirty="0">
                <a:latin typeface="Times New Roman"/>
                <a:cs typeface="Times New Roman"/>
              </a:rPr>
              <a:t>i</a:t>
            </a:r>
            <a:endParaRPr sz="2925" baseline="-21367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05250" y="5420766"/>
            <a:ext cx="1411605" cy="554990"/>
            <a:chOff x="5205250" y="5420766"/>
            <a:chExt cx="1411605" cy="554990"/>
          </a:xfrm>
        </p:grpSpPr>
        <p:sp>
          <p:nvSpPr>
            <p:cNvPr id="25" name="object 25"/>
            <p:cNvSpPr/>
            <p:nvPr/>
          </p:nvSpPr>
          <p:spPr>
            <a:xfrm>
              <a:off x="5291016" y="5472112"/>
              <a:ext cx="0" cy="504190"/>
            </a:xfrm>
            <a:custGeom>
              <a:avLst/>
              <a:gdLst/>
              <a:ahLst/>
              <a:cxnLst/>
              <a:rect l="l" t="t" r="r" b="b"/>
              <a:pathLst>
                <a:path h="504189">
                  <a:moveTo>
                    <a:pt x="0" y="0"/>
                  </a:moveTo>
                  <a:lnTo>
                    <a:pt x="0" y="503634"/>
                  </a:lnTo>
                </a:path>
              </a:pathLst>
            </a:custGeom>
            <a:ln w="16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40092" y="5472112"/>
              <a:ext cx="0" cy="504190"/>
            </a:xfrm>
            <a:custGeom>
              <a:avLst/>
              <a:gdLst/>
              <a:ahLst/>
              <a:cxnLst/>
              <a:rect l="l" t="t" r="r" b="b"/>
              <a:pathLst>
                <a:path h="504189">
                  <a:moveTo>
                    <a:pt x="0" y="0"/>
                  </a:moveTo>
                  <a:lnTo>
                    <a:pt x="0" y="503634"/>
                  </a:lnTo>
                </a:path>
              </a:pathLst>
            </a:custGeom>
            <a:ln w="16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31007" y="5472112"/>
              <a:ext cx="0" cy="504190"/>
            </a:xfrm>
            <a:custGeom>
              <a:avLst/>
              <a:gdLst/>
              <a:ahLst/>
              <a:cxnLst/>
              <a:rect l="l" t="t" r="r" b="b"/>
              <a:pathLst>
                <a:path h="504189">
                  <a:moveTo>
                    <a:pt x="0" y="0"/>
                  </a:moveTo>
                  <a:lnTo>
                    <a:pt x="0" y="503634"/>
                  </a:lnTo>
                </a:path>
              </a:pathLst>
            </a:custGeom>
            <a:ln w="16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80083" y="5472112"/>
              <a:ext cx="0" cy="504190"/>
            </a:xfrm>
            <a:custGeom>
              <a:avLst/>
              <a:gdLst/>
              <a:ahLst/>
              <a:cxnLst/>
              <a:rect l="l" t="t" r="r" b="b"/>
              <a:pathLst>
                <a:path h="504189">
                  <a:moveTo>
                    <a:pt x="0" y="0"/>
                  </a:moveTo>
                  <a:lnTo>
                    <a:pt x="0" y="503634"/>
                  </a:lnTo>
                </a:path>
              </a:pathLst>
            </a:custGeom>
            <a:ln w="16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05250" y="5429249"/>
              <a:ext cx="1411605" cy="0"/>
            </a:xfrm>
            <a:custGeom>
              <a:avLst/>
              <a:gdLst/>
              <a:ahLst/>
              <a:cxnLst/>
              <a:rect l="l" t="t" r="r" b="b"/>
              <a:pathLst>
                <a:path w="1411604">
                  <a:moveTo>
                    <a:pt x="0" y="0"/>
                  </a:moveTo>
                  <a:lnTo>
                    <a:pt x="1411586" y="0"/>
                  </a:lnTo>
                </a:path>
              </a:pathLst>
            </a:custGeom>
            <a:ln w="169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08374" y="4891483"/>
            <a:ext cx="101409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59105" algn="l"/>
              </a:tabLst>
            </a:pPr>
            <a:r>
              <a:rPr sz="2700" i="1" dirty="0">
                <a:latin typeface="Times New Roman"/>
                <a:cs typeface="Times New Roman"/>
              </a:rPr>
              <a:t>p</a:t>
            </a:r>
            <a:r>
              <a:rPr sz="2700" i="1" spc="-355" dirty="0">
                <a:latin typeface="Times New Roman"/>
                <a:cs typeface="Times New Roman"/>
              </a:rPr>
              <a:t> </a:t>
            </a:r>
            <a:r>
              <a:rPr sz="2700" i="1" baseline="-21604" dirty="0">
                <a:latin typeface="Times New Roman"/>
                <a:cs typeface="Times New Roman"/>
              </a:rPr>
              <a:t>f	</a:t>
            </a:r>
            <a:r>
              <a:rPr sz="2700" dirty="0">
                <a:latin typeface="Symbol"/>
                <a:cs typeface="Symbol"/>
              </a:rPr>
              <a:t></a:t>
            </a:r>
            <a:r>
              <a:rPr sz="2700" spc="45" dirty="0">
                <a:latin typeface="Times New Roman"/>
                <a:cs typeface="Times New Roman"/>
              </a:rPr>
              <a:t> </a:t>
            </a:r>
            <a:r>
              <a:rPr sz="2700" i="1" spc="-35" dirty="0">
                <a:latin typeface="Times New Roman"/>
                <a:cs typeface="Times New Roman"/>
              </a:rPr>
              <a:t>p</a:t>
            </a:r>
            <a:r>
              <a:rPr sz="2700" i="1" spc="-52" baseline="-21604" dirty="0">
                <a:latin typeface="Times New Roman"/>
                <a:cs typeface="Times New Roman"/>
              </a:rPr>
              <a:t>i</a:t>
            </a:r>
            <a:endParaRPr sz="2700" baseline="-21604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33243" y="5454182"/>
            <a:ext cx="101409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59105" algn="l"/>
              </a:tabLst>
            </a:pPr>
            <a:r>
              <a:rPr sz="2700" i="1" dirty="0">
                <a:latin typeface="Times New Roman"/>
                <a:cs typeface="Times New Roman"/>
              </a:rPr>
              <a:t>p</a:t>
            </a:r>
            <a:r>
              <a:rPr sz="2700" i="1" spc="-355" dirty="0">
                <a:latin typeface="Times New Roman"/>
                <a:cs typeface="Times New Roman"/>
              </a:rPr>
              <a:t> </a:t>
            </a:r>
            <a:r>
              <a:rPr sz="2700" i="1" baseline="-21604" dirty="0">
                <a:latin typeface="Times New Roman"/>
                <a:cs typeface="Times New Roman"/>
              </a:rPr>
              <a:t>f	</a:t>
            </a:r>
            <a:r>
              <a:rPr sz="2700" dirty="0">
                <a:latin typeface="Symbol"/>
                <a:cs typeface="Symbol"/>
              </a:rPr>
              <a:t></a:t>
            </a:r>
            <a:r>
              <a:rPr sz="2700" spc="45" dirty="0">
                <a:latin typeface="Times New Roman"/>
                <a:cs typeface="Times New Roman"/>
              </a:rPr>
              <a:t> </a:t>
            </a:r>
            <a:r>
              <a:rPr sz="2700" i="1" spc="-35" dirty="0">
                <a:latin typeface="Times New Roman"/>
                <a:cs typeface="Times New Roman"/>
              </a:rPr>
              <a:t>p</a:t>
            </a:r>
            <a:r>
              <a:rPr sz="2700" i="1" spc="-52" baseline="-21604" dirty="0">
                <a:latin typeface="Times New Roman"/>
                <a:cs typeface="Times New Roman"/>
              </a:rPr>
              <a:t>i</a:t>
            </a:r>
            <a:endParaRPr sz="2700" baseline="-21604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98665" y="5143246"/>
            <a:ext cx="1791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unit</a:t>
            </a:r>
            <a:r>
              <a:rPr sz="18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vector of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line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44653" y="5341366"/>
            <a:ext cx="207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17361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3600" spc="67" baseline="17361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direction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cosines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7868" y="2162555"/>
            <a:ext cx="2735580" cy="2188845"/>
            <a:chOff x="467868" y="2162555"/>
            <a:chExt cx="2735580" cy="2188845"/>
          </a:xfrm>
        </p:grpSpPr>
        <p:sp>
          <p:nvSpPr>
            <p:cNvPr id="35" name="object 35"/>
            <p:cNvSpPr/>
            <p:nvPr/>
          </p:nvSpPr>
          <p:spPr>
            <a:xfrm>
              <a:off x="3089147" y="348843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7868" y="2162555"/>
              <a:ext cx="1064260" cy="2188845"/>
            </a:xfrm>
            <a:custGeom>
              <a:avLst/>
              <a:gdLst/>
              <a:ahLst/>
              <a:cxnLst/>
              <a:rect l="l" t="t" r="r" b="b"/>
              <a:pathLst>
                <a:path w="1064260" h="2188845">
                  <a:moveTo>
                    <a:pt x="124968" y="2162098"/>
                  </a:moveTo>
                  <a:lnTo>
                    <a:pt x="53886" y="2072652"/>
                  </a:lnTo>
                  <a:lnTo>
                    <a:pt x="0" y="2188476"/>
                  </a:lnTo>
                  <a:lnTo>
                    <a:pt x="124968" y="2162098"/>
                  </a:lnTo>
                  <a:close/>
                </a:path>
                <a:path w="1064260" h="2188845">
                  <a:moveTo>
                    <a:pt x="1063752" y="114300"/>
                  </a:moveTo>
                  <a:lnTo>
                    <a:pt x="999744" y="0"/>
                  </a:lnTo>
                  <a:lnTo>
                    <a:pt x="935736" y="114300"/>
                  </a:lnTo>
                  <a:lnTo>
                    <a:pt x="1063752" y="11430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47052" y="106235"/>
            <a:ext cx="5243830" cy="13997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100" dirty="0">
              <a:latin typeface="Cambria"/>
              <a:cs typeface="Cambria"/>
            </a:endParaRPr>
          </a:p>
          <a:p>
            <a:pPr marL="533400" lvl="1" indent="-521334">
              <a:lnSpc>
                <a:spcPct val="100000"/>
              </a:lnSpc>
              <a:buAutoNum type="arabicPeriod" startAt="6"/>
              <a:tabLst>
                <a:tab pos="534035" algn="l"/>
              </a:tabLst>
            </a:pP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 dirty="0">
              <a:latin typeface="Tahoma"/>
              <a:cs typeface="Tahoma"/>
            </a:endParaRPr>
          </a:p>
          <a:p>
            <a:pPr marL="155575" marR="635635" lvl="2" indent="-635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519430" algn="l"/>
                <a:tab pos="520065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Planning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linear Cartesian path(position </a:t>
            </a:r>
            <a:r>
              <a:rPr sz="1800" spc="-5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only)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23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0950" y="2099945"/>
            <a:ext cx="1201420" cy="481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i="1" spc="5" dirty="0">
                <a:latin typeface="Times New Roman"/>
                <a:cs typeface="Times New Roman"/>
              </a:rPr>
              <a:t>s</a:t>
            </a:r>
            <a:r>
              <a:rPr sz="2950" i="1" spc="-320" dirty="0">
                <a:latin typeface="Times New Roman"/>
                <a:cs typeface="Times New Roman"/>
              </a:rPr>
              <a:t> </a:t>
            </a:r>
            <a:r>
              <a:rPr sz="2950" spc="170" dirty="0">
                <a:latin typeface="Symbol"/>
                <a:cs typeface="Symbol"/>
              </a:rPr>
              <a:t></a:t>
            </a:r>
            <a:r>
              <a:rPr sz="2950" spc="35" dirty="0">
                <a:latin typeface="Times New Roman"/>
                <a:cs typeface="Times New Roman"/>
              </a:rPr>
              <a:t>[</a:t>
            </a:r>
            <a:r>
              <a:rPr sz="2950" spc="-40" dirty="0">
                <a:latin typeface="Times New Roman"/>
                <a:cs typeface="Times New Roman"/>
              </a:rPr>
              <a:t>0</a:t>
            </a:r>
            <a:r>
              <a:rPr sz="2950" spc="50" dirty="0">
                <a:latin typeface="Times New Roman"/>
                <a:cs typeface="Times New Roman"/>
              </a:rPr>
              <a:t>,</a:t>
            </a:r>
            <a:r>
              <a:rPr sz="2950" spc="-225" dirty="0">
                <a:latin typeface="Times New Roman"/>
                <a:cs typeface="Times New Roman"/>
              </a:rPr>
              <a:t>1]</a:t>
            </a:r>
            <a:endParaRPr sz="29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45560" y="2341876"/>
            <a:ext cx="857885" cy="101600"/>
            <a:chOff x="2345560" y="2341876"/>
            <a:chExt cx="857885" cy="101600"/>
          </a:xfrm>
        </p:grpSpPr>
        <p:sp>
          <p:nvSpPr>
            <p:cNvPr id="5" name="object 5"/>
            <p:cNvSpPr/>
            <p:nvPr/>
          </p:nvSpPr>
          <p:spPr>
            <a:xfrm>
              <a:off x="2351913" y="2392680"/>
              <a:ext cx="851535" cy="0"/>
            </a:xfrm>
            <a:custGeom>
              <a:avLst/>
              <a:gdLst/>
              <a:ahLst/>
              <a:cxnLst/>
              <a:rect l="l" t="t" r="r" b="b"/>
              <a:pathLst>
                <a:path w="851535">
                  <a:moveTo>
                    <a:pt x="8510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51910" y="234822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76200" y="0"/>
                  </a:moveTo>
                  <a:lnTo>
                    <a:pt x="0" y="44450"/>
                  </a:lnTo>
                  <a:lnTo>
                    <a:pt x="76200" y="88900"/>
                  </a:lnTo>
                </a:path>
              </a:pathLst>
            </a:custGeom>
            <a:ln w="127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03448" y="2060448"/>
            <a:ext cx="5256530" cy="708660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1440" marR="365125">
              <a:lnSpc>
                <a:spcPct val="101000"/>
              </a:lnSpc>
              <a:spcBef>
                <a:spcPts val="305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setting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σ/L,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σ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Malgun Gothic"/>
                <a:cs typeface="Malgun Gothic"/>
              </a:rPr>
              <a:t>∈</a:t>
            </a:r>
            <a:r>
              <a:rPr sz="2000" spc="-75" dirty="0">
                <a:solidFill>
                  <a:srgbClr val="40458C"/>
                </a:solidFill>
                <a:latin typeface="Malgun Gothic"/>
                <a:cs typeface="Malgun Gothic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[0,L]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arc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length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(gives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current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length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the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path)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63653" y="3947226"/>
            <a:ext cx="1622425" cy="795020"/>
            <a:chOff x="1563653" y="3947226"/>
            <a:chExt cx="1622425" cy="795020"/>
          </a:xfrm>
        </p:grpSpPr>
        <p:sp>
          <p:nvSpPr>
            <p:cNvPr id="9" name="object 9"/>
            <p:cNvSpPr/>
            <p:nvPr/>
          </p:nvSpPr>
          <p:spPr>
            <a:xfrm>
              <a:off x="1570638" y="3954211"/>
              <a:ext cx="309880" cy="0"/>
            </a:xfrm>
            <a:custGeom>
              <a:avLst/>
              <a:gdLst/>
              <a:ahLst/>
              <a:cxnLst/>
              <a:rect l="l" t="t" r="r" b="b"/>
              <a:pathLst>
                <a:path w="309880">
                  <a:moveTo>
                    <a:pt x="0" y="0"/>
                  </a:moveTo>
                  <a:lnTo>
                    <a:pt x="309284" y="0"/>
                  </a:lnTo>
                </a:path>
              </a:pathLst>
            </a:custGeom>
            <a:ln w="13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30962" y="4735097"/>
              <a:ext cx="847725" cy="0"/>
            </a:xfrm>
            <a:custGeom>
              <a:avLst/>
              <a:gdLst/>
              <a:ahLst/>
              <a:cxnLst/>
              <a:rect l="l" t="t" r="r" b="b"/>
              <a:pathLst>
                <a:path w="847725">
                  <a:moveTo>
                    <a:pt x="0" y="0"/>
                  </a:moveTo>
                  <a:lnTo>
                    <a:pt x="847668" y="0"/>
                  </a:lnTo>
                </a:path>
              </a:pathLst>
            </a:custGeom>
            <a:ln w="13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21633" y="3898606"/>
            <a:ext cx="59372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529590" algn="l"/>
              </a:tabLst>
            </a:pPr>
            <a:r>
              <a:rPr sz="1450" i="1" spc="-5" dirty="0">
                <a:latin typeface="Times New Roman"/>
                <a:cs typeface="Times New Roman"/>
              </a:rPr>
              <a:t>f	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2855" y="3950093"/>
            <a:ext cx="25717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150" i="1" spc="5" dirty="0">
                <a:latin typeface="Times New Roman"/>
                <a:cs typeface="Times New Roman"/>
              </a:rPr>
              <a:t>ds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83838" y="4730772"/>
            <a:ext cx="16573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150" i="1" spc="5" dirty="0">
                <a:latin typeface="Times New Roman"/>
                <a:cs typeface="Times New Roman"/>
              </a:rPr>
              <a:t>L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3691" y="3735565"/>
            <a:ext cx="27000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1995170" algn="l"/>
              </a:tabLst>
            </a:pPr>
            <a:r>
              <a:rPr sz="2150" i="1" spc="-1170" dirty="0">
                <a:latin typeface="Times New Roman"/>
                <a:cs typeface="Times New Roman"/>
              </a:rPr>
              <a:t>p</a:t>
            </a:r>
            <a:r>
              <a:rPr sz="3225" spc="-1754" baseline="2583" dirty="0">
                <a:latin typeface="Arial MT"/>
                <a:cs typeface="Arial MT"/>
              </a:rPr>
              <a:t></a:t>
            </a:r>
            <a:r>
              <a:rPr sz="3225" spc="-517" baseline="2583" dirty="0">
                <a:latin typeface="Arial MT"/>
                <a:cs typeface="Arial MT"/>
              </a:rPr>
              <a:t> </a:t>
            </a:r>
            <a:r>
              <a:rPr sz="2150" spc="55" dirty="0">
                <a:latin typeface="Times New Roman"/>
                <a:cs typeface="Times New Roman"/>
              </a:rPr>
              <a:t>(</a:t>
            </a:r>
            <a:r>
              <a:rPr sz="2150" i="1" spc="55" dirty="0">
                <a:latin typeface="Times New Roman"/>
                <a:cs typeface="Times New Roman"/>
              </a:rPr>
              <a:t>s</a:t>
            </a:r>
            <a:r>
              <a:rPr sz="2150" spc="55" dirty="0">
                <a:latin typeface="Times New Roman"/>
                <a:cs typeface="Times New Roman"/>
              </a:rPr>
              <a:t>)</a:t>
            </a:r>
            <a:r>
              <a:rPr sz="2150" spc="-40" dirty="0">
                <a:latin typeface="Times New Roman"/>
                <a:cs typeface="Times New Roman"/>
              </a:rPr>
              <a:t> </a:t>
            </a:r>
            <a:r>
              <a:rPr sz="2150" spc="5" dirty="0">
                <a:latin typeface="Symbol"/>
                <a:cs typeface="Symbol"/>
              </a:rPr>
              <a:t></a:t>
            </a:r>
            <a:r>
              <a:rPr sz="2150" spc="135" dirty="0">
                <a:latin typeface="Times New Roman"/>
                <a:cs typeface="Times New Roman"/>
              </a:rPr>
              <a:t> </a:t>
            </a:r>
            <a:r>
              <a:rPr sz="3225" i="1" spc="7" baseline="34883" dirty="0">
                <a:latin typeface="Times New Roman"/>
                <a:cs typeface="Times New Roman"/>
              </a:rPr>
              <a:t>dp </a:t>
            </a:r>
            <a:r>
              <a:rPr sz="2150" i="1" spc="-1050" dirty="0">
                <a:latin typeface="Times New Roman"/>
                <a:cs typeface="Times New Roman"/>
              </a:rPr>
              <a:t>s</a:t>
            </a:r>
            <a:r>
              <a:rPr sz="3225" spc="-1575" baseline="2583" dirty="0">
                <a:latin typeface="Arial MT"/>
                <a:cs typeface="Arial MT"/>
              </a:rPr>
              <a:t></a:t>
            </a:r>
            <a:r>
              <a:rPr sz="3225" spc="-150" baseline="2583" dirty="0">
                <a:latin typeface="Arial MT"/>
                <a:cs typeface="Arial MT"/>
              </a:rPr>
              <a:t> </a:t>
            </a:r>
            <a:r>
              <a:rPr sz="2150" spc="5" dirty="0">
                <a:latin typeface="Symbol"/>
                <a:cs typeface="Symbol"/>
              </a:rPr>
              <a:t></a:t>
            </a:r>
            <a:r>
              <a:rPr sz="2150" spc="-6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spc="-215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p	</a:t>
            </a:r>
            <a:r>
              <a:rPr sz="2150" spc="5" dirty="0">
                <a:latin typeface="Symbol"/>
                <a:cs typeface="Symbol"/>
              </a:rPr>
              <a:t></a:t>
            </a:r>
            <a:r>
              <a:rPr sz="2150" spc="65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p</a:t>
            </a:r>
            <a:r>
              <a:rPr sz="2150" i="1" spc="60" dirty="0">
                <a:latin typeface="Times New Roman"/>
                <a:cs typeface="Times New Roman"/>
              </a:rPr>
              <a:t> </a:t>
            </a:r>
            <a:r>
              <a:rPr sz="2150" spc="-670" dirty="0">
                <a:latin typeface="Times New Roman"/>
                <a:cs typeface="Times New Roman"/>
              </a:rPr>
              <a:t>)</a:t>
            </a:r>
            <a:r>
              <a:rPr sz="2150" i="1" spc="-670" dirty="0">
                <a:latin typeface="Times New Roman"/>
                <a:cs typeface="Times New Roman"/>
              </a:rPr>
              <a:t>s</a:t>
            </a:r>
            <a:r>
              <a:rPr sz="3225" spc="-1005" baseline="2583" dirty="0">
                <a:latin typeface="Arial MT"/>
                <a:cs typeface="Arial MT"/>
              </a:rPr>
              <a:t></a:t>
            </a:r>
            <a:endParaRPr sz="3225" baseline="2583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86312" y="4287172"/>
            <a:ext cx="133477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3225" spc="7" baseline="-43927" dirty="0">
                <a:latin typeface="Symbol"/>
                <a:cs typeface="Symbol"/>
              </a:rPr>
              <a:t></a:t>
            </a:r>
            <a:r>
              <a:rPr sz="3225" spc="7" baseline="-43927" dirty="0">
                <a:latin typeface="Times New Roman"/>
                <a:cs typeface="Times New Roman"/>
              </a:rPr>
              <a:t> </a:t>
            </a:r>
            <a:r>
              <a:rPr sz="3225" spc="-202" baseline="-43927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p</a:t>
            </a:r>
            <a:r>
              <a:rPr sz="2150" i="1" spc="-280" dirty="0">
                <a:latin typeface="Times New Roman"/>
                <a:cs typeface="Times New Roman"/>
              </a:rPr>
              <a:t> </a:t>
            </a:r>
            <a:r>
              <a:rPr sz="2175" i="1" spc="-7" baseline="-21072" dirty="0">
                <a:latin typeface="Times New Roman"/>
                <a:cs typeface="Times New Roman"/>
              </a:rPr>
              <a:t>f</a:t>
            </a:r>
            <a:r>
              <a:rPr sz="2175" i="1" baseline="-21072" dirty="0">
                <a:latin typeface="Times New Roman"/>
                <a:cs typeface="Times New Roman"/>
              </a:rPr>
              <a:t>  </a:t>
            </a:r>
            <a:r>
              <a:rPr sz="2175" i="1" spc="-254" baseline="-21072" dirty="0">
                <a:latin typeface="Times New Roman"/>
                <a:cs typeface="Times New Roman"/>
              </a:rPr>
              <a:t> </a:t>
            </a:r>
            <a:r>
              <a:rPr sz="2150" spc="5" dirty="0">
                <a:latin typeface="Symbol"/>
                <a:cs typeface="Symbol"/>
              </a:rPr>
              <a:t></a:t>
            </a:r>
            <a:r>
              <a:rPr sz="2150" spc="100" dirty="0">
                <a:latin typeface="Times New Roman"/>
                <a:cs typeface="Times New Roman"/>
              </a:rPr>
              <a:t> </a:t>
            </a:r>
            <a:r>
              <a:rPr sz="2150" i="1" spc="-55" dirty="0">
                <a:latin typeface="Times New Roman"/>
                <a:cs typeface="Times New Roman"/>
              </a:rPr>
              <a:t>p</a:t>
            </a:r>
            <a:r>
              <a:rPr sz="2175" i="1" spc="-7" baseline="-21072" dirty="0">
                <a:latin typeface="Times New Roman"/>
                <a:cs typeface="Times New Roman"/>
              </a:rPr>
              <a:t>i</a:t>
            </a:r>
            <a:r>
              <a:rPr sz="2175" i="1" baseline="-21072" dirty="0">
                <a:latin typeface="Times New Roman"/>
                <a:cs typeface="Times New Roman"/>
              </a:rPr>
              <a:t> </a:t>
            </a:r>
            <a:r>
              <a:rPr sz="2175" i="1" spc="-254" baseline="-21072" dirty="0">
                <a:latin typeface="Times New Roman"/>
                <a:cs typeface="Times New Roman"/>
              </a:rPr>
              <a:t> </a:t>
            </a:r>
            <a:r>
              <a:rPr sz="3375" spc="-1019" baseline="-41975" dirty="0">
                <a:latin typeface="Symbol"/>
                <a:cs typeface="Symbol"/>
              </a:rPr>
              <a:t></a:t>
            </a:r>
            <a:r>
              <a:rPr sz="3225" spc="-2145" baseline="-41343" dirty="0">
                <a:latin typeface="Arial MT"/>
                <a:cs typeface="Arial MT"/>
              </a:rPr>
              <a:t></a:t>
            </a:r>
            <a:endParaRPr sz="3225" baseline="-41343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1331" y="3569208"/>
            <a:ext cx="2804160" cy="1519555"/>
          </a:xfrm>
          <a:custGeom>
            <a:avLst/>
            <a:gdLst/>
            <a:ahLst/>
            <a:cxnLst/>
            <a:rect l="l" t="t" r="r" b="b"/>
            <a:pathLst>
              <a:path w="2804160" h="1519554">
                <a:moveTo>
                  <a:pt x="0" y="0"/>
                </a:moveTo>
                <a:lnTo>
                  <a:pt x="2804160" y="0"/>
                </a:lnTo>
                <a:lnTo>
                  <a:pt x="2804160" y="1519427"/>
                </a:lnTo>
                <a:lnTo>
                  <a:pt x="0" y="151942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4045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650393" y="3943253"/>
            <a:ext cx="1437005" cy="861694"/>
            <a:chOff x="5650393" y="3943253"/>
            <a:chExt cx="1437005" cy="861694"/>
          </a:xfrm>
        </p:grpSpPr>
        <p:sp>
          <p:nvSpPr>
            <p:cNvPr id="18" name="object 18"/>
            <p:cNvSpPr/>
            <p:nvPr/>
          </p:nvSpPr>
          <p:spPr>
            <a:xfrm>
              <a:off x="5657695" y="3950557"/>
              <a:ext cx="514984" cy="0"/>
            </a:xfrm>
            <a:custGeom>
              <a:avLst/>
              <a:gdLst/>
              <a:ahLst/>
              <a:cxnLst/>
              <a:rect l="l" t="t" r="r" b="b"/>
              <a:pathLst>
                <a:path w="514985">
                  <a:moveTo>
                    <a:pt x="0" y="0"/>
                  </a:moveTo>
                  <a:lnTo>
                    <a:pt x="514519" y="0"/>
                  </a:lnTo>
                </a:path>
              </a:pathLst>
            </a:custGeom>
            <a:ln w="144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50670" y="3950556"/>
              <a:ext cx="328930" cy="0"/>
            </a:xfrm>
            <a:custGeom>
              <a:avLst/>
              <a:gdLst/>
              <a:ahLst/>
              <a:cxnLst/>
              <a:rect l="l" t="t" r="r" b="b"/>
              <a:pathLst>
                <a:path w="328929">
                  <a:moveTo>
                    <a:pt x="0" y="0"/>
                  </a:moveTo>
                  <a:lnTo>
                    <a:pt x="328805" y="0"/>
                  </a:lnTo>
                </a:path>
              </a:pathLst>
            </a:custGeom>
            <a:ln w="144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57696" y="4797120"/>
              <a:ext cx="901700" cy="0"/>
            </a:xfrm>
            <a:custGeom>
              <a:avLst/>
              <a:gdLst/>
              <a:ahLst/>
              <a:cxnLst/>
              <a:rect l="l" t="t" r="r" b="b"/>
              <a:pathLst>
                <a:path w="901700">
                  <a:moveTo>
                    <a:pt x="0" y="0"/>
                  </a:moveTo>
                  <a:lnTo>
                    <a:pt x="901170" y="0"/>
                  </a:lnTo>
                </a:path>
              </a:pathLst>
            </a:custGeom>
            <a:ln w="144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356406" y="3685100"/>
            <a:ext cx="110489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500" spc="15" dirty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77897" y="3892171"/>
            <a:ext cx="6731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500" i="1" spc="5" dirty="0">
                <a:latin typeface="Times New Roman"/>
                <a:cs typeface="Times New Roman"/>
              </a:rPr>
              <a:t>f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41201" y="3892171"/>
            <a:ext cx="6731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500" i="1" spc="5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37869" y="3472543"/>
            <a:ext cx="1461770" cy="8509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5"/>
              </a:spcBef>
              <a:tabLst>
                <a:tab pos="1130935" algn="l"/>
              </a:tabLst>
            </a:pPr>
            <a:r>
              <a:rPr sz="2300" i="1" dirty="0">
                <a:latin typeface="Times New Roman"/>
                <a:cs typeface="Times New Roman"/>
              </a:rPr>
              <a:t>d</a:t>
            </a:r>
            <a:r>
              <a:rPr sz="2300" i="1" spc="-280" dirty="0">
                <a:latin typeface="Times New Roman"/>
                <a:cs typeface="Times New Roman"/>
              </a:rPr>
              <a:t> </a:t>
            </a:r>
            <a:r>
              <a:rPr sz="2250" spc="22" baseline="38888" dirty="0">
                <a:latin typeface="Times New Roman"/>
                <a:cs typeface="Times New Roman"/>
              </a:rPr>
              <a:t>2</a:t>
            </a:r>
            <a:r>
              <a:rPr sz="2250" spc="30" baseline="38888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p	dp</a:t>
            </a:r>
            <a:endParaRPr sz="23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  <a:spcBef>
                <a:spcPts val="490"/>
              </a:spcBef>
              <a:tabLst>
                <a:tab pos="1146810" algn="l"/>
              </a:tabLst>
            </a:pPr>
            <a:r>
              <a:rPr sz="3450" i="1" spc="67" baseline="-2415" dirty="0">
                <a:latin typeface="Times New Roman"/>
                <a:cs typeface="Times New Roman"/>
              </a:rPr>
              <a:t>ds</a:t>
            </a:r>
            <a:r>
              <a:rPr sz="2250" spc="67" baseline="33333" dirty="0">
                <a:latin typeface="Times New Roman"/>
                <a:cs typeface="Times New Roman"/>
              </a:rPr>
              <a:t>2	</a:t>
            </a:r>
            <a:r>
              <a:rPr sz="2300" i="1" dirty="0">
                <a:latin typeface="Times New Roman"/>
                <a:cs typeface="Times New Roman"/>
              </a:rPr>
              <a:t>ds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32940" y="4793548"/>
            <a:ext cx="17526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i="1" dirty="0">
                <a:latin typeface="Times New Roman"/>
                <a:cs typeface="Times New Roman"/>
              </a:rPr>
              <a:t>L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04186" y="3718596"/>
            <a:ext cx="69405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spc="-5" dirty="0">
                <a:latin typeface="Times New Roman"/>
                <a:cs typeface="Times New Roman"/>
              </a:rPr>
              <a:t>p(s)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95210" y="3700467"/>
            <a:ext cx="16192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spc="-1800" dirty="0">
                <a:latin typeface="Arial MT"/>
                <a:cs typeface="Arial MT"/>
              </a:rPr>
              <a:t>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27023" y="3718594"/>
            <a:ext cx="162877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04165" algn="l"/>
                <a:tab pos="898525" algn="l"/>
              </a:tabLst>
            </a:pPr>
            <a:r>
              <a:rPr sz="2300" i="1" spc="-710" dirty="0">
                <a:latin typeface="Times New Roman"/>
                <a:cs typeface="Times New Roman"/>
              </a:rPr>
              <a:t>s</a:t>
            </a:r>
            <a:r>
              <a:rPr sz="3450" spc="-2302" baseline="2415" dirty="0">
                <a:latin typeface="Arial MT"/>
                <a:cs typeface="Arial MT"/>
              </a:rPr>
              <a:t></a:t>
            </a:r>
            <a:r>
              <a:rPr sz="3450" baseline="2415" dirty="0">
                <a:latin typeface="Arial MT"/>
                <a:cs typeface="Arial MT"/>
              </a:rPr>
              <a:t>	</a:t>
            </a:r>
            <a:r>
              <a:rPr sz="2300" dirty="0">
                <a:latin typeface="Symbol"/>
                <a:cs typeface="Symbol"/>
              </a:rPr>
              <a:t>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3450" spc="-3359" baseline="2415" dirty="0">
                <a:latin typeface="Arial MT"/>
                <a:cs typeface="Arial MT"/>
              </a:rPr>
              <a:t></a:t>
            </a:r>
            <a:r>
              <a:rPr sz="2300" i="1" spc="-459" dirty="0">
                <a:latin typeface="Times New Roman"/>
                <a:cs typeface="Times New Roman"/>
              </a:rPr>
              <a:t>s</a:t>
            </a:r>
            <a:r>
              <a:rPr sz="3450" spc="-2302" baseline="2415" dirty="0">
                <a:latin typeface="Arial MT"/>
                <a:cs typeface="Arial MT"/>
              </a:rPr>
              <a:t></a:t>
            </a:r>
            <a:r>
              <a:rPr sz="3450" spc="-442" baseline="2415" dirty="0">
                <a:latin typeface="Arial MT"/>
                <a:cs typeface="Arial MT"/>
              </a:rPr>
              <a:t> </a:t>
            </a:r>
            <a:r>
              <a:rPr sz="2300" dirty="0">
                <a:latin typeface="Symbol"/>
                <a:cs typeface="Symbol"/>
              </a:rPr>
              <a:t>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</a:t>
            </a:r>
            <a:r>
              <a:rPr sz="2300" spc="-229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p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56088" y="3718592"/>
            <a:ext cx="74104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Symbol"/>
                <a:cs typeface="Symbol"/>
              </a:rPr>
              <a:t></a:t>
            </a:r>
            <a:r>
              <a:rPr sz="2300" spc="6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p</a:t>
            </a:r>
            <a:r>
              <a:rPr sz="2300" i="1" spc="60" dirty="0">
                <a:latin typeface="Times New Roman"/>
                <a:cs typeface="Times New Roman"/>
              </a:rPr>
              <a:t> </a:t>
            </a:r>
            <a:r>
              <a:rPr sz="2300" spc="-1120" dirty="0">
                <a:latin typeface="Times New Roman"/>
                <a:cs typeface="Times New Roman"/>
              </a:rPr>
              <a:t>)</a:t>
            </a:r>
            <a:r>
              <a:rPr sz="3450" spc="-1679" baseline="2415" dirty="0">
                <a:latin typeface="Arial MT"/>
                <a:cs typeface="Arial MT"/>
              </a:rPr>
              <a:t></a:t>
            </a:r>
            <a:r>
              <a:rPr sz="2300" i="1" spc="-1120" dirty="0">
                <a:latin typeface="Times New Roman"/>
                <a:cs typeface="Times New Roman"/>
              </a:rPr>
              <a:t>s</a:t>
            </a:r>
            <a:r>
              <a:rPr sz="3450" spc="-1679" baseline="2415" dirty="0">
                <a:latin typeface="Arial MT"/>
                <a:cs typeface="Arial MT"/>
              </a:rPr>
              <a:t></a:t>
            </a:r>
            <a:endParaRPr sz="3450" baseline="2415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99406" y="4320962"/>
            <a:ext cx="1435100" cy="395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12420" algn="l"/>
              </a:tabLst>
            </a:pPr>
            <a:r>
              <a:rPr sz="3450" baseline="-43478" dirty="0">
                <a:latin typeface="Symbol"/>
                <a:cs typeface="Symbol"/>
              </a:rPr>
              <a:t></a:t>
            </a:r>
            <a:r>
              <a:rPr sz="3450" baseline="-43478" dirty="0">
                <a:latin typeface="Times New Roman"/>
                <a:cs typeface="Times New Roman"/>
              </a:rPr>
              <a:t>	</a:t>
            </a:r>
            <a:r>
              <a:rPr sz="2300" i="1" dirty="0">
                <a:latin typeface="Times New Roman"/>
                <a:cs typeface="Times New Roman"/>
              </a:rPr>
              <a:t>p</a:t>
            </a:r>
            <a:r>
              <a:rPr sz="2300" i="1" spc="-300" dirty="0">
                <a:latin typeface="Times New Roman"/>
                <a:cs typeface="Times New Roman"/>
              </a:rPr>
              <a:t> </a:t>
            </a:r>
            <a:r>
              <a:rPr sz="2250" i="1" spc="7" baseline="-22222" dirty="0">
                <a:latin typeface="Times New Roman"/>
                <a:cs typeface="Times New Roman"/>
              </a:rPr>
              <a:t>f</a:t>
            </a:r>
            <a:r>
              <a:rPr sz="2250" i="1" baseline="-22222" dirty="0">
                <a:latin typeface="Times New Roman"/>
                <a:cs typeface="Times New Roman"/>
              </a:rPr>
              <a:t>  </a:t>
            </a:r>
            <a:r>
              <a:rPr sz="2250" i="1" spc="-225" baseline="-22222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</a:t>
            </a:r>
            <a:r>
              <a:rPr sz="2300" spc="100" dirty="0">
                <a:latin typeface="Times New Roman"/>
                <a:cs typeface="Times New Roman"/>
              </a:rPr>
              <a:t> </a:t>
            </a:r>
            <a:r>
              <a:rPr sz="2300" i="1" spc="-60" dirty="0">
                <a:latin typeface="Times New Roman"/>
                <a:cs typeface="Times New Roman"/>
              </a:rPr>
              <a:t>p</a:t>
            </a:r>
            <a:r>
              <a:rPr sz="2250" i="1" spc="7" baseline="-22222" dirty="0">
                <a:latin typeface="Times New Roman"/>
                <a:cs typeface="Times New Roman"/>
              </a:rPr>
              <a:t>i</a:t>
            </a:r>
            <a:r>
              <a:rPr sz="2250" i="1" baseline="-22222" dirty="0">
                <a:latin typeface="Times New Roman"/>
                <a:cs typeface="Times New Roman"/>
              </a:rPr>
              <a:t> </a:t>
            </a:r>
            <a:r>
              <a:rPr sz="2250" i="1" spc="-240" baseline="-22222" dirty="0">
                <a:latin typeface="Times New Roman"/>
                <a:cs typeface="Times New Roman"/>
              </a:rPr>
              <a:t> </a:t>
            </a:r>
            <a:r>
              <a:rPr sz="3600" spc="-1455" baseline="-41666" dirty="0">
                <a:latin typeface="Symbol"/>
                <a:cs typeface="Symbol"/>
              </a:rPr>
              <a:t></a:t>
            </a:r>
            <a:r>
              <a:rPr sz="3450" spc="-2700" baseline="-41062" dirty="0">
                <a:latin typeface="Arial MT"/>
                <a:cs typeface="Arial MT"/>
              </a:rPr>
              <a:t></a:t>
            </a:r>
            <a:endParaRPr sz="3450" baseline="-41062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855464" y="3496055"/>
            <a:ext cx="3979545" cy="1666239"/>
          </a:xfrm>
          <a:custGeom>
            <a:avLst/>
            <a:gdLst/>
            <a:ahLst/>
            <a:cxnLst/>
            <a:rect l="l" t="t" r="r" b="b"/>
            <a:pathLst>
              <a:path w="3979545" h="1666239">
                <a:moveTo>
                  <a:pt x="0" y="0"/>
                </a:moveTo>
                <a:lnTo>
                  <a:pt x="3979164" y="0"/>
                </a:lnTo>
                <a:lnTo>
                  <a:pt x="3979164" y="1665732"/>
                </a:lnTo>
                <a:lnTo>
                  <a:pt x="0" y="1665732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4045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47052" y="106235"/>
            <a:ext cx="5243830" cy="11381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200" dirty="0">
              <a:latin typeface="Cambria"/>
              <a:cs typeface="Cambria"/>
            </a:endParaRPr>
          </a:p>
          <a:p>
            <a:pPr marL="533400" lvl="1" indent="-521334">
              <a:lnSpc>
                <a:spcPct val="100000"/>
              </a:lnSpc>
              <a:buAutoNum type="arabicPeriod" startAt="6"/>
              <a:tabLst>
                <a:tab pos="534035" algn="l"/>
              </a:tabLst>
            </a:pP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 dirty="0">
              <a:latin typeface="Tahoma"/>
              <a:cs typeface="Tahoma"/>
            </a:endParaRPr>
          </a:p>
          <a:p>
            <a:pPr marL="519430" lvl="2" indent="-364490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519430" algn="l"/>
                <a:tab pos="520065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Planning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linear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Cartesian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path(position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only)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24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7553" y="2985009"/>
            <a:ext cx="224917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950" i="1" spc="75" dirty="0">
                <a:latin typeface="Times New Roman"/>
                <a:cs typeface="Times New Roman"/>
              </a:rPr>
              <a:t>p</a:t>
            </a:r>
            <a:r>
              <a:rPr sz="1950" spc="90" dirty="0">
                <a:latin typeface="Times New Roman"/>
                <a:cs typeface="Times New Roman"/>
              </a:rPr>
              <a:t>(</a:t>
            </a:r>
            <a:r>
              <a:rPr sz="1950" i="1" spc="80" dirty="0">
                <a:latin typeface="Times New Roman"/>
                <a:cs typeface="Times New Roman"/>
              </a:rPr>
              <a:t>s</a:t>
            </a:r>
            <a:r>
              <a:rPr sz="1950" spc="10" dirty="0">
                <a:latin typeface="Times New Roman"/>
                <a:cs typeface="Times New Roman"/>
              </a:rPr>
              <a:t>)</a:t>
            </a:r>
            <a:r>
              <a:rPr sz="1950" spc="-35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220" dirty="0">
                <a:latin typeface="Times New Roman"/>
                <a:cs typeface="Times New Roman"/>
              </a:rPr>
              <a:t> </a:t>
            </a:r>
            <a:r>
              <a:rPr sz="1950" i="1" spc="-40" dirty="0">
                <a:latin typeface="Times New Roman"/>
                <a:cs typeface="Times New Roman"/>
              </a:rPr>
              <a:t>p</a:t>
            </a:r>
            <a:r>
              <a:rPr sz="1950" i="1" spc="7" baseline="-21367" dirty="0">
                <a:latin typeface="Times New Roman"/>
                <a:cs typeface="Times New Roman"/>
              </a:rPr>
              <a:t>i</a:t>
            </a:r>
            <a:r>
              <a:rPr sz="1950" i="1" baseline="-21367" dirty="0">
                <a:latin typeface="Times New Roman"/>
                <a:cs typeface="Times New Roman"/>
              </a:rPr>
              <a:t> </a:t>
            </a:r>
            <a:r>
              <a:rPr sz="1950" i="1" spc="-112" baseline="-21367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i="1" spc="80" dirty="0">
                <a:latin typeface="Times New Roman"/>
                <a:cs typeface="Times New Roman"/>
              </a:rPr>
              <a:t>s</a:t>
            </a:r>
            <a:r>
              <a:rPr sz="1950" spc="10" dirty="0">
                <a:latin typeface="Times New Roman"/>
                <a:cs typeface="Times New Roman"/>
              </a:rPr>
              <a:t>(</a:t>
            </a:r>
            <a:r>
              <a:rPr sz="1950" spc="-190" dirty="0">
                <a:latin typeface="Times New Roman"/>
                <a:cs typeface="Times New Roman"/>
              </a:rPr>
              <a:t> </a:t>
            </a:r>
            <a:r>
              <a:rPr sz="1950" i="1" spc="15" dirty="0">
                <a:latin typeface="Times New Roman"/>
                <a:cs typeface="Times New Roman"/>
              </a:rPr>
              <a:t>p</a:t>
            </a:r>
            <a:r>
              <a:rPr sz="1950" i="1" spc="-250" dirty="0">
                <a:latin typeface="Times New Roman"/>
                <a:cs typeface="Times New Roman"/>
              </a:rPr>
              <a:t> </a:t>
            </a:r>
            <a:r>
              <a:rPr sz="1950" i="1" spc="7" baseline="-21367" dirty="0">
                <a:latin typeface="Times New Roman"/>
                <a:cs typeface="Times New Roman"/>
              </a:rPr>
              <a:t>f</a:t>
            </a:r>
            <a:r>
              <a:rPr sz="1950" i="1" baseline="-21367" dirty="0">
                <a:latin typeface="Times New Roman"/>
                <a:cs typeface="Times New Roman"/>
              </a:rPr>
              <a:t>  </a:t>
            </a:r>
            <a:r>
              <a:rPr sz="1950" i="1" spc="-202" baseline="-21367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</a:t>
            </a:r>
            <a:r>
              <a:rPr sz="1950" spc="95" dirty="0">
                <a:latin typeface="Times New Roman"/>
                <a:cs typeface="Times New Roman"/>
              </a:rPr>
              <a:t> </a:t>
            </a:r>
            <a:r>
              <a:rPr sz="1950" i="1" spc="-40" dirty="0">
                <a:latin typeface="Times New Roman"/>
                <a:cs typeface="Times New Roman"/>
              </a:rPr>
              <a:t>p</a:t>
            </a:r>
            <a:r>
              <a:rPr sz="1950" i="1" spc="7" baseline="-21367" dirty="0">
                <a:latin typeface="Times New Roman"/>
                <a:cs typeface="Times New Roman"/>
              </a:rPr>
              <a:t>i</a:t>
            </a:r>
            <a:r>
              <a:rPr sz="1950" i="1" spc="-97" baseline="-21367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18415" y="1788534"/>
            <a:ext cx="7901305" cy="3411220"/>
            <a:chOff x="518415" y="1788534"/>
            <a:chExt cx="7901305" cy="3411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415" y="1788534"/>
              <a:ext cx="3597908" cy="34111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11487" y="4178304"/>
              <a:ext cx="537210" cy="0"/>
            </a:xfrm>
            <a:custGeom>
              <a:avLst/>
              <a:gdLst/>
              <a:ahLst/>
              <a:cxnLst/>
              <a:rect l="l" t="t" r="r" b="b"/>
              <a:pathLst>
                <a:path w="537210">
                  <a:moveTo>
                    <a:pt x="0" y="0"/>
                  </a:moveTo>
                  <a:lnTo>
                    <a:pt x="537114" y="0"/>
                  </a:lnTo>
                </a:path>
              </a:pathLst>
            </a:custGeom>
            <a:ln w="14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50725" y="5088220"/>
              <a:ext cx="1558925" cy="0"/>
            </a:xfrm>
            <a:custGeom>
              <a:avLst/>
              <a:gdLst/>
              <a:ahLst/>
              <a:cxnLst/>
              <a:rect l="l" t="t" r="r" b="b"/>
              <a:pathLst>
                <a:path w="1558925">
                  <a:moveTo>
                    <a:pt x="0" y="0"/>
                  </a:moveTo>
                  <a:lnTo>
                    <a:pt x="1558832" y="0"/>
                  </a:lnTo>
                </a:path>
              </a:pathLst>
            </a:custGeom>
            <a:ln w="142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97417" y="5088219"/>
              <a:ext cx="514984" cy="0"/>
            </a:xfrm>
            <a:custGeom>
              <a:avLst/>
              <a:gdLst/>
              <a:ahLst/>
              <a:cxnLst/>
              <a:rect l="l" t="t" r="r" b="b"/>
              <a:pathLst>
                <a:path w="514984">
                  <a:moveTo>
                    <a:pt x="0" y="0"/>
                  </a:moveTo>
                  <a:lnTo>
                    <a:pt x="514609" y="0"/>
                  </a:lnTo>
                </a:path>
              </a:pathLst>
            </a:custGeom>
            <a:ln w="1426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88764" y="1911095"/>
            <a:ext cx="2188845" cy="840105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420"/>
              </a:spcBef>
            </a:pPr>
            <a:r>
              <a:rPr sz="1950" i="1" spc="-5" dirty="0">
                <a:latin typeface="Times New Roman"/>
                <a:cs typeface="Times New Roman"/>
              </a:rPr>
              <a:t>given</a:t>
            </a:r>
            <a:r>
              <a:rPr sz="1950" spc="-7" baseline="38461" dirty="0">
                <a:latin typeface="Times New Roman"/>
                <a:cs typeface="Times New Roman"/>
              </a:rPr>
              <a:t>*</a:t>
            </a:r>
            <a:r>
              <a:rPr sz="1950" spc="142" baseline="38461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:</a:t>
            </a:r>
            <a:r>
              <a:rPr sz="1950" spc="330" dirty="0">
                <a:latin typeface="Times New Roman"/>
                <a:cs typeface="Times New Roman"/>
              </a:rPr>
              <a:t> </a:t>
            </a:r>
            <a:r>
              <a:rPr sz="1950" i="1" spc="5" dirty="0">
                <a:latin typeface="Times New Roman"/>
                <a:cs typeface="Times New Roman"/>
              </a:rPr>
              <a:t>L</a:t>
            </a:r>
            <a:r>
              <a:rPr sz="1950" spc="5" dirty="0">
                <a:latin typeface="Times New Roman"/>
                <a:cs typeface="Times New Roman"/>
              </a:rPr>
              <a:t>,</a:t>
            </a:r>
            <a:r>
              <a:rPr sz="1950" spc="270" dirty="0">
                <a:latin typeface="Times New Roman"/>
                <a:cs typeface="Times New Roman"/>
              </a:rPr>
              <a:t> </a:t>
            </a:r>
            <a:r>
              <a:rPr sz="1950" i="1" spc="-10" dirty="0">
                <a:latin typeface="Times New Roman"/>
                <a:cs typeface="Times New Roman"/>
              </a:rPr>
              <a:t>v</a:t>
            </a:r>
            <a:r>
              <a:rPr sz="1950" spc="-15" baseline="-21367" dirty="0">
                <a:latin typeface="Times New Roman"/>
                <a:cs typeface="Times New Roman"/>
              </a:rPr>
              <a:t>max,</a:t>
            </a:r>
            <a:r>
              <a:rPr sz="1950" spc="644" baseline="-21367" dirty="0">
                <a:latin typeface="Times New Roman"/>
                <a:cs typeface="Times New Roman"/>
              </a:rPr>
              <a:t> </a:t>
            </a:r>
            <a:r>
              <a:rPr sz="1950" i="1" spc="-10" dirty="0">
                <a:latin typeface="Times New Roman"/>
                <a:cs typeface="Times New Roman"/>
              </a:rPr>
              <a:t>a</a:t>
            </a:r>
            <a:r>
              <a:rPr sz="1950" spc="-15" baseline="-21367" dirty="0">
                <a:latin typeface="Times New Roman"/>
                <a:cs typeface="Times New Roman"/>
              </a:rPr>
              <a:t>max</a:t>
            </a:r>
            <a:endParaRPr sz="1950" baseline="-21367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880"/>
              </a:spcBef>
            </a:pPr>
            <a:r>
              <a:rPr sz="1950" spc="-10" dirty="0">
                <a:latin typeface="Times New Roman"/>
                <a:cs typeface="Times New Roman"/>
              </a:rPr>
              <a:t>f</a:t>
            </a:r>
            <a:r>
              <a:rPr sz="1950" spc="5" dirty="0">
                <a:latin typeface="Times New Roman"/>
                <a:cs typeface="Times New Roman"/>
              </a:rPr>
              <a:t>ind</a:t>
            </a:r>
            <a:r>
              <a:rPr sz="1950" dirty="0">
                <a:latin typeface="Times New Roman"/>
                <a:cs typeface="Times New Roman"/>
              </a:rPr>
              <a:t> :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i="1" spc="-90" dirty="0">
                <a:latin typeface="Times New Roman"/>
                <a:cs typeface="Times New Roman"/>
              </a:rPr>
              <a:t>T</a:t>
            </a:r>
            <a:r>
              <a:rPr sz="1950" i="1" baseline="-21367" dirty="0">
                <a:latin typeface="Times New Roman"/>
                <a:cs typeface="Times New Roman"/>
              </a:rPr>
              <a:t>s</a:t>
            </a:r>
            <a:r>
              <a:rPr sz="1950" i="1" spc="-150" baseline="-21367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, </a:t>
            </a:r>
            <a:r>
              <a:rPr sz="1950" spc="-210" dirty="0">
                <a:latin typeface="Times New Roman"/>
                <a:cs typeface="Times New Roman"/>
              </a:rPr>
              <a:t> </a:t>
            </a:r>
            <a:r>
              <a:rPr sz="1950" i="1" spc="5" dirty="0">
                <a:latin typeface="Times New Roman"/>
                <a:cs typeface="Times New Roman"/>
              </a:rPr>
              <a:t>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4846" y="3195924"/>
            <a:ext cx="41529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Times New Roman"/>
                <a:cs typeface="Times New Roman"/>
              </a:rPr>
              <a:t>m</a:t>
            </a:r>
            <a:r>
              <a:rPr sz="1800" spc="-1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2880" y="3195924"/>
            <a:ext cx="11493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spc="-5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67468" y="2992629"/>
            <a:ext cx="224726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7065" algn="l"/>
              </a:tabLst>
            </a:pPr>
            <a:r>
              <a:rPr sz="2700" i="1" dirty="0">
                <a:latin typeface="Times New Roman"/>
                <a:cs typeface="Times New Roman"/>
              </a:rPr>
              <a:t>V	</a:t>
            </a:r>
            <a:r>
              <a:rPr sz="2700" spc="-100" dirty="0">
                <a:latin typeface="Times New Roman"/>
                <a:cs typeface="Times New Roman"/>
              </a:rPr>
              <a:t>(</a:t>
            </a:r>
            <a:r>
              <a:rPr sz="2700" i="1" spc="-5" dirty="0">
                <a:latin typeface="Times New Roman"/>
                <a:cs typeface="Times New Roman"/>
              </a:rPr>
              <a:t>T</a:t>
            </a:r>
            <a:r>
              <a:rPr sz="2700" i="1" spc="1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</a:t>
            </a:r>
            <a:r>
              <a:rPr sz="2700" spc="-385" dirty="0">
                <a:latin typeface="Times New Roman"/>
                <a:cs typeface="Times New Roman"/>
              </a:rPr>
              <a:t> </a:t>
            </a:r>
            <a:r>
              <a:rPr sz="2700" i="1" spc="-5" dirty="0">
                <a:latin typeface="Times New Roman"/>
                <a:cs typeface="Times New Roman"/>
              </a:rPr>
              <a:t>T</a:t>
            </a:r>
            <a:r>
              <a:rPr sz="2700" i="1" spc="2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35" dirty="0">
                <a:latin typeface="Times New Roman"/>
                <a:cs typeface="Times New Roman"/>
              </a:rPr>
              <a:t> </a:t>
            </a:r>
            <a:r>
              <a:rPr sz="2700" i="1" spc="-5" dirty="0">
                <a:latin typeface="Times New Roman"/>
                <a:cs typeface="Times New Roman"/>
              </a:rPr>
              <a:t>L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44180" y="3161788"/>
            <a:ext cx="499109" cy="101600"/>
            <a:chOff x="6544180" y="3161788"/>
            <a:chExt cx="499109" cy="101600"/>
          </a:xfrm>
        </p:grpSpPr>
        <p:sp>
          <p:nvSpPr>
            <p:cNvPr id="13" name="object 13"/>
            <p:cNvSpPr/>
            <p:nvPr/>
          </p:nvSpPr>
          <p:spPr>
            <a:xfrm>
              <a:off x="6550532" y="3212592"/>
              <a:ext cx="492759" cy="0"/>
            </a:xfrm>
            <a:custGeom>
              <a:avLst/>
              <a:gdLst/>
              <a:ahLst/>
              <a:cxnLst/>
              <a:rect l="l" t="t" r="r" b="b"/>
              <a:pathLst>
                <a:path w="492759">
                  <a:moveTo>
                    <a:pt x="49225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50530" y="3168138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76200" y="0"/>
                  </a:moveTo>
                  <a:lnTo>
                    <a:pt x="0" y="44450"/>
                  </a:lnTo>
                  <a:lnTo>
                    <a:pt x="76200" y="88900"/>
                  </a:lnTo>
                </a:path>
              </a:pathLst>
            </a:custGeom>
            <a:ln w="127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42404" y="2852927"/>
            <a:ext cx="1800225" cy="646430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306070" marR="165100" indent="-215265">
              <a:lnSpc>
                <a:spcPct val="100000"/>
              </a:lnSpc>
              <a:spcBef>
                <a:spcPts val="345"/>
              </a:spcBef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=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area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Speed</a:t>
            </a:r>
            <a:r>
              <a:rPr sz="1800" spc="-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profile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2022" y="4345787"/>
            <a:ext cx="340360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00" spc="-15" dirty="0">
                <a:latin typeface="Times New Roman"/>
                <a:cs typeface="Times New Roman"/>
              </a:rPr>
              <a:t>m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6403" y="4120560"/>
            <a:ext cx="87630" cy="256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latin typeface="Times New Roman"/>
                <a:cs typeface="Times New Roman"/>
              </a:rPr>
              <a:t>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29440" y="4174554"/>
            <a:ext cx="156845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250" i="1" spc="5" dirty="0">
                <a:latin typeface="Times New Roman"/>
                <a:cs typeface="Times New Roman"/>
              </a:rPr>
              <a:t>a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85390" y="4541584"/>
            <a:ext cx="515620" cy="98996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34925" algn="ctr">
              <a:lnSpc>
                <a:spcPct val="100000"/>
              </a:lnSpc>
              <a:spcBef>
                <a:spcPts val="1190"/>
              </a:spcBef>
            </a:pPr>
            <a:r>
              <a:rPr sz="22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sz="22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095"/>
              </a:spcBef>
            </a:pPr>
            <a:r>
              <a:rPr sz="3375" i="1" spc="-15" baseline="14814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1500" spc="-10" dirty="0">
                <a:solidFill>
                  <a:srgbClr val="0000FF"/>
                </a:solidFill>
                <a:latin typeface="Times New Roman"/>
                <a:cs typeface="Times New Roman"/>
              </a:rPr>
              <a:t>max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59942" y="4859243"/>
            <a:ext cx="432434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250" i="1" spc="5" dirty="0">
                <a:latin typeface="Times New Roman"/>
                <a:cs typeface="Times New Roman"/>
              </a:rPr>
              <a:t>T</a:t>
            </a:r>
            <a:r>
              <a:rPr sz="2250" i="1" spc="145" dirty="0">
                <a:latin typeface="Times New Roman"/>
                <a:cs typeface="Times New Roman"/>
              </a:rPr>
              <a:t> </a:t>
            </a:r>
            <a:r>
              <a:rPr sz="2250" spc="1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34542" y="3838276"/>
            <a:ext cx="1091565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347345" algn="l"/>
              </a:tabLst>
            </a:pPr>
            <a:r>
              <a:rPr sz="3375" i="1" spc="7" baseline="-20987" dirty="0">
                <a:latin typeface="Times New Roman"/>
                <a:cs typeface="Times New Roman"/>
              </a:rPr>
              <a:t>T	</a:t>
            </a:r>
            <a:r>
              <a:rPr sz="3375" spc="15" baseline="-20987" dirty="0">
                <a:latin typeface="Symbol"/>
                <a:cs typeface="Symbol"/>
              </a:rPr>
              <a:t></a:t>
            </a:r>
            <a:r>
              <a:rPr sz="3375" spc="187" baseline="-20987" dirty="0">
                <a:latin typeface="Times New Roman"/>
                <a:cs typeface="Times New Roman"/>
              </a:rPr>
              <a:t> </a:t>
            </a:r>
            <a:r>
              <a:rPr sz="3375" i="1" spc="-15" baseline="14814" dirty="0">
                <a:latin typeface="Times New Roman"/>
                <a:cs typeface="Times New Roman"/>
              </a:rPr>
              <a:t>v</a:t>
            </a:r>
            <a:r>
              <a:rPr sz="1500" spc="-10" dirty="0">
                <a:latin typeface="Times New Roman"/>
                <a:cs typeface="Times New Roman"/>
              </a:rPr>
              <a:t>max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2189" y="4682725"/>
            <a:ext cx="1555115" cy="84836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635"/>
              </a:spcBef>
            </a:pPr>
            <a:r>
              <a:rPr sz="3375" i="1" spc="22" baseline="14814" dirty="0">
                <a:latin typeface="Times New Roman"/>
                <a:cs typeface="Times New Roman"/>
              </a:rPr>
              <a:t>L</a:t>
            </a:r>
            <a:r>
              <a:rPr sz="3375" i="1" spc="-7" baseline="14814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m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x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3375" spc="15" baseline="14814" dirty="0">
                <a:latin typeface="Symbol"/>
                <a:cs typeface="Symbol"/>
              </a:rPr>
              <a:t></a:t>
            </a:r>
            <a:r>
              <a:rPr sz="3375" spc="-270" baseline="14814" dirty="0">
                <a:latin typeface="Times New Roman"/>
                <a:cs typeface="Times New Roman"/>
              </a:rPr>
              <a:t> </a:t>
            </a:r>
            <a:r>
              <a:rPr sz="3375" i="1" spc="-30" baseline="14814" dirty="0">
                <a:latin typeface="Times New Roman"/>
                <a:cs typeface="Times New Roman"/>
              </a:rPr>
              <a:t>v</a:t>
            </a:r>
            <a:r>
              <a:rPr sz="1500" spc="-15" dirty="0">
                <a:latin typeface="Times New Roman"/>
                <a:cs typeface="Times New Roman"/>
              </a:rPr>
              <a:t>m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x</a:t>
            </a:r>
            <a:r>
              <a:rPr sz="1500" spc="-225" dirty="0">
                <a:latin typeface="Times New Roman"/>
                <a:cs typeface="Times New Roman"/>
              </a:rPr>
              <a:t> </a:t>
            </a:r>
            <a:r>
              <a:rPr sz="2250" spc="7" baseline="59259" dirty="0">
                <a:latin typeface="Times New Roman"/>
                <a:cs typeface="Times New Roman"/>
              </a:rPr>
              <a:t>2</a:t>
            </a:r>
            <a:endParaRPr sz="2250" baseline="59259">
              <a:latin typeface="Times New Roman"/>
              <a:cs typeface="Times New Roman"/>
            </a:endParaRPr>
          </a:p>
          <a:p>
            <a:pPr marR="22860" algn="ctr">
              <a:lnSpc>
                <a:spcPct val="100000"/>
              </a:lnSpc>
              <a:spcBef>
                <a:spcPts val="540"/>
              </a:spcBef>
            </a:pPr>
            <a:r>
              <a:rPr sz="3375" i="1" spc="-15" baseline="14814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m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x</a:t>
            </a:r>
            <a:r>
              <a:rPr sz="1500" spc="-235" dirty="0">
                <a:latin typeface="Times New Roman"/>
                <a:cs typeface="Times New Roman"/>
              </a:rPr>
              <a:t> </a:t>
            </a:r>
            <a:r>
              <a:rPr sz="3375" i="1" spc="-37" baseline="14814" dirty="0">
                <a:latin typeface="Times New Roman"/>
                <a:cs typeface="Times New Roman"/>
              </a:rPr>
              <a:t>v</a:t>
            </a:r>
            <a:r>
              <a:rPr sz="1500" spc="-15" dirty="0">
                <a:latin typeface="Times New Roman"/>
                <a:cs typeface="Times New Roman"/>
              </a:rPr>
              <a:t>m</a:t>
            </a:r>
            <a:r>
              <a:rPr sz="1500" spc="-5" dirty="0">
                <a:latin typeface="Times New Roman"/>
                <a:cs typeface="Times New Roman"/>
              </a:rPr>
              <a:t>a</a:t>
            </a:r>
            <a:r>
              <a:rPr sz="1500" spc="5" dirty="0"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2286" y="4859243"/>
            <a:ext cx="148209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447675" algn="l"/>
                <a:tab pos="1172845" algn="l"/>
              </a:tabLst>
            </a:pPr>
            <a:r>
              <a:rPr sz="2250" spc="15" dirty="0">
                <a:latin typeface="Symbol"/>
                <a:cs typeface="Symbol"/>
              </a:rPr>
              <a:t></a:t>
            </a:r>
            <a:r>
              <a:rPr sz="2250" spc="15" dirty="0">
                <a:latin typeface="Times New Roman"/>
                <a:cs typeface="Times New Roman"/>
              </a:rPr>
              <a:t>	</a:t>
            </a:r>
            <a:r>
              <a:rPr sz="22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225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50" spc="10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250" spc="-3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2250" i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250" i="1" baseline="-22222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250" i="1" spc="-120" baseline="-2222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50" spc="10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130040" y="3784091"/>
            <a:ext cx="4354195" cy="1739264"/>
          </a:xfrm>
          <a:custGeom>
            <a:avLst/>
            <a:gdLst/>
            <a:ahLst/>
            <a:cxnLst/>
            <a:rect l="l" t="t" r="r" b="b"/>
            <a:pathLst>
              <a:path w="4354195" h="1739264">
                <a:moveTo>
                  <a:pt x="0" y="0"/>
                </a:moveTo>
                <a:lnTo>
                  <a:pt x="4354068" y="0"/>
                </a:lnTo>
                <a:lnTo>
                  <a:pt x="4354068" y="1738883"/>
                </a:lnTo>
                <a:lnTo>
                  <a:pt x="0" y="1738883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4045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08990" y="5556605"/>
            <a:ext cx="7713345" cy="930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19960">
              <a:lnSpc>
                <a:spcPct val="100000"/>
              </a:lnSpc>
              <a:spcBef>
                <a:spcPts val="125"/>
              </a:spcBef>
            </a:pPr>
            <a:r>
              <a:rPr sz="2450" spc="5" dirty="0">
                <a:latin typeface="Times New Roman"/>
                <a:cs typeface="Times New Roman"/>
              </a:rPr>
              <a:t>a</a:t>
            </a:r>
            <a:r>
              <a:rPr sz="2450" spc="-15" dirty="0">
                <a:latin typeface="Times New Roman"/>
                <a:cs typeface="Times New Roman"/>
              </a:rPr>
              <a:t> </a:t>
            </a:r>
            <a:r>
              <a:rPr sz="2450" spc="-250" dirty="0">
                <a:latin typeface="Times New Roman"/>
                <a:cs typeface="Times New Roman"/>
              </a:rPr>
              <a:t>□</a:t>
            </a:r>
            <a:r>
              <a:rPr sz="2450" spc="-40" dirty="0">
                <a:latin typeface="Times New Roman"/>
                <a:cs typeface="Times New Roman"/>
              </a:rPr>
              <a:t>"</a:t>
            </a:r>
            <a:r>
              <a:rPr sz="2450" spc="-15" dirty="0">
                <a:latin typeface="Times New Roman"/>
                <a:cs typeface="Times New Roman"/>
              </a:rPr>
              <a:t>c</a:t>
            </a:r>
            <a:r>
              <a:rPr sz="2450" spc="5" dirty="0">
                <a:latin typeface="Times New Roman"/>
                <a:cs typeface="Times New Roman"/>
              </a:rPr>
              <a:t>o</a:t>
            </a:r>
            <a:r>
              <a:rPr sz="2450" spc="-15" dirty="0">
                <a:latin typeface="Times New Roman"/>
                <a:cs typeface="Times New Roman"/>
              </a:rPr>
              <a:t>a</a:t>
            </a:r>
            <a:r>
              <a:rPr sz="2450" spc="5" dirty="0">
                <a:latin typeface="Times New Roman"/>
                <a:cs typeface="Times New Roman"/>
              </a:rPr>
              <a:t>s</a:t>
            </a:r>
            <a:r>
              <a:rPr sz="2450" spc="10" dirty="0">
                <a:latin typeface="Times New Roman"/>
                <a:cs typeface="Times New Roman"/>
              </a:rPr>
              <a:t>t</a:t>
            </a:r>
            <a:r>
              <a:rPr sz="2450" spc="-40" dirty="0">
                <a:latin typeface="Times New Roman"/>
                <a:cs typeface="Times New Roman"/>
              </a:rPr>
              <a:t>"</a:t>
            </a:r>
            <a:r>
              <a:rPr sz="2450" spc="370" dirty="0">
                <a:latin typeface="Times New Roman"/>
                <a:cs typeface="Times New Roman"/>
              </a:rPr>
              <a:t>□</a:t>
            </a:r>
            <a:r>
              <a:rPr sz="2450" spc="5" dirty="0">
                <a:latin typeface="Times New Roman"/>
                <a:cs typeface="Times New Roman"/>
              </a:rPr>
              <a:t>ph</a:t>
            </a:r>
            <a:r>
              <a:rPr sz="2450" spc="-15" dirty="0">
                <a:latin typeface="Times New Roman"/>
                <a:cs typeface="Times New Roman"/>
              </a:rPr>
              <a:t>a</a:t>
            </a:r>
            <a:r>
              <a:rPr sz="2450" spc="5" dirty="0">
                <a:latin typeface="Times New Roman"/>
                <a:cs typeface="Times New Roman"/>
              </a:rPr>
              <a:t>se</a:t>
            </a:r>
            <a:r>
              <a:rPr sz="2450" spc="-15" dirty="0">
                <a:latin typeface="Times New Roman"/>
                <a:cs typeface="Times New Roman"/>
              </a:rPr>
              <a:t> e</a:t>
            </a:r>
            <a:r>
              <a:rPr sz="2450" spc="5" dirty="0">
                <a:latin typeface="Times New Roman"/>
                <a:cs typeface="Times New Roman"/>
              </a:rPr>
              <a:t>x</a:t>
            </a:r>
            <a:r>
              <a:rPr sz="2450" spc="10" dirty="0">
                <a:latin typeface="Times New Roman"/>
                <a:cs typeface="Times New Roman"/>
              </a:rPr>
              <a:t>i</a:t>
            </a:r>
            <a:r>
              <a:rPr sz="2450" spc="5" dirty="0">
                <a:latin typeface="Times New Roman"/>
                <a:cs typeface="Times New Roman"/>
              </a:rPr>
              <a:t>s</a:t>
            </a:r>
            <a:r>
              <a:rPr sz="2450" spc="10" dirty="0">
                <a:latin typeface="Times New Roman"/>
                <a:cs typeface="Times New Roman"/>
              </a:rPr>
              <a:t>t</a:t>
            </a:r>
            <a:r>
              <a:rPr sz="2450" spc="5" dirty="0">
                <a:latin typeface="Times New Roman"/>
                <a:cs typeface="Times New Roman"/>
              </a:rPr>
              <a:t>s </a:t>
            </a:r>
            <a:r>
              <a:rPr sz="2450" spc="10" dirty="0">
                <a:latin typeface="Times New Roman"/>
                <a:cs typeface="Times New Roman"/>
              </a:rPr>
              <a:t>i</a:t>
            </a:r>
            <a:r>
              <a:rPr sz="2450" spc="-10" dirty="0">
                <a:latin typeface="Times New Roman"/>
                <a:cs typeface="Times New Roman"/>
              </a:rPr>
              <a:t>ff</a:t>
            </a:r>
            <a:r>
              <a:rPr sz="2450" spc="5" dirty="0">
                <a:latin typeface="Times New Roman"/>
                <a:cs typeface="Times New Roman"/>
              </a:rPr>
              <a:t>:</a:t>
            </a:r>
            <a:r>
              <a:rPr sz="2450" spc="-30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Times New Roman"/>
                <a:cs typeface="Times New Roman"/>
              </a:rPr>
              <a:t>L</a:t>
            </a:r>
            <a:r>
              <a:rPr sz="2450" spc="-40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Times New Roman"/>
                <a:cs typeface="Times New Roman"/>
              </a:rPr>
              <a:t>&gt;</a:t>
            </a:r>
            <a:r>
              <a:rPr sz="2450" dirty="0">
                <a:latin typeface="Times New Roman"/>
                <a:cs typeface="Times New Roman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v</a:t>
            </a:r>
            <a:r>
              <a:rPr sz="2475" spc="-37" baseline="-21885" dirty="0">
                <a:latin typeface="Times New Roman"/>
                <a:cs typeface="Times New Roman"/>
              </a:rPr>
              <a:t>m</a:t>
            </a:r>
            <a:r>
              <a:rPr sz="2475" spc="-30" baseline="-21885" dirty="0">
                <a:latin typeface="Times New Roman"/>
                <a:cs typeface="Times New Roman"/>
              </a:rPr>
              <a:t>a</a:t>
            </a:r>
            <a:r>
              <a:rPr sz="2475" spc="-7" baseline="-21885" dirty="0">
                <a:latin typeface="Times New Roman"/>
                <a:cs typeface="Times New Roman"/>
              </a:rPr>
              <a:t>x</a:t>
            </a:r>
            <a:r>
              <a:rPr sz="2475" spc="-375" baseline="-21885" dirty="0">
                <a:latin typeface="Times New Roman"/>
                <a:cs typeface="Times New Roman"/>
              </a:rPr>
              <a:t> </a:t>
            </a:r>
            <a:r>
              <a:rPr sz="2475" spc="-7" baseline="37037" dirty="0">
                <a:latin typeface="Times New Roman"/>
                <a:cs typeface="Times New Roman"/>
              </a:rPr>
              <a:t>2</a:t>
            </a:r>
            <a:r>
              <a:rPr sz="2475" baseline="37037" dirty="0">
                <a:latin typeface="Times New Roman"/>
                <a:cs typeface="Times New Roman"/>
              </a:rPr>
              <a:t> </a:t>
            </a:r>
            <a:r>
              <a:rPr sz="2475" spc="-202" baseline="37037" dirty="0">
                <a:latin typeface="Times New Roman"/>
                <a:cs typeface="Times New Roman"/>
              </a:rPr>
              <a:t> </a:t>
            </a:r>
            <a:r>
              <a:rPr sz="2450" spc="5" dirty="0">
                <a:latin typeface="Times New Roman"/>
                <a:cs typeface="Times New Roman"/>
              </a:rPr>
              <a:t>/</a:t>
            </a:r>
            <a:r>
              <a:rPr sz="2450" spc="-105" dirty="0">
                <a:latin typeface="Times New Roman"/>
                <a:cs typeface="Times New Roman"/>
              </a:rPr>
              <a:t> </a:t>
            </a:r>
            <a:r>
              <a:rPr sz="2450" i="1" spc="-10" dirty="0">
                <a:latin typeface="Times New Roman"/>
                <a:cs typeface="Times New Roman"/>
              </a:rPr>
              <a:t>a</a:t>
            </a:r>
            <a:r>
              <a:rPr sz="2475" spc="-37" baseline="-21885" dirty="0">
                <a:latin typeface="Times New Roman"/>
                <a:cs typeface="Times New Roman"/>
              </a:rPr>
              <a:t>m</a:t>
            </a:r>
            <a:r>
              <a:rPr sz="2475" spc="-30" baseline="-21885" dirty="0">
                <a:latin typeface="Times New Roman"/>
                <a:cs typeface="Times New Roman"/>
              </a:rPr>
              <a:t>a</a:t>
            </a:r>
            <a:r>
              <a:rPr sz="2475" spc="-7" baseline="-21885" dirty="0">
                <a:latin typeface="Times New Roman"/>
                <a:cs typeface="Times New Roman"/>
              </a:rPr>
              <a:t>x</a:t>
            </a:r>
            <a:endParaRPr sz="2475" baseline="-2188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760"/>
              </a:spcBef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*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other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input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data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combinations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are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possible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(see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textbook)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25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8490" y="106235"/>
            <a:ext cx="5388610" cy="8252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410"/>
              </a:spcBef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5.6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 dirty="0">
              <a:latin typeface="Tahoma"/>
              <a:cs typeface="Tahoma"/>
            </a:endParaRPr>
          </a:p>
          <a:p>
            <a:pPr marL="259079" indent="-247015">
              <a:lnSpc>
                <a:spcPct val="100000"/>
              </a:lnSpc>
              <a:spcBef>
                <a:spcPts val="1330"/>
              </a:spcBef>
              <a:buFont typeface="Arial MT"/>
              <a:buChar char="•"/>
              <a:tabLst>
                <a:tab pos="259079" algn="l"/>
                <a:tab pos="259715" algn="l"/>
              </a:tabLst>
            </a:pP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Timing</a:t>
            </a: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law</a:t>
            </a: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with</a:t>
            </a: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trapezoidal</a:t>
            </a:r>
            <a:r>
              <a:rPr sz="1800" spc="-3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speed</a:t>
            </a: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-1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723" y="1794911"/>
            <a:ext cx="3776334" cy="42294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187119" y="2809729"/>
            <a:ext cx="617220" cy="0"/>
          </a:xfrm>
          <a:custGeom>
            <a:avLst/>
            <a:gdLst/>
            <a:ahLst/>
            <a:cxnLst/>
            <a:rect l="l" t="t" r="r" b="b"/>
            <a:pathLst>
              <a:path w="617220">
                <a:moveTo>
                  <a:pt x="0" y="0"/>
                </a:moveTo>
                <a:lnTo>
                  <a:pt x="616883" y="0"/>
                </a:lnTo>
              </a:path>
            </a:pathLst>
          </a:custGeom>
          <a:ln w="128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71297" y="2149493"/>
            <a:ext cx="32004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15" dirty="0">
                <a:latin typeface="Times New Roman"/>
                <a:cs typeface="Times New Roman"/>
              </a:rPr>
              <a:t>m</a:t>
            </a:r>
            <a:r>
              <a:rPr sz="1350" spc="-10" dirty="0">
                <a:latin typeface="Times New Roman"/>
                <a:cs typeface="Times New Roman"/>
              </a:rPr>
              <a:t>a</a:t>
            </a:r>
            <a:r>
              <a:rPr sz="1350" spc="5" dirty="0">
                <a:latin typeface="Times New Roman"/>
                <a:cs typeface="Times New Roman"/>
              </a:rPr>
              <a:t>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26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7984" y="2756344"/>
            <a:ext cx="32004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15" dirty="0">
                <a:latin typeface="Times New Roman"/>
                <a:cs typeface="Times New Roman"/>
              </a:rPr>
              <a:t>m</a:t>
            </a:r>
            <a:r>
              <a:rPr sz="1350" spc="-10" dirty="0">
                <a:latin typeface="Times New Roman"/>
                <a:cs typeface="Times New Roman"/>
              </a:rPr>
              <a:t>a</a:t>
            </a:r>
            <a:r>
              <a:rPr sz="1350" spc="5" dirty="0">
                <a:latin typeface="Times New Roman"/>
                <a:cs typeface="Times New Roman"/>
              </a:rPr>
              <a:t>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52320" y="2959089"/>
            <a:ext cx="32004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15" dirty="0">
                <a:latin typeface="Times New Roman"/>
                <a:cs typeface="Times New Roman"/>
              </a:rPr>
              <a:t>m</a:t>
            </a:r>
            <a:r>
              <a:rPr sz="1350" spc="-10" dirty="0">
                <a:latin typeface="Times New Roman"/>
                <a:cs typeface="Times New Roman"/>
              </a:rPr>
              <a:t>a</a:t>
            </a:r>
            <a:r>
              <a:rPr sz="1350" spc="5" dirty="0">
                <a:latin typeface="Times New Roman"/>
                <a:cs typeface="Times New Roman"/>
              </a:rPr>
              <a:t>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28323" y="4245619"/>
            <a:ext cx="11239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5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7948" y="4413247"/>
            <a:ext cx="11239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5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9813" y="4597136"/>
            <a:ext cx="32004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15" dirty="0">
                <a:latin typeface="Times New Roman"/>
                <a:cs typeface="Times New Roman"/>
              </a:rPr>
              <a:t>m</a:t>
            </a:r>
            <a:r>
              <a:rPr sz="1350" spc="-10" dirty="0">
                <a:latin typeface="Times New Roman"/>
                <a:cs typeface="Times New Roman"/>
              </a:rPr>
              <a:t>a</a:t>
            </a:r>
            <a:r>
              <a:rPr sz="1350" spc="5" dirty="0">
                <a:latin typeface="Times New Roman"/>
                <a:cs typeface="Times New Roman"/>
              </a:rPr>
              <a:t>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85031" y="4597136"/>
            <a:ext cx="32004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15" dirty="0">
                <a:latin typeface="Times New Roman"/>
                <a:cs typeface="Times New Roman"/>
              </a:rPr>
              <a:t>m</a:t>
            </a:r>
            <a:r>
              <a:rPr sz="1350" spc="-10" dirty="0">
                <a:latin typeface="Times New Roman"/>
                <a:cs typeface="Times New Roman"/>
              </a:rPr>
              <a:t>a</a:t>
            </a:r>
            <a:r>
              <a:rPr sz="1350" spc="5" dirty="0">
                <a:latin typeface="Times New Roman"/>
                <a:cs typeface="Times New Roman"/>
              </a:rPr>
              <a:t>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0497" y="3980934"/>
            <a:ext cx="52260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42595" algn="l"/>
              </a:tabLst>
            </a:pPr>
            <a:r>
              <a:rPr sz="1350" spc="-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35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350" spc="5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13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350" i="1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04035" y="3980934"/>
            <a:ext cx="9271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i="1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24118" y="2149656"/>
            <a:ext cx="9271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i="1" dirty="0"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75953" y="5198614"/>
            <a:ext cx="9271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i="1" dirty="0"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7619" y="1995594"/>
            <a:ext cx="100393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72440" algn="l"/>
              </a:tabLst>
            </a:pPr>
            <a:r>
              <a:rPr sz="2050" i="1" spc="-5" dirty="0">
                <a:latin typeface="Times New Roman"/>
                <a:cs typeface="Times New Roman"/>
              </a:rPr>
              <a:t>a	t</a:t>
            </a:r>
            <a:r>
              <a:rPr sz="2050" i="1" spc="-340" dirty="0">
                <a:latin typeface="Times New Roman"/>
                <a:cs typeface="Times New Roman"/>
              </a:rPr>
              <a:t> </a:t>
            </a:r>
            <a:r>
              <a:rPr sz="2025" spc="7" baseline="37037" dirty="0">
                <a:latin typeface="Times New Roman"/>
                <a:cs typeface="Times New Roman"/>
              </a:rPr>
              <a:t>2</a:t>
            </a:r>
            <a:r>
              <a:rPr sz="2025" baseline="37037" dirty="0">
                <a:latin typeface="Times New Roman"/>
                <a:cs typeface="Times New Roman"/>
              </a:rPr>
              <a:t> </a:t>
            </a:r>
            <a:r>
              <a:rPr sz="2025" spc="-247" baseline="37037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/</a:t>
            </a:r>
            <a:r>
              <a:rPr sz="2050" spc="-155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90050" y="2502220"/>
            <a:ext cx="58674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75" i="1" spc="-44" baseline="14905" dirty="0">
                <a:latin typeface="Times New Roman"/>
                <a:cs typeface="Times New Roman"/>
              </a:rPr>
              <a:t>v</a:t>
            </a:r>
            <a:r>
              <a:rPr sz="1350" spc="-15" dirty="0">
                <a:latin typeface="Times New Roman"/>
                <a:cs typeface="Times New Roman"/>
              </a:rPr>
              <a:t>m</a:t>
            </a:r>
            <a:r>
              <a:rPr sz="1350" spc="-10" dirty="0">
                <a:latin typeface="Times New Roman"/>
                <a:cs typeface="Times New Roman"/>
              </a:rPr>
              <a:t>a</a:t>
            </a:r>
            <a:r>
              <a:rPr sz="1350" spc="5" dirty="0">
                <a:latin typeface="Times New Roman"/>
                <a:cs typeface="Times New Roman"/>
              </a:rPr>
              <a:t>x</a:t>
            </a:r>
            <a:r>
              <a:rPr sz="1350" spc="-200" dirty="0">
                <a:latin typeface="Times New Roman"/>
                <a:cs typeface="Times New Roman"/>
              </a:rPr>
              <a:t> </a:t>
            </a:r>
            <a:r>
              <a:rPr sz="2025" spc="7" baseline="59670" dirty="0">
                <a:latin typeface="Times New Roman"/>
                <a:cs typeface="Times New Roman"/>
              </a:rPr>
              <a:t>2</a:t>
            </a:r>
            <a:endParaRPr sz="2025" baseline="5967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90574" y="2805190"/>
            <a:ext cx="2889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25" dirty="0">
                <a:latin typeface="Times New Roman"/>
                <a:cs typeface="Times New Roman"/>
              </a:rPr>
              <a:t>2</a:t>
            </a:r>
            <a:r>
              <a:rPr sz="2050" i="1" spc="-5" dirty="0">
                <a:latin typeface="Times New Roman"/>
                <a:cs typeface="Times New Roman"/>
              </a:rPr>
              <a:t>a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04342" y="4275701"/>
            <a:ext cx="14097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i="1" spc="-5" dirty="0">
                <a:latin typeface="Times New Roman"/>
                <a:cs typeface="Times New Roman"/>
              </a:rPr>
              <a:t>v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67052" y="4378650"/>
            <a:ext cx="635635" cy="67183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9"/>
              </a:spcBef>
              <a:tabLst>
                <a:tab pos="596265" algn="l"/>
              </a:tabLst>
            </a:pPr>
            <a:r>
              <a:rPr sz="13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350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max	</a:t>
            </a:r>
            <a:endParaRPr sz="135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95"/>
              </a:spcBef>
            </a:pPr>
            <a:r>
              <a:rPr sz="3075" i="1" spc="-15" baseline="14905" dirty="0">
                <a:latin typeface="Times New Roman"/>
                <a:cs typeface="Times New Roman"/>
              </a:rPr>
              <a:t>a</a:t>
            </a:r>
            <a:r>
              <a:rPr sz="1350" spc="-10" dirty="0">
                <a:latin typeface="Times New Roman"/>
                <a:cs typeface="Times New Roman"/>
              </a:rPr>
              <a:t>max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91185" y="1995592"/>
            <a:ext cx="94615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" dirty="0">
                <a:latin typeface="Times New Roman"/>
                <a:cs typeface="Times New Roman"/>
              </a:rPr>
              <a:t>t</a:t>
            </a:r>
            <a:r>
              <a:rPr sz="2050" spc="-190" dirty="0">
                <a:latin typeface="Times New Roman"/>
                <a:cs typeface="Times New Roman"/>
              </a:rPr>
              <a:t> </a:t>
            </a:r>
            <a:r>
              <a:rPr sz="2050" spc="95" dirty="0">
                <a:latin typeface="Symbol"/>
                <a:cs typeface="Symbol"/>
              </a:rPr>
              <a:t></a:t>
            </a:r>
            <a:r>
              <a:rPr sz="2050" spc="-15" dirty="0">
                <a:latin typeface="Times New Roman"/>
                <a:cs typeface="Times New Roman"/>
              </a:rPr>
              <a:t>[</a:t>
            </a:r>
            <a:r>
              <a:rPr sz="2050" spc="-5" dirty="0">
                <a:latin typeface="Times New Roman"/>
                <a:cs typeface="Times New Roman"/>
              </a:rPr>
              <a:t>0,T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05095" y="1603660"/>
            <a:ext cx="153670" cy="1082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210"/>
              </a:lnSpc>
              <a:spcBef>
                <a:spcPts val="90"/>
              </a:spcBef>
            </a:pPr>
            <a:r>
              <a:rPr sz="2050" spc="-5" dirty="0">
                <a:latin typeface="Symbol"/>
                <a:cs typeface="Symbol"/>
              </a:rPr>
              <a:t></a:t>
            </a:r>
            <a:endParaRPr sz="2050">
              <a:latin typeface="Symbol"/>
              <a:cs typeface="Symbol"/>
            </a:endParaRPr>
          </a:p>
          <a:p>
            <a:pPr marL="12700">
              <a:lnSpc>
                <a:spcPts val="1955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  <a:p>
            <a:pPr marL="12700">
              <a:lnSpc>
                <a:spcPts val="1955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  <a:p>
            <a:pPr marL="12700">
              <a:lnSpc>
                <a:spcPts val="2210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05095" y="2602532"/>
            <a:ext cx="84709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1340" algn="l"/>
              </a:tabLst>
            </a:pPr>
            <a:r>
              <a:rPr sz="3075" spc="22" baseline="1355" dirty="0">
                <a:latin typeface="Symbol"/>
                <a:cs typeface="Symbol"/>
              </a:rPr>
              <a:t></a:t>
            </a:r>
            <a:r>
              <a:rPr sz="2050" i="1" spc="-5" dirty="0">
                <a:latin typeface="Times New Roman"/>
                <a:cs typeface="Times New Roman"/>
              </a:rPr>
              <a:t>v</a:t>
            </a:r>
            <a:r>
              <a:rPr sz="2050" i="1" dirty="0">
                <a:latin typeface="Times New Roman"/>
                <a:cs typeface="Times New Roman"/>
              </a:rPr>
              <a:t>	</a:t>
            </a:r>
            <a:r>
              <a:rPr sz="2050" i="1" spc="-5" dirty="0">
                <a:latin typeface="Times New Roman"/>
                <a:cs typeface="Times New Roman"/>
              </a:rPr>
              <a:t>t</a:t>
            </a:r>
            <a:r>
              <a:rPr sz="2050" i="1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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73575" y="2602531"/>
            <a:ext cx="150114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5" dirty="0">
                <a:latin typeface="Times New Roman"/>
                <a:cs typeface="Times New Roman"/>
              </a:rPr>
              <a:t>t</a:t>
            </a:r>
            <a:r>
              <a:rPr sz="2050" spc="-190" dirty="0">
                <a:latin typeface="Times New Roman"/>
                <a:cs typeface="Times New Roman"/>
              </a:rPr>
              <a:t> </a:t>
            </a:r>
            <a:r>
              <a:rPr sz="2050" spc="95" dirty="0">
                <a:latin typeface="Symbol"/>
                <a:cs typeface="Symbol"/>
              </a:rPr>
              <a:t></a:t>
            </a:r>
            <a:r>
              <a:rPr sz="2050" spc="-20" dirty="0">
                <a:latin typeface="Times New Roman"/>
                <a:cs typeface="Times New Roman"/>
              </a:rPr>
              <a:t>[</a:t>
            </a:r>
            <a:r>
              <a:rPr sz="2050" spc="-145" dirty="0">
                <a:latin typeface="Times New Roman"/>
                <a:cs typeface="Times New Roman"/>
              </a:rPr>
              <a:t>T</a:t>
            </a:r>
            <a:r>
              <a:rPr sz="2025" i="1" baseline="-22633" dirty="0">
                <a:latin typeface="Times New Roman"/>
                <a:cs typeface="Times New Roman"/>
              </a:rPr>
              <a:t>s</a:t>
            </a:r>
            <a:r>
              <a:rPr sz="2025" i="1" spc="-157" baseline="-22633" dirty="0">
                <a:latin typeface="Times New Roman"/>
                <a:cs typeface="Times New Roman"/>
              </a:rPr>
              <a:t> </a:t>
            </a:r>
            <a:r>
              <a:rPr sz="2050" spc="120" dirty="0">
                <a:latin typeface="Times New Roman"/>
                <a:cs typeface="Times New Roman"/>
              </a:rPr>
              <a:t>,</a:t>
            </a:r>
            <a:r>
              <a:rPr sz="2050" i="1" spc="-10" dirty="0">
                <a:latin typeface="Times New Roman"/>
                <a:cs typeface="Times New Roman"/>
              </a:rPr>
              <a:t>T</a:t>
            </a:r>
            <a:r>
              <a:rPr sz="2050" i="1" spc="7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</a:t>
            </a:r>
            <a:r>
              <a:rPr sz="2050" spc="-300" dirty="0">
                <a:latin typeface="Times New Roman"/>
                <a:cs typeface="Times New Roman"/>
              </a:rPr>
              <a:t> </a:t>
            </a:r>
            <a:r>
              <a:rPr sz="2050" i="1" spc="-110" dirty="0">
                <a:latin typeface="Times New Roman"/>
                <a:cs typeface="Times New Roman"/>
              </a:rPr>
              <a:t>T</a:t>
            </a:r>
            <a:r>
              <a:rPr sz="2025" i="1" baseline="-22633" dirty="0">
                <a:latin typeface="Times New Roman"/>
                <a:cs typeface="Times New Roman"/>
              </a:rPr>
              <a:t>s</a:t>
            </a:r>
            <a:r>
              <a:rPr sz="2025" i="1" spc="-112" baseline="-22633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05095" y="2846859"/>
            <a:ext cx="15367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81851" y="4443329"/>
            <a:ext cx="128397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21030" algn="l"/>
              </a:tabLst>
            </a:pPr>
            <a:r>
              <a:rPr sz="2050" spc="45" dirty="0">
                <a:latin typeface="Symbol"/>
                <a:cs typeface="Symbol"/>
              </a:rPr>
              <a:t></a:t>
            </a:r>
            <a:r>
              <a:rPr sz="2050" i="1" spc="-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	</a:t>
            </a:r>
            <a:r>
              <a:rPr sz="2050" spc="-20" dirty="0">
                <a:latin typeface="Times New Roman"/>
                <a:cs typeface="Times New Roman"/>
              </a:rPr>
              <a:t>(</a:t>
            </a:r>
            <a:r>
              <a:rPr sz="2050" i="1" spc="-5" dirty="0">
                <a:latin typeface="Times New Roman"/>
                <a:cs typeface="Times New Roman"/>
              </a:rPr>
              <a:t>t</a:t>
            </a:r>
            <a:r>
              <a:rPr sz="2050" i="1" spc="-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</a:t>
            </a:r>
            <a:r>
              <a:rPr sz="2050" spc="-30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T</a:t>
            </a:r>
            <a:r>
              <a:rPr sz="2050" i="1" spc="-245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46148" y="3300818"/>
            <a:ext cx="152844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34440" algn="l"/>
              </a:tabLst>
            </a:pPr>
            <a:r>
              <a:rPr sz="2150" spc="-70" dirty="0">
                <a:latin typeface="Symbol"/>
                <a:cs typeface="Symbol"/>
              </a:rPr>
              <a:t></a:t>
            </a:r>
            <a:r>
              <a:rPr sz="2150" spc="-210" dirty="0">
                <a:latin typeface="Times New Roman"/>
                <a:cs typeface="Times New Roman"/>
              </a:rPr>
              <a:t> </a:t>
            </a:r>
            <a:r>
              <a:rPr sz="2050" spc="35" dirty="0">
                <a:latin typeface="Times New Roman"/>
                <a:cs typeface="Times New Roman"/>
              </a:rPr>
              <a:t>(</a:t>
            </a:r>
            <a:r>
              <a:rPr sz="2050" i="1" spc="35" dirty="0">
                <a:latin typeface="Times New Roman"/>
                <a:cs typeface="Times New Roman"/>
              </a:rPr>
              <a:t>t</a:t>
            </a:r>
            <a:r>
              <a:rPr sz="2050" spc="35" dirty="0">
                <a:latin typeface="Times New Roman"/>
                <a:cs typeface="Times New Roman"/>
              </a:rPr>
              <a:t>)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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3075" spc="-7" baseline="32520" dirty="0">
                <a:latin typeface="Symbol"/>
                <a:cs typeface="Symbol"/>
              </a:rPr>
              <a:t></a:t>
            </a:r>
            <a:r>
              <a:rPr sz="3075" spc="-7" baseline="32520" dirty="0">
                <a:latin typeface="Times New Roman"/>
                <a:cs typeface="Times New Roman"/>
              </a:rPr>
              <a:t>	</a:t>
            </a:r>
            <a:r>
              <a:rPr sz="2050" spc="-10" dirty="0">
                <a:solidFill>
                  <a:srgbClr val="0000FF"/>
                </a:solidFill>
                <a:latin typeface="Symbol"/>
                <a:cs typeface="Symbol"/>
              </a:rPr>
              <a:t>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93460" y="3300819"/>
            <a:ext cx="193167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50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2025" spc="-22" baseline="-22633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2025" spc="-15" baseline="-22633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025" spc="7" baseline="-22633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025" spc="-270" baseline="-2263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150" spc="-50" dirty="0">
                <a:solidFill>
                  <a:srgbClr val="0000FF"/>
                </a:solidFill>
                <a:latin typeface="Symbol"/>
                <a:cs typeface="Symbol"/>
              </a:rPr>
              <a:t></a:t>
            </a:r>
            <a:r>
              <a:rPr sz="2150" spc="2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2050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2025" spc="-22" baseline="-22633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2025" spc="-15" baseline="-22633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025" spc="-89" baseline="-22633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50" spc="-50" dirty="0">
                <a:solidFill>
                  <a:srgbClr val="0000FF"/>
                </a:solidFill>
                <a:latin typeface="Symbol"/>
                <a:cs typeface="Symbol"/>
              </a:rPr>
              <a:t></a:t>
            </a:r>
            <a:r>
              <a:rPr sz="2150" spc="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sz="2050" spc="-1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94731" y="5044817"/>
            <a:ext cx="124968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" dirty="0">
                <a:latin typeface="Times New Roman"/>
                <a:cs typeface="Times New Roman"/>
              </a:rPr>
              <a:t>t</a:t>
            </a:r>
            <a:r>
              <a:rPr sz="2050" spc="-190" dirty="0">
                <a:latin typeface="Times New Roman"/>
                <a:cs typeface="Times New Roman"/>
              </a:rPr>
              <a:t> </a:t>
            </a:r>
            <a:r>
              <a:rPr sz="2050" spc="95" dirty="0">
                <a:latin typeface="Symbol"/>
                <a:cs typeface="Symbol"/>
              </a:rPr>
              <a:t></a:t>
            </a:r>
            <a:r>
              <a:rPr sz="2050" spc="-20" dirty="0">
                <a:latin typeface="Times New Roman"/>
                <a:cs typeface="Times New Roman"/>
              </a:rPr>
              <a:t>[</a:t>
            </a:r>
            <a:r>
              <a:rPr sz="2050" spc="15" dirty="0">
                <a:latin typeface="Times New Roman"/>
                <a:cs typeface="Times New Roman"/>
              </a:rPr>
              <a:t>T</a:t>
            </a:r>
            <a:r>
              <a:rPr sz="2050" spc="-50" dirty="0">
                <a:latin typeface="Times New Roman"/>
                <a:cs typeface="Times New Roman"/>
              </a:rPr>
              <a:t>-</a:t>
            </a:r>
            <a:r>
              <a:rPr sz="2050" spc="-10" dirty="0">
                <a:latin typeface="Times New Roman"/>
                <a:cs typeface="Times New Roman"/>
              </a:rPr>
              <a:t>T</a:t>
            </a:r>
            <a:r>
              <a:rPr sz="2050" spc="120" dirty="0">
                <a:latin typeface="Times New Roman"/>
                <a:cs typeface="Times New Roman"/>
              </a:rPr>
              <a:t> ,</a:t>
            </a:r>
            <a:r>
              <a:rPr sz="2050" i="1" spc="-10" dirty="0">
                <a:latin typeface="Times New Roman"/>
                <a:cs typeface="Times New Roman"/>
              </a:rPr>
              <a:t>T</a:t>
            </a:r>
            <a:r>
              <a:rPr sz="2050" i="1" spc="-245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99360" y="4443328"/>
            <a:ext cx="127063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95985" algn="l"/>
              </a:tabLst>
            </a:pPr>
            <a:r>
              <a:rPr sz="2050" spc="170" dirty="0">
                <a:latin typeface="Times New Roman"/>
                <a:cs typeface="Times New Roman"/>
              </a:rPr>
              <a:t>/2</a:t>
            </a:r>
            <a:r>
              <a:rPr sz="2050" spc="-19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</a:t>
            </a:r>
            <a:r>
              <a:rPr sz="2050" spc="-170" dirty="0">
                <a:latin typeface="Times New Roman"/>
                <a:cs typeface="Times New Roman"/>
              </a:rPr>
              <a:t> </a:t>
            </a:r>
            <a:r>
              <a:rPr sz="2050" i="1" spc="-5" dirty="0">
                <a:latin typeface="Times New Roman"/>
                <a:cs typeface="Times New Roman"/>
              </a:rPr>
              <a:t>v	</a:t>
            </a:r>
            <a:r>
              <a:rPr sz="2050" i="1" spc="-10" dirty="0">
                <a:latin typeface="Times New Roman"/>
                <a:cs typeface="Times New Roman"/>
              </a:rPr>
              <a:t>T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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96271" y="3827049"/>
            <a:ext cx="1552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45185" algn="l"/>
              </a:tabLst>
            </a:pPr>
            <a:r>
              <a:rPr sz="205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2050" i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205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2050" i="1" spc="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25" spc="7" baseline="37037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025" baseline="3703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25" spc="-247" baseline="3703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-5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2050" spc="-1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-40" dirty="0">
                <a:solidFill>
                  <a:srgbClr val="0000FF"/>
                </a:solidFill>
                <a:latin typeface="Times New Roman"/>
                <a:cs typeface="Times New Roman"/>
              </a:rPr>
              <a:t>2,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67708" y="3813046"/>
            <a:ext cx="87503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50" dirty="0">
                <a:solidFill>
                  <a:srgbClr val="0000FF"/>
                </a:solidFill>
                <a:latin typeface="Symbol"/>
                <a:cs typeface="Symbol"/>
              </a:rPr>
              <a:t></a:t>
            </a:r>
            <a:r>
              <a:rPr sz="2150" spc="2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2050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2050" i="1" spc="-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050" spc="-2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83955" y="3293700"/>
            <a:ext cx="12509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dirty="0">
                <a:solidFill>
                  <a:srgbClr val="0000FF"/>
                </a:solidFill>
                <a:latin typeface="Symbol"/>
                <a:cs typeface="Symbol"/>
              </a:rPr>
              <a:t>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79688" y="3359086"/>
            <a:ext cx="204470" cy="2054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2210"/>
              </a:lnSpc>
              <a:spcBef>
                <a:spcPts val="90"/>
              </a:spcBef>
            </a:pPr>
            <a:r>
              <a:rPr sz="2050" spc="-5" dirty="0">
                <a:latin typeface="Symbol"/>
                <a:cs typeface="Symbol"/>
              </a:rPr>
              <a:t>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1955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1955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1960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1960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1955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1864"/>
              </a:lnSpc>
            </a:pPr>
            <a:r>
              <a:rPr sz="2050" spc="-5" dirty="0">
                <a:latin typeface="Symbol"/>
                <a:cs typeface="Symbol"/>
              </a:rPr>
              <a:t>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2115"/>
              </a:lnSpc>
            </a:pPr>
            <a:r>
              <a:rPr sz="2050" spc="-509" dirty="0">
                <a:latin typeface="Symbol"/>
                <a:cs typeface="Symbol"/>
              </a:rPr>
              <a:t></a:t>
            </a:r>
            <a:r>
              <a:rPr sz="3075" spc="-765" baseline="-8130" dirty="0">
                <a:latin typeface="Symbol"/>
                <a:cs typeface="Symbol"/>
              </a:rPr>
              <a:t></a:t>
            </a:r>
            <a:endParaRPr sz="3075" baseline="-813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67400" y="5445252"/>
            <a:ext cx="2161540" cy="708660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72390" marR="63500" indent="50165">
              <a:lnSpc>
                <a:spcPct val="100000"/>
              </a:lnSpc>
              <a:spcBef>
                <a:spcPts val="350"/>
              </a:spcBef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can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be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used also 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space!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7052" y="820356"/>
            <a:ext cx="5243830" cy="7385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33400" lvl="1" indent="-521334">
              <a:lnSpc>
                <a:spcPct val="100000"/>
              </a:lnSpc>
              <a:spcBef>
                <a:spcPts val="425"/>
              </a:spcBef>
              <a:buAutoNum type="arabicPeriod" startAt="6"/>
              <a:tabLst>
                <a:tab pos="534035" algn="l"/>
              </a:tabLst>
            </a:pP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>
              <a:latin typeface="Tahoma"/>
              <a:cs typeface="Tahoma"/>
            </a:endParaRPr>
          </a:p>
          <a:p>
            <a:pPr marL="330835" lvl="2" indent="-24765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330835" algn="l"/>
                <a:tab pos="331470" algn="l"/>
              </a:tabLst>
            </a:pP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Timing</a:t>
            </a: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law</a:t>
            </a: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with</a:t>
            </a: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trapezoidal</a:t>
            </a:r>
            <a:r>
              <a:rPr sz="1800" spc="-3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speed</a:t>
            </a: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-2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99471" y="1035454"/>
            <a:ext cx="104139" cy="2374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50" i="1" spc="15" dirty="0">
                <a:latin typeface="Times New Roman"/>
                <a:cs typeface="Times New Roman"/>
              </a:rPr>
              <a:t>v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69934" y="1333171"/>
            <a:ext cx="364490" cy="2374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025" i="1" spc="7" baseline="14403" dirty="0">
                <a:latin typeface="Times New Roman"/>
                <a:cs typeface="Times New Roman"/>
              </a:rPr>
              <a:t>a</a:t>
            </a:r>
            <a:r>
              <a:rPr sz="900" spc="5" dirty="0">
                <a:latin typeface="Times New Roman"/>
                <a:cs typeface="Times New Roman"/>
              </a:rPr>
              <a:t>max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21001" y="1081396"/>
            <a:ext cx="743585" cy="2374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025" i="1" spc="-30" baseline="-22633" dirty="0">
                <a:latin typeface="Times New Roman"/>
                <a:cs typeface="Times New Roman"/>
              </a:rPr>
              <a:t>T</a:t>
            </a:r>
            <a:r>
              <a:rPr sz="1350" i="1" spc="-30" baseline="-55555" dirty="0">
                <a:latin typeface="Times New Roman"/>
                <a:cs typeface="Times New Roman"/>
              </a:rPr>
              <a:t>s</a:t>
            </a:r>
            <a:r>
              <a:rPr sz="1350" i="1" spc="52" baseline="-55555" dirty="0">
                <a:latin typeface="Times New Roman"/>
                <a:cs typeface="Times New Roman"/>
              </a:rPr>
              <a:t> </a:t>
            </a:r>
            <a:r>
              <a:rPr sz="2025" spc="30" baseline="-22633" dirty="0">
                <a:latin typeface="Symbol"/>
                <a:cs typeface="Symbol"/>
              </a:rPr>
              <a:t></a:t>
            </a:r>
            <a:r>
              <a:rPr sz="1350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u="sng" spc="3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max</a:t>
            </a:r>
            <a:r>
              <a:rPr sz="900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86905" y="1905761"/>
            <a:ext cx="2637155" cy="2097405"/>
            <a:chOff x="486905" y="1905761"/>
            <a:chExt cx="2637155" cy="2097405"/>
          </a:xfrm>
        </p:grpSpPr>
        <p:sp>
          <p:nvSpPr>
            <p:cNvPr id="4" name="object 4"/>
            <p:cNvSpPr/>
            <p:nvPr/>
          </p:nvSpPr>
          <p:spPr>
            <a:xfrm>
              <a:off x="505942" y="3220211"/>
              <a:ext cx="2599055" cy="763905"/>
            </a:xfrm>
            <a:custGeom>
              <a:avLst/>
              <a:gdLst/>
              <a:ahLst/>
              <a:cxnLst/>
              <a:rect l="l" t="t" r="r" b="b"/>
              <a:pathLst>
                <a:path w="2599055" h="763904">
                  <a:moveTo>
                    <a:pt x="960145" y="0"/>
                  </a:moveTo>
                  <a:lnTo>
                    <a:pt x="2598445" y="0"/>
                  </a:lnTo>
                </a:path>
                <a:path w="2599055" h="763904">
                  <a:moveTo>
                    <a:pt x="960145" y="0"/>
                  </a:moveTo>
                  <a:lnTo>
                    <a:pt x="0" y="763536"/>
                  </a:lnTo>
                </a:path>
              </a:pathLst>
            </a:custGeom>
            <a:ln w="38100">
              <a:solidFill>
                <a:srgbClr val="FFCF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91995" y="1924811"/>
              <a:ext cx="0" cy="1295400"/>
            </a:xfrm>
            <a:custGeom>
              <a:avLst/>
              <a:gdLst/>
              <a:ahLst/>
              <a:cxnLst/>
              <a:rect l="l" t="t" r="r" b="b"/>
              <a:pathLst>
                <a:path h="1295400">
                  <a:moveTo>
                    <a:pt x="0" y="12954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CF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8869" y="2116835"/>
              <a:ext cx="875030" cy="1257300"/>
            </a:xfrm>
            <a:custGeom>
              <a:avLst/>
              <a:gdLst/>
              <a:ahLst/>
              <a:cxnLst/>
              <a:rect l="l" t="t" r="r" b="b"/>
              <a:pathLst>
                <a:path w="875030" h="1257300">
                  <a:moveTo>
                    <a:pt x="0" y="1257300"/>
                  </a:moveTo>
                  <a:lnTo>
                    <a:pt x="874776" y="0"/>
                  </a:lnTo>
                </a:path>
              </a:pathLst>
            </a:custGeom>
            <a:ln w="38100">
              <a:solidFill>
                <a:srgbClr val="1822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913" y="3316225"/>
              <a:ext cx="111253" cy="1127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29220" y="1577918"/>
            <a:ext cx="2068195" cy="82423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  <a:tabLst>
                <a:tab pos="475615" algn="l"/>
              </a:tabLst>
            </a:pPr>
            <a:r>
              <a:rPr sz="2800" spc="-5" dirty="0">
                <a:solidFill>
                  <a:srgbClr val="40458C"/>
                </a:solidFill>
                <a:latin typeface="Tahoma"/>
                <a:cs typeface="Tahoma"/>
              </a:rPr>
              <a:t>z	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2400" spc="-2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“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vi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-1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2000" spc="15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”</a:t>
            </a:r>
            <a:endParaRPr sz="2000">
              <a:latin typeface="Tahoma"/>
              <a:cs typeface="Tahoma"/>
            </a:endParaRPr>
          </a:p>
          <a:p>
            <a:pPr marL="1358265">
              <a:lnSpc>
                <a:spcPct val="100000"/>
              </a:lnSpc>
              <a:spcBef>
                <a:spcPts val="225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C’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3373" y="2409300"/>
            <a:ext cx="13773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334" algn="l"/>
              </a:tabLst>
            </a:pPr>
            <a:r>
              <a:rPr sz="2000" spc="-55" dirty="0">
                <a:solidFill>
                  <a:srgbClr val="40458C"/>
                </a:solidFill>
                <a:latin typeface="Tahoma"/>
                <a:cs typeface="Tahoma"/>
              </a:rPr>
              <a:t>A’	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over-fly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55321" y="2062626"/>
            <a:ext cx="1769745" cy="634365"/>
            <a:chOff x="1355321" y="2062626"/>
            <a:chExt cx="1769745" cy="634365"/>
          </a:xfrm>
        </p:grpSpPr>
        <p:sp>
          <p:nvSpPr>
            <p:cNvPr id="11" name="object 11"/>
            <p:cNvSpPr/>
            <p:nvPr/>
          </p:nvSpPr>
          <p:spPr>
            <a:xfrm>
              <a:off x="1711454" y="2119903"/>
              <a:ext cx="1329055" cy="520065"/>
            </a:xfrm>
            <a:custGeom>
              <a:avLst/>
              <a:gdLst/>
              <a:ahLst/>
              <a:cxnLst/>
              <a:rect l="l" t="t" r="r" b="b"/>
              <a:pathLst>
                <a:path w="1329055" h="520064">
                  <a:moveTo>
                    <a:pt x="0" y="0"/>
                  </a:moveTo>
                  <a:lnTo>
                    <a:pt x="1328928" y="519645"/>
                  </a:lnTo>
                </a:path>
              </a:pathLst>
            </a:custGeom>
            <a:ln w="38100">
              <a:solidFill>
                <a:srgbClr val="1822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1625" y="2062626"/>
              <a:ext cx="114517" cy="1145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0553" y="2582310"/>
              <a:ext cx="114517" cy="1145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68338" y="2270593"/>
              <a:ext cx="989965" cy="395605"/>
            </a:xfrm>
            <a:custGeom>
              <a:avLst/>
              <a:gdLst/>
              <a:ahLst/>
              <a:cxnLst/>
              <a:rect l="l" t="t" r="r" b="b"/>
              <a:pathLst>
                <a:path w="989964" h="395605">
                  <a:moveTo>
                    <a:pt x="989507" y="92201"/>
                  </a:moveTo>
                  <a:lnTo>
                    <a:pt x="922172" y="58813"/>
                  </a:lnTo>
                  <a:lnTo>
                    <a:pt x="853236" y="32588"/>
                  </a:lnTo>
                  <a:lnTo>
                    <a:pt x="781939" y="14300"/>
                  </a:lnTo>
                  <a:lnTo>
                    <a:pt x="709053" y="3174"/>
                  </a:lnTo>
                  <a:lnTo>
                    <a:pt x="636168" y="0"/>
                  </a:lnTo>
                  <a:lnTo>
                    <a:pt x="562483" y="3174"/>
                  </a:lnTo>
                  <a:lnTo>
                    <a:pt x="490397" y="15100"/>
                  </a:lnTo>
                  <a:lnTo>
                    <a:pt x="418299" y="34175"/>
                  </a:lnTo>
                  <a:lnTo>
                    <a:pt x="351751" y="59613"/>
                  </a:lnTo>
                  <a:lnTo>
                    <a:pt x="288366" y="91401"/>
                  </a:lnTo>
                  <a:lnTo>
                    <a:pt x="228955" y="128765"/>
                  </a:lnTo>
                  <a:lnTo>
                    <a:pt x="173494" y="171691"/>
                  </a:lnTo>
                  <a:lnTo>
                    <a:pt x="122796" y="220967"/>
                  </a:lnTo>
                  <a:lnTo>
                    <a:pt x="76047" y="274231"/>
                  </a:lnTo>
                  <a:lnTo>
                    <a:pt x="35648" y="332257"/>
                  </a:lnTo>
                  <a:lnTo>
                    <a:pt x="0" y="395058"/>
                  </a:lnTo>
                </a:path>
              </a:pathLst>
            </a:custGeom>
            <a:ln w="25908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7050" y="322630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822CD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150" y="3851655"/>
            <a:ext cx="201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CF01"/>
                </a:solidFill>
                <a:latin typeface="Tahoma"/>
                <a:cs typeface="Tahoma"/>
              </a:rPr>
              <a:t>x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82304" y="2194230"/>
            <a:ext cx="53340" cy="320040"/>
            <a:chOff x="4782304" y="2194230"/>
            <a:chExt cx="53340" cy="320040"/>
          </a:xfrm>
        </p:grpSpPr>
        <p:sp>
          <p:nvSpPr>
            <p:cNvPr id="18" name="object 18"/>
            <p:cNvSpPr/>
            <p:nvPr/>
          </p:nvSpPr>
          <p:spPr>
            <a:xfrm>
              <a:off x="4828905" y="2194230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420"/>
                  </a:lnTo>
                </a:path>
              </a:pathLst>
            </a:custGeom>
            <a:ln w="1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88961" y="2194230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420"/>
                  </a:lnTo>
                </a:path>
              </a:pathLst>
            </a:custGeom>
            <a:ln w="1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469057" y="2194230"/>
            <a:ext cx="53340" cy="320040"/>
            <a:chOff x="5469057" y="2194230"/>
            <a:chExt cx="53340" cy="320040"/>
          </a:xfrm>
        </p:grpSpPr>
        <p:sp>
          <p:nvSpPr>
            <p:cNvPr id="21" name="object 21"/>
            <p:cNvSpPr/>
            <p:nvPr/>
          </p:nvSpPr>
          <p:spPr>
            <a:xfrm>
              <a:off x="5515658" y="2194230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420"/>
                  </a:lnTo>
                </a:path>
              </a:pathLst>
            </a:custGeom>
            <a:ln w="1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75714" y="2194230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420"/>
                  </a:lnTo>
                </a:path>
              </a:pathLst>
            </a:custGeom>
            <a:ln w="1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761631" y="2949702"/>
            <a:ext cx="908685" cy="376555"/>
            <a:chOff x="4761631" y="2949702"/>
            <a:chExt cx="908685" cy="376555"/>
          </a:xfrm>
        </p:grpSpPr>
        <p:sp>
          <p:nvSpPr>
            <p:cNvPr id="24" name="object 24"/>
            <p:cNvSpPr/>
            <p:nvPr/>
          </p:nvSpPr>
          <p:spPr>
            <a:xfrm>
              <a:off x="4828905" y="3006791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420"/>
                  </a:lnTo>
                </a:path>
              </a:pathLst>
            </a:custGeom>
            <a:ln w="1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88961" y="3006791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420"/>
                  </a:lnTo>
                </a:path>
              </a:pathLst>
            </a:custGeom>
            <a:ln w="1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24067" y="3006791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420"/>
                  </a:lnTo>
                </a:path>
              </a:pathLst>
            </a:custGeom>
            <a:ln w="1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84123" y="3006791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420"/>
                  </a:lnTo>
                </a:path>
              </a:pathLst>
            </a:custGeom>
            <a:ln w="13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61631" y="2956356"/>
              <a:ext cx="908685" cy="0"/>
            </a:xfrm>
            <a:custGeom>
              <a:avLst/>
              <a:gdLst/>
              <a:ahLst/>
              <a:cxnLst/>
              <a:rect l="l" t="t" r="r" b="b"/>
              <a:pathLst>
                <a:path w="908685">
                  <a:moveTo>
                    <a:pt x="0" y="0"/>
                  </a:moveTo>
                  <a:lnTo>
                    <a:pt x="908195" y="0"/>
                  </a:lnTo>
                </a:path>
              </a:pathLst>
            </a:custGeom>
            <a:ln w="133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145559" y="2089062"/>
            <a:ext cx="24447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i="1" dirty="0">
                <a:latin typeface="Times New Roman"/>
                <a:cs typeface="Times New Roman"/>
              </a:rPr>
              <a:t>A</a:t>
            </a:r>
            <a:r>
              <a:rPr sz="1400" i="1" spc="5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23531" y="1759835"/>
            <a:ext cx="144589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937260" algn="l"/>
              </a:tabLst>
            </a:pPr>
            <a:r>
              <a:rPr sz="2100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i="1" u="heavy" spc="2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100" i="1" u="heavy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u="heavy" spc="1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21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	</a:t>
            </a:r>
            <a:r>
              <a:rPr sz="3150" spc="15" baseline="-35714" dirty="0">
                <a:latin typeface="Symbol"/>
                <a:cs typeface="Symbol"/>
              </a:rPr>
              <a:t></a:t>
            </a:r>
            <a:r>
              <a:rPr sz="3150" spc="-52" baseline="-35714" dirty="0">
                <a:latin typeface="Times New Roman"/>
                <a:cs typeface="Times New Roman"/>
              </a:rPr>
              <a:t> </a:t>
            </a:r>
            <a:r>
              <a:rPr sz="3150" i="1" spc="15" baseline="-35714" dirty="0">
                <a:latin typeface="Times New Roman"/>
                <a:cs typeface="Times New Roman"/>
              </a:rPr>
              <a:t>K</a:t>
            </a:r>
            <a:endParaRPr sz="3150" baseline="-35714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54245" y="2139374"/>
            <a:ext cx="6191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i="1" spc="10" dirty="0">
                <a:latin typeface="Times New Roman"/>
                <a:cs typeface="Times New Roman"/>
              </a:rPr>
              <a:t>B</a:t>
            </a:r>
            <a:r>
              <a:rPr sz="2100" i="1" spc="-13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96224" y="2572172"/>
            <a:ext cx="6318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i="1" spc="10" dirty="0">
                <a:latin typeface="Times New Roman"/>
                <a:cs typeface="Times New Roman"/>
              </a:rPr>
              <a:t>C</a:t>
            </a:r>
            <a:r>
              <a:rPr sz="2100" i="1" spc="-5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B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03136" y="2811917"/>
            <a:ext cx="722630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150" spc="15" baseline="14550" dirty="0">
                <a:latin typeface="Symbol"/>
                <a:cs typeface="Symbol"/>
              </a:rPr>
              <a:t></a:t>
            </a:r>
            <a:r>
              <a:rPr sz="3150" spc="-52" baseline="14550" dirty="0">
                <a:latin typeface="Times New Roman"/>
                <a:cs typeface="Times New Roman"/>
              </a:rPr>
              <a:t> </a:t>
            </a:r>
            <a:r>
              <a:rPr sz="3150" i="1" spc="82" baseline="14550" dirty="0">
                <a:latin typeface="Times New Roman"/>
                <a:cs typeface="Times New Roman"/>
              </a:rPr>
              <a:t>K</a:t>
            </a:r>
            <a:r>
              <a:rPr sz="1400" i="1" spc="55" dirty="0">
                <a:latin typeface="Times New Roman"/>
                <a:cs typeface="Times New Roman"/>
              </a:rPr>
              <a:t>BC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37292" y="2951712"/>
            <a:ext cx="63182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i="1" spc="10" dirty="0">
                <a:latin typeface="Times New Roman"/>
                <a:cs typeface="Times New Roman"/>
              </a:rPr>
              <a:t>C</a:t>
            </a:r>
            <a:r>
              <a:rPr sz="2100" i="1" spc="-5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B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16627" y="2180844"/>
            <a:ext cx="508634" cy="214629"/>
            <a:chOff x="6516627" y="2180844"/>
            <a:chExt cx="508634" cy="214629"/>
          </a:xfrm>
        </p:grpSpPr>
        <p:sp>
          <p:nvSpPr>
            <p:cNvPr id="36" name="object 36"/>
            <p:cNvSpPr/>
            <p:nvPr/>
          </p:nvSpPr>
          <p:spPr>
            <a:xfrm>
              <a:off x="6543851" y="2200567"/>
              <a:ext cx="468630" cy="181610"/>
            </a:xfrm>
            <a:custGeom>
              <a:avLst/>
              <a:gdLst/>
              <a:ahLst/>
              <a:cxnLst/>
              <a:rect l="l" t="t" r="r" b="b"/>
              <a:pathLst>
                <a:path w="468629" h="181610">
                  <a:moveTo>
                    <a:pt x="468274" y="181533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16627" y="2180844"/>
              <a:ext cx="96520" cy="79375"/>
            </a:xfrm>
            <a:custGeom>
              <a:avLst/>
              <a:gdLst/>
              <a:ahLst/>
              <a:cxnLst/>
              <a:rect l="l" t="t" r="r" b="b"/>
              <a:pathLst>
                <a:path w="96520" h="79375">
                  <a:moveTo>
                    <a:pt x="96011" y="0"/>
                  </a:moveTo>
                  <a:lnTo>
                    <a:pt x="0" y="9144"/>
                  </a:lnTo>
                  <a:lnTo>
                    <a:pt x="65036" y="79248"/>
                  </a:lnTo>
                  <a:lnTo>
                    <a:pt x="96011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585204" y="2711738"/>
            <a:ext cx="458470" cy="219075"/>
            <a:chOff x="6585204" y="2711738"/>
            <a:chExt cx="458470" cy="219075"/>
          </a:xfrm>
        </p:grpSpPr>
        <p:sp>
          <p:nvSpPr>
            <p:cNvPr id="39" name="object 39"/>
            <p:cNvSpPr/>
            <p:nvPr/>
          </p:nvSpPr>
          <p:spPr>
            <a:xfrm>
              <a:off x="6612425" y="2724692"/>
              <a:ext cx="418465" cy="191135"/>
            </a:xfrm>
            <a:custGeom>
              <a:avLst/>
              <a:gdLst/>
              <a:ahLst/>
              <a:cxnLst/>
              <a:rect l="l" t="t" r="r" b="b"/>
              <a:pathLst>
                <a:path w="418465" h="191135">
                  <a:moveTo>
                    <a:pt x="417995" y="0"/>
                  </a:moveTo>
                  <a:lnTo>
                    <a:pt x="0" y="190944"/>
                  </a:lnTo>
                </a:path>
              </a:pathLst>
            </a:custGeom>
            <a:ln w="25908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85204" y="2852928"/>
              <a:ext cx="96520" cy="78105"/>
            </a:xfrm>
            <a:custGeom>
              <a:avLst/>
              <a:gdLst/>
              <a:ahLst/>
              <a:cxnLst/>
              <a:rect l="l" t="t" r="r" b="b"/>
              <a:pathLst>
                <a:path w="96520" h="78105">
                  <a:moveTo>
                    <a:pt x="60286" y="0"/>
                  </a:moveTo>
                  <a:lnTo>
                    <a:pt x="0" y="74396"/>
                  </a:lnTo>
                  <a:lnTo>
                    <a:pt x="96011" y="77724"/>
                  </a:lnTo>
                  <a:lnTo>
                    <a:pt x="60286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020877" y="2223312"/>
            <a:ext cx="1895475" cy="673100"/>
          </a:xfrm>
          <a:prstGeom prst="rect">
            <a:avLst/>
          </a:prstGeom>
          <a:ln w="25907">
            <a:solidFill>
              <a:srgbClr val="40458C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99060" marR="118110" indent="114300">
              <a:lnSpc>
                <a:spcPts val="2150"/>
              </a:lnSpc>
              <a:spcBef>
                <a:spcPts val="380"/>
              </a:spcBef>
            </a:pPr>
            <a:r>
              <a:rPr sz="1800" spc="-5" dirty="0">
                <a:latin typeface="Tahoma"/>
                <a:cs typeface="Tahoma"/>
              </a:rPr>
              <a:t>unit vectors </a:t>
            </a:r>
            <a:r>
              <a:rPr sz="1800" spc="-15" dirty="0">
                <a:latin typeface="Tahoma"/>
                <a:cs typeface="Tahoma"/>
              </a:rPr>
              <a:t>of 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direction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cosines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0013" y="3468950"/>
            <a:ext cx="7036321" cy="116488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4711151" y="3526218"/>
            <a:ext cx="1769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on</a:t>
            </a:r>
            <a:r>
              <a:rPr sz="18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linear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path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49800" y="3840086"/>
            <a:ext cx="1771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on</a:t>
            </a:r>
            <a:r>
              <a:rPr sz="18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linear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path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06883" y="3596068"/>
            <a:ext cx="151130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210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66900" y="3452050"/>
            <a:ext cx="2622550" cy="3892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given: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constant</a:t>
            </a:r>
            <a:r>
              <a:rPr sz="18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speeds</a:t>
            </a:r>
            <a:r>
              <a:rPr sz="1800" spc="-8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3525" i="1" spc="405" baseline="7092" dirty="0">
                <a:latin typeface="Times New Roman"/>
                <a:cs typeface="Times New Roman"/>
              </a:rPr>
              <a:t>v</a:t>
            </a:r>
            <a:endParaRPr sz="3525" baseline="7092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27958" y="3704335"/>
            <a:ext cx="337185" cy="4356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50" i="1" spc="-15" dirty="0">
                <a:latin typeface="Times New Roman"/>
                <a:cs typeface="Times New Roman"/>
              </a:rPr>
              <a:t>v</a:t>
            </a:r>
            <a:r>
              <a:rPr sz="2700" spc="-22" baseline="-21604" dirty="0">
                <a:latin typeface="Times New Roman"/>
                <a:cs typeface="Times New Roman"/>
              </a:rPr>
              <a:t>2</a:t>
            </a:r>
            <a:endParaRPr sz="2700" baseline="-21604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866900" y="3887073"/>
            <a:ext cx="6096635" cy="1063625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85"/>
              </a:spcBef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desired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transition: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constant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acceleration</a:t>
            </a:r>
            <a:r>
              <a:rPr sz="18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for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a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time</a:t>
            </a:r>
            <a:r>
              <a:rPr sz="1800" spc="3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3300" spc="30" baseline="-6313" dirty="0">
                <a:latin typeface="Symbol"/>
                <a:cs typeface="Symbol"/>
              </a:rPr>
              <a:t></a:t>
            </a:r>
            <a:r>
              <a:rPr sz="3300" i="1" spc="30" baseline="-6313" dirty="0">
                <a:latin typeface="Times New Roman"/>
                <a:cs typeface="Times New Roman"/>
              </a:rPr>
              <a:t>T</a:t>
            </a:r>
            <a:endParaRPr sz="3300" baseline="-6313">
              <a:latin typeface="Times New Roman"/>
              <a:cs typeface="Times New Roman"/>
            </a:endParaRPr>
          </a:p>
          <a:p>
            <a:pPr marL="599440">
              <a:lnSpc>
                <a:spcPct val="100000"/>
              </a:lnSpc>
              <a:spcBef>
                <a:spcPts val="1455"/>
              </a:spcBef>
            </a:pPr>
            <a:r>
              <a:rPr sz="3225" spc="15" baseline="-3875" dirty="0">
                <a:latin typeface="Symbol"/>
                <a:cs typeface="Symbol"/>
              </a:rPr>
              <a:t></a:t>
            </a:r>
            <a:r>
              <a:rPr sz="3225" spc="-104" baseline="-3875" dirty="0">
                <a:latin typeface="Times New Roman"/>
                <a:cs typeface="Times New Roman"/>
              </a:rPr>
              <a:t> </a:t>
            </a:r>
            <a:r>
              <a:rPr sz="2150" i="1" spc="65" dirty="0">
                <a:latin typeface="Times New Roman"/>
                <a:cs typeface="Times New Roman"/>
              </a:rPr>
              <a:t>x</a:t>
            </a:r>
            <a:r>
              <a:rPr sz="2150" spc="-5" dirty="0">
                <a:latin typeface="Times New Roman"/>
                <a:cs typeface="Times New Roman"/>
              </a:rPr>
              <a:t>(</a:t>
            </a:r>
            <a:r>
              <a:rPr sz="2150" i="1" spc="150" dirty="0">
                <a:latin typeface="Times New Roman"/>
                <a:cs typeface="Times New Roman"/>
              </a:rPr>
              <a:t>t</a:t>
            </a:r>
            <a:r>
              <a:rPr sz="2150" spc="10" dirty="0">
                <a:latin typeface="Times New Roman"/>
                <a:cs typeface="Times New Roman"/>
              </a:rPr>
              <a:t>)</a:t>
            </a:r>
            <a:r>
              <a:rPr sz="2150" spc="-235" dirty="0">
                <a:latin typeface="Times New Roman"/>
                <a:cs typeface="Times New Roman"/>
              </a:rPr>
              <a:t> </a:t>
            </a:r>
            <a:r>
              <a:rPr sz="3225" spc="15" baseline="-3875" dirty="0">
                <a:latin typeface="Symbol"/>
                <a:cs typeface="Symbol"/>
              </a:rPr>
              <a:t></a:t>
            </a:r>
            <a:endParaRPr sz="3225" baseline="-3875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17502" y="5007955"/>
            <a:ext cx="582168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1927860" algn="l"/>
              </a:tabLst>
            </a:pPr>
            <a:r>
              <a:rPr sz="2150" i="1" spc="80" dirty="0">
                <a:latin typeface="Times New Roman"/>
                <a:cs typeface="Times New Roman"/>
              </a:rPr>
              <a:t>p</a:t>
            </a:r>
            <a:r>
              <a:rPr sz="2150" spc="-5" dirty="0">
                <a:latin typeface="Times New Roman"/>
                <a:cs typeface="Times New Roman"/>
              </a:rPr>
              <a:t>(</a:t>
            </a:r>
            <a:r>
              <a:rPr sz="2150" i="1" spc="155" dirty="0">
                <a:latin typeface="Times New Roman"/>
                <a:cs typeface="Times New Roman"/>
              </a:rPr>
              <a:t>t</a:t>
            </a:r>
            <a:r>
              <a:rPr sz="2150" spc="10" dirty="0">
                <a:latin typeface="Times New Roman"/>
                <a:cs typeface="Times New Roman"/>
              </a:rPr>
              <a:t>)</a:t>
            </a:r>
            <a:r>
              <a:rPr sz="2150" spc="-40" dirty="0">
                <a:latin typeface="Times New Roman"/>
                <a:cs typeface="Times New Roman"/>
              </a:rPr>
              <a:t> </a:t>
            </a:r>
            <a:r>
              <a:rPr sz="2150" spc="20" dirty="0">
                <a:latin typeface="Symbol"/>
                <a:cs typeface="Symbol"/>
              </a:rPr>
              <a:t></a:t>
            </a:r>
            <a:r>
              <a:rPr sz="2150" spc="-100" dirty="0">
                <a:latin typeface="Times New Roman"/>
                <a:cs typeface="Times New Roman"/>
              </a:rPr>
              <a:t> </a:t>
            </a:r>
            <a:r>
              <a:rPr sz="3225" spc="15" baseline="28423" dirty="0">
                <a:latin typeface="Symbol"/>
                <a:cs typeface="Symbol"/>
              </a:rPr>
              <a:t></a:t>
            </a:r>
            <a:r>
              <a:rPr sz="3225" spc="-52" baseline="28423" dirty="0">
                <a:latin typeface="Times New Roman"/>
                <a:cs typeface="Times New Roman"/>
              </a:rPr>
              <a:t> </a:t>
            </a:r>
            <a:r>
              <a:rPr sz="2150" i="1" spc="100" dirty="0">
                <a:latin typeface="Times New Roman"/>
                <a:cs typeface="Times New Roman"/>
              </a:rPr>
              <a:t>y</a:t>
            </a:r>
            <a:r>
              <a:rPr sz="2150" spc="-5" dirty="0">
                <a:latin typeface="Times New Roman"/>
                <a:cs typeface="Times New Roman"/>
              </a:rPr>
              <a:t>(</a:t>
            </a:r>
            <a:r>
              <a:rPr sz="2150" i="1" spc="155" dirty="0">
                <a:latin typeface="Times New Roman"/>
                <a:cs typeface="Times New Roman"/>
              </a:rPr>
              <a:t>t</a:t>
            </a:r>
            <a:r>
              <a:rPr sz="2150" spc="10" dirty="0">
                <a:latin typeface="Times New Roman"/>
                <a:cs typeface="Times New Roman"/>
              </a:rPr>
              <a:t>)</a:t>
            </a:r>
            <a:r>
              <a:rPr sz="2150" spc="-300" dirty="0">
                <a:latin typeface="Times New Roman"/>
                <a:cs typeface="Times New Roman"/>
              </a:rPr>
              <a:t> </a:t>
            </a:r>
            <a:r>
              <a:rPr sz="3225" spc="15" baseline="28423" dirty="0">
                <a:latin typeface="Symbol"/>
                <a:cs typeface="Symbol"/>
              </a:rPr>
              <a:t></a:t>
            </a:r>
            <a:r>
              <a:rPr sz="3225" baseline="28423" dirty="0">
                <a:latin typeface="Times New Roman"/>
                <a:cs typeface="Times New Roman"/>
              </a:rPr>
              <a:t>	</a:t>
            </a:r>
            <a:r>
              <a:rPr sz="2150" i="1" spc="10" dirty="0">
                <a:latin typeface="Times New Roman"/>
                <a:cs typeface="Times New Roman"/>
              </a:rPr>
              <a:t>t</a:t>
            </a:r>
            <a:r>
              <a:rPr sz="2150" i="1" spc="-155" dirty="0">
                <a:latin typeface="Times New Roman"/>
                <a:cs typeface="Times New Roman"/>
              </a:rPr>
              <a:t> </a:t>
            </a:r>
            <a:r>
              <a:rPr sz="2150" spc="140" dirty="0">
                <a:latin typeface="Symbol"/>
                <a:cs typeface="Symbol"/>
              </a:rPr>
              <a:t></a:t>
            </a:r>
            <a:r>
              <a:rPr sz="2150" spc="30" dirty="0">
                <a:latin typeface="Times New Roman"/>
                <a:cs typeface="Times New Roman"/>
              </a:rPr>
              <a:t>[</a:t>
            </a:r>
            <a:r>
              <a:rPr sz="2150" spc="-20" dirty="0">
                <a:latin typeface="Times New Roman"/>
                <a:cs typeface="Times New Roman"/>
              </a:rPr>
              <a:t>0</a:t>
            </a:r>
            <a:r>
              <a:rPr sz="2150" spc="5" dirty="0">
                <a:latin typeface="Times New Roman"/>
                <a:cs typeface="Times New Roman"/>
              </a:rPr>
              <a:t>,</a:t>
            </a:r>
            <a:r>
              <a:rPr sz="2150" spc="-265" dirty="0">
                <a:latin typeface="Times New Roman"/>
                <a:cs typeface="Times New Roman"/>
              </a:rPr>
              <a:t> </a:t>
            </a:r>
            <a:r>
              <a:rPr sz="2150" spc="10" dirty="0">
                <a:latin typeface="Symbol"/>
                <a:cs typeface="Symbol"/>
              </a:rPr>
              <a:t></a:t>
            </a:r>
            <a:r>
              <a:rPr sz="2150" i="1" spc="20" dirty="0">
                <a:latin typeface="Times New Roman"/>
                <a:cs typeface="Times New Roman"/>
              </a:rPr>
              <a:t>T</a:t>
            </a:r>
            <a:r>
              <a:rPr sz="2150" i="1" spc="-250" dirty="0">
                <a:latin typeface="Times New Roman"/>
                <a:cs typeface="Times New Roman"/>
              </a:rPr>
              <a:t> </a:t>
            </a:r>
            <a:r>
              <a:rPr sz="2150" spc="-70" dirty="0">
                <a:latin typeface="Times New Roman"/>
                <a:cs typeface="Times New Roman"/>
              </a:rPr>
              <a:t>]</a:t>
            </a:r>
            <a:r>
              <a:rPr sz="2150" spc="-5" dirty="0">
                <a:latin typeface="Times New Roman"/>
                <a:cs typeface="Times New Roman"/>
              </a:rPr>
              <a:t>(</a:t>
            </a:r>
            <a:r>
              <a:rPr sz="2150" spc="15" dirty="0">
                <a:latin typeface="Times New Roman"/>
                <a:cs typeface="Times New Roman"/>
              </a:rPr>
              <a:t>t</a:t>
            </a:r>
            <a:r>
              <a:rPr sz="2150" spc="-5" dirty="0">
                <a:latin typeface="Times New Roman"/>
                <a:cs typeface="Times New Roman"/>
              </a:rPr>
              <a:t>ra</a:t>
            </a:r>
            <a:r>
              <a:rPr sz="2150" spc="15" dirty="0">
                <a:latin typeface="Times New Roman"/>
                <a:cs typeface="Times New Roman"/>
              </a:rPr>
              <a:t>n</a:t>
            </a:r>
            <a:r>
              <a:rPr sz="2150" spc="10" dirty="0">
                <a:latin typeface="Times New Roman"/>
                <a:cs typeface="Times New Roman"/>
              </a:rPr>
              <a:t>s</a:t>
            </a:r>
            <a:r>
              <a:rPr sz="2150" spc="15" dirty="0">
                <a:latin typeface="Times New Roman"/>
                <a:cs typeface="Times New Roman"/>
              </a:rPr>
              <a:t>ition</a:t>
            </a:r>
            <a:r>
              <a:rPr sz="2150" spc="5" dirty="0">
                <a:latin typeface="Times New Roman"/>
                <a:cs typeface="Times New Roman"/>
              </a:rPr>
              <a:t> </a:t>
            </a:r>
            <a:r>
              <a:rPr sz="2150" spc="10" dirty="0">
                <a:latin typeface="Times New Roman"/>
                <a:cs typeface="Times New Roman"/>
              </a:rPr>
              <a:t>s</a:t>
            </a:r>
            <a:r>
              <a:rPr sz="2150" spc="15" dirty="0">
                <a:latin typeface="Times New Roman"/>
                <a:cs typeface="Times New Roman"/>
              </a:rPr>
              <a:t>t</a:t>
            </a:r>
            <a:r>
              <a:rPr sz="2150" spc="-5" dirty="0">
                <a:latin typeface="Times New Roman"/>
                <a:cs typeface="Times New Roman"/>
              </a:rPr>
              <a:t>ar</a:t>
            </a:r>
            <a:r>
              <a:rPr sz="2150" spc="15" dirty="0">
                <a:latin typeface="Times New Roman"/>
                <a:cs typeface="Times New Roman"/>
              </a:rPr>
              <a:t>t</a:t>
            </a:r>
            <a:r>
              <a:rPr sz="2150" spc="10" dirty="0">
                <a:latin typeface="Times New Roman"/>
                <a:cs typeface="Times New Roman"/>
              </a:rPr>
              <a:t>s </a:t>
            </a:r>
            <a:r>
              <a:rPr sz="2150" dirty="0">
                <a:latin typeface="Times New Roman"/>
                <a:cs typeface="Times New Roman"/>
              </a:rPr>
              <a:t>a</a:t>
            </a:r>
            <a:r>
              <a:rPr sz="2150" spc="10" dirty="0">
                <a:latin typeface="Times New Roman"/>
                <a:cs typeface="Times New Roman"/>
              </a:rPr>
              <a:t>t</a:t>
            </a:r>
            <a:r>
              <a:rPr sz="2150" spc="15" dirty="0">
                <a:latin typeface="Times New Roman"/>
                <a:cs typeface="Times New Roman"/>
              </a:rPr>
              <a:t> </a:t>
            </a:r>
            <a:r>
              <a:rPr sz="2150" spc="10" dirty="0">
                <a:latin typeface="Times New Roman"/>
                <a:cs typeface="Times New Roman"/>
              </a:rPr>
              <a:t>t</a:t>
            </a:r>
            <a:r>
              <a:rPr sz="2150" spc="15" dirty="0">
                <a:latin typeface="Times New Roman"/>
                <a:cs typeface="Times New Roman"/>
              </a:rPr>
              <a:t> </a:t>
            </a:r>
            <a:r>
              <a:rPr sz="2150" spc="20" dirty="0">
                <a:latin typeface="Times New Roman"/>
                <a:cs typeface="Times New Roman"/>
              </a:rPr>
              <a:t>=</a:t>
            </a:r>
            <a:r>
              <a:rPr sz="2150" spc="10" dirty="0">
                <a:latin typeface="Times New Roman"/>
                <a:cs typeface="Times New Roman"/>
              </a:rPr>
              <a:t> </a:t>
            </a:r>
            <a:r>
              <a:rPr sz="2150" spc="15" dirty="0">
                <a:latin typeface="Times New Roman"/>
                <a:cs typeface="Times New Roman"/>
              </a:rPr>
              <a:t>0)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454061" y="5133701"/>
            <a:ext cx="74676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26745" algn="l"/>
              </a:tabLst>
            </a:pPr>
            <a:r>
              <a:rPr sz="2150" spc="10" dirty="0">
                <a:latin typeface="Symbol"/>
                <a:cs typeface="Symbol"/>
              </a:rPr>
              <a:t></a:t>
            </a:r>
            <a:r>
              <a:rPr sz="2150" spc="10" dirty="0">
                <a:latin typeface="Times New Roman"/>
                <a:cs typeface="Times New Roman"/>
              </a:rPr>
              <a:t>	</a:t>
            </a:r>
            <a:r>
              <a:rPr sz="2150" spc="10" dirty="0">
                <a:latin typeface="Symbol"/>
                <a:cs typeface="Symbol"/>
              </a:rPr>
              <a:t>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428661" y="5424333"/>
            <a:ext cx="79756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225" spc="15" baseline="20671" dirty="0">
                <a:latin typeface="Symbol"/>
                <a:cs typeface="Symbol"/>
              </a:rPr>
              <a:t></a:t>
            </a:r>
            <a:r>
              <a:rPr sz="3225" spc="-52" baseline="20671" dirty="0">
                <a:latin typeface="Times New Roman"/>
                <a:cs typeface="Times New Roman"/>
              </a:rPr>
              <a:t> </a:t>
            </a:r>
            <a:r>
              <a:rPr sz="2150" i="1" spc="114" dirty="0">
                <a:latin typeface="Times New Roman"/>
                <a:cs typeface="Times New Roman"/>
              </a:rPr>
              <a:t>z</a:t>
            </a:r>
            <a:r>
              <a:rPr sz="2150" spc="-5" dirty="0">
                <a:latin typeface="Times New Roman"/>
                <a:cs typeface="Times New Roman"/>
              </a:rPr>
              <a:t>(</a:t>
            </a:r>
            <a:r>
              <a:rPr sz="2150" i="1" spc="150" dirty="0">
                <a:latin typeface="Times New Roman"/>
                <a:cs typeface="Times New Roman"/>
              </a:rPr>
              <a:t>t</a:t>
            </a:r>
            <a:r>
              <a:rPr sz="2150" spc="10" dirty="0">
                <a:latin typeface="Times New Roman"/>
                <a:cs typeface="Times New Roman"/>
              </a:rPr>
              <a:t>)</a:t>
            </a:r>
            <a:r>
              <a:rPr sz="2150" spc="-200" dirty="0">
                <a:latin typeface="Times New Roman"/>
                <a:cs typeface="Times New Roman"/>
              </a:rPr>
              <a:t> </a:t>
            </a:r>
            <a:r>
              <a:rPr sz="3225" spc="15" baseline="20671" dirty="0">
                <a:latin typeface="Symbol"/>
                <a:cs typeface="Symbol"/>
              </a:rPr>
              <a:t></a:t>
            </a:r>
            <a:endParaRPr sz="3225" baseline="20671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54061" y="5498170"/>
            <a:ext cx="74739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27380" algn="l"/>
              </a:tabLst>
            </a:pPr>
            <a:r>
              <a:rPr sz="2150" spc="10" dirty="0">
                <a:latin typeface="Symbol"/>
                <a:cs typeface="Symbol"/>
              </a:rPr>
              <a:t></a:t>
            </a:r>
            <a:r>
              <a:rPr sz="2150" spc="10" dirty="0">
                <a:latin typeface="Times New Roman"/>
                <a:cs typeface="Times New Roman"/>
              </a:rPr>
              <a:t>	</a:t>
            </a:r>
            <a:r>
              <a:rPr sz="2150" spc="10" dirty="0">
                <a:latin typeface="Symbol"/>
                <a:cs typeface="Symbol"/>
              </a:rPr>
              <a:t>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31289" y="5836983"/>
            <a:ext cx="6917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note: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during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40458C"/>
                </a:solidFill>
                <a:latin typeface="Tahoma"/>
                <a:cs typeface="Tahoma"/>
              </a:rPr>
              <a:t>over-fly,</a:t>
            </a:r>
            <a:r>
              <a:rPr sz="18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path remains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always</a:t>
            </a:r>
            <a:r>
              <a:rPr sz="18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plane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specified </a:t>
            </a:r>
            <a:r>
              <a:rPr sz="1800" spc="-5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by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 two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lines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intersecting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(in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essence,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it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planar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problem)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67868" y="1844039"/>
            <a:ext cx="2667000" cy="2161540"/>
            <a:chOff x="467868" y="1844039"/>
            <a:chExt cx="2667000" cy="2161540"/>
          </a:xfrm>
        </p:grpSpPr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8718" y="2320388"/>
              <a:ext cx="86751" cy="8514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7564" y="2623097"/>
              <a:ext cx="86331" cy="8475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020568" y="316077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7868" y="1844039"/>
              <a:ext cx="1080770" cy="2161540"/>
            </a:xfrm>
            <a:custGeom>
              <a:avLst/>
              <a:gdLst/>
              <a:ahLst/>
              <a:cxnLst/>
              <a:rect l="l" t="t" r="r" b="b"/>
              <a:pathLst>
                <a:path w="1080770" h="2161540">
                  <a:moveTo>
                    <a:pt x="124968" y="2134666"/>
                  </a:moveTo>
                  <a:lnTo>
                    <a:pt x="53886" y="2045220"/>
                  </a:lnTo>
                  <a:lnTo>
                    <a:pt x="0" y="2161044"/>
                  </a:lnTo>
                  <a:lnTo>
                    <a:pt x="124968" y="2134666"/>
                  </a:lnTo>
                  <a:close/>
                </a:path>
                <a:path w="1080770" h="2161540">
                  <a:moveTo>
                    <a:pt x="1080516" y="114300"/>
                  </a:moveTo>
                  <a:lnTo>
                    <a:pt x="1023366" y="0"/>
                  </a:lnTo>
                  <a:lnTo>
                    <a:pt x="966216" y="114300"/>
                  </a:lnTo>
                  <a:lnTo>
                    <a:pt x="1080516" y="11430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47052" y="106235"/>
            <a:ext cx="5243830" cy="10098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950" dirty="0">
              <a:latin typeface="Cambria"/>
              <a:cs typeface="Cambria"/>
            </a:endParaRPr>
          </a:p>
          <a:p>
            <a:pPr marL="533400" lvl="1" indent="-521334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534035" algn="l"/>
              </a:tabLst>
            </a:pP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 dirty="0">
              <a:latin typeface="Tahoma"/>
              <a:cs typeface="Tahoma"/>
            </a:endParaRPr>
          </a:p>
          <a:p>
            <a:pPr marL="334010" lvl="2" indent="-25082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34010" algn="l"/>
                <a:tab pos="334645" algn="l"/>
              </a:tabLst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Concatenation</a:t>
            </a:r>
            <a:r>
              <a:rPr sz="1800" spc="-3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linear</a:t>
            </a:r>
            <a:r>
              <a:rPr sz="1800" spc="-3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paths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27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282327" y="252379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28" y="2097706"/>
            <a:ext cx="2656771" cy="40331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8125" y="2100840"/>
            <a:ext cx="3436266" cy="40478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8490" y="1258570"/>
            <a:ext cx="295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 indent="-2470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59079" algn="l"/>
                <a:tab pos="259715" algn="l"/>
              </a:tabLst>
            </a:pP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Time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profiles</a:t>
            </a:r>
            <a:r>
              <a:rPr sz="1800" spc="-3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on</a:t>
            </a:r>
            <a:r>
              <a:rPr sz="1800" spc="-1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components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28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7052" y="804608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86905" y="1905761"/>
            <a:ext cx="2637155" cy="2097405"/>
            <a:chOff x="486905" y="1905761"/>
            <a:chExt cx="2637155" cy="2097405"/>
          </a:xfrm>
        </p:grpSpPr>
        <p:sp>
          <p:nvSpPr>
            <p:cNvPr id="5" name="object 5"/>
            <p:cNvSpPr/>
            <p:nvPr/>
          </p:nvSpPr>
          <p:spPr>
            <a:xfrm>
              <a:off x="505942" y="3220211"/>
              <a:ext cx="2599055" cy="763905"/>
            </a:xfrm>
            <a:custGeom>
              <a:avLst/>
              <a:gdLst/>
              <a:ahLst/>
              <a:cxnLst/>
              <a:rect l="l" t="t" r="r" b="b"/>
              <a:pathLst>
                <a:path w="2599055" h="763904">
                  <a:moveTo>
                    <a:pt x="960145" y="0"/>
                  </a:moveTo>
                  <a:lnTo>
                    <a:pt x="2598445" y="0"/>
                  </a:lnTo>
                </a:path>
                <a:path w="2599055" h="763904">
                  <a:moveTo>
                    <a:pt x="960145" y="0"/>
                  </a:moveTo>
                  <a:lnTo>
                    <a:pt x="0" y="763536"/>
                  </a:lnTo>
                </a:path>
              </a:pathLst>
            </a:custGeom>
            <a:ln w="38100">
              <a:solidFill>
                <a:srgbClr val="FFCF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91995" y="1924811"/>
              <a:ext cx="0" cy="1295400"/>
            </a:xfrm>
            <a:custGeom>
              <a:avLst/>
              <a:gdLst/>
              <a:ahLst/>
              <a:cxnLst/>
              <a:rect l="l" t="t" r="r" b="b"/>
              <a:pathLst>
                <a:path h="1295400">
                  <a:moveTo>
                    <a:pt x="0" y="12954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CF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8869" y="2116835"/>
              <a:ext cx="875030" cy="1257300"/>
            </a:xfrm>
            <a:custGeom>
              <a:avLst/>
              <a:gdLst/>
              <a:ahLst/>
              <a:cxnLst/>
              <a:rect l="l" t="t" r="r" b="b"/>
              <a:pathLst>
                <a:path w="875030" h="1257300">
                  <a:moveTo>
                    <a:pt x="0" y="1257300"/>
                  </a:moveTo>
                  <a:lnTo>
                    <a:pt x="874776" y="0"/>
                  </a:lnTo>
                </a:path>
              </a:pathLst>
            </a:custGeom>
            <a:ln w="38100">
              <a:solidFill>
                <a:srgbClr val="1822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913" y="3316225"/>
              <a:ext cx="111253" cy="1127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36650" y="1589621"/>
            <a:ext cx="694690" cy="8686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  <a:tabLst>
                <a:tab pos="501650" algn="l"/>
              </a:tabLst>
            </a:pPr>
            <a:r>
              <a:rPr sz="2800" spc="-5" dirty="0">
                <a:solidFill>
                  <a:srgbClr val="FFCF01"/>
                </a:solidFill>
                <a:latin typeface="Tahoma"/>
                <a:cs typeface="Tahoma"/>
              </a:rPr>
              <a:t>z	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20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’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3963" y="2100852"/>
            <a:ext cx="2667000" cy="1906270"/>
            <a:chOff x="473963" y="2100852"/>
            <a:chExt cx="2667000" cy="1906270"/>
          </a:xfrm>
        </p:grpSpPr>
        <p:sp>
          <p:nvSpPr>
            <p:cNvPr id="11" name="object 11"/>
            <p:cNvSpPr/>
            <p:nvPr/>
          </p:nvSpPr>
          <p:spPr>
            <a:xfrm>
              <a:off x="3026663" y="316229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963" y="3890774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54546" y="0"/>
                  </a:moveTo>
                  <a:lnTo>
                    <a:pt x="0" y="115824"/>
                  </a:lnTo>
                  <a:lnTo>
                    <a:pt x="126492" y="89446"/>
                  </a:lnTo>
                  <a:lnTo>
                    <a:pt x="54546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11454" y="2119902"/>
              <a:ext cx="1329055" cy="520065"/>
            </a:xfrm>
            <a:custGeom>
              <a:avLst/>
              <a:gdLst/>
              <a:ahLst/>
              <a:cxnLst/>
              <a:rect l="l" t="t" r="r" b="b"/>
              <a:pathLst>
                <a:path w="1329055" h="520064">
                  <a:moveTo>
                    <a:pt x="0" y="0"/>
                  </a:moveTo>
                  <a:lnTo>
                    <a:pt x="1328928" y="519645"/>
                  </a:lnTo>
                </a:path>
              </a:pathLst>
            </a:custGeom>
            <a:ln w="38100">
              <a:solidFill>
                <a:srgbClr val="1822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0552" y="2582310"/>
              <a:ext cx="114517" cy="11451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27050" y="322630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822CD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125" y="3851655"/>
            <a:ext cx="201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CF01"/>
                </a:solidFill>
                <a:latin typeface="Tahoma"/>
                <a:cs typeface="Tahoma"/>
              </a:rPr>
              <a:t>x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55321" y="1801367"/>
            <a:ext cx="1016000" cy="877569"/>
            <a:chOff x="1355321" y="1801367"/>
            <a:chExt cx="1016000" cy="877569"/>
          </a:xfrm>
        </p:grpSpPr>
        <p:sp>
          <p:nvSpPr>
            <p:cNvPr id="18" name="object 18"/>
            <p:cNvSpPr/>
            <p:nvPr/>
          </p:nvSpPr>
          <p:spPr>
            <a:xfrm>
              <a:off x="1434084" y="180136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68338" y="2270593"/>
              <a:ext cx="989965" cy="395605"/>
            </a:xfrm>
            <a:custGeom>
              <a:avLst/>
              <a:gdLst/>
              <a:ahLst/>
              <a:cxnLst/>
              <a:rect l="l" t="t" r="r" b="b"/>
              <a:pathLst>
                <a:path w="989964" h="395605">
                  <a:moveTo>
                    <a:pt x="989507" y="92201"/>
                  </a:moveTo>
                  <a:lnTo>
                    <a:pt x="922172" y="58813"/>
                  </a:lnTo>
                  <a:lnTo>
                    <a:pt x="853236" y="32588"/>
                  </a:lnTo>
                  <a:lnTo>
                    <a:pt x="781939" y="14300"/>
                  </a:lnTo>
                  <a:lnTo>
                    <a:pt x="709053" y="3174"/>
                  </a:lnTo>
                  <a:lnTo>
                    <a:pt x="636168" y="0"/>
                  </a:lnTo>
                  <a:lnTo>
                    <a:pt x="562483" y="3174"/>
                  </a:lnTo>
                  <a:lnTo>
                    <a:pt x="490397" y="15100"/>
                  </a:lnTo>
                  <a:lnTo>
                    <a:pt x="418299" y="34175"/>
                  </a:lnTo>
                  <a:lnTo>
                    <a:pt x="351751" y="59613"/>
                  </a:lnTo>
                  <a:lnTo>
                    <a:pt x="288366" y="91401"/>
                  </a:lnTo>
                  <a:lnTo>
                    <a:pt x="228955" y="128765"/>
                  </a:lnTo>
                  <a:lnTo>
                    <a:pt x="173494" y="171691"/>
                  </a:lnTo>
                  <a:lnTo>
                    <a:pt x="122796" y="220967"/>
                  </a:lnTo>
                  <a:lnTo>
                    <a:pt x="76047" y="274231"/>
                  </a:lnTo>
                  <a:lnTo>
                    <a:pt x="35648" y="332257"/>
                  </a:lnTo>
                  <a:lnTo>
                    <a:pt x="0" y="395058"/>
                  </a:lnTo>
                </a:path>
              </a:pathLst>
            </a:custGeom>
            <a:ln w="25908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1625" y="2062626"/>
              <a:ext cx="114517" cy="11451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363152" y="1961451"/>
            <a:ext cx="272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C’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4525" y="2315541"/>
            <a:ext cx="247015" cy="114935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solidFill>
                  <a:srgbClr val="1822CD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800" spc="-5" dirty="0">
                <a:solidFill>
                  <a:srgbClr val="FFCF01"/>
                </a:solidFill>
                <a:latin typeface="Tahoma"/>
                <a:cs typeface="Tahoma"/>
              </a:rPr>
              <a:t>y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49546" y="1905066"/>
            <a:ext cx="53340" cy="320040"/>
            <a:chOff x="4349546" y="1905066"/>
            <a:chExt cx="53340" cy="320040"/>
          </a:xfrm>
        </p:grpSpPr>
        <p:sp>
          <p:nvSpPr>
            <p:cNvPr id="24" name="object 24"/>
            <p:cNvSpPr/>
            <p:nvPr/>
          </p:nvSpPr>
          <p:spPr>
            <a:xfrm>
              <a:off x="4396189" y="1905066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722"/>
                  </a:lnTo>
                </a:path>
              </a:pathLst>
            </a:custGeom>
            <a:ln w="13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56210" y="1905066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722"/>
                  </a:lnTo>
                </a:path>
              </a:pathLst>
            </a:custGeom>
            <a:ln w="13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036906" y="1905067"/>
            <a:ext cx="53340" cy="320040"/>
            <a:chOff x="5036906" y="1905067"/>
            <a:chExt cx="53340" cy="320040"/>
          </a:xfrm>
        </p:grpSpPr>
        <p:sp>
          <p:nvSpPr>
            <p:cNvPr id="27" name="object 27"/>
            <p:cNvSpPr/>
            <p:nvPr/>
          </p:nvSpPr>
          <p:spPr>
            <a:xfrm>
              <a:off x="5083548" y="1905067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722"/>
                  </a:lnTo>
                </a:path>
              </a:pathLst>
            </a:custGeom>
            <a:ln w="13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43570" y="1905067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722"/>
                  </a:lnTo>
                </a:path>
              </a:pathLst>
            </a:custGeom>
            <a:ln w="13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328856" y="2661255"/>
            <a:ext cx="909319" cy="377190"/>
            <a:chOff x="4328856" y="2661255"/>
            <a:chExt cx="909319" cy="377190"/>
          </a:xfrm>
        </p:grpSpPr>
        <p:sp>
          <p:nvSpPr>
            <p:cNvPr id="30" name="object 30"/>
            <p:cNvSpPr/>
            <p:nvPr/>
          </p:nvSpPr>
          <p:spPr>
            <a:xfrm>
              <a:off x="4396189" y="2718396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722"/>
                  </a:lnTo>
                </a:path>
              </a:pathLst>
            </a:custGeom>
            <a:ln w="13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56210" y="2718397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722"/>
                  </a:lnTo>
                </a:path>
              </a:pathLst>
            </a:custGeom>
            <a:ln w="13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91965" y="2718397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722"/>
                  </a:lnTo>
                </a:path>
              </a:pathLst>
            </a:custGeom>
            <a:ln w="13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51986" y="2718398"/>
              <a:ext cx="0" cy="320040"/>
            </a:xfrm>
            <a:custGeom>
              <a:avLst/>
              <a:gdLst/>
              <a:ahLst/>
              <a:cxnLst/>
              <a:rect l="l" t="t" r="r" b="b"/>
              <a:pathLst>
                <a:path h="320039">
                  <a:moveTo>
                    <a:pt x="0" y="0"/>
                  </a:moveTo>
                  <a:lnTo>
                    <a:pt x="0" y="319722"/>
                  </a:lnTo>
                </a:path>
              </a:pathLst>
            </a:custGeom>
            <a:ln w="13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28856" y="2667916"/>
              <a:ext cx="909319" cy="0"/>
            </a:xfrm>
            <a:custGeom>
              <a:avLst/>
              <a:gdLst/>
              <a:ahLst/>
              <a:cxnLst/>
              <a:rect l="l" t="t" r="r" b="b"/>
              <a:pathLst>
                <a:path w="909320">
                  <a:moveTo>
                    <a:pt x="0" y="0"/>
                  </a:moveTo>
                  <a:lnTo>
                    <a:pt x="908997" y="0"/>
                  </a:lnTo>
                </a:path>
              </a:pathLst>
            </a:custGeom>
            <a:ln w="13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714015" y="1799817"/>
            <a:ext cx="24511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i="1" dirty="0">
                <a:latin typeface="Times New Roman"/>
                <a:cs typeface="Times New Roman"/>
              </a:rPr>
              <a:t>A</a:t>
            </a:r>
            <a:r>
              <a:rPr sz="1400" i="1" spc="5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90756" y="1470279"/>
            <a:ext cx="144716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938530" algn="l"/>
              </a:tabLst>
            </a:pPr>
            <a:r>
              <a:rPr sz="2100" i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i="1" u="heavy" spc="2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100" i="1" u="heavy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u="heavy" spc="1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21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	</a:t>
            </a:r>
            <a:r>
              <a:rPr sz="3150" spc="15" baseline="-35714" dirty="0">
                <a:latin typeface="Symbol"/>
                <a:cs typeface="Symbol"/>
              </a:rPr>
              <a:t></a:t>
            </a:r>
            <a:r>
              <a:rPr sz="3150" spc="-37" baseline="-35714" dirty="0">
                <a:latin typeface="Times New Roman"/>
                <a:cs typeface="Times New Roman"/>
              </a:rPr>
              <a:t> </a:t>
            </a:r>
            <a:r>
              <a:rPr sz="3150" i="1" spc="15" baseline="-35714" dirty="0">
                <a:latin typeface="Times New Roman"/>
                <a:cs typeface="Times New Roman"/>
              </a:rPr>
              <a:t>K</a:t>
            </a:r>
            <a:endParaRPr sz="3150" baseline="-35714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21563" y="1850176"/>
            <a:ext cx="619760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i="1" spc="10" dirty="0">
                <a:latin typeface="Times New Roman"/>
                <a:cs typeface="Times New Roman"/>
              </a:rPr>
              <a:t>B</a:t>
            </a:r>
            <a:r>
              <a:rPr sz="2100" i="1" spc="-13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63579" y="2283383"/>
            <a:ext cx="632460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i="1" spc="10" dirty="0">
                <a:latin typeface="Times New Roman"/>
                <a:cs typeface="Times New Roman"/>
              </a:rPr>
              <a:t>C</a:t>
            </a:r>
            <a:r>
              <a:rPr sz="2100" i="1" spc="-5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B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71225" y="2523352"/>
            <a:ext cx="72326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150" spc="15" baseline="14550" dirty="0">
                <a:latin typeface="Symbol"/>
                <a:cs typeface="Symbol"/>
              </a:rPr>
              <a:t></a:t>
            </a:r>
            <a:r>
              <a:rPr sz="3150" spc="-37" baseline="14550" dirty="0">
                <a:latin typeface="Times New Roman"/>
                <a:cs typeface="Times New Roman"/>
              </a:rPr>
              <a:t> </a:t>
            </a:r>
            <a:r>
              <a:rPr sz="3150" i="1" spc="82" baseline="14550" dirty="0">
                <a:latin typeface="Times New Roman"/>
                <a:cs typeface="Times New Roman"/>
              </a:rPr>
              <a:t>K</a:t>
            </a:r>
            <a:r>
              <a:rPr sz="1400" i="1" spc="55" dirty="0">
                <a:latin typeface="Times New Roman"/>
                <a:cs typeface="Times New Roman"/>
              </a:rPr>
              <a:t>BC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04595" y="2663281"/>
            <a:ext cx="632460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i="1" spc="10" dirty="0">
                <a:latin typeface="Times New Roman"/>
                <a:cs typeface="Times New Roman"/>
              </a:rPr>
              <a:t>C</a:t>
            </a:r>
            <a:r>
              <a:rPr sz="2100" i="1" spc="-5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B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085332" y="1894332"/>
            <a:ext cx="508634" cy="211454"/>
            <a:chOff x="6085332" y="1894332"/>
            <a:chExt cx="508634" cy="211454"/>
          </a:xfrm>
        </p:grpSpPr>
        <p:sp>
          <p:nvSpPr>
            <p:cNvPr id="42" name="object 42"/>
            <p:cNvSpPr/>
            <p:nvPr/>
          </p:nvSpPr>
          <p:spPr>
            <a:xfrm>
              <a:off x="6111080" y="1913844"/>
              <a:ext cx="469900" cy="179070"/>
            </a:xfrm>
            <a:custGeom>
              <a:avLst/>
              <a:gdLst/>
              <a:ahLst/>
              <a:cxnLst/>
              <a:rect l="l" t="t" r="r" b="b"/>
              <a:pathLst>
                <a:path w="469900" h="179069">
                  <a:moveTo>
                    <a:pt x="469709" y="178904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85332" y="1894332"/>
              <a:ext cx="94615" cy="79375"/>
            </a:xfrm>
            <a:custGeom>
              <a:avLst/>
              <a:gdLst/>
              <a:ahLst/>
              <a:cxnLst/>
              <a:rect l="l" t="t" r="r" b="b"/>
              <a:pathLst>
                <a:path w="94614" h="79375">
                  <a:moveTo>
                    <a:pt x="94488" y="0"/>
                  </a:moveTo>
                  <a:lnTo>
                    <a:pt x="0" y="9144"/>
                  </a:lnTo>
                  <a:lnTo>
                    <a:pt x="64008" y="79248"/>
                  </a:lnTo>
                  <a:lnTo>
                    <a:pt x="94488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6153911" y="2423702"/>
            <a:ext cx="458470" cy="219075"/>
            <a:chOff x="6153911" y="2423702"/>
            <a:chExt cx="458470" cy="219075"/>
          </a:xfrm>
        </p:grpSpPr>
        <p:sp>
          <p:nvSpPr>
            <p:cNvPr id="45" name="object 45"/>
            <p:cNvSpPr/>
            <p:nvPr/>
          </p:nvSpPr>
          <p:spPr>
            <a:xfrm>
              <a:off x="6179662" y="2436656"/>
              <a:ext cx="419734" cy="191135"/>
            </a:xfrm>
            <a:custGeom>
              <a:avLst/>
              <a:gdLst/>
              <a:ahLst/>
              <a:cxnLst/>
              <a:rect l="l" t="t" r="r" b="b"/>
              <a:pathLst>
                <a:path w="419734" h="191135">
                  <a:moveTo>
                    <a:pt x="419417" y="0"/>
                  </a:moveTo>
                  <a:lnTo>
                    <a:pt x="0" y="190944"/>
                  </a:lnTo>
                </a:path>
              </a:pathLst>
            </a:custGeom>
            <a:ln w="25908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153911" y="2563367"/>
              <a:ext cx="94615" cy="79375"/>
            </a:xfrm>
            <a:custGeom>
              <a:avLst/>
              <a:gdLst/>
              <a:ahLst/>
              <a:cxnLst/>
              <a:rect l="l" t="t" r="r" b="b"/>
              <a:pathLst>
                <a:path w="94614" h="79375">
                  <a:moveTo>
                    <a:pt x="59334" y="0"/>
                  </a:moveTo>
                  <a:lnTo>
                    <a:pt x="0" y="75857"/>
                  </a:lnTo>
                  <a:lnTo>
                    <a:pt x="94487" y="79248"/>
                  </a:lnTo>
                  <a:lnTo>
                    <a:pt x="59334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589585" y="1933778"/>
            <a:ext cx="1884045" cy="674370"/>
          </a:xfrm>
          <a:prstGeom prst="rect">
            <a:avLst/>
          </a:prstGeom>
          <a:ln w="25907">
            <a:solidFill>
              <a:srgbClr val="40458C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8425" marR="122555" indent="113664">
              <a:lnSpc>
                <a:spcPts val="2150"/>
              </a:lnSpc>
              <a:spcBef>
                <a:spcPts val="385"/>
              </a:spcBef>
            </a:pPr>
            <a:r>
              <a:rPr sz="1800" dirty="0">
                <a:latin typeface="Tahoma"/>
                <a:cs typeface="Tahoma"/>
              </a:rPr>
              <a:t>un</a:t>
            </a:r>
            <a:r>
              <a:rPr sz="1800" spc="-5" dirty="0">
                <a:latin typeface="Tahoma"/>
                <a:cs typeface="Tahoma"/>
              </a:rPr>
              <a:t>it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</a:t>
            </a:r>
            <a:r>
              <a:rPr sz="1800" spc="-5" dirty="0">
                <a:latin typeface="Tahoma"/>
                <a:cs typeface="Tahoma"/>
              </a:rPr>
              <a:t>e</a:t>
            </a:r>
            <a:r>
              <a:rPr sz="1800" spc="-10" dirty="0">
                <a:latin typeface="Tahoma"/>
                <a:cs typeface="Tahoma"/>
              </a:rPr>
              <a:t>ct</a:t>
            </a:r>
            <a:r>
              <a:rPr sz="1800" spc="-15" dirty="0">
                <a:latin typeface="Tahoma"/>
                <a:cs typeface="Tahoma"/>
              </a:rPr>
              <a:t>o</a:t>
            </a:r>
            <a:r>
              <a:rPr sz="1800" spc="-5" dirty="0">
                <a:latin typeface="Tahoma"/>
                <a:cs typeface="Tahoma"/>
              </a:rPr>
              <a:t>rs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of  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10" dirty="0">
                <a:latin typeface="Tahoma"/>
                <a:cs typeface="Tahoma"/>
              </a:rPr>
              <a:t>i</a:t>
            </a:r>
            <a:r>
              <a:rPr sz="1800" spc="-20" dirty="0">
                <a:latin typeface="Tahoma"/>
                <a:cs typeface="Tahoma"/>
              </a:rPr>
              <a:t>r</a:t>
            </a:r>
            <a:r>
              <a:rPr sz="1800" spc="-5" dirty="0">
                <a:latin typeface="Tahoma"/>
                <a:cs typeface="Tahoma"/>
              </a:rPr>
              <a:t>e</a:t>
            </a:r>
            <a:r>
              <a:rPr sz="1800" spc="-10" dirty="0">
                <a:latin typeface="Tahoma"/>
                <a:cs typeface="Tahoma"/>
              </a:rPr>
              <a:t>ct</a:t>
            </a:r>
            <a:r>
              <a:rPr sz="1800" spc="-5" dirty="0">
                <a:latin typeface="Tahoma"/>
                <a:cs typeface="Tahoma"/>
              </a:rPr>
              <a:t>io</a:t>
            </a:r>
            <a:r>
              <a:rPr sz="1800" dirty="0">
                <a:latin typeface="Tahoma"/>
                <a:cs typeface="Tahoma"/>
              </a:rPr>
              <a:t>n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</a:t>
            </a:r>
            <a:r>
              <a:rPr sz="1800" spc="-5" dirty="0">
                <a:latin typeface="Tahoma"/>
                <a:cs typeface="Tahoma"/>
              </a:rPr>
              <a:t>si</a:t>
            </a:r>
            <a:r>
              <a:rPr sz="1800" dirty="0">
                <a:latin typeface="Tahoma"/>
                <a:cs typeface="Tahoma"/>
              </a:rPr>
              <a:t>n</a:t>
            </a:r>
            <a:r>
              <a:rPr sz="1800" spc="-5" dirty="0">
                <a:latin typeface="Tahoma"/>
                <a:cs typeface="Tahoma"/>
              </a:rPr>
              <a:t>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53115" y="3478621"/>
            <a:ext cx="591185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7" baseline="-4901" dirty="0">
                <a:latin typeface="Symbol"/>
                <a:cs typeface="Symbol"/>
              </a:rPr>
              <a:t></a:t>
            </a:r>
            <a:r>
              <a:rPr sz="2550" spc="-82" baseline="-4901" dirty="0">
                <a:latin typeface="Times New Roman"/>
                <a:cs typeface="Times New Roman"/>
              </a:rPr>
              <a:t> </a:t>
            </a:r>
            <a:r>
              <a:rPr sz="1700" i="1" spc="45" dirty="0">
                <a:latin typeface="Times New Roman"/>
                <a:cs typeface="Times New Roman"/>
              </a:rPr>
              <a:t>x</a:t>
            </a:r>
            <a:r>
              <a:rPr sz="1700" spc="-10" dirty="0">
                <a:latin typeface="Times New Roman"/>
                <a:cs typeface="Times New Roman"/>
              </a:rPr>
              <a:t>(</a:t>
            </a:r>
            <a:r>
              <a:rPr sz="1700" i="1" spc="110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-185" dirty="0">
                <a:latin typeface="Times New Roman"/>
                <a:cs typeface="Times New Roman"/>
              </a:rPr>
              <a:t> </a:t>
            </a:r>
            <a:r>
              <a:rPr sz="2550" spc="7" baseline="-4901" dirty="0">
                <a:latin typeface="Symbol"/>
                <a:cs typeface="Symbol"/>
              </a:rPr>
              <a:t></a:t>
            </a:r>
            <a:endParaRPr sz="2550" baseline="-4901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80510" y="3804866"/>
            <a:ext cx="1188720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700" i="1" spc="55" dirty="0">
                <a:latin typeface="Times New Roman"/>
                <a:cs typeface="Times New Roman"/>
              </a:rPr>
              <a:t>p</a:t>
            </a:r>
            <a:r>
              <a:rPr sz="1700" spc="-15" dirty="0">
                <a:latin typeface="Times New Roman"/>
                <a:cs typeface="Times New Roman"/>
              </a:rPr>
              <a:t>(</a:t>
            </a:r>
            <a:r>
              <a:rPr sz="1700" i="1" spc="110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Symbol"/>
                <a:cs typeface="Symbol"/>
              </a:rPr>
              <a:t>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2550" spc="7" baseline="27777" dirty="0">
                <a:latin typeface="Symbol"/>
                <a:cs typeface="Symbol"/>
              </a:rPr>
              <a:t></a:t>
            </a:r>
            <a:r>
              <a:rPr sz="2550" spc="-44" baseline="27777" dirty="0">
                <a:latin typeface="Times New Roman"/>
                <a:cs typeface="Times New Roman"/>
              </a:rPr>
              <a:t> </a:t>
            </a:r>
            <a:r>
              <a:rPr sz="1700" i="1" spc="75" dirty="0">
                <a:latin typeface="Times New Roman"/>
                <a:cs typeface="Times New Roman"/>
              </a:rPr>
              <a:t>y</a:t>
            </a:r>
            <a:r>
              <a:rPr sz="1700" spc="-15" dirty="0">
                <a:latin typeface="Times New Roman"/>
                <a:cs typeface="Times New Roman"/>
              </a:rPr>
              <a:t>(</a:t>
            </a:r>
            <a:r>
              <a:rPr sz="1700" i="1" spc="114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-240" dirty="0">
                <a:latin typeface="Times New Roman"/>
                <a:cs typeface="Times New Roman"/>
              </a:rPr>
              <a:t> </a:t>
            </a:r>
            <a:r>
              <a:rPr sz="2550" spc="7" baseline="27777" dirty="0">
                <a:latin typeface="Symbol"/>
                <a:cs typeface="Symbol"/>
              </a:rPr>
              <a:t></a:t>
            </a:r>
            <a:endParaRPr sz="2550" baseline="27777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76656" y="3804866"/>
            <a:ext cx="3045460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i="1" dirty="0">
                <a:latin typeface="Times New Roman"/>
                <a:cs typeface="Times New Roman"/>
              </a:rPr>
              <a:t>t</a:t>
            </a:r>
            <a:r>
              <a:rPr sz="1700" i="1" spc="-12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Symbol"/>
                <a:cs typeface="Symbol"/>
              </a:rPr>
              <a:t></a:t>
            </a:r>
            <a:r>
              <a:rPr sz="1700" spc="15" dirty="0">
                <a:latin typeface="Times New Roman"/>
                <a:cs typeface="Times New Roman"/>
              </a:rPr>
              <a:t>[</a:t>
            </a:r>
            <a:r>
              <a:rPr sz="1700" spc="-25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</a:t>
            </a:r>
            <a:r>
              <a:rPr sz="1700" i="1" spc="5" dirty="0">
                <a:latin typeface="Times New Roman"/>
                <a:cs typeface="Times New Roman"/>
              </a:rPr>
              <a:t>T</a:t>
            </a:r>
            <a:r>
              <a:rPr sz="1700" i="1" spc="-2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]</a:t>
            </a:r>
            <a:r>
              <a:rPr sz="1700" spc="-10" dirty="0">
                <a:latin typeface="Times New Roman"/>
                <a:cs typeface="Times New Roman"/>
              </a:rPr>
              <a:t>(</a:t>
            </a:r>
            <a:r>
              <a:rPr sz="1700" spc="5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ra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ition</a:t>
            </a:r>
            <a:r>
              <a:rPr sz="1700" dirty="0">
                <a:latin typeface="Times New Roman"/>
                <a:cs typeface="Times New Roman"/>
              </a:rPr>
              <a:t> s</a:t>
            </a:r>
            <a:r>
              <a:rPr sz="1700" spc="5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ar</a:t>
            </a:r>
            <a:r>
              <a:rPr sz="1700" spc="5" dirty="0">
                <a:latin typeface="Times New Roman"/>
                <a:cs typeface="Times New Roman"/>
              </a:rPr>
              <a:t>ts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=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0)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53115" y="3903391"/>
            <a:ext cx="590550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94030" algn="l"/>
              </a:tabLst>
            </a:pPr>
            <a:r>
              <a:rPr sz="1700" spc="5" dirty="0">
                <a:latin typeface="Symbol"/>
                <a:cs typeface="Symbol"/>
              </a:rPr>
              <a:t></a:t>
            </a:r>
            <a:r>
              <a:rPr sz="1700" spc="5" dirty="0">
                <a:latin typeface="Times New Roman"/>
                <a:cs typeface="Times New Roman"/>
              </a:rPr>
              <a:t>	</a:t>
            </a:r>
            <a:r>
              <a:rPr sz="1700" spc="5" dirty="0">
                <a:latin typeface="Symbol"/>
                <a:cs typeface="Symbol"/>
              </a:rPr>
              <a:t>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27715" y="4131110"/>
            <a:ext cx="641985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550" spc="7" baseline="19607" dirty="0">
                <a:latin typeface="Symbol"/>
                <a:cs typeface="Symbol"/>
              </a:rPr>
              <a:t></a:t>
            </a:r>
            <a:r>
              <a:rPr sz="2550" spc="-44" baseline="19607" dirty="0">
                <a:latin typeface="Times New Roman"/>
                <a:cs typeface="Times New Roman"/>
              </a:rPr>
              <a:t> </a:t>
            </a:r>
            <a:r>
              <a:rPr sz="1700" i="1" spc="80" dirty="0">
                <a:latin typeface="Times New Roman"/>
                <a:cs typeface="Times New Roman"/>
              </a:rPr>
              <a:t>z</a:t>
            </a:r>
            <a:r>
              <a:rPr sz="1700" spc="-10" dirty="0">
                <a:latin typeface="Times New Roman"/>
                <a:cs typeface="Times New Roman"/>
              </a:rPr>
              <a:t>(</a:t>
            </a:r>
            <a:r>
              <a:rPr sz="1700" i="1" spc="110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-160" dirty="0">
                <a:latin typeface="Times New Roman"/>
                <a:cs typeface="Times New Roman"/>
              </a:rPr>
              <a:t> </a:t>
            </a:r>
            <a:r>
              <a:rPr sz="2550" spc="7" baseline="19607" dirty="0">
                <a:latin typeface="Symbol"/>
                <a:cs typeface="Symbol"/>
              </a:rPr>
              <a:t></a:t>
            </a:r>
            <a:endParaRPr sz="2550" baseline="19607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53115" y="4188964"/>
            <a:ext cx="590550" cy="287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94030" algn="l"/>
              </a:tabLst>
            </a:pPr>
            <a:r>
              <a:rPr sz="1700" spc="5" dirty="0">
                <a:latin typeface="Symbol"/>
                <a:cs typeface="Symbol"/>
              </a:rPr>
              <a:t></a:t>
            </a:r>
            <a:r>
              <a:rPr sz="1700" spc="5" dirty="0">
                <a:latin typeface="Times New Roman"/>
                <a:cs typeface="Times New Roman"/>
              </a:rPr>
              <a:t>	</a:t>
            </a:r>
            <a:r>
              <a:rPr sz="1700" spc="5" dirty="0">
                <a:latin typeface="Symbol"/>
                <a:cs typeface="Symbol"/>
              </a:rPr>
              <a:t></a:t>
            </a:r>
            <a:endParaRPr sz="1700">
              <a:latin typeface="Symbol"/>
              <a:cs typeface="Symbo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320076" y="2337110"/>
            <a:ext cx="1093470" cy="370840"/>
            <a:chOff x="1320076" y="2337110"/>
            <a:chExt cx="1093470" cy="370840"/>
          </a:xfrm>
        </p:grpSpPr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8005" y="2337110"/>
              <a:ext cx="85150" cy="8675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0076" y="2623097"/>
              <a:ext cx="84758" cy="84758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752855" y="4792979"/>
            <a:ext cx="2988945" cy="368935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5"/>
              </a:spcBef>
            </a:pPr>
            <a:r>
              <a:rPr sz="2775" spc="-2707" baseline="3003" dirty="0">
                <a:latin typeface="Arial MT"/>
                <a:cs typeface="Arial MT"/>
              </a:rPr>
              <a:t></a:t>
            </a:r>
            <a:r>
              <a:rPr sz="1850" i="1" spc="-570" dirty="0">
                <a:latin typeface="Times New Roman"/>
                <a:cs typeface="Times New Roman"/>
              </a:rPr>
              <a:t>p</a:t>
            </a:r>
            <a:r>
              <a:rPr sz="2775" spc="-1822" baseline="3003" dirty="0">
                <a:latin typeface="Arial MT"/>
                <a:cs typeface="Arial MT"/>
              </a:rPr>
              <a:t>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spc="130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)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Symbol"/>
                <a:cs typeface="Symbol"/>
              </a:rPr>
              <a:t>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50" dirty="0">
                <a:latin typeface="Times New Roman"/>
                <a:cs typeface="Times New Roman"/>
              </a:rPr>
              <a:t>(</a:t>
            </a:r>
            <a:r>
              <a:rPr sz="1850" spc="130" dirty="0">
                <a:latin typeface="Times New Roman"/>
                <a:cs typeface="Times New Roman"/>
              </a:rPr>
              <a:t>1</a:t>
            </a:r>
            <a:r>
              <a:rPr sz="1850" spc="10" dirty="0">
                <a:latin typeface="Times New Roman"/>
                <a:cs typeface="Times New Roman"/>
              </a:rPr>
              <a:t>/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Symbol"/>
                <a:cs typeface="Symbol"/>
              </a:rPr>
              <a:t></a:t>
            </a:r>
            <a:r>
              <a:rPr sz="1850" i="1" spc="20" dirty="0">
                <a:latin typeface="Times New Roman"/>
                <a:cs typeface="Times New Roman"/>
              </a:rPr>
              <a:t>T</a:t>
            </a:r>
            <a:r>
              <a:rPr sz="1850" i="1" spc="-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30" dirty="0">
                <a:latin typeface="Times New Roman"/>
                <a:cs typeface="Times New Roman"/>
              </a:rPr>
              <a:t>(</a:t>
            </a:r>
            <a:r>
              <a:rPr sz="1850" i="1" spc="-10" dirty="0">
                <a:latin typeface="Times New Roman"/>
                <a:cs typeface="Times New Roman"/>
              </a:rPr>
              <a:t>v</a:t>
            </a:r>
            <a:r>
              <a:rPr sz="1875" baseline="-22222" dirty="0">
                <a:latin typeface="Times New Roman"/>
                <a:cs typeface="Times New Roman"/>
              </a:rPr>
              <a:t>2</a:t>
            </a:r>
            <a:r>
              <a:rPr sz="1875" spc="-254" baseline="-22222" dirty="0">
                <a:latin typeface="Times New Roman"/>
                <a:cs typeface="Times New Roman"/>
              </a:rPr>
              <a:t> </a:t>
            </a:r>
            <a:r>
              <a:rPr sz="1850" i="1" spc="155" dirty="0">
                <a:latin typeface="Times New Roman"/>
                <a:cs typeface="Times New Roman"/>
              </a:rPr>
              <a:t>K</a:t>
            </a:r>
            <a:r>
              <a:rPr sz="1875" i="1" baseline="-22222" dirty="0">
                <a:latin typeface="Times New Roman"/>
                <a:cs typeface="Times New Roman"/>
              </a:rPr>
              <a:t>B</a:t>
            </a:r>
            <a:r>
              <a:rPr sz="1875" i="1" spc="7" baseline="-22222" dirty="0">
                <a:latin typeface="Times New Roman"/>
                <a:cs typeface="Times New Roman"/>
              </a:rPr>
              <a:t>C</a:t>
            </a:r>
            <a:r>
              <a:rPr sz="1875" i="1" baseline="-22222" dirty="0">
                <a:latin typeface="Times New Roman"/>
                <a:cs typeface="Times New Roman"/>
              </a:rPr>
              <a:t> </a:t>
            </a:r>
            <a:r>
              <a:rPr sz="1875" i="1" spc="-60" baseline="-22222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Symbol"/>
                <a:cs typeface="Symbol"/>
              </a:rPr>
              <a:t>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i="1" spc="-145" dirty="0">
                <a:latin typeface="Times New Roman"/>
                <a:cs typeface="Times New Roman"/>
              </a:rPr>
              <a:t>v</a:t>
            </a:r>
            <a:r>
              <a:rPr sz="1875" spc="67" baseline="-22222" dirty="0">
                <a:latin typeface="Times New Roman"/>
                <a:cs typeface="Times New Roman"/>
              </a:rPr>
              <a:t>1</a:t>
            </a:r>
            <a:r>
              <a:rPr sz="1850" i="1" spc="25" dirty="0">
                <a:latin typeface="Times New Roman"/>
                <a:cs typeface="Times New Roman"/>
              </a:rPr>
              <a:t>K</a:t>
            </a:r>
            <a:r>
              <a:rPr sz="1850" i="1" spc="-275" dirty="0">
                <a:latin typeface="Times New Roman"/>
                <a:cs typeface="Times New Roman"/>
              </a:rPr>
              <a:t> </a:t>
            </a:r>
            <a:r>
              <a:rPr sz="1875" i="1" baseline="-22222" dirty="0">
                <a:latin typeface="Times New Roman"/>
                <a:cs typeface="Times New Roman"/>
              </a:rPr>
              <a:t>A</a:t>
            </a:r>
            <a:r>
              <a:rPr sz="1875" i="1" spc="7" baseline="-22222" dirty="0">
                <a:latin typeface="Times New Roman"/>
                <a:cs typeface="Times New Roman"/>
              </a:rPr>
              <a:t>B</a:t>
            </a:r>
            <a:r>
              <a:rPr sz="1875" i="1" spc="-104" baseline="-22222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56403" y="4792979"/>
            <a:ext cx="3789045" cy="368935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75"/>
              </a:spcBef>
            </a:pPr>
            <a:r>
              <a:rPr sz="1850" i="1" spc="-780" dirty="0">
                <a:latin typeface="Times New Roman"/>
                <a:cs typeface="Times New Roman"/>
              </a:rPr>
              <a:t>p</a:t>
            </a:r>
            <a:r>
              <a:rPr sz="2775" spc="-1837" baseline="3003" dirty="0">
                <a:latin typeface="Arial MT"/>
                <a:cs typeface="Arial MT"/>
              </a:rPr>
              <a:t></a:t>
            </a:r>
            <a:r>
              <a:rPr sz="2775" spc="-442" baseline="3003" dirty="0">
                <a:latin typeface="Arial MT"/>
                <a:cs typeface="Arial MT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spc="130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)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Symbol"/>
                <a:cs typeface="Symbol"/>
              </a:rPr>
              <a:t>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i="1" spc="-145" dirty="0">
                <a:latin typeface="Times New Roman"/>
                <a:cs typeface="Times New Roman"/>
              </a:rPr>
              <a:t>v</a:t>
            </a:r>
            <a:r>
              <a:rPr sz="1875" spc="67" baseline="-22222" dirty="0">
                <a:latin typeface="Times New Roman"/>
                <a:cs typeface="Times New Roman"/>
              </a:rPr>
              <a:t>1</a:t>
            </a:r>
            <a:r>
              <a:rPr sz="1850" i="1" spc="25" dirty="0">
                <a:latin typeface="Times New Roman"/>
                <a:cs typeface="Times New Roman"/>
              </a:rPr>
              <a:t>K</a:t>
            </a:r>
            <a:r>
              <a:rPr sz="1850" i="1" spc="-275" dirty="0">
                <a:latin typeface="Times New Roman"/>
                <a:cs typeface="Times New Roman"/>
              </a:rPr>
              <a:t> </a:t>
            </a:r>
            <a:r>
              <a:rPr sz="1875" i="1" baseline="-22222" dirty="0">
                <a:latin typeface="Times New Roman"/>
                <a:cs typeface="Times New Roman"/>
              </a:rPr>
              <a:t>A</a:t>
            </a:r>
            <a:r>
              <a:rPr sz="1875" i="1" spc="7" baseline="-22222" dirty="0">
                <a:latin typeface="Times New Roman"/>
                <a:cs typeface="Times New Roman"/>
              </a:rPr>
              <a:t>B</a:t>
            </a:r>
            <a:r>
              <a:rPr sz="1875" i="1" baseline="-22222" dirty="0">
                <a:latin typeface="Times New Roman"/>
                <a:cs typeface="Times New Roman"/>
              </a:rPr>
              <a:t> </a:t>
            </a:r>
            <a:r>
              <a:rPr sz="1875" i="1" spc="-135" baseline="-22222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Symbol"/>
                <a:cs typeface="Symbol"/>
              </a:rPr>
              <a:t>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spc="10" dirty="0">
                <a:latin typeface="Times New Roman"/>
                <a:cs typeface="Times New Roman"/>
              </a:rPr>
              <a:t>t</a:t>
            </a:r>
            <a:r>
              <a:rPr sz="1850" i="1" spc="-7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/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Symbol"/>
                <a:cs typeface="Symbol"/>
              </a:rPr>
              <a:t></a:t>
            </a:r>
            <a:r>
              <a:rPr sz="1850" i="1" spc="20" dirty="0">
                <a:latin typeface="Times New Roman"/>
                <a:cs typeface="Times New Roman"/>
              </a:rPr>
              <a:t>T</a:t>
            </a:r>
            <a:r>
              <a:rPr sz="1850" i="1" spc="-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30" dirty="0">
                <a:latin typeface="Times New Roman"/>
                <a:cs typeface="Times New Roman"/>
              </a:rPr>
              <a:t>(</a:t>
            </a:r>
            <a:r>
              <a:rPr sz="1850" i="1" spc="-10" dirty="0">
                <a:latin typeface="Times New Roman"/>
                <a:cs typeface="Times New Roman"/>
              </a:rPr>
              <a:t>v</a:t>
            </a:r>
            <a:r>
              <a:rPr sz="1875" baseline="-22222" dirty="0">
                <a:latin typeface="Times New Roman"/>
                <a:cs typeface="Times New Roman"/>
              </a:rPr>
              <a:t>2</a:t>
            </a:r>
            <a:r>
              <a:rPr sz="1875" spc="-247" baseline="-22222" dirty="0">
                <a:latin typeface="Times New Roman"/>
                <a:cs typeface="Times New Roman"/>
              </a:rPr>
              <a:t> </a:t>
            </a:r>
            <a:r>
              <a:rPr sz="1850" i="1" spc="155" dirty="0">
                <a:latin typeface="Times New Roman"/>
                <a:cs typeface="Times New Roman"/>
              </a:rPr>
              <a:t>K</a:t>
            </a:r>
            <a:r>
              <a:rPr sz="1875" i="1" baseline="-22222" dirty="0">
                <a:latin typeface="Times New Roman"/>
                <a:cs typeface="Times New Roman"/>
              </a:rPr>
              <a:t>B</a:t>
            </a:r>
            <a:r>
              <a:rPr sz="1875" i="1" spc="7" baseline="-22222" dirty="0">
                <a:latin typeface="Times New Roman"/>
                <a:cs typeface="Times New Roman"/>
              </a:rPr>
              <a:t>C</a:t>
            </a:r>
            <a:r>
              <a:rPr sz="1875" i="1" baseline="-22222" dirty="0">
                <a:latin typeface="Times New Roman"/>
                <a:cs typeface="Times New Roman"/>
              </a:rPr>
              <a:t> </a:t>
            </a:r>
            <a:r>
              <a:rPr sz="1875" i="1" spc="-60" baseline="-22222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Symbol"/>
                <a:cs typeface="Symbol"/>
              </a:rPr>
              <a:t>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i="1" spc="-145" dirty="0">
                <a:latin typeface="Times New Roman"/>
                <a:cs typeface="Times New Roman"/>
              </a:rPr>
              <a:t>v</a:t>
            </a:r>
            <a:r>
              <a:rPr sz="1875" spc="75" baseline="-22222" dirty="0">
                <a:latin typeface="Times New Roman"/>
                <a:cs typeface="Times New Roman"/>
              </a:rPr>
              <a:t>1</a:t>
            </a:r>
            <a:r>
              <a:rPr sz="1850" i="1" spc="25" dirty="0">
                <a:latin typeface="Times New Roman"/>
                <a:cs typeface="Times New Roman"/>
              </a:rPr>
              <a:t>K</a:t>
            </a:r>
            <a:r>
              <a:rPr sz="1850" i="1" spc="-275" dirty="0">
                <a:latin typeface="Times New Roman"/>
                <a:cs typeface="Times New Roman"/>
              </a:rPr>
              <a:t> </a:t>
            </a:r>
            <a:r>
              <a:rPr sz="1875" i="1" baseline="-22222" dirty="0">
                <a:latin typeface="Times New Roman"/>
                <a:cs typeface="Times New Roman"/>
              </a:rPr>
              <a:t>A</a:t>
            </a:r>
            <a:r>
              <a:rPr sz="1875" i="1" spc="7" baseline="-22222" dirty="0">
                <a:latin typeface="Times New Roman"/>
                <a:cs typeface="Times New Roman"/>
              </a:rPr>
              <a:t>B</a:t>
            </a:r>
            <a:r>
              <a:rPr sz="1875" i="1" spc="-104" baseline="-22222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723993" y="4724400"/>
            <a:ext cx="4826000" cy="454659"/>
            <a:chOff x="3723993" y="4724400"/>
            <a:chExt cx="4826000" cy="454659"/>
          </a:xfrm>
        </p:grpSpPr>
        <p:sp>
          <p:nvSpPr>
            <p:cNvPr id="60" name="object 60"/>
            <p:cNvSpPr/>
            <p:nvPr/>
          </p:nvSpPr>
          <p:spPr>
            <a:xfrm>
              <a:off x="4756404" y="4792980"/>
              <a:ext cx="3789045" cy="368935"/>
            </a:xfrm>
            <a:custGeom>
              <a:avLst/>
              <a:gdLst/>
              <a:ahLst/>
              <a:cxnLst/>
              <a:rect l="l" t="t" r="r" b="b"/>
              <a:pathLst>
                <a:path w="3789045" h="368935">
                  <a:moveTo>
                    <a:pt x="0" y="0"/>
                  </a:moveTo>
                  <a:lnTo>
                    <a:pt x="3788663" y="0"/>
                  </a:lnTo>
                  <a:lnTo>
                    <a:pt x="3788663" y="368808"/>
                  </a:lnTo>
                  <a:lnTo>
                    <a:pt x="0" y="36880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61421" y="4968620"/>
              <a:ext cx="384175" cy="0"/>
            </a:xfrm>
            <a:custGeom>
              <a:avLst/>
              <a:gdLst/>
              <a:ahLst/>
              <a:cxnLst/>
              <a:rect l="l" t="t" r="r" b="b"/>
              <a:pathLst>
                <a:path w="384175">
                  <a:moveTo>
                    <a:pt x="0" y="0"/>
                  </a:moveTo>
                  <a:lnTo>
                    <a:pt x="383956" y="0"/>
                  </a:lnTo>
                </a:path>
              </a:pathLst>
            </a:custGeom>
            <a:ln w="50291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16196" y="4881371"/>
              <a:ext cx="172720" cy="172720"/>
            </a:xfrm>
            <a:custGeom>
              <a:avLst/>
              <a:gdLst/>
              <a:ahLst/>
              <a:cxnLst/>
              <a:rect l="l" t="t" r="r" b="b"/>
              <a:pathLst>
                <a:path w="172720" h="172720">
                  <a:moveTo>
                    <a:pt x="0" y="0"/>
                  </a:moveTo>
                  <a:lnTo>
                    <a:pt x="0" y="172212"/>
                  </a:lnTo>
                  <a:lnTo>
                    <a:pt x="172212" y="86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49393" y="4968620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10">
                  <a:moveTo>
                    <a:pt x="0" y="0"/>
                  </a:moveTo>
                  <a:lnTo>
                    <a:pt x="295569" y="0"/>
                  </a:lnTo>
                </a:path>
              </a:pathLst>
            </a:custGeom>
            <a:ln w="50291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044962" y="4730750"/>
              <a:ext cx="316865" cy="441959"/>
            </a:xfrm>
            <a:custGeom>
              <a:avLst/>
              <a:gdLst/>
              <a:ahLst/>
              <a:cxnLst/>
              <a:rect l="l" t="t" r="r" b="b"/>
              <a:pathLst>
                <a:path w="316864" h="441960">
                  <a:moveTo>
                    <a:pt x="0" y="0"/>
                  </a:moveTo>
                  <a:lnTo>
                    <a:pt x="316458" y="0"/>
                  </a:lnTo>
                  <a:lnTo>
                    <a:pt x="316458" y="441451"/>
                  </a:lnTo>
                  <a:lnTo>
                    <a:pt x="0" y="441451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103375" y="5978652"/>
            <a:ext cx="4467225" cy="408940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385"/>
              </a:spcBef>
            </a:pPr>
            <a:r>
              <a:rPr sz="1850" i="1" spc="50" dirty="0">
                <a:latin typeface="Times New Roman"/>
                <a:cs typeface="Times New Roman"/>
              </a:rPr>
              <a:t>p</a:t>
            </a:r>
            <a:r>
              <a:rPr sz="1850" spc="50" dirty="0">
                <a:latin typeface="Times New Roman"/>
                <a:cs typeface="Times New Roman"/>
              </a:rPr>
              <a:t>(</a:t>
            </a:r>
            <a:r>
              <a:rPr sz="1850" i="1" spc="50" dirty="0">
                <a:latin typeface="Times New Roman"/>
                <a:cs typeface="Times New Roman"/>
              </a:rPr>
              <a:t>t</a:t>
            </a:r>
            <a:r>
              <a:rPr sz="1850" spc="50" dirty="0">
                <a:latin typeface="Times New Roman"/>
                <a:cs typeface="Times New Roman"/>
              </a:rPr>
              <a:t>)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Symbol"/>
                <a:cs typeface="Symbol"/>
              </a:rPr>
              <a:t>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i="1" spc="15" dirty="0">
                <a:latin typeface="Times New Roman"/>
                <a:cs typeface="Times New Roman"/>
              </a:rPr>
              <a:t>A</a:t>
            </a:r>
            <a:r>
              <a:rPr sz="1850" i="1" spc="-2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'</a:t>
            </a:r>
            <a:r>
              <a:rPr sz="1850" dirty="0">
                <a:latin typeface="Symbol"/>
                <a:cs typeface="Symbol"/>
              </a:rPr>
              <a:t>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i="1" spc="-30" dirty="0">
                <a:latin typeface="Times New Roman"/>
                <a:cs typeface="Times New Roman"/>
              </a:rPr>
              <a:t>v</a:t>
            </a:r>
            <a:r>
              <a:rPr sz="1875" spc="-44" baseline="-22222" dirty="0">
                <a:latin typeface="Times New Roman"/>
                <a:cs typeface="Times New Roman"/>
              </a:rPr>
              <a:t>1</a:t>
            </a:r>
            <a:r>
              <a:rPr sz="1850" i="1" spc="-30" dirty="0">
                <a:latin typeface="Times New Roman"/>
                <a:cs typeface="Times New Roman"/>
              </a:rPr>
              <a:t>K</a:t>
            </a:r>
            <a:r>
              <a:rPr sz="1850" i="1" spc="-275" dirty="0">
                <a:latin typeface="Times New Roman"/>
                <a:cs typeface="Times New Roman"/>
              </a:rPr>
              <a:t> </a:t>
            </a:r>
            <a:r>
              <a:rPr sz="1875" i="1" spc="30" baseline="-22222" dirty="0">
                <a:latin typeface="Times New Roman"/>
                <a:cs typeface="Times New Roman"/>
              </a:rPr>
              <a:t>AB</a:t>
            </a:r>
            <a:r>
              <a:rPr sz="1850" i="1" spc="20" dirty="0">
                <a:latin typeface="Times New Roman"/>
                <a:cs typeface="Times New Roman"/>
              </a:rPr>
              <a:t>t</a:t>
            </a:r>
            <a:r>
              <a:rPr sz="1850" i="1" spc="-4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Symbol"/>
                <a:cs typeface="Symbol"/>
              </a:rPr>
              <a:t>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t</a:t>
            </a:r>
            <a:r>
              <a:rPr sz="1850" i="1" spc="-300" dirty="0">
                <a:latin typeface="Times New Roman"/>
                <a:cs typeface="Times New Roman"/>
              </a:rPr>
              <a:t> </a:t>
            </a:r>
            <a:r>
              <a:rPr sz="1875" baseline="37777" dirty="0">
                <a:latin typeface="Times New Roman"/>
                <a:cs typeface="Times New Roman"/>
              </a:rPr>
              <a:t>2</a:t>
            </a:r>
            <a:r>
              <a:rPr sz="1875" spc="240" baseline="37777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/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2</a:t>
            </a:r>
            <a:r>
              <a:rPr sz="1850" spc="20" dirty="0">
                <a:latin typeface="Symbol"/>
                <a:cs typeface="Symbol"/>
              </a:rPr>
              <a:t></a:t>
            </a:r>
            <a:r>
              <a:rPr sz="1850" i="1" spc="20" dirty="0">
                <a:latin typeface="Times New Roman"/>
                <a:cs typeface="Times New Roman"/>
              </a:rPr>
              <a:t>T</a:t>
            </a:r>
            <a:r>
              <a:rPr sz="1850" i="1" spc="-22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)(</a:t>
            </a:r>
            <a:r>
              <a:rPr sz="1850" i="1" spc="5" dirty="0">
                <a:latin typeface="Times New Roman"/>
                <a:cs typeface="Times New Roman"/>
              </a:rPr>
              <a:t>v</a:t>
            </a:r>
            <a:r>
              <a:rPr sz="1875" spc="7" baseline="-22222" dirty="0">
                <a:latin typeface="Times New Roman"/>
                <a:cs typeface="Times New Roman"/>
              </a:rPr>
              <a:t>2</a:t>
            </a:r>
            <a:r>
              <a:rPr sz="1875" spc="-254" baseline="-22222" dirty="0">
                <a:latin typeface="Times New Roman"/>
                <a:cs typeface="Times New Roman"/>
              </a:rPr>
              <a:t> </a:t>
            </a:r>
            <a:r>
              <a:rPr sz="1850" i="1" spc="45" dirty="0">
                <a:latin typeface="Times New Roman"/>
                <a:cs typeface="Times New Roman"/>
              </a:rPr>
              <a:t>K</a:t>
            </a:r>
            <a:r>
              <a:rPr sz="1875" i="1" spc="67" baseline="-22222" dirty="0">
                <a:latin typeface="Times New Roman"/>
                <a:cs typeface="Times New Roman"/>
              </a:rPr>
              <a:t>BC</a:t>
            </a:r>
            <a:r>
              <a:rPr sz="1875" i="1" spc="412" baseline="-22222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Symbol"/>
                <a:cs typeface="Symbol"/>
              </a:rPr>
              <a:t>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i="1" spc="-30" dirty="0">
                <a:latin typeface="Times New Roman"/>
                <a:cs typeface="Times New Roman"/>
              </a:rPr>
              <a:t>v</a:t>
            </a:r>
            <a:r>
              <a:rPr sz="1875" spc="-44" baseline="-22222" dirty="0">
                <a:latin typeface="Times New Roman"/>
                <a:cs typeface="Times New Roman"/>
              </a:rPr>
              <a:t>1</a:t>
            </a:r>
            <a:r>
              <a:rPr sz="1850" i="1" spc="-30" dirty="0">
                <a:latin typeface="Times New Roman"/>
                <a:cs typeface="Times New Roman"/>
              </a:rPr>
              <a:t>K</a:t>
            </a:r>
            <a:r>
              <a:rPr sz="1850" i="1" spc="-275" dirty="0">
                <a:latin typeface="Times New Roman"/>
                <a:cs typeface="Times New Roman"/>
              </a:rPr>
              <a:t> </a:t>
            </a:r>
            <a:r>
              <a:rPr sz="1875" i="1" spc="-7" baseline="-22222" dirty="0">
                <a:latin typeface="Times New Roman"/>
                <a:cs typeface="Times New Roman"/>
              </a:rPr>
              <a:t>AB</a:t>
            </a:r>
            <a:r>
              <a:rPr sz="1875" i="1" spc="-104" baseline="-22222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716779" y="5263265"/>
            <a:ext cx="1804035" cy="613410"/>
            <a:chOff x="4716779" y="5263265"/>
            <a:chExt cx="1804035" cy="613410"/>
          </a:xfrm>
        </p:grpSpPr>
        <p:sp>
          <p:nvSpPr>
            <p:cNvPr id="67" name="object 67"/>
            <p:cNvSpPr/>
            <p:nvPr/>
          </p:nvSpPr>
          <p:spPr>
            <a:xfrm>
              <a:off x="4770511" y="5288665"/>
              <a:ext cx="1724660" cy="542290"/>
            </a:xfrm>
            <a:custGeom>
              <a:avLst/>
              <a:gdLst/>
              <a:ahLst/>
              <a:cxnLst/>
              <a:rect l="l" t="t" r="r" b="b"/>
              <a:pathLst>
                <a:path w="1724660" h="542289">
                  <a:moveTo>
                    <a:pt x="1724380" y="0"/>
                  </a:moveTo>
                  <a:lnTo>
                    <a:pt x="0" y="541769"/>
                  </a:lnTo>
                </a:path>
              </a:pathLst>
            </a:custGeom>
            <a:ln w="50291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716779" y="5713474"/>
              <a:ext cx="189230" cy="163195"/>
            </a:xfrm>
            <a:custGeom>
              <a:avLst/>
              <a:gdLst/>
              <a:ahLst/>
              <a:cxnLst/>
              <a:rect l="l" t="t" r="r" b="b"/>
              <a:pathLst>
                <a:path w="189229" h="163195">
                  <a:moveTo>
                    <a:pt x="137642" y="0"/>
                  </a:moveTo>
                  <a:lnTo>
                    <a:pt x="0" y="132778"/>
                  </a:lnTo>
                  <a:lnTo>
                    <a:pt x="188975" y="163067"/>
                  </a:lnTo>
                  <a:lnTo>
                    <a:pt x="137642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33910" y="5351017"/>
              <a:ext cx="316865" cy="441959"/>
            </a:xfrm>
            <a:custGeom>
              <a:avLst/>
              <a:gdLst/>
              <a:ahLst/>
              <a:cxnLst/>
              <a:rect l="l" t="t" r="r" b="b"/>
              <a:pathLst>
                <a:path w="316864" h="441960">
                  <a:moveTo>
                    <a:pt x="0" y="0"/>
                  </a:moveTo>
                  <a:lnTo>
                    <a:pt x="316458" y="0"/>
                  </a:lnTo>
                  <a:lnTo>
                    <a:pt x="316458" y="441451"/>
                  </a:lnTo>
                  <a:lnTo>
                    <a:pt x="0" y="441451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059935" y="4751301"/>
            <a:ext cx="29591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500" spc="5" dirty="0">
                <a:latin typeface="Symbol"/>
                <a:cs typeface="Symbol"/>
              </a:rPr>
              <a:t>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4055364" y="4739640"/>
            <a:ext cx="315595" cy="431800"/>
          </a:xfrm>
          <a:custGeom>
            <a:avLst/>
            <a:gdLst/>
            <a:ahLst/>
            <a:cxnLst/>
            <a:rect l="l" t="t" r="r" b="b"/>
            <a:pathLst>
              <a:path w="315595" h="431800">
                <a:moveTo>
                  <a:pt x="0" y="0"/>
                </a:moveTo>
                <a:lnTo>
                  <a:pt x="315467" y="0"/>
                </a:lnTo>
                <a:lnTo>
                  <a:pt x="315467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4045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5547359" y="5380713"/>
            <a:ext cx="29718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500" spc="5" dirty="0">
                <a:latin typeface="Symbol"/>
                <a:cs typeface="Symbol"/>
              </a:rPr>
              <a:t>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542788" y="5369052"/>
            <a:ext cx="315595" cy="431800"/>
          </a:xfrm>
          <a:custGeom>
            <a:avLst/>
            <a:gdLst/>
            <a:ahLst/>
            <a:cxnLst/>
            <a:rect l="l" t="t" r="r" b="b"/>
            <a:pathLst>
              <a:path w="315595" h="431800">
                <a:moveTo>
                  <a:pt x="0" y="0"/>
                </a:moveTo>
                <a:lnTo>
                  <a:pt x="315467" y="0"/>
                </a:lnTo>
                <a:lnTo>
                  <a:pt x="315467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4045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6359448" y="5408041"/>
            <a:ext cx="2358390" cy="93471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13715" indent="38100">
              <a:lnSpc>
                <a:spcPts val="1980"/>
              </a:lnSpc>
              <a:spcBef>
                <a:spcPts val="315"/>
              </a:spcBef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hus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,</a:t>
            </a:r>
            <a:r>
              <a:rPr sz="1800" spc="-1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spc="-1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</a:t>
            </a:r>
            <a:r>
              <a:rPr sz="1800" spc="-10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 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parabolic</a:t>
            </a:r>
            <a:r>
              <a:rPr sz="1800" spc="-1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blending</a:t>
            </a:r>
            <a:endParaRPr sz="1800">
              <a:latin typeface="Tahoma"/>
              <a:cs typeface="Tahoma"/>
            </a:endParaRPr>
          </a:p>
          <a:p>
            <a:pPr marL="50800">
              <a:lnSpc>
                <a:spcPts val="1360"/>
              </a:lnSpc>
            </a:pP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(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400" spc="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400" spc="-1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400" spc="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x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400" spc="5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4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k</a:t>
            </a:r>
            <a:r>
              <a:rPr sz="1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400" spc="5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400" spc="-9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th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400" spc="-10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400" spc="-1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me</a:t>
            </a:r>
            <a:endParaRPr sz="1400">
              <a:latin typeface="Tahoma"/>
              <a:cs typeface="Tahoma"/>
            </a:endParaRPr>
          </a:p>
          <a:p>
            <a:pPr marL="178435">
              <a:lnSpc>
                <a:spcPts val="1620"/>
              </a:lnSpc>
            </a:pP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pp</a:t>
            </a:r>
            <a:r>
              <a:rPr sz="1400" spc="-1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400" spc="5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400" spc="-1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ch</a:t>
            </a:r>
            <a:r>
              <a:rPr sz="14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400" spc="-9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th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400" spc="-1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j</a:t>
            </a:r>
            <a:r>
              <a:rPr sz="1400" spc="5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n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400" spc="-10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r>
              <a:rPr sz="14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400" spc="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29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47052" y="790723"/>
            <a:ext cx="5243830" cy="7677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33400" lvl="1" indent="-521334">
              <a:lnSpc>
                <a:spcPct val="100000"/>
              </a:lnSpc>
              <a:spcBef>
                <a:spcPts val="560"/>
              </a:spcBef>
              <a:buAutoNum type="arabicPeriod" startAt="6"/>
              <a:tabLst>
                <a:tab pos="534035" algn="l"/>
              </a:tabLst>
            </a:pP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>
              <a:latin typeface="Tahoma"/>
              <a:cs typeface="Tahoma"/>
            </a:endParaRPr>
          </a:p>
          <a:p>
            <a:pPr marL="330835" lvl="2" indent="-24765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30835" algn="l"/>
                <a:tab pos="331470" algn="l"/>
              </a:tabLst>
            </a:pP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Timing</a:t>
            </a: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law</a:t>
            </a: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during</a:t>
            </a: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transition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86905" y="1905761"/>
            <a:ext cx="2637155" cy="2097405"/>
            <a:chOff x="486905" y="1905761"/>
            <a:chExt cx="2637155" cy="2097405"/>
          </a:xfrm>
        </p:grpSpPr>
        <p:sp>
          <p:nvSpPr>
            <p:cNvPr id="4" name="object 4"/>
            <p:cNvSpPr/>
            <p:nvPr/>
          </p:nvSpPr>
          <p:spPr>
            <a:xfrm>
              <a:off x="505942" y="3220211"/>
              <a:ext cx="2599055" cy="763905"/>
            </a:xfrm>
            <a:custGeom>
              <a:avLst/>
              <a:gdLst/>
              <a:ahLst/>
              <a:cxnLst/>
              <a:rect l="l" t="t" r="r" b="b"/>
              <a:pathLst>
                <a:path w="2599055" h="763904">
                  <a:moveTo>
                    <a:pt x="960145" y="0"/>
                  </a:moveTo>
                  <a:lnTo>
                    <a:pt x="2598445" y="0"/>
                  </a:lnTo>
                </a:path>
                <a:path w="2599055" h="763904">
                  <a:moveTo>
                    <a:pt x="960145" y="0"/>
                  </a:moveTo>
                  <a:lnTo>
                    <a:pt x="0" y="763536"/>
                  </a:lnTo>
                </a:path>
              </a:pathLst>
            </a:custGeom>
            <a:ln w="38100">
              <a:solidFill>
                <a:srgbClr val="FFCF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91995" y="1924811"/>
              <a:ext cx="0" cy="1295400"/>
            </a:xfrm>
            <a:custGeom>
              <a:avLst/>
              <a:gdLst/>
              <a:ahLst/>
              <a:cxnLst/>
              <a:rect l="l" t="t" r="r" b="b"/>
              <a:pathLst>
                <a:path h="1295400">
                  <a:moveTo>
                    <a:pt x="0" y="12954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CF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8869" y="2116835"/>
              <a:ext cx="875030" cy="1257300"/>
            </a:xfrm>
            <a:custGeom>
              <a:avLst/>
              <a:gdLst/>
              <a:ahLst/>
              <a:cxnLst/>
              <a:rect l="l" t="t" r="r" b="b"/>
              <a:pathLst>
                <a:path w="875030" h="1257300">
                  <a:moveTo>
                    <a:pt x="0" y="1257300"/>
                  </a:moveTo>
                  <a:lnTo>
                    <a:pt x="874776" y="0"/>
                  </a:lnTo>
                </a:path>
              </a:pathLst>
            </a:custGeom>
            <a:ln w="38100">
              <a:solidFill>
                <a:srgbClr val="1822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913" y="3316225"/>
              <a:ext cx="111253" cy="1127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38008" y="1585213"/>
            <a:ext cx="183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CF01"/>
                </a:solidFill>
                <a:latin typeface="Tahoma"/>
                <a:cs typeface="Tahoma"/>
              </a:rPr>
              <a:t>z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6612" y="2626105"/>
            <a:ext cx="2432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Tahoma"/>
                <a:cs typeface="Tahoma"/>
              </a:rPr>
              <a:t>A’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3963" y="2582310"/>
            <a:ext cx="2667000" cy="1424305"/>
            <a:chOff x="473963" y="2582310"/>
            <a:chExt cx="2667000" cy="1424305"/>
          </a:xfrm>
        </p:grpSpPr>
        <p:sp>
          <p:nvSpPr>
            <p:cNvPr id="11" name="object 11"/>
            <p:cNvSpPr/>
            <p:nvPr/>
          </p:nvSpPr>
          <p:spPr>
            <a:xfrm>
              <a:off x="3026663" y="316229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963" y="3890774"/>
              <a:ext cx="127000" cy="116205"/>
            </a:xfrm>
            <a:custGeom>
              <a:avLst/>
              <a:gdLst/>
              <a:ahLst/>
              <a:cxnLst/>
              <a:rect l="l" t="t" r="r" b="b"/>
              <a:pathLst>
                <a:path w="127000" h="116204">
                  <a:moveTo>
                    <a:pt x="54546" y="0"/>
                  </a:moveTo>
                  <a:lnTo>
                    <a:pt x="0" y="115824"/>
                  </a:lnTo>
                  <a:lnTo>
                    <a:pt x="126492" y="89446"/>
                  </a:lnTo>
                  <a:lnTo>
                    <a:pt x="54546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0552" y="2582310"/>
              <a:ext cx="114517" cy="11451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27050" y="3226308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822CD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8125" y="3851655"/>
            <a:ext cx="201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CF01"/>
                </a:solidFill>
                <a:latin typeface="Tahoma"/>
                <a:cs typeface="Tahoma"/>
              </a:rPr>
              <a:t>x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55321" y="1801367"/>
            <a:ext cx="1016000" cy="877569"/>
            <a:chOff x="1355321" y="1801367"/>
            <a:chExt cx="1016000" cy="877569"/>
          </a:xfrm>
        </p:grpSpPr>
        <p:sp>
          <p:nvSpPr>
            <p:cNvPr id="17" name="object 17"/>
            <p:cNvSpPr/>
            <p:nvPr/>
          </p:nvSpPr>
          <p:spPr>
            <a:xfrm>
              <a:off x="1434084" y="180136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68338" y="2270593"/>
              <a:ext cx="989965" cy="395605"/>
            </a:xfrm>
            <a:custGeom>
              <a:avLst/>
              <a:gdLst/>
              <a:ahLst/>
              <a:cxnLst/>
              <a:rect l="l" t="t" r="r" b="b"/>
              <a:pathLst>
                <a:path w="989964" h="395605">
                  <a:moveTo>
                    <a:pt x="989507" y="92201"/>
                  </a:moveTo>
                  <a:lnTo>
                    <a:pt x="922172" y="58813"/>
                  </a:lnTo>
                  <a:lnTo>
                    <a:pt x="853236" y="32588"/>
                  </a:lnTo>
                  <a:lnTo>
                    <a:pt x="781939" y="14300"/>
                  </a:lnTo>
                  <a:lnTo>
                    <a:pt x="709053" y="3174"/>
                  </a:lnTo>
                  <a:lnTo>
                    <a:pt x="636168" y="0"/>
                  </a:lnTo>
                  <a:lnTo>
                    <a:pt x="562483" y="3174"/>
                  </a:lnTo>
                  <a:lnTo>
                    <a:pt x="490397" y="15100"/>
                  </a:lnTo>
                  <a:lnTo>
                    <a:pt x="418299" y="34175"/>
                  </a:lnTo>
                  <a:lnTo>
                    <a:pt x="351751" y="59613"/>
                  </a:lnTo>
                  <a:lnTo>
                    <a:pt x="288366" y="91401"/>
                  </a:lnTo>
                  <a:lnTo>
                    <a:pt x="228955" y="128765"/>
                  </a:lnTo>
                  <a:lnTo>
                    <a:pt x="173494" y="171691"/>
                  </a:lnTo>
                  <a:lnTo>
                    <a:pt x="122796" y="220967"/>
                  </a:lnTo>
                  <a:lnTo>
                    <a:pt x="76047" y="274231"/>
                  </a:lnTo>
                  <a:lnTo>
                    <a:pt x="35648" y="332257"/>
                  </a:lnTo>
                  <a:lnTo>
                    <a:pt x="0" y="395058"/>
                  </a:lnTo>
                </a:path>
              </a:pathLst>
            </a:custGeom>
            <a:ln w="25908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48140" y="1961451"/>
            <a:ext cx="272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C’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84525" y="2315541"/>
            <a:ext cx="247015" cy="114935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solidFill>
                  <a:srgbClr val="1822CD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800" spc="-5" dirty="0">
                <a:solidFill>
                  <a:srgbClr val="FFCF01"/>
                </a:solidFill>
                <a:latin typeface="Tahoma"/>
                <a:cs typeface="Tahoma"/>
              </a:rPr>
              <a:t>y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16394" y="1941565"/>
            <a:ext cx="1943100" cy="766445"/>
            <a:chOff x="1116394" y="1941565"/>
            <a:chExt cx="1943100" cy="76644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0076" y="2623097"/>
              <a:ext cx="84758" cy="847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11454" y="2119903"/>
              <a:ext cx="1329055" cy="520065"/>
            </a:xfrm>
            <a:custGeom>
              <a:avLst/>
              <a:gdLst/>
              <a:ahLst/>
              <a:cxnLst/>
              <a:rect l="l" t="t" r="r" b="b"/>
              <a:pathLst>
                <a:path w="1329055" h="520064">
                  <a:moveTo>
                    <a:pt x="0" y="0"/>
                  </a:moveTo>
                  <a:lnTo>
                    <a:pt x="1328928" y="519645"/>
                  </a:lnTo>
                </a:path>
              </a:pathLst>
            </a:custGeom>
            <a:ln w="38100">
              <a:solidFill>
                <a:srgbClr val="1822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8005" y="2337110"/>
              <a:ext cx="85150" cy="8675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1625" y="2062626"/>
              <a:ext cx="114517" cy="1145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874029" y="1961415"/>
              <a:ext cx="526415" cy="207010"/>
            </a:xfrm>
            <a:custGeom>
              <a:avLst/>
              <a:gdLst/>
              <a:ahLst/>
              <a:cxnLst/>
              <a:rect l="l" t="t" r="r" b="b"/>
              <a:pathLst>
                <a:path w="526414" h="207010">
                  <a:moveTo>
                    <a:pt x="0" y="0"/>
                  </a:moveTo>
                  <a:lnTo>
                    <a:pt x="525868" y="206705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12722" y="2098869"/>
              <a:ext cx="87630" cy="83185"/>
            </a:xfrm>
            <a:custGeom>
              <a:avLst/>
              <a:gdLst/>
              <a:ahLst/>
              <a:cxnLst/>
              <a:rect l="l" t="t" r="r" b="b"/>
              <a:pathLst>
                <a:path w="87630" h="83185">
                  <a:moveTo>
                    <a:pt x="32524" y="0"/>
                  </a:moveTo>
                  <a:lnTo>
                    <a:pt x="87172" y="69253"/>
                  </a:lnTo>
                  <a:lnTo>
                    <a:pt x="0" y="8274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74029" y="1947915"/>
              <a:ext cx="87630" cy="83185"/>
            </a:xfrm>
            <a:custGeom>
              <a:avLst/>
              <a:gdLst/>
              <a:ahLst/>
              <a:cxnLst/>
              <a:rect l="l" t="t" r="r" b="b"/>
              <a:pathLst>
                <a:path w="87630" h="83185">
                  <a:moveTo>
                    <a:pt x="54660" y="82740"/>
                  </a:moveTo>
                  <a:lnTo>
                    <a:pt x="0" y="13500"/>
                  </a:lnTo>
                  <a:lnTo>
                    <a:pt x="87172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22744" y="2076870"/>
              <a:ext cx="307975" cy="443230"/>
            </a:xfrm>
            <a:custGeom>
              <a:avLst/>
              <a:gdLst/>
              <a:ahLst/>
              <a:cxnLst/>
              <a:rect l="l" t="t" r="r" b="b"/>
              <a:pathLst>
                <a:path w="307975" h="443230">
                  <a:moveTo>
                    <a:pt x="0" y="442899"/>
                  </a:moveTo>
                  <a:lnTo>
                    <a:pt x="307911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50658" y="2076871"/>
              <a:ext cx="80010" cy="88265"/>
            </a:xfrm>
            <a:custGeom>
              <a:avLst/>
              <a:gdLst/>
              <a:ahLst/>
              <a:cxnLst/>
              <a:rect l="l" t="t" r="r" b="b"/>
              <a:pathLst>
                <a:path w="80009" h="88264">
                  <a:moveTo>
                    <a:pt x="72999" y="87934"/>
                  </a:moveTo>
                  <a:lnTo>
                    <a:pt x="79997" y="0"/>
                  </a:lnTo>
                  <a:lnTo>
                    <a:pt x="0" y="37198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22751" y="2431831"/>
              <a:ext cx="80010" cy="88265"/>
            </a:xfrm>
            <a:custGeom>
              <a:avLst/>
              <a:gdLst/>
              <a:ahLst/>
              <a:cxnLst/>
              <a:rect l="l" t="t" r="r" b="b"/>
              <a:pathLst>
                <a:path w="80009" h="88264">
                  <a:moveTo>
                    <a:pt x="6997" y="0"/>
                  </a:moveTo>
                  <a:lnTo>
                    <a:pt x="0" y="87934"/>
                  </a:lnTo>
                  <a:lnTo>
                    <a:pt x="79984" y="50749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87412" y="1996948"/>
            <a:ext cx="258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r>
              <a:rPr sz="1300" spc="1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77428" y="1597405"/>
            <a:ext cx="641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0205" algn="l"/>
              </a:tabLst>
            </a:pPr>
            <a:r>
              <a:rPr sz="3600" spc="-7" baseline="-6944" dirty="0">
                <a:solidFill>
                  <a:srgbClr val="FF0000"/>
                </a:solidFill>
                <a:latin typeface="Tahoma"/>
                <a:cs typeface="Tahoma"/>
              </a:rPr>
              <a:t>B	</a:t>
            </a:r>
            <a:r>
              <a:rPr sz="2000" spc="5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r>
              <a:rPr sz="1300" spc="5" dirty="0">
                <a:solidFill>
                  <a:srgbClr val="FF0000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19728" y="1696211"/>
            <a:ext cx="1600200" cy="835660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330"/>
              </a:spcBef>
            </a:pPr>
            <a:r>
              <a:rPr sz="1950" i="1" dirty="0">
                <a:latin typeface="Times New Roman"/>
                <a:cs typeface="Times New Roman"/>
              </a:rPr>
              <a:t>B</a:t>
            </a:r>
            <a:r>
              <a:rPr sz="1950" i="1" spc="-1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i="1" spc="-15" dirty="0">
                <a:latin typeface="Times New Roman"/>
                <a:cs typeface="Times New Roman"/>
              </a:rPr>
              <a:t>A</a:t>
            </a:r>
            <a:r>
              <a:rPr sz="1950" spc="-7" baseline="36324" dirty="0">
                <a:latin typeface="Times New Roman"/>
                <a:cs typeface="Times New Roman"/>
              </a:rPr>
              <a:t>'</a:t>
            </a:r>
            <a:r>
              <a:rPr sz="1950" baseline="36324" dirty="0">
                <a:latin typeface="Times New Roman"/>
                <a:cs typeface="Times New Roman"/>
              </a:rPr>
              <a:t> </a:t>
            </a:r>
            <a:r>
              <a:rPr sz="1950" spc="-67" baseline="3632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-35" dirty="0">
                <a:latin typeface="Times New Roman"/>
                <a:cs typeface="Times New Roman"/>
              </a:rPr>
              <a:t> </a:t>
            </a:r>
            <a:r>
              <a:rPr sz="1950" i="1" spc="-65" dirty="0">
                <a:latin typeface="Times New Roman"/>
                <a:cs typeface="Times New Roman"/>
              </a:rPr>
              <a:t>d</a:t>
            </a:r>
            <a:r>
              <a:rPr sz="1950" spc="75" baseline="-21367" dirty="0">
                <a:latin typeface="Times New Roman"/>
                <a:cs typeface="Times New Roman"/>
              </a:rPr>
              <a:t>1</a:t>
            </a:r>
            <a:r>
              <a:rPr sz="1950" i="1" spc="195" dirty="0">
                <a:latin typeface="Times New Roman"/>
                <a:cs typeface="Times New Roman"/>
              </a:rPr>
              <a:t>K</a:t>
            </a:r>
            <a:r>
              <a:rPr sz="1950" i="1" spc="-7" baseline="-21367" dirty="0">
                <a:latin typeface="Times New Roman"/>
                <a:cs typeface="Times New Roman"/>
              </a:rPr>
              <a:t>A</a:t>
            </a:r>
            <a:r>
              <a:rPr sz="1950" i="1" baseline="-21367" dirty="0">
                <a:latin typeface="Times New Roman"/>
                <a:cs typeface="Times New Roman"/>
              </a:rPr>
              <a:t>B</a:t>
            </a:r>
            <a:endParaRPr sz="1950" baseline="-21367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  <a:spcBef>
                <a:spcPts val="1015"/>
              </a:spcBef>
            </a:pPr>
            <a:r>
              <a:rPr sz="1950" i="1" spc="150" dirty="0">
                <a:latin typeface="Times New Roman"/>
                <a:cs typeface="Times New Roman"/>
              </a:rPr>
              <a:t>C</a:t>
            </a:r>
            <a:r>
              <a:rPr sz="1950" spc="-7" baseline="36324" dirty="0">
                <a:latin typeface="Times New Roman"/>
                <a:cs typeface="Times New Roman"/>
              </a:rPr>
              <a:t>'</a:t>
            </a:r>
            <a:r>
              <a:rPr sz="1950" baseline="36324" dirty="0">
                <a:latin typeface="Times New Roman"/>
                <a:cs typeface="Times New Roman"/>
              </a:rPr>
              <a:t> </a:t>
            </a:r>
            <a:r>
              <a:rPr sz="1950" spc="-247" baseline="3632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-9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B</a:t>
            </a:r>
            <a:r>
              <a:rPr sz="1950" i="1" spc="-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-35" dirty="0">
                <a:latin typeface="Times New Roman"/>
                <a:cs typeface="Times New Roman"/>
              </a:rPr>
              <a:t> </a:t>
            </a:r>
            <a:r>
              <a:rPr sz="1950" i="1" spc="80" dirty="0">
                <a:latin typeface="Times New Roman"/>
                <a:cs typeface="Times New Roman"/>
              </a:rPr>
              <a:t>d</a:t>
            </a:r>
            <a:r>
              <a:rPr sz="1950" baseline="-21367" dirty="0">
                <a:latin typeface="Times New Roman"/>
                <a:cs typeface="Times New Roman"/>
              </a:rPr>
              <a:t>2</a:t>
            </a:r>
            <a:r>
              <a:rPr sz="1950" spc="-262" baseline="-21367" dirty="0">
                <a:latin typeface="Times New Roman"/>
                <a:cs typeface="Times New Roman"/>
              </a:rPr>
              <a:t> </a:t>
            </a:r>
            <a:r>
              <a:rPr sz="1950" i="1" spc="135" dirty="0">
                <a:latin typeface="Times New Roman"/>
                <a:cs typeface="Times New Roman"/>
              </a:rPr>
              <a:t>K</a:t>
            </a:r>
            <a:r>
              <a:rPr sz="1950" i="1" spc="-7" baseline="-21367" dirty="0">
                <a:latin typeface="Times New Roman"/>
                <a:cs typeface="Times New Roman"/>
              </a:rPr>
              <a:t>B</a:t>
            </a:r>
            <a:r>
              <a:rPr sz="1950" i="1" baseline="-21367" dirty="0">
                <a:latin typeface="Times New Roman"/>
                <a:cs typeface="Times New Roman"/>
              </a:rPr>
              <a:t>C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30240" y="1982470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58C"/>
                </a:solidFill>
                <a:latin typeface="SimSun"/>
                <a:cs typeface="SimSun"/>
              </a:rPr>
              <a:t>①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08476" y="2708148"/>
            <a:ext cx="4815840" cy="437515"/>
          </a:xfrm>
          <a:prstGeom prst="rect">
            <a:avLst/>
          </a:prstGeom>
          <a:ln w="9144">
            <a:solidFill>
              <a:srgbClr val="40458C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395"/>
              </a:spcBef>
            </a:pPr>
            <a:r>
              <a:rPr sz="2000" i="1" spc="65" dirty="0">
                <a:latin typeface="Times New Roman"/>
                <a:cs typeface="Times New Roman"/>
              </a:rPr>
              <a:t>p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i="1" spc="135" dirty="0">
                <a:latin typeface="Times New Roman"/>
                <a:cs typeface="Times New Roman"/>
              </a:rPr>
              <a:t>t</a:t>
            </a:r>
            <a:r>
              <a:rPr sz="2000" spc="5" dirty="0">
                <a:latin typeface="Times New Roman"/>
                <a:cs typeface="Times New Roman"/>
              </a:rPr>
              <a:t>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Symbol"/>
                <a:cs typeface="Symbol"/>
              </a:rPr>
              <a:t>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25" spc="-7" baseline="37037" dirty="0">
                <a:latin typeface="Times New Roman"/>
                <a:cs typeface="Times New Roman"/>
              </a:rPr>
              <a:t>'</a:t>
            </a:r>
            <a:r>
              <a:rPr sz="2025" spc="247" baseline="37037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Symbol"/>
                <a:cs typeface="Symbol"/>
              </a:rPr>
              <a:t>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i="1" spc="-165" dirty="0">
                <a:latin typeface="Times New Roman"/>
                <a:cs typeface="Times New Roman"/>
              </a:rPr>
              <a:t>v</a:t>
            </a:r>
            <a:r>
              <a:rPr sz="2025" spc="67" baseline="-22633" dirty="0">
                <a:latin typeface="Times New Roman"/>
                <a:cs typeface="Times New Roman"/>
              </a:rPr>
              <a:t>1</a:t>
            </a:r>
            <a:r>
              <a:rPr sz="2000" i="1" spc="10" dirty="0">
                <a:latin typeface="Times New Roman"/>
                <a:cs typeface="Times New Roman"/>
              </a:rPr>
              <a:t>K</a:t>
            </a:r>
            <a:r>
              <a:rPr sz="2000" i="1" spc="-300" dirty="0">
                <a:latin typeface="Times New Roman"/>
                <a:cs typeface="Times New Roman"/>
              </a:rPr>
              <a:t> </a:t>
            </a:r>
            <a:r>
              <a:rPr sz="2025" i="1" spc="-15" baseline="-22633" dirty="0">
                <a:latin typeface="Times New Roman"/>
                <a:cs typeface="Times New Roman"/>
              </a:rPr>
              <a:t>A</a:t>
            </a:r>
            <a:r>
              <a:rPr sz="2025" i="1" spc="97" baseline="-22633" dirty="0">
                <a:latin typeface="Times New Roman"/>
                <a:cs typeface="Times New Roman"/>
              </a:rPr>
              <a:t>B</a:t>
            </a:r>
            <a:r>
              <a:rPr sz="2000" i="1" spc="5" dirty="0">
                <a:latin typeface="Times New Roman"/>
                <a:cs typeface="Times New Roman"/>
              </a:rPr>
              <a:t>t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Symbol"/>
                <a:cs typeface="Symbol"/>
              </a:rPr>
              <a:t>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i="1" spc="5" dirty="0">
                <a:latin typeface="Times New Roman"/>
                <a:cs typeface="Times New Roman"/>
              </a:rPr>
              <a:t>t</a:t>
            </a:r>
            <a:r>
              <a:rPr sz="2000" i="1" spc="-325" dirty="0">
                <a:latin typeface="Times New Roman"/>
                <a:cs typeface="Times New Roman"/>
              </a:rPr>
              <a:t> </a:t>
            </a:r>
            <a:r>
              <a:rPr sz="2025" spc="-7" baseline="37037" dirty="0">
                <a:latin typeface="Times New Roman"/>
                <a:cs typeface="Times New Roman"/>
              </a:rPr>
              <a:t>2</a:t>
            </a:r>
            <a:r>
              <a:rPr sz="2025" spc="247" baseline="37037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/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Symbol"/>
                <a:cs typeface="Symbol"/>
              </a:rPr>
              <a:t></a:t>
            </a:r>
            <a:r>
              <a:rPr sz="2000" i="1" spc="10" dirty="0">
                <a:latin typeface="Times New Roman"/>
                <a:cs typeface="Times New Roman"/>
              </a:rPr>
              <a:t>T</a:t>
            </a:r>
            <a:r>
              <a:rPr sz="2000" i="1" spc="-2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r>
              <a:rPr sz="2000" spc="25" dirty="0">
                <a:latin typeface="Times New Roman"/>
                <a:cs typeface="Times New Roman"/>
              </a:rPr>
              <a:t>(</a:t>
            </a:r>
            <a:r>
              <a:rPr sz="2000" i="1" spc="-20" dirty="0">
                <a:latin typeface="Times New Roman"/>
                <a:cs typeface="Times New Roman"/>
              </a:rPr>
              <a:t>v</a:t>
            </a:r>
            <a:r>
              <a:rPr sz="2025" spc="-7" baseline="-22633" dirty="0">
                <a:latin typeface="Times New Roman"/>
                <a:cs typeface="Times New Roman"/>
              </a:rPr>
              <a:t>2</a:t>
            </a:r>
            <a:r>
              <a:rPr sz="2025" spc="-277" baseline="-22633" dirty="0">
                <a:latin typeface="Times New Roman"/>
                <a:cs typeface="Times New Roman"/>
              </a:rPr>
              <a:t> </a:t>
            </a:r>
            <a:r>
              <a:rPr sz="2000" i="1" spc="150" dirty="0">
                <a:latin typeface="Times New Roman"/>
                <a:cs typeface="Times New Roman"/>
              </a:rPr>
              <a:t>K</a:t>
            </a:r>
            <a:r>
              <a:rPr sz="2025" i="1" spc="-15" baseline="-22633" dirty="0">
                <a:latin typeface="Times New Roman"/>
                <a:cs typeface="Times New Roman"/>
              </a:rPr>
              <a:t>B</a:t>
            </a:r>
            <a:r>
              <a:rPr sz="2025" i="1" spc="-7" baseline="-22633" dirty="0">
                <a:latin typeface="Times New Roman"/>
                <a:cs typeface="Times New Roman"/>
              </a:rPr>
              <a:t>C</a:t>
            </a:r>
            <a:r>
              <a:rPr sz="2025" i="1" baseline="-22633" dirty="0">
                <a:latin typeface="Times New Roman"/>
                <a:cs typeface="Times New Roman"/>
              </a:rPr>
              <a:t> </a:t>
            </a:r>
            <a:r>
              <a:rPr sz="2025" i="1" spc="-75" baseline="-22633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Symbol"/>
                <a:cs typeface="Symbol"/>
              </a:rPr>
              <a:t>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i="1" spc="-165" dirty="0">
                <a:latin typeface="Times New Roman"/>
                <a:cs typeface="Times New Roman"/>
              </a:rPr>
              <a:t>v</a:t>
            </a:r>
            <a:r>
              <a:rPr sz="2025" spc="67" baseline="-22633" dirty="0">
                <a:latin typeface="Times New Roman"/>
                <a:cs typeface="Times New Roman"/>
              </a:rPr>
              <a:t>1</a:t>
            </a:r>
            <a:r>
              <a:rPr sz="2000" i="1" spc="10" dirty="0">
                <a:latin typeface="Times New Roman"/>
                <a:cs typeface="Times New Roman"/>
              </a:rPr>
              <a:t>K</a:t>
            </a:r>
            <a:r>
              <a:rPr sz="2000" i="1" spc="-300" dirty="0">
                <a:latin typeface="Times New Roman"/>
                <a:cs typeface="Times New Roman"/>
              </a:rPr>
              <a:t> </a:t>
            </a:r>
            <a:r>
              <a:rPr sz="2025" i="1" spc="-15" baseline="-22633" dirty="0">
                <a:latin typeface="Times New Roman"/>
                <a:cs typeface="Times New Roman"/>
              </a:rPr>
              <a:t>A</a:t>
            </a:r>
            <a:r>
              <a:rPr sz="2025" i="1" spc="-7" baseline="-22633" dirty="0">
                <a:latin typeface="Times New Roman"/>
                <a:cs typeface="Times New Roman"/>
              </a:rPr>
              <a:t>B</a:t>
            </a:r>
            <a:r>
              <a:rPr sz="2025" i="1" spc="-120" baseline="-22633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67897" y="3408267"/>
            <a:ext cx="4290695" cy="74041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85"/>
              </a:spcBef>
            </a:pPr>
            <a:r>
              <a:rPr sz="1600" i="1" spc="65" dirty="0">
                <a:latin typeface="Times New Roman"/>
                <a:cs typeface="Times New Roman"/>
              </a:rPr>
              <a:t>p</a:t>
            </a:r>
            <a:r>
              <a:rPr sz="1600" spc="50" dirty="0">
                <a:latin typeface="Times New Roman"/>
                <a:cs typeface="Times New Roman"/>
              </a:rPr>
              <a:t>(</a:t>
            </a:r>
            <a:r>
              <a:rPr sz="1600" spc="10" dirty="0">
                <a:latin typeface="Symbol"/>
                <a:cs typeface="Symbol"/>
              </a:rPr>
              <a:t></a:t>
            </a:r>
            <a:r>
              <a:rPr sz="1600" i="1" spc="15" dirty="0">
                <a:latin typeface="Times New Roman"/>
                <a:cs typeface="Times New Roman"/>
              </a:rPr>
              <a:t>T</a:t>
            </a:r>
            <a:r>
              <a:rPr sz="1600" i="1" spc="-19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)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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</a:t>
            </a:r>
            <a:r>
              <a:rPr sz="1575" spc="7" baseline="39682" dirty="0">
                <a:latin typeface="Times New Roman"/>
                <a:cs typeface="Times New Roman"/>
              </a:rPr>
              <a:t>'</a:t>
            </a:r>
            <a:r>
              <a:rPr sz="1575" baseline="39682" dirty="0">
                <a:latin typeface="Times New Roman"/>
                <a:cs typeface="Times New Roman"/>
              </a:rPr>
              <a:t> </a:t>
            </a:r>
            <a:r>
              <a:rPr sz="1575" spc="-179" baseline="39682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</a:t>
            </a:r>
            <a:r>
              <a:rPr sz="1600" spc="-12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(</a:t>
            </a:r>
            <a:r>
              <a:rPr sz="1600" spc="10" dirty="0">
                <a:latin typeface="Symbol"/>
                <a:cs typeface="Symbol"/>
              </a:rPr>
              <a:t></a:t>
            </a:r>
            <a:r>
              <a:rPr sz="1600" i="1" spc="15" dirty="0">
                <a:latin typeface="Times New Roman"/>
                <a:cs typeface="Times New Roman"/>
              </a:rPr>
              <a:t>T</a:t>
            </a:r>
            <a:r>
              <a:rPr sz="1600" i="1" spc="4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/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25" dirty="0">
                <a:latin typeface="Times New Roman"/>
                <a:cs typeface="Times New Roman"/>
              </a:rPr>
              <a:t>(</a:t>
            </a:r>
            <a:r>
              <a:rPr sz="1600" i="1" spc="-130" dirty="0">
                <a:latin typeface="Times New Roman"/>
                <a:cs typeface="Times New Roman"/>
              </a:rPr>
              <a:t>v</a:t>
            </a:r>
            <a:r>
              <a:rPr sz="1575" spc="82" baseline="-21164" dirty="0">
                <a:latin typeface="Times New Roman"/>
                <a:cs typeface="Times New Roman"/>
              </a:rPr>
              <a:t>1</a:t>
            </a:r>
            <a:r>
              <a:rPr sz="1600" i="1" spc="15" dirty="0">
                <a:latin typeface="Times New Roman"/>
                <a:cs typeface="Times New Roman"/>
              </a:rPr>
              <a:t>K</a:t>
            </a:r>
            <a:r>
              <a:rPr sz="1600" i="1" spc="-240" dirty="0">
                <a:latin typeface="Times New Roman"/>
                <a:cs typeface="Times New Roman"/>
              </a:rPr>
              <a:t> </a:t>
            </a:r>
            <a:r>
              <a:rPr sz="1575" i="1" spc="22" baseline="-21164" dirty="0">
                <a:latin typeface="Times New Roman"/>
                <a:cs typeface="Times New Roman"/>
              </a:rPr>
              <a:t>A</a:t>
            </a:r>
            <a:r>
              <a:rPr sz="1575" i="1" spc="30" baseline="-21164" dirty="0">
                <a:latin typeface="Times New Roman"/>
                <a:cs typeface="Times New Roman"/>
              </a:rPr>
              <a:t>B</a:t>
            </a:r>
            <a:r>
              <a:rPr sz="1575" i="1" baseline="-21164" dirty="0">
                <a:latin typeface="Times New Roman"/>
                <a:cs typeface="Times New Roman"/>
              </a:rPr>
              <a:t> </a:t>
            </a:r>
            <a:r>
              <a:rPr sz="1575" i="1" spc="-89" baseline="-2116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</a:t>
            </a:r>
            <a:r>
              <a:rPr sz="1600" spc="-12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v</a:t>
            </a:r>
            <a:r>
              <a:rPr sz="1575" spc="22" baseline="-21164" dirty="0">
                <a:latin typeface="Times New Roman"/>
                <a:cs typeface="Times New Roman"/>
              </a:rPr>
              <a:t>2</a:t>
            </a:r>
            <a:r>
              <a:rPr sz="1575" spc="-202" baseline="-21164" dirty="0">
                <a:latin typeface="Times New Roman"/>
                <a:cs typeface="Times New Roman"/>
              </a:rPr>
              <a:t> </a:t>
            </a:r>
            <a:r>
              <a:rPr sz="1600" i="1" spc="125" dirty="0">
                <a:latin typeface="Times New Roman"/>
                <a:cs typeface="Times New Roman"/>
              </a:rPr>
              <a:t>K</a:t>
            </a:r>
            <a:r>
              <a:rPr sz="1575" i="1" spc="22" baseline="-21164" dirty="0">
                <a:latin typeface="Times New Roman"/>
                <a:cs typeface="Times New Roman"/>
              </a:rPr>
              <a:t>B</a:t>
            </a:r>
            <a:r>
              <a:rPr sz="1575" i="1" spc="30" baseline="-21164" dirty="0">
                <a:latin typeface="Times New Roman"/>
                <a:cs typeface="Times New Roman"/>
              </a:rPr>
              <a:t>C</a:t>
            </a:r>
            <a:r>
              <a:rPr sz="1575" i="1" spc="-22" baseline="-21164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)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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140" dirty="0">
                <a:latin typeface="Times New Roman"/>
                <a:cs typeface="Times New Roman"/>
              </a:rPr>
              <a:t>C</a:t>
            </a:r>
            <a:r>
              <a:rPr sz="1575" spc="7" baseline="39682" dirty="0">
                <a:latin typeface="Times New Roman"/>
                <a:cs typeface="Times New Roman"/>
              </a:rPr>
              <a:t>'</a:t>
            </a:r>
            <a:endParaRPr sz="1575" baseline="39682">
              <a:latin typeface="Times New Roman"/>
              <a:cs typeface="Times New Roman"/>
            </a:endParaRPr>
          </a:p>
          <a:p>
            <a:pPr marL="716915">
              <a:lnSpc>
                <a:spcPct val="100000"/>
              </a:lnSpc>
              <a:spcBef>
                <a:spcPts val="894"/>
              </a:spcBef>
            </a:pPr>
            <a:r>
              <a:rPr sz="1600" spc="15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15" dirty="0">
                <a:latin typeface="Times New Roman"/>
                <a:cs typeface="Times New Roman"/>
              </a:rPr>
              <a:t>B</a:t>
            </a:r>
            <a:r>
              <a:rPr sz="1600" i="1" spc="-10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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</a:t>
            </a:r>
            <a:r>
              <a:rPr sz="1575" spc="7" baseline="39682" dirty="0">
                <a:latin typeface="Times New Roman"/>
                <a:cs typeface="Times New Roman"/>
              </a:rPr>
              <a:t>'</a:t>
            </a:r>
            <a:r>
              <a:rPr sz="1575" spc="-127" baseline="39682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+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</a:t>
            </a:r>
            <a:r>
              <a:rPr sz="1600" spc="10" dirty="0">
                <a:latin typeface="Symbol"/>
                <a:cs typeface="Symbol"/>
              </a:rPr>
              <a:t></a:t>
            </a:r>
            <a:r>
              <a:rPr sz="1600" i="1" spc="15" dirty="0">
                <a:latin typeface="Times New Roman"/>
                <a:cs typeface="Times New Roman"/>
              </a:rPr>
              <a:t>T</a:t>
            </a:r>
            <a:r>
              <a:rPr sz="1600" i="1" spc="4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/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25" dirty="0">
                <a:latin typeface="Times New Roman"/>
                <a:cs typeface="Times New Roman"/>
              </a:rPr>
              <a:t>(</a:t>
            </a:r>
            <a:r>
              <a:rPr sz="1600" i="1" spc="-130" dirty="0">
                <a:latin typeface="Times New Roman"/>
                <a:cs typeface="Times New Roman"/>
              </a:rPr>
              <a:t>v</a:t>
            </a:r>
            <a:r>
              <a:rPr sz="1575" spc="82" baseline="-21164" dirty="0">
                <a:latin typeface="Times New Roman"/>
                <a:cs typeface="Times New Roman"/>
              </a:rPr>
              <a:t>1</a:t>
            </a:r>
            <a:r>
              <a:rPr sz="1600" i="1" spc="15" dirty="0">
                <a:latin typeface="Times New Roman"/>
                <a:cs typeface="Times New Roman"/>
              </a:rPr>
              <a:t>K</a:t>
            </a:r>
            <a:r>
              <a:rPr sz="1600" i="1" spc="-240" dirty="0">
                <a:latin typeface="Times New Roman"/>
                <a:cs typeface="Times New Roman"/>
              </a:rPr>
              <a:t> </a:t>
            </a:r>
            <a:r>
              <a:rPr sz="1575" i="1" spc="22" baseline="-21164" dirty="0">
                <a:latin typeface="Times New Roman"/>
                <a:cs typeface="Times New Roman"/>
              </a:rPr>
              <a:t>A</a:t>
            </a:r>
            <a:r>
              <a:rPr sz="1575" i="1" spc="30" baseline="-21164" dirty="0">
                <a:latin typeface="Times New Roman"/>
                <a:cs typeface="Times New Roman"/>
              </a:rPr>
              <a:t>B</a:t>
            </a:r>
            <a:r>
              <a:rPr sz="1575" i="1" baseline="-21164" dirty="0">
                <a:latin typeface="Times New Roman"/>
                <a:cs typeface="Times New Roman"/>
              </a:rPr>
              <a:t> </a:t>
            </a:r>
            <a:r>
              <a:rPr sz="1575" i="1" spc="-89" baseline="-2116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</a:t>
            </a:r>
            <a:r>
              <a:rPr sz="1600" spc="-12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v</a:t>
            </a:r>
            <a:r>
              <a:rPr sz="1575" spc="22" baseline="-21164" dirty="0">
                <a:latin typeface="Times New Roman"/>
                <a:cs typeface="Times New Roman"/>
              </a:rPr>
              <a:t>2</a:t>
            </a:r>
            <a:r>
              <a:rPr sz="1575" spc="-202" baseline="-21164" dirty="0">
                <a:latin typeface="Times New Roman"/>
                <a:cs typeface="Times New Roman"/>
              </a:rPr>
              <a:t> </a:t>
            </a:r>
            <a:r>
              <a:rPr sz="1600" i="1" spc="125" dirty="0">
                <a:latin typeface="Times New Roman"/>
                <a:cs typeface="Times New Roman"/>
              </a:rPr>
              <a:t>K</a:t>
            </a:r>
            <a:r>
              <a:rPr sz="1575" i="1" spc="22" baseline="-21164" dirty="0">
                <a:latin typeface="Times New Roman"/>
                <a:cs typeface="Times New Roman"/>
              </a:rPr>
              <a:t>B</a:t>
            </a:r>
            <a:r>
              <a:rPr sz="1575" i="1" spc="30" baseline="-21164" dirty="0">
                <a:latin typeface="Times New Roman"/>
                <a:cs typeface="Times New Roman"/>
              </a:rPr>
              <a:t>C</a:t>
            </a:r>
            <a:r>
              <a:rPr sz="1575" i="1" spc="-15" baseline="-21164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)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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140" dirty="0">
                <a:latin typeface="Times New Roman"/>
                <a:cs typeface="Times New Roman"/>
              </a:rPr>
              <a:t>C</a:t>
            </a:r>
            <a:r>
              <a:rPr sz="1575" spc="7" baseline="39682" dirty="0">
                <a:latin typeface="Times New Roman"/>
                <a:cs typeface="Times New Roman"/>
              </a:rPr>
              <a:t>'</a:t>
            </a:r>
            <a:r>
              <a:rPr sz="1575" baseline="39682" dirty="0">
                <a:latin typeface="Times New Roman"/>
                <a:cs typeface="Times New Roman"/>
              </a:rPr>
              <a:t> </a:t>
            </a:r>
            <a:r>
              <a:rPr sz="1575" spc="-179" baseline="39682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15" dirty="0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69825" y="4192744"/>
            <a:ext cx="3531870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600" i="1" spc="-40" dirty="0">
                <a:latin typeface="Times New Roman"/>
                <a:cs typeface="Times New Roman"/>
              </a:rPr>
              <a:t>d</a:t>
            </a:r>
            <a:r>
              <a:rPr sz="1575" spc="82" baseline="-21164" dirty="0">
                <a:latin typeface="Times New Roman"/>
                <a:cs typeface="Times New Roman"/>
              </a:rPr>
              <a:t>1</a:t>
            </a:r>
            <a:r>
              <a:rPr sz="1600" i="1" spc="175" dirty="0">
                <a:latin typeface="Times New Roman"/>
                <a:cs typeface="Times New Roman"/>
              </a:rPr>
              <a:t>K</a:t>
            </a:r>
            <a:r>
              <a:rPr sz="1575" i="1" spc="22" baseline="-21164" dirty="0">
                <a:latin typeface="Times New Roman"/>
                <a:cs typeface="Times New Roman"/>
              </a:rPr>
              <a:t>A</a:t>
            </a:r>
            <a:r>
              <a:rPr sz="1575" i="1" spc="30" baseline="-21164" dirty="0">
                <a:latin typeface="Times New Roman"/>
                <a:cs typeface="Times New Roman"/>
              </a:rPr>
              <a:t>B</a:t>
            </a:r>
            <a:r>
              <a:rPr sz="1575" i="1" baseline="-21164" dirty="0">
                <a:latin typeface="Times New Roman"/>
                <a:cs typeface="Times New Roman"/>
              </a:rPr>
              <a:t> </a:t>
            </a:r>
            <a:r>
              <a:rPr sz="1575" i="1" spc="-89" baseline="-2116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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i="1" spc="80" dirty="0">
                <a:latin typeface="Times New Roman"/>
                <a:cs typeface="Times New Roman"/>
              </a:rPr>
              <a:t>d</a:t>
            </a:r>
            <a:r>
              <a:rPr sz="1575" spc="22" baseline="-21164" dirty="0">
                <a:latin typeface="Times New Roman"/>
                <a:cs typeface="Times New Roman"/>
              </a:rPr>
              <a:t>2</a:t>
            </a:r>
            <a:r>
              <a:rPr sz="1575" spc="-202" baseline="-21164" dirty="0">
                <a:latin typeface="Times New Roman"/>
                <a:cs typeface="Times New Roman"/>
              </a:rPr>
              <a:t> </a:t>
            </a:r>
            <a:r>
              <a:rPr sz="1600" i="1" spc="125" dirty="0">
                <a:latin typeface="Times New Roman"/>
                <a:cs typeface="Times New Roman"/>
              </a:rPr>
              <a:t>K</a:t>
            </a:r>
            <a:r>
              <a:rPr sz="1575" i="1" spc="22" baseline="-21164" dirty="0">
                <a:latin typeface="Times New Roman"/>
                <a:cs typeface="Times New Roman"/>
              </a:rPr>
              <a:t>B</a:t>
            </a:r>
            <a:r>
              <a:rPr sz="1575" i="1" spc="30" baseline="-21164" dirty="0">
                <a:latin typeface="Times New Roman"/>
                <a:cs typeface="Times New Roman"/>
              </a:rPr>
              <a:t>C</a:t>
            </a:r>
            <a:r>
              <a:rPr sz="1575" i="1" baseline="-21164" dirty="0">
                <a:latin typeface="Times New Roman"/>
                <a:cs typeface="Times New Roman"/>
              </a:rPr>
              <a:t> </a:t>
            </a:r>
            <a:r>
              <a:rPr sz="1575" i="1" spc="120" baseline="-2116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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(</a:t>
            </a:r>
            <a:r>
              <a:rPr sz="1600" spc="10" dirty="0">
                <a:latin typeface="Symbol"/>
                <a:cs typeface="Symbol"/>
              </a:rPr>
              <a:t></a:t>
            </a:r>
            <a:r>
              <a:rPr sz="1600" i="1" spc="15" dirty="0">
                <a:latin typeface="Times New Roman"/>
                <a:cs typeface="Times New Roman"/>
              </a:rPr>
              <a:t>T</a:t>
            </a:r>
            <a:r>
              <a:rPr sz="1600" i="1" spc="4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/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2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25" dirty="0">
                <a:latin typeface="Times New Roman"/>
                <a:cs typeface="Times New Roman"/>
              </a:rPr>
              <a:t>(</a:t>
            </a:r>
            <a:r>
              <a:rPr sz="1600" i="1" spc="-130" dirty="0">
                <a:latin typeface="Times New Roman"/>
                <a:cs typeface="Times New Roman"/>
              </a:rPr>
              <a:t>v</a:t>
            </a:r>
            <a:r>
              <a:rPr sz="1575" spc="82" baseline="-21164" dirty="0">
                <a:latin typeface="Times New Roman"/>
                <a:cs typeface="Times New Roman"/>
              </a:rPr>
              <a:t>1</a:t>
            </a:r>
            <a:r>
              <a:rPr sz="1600" i="1" spc="15" dirty="0">
                <a:latin typeface="Times New Roman"/>
                <a:cs typeface="Times New Roman"/>
              </a:rPr>
              <a:t>K</a:t>
            </a:r>
            <a:r>
              <a:rPr sz="1600" i="1" spc="-240" dirty="0">
                <a:latin typeface="Times New Roman"/>
                <a:cs typeface="Times New Roman"/>
              </a:rPr>
              <a:t> </a:t>
            </a:r>
            <a:r>
              <a:rPr sz="1575" i="1" spc="22" baseline="-21164" dirty="0">
                <a:latin typeface="Times New Roman"/>
                <a:cs typeface="Times New Roman"/>
              </a:rPr>
              <a:t>A</a:t>
            </a:r>
            <a:r>
              <a:rPr sz="1575" i="1" spc="30" baseline="-21164" dirty="0">
                <a:latin typeface="Times New Roman"/>
                <a:cs typeface="Times New Roman"/>
              </a:rPr>
              <a:t>B</a:t>
            </a:r>
            <a:r>
              <a:rPr sz="1575" i="1" baseline="-21164" dirty="0">
                <a:latin typeface="Times New Roman"/>
                <a:cs typeface="Times New Roman"/>
              </a:rPr>
              <a:t> </a:t>
            </a:r>
            <a:r>
              <a:rPr sz="1575" i="1" spc="-97" baseline="-21164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Symbol"/>
                <a:cs typeface="Symbol"/>
              </a:rPr>
              <a:t></a:t>
            </a:r>
            <a:r>
              <a:rPr sz="1600" spc="-125" dirty="0">
                <a:latin typeface="Times New Roman"/>
                <a:cs typeface="Times New Roman"/>
              </a:rPr>
              <a:t> </a:t>
            </a:r>
            <a:r>
              <a:rPr sz="1600" i="1" spc="-15" dirty="0">
                <a:latin typeface="Times New Roman"/>
                <a:cs typeface="Times New Roman"/>
              </a:rPr>
              <a:t>v</a:t>
            </a:r>
            <a:r>
              <a:rPr sz="1575" spc="22" baseline="-21164" dirty="0">
                <a:latin typeface="Times New Roman"/>
                <a:cs typeface="Times New Roman"/>
              </a:rPr>
              <a:t>2</a:t>
            </a:r>
            <a:r>
              <a:rPr sz="1575" spc="-202" baseline="-21164" dirty="0">
                <a:latin typeface="Times New Roman"/>
                <a:cs typeface="Times New Roman"/>
              </a:rPr>
              <a:t> </a:t>
            </a:r>
            <a:r>
              <a:rPr sz="1600" i="1" spc="125" dirty="0">
                <a:latin typeface="Times New Roman"/>
                <a:cs typeface="Times New Roman"/>
              </a:rPr>
              <a:t>K</a:t>
            </a:r>
            <a:r>
              <a:rPr sz="1575" i="1" spc="22" baseline="-21164" dirty="0">
                <a:latin typeface="Times New Roman"/>
                <a:cs typeface="Times New Roman"/>
              </a:rPr>
              <a:t>B</a:t>
            </a:r>
            <a:r>
              <a:rPr sz="1575" i="1" spc="30" baseline="-21164" dirty="0">
                <a:latin typeface="Times New Roman"/>
                <a:cs typeface="Times New Roman"/>
              </a:rPr>
              <a:t>C</a:t>
            </a:r>
            <a:r>
              <a:rPr sz="1575" i="1" spc="-22" baseline="-21164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827020" y="3489959"/>
            <a:ext cx="4348480" cy="1603375"/>
            <a:chOff x="2827020" y="3489959"/>
            <a:chExt cx="4348480" cy="1603375"/>
          </a:xfrm>
        </p:grpSpPr>
        <p:sp>
          <p:nvSpPr>
            <p:cNvPr id="40" name="object 40"/>
            <p:cNvSpPr/>
            <p:nvPr/>
          </p:nvSpPr>
          <p:spPr>
            <a:xfrm>
              <a:off x="2831592" y="3494531"/>
              <a:ext cx="4338955" cy="1594485"/>
            </a:xfrm>
            <a:custGeom>
              <a:avLst/>
              <a:gdLst/>
              <a:ahLst/>
              <a:cxnLst/>
              <a:rect l="l" t="t" r="r" b="b"/>
              <a:pathLst>
                <a:path w="4338955" h="1594485">
                  <a:moveTo>
                    <a:pt x="0" y="0"/>
                  </a:moveTo>
                  <a:lnTo>
                    <a:pt x="4338828" y="0"/>
                  </a:lnTo>
                  <a:lnTo>
                    <a:pt x="4338828" y="1594103"/>
                  </a:lnTo>
                  <a:lnTo>
                    <a:pt x="0" y="1594103"/>
                  </a:lnTo>
                  <a:lnTo>
                    <a:pt x="0" y="0"/>
                  </a:lnTo>
                  <a:close/>
                </a:path>
              </a:pathLst>
            </a:custGeom>
            <a:ln w="9143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45892" y="3948683"/>
              <a:ext cx="550545" cy="147955"/>
            </a:xfrm>
            <a:custGeom>
              <a:avLst/>
              <a:gdLst/>
              <a:ahLst/>
              <a:cxnLst/>
              <a:rect l="l" t="t" r="r" b="b"/>
              <a:pathLst>
                <a:path w="550545" h="147954">
                  <a:moveTo>
                    <a:pt x="476250" y="0"/>
                  </a:moveTo>
                  <a:lnTo>
                    <a:pt x="476250" y="36956"/>
                  </a:lnTo>
                  <a:lnTo>
                    <a:pt x="0" y="36956"/>
                  </a:lnTo>
                  <a:lnTo>
                    <a:pt x="0" y="110870"/>
                  </a:lnTo>
                  <a:lnTo>
                    <a:pt x="476250" y="110870"/>
                  </a:lnTo>
                  <a:lnTo>
                    <a:pt x="476250" y="147827"/>
                  </a:lnTo>
                  <a:lnTo>
                    <a:pt x="550164" y="73913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45892" y="3948683"/>
              <a:ext cx="550545" cy="147955"/>
            </a:xfrm>
            <a:custGeom>
              <a:avLst/>
              <a:gdLst/>
              <a:ahLst/>
              <a:cxnLst/>
              <a:rect l="l" t="t" r="r" b="b"/>
              <a:pathLst>
                <a:path w="550545" h="147954">
                  <a:moveTo>
                    <a:pt x="0" y="36956"/>
                  </a:moveTo>
                  <a:lnTo>
                    <a:pt x="476250" y="36956"/>
                  </a:lnTo>
                  <a:lnTo>
                    <a:pt x="476250" y="0"/>
                  </a:lnTo>
                  <a:lnTo>
                    <a:pt x="550164" y="73913"/>
                  </a:lnTo>
                  <a:lnTo>
                    <a:pt x="476250" y="147827"/>
                  </a:lnTo>
                  <a:lnTo>
                    <a:pt x="476250" y="110870"/>
                  </a:lnTo>
                  <a:lnTo>
                    <a:pt x="0" y="110870"/>
                  </a:lnTo>
                  <a:lnTo>
                    <a:pt x="0" y="36956"/>
                  </a:lnTo>
                  <a:close/>
                </a:path>
              </a:pathLst>
            </a:custGeom>
            <a:ln w="31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941320" y="4290059"/>
              <a:ext cx="551815" cy="146685"/>
            </a:xfrm>
            <a:custGeom>
              <a:avLst/>
              <a:gdLst/>
              <a:ahLst/>
              <a:cxnLst/>
              <a:rect l="l" t="t" r="r" b="b"/>
              <a:pathLst>
                <a:path w="551814" h="146685">
                  <a:moveTo>
                    <a:pt x="478536" y="0"/>
                  </a:moveTo>
                  <a:lnTo>
                    <a:pt x="478536" y="36575"/>
                  </a:lnTo>
                  <a:lnTo>
                    <a:pt x="0" y="36575"/>
                  </a:lnTo>
                  <a:lnTo>
                    <a:pt x="0" y="109727"/>
                  </a:lnTo>
                  <a:lnTo>
                    <a:pt x="478536" y="109727"/>
                  </a:lnTo>
                  <a:lnTo>
                    <a:pt x="478536" y="146303"/>
                  </a:lnTo>
                  <a:lnTo>
                    <a:pt x="551688" y="73151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41320" y="4290059"/>
              <a:ext cx="551815" cy="146685"/>
            </a:xfrm>
            <a:custGeom>
              <a:avLst/>
              <a:gdLst/>
              <a:ahLst/>
              <a:cxnLst/>
              <a:rect l="l" t="t" r="r" b="b"/>
              <a:pathLst>
                <a:path w="551814" h="146685">
                  <a:moveTo>
                    <a:pt x="0" y="36575"/>
                  </a:moveTo>
                  <a:lnTo>
                    <a:pt x="478536" y="36575"/>
                  </a:lnTo>
                  <a:lnTo>
                    <a:pt x="478536" y="0"/>
                  </a:lnTo>
                  <a:lnTo>
                    <a:pt x="551688" y="73151"/>
                  </a:lnTo>
                  <a:lnTo>
                    <a:pt x="478536" y="146303"/>
                  </a:lnTo>
                  <a:lnTo>
                    <a:pt x="478536" y="109727"/>
                  </a:lnTo>
                  <a:lnTo>
                    <a:pt x="0" y="109727"/>
                  </a:lnTo>
                  <a:lnTo>
                    <a:pt x="0" y="36575"/>
                  </a:lnTo>
                  <a:close/>
                </a:path>
              </a:pathLst>
            </a:custGeom>
            <a:ln w="31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87040" y="4722875"/>
              <a:ext cx="550545" cy="146685"/>
            </a:xfrm>
            <a:custGeom>
              <a:avLst/>
              <a:gdLst/>
              <a:ahLst/>
              <a:cxnLst/>
              <a:rect l="l" t="t" r="r" b="b"/>
              <a:pathLst>
                <a:path w="550545" h="146685">
                  <a:moveTo>
                    <a:pt x="477012" y="0"/>
                  </a:moveTo>
                  <a:lnTo>
                    <a:pt x="477012" y="36575"/>
                  </a:lnTo>
                  <a:lnTo>
                    <a:pt x="0" y="36575"/>
                  </a:lnTo>
                  <a:lnTo>
                    <a:pt x="0" y="109727"/>
                  </a:lnTo>
                  <a:lnTo>
                    <a:pt x="477012" y="109727"/>
                  </a:lnTo>
                  <a:lnTo>
                    <a:pt x="477012" y="146303"/>
                  </a:lnTo>
                  <a:lnTo>
                    <a:pt x="550164" y="73151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87040" y="4722875"/>
              <a:ext cx="550545" cy="146685"/>
            </a:xfrm>
            <a:custGeom>
              <a:avLst/>
              <a:gdLst/>
              <a:ahLst/>
              <a:cxnLst/>
              <a:rect l="l" t="t" r="r" b="b"/>
              <a:pathLst>
                <a:path w="550545" h="146685">
                  <a:moveTo>
                    <a:pt x="0" y="36575"/>
                  </a:moveTo>
                  <a:lnTo>
                    <a:pt x="477012" y="36575"/>
                  </a:lnTo>
                  <a:lnTo>
                    <a:pt x="477012" y="0"/>
                  </a:lnTo>
                  <a:lnTo>
                    <a:pt x="550164" y="73151"/>
                  </a:lnTo>
                  <a:lnTo>
                    <a:pt x="477012" y="146303"/>
                  </a:lnTo>
                  <a:lnTo>
                    <a:pt x="477012" y="109727"/>
                  </a:lnTo>
                  <a:lnTo>
                    <a:pt x="0" y="109727"/>
                  </a:lnTo>
                  <a:lnTo>
                    <a:pt x="0" y="36575"/>
                  </a:lnTo>
                  <a:close/>
                </a:path>
              </a:pathLst>
            </a:custGeom>
            <a:ln w="31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54096" y="4229099"/>
              <a:ext cx="287020" cy="269875"/>
            </a:xfrm>
            <a:custGeom>
              <a:avLst/>
              <a:gdLst/>
              <a:ahLst/>
              <a:cxnLst/>
              <a:rect l="l" t="t" r="r" b="b"/>
              <a:pathLst>
                <a:path w="287020" h="269875">
                  <a:moveTo>
                    <a:pt x="143256" y="0"/>
                  </a:moveTo>
                  <a:lnTo>
                    <a:pt x="97974" y="6876"/>
                  </a:lnTo>
                  <a:lnTo>
                    <a:pt x="58649" y="26023"/>
                  </a:lnTo>
                  <a:lnTo>
                    <a:pt x="27639" y="55220"/>
                  </a:lnTo>
                  <a:lnTo>
                    <a:pt x="7303" y="92244"/>
                  </a:lnTo>
                  <a:lnTo>
                    <a:pt x="0" y="134874"/>
                  </a:lnTo>
                  <a:lnTo>
                    <a:pt x="7303" y="177503"/>
                  </a:lnTo>
                  <a:lnTo>
                    <a:pt x="27639" y="214527"/>
                  </a:lnTo>
                  <a:lnTo>
                    <a:pt x="58649" y="243724"/>
                  </a:lnTo>
                  <a:lnTo>
                    <a:pt x="97974" y="262871"/>
                  </a:lnTo>
                  <a:lnTo>
                    <a:pt x="143256" y="269748"/>
                  </a:lnTo>
                  <a:lnTo>
                    <a:pt x="188537" y="262871"/>
                  </a:lnTo>
                  <a:lnTo>
                    <a:pt x="227862" y="243724"/>
                  </a:lnTo>
                  <a:lnTo>
                    <a:pt x="258872" y="214527"/>
                  </a:lnTo>
                  <a:lnTo>
                    <a:pt x="279208" y="177503"/>
                  </a:lnTo>
                  <a:lnTo>
                    <a:pt x="286512" y="134874"/>
                  </a:lnTo>
                  <a:lnTo>
                    <a:pt x="279208" y="92244"/>
                  </a:lnTo>
                  <a:lnTo>
                    <a:pt x="258872" y="55220"/>
                  </a:lnTo>
                  <a:lnTo>
                    <a:pt x="227862" y="26023"/>
                  </a:lnTo>
                  <a:lnTo>
                    <a:pt x="188537" y="6876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054096" y="4229099"/>
              <a:ext cx="287020" cy="269875"/>
            </a:xfrm>
            <a:custGeom>
              <a:avLst/>
              <a:gdLst/>
              <a:ahLst/>
              <a:cxnLst/>
              <a:rect l="l" t="t" r="r" b="b"/>
              <a:pathLst>
                <a:path w="287020" h="269875">
                  <a:moveTo>
                    <a:pt x="0" y="134874"/>
                  </a:moveTo>
                  <a:lnTo>
                    <a:pt x="7303" y="92244"/>
                  </a:lnTo>
                  <a:lnTo>
                    <a:pt x="27639" y="55220"/>
                  </a:lnTo>
                  <a:lnTo>
                    <a:pt x="58649" y="26023"/>
                  </a:lnTo>
                  <a:lnTo>
                    <a:pt x="97974" y="6876"/>
                  </a:lnTo>
                  <a:lnTo>
                    <a:pt x="143256" y="0"/>
                  </a:lnTo>
                  <a:lnTo>
                    <a:pt x="188537" y="6876"/>
                  </a:lnTo>
                  <a:lnTo>
                    <a:pt x="227862" y="26023"/>
                  </a:lnTo>
                  <a:lnTo>
                    <a:pt x="258872" y="55220"/>
                  </a:lnTo>
                  <a:lnTo>
                    <a:pt x="279208" y="92244"/>
                  </a:lnTo>
                  <a:lnTo>
                    <a:pt x="286512" y="134874"/>
                  </a:lnTo>
                  <a:lnTo>
                    <a:pt x="279208" y="177503"/>
                  </a:lnTo>
                  <a:lnTo>
                    <a:pt x="258872" y="214527"/>
                  </a:lnTo>
                  <a:lnTo>
                    <a:pt x="227862" y="243724"/>
                  </a:lnTo>
                  <a:lnTo>
                    <a:pt x="188537" y="262871"/>
                  </a:lnTo>
                  <a:lnTo>
                    <a:pt x="143256" y="269748"/>
                  </a:lnTo>
                  <a:lnTo>
                    <a:pt x="97974" y="262871"/>
                  </a:lnTo>
                  <a:lnTo>
                    <a:pt x="58649" y="243724"/>
                  </a:lnTo>
                  <a:lnTo>
                    <a:pt x="27639" y="214527"/>
                  </a:lnTo>
                  <a:lnTo>
                    <a:pt x="7303" y="177503"/>
                  </a:lnTo>
                  <a:lnTo>
                    <a:pt x="0" y="134874"/>
                  </a:lnTo>
                  <a:close/>
                </a:path>
              </a:pathLst>
            </a:custGeom>
            <a:ln w="9144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109912" y="4177601"/>
            <a:ext cx="187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175" dirty="0">
                <a:solidFill>
                  <a:srgbClr val="40458C"/>
                </a:solidFill>
                <a:latin typeface="SimSun"/>
                <a:cs typeface="SimSun"/>
              </a:rPr>
              <a:t>1</a:t>
            </a:r>
            <a:endParaRPr sz="2400" dirty="0">
              <a:latin typeface="SimSun"/>
              <a:cs typeface="SimSu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26764" y="4585715"/>
            <a:ext cx="1257300" cy="364490"/>
          </a:xfrm>
          <a:prstGeom prst="rect">
            <a:avLst/>
          </a:prstGeom>
          <a:ln w="15240">
            <a:solidFill>
              <a:srgbClr val="40458C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90"/>
              </a:spcBef>
            </a:pPr>
            <a:r>
              <a:rPr sz="1800" i="1" spc="-20" dirty="0">
                <a:latin typeface="Times New Roman"/>
                <a:cs typeface="Times New Roman"/>
              </a:rPr>
              <a:t>d</a:t>
            </a:r>
            <a:r>
              <a:rPr sz="1800" spc="-30" baseline="-23148" dirty="0">
                <a:latin typeface="Times New Roman"/>
                <a:cs typeface="Times New Roman"/>
              </a:rPr>
              <a:t>1</a:t>
            </a:r>
            <a:r>
              <a:rPr sz="1800" spc="277" baseline="-23148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Symbol"/>
                <a:cs typeface="Symbol"/>
              </a:rPr>
              <a:t>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i="1" spc="-30" dirty="0">
                <a:latin typeface="Times New Roman"/>
                <a:cs typeface="Times New Roman"/>
              </a:rPr>
              <a:t>v</a:t>
            </a:r>
            <a:r>
              <a:rPr sz="1800" spc="-44" baseline="-23148" dirty="0">
                <a:latin typeface="Times New Roman"/>
                <a:cs typeface="Times New Roman"/>
              </a:rPr>
              <a:t>1</a:t>
            </a:r>
            <a:r>
              <a:rPr sz="1800" spc="-30" dirty="0">
                <a:latin typeface="Symbol"/>
                <a:cs typeface="Symbol"/>
              </a:rPr>
              <a:t></a:t>
            </a:r>
            <a:r>
              <a:rPr sz="1800" i="1" spc="-30" dirty="0">
                <a:latin typeface="Times New Roman"/>
                <a:cs typeface="Times New Roman"/>
              </a:rPr>
              <a:t>T</a:t>
            </a:r>
            <a:r>
              <a:rPr sz="1800" i="1" spc="8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/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01996" y="4570476"/>
            <a:ext cx="1365885" cy="379730"/>
          </a:xfrm>
          <a:prstGeom prst="rect">
            <a:avLst/>
          </a:prstGeom>
          <a:ln w="15240">
            <a:solidFill>
              <a:srgbClr val="40458C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70"/>
              </a:spcBef>
            </a:pPr>
            <a:r>
              <a:rPr sz="1900" i="1" spc="40" dirty="0">
                <a:latin typeface="Times New Roman"/>
                <a:cs typeface="Times New Roman"/>
              </a:rPr>
              <a:t>d</a:t>
            </a:r>
            <a:r>
              <a:rPr sz="1875" spc="60" baseline="-22222" dirty="0">
                <a:latin typeface="Times New Roman"/>
                <a:cs typeface="Times New Roman"/>
              </a:rPr>
              <a:t>2</a:t>
            </a:r>
            <a:r>
              <a:rPr sz="1875" spc="427" baseline="-2222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i="1" spc="15" dirty="0">
                <a:latin typeface="Times New Roman"/>
                <a:cs typeface="Times New Roman"/>
              </a:rPr>
              <a:t>v</a:t>
            </a:r>
            <a:r>
              <a:rPr sz="1875" spc="22" baseline="-22222" dirty="0">
                <a:latin typeface="Times New Roman"/>
                <a:cs typeface="Times New Roman"/>
              </a:rPr>
              <a:t>2</a:t>
            </a:r>
            <a:r>
              <a:rPr sz="1900" spc="15" dirty="0">
                <a:latin typeface="Symbol"/>
                <a:cs typeface="Symbol"/>
              </a:rPr>
              <a:t></a:t>
            </a:r>
            <a:r>
              <a:rPr sz="1900" i="1" spc="15" dirty="0">
                <a:latin typeface="Times New Roman"/>
                <a:cs typeface="Times New Roman"/>
              </a:rPr>
              <a:t>T</a:t>
            </a:r>
            <a:r>
              <a:rPr sz="1900" i="1" spc="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/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79726" y="5432297"/>
            <a:ext cx="1542415" cy="601980"/>
          </a:xfrm>
          <a:prstGeom prst="rect">
            <a:avLst/>
          </a:prstGeom>
          <a:ln w="25907">
            <a:solidFill>
              <a:srgbClr val="40458C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30"/>
              </a:spcBef>
            </a:pPr>
            <a:r>
              <a:rPr sz="1400" spc="15" dirty="0">
                <a:latin typeface="Times New Roman"/>
                <a:cs typeface="Times New Roman"/>
              </a:rPr>
              <a:t>by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choosing,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e.g.,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</a:t>
            </a:r>
            <a:r>
              <a:rPr sz="1425" spc="-15" baseline="-20467" dirty="0">
                <a:latin typeface="Times New Roman"/>
                <a:cs typeface="Times New Roman"/>
              </a:rPr>
              <a:t>1</a:t>
            </a:r>
            <a:endParaRPr sz="1425" baseline="-20467">
              <a:latin typeface="Times New Roman"/>
              <a:cs typeface="Times New Roman"/>
            </a:endParaRPr>
          </a:p>
          <a:p>
            <a:pPr marL="46990" algn="ctr">
              <a:lnSpc>
                <a:spcPct val="100000"/>
              </a:lnSpc>
              <a:spcBef>
                <a:spcPts val="780"/>
              </a:spcBef>
            </a:pPr>
            <a:r>
              <a:rPr sz="1400" dirty="0">
                <a:latin typeface="Times New Roman"/>
                <a:cs typeface="Times New Roman"/>
              </a:rPr>
              <a:t>(</a:t>
            </a:r>
            <a:r>
              <a:rPr sz="1400" spc="15" dirty="0">
                <a:latin typeface="Times New Roman"/>
                <a:cs typeface="Times New Roman"/>
              </a:rPr>
              <a:t>n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5" dirty="0">
                <a:latin typeface="Times New Roman"/>
                <a:cs typeface="Times New Roman"/>
              </a:rPr>
              <a:t>m</a:t>
            </a:r>
            <a:r>
              <a:rPr sz="1400" dirty="0">
                <a:latin typeface="Times New Roman"/>
                <a:cs typeface="Times New Roman"/>
              </a:rPr>
              <a:t>e</a:t>
            </a:r>
            <a:r>
              <a:rPr sz="1400" spc="-15" dirty="0">
                <a:latin typeface="Times New Roman"/>
                <a:cs typeface="Times New Roman"/>
              </a:rPr>
              <a:t>l</a:t>
            </a:r>
            <a:r>
              <a:rPr sz="1400" spc="15" dirty="0">
                <a:latin typeface="Times New Roman"/>
                <a:cs typeface="Times New Roman"/>
              </a:rPr>
              <a:t>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Times New Roman"/>
                <a:cs typeface="Times New Roman"/>
              </a:rPr>
              <a:t>A</a:t>
            </a:r>
            <a:r>
              <a:rPr sz="1425" baseline="38011" dirty="0">
                <a:latin typeface="Times New Roman"/>
                <a:cs typeface="Times New Roman"/>
              </a:rPr>
              <a:t>'</a:t>
            </a:r>
            <a:r>
              <a:rPr sz="1425" spc="-157" baseline="38011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22776" y="5660135"/>
            <a:ext cx="551815" cy="149860"/>
            <a:chOff x="3922776" y="5660135"/>
            <a:chExt cx="551815" cy="149860"/>
          </a:xfrm>
        </p:grpSpPr>
        <p:sp>
          <p:nvSpPr>
            <p:cNvPr id="54" name="object 54"/>
            <p:cNvSpPr/>
            <p:nvPr/>
          </p:nvSpPr>
          <p:spPr>
            <a:xfrm>
              <a:off x="3924300" y="5661659"/>
              <a:ext cx="548640" cy="146685"/>
            </a:xfrm>
            <a:custGeom>
              <a:avLst/>
              <a:gdLst/>
              <a:ahLst/>
              <a:cxnLst/>
              <a:rect l="l" t="t" r="r" b="b"/>
              <a:pathLst>
                <a:path w="548639" h="146685">
                  <a:moveTo>
                    <a:pt x="475488" y="0"/>
                  </a:moveTo>
                  <a:lnTo>
                    <a:pt x="475488" y="36575"/>
                  </a:lnTo>
                  <a:lnTo>
                    <a:pt x="0" y="36575"/>
                  </a:lnTo>
                  <a:lnTo>
                    <a:pt x="0" y="109727"/>
                  </a:lnTo>
                  <a:lnTo>
                    <a:pt x="475488" y="109727"/>
                  </a:lnTo>
                  <a:lnTo>
                    <a:pt x="475488" y="146303"/>
                  </a:lnTo>
                  <a:lnTo>
                    <a:pt x="548640" y="73151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24300" y="5661659"/>
              <a:ext cx="548640" cy="146685"/>
            </a:xfrm>
            <a:custGeom>
              <a:avLst/>
              <a:gdLst/>
              <a:ahLst/>
              <a:cxnLst/>
              <a:rect l="l" t="t" r="r" b="b"/>
              <a:pathLst>
                <a:path w="548639" h="146685">
                  <a:moveTo>
                    <a:pt x="0" y="36575"/>
                  </a:moveTo>
                  <a:lnTo>
                    <a:pt x="475488" y="36575"/>
                  </a:lnTo>
                  <a:lnTo>
                    <a:pt x="475488" y="0"/>
                  </a:lnTo>
                  <a:lnTo>
                    <a:pt x="548640" y="73151"/>
                  </a:lnTo>
                  <a:lnTo>
                    <a:pt x="475488" y="146303"/>
                  </a:lnTo>
                  <a:lnTo>
                    <a:pt x="475488" y="109727"/>
                  </a:lnTo>
                  <a:lnTo>
                    <a:pt x="0" y="109727"/>
                  </a:lnTo>
                  <a:lnTo>
                    <a:pt x="0" y="36575"/>
                  </a:lnTo>
                  <a:close/>
                </a:path>
              </a:pathLst>
            </a:custGeom>
            <a:ln w="31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4545329" y="5551170"/>
            <a:ext cx="3412490" cy="399415"/>
          </a:xfrm>
          <a:custGeom>
            <a:avLst/>
            <a:gdLst/>
            <a:ahLst/>
            <a:cxnLst/>
            <a:rect l="l" t="t" r="r" b="b"/>
            <a:pathLst>
              <a:path w="3412490" h="399414">
                <a:moveTo>
                  <a:pt x="0" y="0"/>
                </a:moveTo>
                <a:lnTo>
                  <a:pt x="3412235" y="0"/>
                </a:lnTo>
                <a:lnTo>
                  <a:pt x="3412235" y="399287"/>
                </a:lnTo>
                <a:lnTo>
                  <a:pt x="0" y="399287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4045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556609" y="5566664"/>
            <a:ext cx="129730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950" spc="-20" dirty="0">
                <a:latin typeface="Symbol"/>
                <a:cs typeface="Symbol"/>
              </a:rPr>
              <a:t></a:t>
            </a:r>
            <a:r>
              <a:rPr sz="1950" i="1" spc="-10" dirty="0">
                <a:latin typeface="Times New Roman"/>
                <a:cs typeface="Times New Roman"/>
              </a:rPr>
              <a:t>T</a:t>
            </a:r>
            <a:r>
              <a:rPr sz="1950" i="1" spc="19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Symbol"/>
                <a:cs typeface="Symbol"/>
              </a:rPr>
              <a:t></a:t>
            </a:r>
            <a:r>
              <a:rPr sz="1950" spc="-40" dirty="0">
                <a:latin typeface="Times New Roman"/>
                <a:cs typeface="Times New Roman"/>
              </a:rPr>
              <a:t> </a:t>
            </a:r>
            <a:r>
              <a:rPr sz="1950" spc="25" dirty="0">
                <a:latin typeface="Times New Roman"/>
                <a:cs typeface="Times New Roman"/>
              </a:rPr>
              <a:t>2</a:t>
            </a:r>
            <a:r>
              <a:rPr sz="1950" i="1" spc="-70" dirty="0">
                <a:latin typeface="Times New Roman"/>
                <a:cs typeface="Times New Roman"/>
              </a:rPr>
              <a:t>d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1950" spc="179" baseline="-21367" dirty="0">
                <a:latin typeface="Times New Roman"/>
                <a:cs typeface="Times New Roman"/>
              </a:rPr>
              <a:t> </a:t>
            </a:r>
            <a:r>
              <a:rPr sz="1950" spc="-5" dirty="0">
                <a:latin typeface="Times New Roman"/>
                <a:cs typeface="Times New Roman"/>
              </a:rPr>
              <a:t>/</a:t>
            </a:r>
            <a:r>
              <a:rPr sz="1950" spc="-120" dirty="0">
                <a:latin typeface="Times New Roman"/>
                <a:cs typeface="Times New Roman"/>
              </a:rPr>
              <a:t> </a:t>
            </a:r>
            <a:r>
              <a:rPr sz="1950" i="1" spc="-170" dirty="0">
                <a:latin typeface="Times New Roman"/>
                <a:cs typeface="Times New Roman"/>
              </a:rPr>
              <a:t>v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893308" y="5660135"/>
            <a:ext cx="551815" cy="149860"/>
            <a:chOff x="5893308" y="5660135"/>
            <a:chExt cx="551815" cy="149860"/>
          </a:xfrm>
        </p:grpSpPr>
        <p:sp>
          <p:nvSpPr>
            <p:cNvPr id="59" name="object 59"/>
            <p:cNvSpPr/>
            <p:nvPr/>
          </p:nvSpPr>
          <p:spPr>
            <a:xfrm>
              <a:off x="5894832" y="5661659"/>
              <a:ext cx="548640" cy="146685"/>
            </a:xfrm>
            <a:custGeom>
              <a:avLst/>
              <a:gdLst/>
              <a:ahLst/>
              <a:cxnLst/>
              <a:rect l="l" t="t" r="r" b="b"/>
              <a:pathLst>
                <a:path w="548639" h="146685">
                  <a:moveTo>
                    <a:pt x="475488" y="0"/>
                  </a:moveTo>
                  <a:lnTo>
                    <a:pt x="475488" y="36575"/>
                  </a:lnTo>
                  <a:lnTo>
                    <a:pt x="0" y="36575"/>
                  </a:lnTo>
                  <a:lnTo>
                    <a:pt x="0" y="109727"/>
                  </a:lnTo>
                  <a:lnTo>
                    <a:pt x="475488" y="109727"/>
                  </a:lnTo>
                  <a:lnTo>
                    <a:pt x="475488" y="146303"/>
                  </a:lnTo>
                  <a:lnTo>
                    <a:pt x="548640" y="73151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94832" y="5661659"/>
              <a:ext cx="548640" cy="146685"/>
            </a:xfrm>
            <a:custGeom>
              <a:avLst/>
              <a:gdLst/>
              <a:ahLst/>
              <a:cxnLst/>
              <a:rect l="l" t="t" r="r" b="b"/>
              <a:pathLst>
                <a:path w="548639" h="146685">
                  <a:moveTo>
                    <a:pt x="0" y="36575"/>
                  </a:moveTo>
                  <a:lnTo>
                    <a:pt x="475488" y="36575"/>
                  </a:lnTo>
                  <a:lnTo>
                    <a:pt x="475488" y="0"/>
                  </a:lnTo>
                  <a:lnTo>
                    <a:pt x="548640" y="73151"/>
                  </a:lnTo>
                  <a:lnTo>
                    <a:pt x="475488" y="146303"/>
                  </a:lnTo>
                  <a:lnTo>
                    <a:pt x="475488" y="109727"/>
                  </a:lnTo>
                  <a:lnTo>
                    <a:pt x="0" y="109727"/>
                  </a:lnTo>
                  <a:lnTo>
                    <a:pt x="0" y="36575"/>
                  </a:lnTo>
                  <a:close/>
                </a:path>
              </a:pathLst>
            </a:custGeom>
            <a:ln w="31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597943" y="5548376"/>
            <a:ext cx="122301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800" i="1" spc="90" dirty="0">
                <a:latin typeface="Times New Roman"/>
                <a:cs typeface="Times New Roman"/>
              </a:rPr>
              <a:t>d</a:t>
            </a:r>
            <a:r>
              <a:rPr sz="1800" spc="15" baseline="-23148" dirty="0">
                <a:latin typeface="Times New Roman"/>
                <a:cs typeface="Times New Roman"/>
              </a:rPr>
              <a:t>2</a:t>
            </a:r>
            <a:r>
              <a:rPr sz="1800" baseline="-23148" dirty="0">
                <a:latin typeface="Times New Roman"/>
                <a:cs typeface="Times New Roman"/>
              </a:rPr>
              <a:t>  </a:t>
            </a:r>
            <a:r>
              <a:rPr sz="1800" spc="15" dirty="0">
                <a:latin typeface="Symbol"/>
                <a:cs typeface="Symbol"/>
              </a:rPr>
              <a:t>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i="1" spc="-45" dirty="0">
                <a:latin typeface="Times New Roman"/>
                <a:cs typeface="Times New Roman"/>
              </a:rPr>
              <a:t>d</a:t>
            </a:r>
            <a:r>
              <a:rPr sz="1800" spc="-44" baseline="-23148" dirty="0">
                <a:latin typeface="Times New Roman"/>
                <a:cs typeface="Times New Roman"/>
              </a:rPr>
              <a:t>1</a:t>
            </a:r>
            <a:r>
              <a:rPr sz="1800" i="1" spc="-10" dirty="0">
                <a:latin typeface="Times New Roman"/>
                <a:cs typeface="Times New Roman"/>
              </a:rPr>
              <a:t>v</a:t>
            </a:r>
            <a:r>
              <a:rPr sz="1800" spc="15" baseline="-23148" dirty="0">
                <a:latin typeface="Times New Roman"/>
                <a:cs typeface="Times New Roman"/>
              </a:rPr>
              <a:t>2</a:t>
            </a:r>
            <a:r>
              <a:rPr sz="1800" baseline="-23148" dirty="0">
                <a:latin typeface="Times New Roman"/>
                <a:cs typeface="Times New Roman"/>
              </a:rPr>
              <a:t> </a:t>
            </a:r>
            <a:r>
              <a:rPr sz="1800" spc="-127" baseline="-23148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/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i="1" spc="-140" dirty="0">
                <a:latin typeface="Times New Roman"/>
                <a:cs typeface="Times New Roman"/>
              </a:rPr>
              <a:t>v</a:t>
            </a:r>
            <a:r>
              <a:rPr sz="1800" spc="15" baseline="-23148" dirty="0">
                <a:latin typeface="Times New Roman"/>
                <a:cs typeface="Times New Roman"/>
              </a:rPr>
              <a:t>1</a:t>
            </a:r>
            <a:endParaRPr sz="1800" baseline="-23148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30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47052" y="106235"/>
            <a:ext cx="5243830" cy="10047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500" dirty="0">
              <a:latin typeface="Cambria"/>
              <a:cs typeface="Cambria"/>
            </a:endParaRPr>
          </a:p>
          <a:p>
            <a:pPr marL="533400" lvl="1" indent="-521334">
              <a:lnSpc>
                <a:spcPct val="100000"/>
              </a:lnSpc>
              <a:buAutoNum type="arabicPeriod" startAt="6"/>
              <a:tabLst>
                <a:tab pos="534035" algn="l"/>
              </a:tabLst>
            </a:pP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 dirty="0">
              <a:latin typeface="Tahoma"/>
              <a:cs typeface="Tahoma"/>
            </a:endParaRPr>
          </a:p>
          <a:p>
            <a:pPr marL="334010" lvl="2" indent="-250825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334010" algn="l"/>
                <a:tab pos="334645" algn="l"/>
              </a:tabLst>
            </a:pP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Solution(various</a:t>
            </a:r>
            <a:r>
              <a:rPr sz="1800" spc="-1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options)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70203" y="3284220"/>
            <a:ext cx="7734300" cy="3112135"/>
            <a:chOff x="870203" y="3284220"/>
            <a:chExt cx="7734300" cy="31121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203" y="3372954"/>
              <a:ext cx="4133087" cy="30232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1603" y="3284220"/>
              <a:ext cx="4152899" cy="311048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74460" y="5331955"/>
            <a:ext cx="234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31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3052" y="2660038"/>
            <a:ext cx="880744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m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il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l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y)</a:t>
            </a:r>
            <a:endParaRPr sz="1700">
              <a:latin typeface="Tahoma"/>
              <a:cs typeface="Tahoma"/>
            </a:endParaRPr>
          </a:p>
          <a:p>
            <a:pPr marL="220345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FF0000"/>
                </a:solidFill>
                <a:latin typeface="Tahoma"/>
                <a:cs typeface="Tahoma"/>
              </a:rPr>
              <a:t>ΔT=4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4807" y="3100860"/>
            <a:ext cx="67881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375" i="1" spc="67" baseline="8641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950" spc="67" baseline="-10683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950" spc="-67" baseline="-1068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ahoma"/>
                <a:cs typeface="Tahoma"/>
              </a:rPr>
              <a:t>=3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227" y="662135"/>
            <a:ext cx="8564245" cy="203073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960"/>
              </a:spcBef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5.6 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>
              <a:latin typeface="Tahoma"/>
              <a:cs typeface="Tahoma"/>
            </a:endParaRPr>
          </a:p>
          <a:p>
            <a:pPr marL="300990" indent="-23812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00990" algn="l"/>
                <a:tab pos="301625" algn="l"/>
              </a:tabLst>
            </a:pP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A</a:t>
            </a:r>
            <a:r>
              <a:rPr sz="1800" spc="-9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nu</a:t>
            </a:r>
            <a:r>
              <a:rPr sz="1800" spc="-10" dirty="0">
                <a:solidFill>
                  <a:srgbClr val="40458C"/>
                </a:solidFill>
                <a:latin typeface="Times New Roman"/>
                <a:cs typeface="Times New Roman"/>
              </a:rPr>
              <a:t>m</a:t>
            </a:r>
            <a:r>
              <a:rPr sz="1800" spc="5" dirty="0">
                <a:solidFill>
                  <a:srgbClr val="40458C"/>
                </a:solidFill>
                <a:latin typeface="Times New Roman"/>
                <a:cs typeface="Times New Roman"/>
              </a:rPr>
              <a:t>e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ri</a:t>
            </a:r>
            <a:r>
              <a:rPr sz="1800" spc="5" dirty="0">
                <a:solidFill>
                  <a:srgbClr val="40458C"/>
                </a:solidFill>
                <a:latin typeface="Times New Roman"/>
                <a:cs typeface="Times New Roman"/>
              </a:rPr>
              <a:t>ca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l</a:t>
            </a:r>
            <a:r>
              <a:rPr sz="1800" spc="-1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exa</a:t>
            </a:r>
            <a:r>
              <a:rPr sz="1800" spc="-10" dirty="0">
                <a:solidFill>
                  <a:srgbClr val="40458C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ple</a:t>
            </a:r>
            <a:endParaRPr sz="1800">
              <a:latin typeface="Times New Roman"/>
              <a:cs typeface="Times New Roman"/>
            </a:endParaRPr>
          </a:p>
          <a:p>
            <a:pPr marL="695325" lvl="1" indent="-342900">
              <a:lnSpc>
                <a:spcPts val="2865"/>
              </a:lnSpc>
              <a:spcBef>
                <a:spcPts val="285"/>
              </a:spcBef>
              <a:buFont typeface="Wingdings"/>
              <a:buChar char=""/>
              <a:tabLst>
                <a:tab pos="694690" algn="l"/>
                <a:tab pos="695325" algn="l"/>
              </a:tabLst>
            </a:pP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transition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from</a:t>
            </a:r>
            <a:r>
              <a:rPr sz="17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A=(3,3)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 to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C=(8,9)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 via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B=(1,9),</a:t>
            </a:r>
            <a:r>
              <a:rPr sz="17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7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speed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from</a:t>
            </a:r>
            <a:r>
              <a:rPr sz="1700" spc="-29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3675" i="1" spc="-127" baseline="3401" dirty="0">
                <a:latin typeface="Times New Roman"/>
                <a:cs typeface="Times New Roman"/>
              </a:rPr>
              <a:t>v</a:t>
            </a:r>
            <a:r>
              <a:rPr sz="2100" spc="-127" baseline="-19841" dirty="0">
                <a:latin typeface="Times New Roman"/>
                <a:cs typeface="Times New Roman"/>
              </a:rPr>
              <a:t>1</a:t>
            </a:r>
            <a:r>
              <a:rPr sz="2100" spc="307" baseline="-19841" dirty="0"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=1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2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3450" i="1" spc="-30" baseline="9661" dirty="0">
                <a:latin typeface="Times New Roman"/>
                <a:cs typeface="Times New Roman"/>
              </a:rPr>
              <a:t>v</a:t>
            </a:r>
            <a:r>
              <a:rPr sz="1950" spc="-30" baseline="-8547" dirty="0">
                <a:latin typeface="Times New Roman"/>
                <a:cs typeface="Times New Roman"/>
              </a:rPr>
              <a:t>2</a:t>
            </a:r>
            <a:r>
              <a:rPr sz="1950" spc="307" baseline="-8547" dirty="0"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=2</a:t>
            </a:r>
            <a:endParaRPr sz="1700">
              <a:latin typeface="Tahoma"/>
              <a:cs typeface="Tahoma"/>
            </a:endParaRPr>
          </a:p>
          <a:p>
            <a:pPr marL="695325" lvl="1" indent="-342900">
              <a:lnSpc>
                <a:spcPts val="1955"/>
              </a:lnSpc>
              <a:buFont typeface="Wingdings"/>
              <a:buChar char=""/>
              <a:tabLst>
                <a:tab pos="694690" algn="l"/>
                <a:tab pos="695325" algn="l"/>
              </a:tabLst>
            </a:pP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exploiting</a:t>
            </a:r>
            <a:r>
              <a:rPr sz="17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two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options</a:t>
            </a:r>
            <a:r>
              <a:rPr sz="17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for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 solution</a:t>
            </a:r>
            <a:r>
              <a:rPr sz="17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(resulting</a:t>
            </a:r>
            <a:r>
              <a:rPr sz="17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different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paths!)</a:t>
            </a:r>
            <a:endParaRPr sz="1700">
              <a:latin typeface="Tahoma"/>
              <a:cs typeface="Tahoma"/>
            </a:endParaRPr>
          </a:p>
          <a:p>
            <a:pPr marL="1152525" lvl="2" indent="-342900">
              <a:lnSpc>
                <a:spcPts val="1914"/>
              </a:lnSpc>
              <a:buFont typeface="Wingdings"/>
              <a:buChar char=""/>
              <a:tabLst>
                <a:tab pos="1151890" algn="l"/>
                <a:tab pos="1152525" algn="l"/>
              </a:tabLst>
            </a:pP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assign</a:t>
            </a:r>
            <a:r>
              <a:rPr sz="17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transition</a:t>
            </a:r>
            <a:r>
              <a:rPr sz="17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time:</a:t>
            </a:r>
            <a:r>
              <a:rPr sz="17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ΔT=4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20" dirty="0">
                <a:solidFill>
                  <a:srgbClr val="40458C"/>
                </a:solidFill>
                <a:latin typeface="Tahoma"/>
                <a:cs typeface="Tahoma"/>
              </a:rPr>
              <a:t>(actually,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re-centered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for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7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C"/>
                </a:solidFill>
                <a:latin typeface="Malgun Gothic"/>
                <a:cs typeface="Malgun Gothic"/>
              </a:rPr>
              <a:t>∈</a:t>
            </a:r>
            <a:r>
              <a:rPr sz="1700" spc="-65" dirty="0">
                <a:solidFill>
                  <a:srgbClr val="40458C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[-ΔT/2,</a:t>
            </a:r>
            <a:r>
              <a:rPr sz="17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ΔT/2])</a:t>
            </a:r>
            <a:endParaRPr sz="1700">
              <a:latin typeface="Tahoma"/>
              <a:cs typeface="Tahoma"/>
            </a:endParaRPr>
          </a:p>
          <a:p>
            <a:pPr marL="1152525" lvl="2" indent="-342900">
              <a:lnSpc>
                <a:spcPts val="2225"/>
              </a:lnSpc>
              <a:buFont typeface="Wingdings"/>
              <a:buChar char=""/>
              <a:tabLst>
                <a:tab pos="1151890" algn="l"/>
                <a:tab pos="1152525" algn="l"/>
              </a:tabLst>
            </a:pP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assign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distance</a:t>
            </a:r>
            <a:r>
              <a:rPr sz="17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from</a:t>
            </a:r>
            <a:r>
              <a:rPr sz="17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for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 departing:</a:t>
            </a:r>
            <a:r>
              <a:rPr sz="1700" spc="9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850" i="1" spc="82" baseline="7309" dirty="0">
                <a:latin typeface="Times New Roman"/>
                <a:cs typeface="Times New Roman"/>
              </a:rPr>
              <a:t>d</a:t>
            </a:r>
            <a:r>
              <a:rPr sz="1650" spc="82" baseline="-12626" dirty="0">
                <a:latin typeface="Times New Roman"/>
                <a:cs typeface="Times New Roman"/>
              </a:rPr>
              <a:t>2</a:t>
            </a:r>
            <a:r>
              <a:rPr sz="1650" spc="262" baseline="-12626" dirty="0"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58C"/>
                </a:solidFill>
                <a:latin typeface="Tahoma"/>
                <a:cs typeface="Tahoma"/>
              </a:rPr>
              <a:t>=3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(assign</a:t>
            </a:r>
            <a:r>
              <a:rPr sz="1700" spc="1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925" i="1" spc="67" baseline="-5698" dirty="0">
                <a:latin typeface="Times New Roman"/>
                <a:cs typeface="Times New Roman"/>
              </a:rPr>
              <a:t>d</a:t>
            </a:r>
            <a:r>
              <a:rPr sz="1650" spc="67" baseline="-35353" dirty="0">
                <a:latin typeface="Times New Roman"/>
                <a:cs typeface="Times New Roman"/>
              </a:rPr>
              <a:t>2</a:t>
            </a:r>
            <a:r>
              <a:rPr sz="1650" spc="525" baseline="-35353" dirty="0"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58C"/>
                </a:solidFill>
                <a:latin typeface="Tahoma"/>
                <a:cs typeface="Tahoma"/>
              </a:rPr>
              <a:t>for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 landing</a:t>
            </a:r>
            <a:r>
              <a:rPr sz="17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7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C"/>
                </a:solidFill>
                <a:latin typeface="Tahoma"/>
                <a:cs typeface="Tahoma"/>
              </a:rPr>
              <a:t>handled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415" y="2642616"/>
            <a:ext cx="8511539" cy="26517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1327" y="1114497"/>
            <a:ext cx="5220970" cy="88455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62890" indent="-238125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262890" algn="l"/>
                <a:tab pos="263525" algn="l"/>
              </a:tabLst>
            </a:pP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A</a:t>
            </a:r>
            <a:r>
              <a:rPr sz="1800" spc="-10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numerical</a:t>
            </a: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example(cont’d)</a:t>
            </a:r>
            <a:endParaRPr sz="1800">
              <a:latin typeface="Times New Roman"/>
              <a:cs typeface="Times New Roman"/>
            </a:endParaRPr>
          </a:p>
          <a:p>
            <a:pPr marL="657225" lvl="1" indent="-342900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656590" algn="l"/>
                <a:tab pos="657225" algn="l"/>
                <a:tab pos="3870325" algn="l"/>
              </a:tabLst>
            </a:pPr>
            <a:r>
              <a:rPr sz="2700" spc="-7" baseline="1543" dirty="0">
                <a:solidFill>
                  <a:srgbClr val="40458C"/>
                </a:solidFill>
                <a:latin typeface="Tahoma"/>
                <a:cs typeface="Tahoma"/>
              </a:rPr>
              <a:t>first</a:t>
            </a:r>
            <a:r>
              <a:rPr sz="2700" baseline="1543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700" spc="-7" baseline="1543" dirty="0">
                <a:solidFill>
                  <a:srgbClr val="40458C"/>
                </a:solidFill>
                <a:latin typeface="Tahoma"/>
                <a:cs typeface="Tahoma"/>
              </a:rPr>
              <a:t>option:</a:t>
            </a:r>
            <a:r>
              <a:rPr sz="2700" spc="30" baseline="1543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700" spc="-7" baseline="1543" dirty="0">
                <a:solidFill>
                  <a:srgbClr val="40458C"/>
                </a:solidFill>
                <a:latin typeface="Tahoma"/>
                <a:cs typeface="Tahoma"/>
              </a:rPr>
              <a:t>ΔT=4</a:t>
            </a:r>
            <a:r>
              <a:rPr sz="2700" baseline="1543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700" spc="-7" baseline="1543" dirty="0">
                <a:solidFill>
                  <a:srgbClr val="40458C"/>
                </a:solidFill>
                <a:latin typeface="Tahoma"/>
                <a:cs typeface="Tahoma"/>
              </a:rPr>
              <a:t>(resulting</a:t>
            </a:r>
            <a:r>
              <a:rPr sz="2700" spc="22" baseline="1543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700" spc="-7" baseline="1543" dirty="0">
                <a:solidFill>
                  <a:srgbClr val="40458C"/>
                </a:solidFill>
                <a:latin typeface="Tahoma"/>
                <a:cs typeface="Tahoma"/>
              </a:rPr>
              <a:t>in	</a:t>
            </a:r>
            <a:r>
              <a:rPr sz="1950" i="1" spc="-20" dirty="0">
                <a:latin typeface="Times New Roman"/>
                <a:cs typeface="Times New Roman"/>
              </a:rPr>
              <a:t>d</a:t>
            </a:r>
            <a:r>
              <a:rPr sz="1650" spc="-30" baseline="-25252" dirty="0">
                <a:latin typeface="Times New Roman"/>
                <a:cs typeface="Times New Roman"/>
              </a:rPr>
              <a:t>1</a:t>
            </a:r>
            <a:r>
              <a:rPr sz="1650" baseline="-25252" dirty="0">
                <a:latin typeface="Times New Roman"/>
                <a:cs typeface="Times New Roman"/>
              </a:rPr>
              <a:t> </a:t>
            </a:r>
            <a:r>
              <a:rPr sz="2700" spc="-7" baseline="1543" dirty="0">
                <a:solidFill>
                  <a:srgbClr val="40458C"/>
                </a:solidFill>
                <a:latin typeface="Tahoma"/>
                <a:cs typeface="Tahoma"/>
              </a:rPr>
              <a:t>=2,</a:t>
            </a:r>
            <a:r>
              <a:rPr sz="2700" spc="547" baseline="1543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950" i="1" spc="45" dirty="0">
                <a:latin typeface="Times New Roman"/>
                <a:cs typeface="Times New Roman"/>
              </a:rPr>
              <a:t>d</a:t>
            </a:r>
            <a:r>
              <a:rPr sz="1650" spc="67" baseline="-25252" dirty="0">
                <a:latin typeface="Times New Roman"/>
                <a:cs typeface="Times New Roman"/>
              </a:rPr>
              <a:t>2</a:t>
            </a:r>
            <a:r>
              <a:rPr sz="1650" spc="-75" baseline="-25252" dirty="0">
                <a:latin typeface="Times New Roman"/>
                <a:cs typeface="Times New Roman"/>
              </a:rPr>
              <a:t> </a:t>
            </a:r>
            <a:r>
              <a:rPr sz="2700" spc="-7" baseline="1543" dirty="0">
                <a:solidFill>
                  <a:srgbClr val="40458C"/>
                </a:solidFill>
                <a:latin typeface="Tahoma"/>
                <a:cs typeface="Tahoma"/>
              </a:rPr>
              <a:t>=4)</a:t>
            </a:r>
            <a:endParaRPr sz="2700" baseline="1543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32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7052" y="771271"/>
            <a:ext cx="524383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5" y="2688335"/>
            <a:ext cx="8679179" cy="24566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1327" y="1156950"/>
            <a:ext cx="5220970" cy="79629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62890" indent="-23812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62890" algn="l"/>
                <a:tab pos="263525" algn="l"/>
              </a:tabLst>
            </a:pP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A</a:t>
            </a:r>
            <a:r>
              <a:rPr sz="1800" spc="-10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numerical</a:t>
            </a: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example(cont’d)</a:t>
            </a:r>
            <a:endParaRPr sz="1800">
              <a:latin typeface="Times New Roman"/>
              <a:cs typeface="Times New Roman"/>
            </a:endParaRPr>
          </a:p>
          <a:p>
            <a:pPr marL="657225" lvl="1" indent="-342900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656590" algn="l"/>
                <a:tab pos="657225" algn="l"/>
                <a:tab pos="3880485" algn="l"/>
              </a:tabLst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st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n: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ΔT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4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(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esu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lti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ng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2925" i="1" spc="-75" baseline="5698" dirty="0">
                <a:latin typeface="Times New Roman"/>
                <a:cs typeface="Times New Roman"/>
              </a:rPr>
              <a:t>d</a:t>
            </a:r>
            <a:r>
              <a:rPr sz="1650" spc="15" baseline="-15151" dirty="0">
                <a:latin typeface="Times New Roman"/>
                <a:cs typeface="Times New Roman"/>
              </a:rPr>
              <a:t>1</a:t>
            </a:r>
            <a:r>
              <a:rPr sz="1650" spc="-104" baseline="-15151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2, </a:t>
            </a:r>
            <a:r>
              <a:rPr sz="1800" spc="-15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925" i="1" spc="120" baseline="5698" dirty="0">
                <a:latin typeface="Times New Roman"/>
                <a:cs typeface="Times New Roman"/>
              </a:rPr>
              <a:t>d</a:t>
            </a:r>
            <a:r>
              <a:rPr sz="1650" spc="15" baseline="-15151" dirty="0">
                <a:latin typeface="Times New Roman"/>
                <a:cs typeface="Times New Roman"/>
              </a:rPr>
              <a:t>2</a:t>
            </a:r>
            <a:r>
              <a:rPr sz="1650" spc="-60" baseline="-15151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4)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33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7052" y="771271"/>
            <a:ext cx="524383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2517648"/>
            <a:ext cx="8787383" cy="25481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1327" y="1202679"/>
            <a:ext cx="5539740" cy="72517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62890" indent="-23812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262890" algn="l"/>
                <a:tab pos="263525" algn="l"/>
              </a:tabLst>
            </a:pP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A</a:t>
            </a:r>
            <a:r>
              <a:rPr sz="1800" spc="-10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numerical</a:t>
            </a: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example(cont’d)</a:t>
            </a:r>
            <a:endParaRPr sz="1800">
              <a:latin typeface="Times New Roman"/>
              <a:cs typeface="Times New Roman"/>
            </a:endParaRPr>
          </a:p>
          <a:p>
            <a:pPr marL="657225" lvl="1" indent="-342900">
              <a:lnSpc>
                <a:spcPct val="100000"/>
              </a:lnSpc>
              <a:spcBef>
                <a:spcPts val="490"/>
              </a:spcBef>
              <a:buFont typeface="Wingdings"/>
              <a:buChar char=""/>
              <a:tabLst>
                <a:tab pos="656590" algn="l"/>
                <a:tab pos="657225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second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option:</a:t>
            </a:r>
            <a:r>
              <a:rPr sz="1800" spc="-7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3075" i="1" spc="-7" baseline="1355" dirty="0">
                <a:latin typeface="Times New Roman"/>
                <a:cs typeface="Times New Roman"/>
              </a:rPr>
              <a:t>d</a:t>
            </a:r>
            <a:r>
              <a:rPr sz="1800" spc="-7" baseline="-23148" dirty="0">
                <a:latin typeface="Times New Roman"/>
                <a:cs typeface="Times New Roman"/>
              </a:rPr>
              <a:t>1</a:t>
            </a:r>
            <a:r>
              <a:rPr sz="1800" spc="592" baseline="-23148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=3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(resulting in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ΔT=6,</a:t>
            </a:r>
            <a:r>
              <a:rPr sz="1800" spc="1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925" i="1" spc="60" baseline="2849" dirty="0">
                <a:latin typeface="Times New Roman"/>
                <a:cs typeface="Times New Roman"/>
              </a:rPr>
              <a:t>d</a:t>
            </a:r>
            <a:r>
              <a:rPr sz="1650" spc="60" baseline="-20202" dirty="0">
                <a:latin typeface="Times New Roman"/>
                <a:cs typeface="Times New Roman"/>
              </a:rPr>
              <a:t>2</a:t>
            </a:r>
            <a:r>
              <a:rPr sz="1650" spc="315" baseline="-20202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=6)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34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7052" y="771271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372" y="2543555"/>
            <a:ext cx="8596883" cy="24185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21727" y="5189283"/>
            <a:ext cx="73406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actually,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same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vel/acc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profiles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only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different</a:t>
            </a:r>
            <a:r>
              <a:rPr sz="20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time</a:t>
            </a:r>
            <a:r>
              <a:rPr sz="20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scale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35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327" y="1230049"/>
            <a:ext cx="5538470" cy="66611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62890" indent="-23812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62890" algn="l"/>
                <a:tab pos="263525" algn="l"/>
              </a:tabLst>
            </a:pP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A</a:t>
            </a:r>
            <a:r>
              <a:rPr sz="1800" spc="-10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numerical</a:t>
            </a:r>
            <a:r>
              <a:rPr sz="1800" spc="-2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example(cont’d)</a:t>
            </a:r>
            <a:endParaRPr sz="1800">
              <a:latin typeface="Times New Roman"/>
              <a:cs typeface="Times New Roman"/>
            </a:endParaRPr>
          </a:p>
          <a:p>
            <a:pPr marL="584200" lvl="1" indent="-342900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583565" algn="l"/>
                <a:tab pos="584200" algn="l"/>
                <a:tab pos="2205990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second option:	</a:t>
            </a:r>
            <a:r>
              <a:rPr sz="3075" i="1" spc="-7" baseline="1355" dirty="0">
                <a:latin typeface="Times New Roman"/>
                <a:cs typeface="Times New Roman"/>
              </a:rPr>
              <a:t>d</a:t>
            </a:r>
            <a:r>
              <a:rPr sz="1800" spc="-7" baseline="-23148" dirty="0">
                <a:latin typeface="Times New Roman"/>
                <a:cs typeface="Times New Roman"/>
              </a:rPr>
              <a:t>1</a:t>
            </a:r>
            <a:r>
              <a:rPr sz="1800" spc="562" baseline="-23148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=3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(resulting in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ΔT=6,</a:t>
            </a:r>
            <a:r>
              <a:rPr sz="1800" spc="1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925" i="1" spc="60" baseline="5698" dirty="0">
                <a:latin typeface="Times New Roman"/>
                <a:cs typeface="Times New Roman"/>
              </a:rPr>
              <a:t>d</a:t>
            </a:r>
            <a:r>
              <a:rPr sz="1650" spc="60" baseline="-15151" dirty="0">
                <a:latin typeface="Times New Roman"/>
                <a:cs typeface="Times New Roman"/>
              </a:rPr>
              <a:t>2</a:t>
            </a:r>
            <a:r>
              <a:rPr sz="1650" spc="284" baseline="-15151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=6)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7052" y="771271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4052" y="2720721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2440" y="2069592"/>
            <a:ext cx="2761615" cy="2371725"/>
            <a:chOff x="472440" y="2069592"/>
            <a:chExt cx="2761615" cy="2371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440" y="3308616"/>
              <a:ext cx="1132331" cy="11323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1708" y="3341370"/>
              <a:ext cx="836930" cy="836930"/>
            </a:xfrm>
            <a:custGeom>
              <a:avLst/>
              <a:gdLst/>
              <a:ahLst/>
              <a:cxnLst/>
              <a:rect l="l" t="t" r="r" b="b"/>
              <a:pathLst>
                <a:path w="836930" h="836929">
                  <a:moveTo>
                    <a:pt x="836930" y="0"/>
                  </a:moveTo>
                  <a:lnTo>
                    <a:pt x="0" y="836930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1710" y="4050327"/>
              <a:ext cx="128270" cy="128270"/>
            </a:xfrm>
            <a:custGeom>
              <a:avLst/>
              <a:gdLst/>
              <a:ahLst/>
              <a:cxnLst/>
              <a:rect l="l" t="t" r="r" b="b"/>
              <a:pathLst>
                <a:path w="128269" h="128270">
                  <a:moveTo>
                    <a:pt x="33667" y="0"/>
                  </a:moveTo>
                  <a:lnTo>
                    <a:pt x="0" y="127965"/>
                  </a:lnTo>
                  <a:lnTo>
                    <a:pt x="127965" y="94284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5712" y="3151632"/>
              <a:ext cx="1728215" cy="4251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49145" y="3341370"/>
              <a:ext cx="1434465" cy="0"/>
            </a:xfrm>
            <a:custGeom>
              <a:avLst/>
              <a:gdLst/>
              <a:ahLst/>
              <a:cxnLst/>
              <a:rect l="l" t="t" r="r" b="b"/>
              <a:pathLst>
                <a:path w="1434464">
                  <a:moveTo>
                    <a:pt x="0" y="0"/>
                  </a:moveTo>
                  <a:lnTo>
                    <a:pt x="1433893" y="0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68741" y="3274688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6548" y="2069592"/>
              <a:ext cx="425195" cy="13365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49145" y="2297049"/>
              <a:ext cx="0" cy="1043940"/>
            </a:xfrm>
            <a:custGeom>
              <a:avLst/>
              <a:gdLst/>
              <a:ahLst/>
              <a:cxnLst/>
              <a:rect l="l" t="t" r="r" b="b"/>
              <a:pathLst>
                <a:path h="1043939">
                  <a:moveTo>
                    <a:pt x="0" y="1043368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82478" y="2297046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133350" y="114300"/>
                  </a:moveTo>
                  <a:lnTo>
                    <a:pt x="66675" y="0"/>
                  </a:lnTo>
                  <a:lnTo>
                    <a:pt x="0" y="114300"/>
                  </a:lnTo>
                </a:path>
              </a:pathLst>
            </a:custGeom>
            <a:ln w="38099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0704" y="2473452"/>
              <a:ext cx="829055" cy="94335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16330" y="2504694"/>
              <a:ext cx="720725" cy="836930"/>
            </a:xfrm>
            <a:custGeom>
              <a:avLst/>
              <a:gdLst/>
              <a:ahLst/>
              <a:cxnLst/>
              <a:rect l="l" t="t" r="r" b="b"/>
              <a:pathLst>
                <a:path w="720725" h="836929">
                  <a:moveTo>
                    <a:pt x="720725" y="0"/>
                  </a:moveTo>
                  <a:lnTo>
                    <a:pt x="0" y="836612"/>
                  </a:lnTo>
                </a:path>
              </a:pathLst>
            </a:custGeom>
            <a:ln w="25908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6316" y="2456688"/>
              <a:ext cx="1054607" cy="5699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821942" y="2492502"/>
              <a:ext cx="951230" cy="460375"/>
            </a:xfrm>
            <a:custGeom>
              <a:avLst/>
              <a:gdLst/>
              <a:ahLst/>
              <a:cxnLst/>
              <a:rect l="l" t="t" r="r" b="b"/>
              <a:pathLst>
                <a:path w="951230" h="460375">
                  <a:moveTo>
                    <a:pt x="950912" y="460375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2412" y="2401824"/>
              <a:ext cx="204216" cy="1813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0047" y="2862072"/>
              <a:ext cx="205740" cy="1813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4983" y="3250692"/>
              <a:ext cx="205739" cy="18135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763292" y="1958721"/>
            <a:ext cx="205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62528" y="2238222"/>
            <a:ext cx="272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C'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3873" y="2775889"/>
            <a:ext cx="205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4982" y="2590571"/>
            <a:ext cx="273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A'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11224" y="2604516"/>
            <a:ext cx="1035050" cy="416559"/>
            <a:chOff x="1411224" y="2604516"/>
            <a:chExt cx="1035050" cy="416559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0180" y="2743200"/>
              <a:ext cx="248411" cy="2270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91234" y="2779013"/>
              <a:ext cx="141605" cy="119380"/>
            </a:xfrm>
            <a:custGeom>
              <a:avLst/>
              <a:gdLst/>
              <a:ahLst/>
              <a:cxnLst/>
              <a:rect l="l" t="t" r="r" b="b"/>
              <a:pathLst>
                <a:path w="141605" h="119380">
                  <a:moveTo>
                    <a:pt x="0" y="119062"/>
                  </a:moveTo>
                  <a:lnTo>
                    <a:pt x="141287" y="0"/>
                  </a:lnTo>
                </a:path>
              </a:pathLst>
            </a:custGeom>
            <a:ln w="25908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1724" y="2625852"/>
              <a:ext cx="239267" cy="18135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649730" y="2661665"/>
              <a:ext cx="135255" cy="71755"/>
            </a:xfrm>
            <a:custGeom>
              <a:avLst/>
              <a:gdLst/>
              <a:ahLst/>
              <a:cxnLst/>
              <a:rect l="l" t="t" r="r" b="b"/>
              <a:pathLst>
                <a:path w="135255" h="71755">
                  <a:moveTo>
                    <a:pt x="0" y="71437"/>
                  </a:moveTo>
                  <a:lnTo>
                    <a:pt x="134937" y="0"/>
                  </a:lnTo>
                </a:path>
              </a:pathLst>
            </a:custGeom>
            <a:ln w="25908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78508" y="2604516"/>
              <a:ext cx="240791" cy="11125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821942" y="2640330"/>
              <a:ext cx="141605" cy="0"/>
            </a:xfrm>
            <a:custGeom>
              <a:avLst/>
              <a:gdLst/>
              <a:ahLst/>
              <a:cxnLst/>
              <a:rect l="l" t="t" r="r" b="b"/>
              <a:pathLst>
                <a:path w="141605">
                  <a:moveTo>
                    <a:pt x="0" y="0"/>
                  </a:moveTo>
                  <a:lnTo>
                    <a:pt x="141287" y="0"/>
                  </a:lnTo>
                </a:path>
              </a:pathLst>
            </a:custGeom>
            <a:ln w="25908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50719" y="2604516"/>
              <a:ext cx="243839" cy="15239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997202" y="2640330"/>
              <a:ext cx="141605" cy="41275"/>
            </a:xfrm>
            <a:custGeom>
              <a:avLst/>
              <a:gdLst/>
              <a:ahLst/>
              <a:cxnLst/>
              <a:rect l="l" t="t" r="r" b="b"/>
              <a:pathLst>
                <a:path w="141605" h="41275">
                  <a:moveTo>
                    <a:pt x="0" y="0"/>
                  </a:moveTo>
                  <a:lnTo>
                    <a:pt x="141287" y="41275"/>
                  </a:lnTo>
                </a:path>
              </a:pathLst>
            </a:custGeom>
            <a:ln w="25908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65604" y="2688335"/>
              <a:ext cx="245363" cy="16611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00656" y="2708147"/>
              <a:ext cx="245363" cy="16001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10384" y="2732531"/>
              <a:ext cx="88391" cy="6553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310384" y="2732531"/>
              <a:ext cx="88900" cy="66040"/>
            </a:xfrm>
            <a:custGeom>
              <a:avLst/>
              <a:gdLst/>
              <a:ahLst/>
              <a:cxnLst/>
              <a:rect l="l" t="t" r="r" b="b"/>
              <a:pathLst>
                <a:path w="88900" h="66039">
                  <a:moveTo>
                    <a:pt x="0" y="32765"/>
                  </a:moveTo>
                  <a:lnTo>
                    <a:pt x="3473" y="20011"/>
                  </a:lnTo>
                  <a:lnTo>
                    <a:pt x="12944" y="9596"/>
                  </a:lnTo>
                  <a:lnTo>
                    <a:pt x="26992" y="2574"/>
                  </a:lnTo>
                  <a:lnTo>
                    <a:pt x="44196" y="0"/>
                  </a:lnTo>
                  <a:lnTo>
                    <a:pt x="61399" y="2574"/>
                  </a:lnTo>
                  <a:lnTo>
                    <a:pt x="75447" y="9596"/>
                  </a:lnTo>
                  <a:lnTo>
                    <a:pt x="84918" y="20011"/>
                  </a:lnTo>
                  <a:lnTo>
                    <a:pt x="88392" y="32765"/>
                  </a:lnTo>
                  <a:lnTo>
                    <a:pt x="84918" y="45520"/>
                  </a:lnTo>
                  <a:lnTo>
                    <a:pt x="75447" y="55935"/>
                  </a:lnTo>
                  <a:lnTo>
                    <a:pt x="61399" y="62957"/>
                  </a:lnTo>
                  <a:lnTo>
                    <a:pt x="44196" y="65531"/>
                  </a:lnTo>
                  <a:lnTo>
                    <a:pt x="26992" y="62957"/>
                  </a:lnTo>
                  <a:lnTo>
                    <a:pt x="12944" y="55935"/>
                  </a:lnTo>
                  <a:lnTo>
                    <a:pt x="3473" y="45520"/>
                  </a:lnTo>
                  <a:lnTo>
                    <a:pt x="0" y="32765"/>
                  </a:lnTo>
                  <a:close/>
                </a:path>
              </a:pathLst>
            </a:custGeom>
            <a:ln w="9144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11224" y="2860547"/>
              <a:ext cx="184403" cy="16001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58468" y="2884931"/>
              <a:ext cx="89915" cy="6553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458468" y="2884931"/>
              <a:ext cx="90170" cy="66040"/>
            </a:xfrm>
            <a:custGeom>
              <a:avLst/>
              <a:gdLst/>
              <a:ahLst/>
              <a:cxnLst/>
              <a:rect l="l" t="t" r="r" b="b"/>
              <a:pathLst>
                <a:path w="90169" h="66039">
                  <a:moveTo>
                    <a:pt x="0" y="32765"/>
                  </a:moveTo>
                  <a:lnTo>
                    <a:pt x="3533" y="20011"/>
                  </a:lnTo>
                  <a:lnTo>
                    <a:pt x="13168" y="9596"/>
                  </a:lnTo>
                  <a:lnTo>
                    <a:pt x="27458" y="2574"/>
                  </a:lnTo>
                  <a:lnTo>
                    <a:pt x="44958" y="0"/>
                  </a:lnTo>
                  <a:lnTo>
                    <a:pt x="62457" y="2574"/>
                  </a:lnTo>
                  <a:lnTo>
                    <a:pt x="76747" y="9596"/>
                  </a:lnTo>
                  <a:lnTo>
                    <a:pt x="86382" y="20011"/>
                  </a:lnTo>
                  <a:lnTo>
                    <a:pt x="89916" y="32765"/>
                  </a:lnTo>
                  <a:lnTo>
                    <a:pt x="86382" y="45520"/>
                  </a:lnTo>
                  <a:lnTo>
                    <a:pt x="76747" y="55935"/>
                  </a:lnTo>
                  <a:lnTo>
                    <a:pt x="62457" y="62957"/>
                  </a:lnTo>
                  <a:lnTo>
                    <a:pt x="44958" y="65531"/>
                  </a:lnTo>
                  <a:lnTo>
                    <a:pt x="27458" y="62957"/>
                  </a:lnTo>
                  <a:lnTo>
                    <a:pt x="13168" y="55935"/>
                  </a:lnTo>
                  <a:lnTo>
                    <a:pt x="3533" y="45520"/>
                  </a:lnTo>
                  <a:lnTo>
                    <a:pt x="0" y="32765"/>
                  </a:lnTo>
                  <a:close/>
                </a:path>
              </a:pathLst>
            </a:custGeom>
            <a:ln w="9144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987331" y="1946526"/>
            <a:ext cx="1193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dirty="0">
                <a:latin typeface="Times New Roman"/>
                <a:cs typeface="Times New Roman"/>
              </a:rPr>
              <a:t>..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33084" y="2105052"/>
            <a:ext cx="391223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2550" i="1" spc="85" dirty="0">
                <a:latin typeface="Times New Roman"/>
                <a:cs typeface="Times New Roman"/>
              </a:rPr>
              <a:t>p</a:t>
            </a:r>
            <a:r>
              <a:rPr sz="2550" spc="-10" dirty="0">
                <a:latin typeface="Times New Roman"/>
                <a:cs typeface="Times New Roman"/>
              </a:rPr>
              <a:t>(</a:t>
            </a:r>
            <a:r>
              <a:rPr sz="2550" i="1" spc="170" dirty="0">
                <a:latin typeface="Times New Roman"/>
                <a:cs typeface="Times New Roman"/>
              </a:rPr>
              <a:t>t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5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85" dirty="0">
                <a:latin typeface="Times New Roman"/>
                <a:cs typeface="Times New Roman"/>
              </a:rPr>
              <a:t> </a:t>
            </a:r>
            <a:r>
              <a:rPr sz="2550" spc="-210" dirty="0">
                <a:latin typeface="Times New Roman"/>
                <a:cs typeface="Times New Roman"/>
              </a:rPr>
              <a:t>(</a:t>
            </a:r>
            <a:r>
              <a:rPr sz="2550" spc="165" dirty="0">
                <a:latin typeface="Times New Roman"/>
                <a:cs typeface="Times New Roman"/>
              </a:rPr>
              <a:t>1</a:t>
            </a:r>
            <a:r>
              <a:rPr sz="2550" spc="5" dirty="0">
                <a:latin typeface="Times New Roman"/>
                <a:cs typeface="Times New Roman"/>
              </a:rPr>
              <a:t>/</a:t>
            </a:r>
            <a:r>
              <a:rPr sz="2550" spc="-1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</a:t>
            </a:r>
            <a:r>
              <a:rPr sz="2550" i="1" spc="10" dirty="0">
                <a:latin typeface="Times New Roman"/>
                <a:cs typeface="Times New Roman"/>
              </a:rPr>
              <a:t>T</a:t>
            </a:r>
            <a:r>
              <a:rPr sz="2550" i="1" spc="-30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)</a:t>
            </a:r>
            <a:r>
              <a:rPr sz="2550" spc="30" dirty="0">
                <a:latin typeface="Times New Roman"/>
                <a:cs typeface="Times New Roman"/>
              </a:rPr>
              <a:t>(</a:t>
            </a:r>
            <a:r>
              <a:rPr sz="2550" i="1" spc="-20" dirty="0">
                <a:latin typeface="Times New Roman"/>
                <a:cs typeface="Times New Roman"/>
              </a:rPr>
              <a:t>v</a:t>
            </a:r>
            <a:r>
              <a:rPr sz="2175" spc="22" baseline="-24904" dirty="0">
                <a:latin typeface="Times New Roman"/>
                <a:cs typeface="Times New Roman"/>
              </a:rPr>
              <a:t>2</a:t>
            </a:r>
            <a:r>
              <a:rPr sz="2175" spc="-240" baseline="-24904" dirty="0">
                <a:latin typeface="Times New Roman"/>
                <a:cs typeface="Times New Roman"/>
              </a:rPr>
              <a:t> </a:t>
            </a:r>
            <a:r>
              <a:rPr sz="2550" i="1" spc="180" dirty="0">
                <a:latin typeface="Times New Roman"/>
                <a:cs typeface="Times New Roman"/>
              </a:rPr>
              <a:t>K</a:t>
            </a:r>
            <a:r>
              <a:rPr sz="2175" i="1" spc="22" baseline="-24904" dirty="0">
                <a:latin typeface="Times New Roman"/>
                <a:cs typeface="Times New Roman"/>
              </a:rPr>
              <a:t>B</a:t>
            </a:r>
            <a:r>
              <a:rPr sz="2175" i="1" spc="30" baseline="-24904" dirty="0">
                <a:latin typeface="Times New Roman"/>
                <a:cs typeface="Times New Roman"/>
              </a:rPr>
              <a:t>C</a:t>
            </a:r>
            <a:r>
              <a:rPr sz="2175" i="1" baseline="-24904" dirty="0">
                <a:latin typeface="Times New Roman"/>
                <a:cs typeface="Times New Roman"/>
              </a:rPr>
              <a:t> </a:t>
            </a:r>
            <a:r>
              <a:rPr sz="2175" i="1" spc="89" baseline="-24904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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i="1" spc="-180" dirty="0">
                <a:latin typeface="Times New Roman"/>
                <a:cs typeface="Times New Roman"/>
              </a:rPr>
              <a:t>v</a:t>
            </a:r>
            <a:r>
              <a:rPr sz="2175" spc="157" baseline="-24904" dirty="0">
                <a:latin typeface="Times New Roman"/>
                <a:cs typeface="Times New Roman"/>
              </a:rPr>
              <a:t>1</a:t>
            </a:r>
            <a:r>
              <a:rPr sz="2550" i="1" spc="10" dirty="0">
                <a:latin typeface="Times New Roman"/>
                <a:cs typeface="Times New Roman"/>
              </a:rPr>
              <a:t>K</a:t>
            </a:r>
            <a:r>
              <a:rPr sz="2550" i="1" spc="-400" dirty="0">
                <a:latin typeface="Times New Roman"/>
                <a:cs typeface="Times New Roman"/>
              </a:rPr>
              <a:t> </a:t>
            </a:r>
            <a:r>
              <a:rPr sz="2175" i="1" spc="22" baseline="-24904" dirty="0">
                <a:latin typeface="Times New Roman"/>
                <a:cs typeface="Times New Roman"/>
              </a:rPr>
              <a:t>A</a:t>
            </a:r>
            <a:r>
              <a:rPr sz="2175" i="1" spc="30" baseline="-24904" dirty="0">
                <a:latin typeface="Times New Roman"/>
                <a:cs typeface="Times New Roman"/>
              </a:rPr>
              <a:t>B</a:t>
            </a:r>
            <a:r>
              <a:rPr sz="2175" i="1" spc="-52" baseline="-24904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054146" y="3345139"/>
            <a:ext cx="69850" cy="1238250"/>
            <a:chOff x="4054146" y="3345139"/>
            <a:chExt cx="69850" cy="1238250"/>
          </a:xfrm>
        </p:grpSpPr>
        <p:sp>
          <p:nvSpPr>
            <p:cNvPr id="44" name="object 44"/>
            <p:cNvSpPr/>
            <p:nvPr/>
          </p:nvSpPr>
          <p:spPr>
            <a:xfrm>
              <a:off x="4115118" y="3345139"/>
              <a:ext cx="0" cy="1238250"/>
            </a:xfrm>
            <a:custGeom>
              <a:avLst/>
              <a:gdLst/>
              <a:ahLst/>
              <a:cxnLst/>
              <a:rect l="l" t="t" r="r" b="b"/>
              <a:pathLst>
                <a:path h="1238250">
                  <a:moveTo>
                    <a:pt x="0" y="0"/>
                  </a:moveTo>
                  <a:lnTo>
                    <a:pt x="0" y="1238025"/>
                  </a:lnTo>
                </a:path>
              </a:pathLst>
            </a:custGeom>
            <a:ln w="17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62856" y="3345139"/>
              <a:ext cx="0" cy="1238250"/>
            </a:xfrm>
            <a:custGeom>
              <a:avLst/>
              <a:gdLst/>
              <a:ahLst/>
              <a:cxnLst/>
              <a:rect l="l" t="t" r="r" b="b"/>
              <a:pathLst>
                <a:path h="1238250">
                  <a:moveTo>
                    <a:pt x="0" y="0"/>
                  </a:moveTo>
                  <a:lnTo>
                    <a:pt x="0" y="1238025"/>
                  </a:lnTo>
                </a:path>
              </a:pathLst>
            </a:custGeom>
            <a:ln w="17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682500" y="3345139"/>
            <a:ext cx="69850" cy="1238250"/>
            <a:chOff x="5682500" y="3345139"/>
            <a:chExt cx="69850" cy="1238250"/>
          </a:xfrm>
        </p:grpSpPr>
        <p:sp>
          <p:nvSpPr>
            <p:cNvPr id="47" name="object 47"/>
            <p:cNvSpPr/>
            <p:nvPr/>
          </p:nvSpPr>
          <p:spPr>
            <a:xfrm>
              <a:off x="5743472" y="3345139"/>
              <a:ext cx="0" cy="1238250"/>
            </a:xfrm>
            <a:custGeom>
              <a:avLst/>
              <a:gdLst/>
              <a:ahLst/>
              <a:cxnLst/>
              <a:rect l="l" t="t" r="r" b="b"/>
              <a:pathLst>
                <a:path h="1238250">
                  <a:moveTo>
                    <a:pt x="0" y="0"/>
                  </a:moveTo>
                  <a:lnTo>
                    <a:pt x="0" y="1238025"/>
                  </a:lnTo>
                </a:path>
              </a:pathLst>
            </a:custGeom>
            <a:ln w="17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691210" y="3345139"/>
              <a:ext cx="0" cy="1238250"/>
            </a:xfrm>
            <a:custGeom>
              <a:avLst/>
              <a:gdLst/>
              <a:ahLst/>
              <a:cxnLst/>
              <a:rect l="l" t="t" r="r" b="b"/>
              <a:pathLst>
                <a:path h="1238250">
                  <a:moveTo>
                    <a:pt x="0" y="0"/>
                  </a:moveTo>
                  <a:lnTo>
                    <a:pt x="0" y="1238025"/>
                  </a:lnTo>
                </a:path>
              </a:pathLst>
            </a:custGeom>
            <a:ln w="17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202356" y="3516496"/>
            <a:ext cx="1263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05502" y="2711597"/>
            <a:ext cx="404876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750" i="1" spc="-95" dirty="0">
                <a:latin typeface="Times New Roman"/>
                <a:cs typeface="Times New Roman"/>
              </a:rPr>
              <a:t>v</a:t>
            </a:r>
            <a:r>
              <a:rPr sz="2400" spc="-142" baseline="-24305" dirty="0">
                <a:latin typeface="Times New Roman"/>
                <a:cs typeface="Times New Roman"/>
              </a:rPr>
              <a:t>1</a:t>
            </a:r>
            <a:r>
              <a:rPr sz="2400" spc="569" baseline="-24305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Symbol"/>
                <a:cs typeface="Symbol"/>
              </a:rPr>
              <a:t></a:t>
            </a:r>
            <a:r>
              <a:rPr sz="2750" spc="-95" dirty="0">
                <a:latin typeface="Times New Roman"/>
                <a:cs typeface="Times New Roman"/>
              </a:rPr>
              <a:t> </a:t>
            </a:r>
            <a:r>
              <a:rPr sz="2750" i="1" spc="-10" dirty="0">
                <a:latin typeface="Times New Roman"/>
                <a:cs typeface="Times New Roman"/>
              </a:rPr>
              <a:t>v</a:t>
            </a:r>
            <a:r>
              <a:rPr sz="2400" spc="-15" baseline="-24305" dirty="0">
                <a:latin typeface="Times New Roman"/>
                <a:cs typeface="Times New Roman"/>
              </a:rPr>
              <a:t>2</a:t>
            </a:r>
            <a:r>
              <a:rPr sz="2400" spc="757" baseline="-24305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Symbol"/>
                <a:cs typeface="Symbol"/>
              </a:rPr>
              <a:t></a:t>
            </a:r>
            <a:r>
              <a:rPr sz="2750" spc="-95" dirty="0">
                <a:latin typeface="Times New Roman"/>
                <a:cs typeface="Times New Roman"/>
              </a:rPr>
              <a:t> </a:t>
            </a:r>
            <a:r>
              <a:rPr sz="2750" i="1" spc="-15" dirty="0">
                <a:latin typeface="Times New Roman"/>
                <a:cs typeface="Times New Roman"/>
              </a:rPr>
              <a:t>v</a:t>
            </a:r>
            <a:r>
              <a:rPr sz="2400" spc="-22" baseline="-24305" dirty="0">
                <a:latin typeface="Times New Roman"/>
                <a:cs typeface="Times New Roman"/>
              </a:rPr>
              <a:t>max </a:t>
            </a:r>
            <a:r>
              <a:rPr sz="2750" spc="5" dirty="0">
                <a:latin typeface="Times New Roman"/>
                <a:cs typeface="Times New Roman"/>
              </a:rPr>
              <a:t>(</a:t>
            </a:r>
            <a:r>
              <a:rPr sz="2750" spc="-105" dirty="0">
                <a:latin typeface="Times New Roman"/>
                <a:cs typeface="Times New Roman"/>
              </a:rPr>
              <a:t> </a:t>
            </a:r>
            <a:r>
              <a:rPr sz="2750" i="1" spc="10" dirty="0">
                <a:latin typeface="Times New Roman"/>
                <a:cs typeface="Times New Roman"/>
              </a:rPr>
              <a:t>for</a:t>
            </a:r>
            <a:r>
              <a:rPr sz="2750" i="1" spc="-125" dirty="0">
                <a:latin typeface="Times New Roman"/>
                <a:cs typeface="Times New Roman"/>
              </a:rPr>
              <a:t> </a:t>
            </a:r>
            <a:r>
              <a:rPr sz="2750" i="1" spc="15" dirty="0">
                <a:latin typeface="Times New Roman"/>
                <a:cs typeface="Times New Roman"/>
              </a:rPr>
              <a:t>simplicity</a:t>
            </a:r>
            <a:r>
              <a:rPr sz="2750" spc="15" dirty="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59535" y="3687733"/>
            <a:ext cx="149415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750" i="1" spc="70" dirty="0">
                <a:latin typeface="Times New Roman"/>
                <a:cs typeface="Times New Roman"/>
              </a:rPr>
              <a:t>p</a:t>
            </a:r>
            <a:r>
              <a:rPr sz="2750" spc="70" dirty="0">
                <a:latin typeface="Times New Roman"/>
                <a:cs typeface="Times New Roman"/>
              </a:rPr>
              <a:t>(</a:t>
            </a:r>
            <a:r>
              <a:rPr sz="2750" i="1" spc="70" dirty="0">
                <a:latin typeface="Times New Roman"/>
                <a:cs typeface="Times New Roman"/>
              </a:rPr>
              <a:t>t</a:t>
            </a:r>
            <a:r>
              <a:rPr sz="2750" spc="70" dirty="0">
                <a:latin typeface="Times New Roman"/>
                <a:cs typeface="Times New Roman"/>
              </a:rPr>
              <a:t>)</a:t>
            </a:r>
            <a:r>
              <a:rPr sz="2750" spc="-85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Symbol"/>
                <a:cs typeface="Symbol"/>
              </a:rPr>
              <a:t></a:t>
            </a:r>
            <a:r>
              <a:rPr sz="2750" spc="-80" dirty="0">
                <a:latin typeface="Times New Roman"/>
                <a:cs typeface="Times New Roman"/>
              </a:rPr>
              <a:t> </a:t>
            </a:r>
            <a:r>
              <a:rPr sz="2750" i="1" spc="-15" dirty="0">
                <a:latin typeface="Times New Roman"/>
                <a:cs typeface="Times New Roman"/>
              </a:rPr>
              <a:t>a</a:t>
            </a:r>
            <a:r>
              <a:rPr sz="2400" spc="-22" baseline="-24305" dirty="0">
                <a:latin typeface="Times New Roman"/>
                <a:cs typeface="Times New Roman"/>
              </a:rPr>
              <a:t>max</a:t>
            </a:r>
            <a:endParaRPr sz="2400" baseline="-24305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738209" y="4800211"/>
            <a:ext cx="61594" cy="368300"/>
            <a:chOff x="3738209" y="4800211"/>
            <a:chExt cx="61594" cy="368300"/>
          </a:xfrm>
        </p:grpSpPr>
        <p:sp>
          <p:nvSpPr>
            <p:cNvPr id="53" name="object 53"/>
            <p:cNvSpPr/>
            <p:nvPr/>
          </p:nvSpPr>
          <p:spPr>
            <a:xfrm>
              <a:off x="3791816" y="4800211"/>
              <a:ext cx="0" cy="368300"/>
            </a:xfrm>
            <a:custGeom>
              <a:avLst/>
              <a:gdLst/>
              <a:ahLst/>
              <a:cxnLst/>
              <a:rect l="l" t="t" r="r" b="b"/>
              <a:pathLst>
                <a:path h="368300">
                  <a:moveTo>
                    <a:pt x="0" y="0"/>
                  </a:moveTo>
                  <a:lnTo>
                    <a:pt x="0" y="367764"/>
                  </a:lnTo>
                </a:path>
              </a:pathLst>
            </a:custGeom>
            <a:ln w="15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45867" y="4800211"/>
              <a:ext cx="0" cy="368300"/>
            </a:xfrm>
            <a:custGeom>
              <a:avLst/>
              <a:gdLst/>
              <a:ahLst/>
              <a:cxnLst/>
              <a:rect l="l" t="t" r="r" b="b"/>
              <a:pathLst>
                <a:path h="368300">
                  <a:moveTo>
                    <a:pt x="0" y="0"/>
                  </a:moveTo>
                  <a:lnTo>
                    <a:pt x="0" y="367764"/>
                  </a:lnTo>
                </a:path>
              </a:pathLst>
            </a:custGeom>
            <a:ln w="15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5127146" y="4800211"/>
            <a:ext cx="61594" cy="368300"/>
            <a:chOff x="5127146" y="4800211"/>
            <a:chExt cx="61594" cy="368300"/>
          </a:xfrm>
        </p:grpSpPr>
        <p:sp>
          <p:nvSpPr>
            <p:cNvPr id="56" name="object 56"/>
            <p:cNvSpPr/>
            <p:nvPr/>
          </p:nvSpPr>
          <p:spPr>
            <a:xfrm>
              <a:off x="5180753" y="4800211"/>
              <a:ext cx="0" cy="368300"/>
            </a:xfrm>
            <a:custGeom>
              <a:avLst/>
              <a:gdLst/>
              <a:ahLst/>
              <a:cxnLst/>
              <a:rect l="l" t="t" r="r" b="b"/>
              <a:pathLst>
                <a:path h="368300">
                  <a:moveTo>
                    <a:pt x="0" y="0"/>
                  </a:moveTo>
                  <a:lnTo>
                    <a:pt x="0" y="367764"/>
                  </a:lnTo>
                </a:path>
              </a:pathLst>
            </a:custGeom>
            <a:ln w="15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34804" y="4800211"/>
              <a:ext cx="0" cy="368300"/>
            </a:xfrm>
            <a:custGeom>
              <a:avLst/>
              <a:gdLst/>
              <a:ahLst/>
              <a:cxnLst/>
              <a:rect l="l" t="t" r="r" b="b"/>
              <a:pathLst>
                <a:path h="368300">
                  <a:moveTo>
                    <a:pt x="0" y="0"/>
                  </a:moveTo>
                  <a:lnTo>
                    <a:pt x="0" y="367764"/>
                  </a:lnTo>
                </a:path>
              </a:pathLst>
            </a:custGeom>
            <a:ln w="15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3699916" y="5322825"/>
            <a:ext cx="5146675" cy="447675"/>
            <a:chOff x="3699916" y="5322825"/>
            <a:chExt cx="5146675" cy="447675"/>
          </a:xfrm>
        </p:grpSpPr>
        <p:sp>
          <p:nvSpPr>
            <p:cNvPr id="59" name="object 59"/>
            <p:cNvSpPr/>
            <p:nvPr/>
          </p:nvSpPr>
          <p:spPr>
            <a:xfrm>
              <a:off x="3702336" y="5602681"/>
              <a:ext cx="31750" cy="24765"/>
            </a:xfrm>
            <a:custGeom>
              <a:avLst/>
              <a:gdLst/>
              <a:ahLst/>
              <a:cxnLst/>
              <a:rect l="l" t="t" r="r" b="b"/>
              <a:pathLst>
                <a:path w="31750" h="24764">
                  <a:moveTo>
                    <a:pt x="0" y="24195"/>
                  </a:moveTo>
                  <a:lnTo>
                    <a:pt x="3143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33774" y="5602681"/>
              <a:ext cx="75565" cy="168275"/>
            </a:xfrm>
            <a:custGeom>
              <a:avLst/>
              <a:gdLst/>
              <a:ahLst/>
              <a:cxnLst/>
              <a:rect l="l" t="t" r="r" b="b"/>
              <a:pathLst>
                <a:path w="75564" h="168275">
                  <a:moveTo>
                    <a:pt x="0" y="0"/>
                  </a:moveTo>
                  <a:lnTo>
                    <a:pt x="74968" y="1677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08742" y="5330084"/>
              <a:ext cx="82550" cy="440690"/>
            </a:xfrm>
            <a:custGeom>
              <a:avLst/>
              <a:gdLst/>
              <a:ahLst/>
              <a:cxnLst/>
              <a:rect l="l" t="t" r="r" b="b"/>
              <a:pathLst>
                <a:path w="82550" h="440689">
                  <a:moveTo>
                    <a:pt x="0" y="440350"/>
                  </a:moveTo>
                  <a:lnTo>
                    <a:pt x="82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90966" y="5330084"/>
              <a:ext cx="4955540" cy="0"/>
            </a:xfrm>
            <a:custGeom>
              <a:avLst/>
              <a:gdLst/>
              <a:ahLst/>
              <a:cxnLst/>
              <a:rect l="l" t="t" r="r" b="b"/>
              <a:pathLst>
                <a:path w="4955540">
                  <a:moveTo>
                    <a:pt x="0" y="0"/>
                  </a:moveTo>
                  <a:lnTo>
                    <a:pt x="49551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99916" y="5322825"/>
              <a:ext cx="5146675" cy="447675"/>
            </a:xfrm>
            <a:custGeom>
              <a:avLst/>
              <a:gdLst/>
              <a:ahLst/>
              <a:cxnLst/>
              <a:rect l="l" t="t" r="r" b="b"/>
              <a:pathLst>
                <a:path w="5146675" h="447675">
                  <a:moveTo>
                    <a:pt x="116886" y="447607"/>
                  </a:moveTo>
                  <a:lnTo>
                    <a:pt x="101570" y="447607"/>
                  </a:lnTo>
                  <a:lnTo>
                    <a:pt x="25795" y="291954"/>
                  </a:lnTo>
                  <a:lnTo>
                    <a:pt x="5642" y="308082"/>
                  </a:lnTo>
                  <a:lnTo>
                    <a:pt x="0" y="300018"/>
                  </a:lnTo>
                  <a:lnTo>
                    <a:pt x="42724" y="268565"/>
                  </a:lnTo>
                  <a:lnTo>
                    <a:pt x="108825" y="408090"/>
                  </a:lnTo>
                  <a:lnTo>
                    <a:pt x="185405" y="0"/>
                  </a:lnTo>
                  <a:lnTo>
                    <a:pt x="5146244" y="0"/>
                  </a:lnTo>
                  <a:lnTo>
                    <a:pt x="5146244" y="15324"/>
                  </a:lnTo>
                  <a:lnTo>
                    <a:pt x="197499" y="15324"/>
                  </a:lnTo>
                  <a:lnTo>
                    <a:pt x="116886" y="4476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847189" y="5385103"/>
            <a:ext cx="3024505" cy="3975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9875" indent="-232410">
              <a:lnSpc>
                <a:spcPct val="100000"/>
              </a:lnSpc>
              <a:spcBef>
                <a:spcPts val="135"/>
              </a:spcBef>
              <a:buFont typeface="Symbol"/>
              <a:buChar char=""/>
              <a:tabLst>
                <a:tab pos="270510" algn="l"/>
              </a:tabLst>
            </a:pPr>
            <a:r>
              <a:rPr sz="3600" i="1" spc="150" baseline="15046" dirty="0">
                <a:latin typeface="Times New Roman"/>
                <a:cs typeface="Times New Roman"/>
              </a:rPr>
              <a:t>K</a:t>
            </a:r>
            <a:r>
              <a:rPr sz="1400" i="1" dirty="0">
                <a:latin typeface="Times New Roman"/>
                <a:cs typeface="Times New Roman"/>
              </a:rPr>
              <a:t>b</a:t>
            </a:r>
            <a:r>
              <a:rPr sz="1400" i="1" spc="90" dirty="0">
                <a:latin typeface="Times New Roman"/>
                <a:cs typeface="Times New Roman"/>
              </a:rPr>
              <a:t>c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1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y</a:t>
            </a:r>
            <a:r>
              <a:rPr sz="1400" i="1" spc="-95" dirty="0">
                <a:latin typeface="Times New Roman"/>
                <a:cs typeface="Times New Roman"/>
              </a:rPr>
              <a:t> </a:t>
            </a:r>
            <a:r>
              <a:rPr sz="3600" i="1" spc="30" baseline="15046" dirty="0">
                <a:latin typeface="Times New Roman"/>
                <a:cs typeface="Times New Roman"/>
              </a:rPr>
              <a:t>K</a:t>
            </a:r>
            <a:r>
              <a:rPr sz="3600" i="1" spc="-562" baseline="15046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</a:t>
            </a:r>
            <a:r>
              <a:rPr sz="1400" i="1" spc="100" dirty="0">
                <a:latin typeface="Times New Roman"/>
                <a:cs typeface="Times New Roman"/>
              </a:rPr>
              <a:t>B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1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y</a:t>
            </a:r>
            <a:r>
              <a:rPr sz="1400" i="1" spc="-229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Symbol"/>
                <a:cs typeface="Symbol"/>
              </a:rPr>
              <a:t></a:t>
            </a:r>
            <a:r>
              <a:rPr sz="1400" spc="-135" dirty="0">
                <a:latin typeface="Times New Roman"/>
                <a:cs typeface="Times New Roman"/>
              </a:rPr>
              <a:t> </a:t>
            </a:r>
            <a:r>
              <a:rPr sz="3600" i="1" spc="270" baseline="15046" dirty="0">
                <a:latin typeface="Times New Roman"/>
                <a:cs typeface="Times New Roman"/>
              </a:rPr>
              <a:t>K</a:t>
            </a:r>
            <a:r>
              <a:rPr sz="1400" i="1" dirty="0">
                <a:latin typeface="Times New Roman"/>
                <a:cs typeface="Times New Roman"/>
              </a:rPr>
              <a:t>B</a:t>
            </a:r>
            <a:r>
              <a:rPr sz="1400" i="1" spc="5" dirty="0">
                <a:latin typeface="Times New Roman"/>
                <a:cs typeface="Times New Roman"/>
              </a:rPr>
              <a:t>C</a:t>
            </a:r>
            <a:r>
              <a:rPr sz="1400" i="1" spc="-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229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z</a:t>
            </a:r>
            <a:r>
              <a:rPr sz="1400" i="1" spc="-85" dirty="0">
                <a:latin typeface="Times New Roman"/>
                <a:cs typeface="Times New Roman"/>
              </a:rPr>
              <a:t> </a:t>
            </a:r>
            <a:r>
              <a:rPr sz="3600" i="1" spc="30" baseline="15046" dirty="0">
                <a:latin typeface="Times New Roman"/>
                <a:cs typeface="Times New Roman"/>
              </a:rPr>
              <a:t>K</a:t>
            </a:r>
            <a:r>
              <a:rPr sz="3600" i="1" spc="-562" baseline="15046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</a:t>
            </a:r>
            <a:r>
              <a:rPr sz="1400" i="1" spc="100" dirty="0">
                <a:latin typeface="Times New Roman"/>
                <a:cs typeface="Times New Roman"/>
              </a:rPr>
              <a:t>B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229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z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3600" spc="15" baseline="15046" dirty="0">
                <a:latin typeface="Times New Roman"/>
                <a:cs typeface="Times New Roman"/>
              </a:rPr>
              <a:t>)</a:t>
            </a:r>
            <a:endParaRPr sz="3600" baseline="15046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36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45346" y="4739124"/>
            <a:ext cx="4328795" cy="14986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2289810" algn="l"/>
              </a:tabLst>
            </a:pPr>
            <a:r>
              <a:rPr sz="2400" spc="10" dirty="0">
                <a:latin typeface="Symbol"/>
                <a:cs typeface="Symbol"/>
              </a:rPr>
              <a:t></a:t>
            </a:r>
            <a:r>
              <a:rPr sz="2400" i="1" spc="20" dirty="0">
                <a:latin typeface="Times New Roman"/>
                <a:cs typeface="Times New Roman"/>
              </a:rPr>
              <a:t>T</a:t>
            </a:r>
            <a:r>
              <a:rPr sz="2400" i="1" spc="254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v</a:t>
            </a:r>
            <a:r>
              <a:rPr sz="2100" spc="-30" baseline="-25793" dirty="0">
                <a:latin typeface="Times New Roman"/>
                <a:cs typeface="Times New Roman"/>
              </a:rPr>
              <a:t>m</a:t>
            </a:r>
            <a:r>
              <a:rPr sz="2100" spc="-15" baseline="-25793" dirty="0">
                <a:latin typeface="Times New Roman"/>
                <a:cs typeface="Times New Roman"/>
              </a:rPr>
              <a:t>a</a:t>
            </a:r>
            <a:r>
              <a:rPr sz="2100" baseline="-25793" dirty="0">
                <a:latin typeface="Times New Roman"/>
                <a:cs typeface="Times New Roman"/>
              </a:rPr>
              <a:t>x </a:t>
            </a:r>
            <a:r>
              <a:rPr sz="2100" spc="-22" baseline="-25793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/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i="1" spc="5" dirty="0">
                <a:latin typeface="Times New Roman"/>
                <a:cs typeface="Times New Roman"/>
              </a:rPr>
              <a:t>a</a:t>
            </a:r>
            <a:r>
              <a:rPr sz="2100" spc="-30" baseline="-25793" dirty="0">
                <a:latin typeface="Times New Roman"/>
                <a:cs typeface="Times New Roman"/>
              </a:rPr>
              <a:t>m</a:t>
            </a:r>
            <a:r>
              <a:rPr sz="2100" spc="-15" baseline="-25793" dirty="0">
                <a:latin typeface="Times New Roman"/>
                <a:cs typeface="Times New Roman"/>
              </a:rPr>
              <a:t>a</a:t>
            </a:r>
            <a:r>
              <a:rPr sz="2100" baseline="-25793" dirty="0">
                <a:latin typeface="Times New Roman"/>
                <a:cs typeface="Times New Roman"/>
              </a:rPr>
              <a:t>x</a:t>
            </a:r>
            <a:r>
              <a:rPr sz="2100" spc="-15" baseline="-25793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180" dirty="0">
                <a:latin typeface="Times New Roman"/>
                <a:cs typeface="Times New Roman"/>
              </a:rPr>
              <a:t>K</a:t>
            </a:r>
            <a:r>
              <a:rPr sz="2100" i="1" baseline="-25793" dirty="0">
                <a:latin typeface="Times New Roman"/>
                <a:cs typeface="Times New Roman"/>
              </a:rPr>
              <a:t>B</a:t>
            </a:r>
            <a:r>
              <a:rPr sz="2100" i="1" spc="7" baseline="-25793" dirty="0">
                <a:latin typeface="Times New Roman"/>
                <a:cs typeface="Times New Roman"/>
              </a:rPr>
              <a:t>C</a:t>
            </a:r>
            <a:r>
              <a:rPr sz="2100" i="1" baseline="-25793" dirty="0">
                <a:latin typeface="Times New Roman"/>
                <a:cs typeface="Times New Roman"/>
              </a:rPr>
              <a:t> </a:t>
            </a:r>
            <a:r>
              <a:rPr sz="2100" i="1" spc="67" baseline="-25793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Symbol"/>
                <a:cs typeface="Symbol"/>
              </a:rPr>
              <a:t>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i="1" spc="20" dirty="0">
                <a:latin typeface="Times New Roman"/>
                <a:cs typeface="Times New Roman"/>
              </a:rPr>
              <a:t>K</a:t>
            </a:r>
            <a:r>
              <a:rPr sz="2400" i="1" spc="-375" dirty="0">
                <a:latin typeface="Times New Roman"/>
                <a:cs typeface="Times New Roman"/>
              </a:rPr>
              <a:t> </a:t>
            </a:r>
            <a:r>
              <a:rPr sz="2100" i="1" baseline="-25793" dirty="0">
                <a:latin typeface="Times New Roman"/>
                <a:cs typeface="Times New Roman"/>
              </a:rPr>
              <a:t>AB</a:t>
            </a:r>
            <a:endParaRPr sz="2100" baseline="-25793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  <a:spcBef>
                <a:spcPts val="2210"/>
              </a:spcBef>
              <a:tabLst>
                <a:tab pos="2359025" algn="l"/>
              </a:tabLst>
            </a:pPr>
            <a:r>
              <a:rPr sz="3600" spc="30" baseline="15046" dirty="0">
                <a:latin typeface="Symbol"/>
                <a:cs typeface="Symbol"/>
              </a:rPr>
              <a:t></a:t>
            </a:r>
            <a:r>
              <a:rPr sz="3600" spc="-112" baseline="15046" dirty="0">
                <a:latin typeface="Times New Roman"/>
                <a:cs typeface="Times New Roman"/>
              </a:rPr>
              <a:t> </a:t>
            </a:r>
            <a:r>
              <a:rPr sz="3600" spc="52" baseline="15046" dirty="0">
                <a:latin typeface="Times New Roman"/>
                <a:cs typeface="Times New Roman"/>
              </a:rPr>
              <a:t>(</a:t>
            </a:r>
            <a:r>
              <a:rPr sz="3600" i="1" spc="-15" baseline="15046" dirty="0">
                <a:latin typeface="Times New Roman"/>
                <a:cs typeface="Times New Roman"/>
              </a:rPr>
              <a:t>v</a:t>
            </a:r>
            <a:r>
              <a:rPr sz="1400" spc="-20" dirty="0">
                <a:latin typeface="Times New Roman"/>
                <a:cs typeface="Times New Roman"/>
              </a:rPr>
              <a:t>m</a:t>
            </a: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x 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3600" spc="15" baseline="15046" dirty="0">
                <a:latin typeface="Times New Roman"/>
                <a:cs typeface="Times New Roman"/>
              </a:rPr>
              <a:t>/</a:t>
            </a:r>
            <a:r>
              <a:rPr sz="3600" spc="-262" baseline="15046" dirty="0">
                <a:latin typeface="Times New Roman"/>
                <a:cs typeface="Times New Roman"/>
              </a:rPr>
              <a:t> </a:t>
            </a:r>
            <a:r>
              <a:rPr sz="3600" i="1" spc="7" baseline="15046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m</a:t>
            </a:r>
            <a:r>
              <a:rPr sz="1400" spc="-10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3600" spc="15" baseline="15046" dirty="0">
                <a:latin typeface="Times New Roman"/>
                <a:cs typeface="Times New Roman"/>
              </a:rPr>
              <a:t>)</a:t>
            </a:r>
            <a:r>
              <a:rPr sz="3600" baseline="15046" dirty="0">
                <a:latin typeface="Times New Roman"/>
                <a:cs typeface="Times New Roman"/>
              </a:rPr>
              <a:t>	</a:t>
            </a:r>
            <a:r>
              <a:rPr sz="3600" spc="22" baseline="15046" dirty="0">
                <a:latin typeface="Times New Roman"/>
                <a:cs typeface="Times New Roman"/>
              </a:rPr>
              <a:t>2</a:t>
            </a:r>
            <a:r>
              <a:rPr sz="3600" spc="-292" baseline="15046" dirty="0">
                <a:latin typeface="Times New Roman"/>
                <a:cs typeface="Times New Roman"/>
              </a:rPr>
              <a:t>(</a:t>
            </a:r>
            <a:r>
              <a:rPr sz="3600" spc="307" baseline="15046" dirty="0">
                <a:latin typeface="Times New Roman"/>
                <a:cs typeface="Times New Roman"/>
              </a:rPr>
              <a:t>1</a:t>
            </a:r>
            <a:r>
              <a:rPr sz="3600" spc="30" baseline="15046" dirty="0">
                <a:latin typeface="Symbol"/>
                <a:cs typeface="Symbol"/>
              </a:rPr>
              <a:t></a:t>
            </a:r>
            <a:r>
              <a:rPr sz="3600" spc="-165" baseline="15046" dirty="0">
                <a:latin typeface="Times New Roman"/>
                <a:cs typeface="Times New Roman"/>
              </a:rPr>
              <a:t> </a:t>
            </a:r>
            <a:r>
              <a:rPr sz="3600" i="1" spc="270" baseline="15046" dirty="0">
                <a:latin typeface="Times New Roman"/>
                <a:cs typeface="Times New Roman"/>
              </a:rPr>
              <a:t>K</a:t>
            </a:r>
            <a:r>
              <a:rPr sz="1400" i="1" dirty="0">
                <a:latin typeface="Times New Roman"/>
                <a:cs typeface="Times New Roman"/>
              </a:rPr>
              <a:t>B</a:t>
            </a:r>
            <a:r>
              <a:rPr sz="1400" i="1" spc="5" dirty="0">
                <a:latin typeface="Times New Roman"/>
                <a:cs typeface="Times New Roman"/>
              </a:rPr>
              <a:t>C</a:t>
            </a:r>
            <a:r>
              <a:rPr sz="1400" i="1" spc="-2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229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x</a:t>
            </a:r>
            <a:r>
              <a:rPr sz="1400" i="1" spc="-120" dirty="0">
                <a:latin typeface="Times New Roman"/>
                <a:cs typeface="Times New Roman"/>
              </a:rPr>
              <a:t> </a:t>
            </a:r>
            <a:r>
              <a:rPr sz="3600" i="1" spc="30" baseline="15046" dirty="0">
                <a:latin typeface="Times New Roman"/>
                <a:cs typeface="Times New Roman"/>
              </a:rPr>
              <a:t>K</a:t>
            </a:r>
            <a:r>
              <a:rPr sz="3600" i="1" spc="-562" baseline="15046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</a:t>
            </a:r>
            <a:r>
              <a:rPr sz="1400" i="1" spc="100" dirty="0">
                <a:latin typeface="Times New Roman"/>
                <a:cs typeface="Times New Roman"/>
              </a:rPr>
              <a:t>B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229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x</a:t>
            </a:r>
            <a:endParaRPr sz="1400">
              <a:latin typeface="Times New Roman"/>
              <a:cs typeface="Times New Roman"/>
            </a:endParaRPr>
          </a:p>
          <a:p>
            <a:pPr marL="495934">
              <a:lnSpc>
                <a:spcPct val="100000"/>
              </a:lnSpc>
              <a:spcBef>
                <a:spcPts val="700"/>
              </a:spcBef>
            </a:pPr>
            <a:r>
              <a:rPr sz="2400" i="1" spc="15" dirty="0">
                <a:latin typeface="Times New Roman"/>
                <a:cs typeface="Times New Roman"/>
              </a:rPr>
              <a:t>th</a:t>
            </a:r>
            <a:r>
              <a:rPr sz="2400" i="1" spc="-5" dirty="0">
                <a:latin typeface="Times New Roman"/>
                <a:cs typeface="Times New Roman"/>
              </a:rPr>
              <a:t>e</a:t>
            </a:r>
            <a:r>
              <a:rPr sz="2400" i="1" spc="15" dirty="0">
                <a:latin typeface="Times New Roman"/>
                <a:cs typeface="Times New Roman"/>
              </a:rPr>
              <a:t>n</a:t>
            </a:r>
            <a:r>
              <a:rPr sz="2400" spc="5" dirty="0">
                <a:latin typeface="Times New Roman"/>
                <a:cs typeface="Times New Roman"/>
              </a:rPr>
              <a:t>,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i="1" spc="-30" dirty="0">
                <a:latin typeface="Times New Roman"/>
                <a:cs typeface="Times New Roman"/>
              </a:rPr>
              <a:t>d</a:t>
            </a:r>
            <a:r>
              <a:rPr sz="2100" baseline="-25793" dirty="0">
                <a:latin typeface="Times New Roman"/>
                <a:cs typeface="Times New Roman"/>
              </a:rPr>
              <a:t>1 </a:t>
            </a:r>
            <a:r>
              <a:rPr sz="2100" spc="-7" baseline="-25793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spc="120" dirty="0">
                <a:latin typeface="Times New Roman"/>
                <a:cs typeface="Times New Roman"/>
              </a:rPr>
              <a:t>d</a:t>
            </a:r>
            <a:r>
              <a:rPr sz="2100" baseline="-25793" dirty="0">
                <a:latin typeface="Times New Roman"/>
                <a:cs typeface="Times New Roman"/>
              </a:rPr>
              <a:t>2 </a:t>
            </a:r>
            <a:r>
              <a:rPr sz="2100" spc="157" baseline="-25793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v</a:t>
            </a:r>
            <a:r>
              <a:rPr sz="2100" spc="-30" baseline="-25793" dirty="0">
                <a:latin typeface="Times New Roman"/>
                <a:cs typeface="Times New Roman"/>
              </a:rPr>
              <a:t>m</a:t>
            </a:r>
            <a:r>
              <a:rPr sz="2100" spc="-15" baseline="-25793" dirty="0">
                <a:latin typeface="Times New Roman"/>
                <a:cs typeface="Times New Roman"/>
              </a:rPr>
              <a:t>a</a:t>
            </a:r>
            <a:r>
              <a:rPr sz="2100" baseline="-25793" dirty="0">
                <a:latin typeface="Times New Roman"/>
                <a:cs typeface="Times New Roman"/>
              </a:rPr>
              <a:t>x</a:t>
            </a:r>
            <a:r>
              <a:rPr sz="2100" spc="-240" baseline="-25793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Symbol"/>
                <a:cs typeface="Symbol"/>
              </a:rPr>
              <a:t></a:t>
            </a:r>
            <a:r>
              <a:rPr sz="2400" i="1" spc="20" dirty="0">
                <a:latin typeface="Times New Roman"/>
                <a:cs typeface="Times New Roman"/>
              </a:rPr>
              <a:t>T</a:t>
            </a:r>
            <a:r>
              <a:rPr sz="2400" i="1" spc="60" dirty="0">
                <a:latin typeface="Times New Roman"/>
                <a:cs typeface="Times New Roman"/>
              </a:rPr>
              <a:t> </a:t>
            </a:r>
            <a:r>
              <a:rPr sz="2400" spc="434" dirty="0">
                <a:latin typeface="Times New Roman"/>
                <a:cs typeface="Times New Roman"/>
              </a:rPr>
              <a:t>/</a:t>
            </a:r>
            <a:r>
              <a:rPr sz="2400" spc="15" dirty="0">
                <a:latin typeface="Times New Roman"/>
                <a:cs typeface="Times New Roman"/>
              </a:rPr>
              <a:t>2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74027" y="106235"/>
            <a:ext cx="5316855" cy="142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500" dirty="0">
              <a:latin typeface="Cambria"/>
              <a:cs typeface="Cambria"/>
            </a:endParaRPr>
          </a:p>
          <a:p>
            <a:pPr marL="85725">
              <a:lnSpc>
                <a:spcPct val="100000"/>
              </a:lnSpc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5.6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 dirty="0">
              <a:latin typeface="Tahoma"/>
              <a:cs typeface="Tahoma"/>
            </a:endParaRPr>
          </a:p>
          <a:p>
            <a:pPr marL="250190" indent="-238125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250190" algn="l"/>
                <a:tab pos="250825" algn="l"/>
              </a:tabLst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Alternative</a:t>
            </a:r>
            <a:r>
              <a:rPr sz="1800" spc="-45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solution</a:t>
            </a:r>
            <a:endParaRPr sz="1800" dirty="0">
              <a:latin typeface="Times New Roman"/>
              <a:cs typeface="Times New Roman"/>
            </a:endParaRPr>
          </a:p>
          <a:p>
            <a:pPr marL="555625" lvl="1" indent="-342900">
              <a:lnSpc>
                <a:spcPct val="100000"/>
              </a:lnSpc>
              <a:spcBef>
                <a:spcPts val="1130"/>
              </a:spcBef>
              <a:buFont typeface="Wingdings"/>
              <a:buChar char=""/>
              <a:tabLst>
                <a:tab pos="554990" algn="l"/>
                <a:tab pos="555625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imposing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acceleration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9236" y="2080640"/>
            <a:ext cx="3222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avoids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obstacle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O,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7853" y="2047747"/>
            <a:ext cx="24218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86230" algn="l"/>
              </a:tabLst>
            </a:pPr>
            <a:r>
              <a:rPr sz="2200" i="1" spc="-5" dirty="0">
                <a:latin typeface="Times New Roman"/>
                <a:cs typeface="Times New Roman"/>
              </a:rPr>
              <a:t>a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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a</a:t>
            </a:r>
            <a:r>
              <a:rPr sz="1875" spc="-7" baseline="-24444" dirty="0">
                <a:latin typeface="Times New Roman"/>
                <a:cs typeface="Times New Roman"/>
              </a:rPr>
              <a:t>max</a:t>
            </a:r>
            <a:r>
              <a:rPr sz="1875" spc="1035" baseline="-24444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and	v</a:t>
            </a:r>
            <a:r>
              <a:rPr sz="2200" i="1" spc="-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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v</a:t>
            </a:r>
            <a:r>
              <a:rPr sz="1875" spc="-15" baseline="-24444" dirty="0">
                <a:latin typeface="Times New Roman"/>
                <a:cs typeface="Times New Roman"/>
              </a:rPr>
              <a:t>max</a:t>
            </a:r>
            <a:endParaRPr sz="1875" baseline="-24444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19984" y="3547872"/>
            <a:ext cx="2581910" cy="1964689"/>
            <a:chOff x="2919984" y="3547872"/>
            <a:chExt cx="2581910" cy="196468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9984" y="4602480"/>
              <a:ext cx="1063751" cy="9098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61995" y="4636769"/>
              <a:ext cx="767715" cy="616585"/>
            </a:xfrm>
            <a:custGeom>
              <a:avLst/>
              <a:gdLst/>
              <a:ahLst/>
              <a:cxnLst/>
              <a:rect l="l" t="t" r="r" b="b"/>
              <a:pathLst>
                <a:path w="767714" h="616585">
                  <a:moveTo>
                    <a:pt x="767511" y="0"/>
                  </a:moveTo>
                  <a:lnTo>
                    <a:pt x="0" y="616153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61996" y="5129368"/>
              <a:ext cx="131445" cy="123825"/>
            </a:xfrm>
            <a:custGeom>
              <a:avLst/>
              <a:gdLst/>
              <a:ahLst/>
              <a:cxnLst/>
              <a:rect l="l" t="t" r="r" b="b"/>
              <a:pathLst>
                <a:path w="131445" h="123825">
                  <a:moveTo>
                    <a:pt x="47383" y="0"/>
                  </a:moveTo>
                  <a:lnTo>
                    <a:pt x="0" y="123545"/>
                  </a:lnTo>
                  <a:lnTo>
                    <a:pt x="130873" y="103987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6200" y="4447032"/>
              <a:ext cx="1615439" cy="4251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29633" y="4636769"/>
              <a:ext cx="1321435" cy="0"/>
            </a:xfrm>
            <a:custGeom>
              <a:avLst/>
              <a:gdLst/>
              <a:ahLst/>
              <a:cxnLst/>
              <a:rect l="l" t="t" r="r" b="b"/>
              <a:pathLst>
                <a:path w="1321435">
                  <a:moveTo>
                    <a:pt x="0" y="0"/>
                  </a:moveTo>
                  <a:lnTo>
                    <a:pt x="1321181" y="0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6517" y="4570088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4"/>
                  </a:lnTo>
                  <a:lnTo>
                    <a:pt x="0" y="133349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7036" y="3547872"/>
              <a:ext cx="425195" cy="11536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929633" y="3775329"/>
              <a:ext cx="0" cy="861060"/>
            </a:xfrm>
            <a:custGeom>
              <a:avLst/>
              <a:gdLst/>
              <a:ahLst/>
              <a:cxnLst/>
              <a:rect l="l" t="t" r="r" b="b"/>
              <a:pathLst>
                <a:path h="861060">
                  <a:moveTo>
                    <a:pt x="0" y="86080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62966" y="3775325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133350" y="114300"/>
                  </a:moveTo>
                  <a:lnTo>
                    <a:pt x="66675" y="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44517" y="4153662"/>
              <a:ext cx="464820" cy="923925"/>
            </a:xfrm>
            <a:custGeom>
              <a:avLst/>
              <a:gdLst/>
              <a:ahLst/>
              <a:cxnLst/>
              <a:rect l="l" t="t" r="r" b="b"/>
              <a:pathLst>
                <a:path w="464820" h="923925">
                  <a:moveTo>
                    <a:pt x="232410" y="0"/>
                  </a:moveTo>
                  <a:lnTo>
                    <a:pt x="179119" y="4065"/>
                  </a:lnTo>
                  <a:lnTo>
                    <a:pt x="130200" y="15644"/>
                  </a:lnTo>
                  <a:lnTo>
                    <a:pt x="87048" y="33814"/>
                  </a:lnTo>
                  <a:lnTo>
                    <a:pt x="51057" y="57650"/>
                  </a:lnTo>
                  <a:lnTo>
                    <a:pt x="23622" y="86230"/>
                  </a:lnTo>
                  <a:lnTo>
                    <a:pt x="0" y="153924"/>
                  </a:lnTo>
                  <a:lnTo>
                    <a:pt x="0" y="769620"/>
                  </a:lnTo>
                  <a:lnTo>
                    <a:pt x="23622" y="837313"/>
                  </a:lnTo>
                  <a:lnTo>
                    <a:pt x="51057" y="865893"/>
                  </a:lnTo>
                  <a:lnTo>
                    <a:pt x="87048" y="889729"/>
                  </a:lnTo>
                  <a:lnTo>
                    <a:pt x="130200" y="907899"/>
                  </a:lnTo>
                  <a:lnTo>
                    <a:pt x="179119" y="919478"/>
                  </a:lnTo>
                  <a:lnTo>
                    <a:pt x="232410" y="923544"/>
                  </a:lnTo>
                  <a:lnTo>
                    <a:pt x="285700" y="919478"/>
                  </a:lnTo>
                  <a:lnTo>
                    <a:pt x="334619" y="907899"/>
                  </a:lnTo>
                  <a:lnTo>
                    <a:pt x="377771" y="889729"/>
                  </a:lnTo>
                  <a:lnTo>
                    <a:pt x="413762" y="865893"/>
                  </a:lnTo>
                  <a:lnTo>
                    <a:pt x="441198" y="837313"/>
                  </a:lnTo>
                  <a:lnTo>
                    <a:pt x="464820" y="769620"/>
                  </a:lnTo>
                  <a:lnTo>
                    <a:pt x="464820" y="153924"/>
                  </a:lnTo>
                  <a:lnTo>
                    <a:pt x="441198" y="86230"/>
                  </a:lnTo>
                  <a:lnTo>
                    <a:pt x="413762" y="57650"/>
                  </a:lnTo>
                  <a:lnTo>
                    <a:pt x="377771" y="33814"/>
                  </a:lnTo>
                  <a:lnTo>
                    <a:pt x="334619" y="15644"/>
                  </a:lnTo>
                  <a:lnTo>
                    <a:pt x="285700" y="4065"/>
                  </a:lnTo>
                  <a:lnTo>
                    <a:pt x="2324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44517" y="4307586"/>
              <a:ext cx="464820" cy="154305"/>
            </a:xfrm>
            <a:custGeom>
              <a:avLst/>
              <a:gdLst/>
              <a:ahLst/>
              <a:cxnLst/>
              <a:rect l="l" t="t" r="r" b="b"/>
              <a:pathLst>
                <a:path w="464820" h="154304">
                  <a:moveTo>
                    <a:pt x="464820" y="0"/>
                  </a:moveTo>
                  <a:lnTo>
                    <a:pt x="441198" y="67693"/>
                  </a:lnTo>
                  <a:lnTo>
                    <a:pt x="413762" y="96273"/>
                  </a:lnTo>
                  <a:lnTo>
                    <a:pt x="377771" y="120109"/>
                  </a:lnTo>
                  <a:lnTo>
                    <a:pt x="334619" y="138279"/>
                  </a:lnTo>
                  <a:lnTo>
                    <a:pt x="285700" y="149858"/>
                  </a:lnTo>
                  <a:lnTo>
                    <a:pt x="232410" y="153924"/>
                  </a:lnTo>
                  <a:lnTo>
                    <a:pt x="179119" y="149858"/>
                  </a:lnTo>
                  <a:lnTo>
                    <a:pt x="130200" y="138279"/>
                  </a:lnTo>
                  <a:lnTo>
                    <a:pt x="87048" y="120109"/>
                  </a:lnTo>
                  <a:lnTo>
                    <a:pt x="51057" y="96273"/>
                  </a:lnTo>
                  <a:lnTo>
                    <a:pt x="23622" y="67693"/>
                  </a:lnTo>
                  <a:lnTo>
                    <a:pt x="6137" y="35294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BDB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44517" y="4153662"/>
              <a:ext cx="464820" cy="923925"/>
            </a:xfrm>
            <a:custGeom>
              <a:avLst/>
              <a:gdLst/>
              <a:ahLst/>
              <a:cxnLst/>
              <a:rect l="l" t="t" r="r" b="b"/>
              <a:pathLst>
                <a:path w="464820" h="923925">
                  <a:moveTo>
                    <a:pt x="0" y="153924"/>
                  </a:moveTo>
                  <a:lnTo>
                    <a:pt x="23622" y="86230"/>
                  </a:lnTo>
                  <a:lnTo>
                    <a:pt x="51057" y="57650"/>
                  </a:lnTo>
                  <a:lnTo>
                    <a:pt x="87048" y="33814"/>
                  </a:lnTo>
                  <a:lnTo>
                    <a:pt x="130200" y="15644"/>
                  </a:lnTo>
                  <a:lnTo>
                    <a:pt x="179119" y="4065"/>
                  </a:lnTo>
                  <a:lnTo>
                    <a:pt x="232410" y="0"/>
                  </a:lnTo>
                  <a:lnTo>
                    <a:pt x="285700" y="4065"/>
                  </a:lnTo>
                  <a:lnTo>
                    <a:pt x="334619" y="15644"/>
                  </a:lnTo>
                  <a:lnTo>
                    <a:pt x="377771" y="33814"/>
                  </a:lnTo>
                  <a:lnTo>
                    <a:pt x="413762" y="57650"/>
                  </a:lnTo>
                  <a:lnTo>
                    <a:pt x="441198" y="86230"/>
                  </a:lnTo>
                  <a:lnTo>
                    <a:pt x="464820" y="153924"/>
                  </a:lnTo>
                  <a:lnTo>
                    <a:pt x="464820" y="769620"/>
                  </a:lnTo>
                  <a:lnTo>
                    <a:pt x="441198" y="837313"/>
                  </a:lnTo>
                  <a:lnTo>
                    <a:pt x="413762" y="865893"/>
                  </a:lnTo>
                  <a:lnTo>
                    <a:pt x="377771" y="889729"/>
                  </a:lnTo>
                  <a:lnTo>
                    <a:pt x="334619" y="907899"/>
                  </a:lnTo>
                  <a:lnTo>
                    <a:pt x="285700" y="919478"/>
                  </a:lnTo>
                  <a:lnTo>
                    <a:pt x="232410" y="923544"/>
                  </a:lnTo>
                  <a:lnTo>
                    <a:pt x="179119" y="919478"/>
                  </a:lnTo>
                  <a:lnTo>
                    <a:pt x="130200" y="907899"/>
                  </a:lnTo>
                  <a:lnTo>
                    <a:pt x="87048" y="889729"/>
                  </a:lnTo>
                  <a:lnTo>
                    <a:pt x="51057" y="865893"/>
                  </a:lnTo>
                  <a:lnTo>
                    <a:pt x="23622" y="837313"/>
                  </a:lnTo>
                  <a:lnTo>
                    <a:pt x="0" y="769620"/>
                  </a:lnTo>
                  <a:lnTo>
                    <a:pt x="0" y="153924"/>
                  </a:lnTo>
                  <a:close/>
                </a:path>
              </a:pathLst>
            </a:custGeom>
            <a:ln w="25908">
              <a:solidFill>
                <a:srgbClr val="BDB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00645" y="4524919"/>
            <a:ext cx="241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37332" y="3736847"/>
            <a:ext cx="2712720" cy="1129665"/>
            <a:chOff x="3037332" y="3736847"/>
            <a:chExt cx="2712720" cy="112966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8144" y="3788664"/>
              <a:ext cx="772667" cy="7269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93770" y="3821429"/>
              <a:ext cx="665480" cy="619125"/>
            </a:xfrm>
            <a:custGeom>
              <a:avLst/>
              <a:gdLst/>
              <a:ahLst/>
              <a:cxnLst/>
              <a:rect l="l" t="t" r="r" b="b"/>
              <a:pathLst>
                <a:path w="665479" h="619125">
                  <a:moveTo>
                    <a:pt x="665162" y="0"/>
                  </a:moveTo>
                  <a:lnTo>
                    <a:pt x="0" y="619125"/>
                  </a:lnTo>
                </a:path>
              </a:pathLst>
            </a:custGeom>
            <a:ln w="25908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8892" y="3776471"/>
              <a:ext cx="981455" cy="45262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144518" y="3812285"/>
              <a:ext cx="878205" cy="341630"/>
            </a:xfrm>
            <a:custGeom>
              <a:avLst/>
              <a:gdLst/>
              <a:ahLst/>
              <a:cxnLst/>
              <a:rect l="l" t="t" r="r" b="b"/>
              <a:pathLst>
                <a:path w="878204" h="341629">
                  <a:moveTo>
                    <a:pt x="877887" y="341312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2608" y="3736847"/>
              <a:ext cx="192023" cy="1402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7092" y="4084319"/>
              <a:ext cx="190499" cy="1402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8520" y="4370831"/>
              <a:ext cx="190499" cy="14020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22342" y="4167377"/>
              <a:ext cx="570230" cy="215900"/>
            </a:xfrm>
            <a:custGeom>
              <a:avLst/>
              <a:gdLst/>
              <a:ahLst/>
              <a:cxnLst/>
              <a:rect l="l" t="t" r="r" b="b"/>
              <a:pathLst>
                <a:path w="570229" h="215900">
                  <a:moveTo>
                    <a:pt x="569912" y="21590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B3AB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8027" y="4312919"/>
              <a:ext cx="192023" cy="1417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76956" y="4413503"/>
              <a:ext cx="467867" cy="45262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132580" y="4446269"/>
              <a:ext cx="360680" cy="344805"/>
            </a:xfrm>
            <a:custGeom>
              <a:avLst/>
              <a:gdLst/>
              <a:ahLst/>
              <a:cxnLst/>
              <a:rect l="l" t="t" r="r" b="b"/>
              <a:pathLst>
                <a:path w="360679" h="344804">
                  <a:moveTo>
                    <a:pt x="360362" y="0"/>
                  </a:moveTo>
                  <a:lnTo>
                    <a:pt x="0" y="344487"/>
                  </a:lnTo>
                </a:path>
              </a:pathLst>
            </a:custGeom>
            <a:ln w="25908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37332" y="4719827"/>
              <a:ext cx="190500" cy="14020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106327" y="3460495"/>
            <a:ext cx="205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715512" y="3881628"/>
            <a:ext cx="1024255" cy="388620"/>
            <a:chOff x="3715512" y="3881628"/>
            <a:chExt cx="1024255" cy="388620"/>
          </a:xfrm>
        </p:grpSpPr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79520" y="4020312"/>
              <a:ext cx="227075" cy="20878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830905" y="4055710"/>
              <a:ext cx="120650" cy="100965"/>
            </a:xfrm>
            <a:custGeom>
              <a:avLst/>
              <a:gdLst/>
              <a:ahLst/>
              <a:cxnLst/>
              <a:rect l="l" t="t" r="r" b="b"/>
              <a:pathLst>
                <a:path w="120650" h="100964">
                  <a:moveTo>
                    <a:pt x="0" y="100710"/>
                  </a:moveTo>
                  <a:lnTo>
                    <a:pt x="120116" y="0"/>
                  </a:lnTo>
                </a:path>
              </a:pathLst>
            </a:custGeom>
            <a:ln w="25400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13632" y="3916680"/>
              <a:ext cx="225551" cy="17525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962383" y="3952593"/>
              <a:ext cx="121285" cy="66040"/>
            </a:xfrm>
            <a:custGeom>
              <a:avLst/>
              <a:gdLst/>
              <a:ahLst/>
              <a:cxnLst/>
              <a:rect l="l" t="t" r="r" b="b"/>
              <a:pathLst>
                <a:path w="121285" h="66039">
                  <a:moveTo>
                    <a:pt x="0" y="65646"/>
                  </a:moveTo>
                  <a:lnTo>
                    <a:pt x="120688" y="0"/>
                  </a:lnTo>
                </a:path>
              </a:pathLst>
            </a:custGeom>
            <a:ln w="25400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69079" y="3883152"/>
              <a:ext cx="231647" cy="12496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113589" y="3918859"/>
              <a:ext cx="131445" cy="14604"/>
            </a:xfrm>
            <a:custGeom>
              <a:avLst/>
              <a:gdLst/>
              <a:ahLst/>
              <a:cxnLst/>
              <a:rect l="l" t="t" r="r" b="b"/>
              <a:pathLst>
                <a:path w="131445" h="14604">
                  <a:moveTo>
                    <a:pt x="-12700" y="7029"/>
                  </a:moveTo>
                  <a:lnTo>
                    <a:pt x="143713" y="7029"/>
                  </a:lnTo>
                </a:path>
              </a:pathLst>
            </a:custGeom>
            <a:ln w="39458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35196" y="3881628"/>
              <a:ext cx="233171" cy="12649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278666" y="3917129"/>
              <a:ext cx="134620" cy="16510"/>
            </a:xfrm>
            <a:custGeom>
              <a:avLst/>
              <a:gdLst/>
              <a:ahLst/>
              <a:cxnLst/>
              <a:rect l="l" t="t" r="r" b="b"/>
              <a:pathLst>
                <a:path w="134620" h="16510">
                  <a:moveTo>
                    <a:pt x="-12699" y="7962"/>
                  </a:moveTo>
                  <a:lnTo>
                    <a:pt x="146926" y="7962"/>
                  </a:lnTo>
                </a:path>
              </a:pathLst>
            </a:custGeom>
            <a:ln w="41325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40936" y="3919728"/>
              <a:ext cx="236219" cy="14020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485951" y="3955265"/>
              <a:ext cx="135890" cy="28575"/>
            </a:xfrm>
            <a:custGeom>
              <a:avLst/>
              <a:gdLst/>
              <a:ahLst/>
              <a:cxnLst/>
              <a:rect l="l" t="t" r="r" b="b"/>
              <a:pathLst>
                <a:path w="135889" h="28575">
                  <a:moveTo>
                    <a:pt x="0" y="0"/>
                  </a:moveTo>
                  <a:lnTo>
                    <a:pt x="135585" y="28562"/>
                  </a:lnTo>
                </a:path>
              </a:pathLst>
            </a:custGeom>
            <a:ln w="25400">
              <a:solidFill>
                <a:srgbClr val="F4E9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5512" y="4125468"/>
              <a:ext cx="176770" cy="14477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62607" y="4149471"/>
              <a:ext cx="82076" cy="4932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62611" y="4149868"/>
              <a:ext cx="82550" cy="49530"/>
            </a:xfrm>
            <a:custGeom>
              <a:avLst/>
              <a:gdLst/>
              <a:ahLst/>
              <a:cxnLst/>
              <a:rect l="l" t="t" r="r" b="b"/>
              <a:pathLst>
                <a:path w="82550" h="49529">
                  <a:moveTo>
                    <a:pt x="0" y="28867"/>
                  </a:moveTo>
                  <a:lnTo>
                    <a:pt x="2204" y="18997"/>
                  </a:lnTo>
                  <a:lnTo>
                    <a:pt x="10164" y="10275"/>
                  </a:lnTo>
                  <a:lnTo>
                    <a:pt x="22647" y="3633"/>
                  </a:lnTo>
                  <a:lnTo>
                    <a:pt x="38417" y="0"/>
                  </a:lnTo>
                  <a:lnTo>
                    <a:pt x="54594" y="204"/>
                  </a:lnTo>
                  <a:lnTo>
                    <a:pt x="68202" y="4044"/>
                  </a:lnTo>
                  <a:lnTo>
                    <a:pt x="77833" y="10876"/>
                  </a:lnTo>
                  <a:lnTo>
                    <a:pt x="82080" y="20053"/>
                  </a:lnTo>
                  <a:lnTo>
                    <a:pt x="79876" y="29923"/>
                  </a:lnTo>
                  <a:lnTo>
                    <a:pt x="71915" y="38646"/>
                  </a:lnTo>
                  <a:lnTo>
                    <a:pt x="59432" y="45292"/>
                  </a:lnTo>
                  <a:lnTo>
                    <a:pt x="43662" y="48933"/>
                  </a:lnTo>
                  <a:lnTo>
                    <a:pt x="27485" y="48721"/>
                  </a:lnTo>
                  <a:lnTo>
                    <a:pt x="13877" y="44877"/>
                  </a:lnTo>
                  <a:lnTo>
                    <a:pt x="4246" y="38044"/>
                  </a:lnTo>
                  <a:lnTo>
                    <a:pt x="0" y="28867"/>
                  </a:lnTo>
                  <a:close/>
                </a:path>
              </a:pathLst>
            </a:custGeom>
            <a:ln w="952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47616" y="3960876"/>
              <a:ext cx="192023" cy="14325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94860" y="3985260"/>
              <a:ext cx="97535" cy="4876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594860" y="3985260"/>
              <a:ext cx="97790" cy="48895"/>
            </a:xfrm>
            <a:custGeom>
              <a:avLst/>
              <a:gdLst/>
              <a:ahLst/>
              <a:cxnLst/>
              <a:rect l="l" t="t" r="r" b="b"/>
              <a:pathLst>
                <a:path w="97789" h="48895">
                  <a:moveTo>
                    <a:pt x="0" y="24383"/>
                  </a:moveTo>
                  <a:lnTo>
                    <a:pt x="3832" y="14894"/>
                  </a:lnTo>
                  <a:lnTo>
                    <a:pt x="14282" y="7143"/>
                  </a:lnTo>
                  <a:lnTo>
                    <a:pt x="29784" y="1916"/>
                  </a:lnTo>
                  <a:lnTo>
                    <a:pt x="48768" y="0"/>
                  </a:lnTo>
                  <a:lnTo>
                    <a:pt x="67751" y="1916"/>
                  </a:lnTo>
                  <a:lnTo>
                    <a:pt x="83253" y="7143"/>
                  </a:lnTo>
                  <a:lnTo>
                    <a:pt x="93703" y="14894"/>
                  </a:lnTo>
                  <a:lnTo>
                    <a:pt x="97536" y="24383"/>
                  </a:lnTo>
                  <a:lnTo>
                    <a:pt x="93703" y="33873"/>
                  </a:lnTo>
                  <a:lnTo>
                    <a:pt x="83253" y="41624"/>
                  </a:lnTo>
                  <a:lnTo>
                    <a:pt x="67751" y="46851"/>
                  </a:lnTo>
                  <a:lnTo>
                    <a:pt x="48768" y="48767"/>
                  </a:lnTo>
                  <a:lnTo>
                    <a:pt x="29784" y="46851"/>
                  </a:lnTo>
                  <a:lnTo>
                    <a:pt x="14282" y="41624"/>
                  </a:lnTo>
                  <a:lnTo>
                    <a:pt x="3832" y="33873"/>
                  </a:lnTo>
                  <a:lnTo>
                    <a:pt x="0" y="24383"/>
                  </a:lnTo>
                  <a:close/>
                </a:path>
              </a:pathLst>
            </a:custGeom>
            <a:ln w="9144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621507" y="3691849"/>
            <a:ext cx="20891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spc="-1200" dirty="0">
                <a:solidFill>
                  <a:srgbClr val="40458C"/>
                </a:solidFill>
                <a:latin typeface="SimSun"/>
                <a:cs typeface="SimSun"/>
              </a:rPr>
              <a:t>¨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75963" y="3874424"/>
            <a:ext cx="20891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spc="-1200" dirty="0">
                <a:solidFill>
                  <a:srgbClr val="40458C"/>
                </a:solidFill>
                <a:latin typeface="SimSun"/>
                <a:cs typeface="SimSun"/>
              </a:rPr>
              <a:t>¨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44974" y="4489206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B0F0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69389" y="3856441"/>
            <a:ext cx="932180" cy="142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sz="3600" baseline="-42824" dirty="0">
                <a:solidFill>
                  <a:srgbClr val="40458C"/>
                </a:solidFill>
                <a:latin typeface="Tahoma"/>
                <a:cs typeface="Tahoma"/>
              </a:rPr>
              <a:t>A'</a:t>
            </a:r>
            <a:r>
              <a:rPr sz="3600" spc="30" baseline="-42824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6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400" spc="-600" dirty="0">
                <a:solidFill>
                  <a:srgbClr val="40458C"/>
                </a:solidFill>
                <a:latin typeface="SimSun"/>
                <a:cs typeface="SimSun"/>
              </a:rPr>
              <a:t>¨</a:t>
            </a:r>
            <a:endParaRPr sz="24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>
              <a:latin typeface="SimSun"/>
              <a:cs typeface="SimSun"/>
            </a:endParaRPr>
          </a:p>
          <a:p>
            <a:pPr marL="38100">
              <a:lnSpc>
                <a:spcPct val="100000"/>
              </a:lnSpc>
            </a:pPr>
            <a:r>
              <a:rPr sz="2400" spc="-5" dirty="0">
                <a:solidFill>
                  <a:srgbClr val="00B0F0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62583" y="2633472"/>
            <a:ext cx="2019300" cy="2603500"/>
            <a:chOff x="862583" y="2633472"/>
            <a:chExt cx="2019300" cy="2603500"/>
          </a:xfrm>
        </p:grpSpPr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2583" y="4628388"/>
              <a:ext cx="1496567" cy="60807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09827" y="4655820"/>
              <a:ext cx="1402079" cy="51358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09827" y="4741417"/>
              <a:ext cx="1402080" cy="85725"/>
            </a:xfrm>
            <a:custGeom>
              <a:avLst/>
              <a:gdLst/>
              <a:ahLst/>
              <a:cxnLst/>
              <a:rect l="l" t="t" r="r" b="b"/>
              <a:pathLst>
                <a:path w="1402080" h="85725">
                  <a:moveTo>
                    <a:pt x="1402080" y="0"/>
                  </a:moveTo>
                  <a:lnTo>
                    <a:pt x="1366340" y="27053"/>
                  </a:lnTo>
                  <a:lnTo>
                    <a:pt x="1306367" y="43200"/>
                  </a:lnTo>
                  <a:lnTo>
                    <a:pt x="1266819" y="50550"/>
                  </a:lnTo>
                  <a:lnTo>
                    <a:pt x="1221468" y="57349"/>
                  </a:lnTo>
                  <a:lnTo>
                    <a:pt x="1170740" y="63543"/>
                  </a:lnTo>
                  <a:lnTo>
                    <a:pt x="1115064" y="69081"/>
                  </a:lnTo>
                  <a:lnTo>
                    <a:pt x="1054867" y="73910"/>
                  </a:lnTo>
                  <a:lnTo>
                    <a:pt x="990577" y="77978"/>
                  </a:lnTo>
                  <a:lnTo>
                    <a:pt x="922622" y="81233"/>
                  </a:lnTo>
                  <a:lnTo>
                    <a:pt x="851429" y="83623"/>
                  </a:lnTo>
                  <a:lnTo>
                    <a:pt x="777425" y="85095"/>
                  </a:lnTo>
                  <a:lnTo>
                    <a:pt x="701040" y="85597"/>
                  </a:lnTo>
                  <a:lnTo>
                    <a:pt x="624654" y="85095"/>
                  </a:lnTo>
                  <a:lnTo>
                    <a:pt x="550650" y="83623"/>
                  </a:lnTo>
                  <a:lnTo>
                    <a:pt x="479457" y="81233"/>
                  </a:lnTo>
                  <a:lnTo>
                    <a:pt x="411502" y="77978"/>
                  </a:lnTo>
                  <a:lnTo>
                    <a:pt x="347212" y="73910"/>
                  </a:lnTo>
                  <a:lnTo>
                    <a:pt x="287015" y="69081"/>
                  </a:lnTo>
                  <a:lnTo>
                    <a:pt x="231339" y="63543"/>
                  </a:lnTo>
                  <a:lnTo>
                    <a:pt x="180611" y="57349"/>
                  </a:lnTo>
                  <a:lnTo>
                    <a:pt x="135260" y="50550"/>
                  </a:lnTo>
                  <a:lnTo>
                    <a:pt x="95712" y="43200"/>
                  </a:lnTo>
                  <a:lnTo>
                    <a:pt x="35739" y="27053"/>
                  </a:lnTo>
                  <a:lnTo>
                    <a:pt x="4113" y="9325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09827" y="4655820"/>
              <a:ext cx="1402080" cy="513715"/>
            </a:xfrm>
            <a:custGeom>
              <a:avLst/>
              <a:gdLst/>
              <a:ahLst/>
              <a:cxnLst/>
              <a:rect l="l" t="t" r="r" b="b"/>
              <a:pathLst>
                <a:path w="1402080" h="513714">
                  <a:moveTo>
                    <a:pt x="0" y="85597"/>
                  </a:moveTo>
                  <a:lnTo>
                    <a:pt x="35739" y="58544"/>
                  </a:lnTo>
                  <a:lnTo>
                    <a:pt x="95712" y="42397"/>
                  </a:lnTo>
                  <a:lnTo>
                    <a:pt x="135260" y="35047"/>
                  </a:lnTo>
                  <a:lnTo>
                    <a:pt x="180611" y="28248"/>
                  </a:lnTo>
                  <a:lnTo>
                    <a:pt x="231339" y="22054"/>
                  </a:lnTo>
                  <a:lnTo>
                    <a:pt x="287015" y="16516"/>
                  </a:lnTo>
                  <a:lnTo>
                    <a:pt x="347212" y="11687"/>
                  </a:lnTo>
                  <a:lnTo>
                    <a:pt x="411502" y="7619"/>
                  </a:lnTo>
                  <a:lnTo>
                    <a:pt x="479457" y="4364"/>
                  </a:lnTo>
                  <a:lnTo>
                    <a:pt x="550650" y="1974"/>
                  </a:lnTo>
                  <a:lnTo>
                    <a:pt x="624654" y="502"/>
                  </a:lnTo>
                  <a:lnTo>
                    <a:pt x="701040" y="0"/>
                  </a:lnTo>
                  <a:lnTo>
                    <a:pt x="777425" y="502"/>
                  </a:lnTo>
                  <a:lnTo>
                    <a:pt x="851429" y="1974"/>
                  </a:lnTo>
                  <a:lnTo>
                    <a:pt x="922622" y="4364"/>
                  </a:lnTo>
                  <a:lnTo>
                    <a:pt x="990577" y="7619"/>
                  </a:lnTo>
                  <a:lnTo>
                    <a:pt x="1054867" y="11687"/>
                  </a:lnTo>
                  <a:lnTo>
                    <a:pt x="1115064" y="16516"/>
                  </a:lnTo>
                  <a:lnTo>
                    <a:pt x="1170740" y="22054"/>
                  </a:lnTo>
                  <a:lnTo>
                    <a:pt x="1221468" y="28248"/>
                  </a:lnTo>
                  <a:lnTo>
                    <a:pt x="1266819" y="35047"/>
                  </a:lnTo>
                  <a:lnTo>
                    <a:pt x="1306367" y="42397"/>
                  </a:lnTo>
                  <a:lnTo>
                    <a:pt x="1366340" y="58544"/>
                  </a:lnTo>
                  <a:lnTo>
                    <a:pt x="1402080" y="85597"/>
                  </a:lnTo>
                  <a:lnTo>
                    <a:pt x="1402080" y="427989"/>
                  </a:lnTo>
                  <a:lnTo>
                    <a:pt x="1366340" y="455043"/>
                  </a:lnTo>
                  <a:lnTo>
                    <a:pt x="1306367" y="471190"/>
                  </a:lnTo>
                  <a:lnTo>
                    <a:pt x="1266819" y="478540"/>
                  </a:lnTo>
                  <a:lnTo>
                    <a:pt x="1221468" y="485339"/>
                  </a:lnTo>
                  <a:lnTo>
                    <a:pt x="1170740" y="491533"/>
                  </a:lnTo>
                  <a:lnTo>
                    <a:pt x="1115064" y="497071"/>
                  </a:lnTo>
                  <a:lnTo>
                    <a:pt x="1054867" y="501900"/>
                  </a:lnTo>
                  <a:lnTo>
                    <a:pt x="990577" y="505968"/>
                  </a:lnTo>
                  <a:lnTo>
                    <a:pt x="922622" y="509223"/>
                  </a:lnTo>
                  <a:lnTo>
                    <a:pt x="851429" y="511613"/>
                  </a:lnTo>
                  <a:lnTo>
                    <a:pt x="777425" y="513085"/>
                  </a:lnTo>
                  <a:lnTo>
                    <a:pt x="701040" y="513587"/>
                  </a:lnTo>
                  <a:lnTo>
                    <a:pt x="624654" y="513085"/>
                  </a:lnTo>
                  <a:lnTo>
                    <a:pt x="550650" y="511613"/>
                  </a:lnTo>
                  <a:lnTo>
                    <a:pt x="479457" y="509223"/>
                  </a:lnTo>
                  <a:lnTo>
                    <a:pt x="411502" y="505968"/>
                  </a:lnTo>
                  <a:lnTo>
                    <a:pt x="347212" y="501900"/>
                  </a:lnTo>
                  <a:lnTo>
                    <a:pt x="287015" y="497071"/>
                  </a:lnTo>
                  <a:lnTo>
                    <a:pt x="231339" y="491533"/>
                  </a:lnTo>
                  <a:lnTo>
                    <a:pt x="180611" y="485339"/>
                  </a:lnTo>
                  <a:lnTo>
                    <a:pt x="135260" y="478540"/>
                  </a:lnTo>
                  <a:lnTo>
                    <a:pt x="95712" y="471190"/>
                  </a:lnTo>
                  <a:lnTo>
                    <a:pt x="35739" y="455043"/>
                  </a:lnTo>
                  <a:lnTo>
                    <a:pt x="0" y="427989"/>
                  </a:lnTo>
                  <a:lnTo>
                    <a:pt x="0" y="85597"/>
                  </a:lnTo>
                  <a:close/>
                </a:path>
              </a:pathLst>
            </a:custGeom>
            <a:ln w="9143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93875" y="2633472"/>
              <a:ext cx="598931" cy="221132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41119" y="2660904"/>
              <a:ext cx="504443" cy="2116836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341119" y="3013710"/>
              <a:ext cx="504825" cy="353060"/>
            </a:xfrm>
            <a:custGeom>
              <a:avLst/>
              <a:gdLst/>
              <a:ahLst/>
              <a:cxnLst/>
              <a:rect l="l" t="t" r="r" b="b"/>
              <a:pathLst>
                <a:path w="504825" h="353060">
                  <a:moveTo>
                    <a:pt x="504444" y="0"/>
                  </a:moveTo>
                  <a:lnTo>
                    <a:pt x="501142" y="57225"/>
                  </a:lnTo>
                  <a:lnTo>
                    <a:pt x="491585" y="111511"/>
                  </a:lnTo>
                  <a:lnTo>
                    <a:pt x="476290" y="162132"/>
                  </a:lnTo>
                  <a:lnTo>
                    <a:pt x="455778" y="208360"/>
                  </a:lnTo>
                  <a:lnTo>
                    <a:pt x="430568" y="249469"/>
                  </a:lnTo>
                  <a:lnTo>
                    <a:pt x="401178" y="284733"/>
                  </a:lnTo>
                  <a:lnTo>
                    <a:pt x="368130" y="313425"/>
                  </a:lnTo>
                  <a:lnTo>
                    <a:pt x="331941" y="334819"/>
                  </a:lnTo>
                  <a:lnTo>
                    <a:pt x="293132" y="348188"/>
                  </a:lnTo>
                  <a:lnTo>
                    <a:pt x="252222" y="352806"/>
                  </a:lnTo>
                  <a:lnTo>
                    <a:pt x="211311" y="348188"/>
                  </a:lnTo>
                  <a:lnTo>
                    <a:pt x="172502" y="334819"/>
                  </a:lnTo>
                  <a:lnTo>
                    <a:pt x="136313" y="313425"/>
                  </a:lnTo>
                  <a:lnTo>
                    <a:pt x="103265" y="284733"/>
                  </a:lnTo>
                  <a:lnTo>
                    <a:pt x="73875" y="249469"/>
                  </a:lnTo>
                  <a:lnTo>
                    <a:pt x="48665" y="208360"/>
                  </a:lnTo>
                  <a:lnTo>
                    <a:pt x="28153" y="162132"/>
                  </a:lnTo>
                  <a:lnTo>
                    <a:pt x="12858" y="111511"/>
                  </a:lnTo>
                  <a:lnTo>
                    <a:pt x="3301" y="57225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341119" y="2660904"/>
              <a:ext cx="504825" cy="2117090"/>
            </a:xfrm>
            <a:custGeom>
              <a:avLst/>
              <a:gdLst/>
              <a:ahLst/>
              <a:cxnLst/>
              <a:rect l="l" t="t" r="r" b="b"/>
              <a:pathLst>
                <a:path w="504825" h="2117090">
                  <a:moveTo>
                    <a:pt x="0" y="352806"/>
                  </a:moveTo>
                  <a:lnTo>
                    <a:pt x="3301" y="295580"/>
                  </a:lnTo>
                  <a:lnTo>
                    <a:pt x="12858" y="241294"/>
                  </a:lnTo>
                  <a:lnTo>
                    <a:pt x="28153" y="190673"/>
                  </a:lnTo>
                  <a:lnTo>
                    <a:pt x="48665" y="144445"/>
                  </a:lnTo>
                  <a:lnTo>
                    <a:pt x="73875" y="103336"/>
                  </a:lnTo>
                  <a:lnTo>
                    <a:pt x="103265" y="68072"/>
                  </a:lnTo>
                  <a:lnTo>
                    <a:pt x="136313" y="39380"/>
                  </a:lnTo>
                  <a:lnTo>
                    <a:pt x="172502" y="17986"/>
                  </a:lnTo>
                  <a:lnTo>
                    <a:pt x="211311" y="4617"/>
                  </a:lnTo>
                  <a:lnTo>
                    <a:pt x="252222" y="0"/>
                  </a:lnTo>
                  <a:lnTo>
                    <a:pt x="293132" y="4617"/>
                  </a:lnTo>
                  <a:lnTo>
                    <a:pt x="331941" y="17986"/>
                  </a:lnTo>
                  <a:lnTo>
                    <a:pt x="368130" y="39380"/>
                  </a:lnTo>
                  <a:lnTo>
                    <a:pt x="401178" y="68072"/>
                  </a:lnTo>
                  <a:lnTo>
                    <a:pt x="430568" y="103336"/>
                  </a:lnTo>
                  <a:lnTo>
                    <a:pt x="455778" y="144445"/>
                  </a:lnTo>
                  <a:lnTo>
                    <a:pt x="476290" y="190673"/>
                  </a:lnTo>
                  <a:lnTo>
                    <a:pt x="491585" y="241294"/>
                  </a:lnTo>
                  <a:lnTo>
                    <a:pt x="501142" y="295580"/>
                  </a:lnTo>
                  <a:lnTo>
                    <a:pt x="504444" y="352806"/>
                  </a:lnTo>
                  <a:lnTo>
                    <a:pt x="504444" y="1764030"/>
                  </a:lnTo>
                  <a:lnTo>
                    <a:pt x="501142" y="1821255"/>
                  </a:lnTo>
                  <a:lnTo>
                    <a:pt x="491585" y="1875541"/>
                  </a:lnTo>
                  <a:lnTo>
                    <a:pt x="476290" y="1926162"/>
                  </a:lnTo>
                  <a:lnTo>
                    <a:pt x="455778" y="1972390"/>
                  </a:lnTo>
                  <a:lnTo>
                    <a:pt x="430568" y="2013499"/>
                  </a:lnTo>
                  <a:lnTo>
                    <a:pt x="401178" y="2048763"/>
                  </a:lnTo>
                  <a:lnTo>
                    <a:pt x="368130" y="2077455"/>
                  </a:lnTo>
                  <a:lnTo>
                    <a:pt x="331941" y="2098849"/>
                  </a:lnTo>
                  <a:lnTo>
                    <a:pt x="293132" y="2112218"/>
                  </a:lnTo>
                  <a:lnTo>
                    <a:pt x="252222" y="2116836"/>
                  </a:lnTo>
                  <a:lnTo>
                    <a:pt x="211311" y="2112218"/>
                  </a:lnTo>
                  <a:lnTo>
                    <a:pt x="172502" y="2098849"/>
                  </a:lnTo>
                  <a:lnTo>
                    <a:pt x="136313" y="2077455"/>
                  </a:lnTo>
                  <a:lnTo>
                    <a:pt x="103265" y="2048763"/>
                  </a:lnTo>
                  <a:lnTo>
                    <a:pt x="73875" y="2013499"/>
                  </a:lnTo>
                  <a:lnTo>
                    <a:pt x="48665" y="1972390"/>
                  </a:lnTo>
                  <a:lnTo>
                    <a:pt x="28153" y="1926162"/>
                  </a:lnTo>
                  <a:lnTo>
                    <a:pt x="12858" y="1875541"/>
                  </a:lnTo>
                  <a:lnTo>
                    <a:pt x="3301" y="1821255"/>
                  </a:lnTo>
                  <a:lnTo>
                    <a:pt x="0" y="1764030"/>
                  </a:lnTo>
                  <a:lnTo>
                    <a:pt x="0" y="352806"/>
                  </a:lnTo>
                  <a:close/>
                </a:path>
              </a:pathLst>
            </a:custGeom>
            <a:ln w="9144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36904" y="3375659"/>
              <a:ext cx="563879" cy="72694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84172" y="3402787"/>
              <a:ext cx="468513" cy="63029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192786" y="3801328"/>
              <a:ext cx="267335" cy="179070"/>
            </a:xfrm>
            <a:custGeom>
              <a:avLst/>
              <a:gdLst/>
              <a:ahLst/>
              <a:cxnLst/>
              <a:rect l="l" t="t" r="r" b="b"/>
              <a:pathLst>
                <a:path w="267334" h="179070">
                  <a:moveTo>
                    <a:pt x="0" y="53099"/>
                  </a:moveTo>
                  <a:lnTo>
                    <a:pt x="28918" y="19402"/>
                  </a:lnTo>
                  <a:lnTo>
                    <a:pt x="71937" y="1312"/>
                  </a:lnTo>
                  <a:lnTo>
                    <a:pt x="123345" y="0"/>
                  </a:lnTo>
                  <a:lnTo>
                    <a:pt x="177431" y="16637"/>
                  </a:lnTo>
                  <a:lnTo>
                    <a:pt x="223946" y="48865"/>
                  </a:lnTo>
                  <a:lnTo>
                    <a:pt x="254692" y="90086"/>
                  </a:lnTo>
                  <a:lnTo>
                    <a:pt x="267064" y="135086"/>
                  </a:lnTo>
                  <a:lnTo>
                    <a:pt x="258457" y="178651"/>
                  </a:lnTo>
                </a:path>
              </a:pathLst>
            </a:custGeom>
            <a:ln w="9525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184178" y="3404357"/>
              <a:ext cx="468630" cy="629285"/>
            </a:xfrm>
            <a:custGeom>
              <a:avLst/>
              <a:gdLst/>
              <a:ahLst/>
              <a:cxnLst/>
              <a:rect l="l" t="t" r="r" b="b"/>
              <a:pathLst>
                <a:path w="468630" h="629285">
                  <a:moveTo>
                    <a:pt x="267064" y="575620"/>
                  </a:moveTo>
                  <a:lnTo>
                    <a:pt x="238145" y="609318"/>
                  </a:lnTo>
                  <a:lnTo>
                    <a:pt x="195126" y="627408"/>
                  </a:lnTo>
                  <a:lnTo>
                    <a:pt x="143718" y="628720"/>
                  </a:lnTo>
                  <a:lnTo>
                    <a:pt x="89632" y="612082"/>
                  </a:lnTo>
                  <a:lnTo>
                    <a:pt x="43118" y="579854"/>
                  </a:lnTo>
                  <a:lnTo>
                    <a:pt x="12372" y="538633"/>
                  </a:lnTo>
                  <a:lnTo>
                    <a:pt x="0" y="493633"/>
                  </a:lnTo>
                  <a:lnTo>
                    <a:pt x="8606" y="450068"/>
                  </a:lnTo>
                  <a:lnTo>
                    <a:pt x="201443" y="53104"/>
                  </a:lnTo>
                  <a:lnTo>
                    <a:pt x="230360" y="19407"/>
                  </a:lnTo>
                  <a:lnTo>
                    <a:pt x="273376" y="1315"/>
                  </a:lnTo>
                  <a:lnTo>
                    <a:pt x="324783" y="0"/>
                  </a:lnTo>
                  <a:lnTo>
                    <a:pt x="378875" y="16630"/>
                  </a:lnTo>
                  <a:lnTo>
                    <a:pt x="425389" y="48865"/>
                  </a:lnTo>
                  <a:lnTo>
                    <a:pt x="456135" y="90090"/>
                  </a:lnTo>
                  <a:lnTo>
                    <a:pt x="468507" y="135091"/>
                  </a:lnTo>
                  <a:lnTo>
                    <a:pt x="459901" y="178657"/>
                  </a:lnTo>
                  <a:lnTo>
                    <a:pt x="267064" y="575620"/>
                  </a:lnTo>
                  <a:close/>
                </a:path>
              </a:pathLst>
            </a:custGeom>
            <a:ln w="9525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6800" y="3761232"/>
              <a:ext cx="458723" cy="46177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14686" y="3788193"/>
              <a:ext cx="363015" cy="36645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80158" y="3912012"/>
              <a:ext cx="192550" cy="244064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114689" y="3789208"/>
              <a:ext cx="363220" cy="365760"/>
            </a:xfrm>
            <a:custGeom>
              <a:avLst/>
              <a:gdLst/>
              <a:ahLst/>
              <a:cxnLst/>
              <a:rect l="l" t="t" r="r" b="b"/>
              <a:pathLst>
                <a:path w="363219" h="365760">
                  <a:moveTo>
                    <a:pt x="353250" y="130894"/>
                  </a:moveTo>
                  <a:lnTo>
                    <a:pt x="363009" y="152394"/>
                  </a:lnTo>
                  <a:lnTo>
                    <a:pt x="357971" y="187307"/>
                  </a:lnTo>
                  <a:lnTo>
                    <a:pt x="339555" y="230888"/>
                  </a:lnTo>
                  <a:lnTo>
                    <a:pt x="309181" y="278392"/>
                  </a:lnTo>
                  <a:lnTo>
                    <a:pt x="272111" y="320882"/>
                  </a:lnTo>
                  <a:lnTo>
                    <a:pt x="235453" y="350793"/>
                  </a:lnTo>
                  <a:lnTo>
                    <a:pt x="203359" y="365433"/>
                  </a:lnTo>
                  <a:lnTo>
                    <a:pt x="179984" y="362110"/>
                  </a:lnTo>
                  <a:lnTo>
                    <a:pt x="9753" y="234539"/>
                  </a:lnTo>
                  <a:lnTo>
                    <a:pt x="0" y="213039"/>
                  </a:lnTo>
                  <a:lnTo>
                    <a:pt x="5038" y="178125"/>
                  </a:lnTo>
                  <a:lnTo>
                    <a:pt x="23455" y="134544"/>
                  </a:lnTo>
                  <a:lnTo>
                    <a:pt x="53835" y="87041"/>
                  </a:lnTo>
                  <a:lnTo>
                    <a:pt x="90897" y="44551"/>
                  </a:lnTo>
                  <a:lnTo>
                    <a:pt x="127552" y="14640"/>
                  </a:lnTo>
                  <a:lnTo>
                    <a:pt x="159644" y="0"/>
                  </a:lnTo>
                  <a:lnTo>
                    <a:pt x="183019" y="3322"/>
                  </a:lnTo>
                  <a:lnTo>
                    <a:pt x="353250" y="130894"/>
                  </a:lnTo>
                  <a:close/>
                </a:path>
              </a:pathLst>
            </a:custGeom>
            <a:ln w="9525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87195" y="3866388"/>
              <a:ext cx="1306055" cy="68122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35031" y="3893883"/>
              <a:ext cx="1211349" cy="58583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2035097" y="4168112"/>
              <a:ext cx="254000" cy="296545"/>
            </a:xfrm>
            <a:custGeom>
              <a:avLst/>
              <a:gdLst/>
              <a:ahLst/>
              <a:cxnLst/>
              <a:rect l="l" t="t" r="r" b="b"/>
              <a:pathLst>
                <a:path w="254000" h="296545">
                  <a:moveTo>
                    <a:pt x="157587" y="296240"/>
                  </a:moveTo>
                  <a:lnTo>
                    <a:pt x="106132" y="273031"/>
                  </a:lnTo>
                  <a:lnTo>
                    <a:pt x="63197" y="242524"/>
                  </a:lnTo>
                  <a:lnTo>
                    <a:pt x="30231" y="206713"/>
                  </a:lnTo>
                  <a:lnTo>
                    <a:pt x="8682" y="167588"/>
                  </a:lnTo>
                  <a:lnTo>
                    <a:pt x="0" y="127141"/>
                  </a:lnTo>
                  <a:lnTo>
                    <a:pt x="5631" y="87363"/>
                  </a:lnTo>
                  <a:lnTo>
                    <a:pt x="25547" y="52475"/>
                  </a:lnTo>
                  <a:lnTo>
                    <a:pt x="57189" y="25828"/>
                  </a:lnTo>
                  <a:lnTo>
                    <a:pt x="98190" y="8107"/>
                  </a:lnTo>
                  <a:lnTo>
                    <a:pt x="146186" y="0"/>
                  </a:lnTo>
                  <a:lnTo>
                    <a:pt x="198811" y="2191"/>
                  </a:lnTo>
                  <a:lnTo>
                    <a:pt x="253700" y="15367"/>
                  </a:lnTo>
                </a:path>
              </a:pathLst>
            </a:custGeom>
            <a:ln w="9525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235031" y="3894337"/>
              <a:ext cx="1211580" cy="585470"/>
            </a:xfrm>
            <a:custGeom>
              <a:avLst/>
              <a:gdLst/>
              <a:ahLst/>
              <a:cxnLst/>
              <a:rect l="l" t="t" r="r" b="b"/>
              <a:pathLst>
                <a:path w="1211580" h="585470">
                  <a:moveTo>
                    <a:pt x="1053762" y="289141"/>
                  </a:moveTo>
                  <a:lnTo>
                    <a:pt x="1105217" y="312351"/>
                  </a:lnTo>
                  <a:lnTo>
                    <a:pt x="1148152" y="342857"/>
                  </a:lnTo>
                  <a:lnTo>
                    <a:pt x="1181118" y="378668"/>
                  </a:lnTo>
                  <a:lnTo>
                    <a:pt x="1202666" y="417793"/>
                  </a:lnTo>
                  <a:lnTo>
                    <a:pt x="1211349" y="458240"/>
                  </a:lnTo>
                  <a:lnTo>
                    <a:pt x="1205718" y="498018"/>
                  </a:lnTo>
                  <a:lnTo>
                    <a:pt x="1185801" y="532906"/>
                  </a:lnTo>
                  <a:lnTo>
                    <a:pt x="1154160" y="559553"/>
                  </a:lnTo>
                  <a:lnTo>
                    <a:pt x="1113158" y="577274"/>
                  </a:lnTo>
                  <a:lnTo>
                    <a:pt x="1065162" y="585382"/>
                  </a:lnTo>
                  <a:lnTo>
                    <a:pt x="1012537" y="583190"/>
                  </a:lnTo>
                  <a:lnTo>
                    <a:pt x="957648" y="570014"/>
                  </a:lnTo>
                  <a:lnTo>
                    <a:pt x="157587" y="296240"/>
                  </a:lnTo>
                  <a:lnTo>
                    <a:pt x="106132" y="273031"/>
                  </a:lnTo>
                  <a:lnTo>
                    <a:pt x="63197" y="242524"/>
                  </a:lnTo>
                  <a:lnTo>
                    <a:pt x="30231" y="206713"/>
                  </a:lnTo>
                  <a:lnTo>
                    <a:pt x="8682" y="167588"/>
                  </a:lnTo>
                  <a:lnTo>
                    <a:pt x="0" y="127141"/>
                  </a:lnTo>
                  <a:lnTo>
                    <a:pt x="5631" y="87363"/>
                  </a:lnTo>
                  <a:lnTo>
                    <a:pt x="25547" y="52475"/>
                  </a:lnTo>
                  <a:lnTo>
                    <a:pt x="57189" y="25828"/>
                  </a:lnTo>
                  <a:lnTo>
                    <a:pt x="98190" y="8107"/>
                  </a:lnTo>
                  <a:lnTo>
                    <a:pt x="146186" y="0"/>
                  </a:lnTo>
                  <a:lnTo>
                    <a:pt x="198811" y="2191"/>
                  </a:lnTo>
                  <a:lnTo>
                    <a:pt x="253700" y="15367"/>
                  </a:lnTo>
                  <a:lnTo>
                    <a:pt x="1053762" y="289141"/>
                  </a:lnTo>
                  <a:close/>
                </a:path>
              </a:pathLst>
            </a:custGeom>
            <a:ln w="9525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56688" y="4212336"/>
              <a:ext cx="425195" cy="39928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04160" y="4241752"/>
              <a:ext cx="330441" cy="30012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2504151" y="4241749"/>
              <a:ext cx="330835" cy="300355"/>
            </a:xfrm>
            <a:custGeom>
              <a:avLst/>
              <a:gdLst/>
              <a:ahLst/>
              <a:cxnLst/>
              <a:rect l="l" t="t" r="r" b="b"/>
              <a:pathLst>
                <a:path w="330835" h="300354">
                  <a:moveTo>
                    <a:pt x="330454" y="200647"/>
                  </a:moveTo>
                  <a:lnTo>
                    <a:pt x="324040" y="169760"/>
                  </a:lnTo>
                  <a:lnTo>
                    <a:pt x="65265" y="0"/>
                  </a:lnTo>
                  <a:lnTo>
                    <a:pt x="0" y="99491"/>
                  </a:lnTo>
                  <a:lnTo>
                    <a:pt x="6426" y="130378"/>
                  </a:lnTo>
                  <a:lnTo>
                    <a:pt x="265188" y="300126"/>
                  </a:lnTo>
                  <a:lnTo>
                    <a:pt x="330454" y="200647"/>
                  </a:lnTo>
                  <a:close/>
                </a:path>
                <a:path w="330835" h="300354">
                  <a:moveTo>
                    <a:pt x="330454" y="200647"/>
                  </a:moveTo>
                  <a:lnTo>
                    <a:pt x="71678" y="30886"/>
                  </a:lnTo>
                  <a:lnTo>
                    <a:pt x="65265" y="0"/>
                  </a:lnTo>
                </a:path>
                <a:path w="330835" h="300354">
                  <a:moveTo>
                    <a:pt x="71678" y="30886"/>
                  </a:moveTo>
                  <a:lnTo>
                    <a:pt x="6426" y="130378"/>
                  </a:lnTo>
                </a:path>
              </a:pathLst>
            </a:custGeom>
            <a:ln w="9525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293619" y="4465320"/>
              <a:ext cx="434339" cy="42062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341372" y="4494200"/>
              <a:ext cx="338517" cy="32227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341372" y="4494211"/>
              <a:ext cx="339090" cy="322580"/>
            </a:xfrm>
            <a:custGeom>
              <a:avLst/>
              <a:gdLst/>
              <a:ahLst/>
              <a:cxnLst/>
              <a:rect l="l" t="t" r="r" b="b"/>
              <a:pathLst>
                <a:path w="339089" h="322579">
                  <a:moveTo>
                    <a:pt x="338518" y="202666"/>
                  </a:moveTo>
                  <a:lnTo>
                    <a:pt x="330809" y="165531"/>
                  </a:lnTo>
                  <a:lnTo>
                    <a:pt x="78460" y="0"/>
                  </a:lnTo>
                  <a:lnTo>
                    <a:pt x="0" y="119595"/>
                  </a:lnTo>
                  <a:lnTo>
                    <a:pt x="7708" y="156730"/>
                  </a:lnTo>
                  <a:lnTo>
                    <a:pt x="260057" y="322275"/>
                  </a:lnTo>
                  <a:lnTo>
                    <a:pt x="338518" y="202666"/>
                  </a:lnTo>
                  <a:close/>
                </a:path>
                <a:path w="339089" h="322579">
                  <a:moveTo>
                    <a:pt x="338518" y="202666"/>
                  </a:moveTo>
                  <a:lnTo>
                    <a:pt x="86169" y="37122"/>
                  </a:lnTo>
                  <a:lnTo>
                    <a:pt x="78460" y="0"/>
                  </a:lnTo>
                </a:path>
                <a:path w="339089" h="322579">
                  <a:moveTo>
                    <a:pt x="86169" y="37122"/>
                  </a:moveTo>
                  <a:lnTo>
                    <a:pt x="7708" y="156730"/>
                  </a:lnTo>
                </a:path>
              </a:pathLst>
            </a:custGeom>
            <a:ln w="9525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159508" y="4119372"/>
              <a:ext cx="473963" cy="59283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206942" y="4149270"/>
              <a:ext cx="378776" cy="493036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206941" y="4149261"/>
              <a:ext cx="379095" cy="493395"/>
            </a:xfrm>
            <a:custGeom>
              <a:avLst/>
              <a:gdLst/>
              <a:ahLst/>
              <a:cxnLst/>
              <a:rect l="l" t="t" r="r" b="b"/>
              <a:pathLst>
                <a:path w="379094" h="493395">
                  <a:moveTo>
                    <a:pt x="378777" y="124244"/>
                  </a:moveTo>
                  <a:lnTo>
                    <a:pt x="370484" y="84327"/>
                  </a:lnTo>
                  <a:lnTo>
                    <a:pt x="241934" y="0"/>
                  </a:lnTo>
                  <a:lnTo>
                    <a:pt x="0" y="368807"/>
                  </a:lnTo>
                  <a:lnTo>
                    <a:pt x="8293" y="408724"/>
                  </a:lnTo>
                  <a:lnTo>
                    <a:pt x="136842" y="493052"/>
                  </a:lnTo>
                  <a:lnTo>
                    <a:pt x="378777" y="124244"/>
                  </a:lnTo>
                  <a:close/>
                </a:path>
                <a:path w="379094" h="493395">
                  <a:moveTo>
                    <a:pt x="378777" y="124244"/>
                  </a:moveTo>
                  <a:lnTo>
                    <a:pt x="250228" y="39916"/>
                  </a:lnTo>
                  <a:lnTo>
                    <a:pt x="241934" y="0"/>
                  </a:lnTo>
                </a:path>
                <a:path w="379094" h="493395">
                  <a:moveTo>
                    <a:pt x="250228" y="39916"/>
                  </a:moveTo>
                  <a:lnTo>
                    <a:pt x="8293" y="408724"/>
                  </a:lnTo>
                </a:path>
              </a:pathLst>
            </a:custGeom>
            <a:ln w="9525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004060" y="4096511"/>
              <a:ext cx="440435" cy="48005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051303" y="4123944"/>
              <a:ext cx="345947" cy="385572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2051303" y="4123944"/>
              <a:ext cx="346075" cy="386080"/>
            </a:xfrm>
            <a:custGeom>
              <a:avLst/>
              <a:gdLst/>
              <a:ahLst/>
              <a:cxnLst/>
              <a:rect l="l" t="t" r="r" b="b"/>
              <a:pathLst>
                <a:path w="346075" h="386079">
                  <a:moveTo>
                    <a:pt x="0" y="192785"/>
                  </a:moveTo>
                  <a:lnTo>
                    <a:pt x="6178" y="141534"/>
                  </a:lnTo>
                  <a:lnTo>
                    <a:pt x="23616" y="95481"/>
                  </a:lnTo>
                  <a:lnTo>
                    <a:pt x="50663" y="56464"/>
                  </a:lnTo>
                  <a:lnTo>
                    <a:pt x="85671" y="26320"/>
                  </a:lnTo>
                  <a:lnTo>
                    <a:pt x="126991" y="6886"/>
                  </a:lnTo>
                  <a:lnTo>
                    <a:pt x="172974" y="0"/>
                  </a:lnTo>
                  <a:lnTo>
                    <a:pt x="218956" y="6886"/>
                  </a:lnTo>
                  <a:lnTo>
                    <a:pt x="260276" y="26320"/>
                  </a:lnTo>
                  <a:lnTo>
                    <a:pt x="295284" y="56464"/>
                  </a:lnTo>
                  <a:lnTo>
                    <a:pt x="322331" y="95481"/>
                  </a:lnTo>
                  <a:lnTo>
                    <a:pt x="339769" y="141534"/>
                  </a:lnTo>
                  <a:lnTo>
                    <a:pt x="345948" y="192785"/>
                  </a:lnTo>
                  <a:lnTo>
                    <a:pt x="339769" y="244037"/>
                  </a:lnTo>
                  <a:lnTo>
                    <a:pt x="322331" y="290090"/>
                  </a:lnTo>
                  <a:lnTo>
                    <a:pt x="295284" y="329107"/>
                  </a:lnTo>
                  <a:lnTo>
                    <a:pt x="260276" y="359251"/>
                  </a:lnTo>
                  <a:lnTo>
                    <a:pt x="218956" y="378685"/>
                  </a:lnTo>
                  <a:lnTo>
                    <a:pt x="172974" y="385571"/>
                  </a:lnTo>
                  <a:lnTo>
                    <a:pt x="126991" y="378685"/>
                  </a:lnTo>
                  <a:lnTo>
                    <a:pt x="85671" y="359251"/>
                  </a:lnTo>
                  <a:lnTo>
                    <a:pt x="50663" y="329107"/>
                  </a:lnTo>
                  <a:lnTo>
                    <a:pt x="23616" y="290090"/>
                  </a:lnTo>
                  <a:lnTo>
                    <a:pt x="6178" y="244037"/>
                  </a:lnTo>
                  <a:lnTo>
                    <a:pt x="0" y="192785"/>
                  </a:lnTo>
                  <a:close/>
                </a:path>
              </a:pathLst>
            </a:custGeom>
            <a:ln w="9144">
              <a:solidFill>
                <a:srgbClr val="3C42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4818126" y="2643377"/>
            <a:ext cx="2740660" cy="646430"/>
          </a:xfrm>
          <a:prstGeom prst="rect">
            <a:avLst/>
          </a:prstGeom>
          <a:ln w="25907">
            <a:solidFill>
              <a:srgbClr val="40458C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0805" marR="261620">
              <a:lnSpc>
                <a:spcPct val="100000"/>
              </a:lnSpc>
              <a:spcBef>
                <a:spcPts val="345"/>
              </a:spcBef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Add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via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point B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“sufficiently</a:t>
            </a:r>
            <a:r>
              <a:rPr sz="18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far”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from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434967" y="2953511"/>
            <a:ext cx="3879215" cy="2499360"/>
            <a:chOff x="1434967" y="2953511"/>
            <a:chExt cx="3879215" cy="2499360"/>
          </a:xfrm>
        </p:grpSpPr>
        <p:sp>
          <p:nvSpPr>
            <p:cNvPr id="89" name="object 89"/>
            <p:cNvSpPr/>
            <p:nvPr/>
          </p:nvSpPr>
          <p:spPr>
            <a:xfrm>
              <a:off x="4275581" y="2966465"/>
              <a:ext cx="544195" cy="447675"/>
            </a:xfrm>
            <a:custGeom>
              <a:avLst/>
              <a:gdLst/>
              <a:ahLst/>
              <a:cxnLst/>
              <a:rect l="l" t="t" r="r" b="b"/>
              <a:pathLst>
                <a:path w="544195" h="447675">
                  <a:moveTo>
                    <a:pt x="543750" y="0"/>
                  </a:moveTo>
                  <a:lnTo>
                    <a:pt x="0" y="447255"/>
                  </a:lnTo>
                </a:path>
              </a:pathLst>
            </a:custGeom>
            <a:ln w="25908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275583" y="3329330"/>
              <a:ext cx="88900" cy="84455"/>
            </a:xfrm>
            <a:custGeom>
              <a:avLst/>
              <a:gdLst/>
              <a:ahLst/>
              <a:cxnLst/>
              <a:rect l="l" t="t" r="r" b="b"/>
              <a:pathLst>
                <a:path w="88900" h="84454">
                  <a:moveTo>
                    <a:pt x="31216" y="0"/>
                  </a:moveTo>
                  <a:lnTo>
                    <a:pt x="0" y="84391"/>
                  </a:lnTo>
                  <a:lnTo>
                    <a:pt x="88823" y="70027"/>
                  </a:lnTo>
                </a:path>
              </a:pathLst>
            </a:custGeom>
            <a:ln w="25908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434967" y="5445132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8991" y="0"/>
                  </a:lnTo>
                </a:path>
              </a:pathLst>
            </a:custGeom>
            <a:ln w="1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635814" y="5445133"/>
              <a:ext cx="506095" cy="0"/>
            </a:xfrm>
            <a:custGeom>
              <a:avLst/>
              <a:gdLst/>
              <a:ahLst/>
              <a:cxnLst/>
              <a:rect l="l" t="t" r="r" b="b"/>
              <a:pathLst>
                <a:path w="506095">
                  <a:moveTo>
                    <a:pt x="0" y="0"/>
                  </a:moveTo>
                  <a:lnTo>
                    <a:pt x="505706" y="0"/>
                  </a:lnTo>
                </a:path>
              </a:pathLst>
            </a:custGeom>
            <a:ln w="1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836276" y="5445133"/>
              <a:ext cx="477520" cy="0"/>
            </a:xfrm>
            <a:custGeom>
              <a:avLst/>
              <a:gdLst/>
              <a:ahLst/>
              <a:cxnLst/>
              <a:rect l="l" t="t" r="r" b="b"/>
              <a:pathLst>
                <a:path w="477520">
                  <a:moveTo>
                    <a:pt x="0" y="0"/>
                  </a:moveTo>
                  <a:lnTo>
                    <a:pt x="477349" y="0"/>
                  </a:lnTo>
                </a:path>
              </a:pathLst>
            </a:custGeom>
            <a:ln w="1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/>
          <p:nvPr/>
        </p:nvSpPr>
        <p:spPr>
          <a:xfrm>
            <a:off x="6942599" y="5445133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>
                <a:moveTo>
                  <a:pt x="0" y="0"/>
                </a:moveTo>
                <a:lnTo>
                  <a:pt x="524611" y="0"/>
                </a:lnTo>
              </a:path>
            </a:pathLst>
          </a:custGeom>
          <a:ln w="149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977710" y="5275129"/>
            <a:ext cx="7659370" cy="102933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1195"/>
              </a:spcBef>
              <a:tabLst>
                <a:tab pos="2200275" algn="l"/>
                <a:tab pos="3811904" algn="l"/>
                <a:tab pos="5450205" algn="l"/>
                <a:tab pos="5899150" algn="l"/>
              </a:tabLst>
            </a:pPr>
            <a:r>
              <a:rPr sz="2350" i="1" spc="15" dirty="0">
                <a:latin typeface="Times New Roman"/>
                <a:cs typeface="Times New Roman"/>
              </a:rPr>
              <a:t>on </a:t>
            </a:r>
            <a:r>
              <a:rPr sz="2350" i="1" spc="-210" dirty="0">
                <a:latin typeface="Times New Roman"/>
                <a:cs typeface="Times New Roman"/>
              </a:rPr>
              <a:t> </a:t>
            </a:r>
            <a:r>
              <a:rPr sz="2350" i="1" spc="10" dirty="0">
                <a:latin typeface="Times New Roman"/>
                <a:cs typeface="Times New Roman"/>
              </a:rPr>
              <a:t>A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37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'</a:t>
            </a:r>
            <a:r>
              <a:rPr sz="2350" spc="60" dirty="0">
                <a:latin typeface="Times New Roman"/>
                <a:cs typeface="Times New Roman"/>
              </a:rPr>
              <a:t> </a:t>
            </a:r>
            <a:r>
              <a:rPr sz="2350" spc="30" dirty="0">
                <a:latin typeface="Symbol"/>
                <a:cs typeface="Symbol"/>
              </a:rPr>
              <a:t>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i="1" spc="5" dirty="0">
                <a:latin typeface="Times New Roman"/>
                <a:cs typeface="Times New Roman"/>
              </a:rPr>
              <a:t>a</a:t>
            </a:r>
            <a:r>
              <a:rPr sz="2025" spc="-7" baseline="-24691" dirty="0">
                <a:latin typeface="Times New Roman"/>
                <a:cs typeface="Times New Roman"/>
              </a:rPr>
              <a:t>m</a:t>
            </a:r>
            <a:r>
              <a:rPr sz="2025" baseline="-24691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x</a:t>
            </a:r>
            <a:r>
              <a:rPr sz="2025" spc="-120" baseline="-24691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;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i="1" spc="15" dirty="0">
                <a:latin typeface="Times New Roman"/>
                <a:cs typeface="Times New Roman"/>
              </a:rPr>
              <a:t>on</a:t>
            </a:r>
            <a:r>
              <a:rPr sz="2350" i="1" dirty="0">
                <a:latin typeface="Times New Roman"/>
                <a:cs typeface="Times New Roman"/>
              </a:rPr>
              <a:t> </a:t>
            </a:r>
            <a:r>
              <a:rPr sz="2350" i="1" spc="-21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37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'</a:t>
            </a:r>
            <a:r>
              <a:rPr sz="2350" spc="-27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B</a:t>
            </a:r>
            <a:r>
              <a:rPr sz="2350" i="1" spc="22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and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i="1" spc="10" dirty="0">
                <a:latin typeface="Times New Roman"/>
                <a:cs typeface="Times New Roman"/>
              </a:rPr>
              <a:t>B</a:t>
            </a:r>
            <a:r>
              <a:rPr sz="2350" i="1" spc="20" dirty="0">
                <a:latin typeface="Times New Roman"/>
                <a:cs typeface="Times New Roman"/>
              </a:rPr>
              <a:t>C</a:t>
            </a:r>
            <a:r>
              <a:rPr sz="2350" i="1" spc="-17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'</a:t>
            </a:r>
            <a:r>
              <a:rPr sz="2350" spc="-160" dirty="0">
                <a:latin typeface="Times New Roman"/>
                <a:cs typeface="Times New Roman"/>
              </a:rPr>
              <a:t> </a:t>
            </a:r>
            <a:r>
              <a:rPr sz="2350" spc="30" dirty="0">
                <a:latin typeface="Symbol"/>
                <a:cs typeface="Symbol"/>
              </a:rPr>
              <a:t></a:t>
            </a:r>
            <a:r>
              <a:rPr sz="2350" spc="-114" dirty="0">
                <a:latin typeface="Times New Roman"/>
                <a:cs typeface="Times New Roman"/>
              </a:rPr>
              <a:t> </a:t>
            </a:r>
            <a:r>
              <a:rPr sz="2350" i="1" spc="-15" dirty="0">
                <a:latin typeface="Times New Roman"/>
                <a:cs typeface="Times New Roman"/>
              </a:rPr>
              <a:t>v</a:t>
            </a:r>
            <a:r>
              <a:rPr sz="2025" spc="-7" baseline="-24691" dirty="0">
                <a:latin typeface="Times New Roman"/>
                <a:cs typeface="Times New Roman"/>
              </a:rPr>
              <a:t>m</a:t>
            </a:r>
            <a:r>
              <a:rPr sz="2025" baseline="-24691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x</a:t>
            </a:r>
            <a:r>
              <a:rPr sz="2025" baseline="-24691" dirty="0">
                <a:latin typeface="Times New Roman"/>
                <a:cs typeface="Times New Roman"/>
              </a:rPr>
              <a:t>	</a:t>
            </a:r>
            <a:r>
              <a:rPr sz="2350" i="1" spc="15" dirty="0">
                <a:latin typeface="Times New Roman"/>
                <a:cs typeface="Times New Roman"/>
              </a:rPr>
              <a:t>on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i="1" spc="20" dirty="0">
                <a:latin typeface="Times New Roman"/>
                <a:cs typeface="Times New Roman"/>
              </a:rPr>
              <a:t>C</a:t>
            </a:r>
            <a:r>
              <a:rPr sz="2350" i="1" spc="-170" dirty="0">
                <a:latin typeface="Times New Roman"/>
                <a:cs typeface="Times New Roman"/>
              </a:rPr>
              <a:t> </a:t>
            </a:r>
            <a:r>
              <a:rPr sz="2350" spc="170" dirty="0">
                <a:latin typeface="Times New Roman"/>
                <a:cs typeface="Times New Roman"/>
              </a:rPr>
              <a:t>'</a:t>
            </a:r>
            <a:r>
              <a:rPr sz="2350" i="1" spc="20" dirty="0">
                <a:latin typeface="Times New Roman"/>
                <a:cs typeface="Times New Roman"/>
              </a:rPr>
              <a:t>C</a:t>
            </a:r>
            <a:r>
              <a:rPr sz="2350" i="1" spc="55" dirty="0">
                <a:latin typeface="Times New Roman"/>
                <a:cs typeface="Times New Roman"/>
              </a:rPr>
              <a:t> </a:t>
            </a:r>
            <a:r>
              <a:rPr sz="2350" spc="30" dirty="0">
                <a:latin typeface="Symbol"/>
                <a:cs typeface="Symbol"/>
              </a:rPr>
              <a:t>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spc="80" dirty="0">
                <a:latin typeface="Symbol"/>
                <a:cs typeface="Symbol"/>
              </a:rPr>
              <a:t></a:t>
            </a:r>
            <a:r>
              <a:rPr sz="2350" i="1" spc="5" dirty="0">
                <a:latin typeface="Times New Roman"/>
                <a:cs typeface="Times New Roman"/>
              </a:rPr>
              <a:t>a</a:t>
            </a:r>
            <a:r>
              <a:rPr sz="2025" spc="-7" baseline="-24691" dirty="0">
                <a:latin typeface="Times New Roman"/>
                <a:cs typeface="Times New Roman"/>
              </a:rPr>
              <a:t>m</a:t>
            </a:r>
            <a:r>
              <a:rPr sz="2025" baseline="-24691" dirty="0">
                <a:latin typeface="Times New Roman"/>
                <a:cs typeface="Times New Roman"/>
              </a:rPr>
              <a:t>a</a:t>
            </a:r>
            <a:r>
              <a:rPr sz="2025" spc="15" baseline="-24691" dirty="0">
                <a:latin typeface="Times New Roman"/>
                <a:cs typeface="Times New Roman"/>
              </a:rPr>
              <a:t>x</a:t>
            </a:r>
            <a:r>
              <a:rPr sz="2025" baseline="-24691" dirty="0">
                <a:latin typeface="Times New Roman"/>
                <a:cs typeface="Times New Roman"/>
              </a:rPr>
              <a:t>'</a:t>
            </a:r>
            <a:endParaRPr sz="2025" baseline="-24691">
              <a:latin typeface="Times New Roman"/>
              <a:cs typeface="Times New Roman"/>
            </a:endParaRPr>
          </a:p>
          <a:p>
            <a:pPr marL="2541905" indent="-1929130">
              <a:lnSpc>
                <a:spcPct val="100000"/>
              </a:lnSpc>
              <a:spcBef>
                <a:spcPts val="1105"/>
              </a:spcBef>
              <a:buFont typeface="Symbol"/>
              <a:buChar char=""/>
              <a:tabLst>
                <a:tab pos="2542540" algn="l"/>
              </a:tabLst>
            </a:pPr>
            <a:r>
              <a:rPr sz="2400" i="1" spc="5" dirty="0">
                <a:latin typeface="Times New Roman"/>
                <a:cs typeface="Times New Roman"/>
              </a:rPr>
              <a:t>o</a:t>
            </a:r>
            <a:r>
              <a:rPr sz="2400" i="1" spc="-15" dirty="0">
                <a:latin typeface="Times New Roman"/>
                <a:cs typeface="Times New Roman"/>
              </a:rPr>
              <a:t>ve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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i="1" spc="5" dirty="0">
                <a:latin typeface="Times New Roman"/>
                <a:cs typeface="Times New Roman"/>
              </a:rPr>
              <a:t>fl</a:t>
            </a:r>
            <a:r>
              <a:rPr sz="2400" i="1" spc="-15" dirty="0">
                <a:latin typeface="Times New Roman"/>
                <a:cs typeface="Times New Roman"/>
              </a:rPr>
              <a:t>y</a:t>
            </a:r>
            <a:r>
              <a:rPr sz="2400" i="1" spc="5" dirty="0">
                <a:latin typeface="Times New Roman"/>
                <a:cs typeface="Times New Roman"/>
              </a:rPr>
              <a:t>b</a:t>
            </a:r>
            <a:r>
              <a:rPr sz="2400" i="1" spc="-15" dirty="0">
                <a:latin typeface="Times New Roman"/>
                <a:cs typeface="Times New Roman"/>
              </a:rPr>
              <a:t>e</a:t>
            </a:r>
            <a:r>
              <a:rPr sz="2400" i="1" spc="5" dirty="0">
                <a:latin typeface="Times New Roman"/>
                <a:cs typeface="Times New Roman"/>
              </a:rPr>
              <a:t>t</a:t>
            </a:r>
            <a:r>
              <a:rPr sz="2400" i="1" spc="15" dirty="0">
                <a:latin typeface="Times New Roman"/>
                <a:cs typeface="Times New Roman"/>
              </a:rPr>
              <a:t>w</a:t>
            </a:r>
            <a:r>
              <a:rPr sz="2400" i="1" spc="-15" dirty="0">
                <a:latin typeface="Times New Roman"/>
                <a:cs typeface="Times New Roman"/>
              </a:rPr>
              <a:t>ee</a:t>
            </a:r>
            <a:r>
              <a:rPr sz="2400" i="1" spc="5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220" dirty="0">
                <a:latin typeface="Times New Roman"/>
                <a:cs typeface="Times New Roman"/>
              </a:rPr>
              <a:t> </a:t>
            </a:r>
            <a:r>
              <a:rPr sz="2400" i="1" spc="5" dirty="0">
                <a:latin typeface="Times New Roman"/>
                <a:cs typeface="Times New Roman"/>
              </a:rPr>
              <a:t>A</a:t>
            </a:r>
            <a:r>
              <a:rPr sz="2400" i="1" spc="-3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'</a:t>
            </a:r>
            <a:r>
              <a:rPr sz="2400" dirty="0">
                <a:latin typeface="Times New Roman"/>
                <a:cs typeface="Times New Roman"/>
              </a:rPr>
              <a:t>'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i="1" spc="5" dirty="0">
                <a:latin typeface="Times New Roman"/>
                <a:cs typeface="Times New Roman"/>
              </a:rPr>
              <a:t>e</a:t>
            </a:r>
            <a:r>
              <a:rPr sz="2400" i="1" spc="100" dirty="0">
                <a:latin typeface="Times New Roman"/>
                <a:cs typeface="Times New Roman"/>
              </a:rPr>
              <a:t> </a:t>
            </a:r>
            <a:r>
              <a:rPr sz="2400" i="1" spc="5" dirty="0">
                <a:latin typeface="Times New Roman"/>
                <a:cs typeface="Times New Roman"/>
              </a:rPr>
              <a:t>C</a:t>
            </a:r>
            <a:r>
              <a:rPr sz="2400" i="1" spc="-17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'</a:t>
            </a:r>
            <a:r>
              <a:rPr sz="2400" spc="130" dirty="0">
                <a:latin typeface="Times New Roman"/>
                <a:cs typeface="Times New Roman"/>
              </a:rPr>
              <a:t>'</a:t>
            </a:r>
            <a:r>
              <a:rPr sz="2400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37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74027" y="106235"/>
            <a:ext cx="5606415" cy="15741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500" dirty="0">
              <a:latin typeface="Cambria"/>
              <a:cs typeface="Cambria"/>
            </a:endParaRPr>
          </a:p>
          <a:p>
            <a:pPr marL="85725">
              <a:lnSpc>
                <a:spcPct val="100000"/>
              </a:lnSpc>
            </a:pPr>
            <a:r>
              <a:rPr sz="2400" spc="-5" dirty="0">
                <a:solidFill>
                  <a:srgbClr val="40458C"/>
                </a:solidFill>
                <a:latin typeface="Tahoma"/>
                <a:cs typeface="Tahoma"/>
              </a:rPr>
              <a:t>5.6 </a:t>
            </a:r>
            <a:r>
              <a:rPr sz="2400" spc="-15" dirty="0">
                <a:solidFill>
                  <a:srgbClr val="40458C"/>
                </a:solidFill>
                <a:latin typeface="Tahoma"/>
                <a:cs typeface="Tahoma"/>
              </a:rPr>
              <a:t>CARTESIAN-SPACE</a:t>
            </a:r>
            <a:r>
              <a:rPr sz="24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endParaRPr sz="2400" dirty="0">
              <a:latin typeface="Tahoma"/>
              <a:cs typeface="Tahoma"/>
            </a:endParaRPr>
          </a:p>
          <a:p>
            <a:pPr marL="250190" indent="-238125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250190" algn="l"/>
                <a:tab pos="250825" algn="l"/>
              </a:tabLst>
            </a:pPr>
            <a:r>
              <a:rPr sz="1800" dirty="0">
                <a:solidFill>
                  <a:srgbClr val="40458C"/>
                </a:solidFill>
                <a:latin typeface="Times New Roman"/>
                <a:cs typeface="Times New Roman"/>
              </a:rPr>
              <a:t>Application</a:t>
            </a:r>
            <a:r>
              <a:rPr sz="1800" spc="-50" dirty="0">
                <a:solidFill>
                  <a:srgbClr val="40458C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imes New Roman"/>
                <a:cs typeface="Times New Roman"/>
              </a:rPr>
              <a:t>example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337820">
              <a:lnSpc>
                <a:spcPct val="100000"/>
              </a:lnSpc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plan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a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Cartesian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from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(rest-to-rest)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627" y="1805368"/>
            <a:ext cx="190499" cy="1950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2827" y="1731708"/>
            <a:ext cx="6903720" cy="1671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Actual manipulator operates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by joint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coordinates. Beforehand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we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have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decide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represent trajectory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as Cartesian 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coordinates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or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Joint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coordinates.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It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can be expressed in the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following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3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 ways.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627" y="3146488"/>
            <a:ext cx="190499" cy="19507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7052" y="937958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38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627" y="2171129"/>
            <a:ext cx="190499" cy="1950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627" y="4853381"/>
            <a:ext cx="190499" cy="1950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9927" y="1671357"/>
            <a:ext cx="7745730" cy="37439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Method</a:t>
            </a:r>
            <a:r>
              <a:rPr sz="2000" spc="-7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  <a:p>
            <a:pPr marL="355600" marR="8128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Within each sampling period, conversion of Cartesian coordinates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coordinates</a:t>
            </a:r>
            <a:endParaRPr sz="2000">
              <a:latin typeface="Tahoma"/>
              <a:cs typeface="Tahoma"/>
            </a:endParaRPr>
          </a:p>
          <a:p>
            <a:pPr marL="756285" marR="165100" indent="-287020">
              <a:lnSpc>
                <a:spcPct val="100000"/>
              </a:lnSpc>
              <a:spcBef>
                <a:spcPts val="480"/>
              </a:spcBef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calculate the error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between desired path and actual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path,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current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location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points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are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converted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corresponding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points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on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Cartesian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coordinates by using the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Jacobian 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transformation.</a:t>
            </a:r>
            <a:endParaRPr sz="2000">
              <a:latin typeface="Tahoma"/>
              <a:cs typeface="Tahoma"/>
            </a:endParaRPr>
          </a:p>
          <a:p>
            <a:pPr marL="756285" indent="-287020">
              <a:lnSpc>
                <a:spcPct val="100000"/>
              </a:lnSpc>
              <a:spcBef>
                <a:spcPts val="480"/>
              </a:spcBef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Errors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20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space</a:t>
            </a:r>
            <a:r>
              <a:rPr sz="20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use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inverse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Jacobian.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Tahoma"/>
              <a:cs typeface="Tahoma"/>
            </a:endParaRPr>
          </a:p>
          <a:p>
            <a:pPr marL="355600" marR="508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Disadvantages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: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Calculation is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complicated. Therefore,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controller’s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sampling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frequency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20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limited.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39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7052" y="882396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39" y="2231466"/>
            <a:ext cx="190499" cy="1950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1731682"/>
            <a:ext cx="7780655" cy="26473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Method</a:t>
            </a:r>
            <a:r>
              <a:rPr sz="2000" spc="-7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trajectory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displayed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at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coordinate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system.</a:t>
            </a:r>
            <a:endParaRPr sz="2000">
              <a:latin typeface="Tahoma"/>
              <a:cs typeface="Tahoma"/>
            </a:endParaRPr>
          </a:p>
          <a:p>
            <a:pPr marL="756285" marR="5080" indent="-287020">
              <a:lnSpc>
                <a:spcPct val="100000"/>
              </a:lnSpc>
              <a:spcBef>
                <a:spcPts val="480"/>
              </a:spcBef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The constraints on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 manipulator’s maximum permissible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speed and acceleration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 considered.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These constraints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displayed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at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 reference coordinate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system or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generalized coordination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of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joint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space. The path notation that </a:t>
            </a:r>
            <a:r>
              <a:rPr sz="2000" spc="-6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is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placed on another space can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represent the relationship,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using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C"/>
                </a:solidFill>
                <a:latin typeface="Tahoma"/>
                <a:cs typeface="Tahoma"/>
              </a:rPr>
              <a:t>kinematic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equations.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40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7052" y="926846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627" y="2276487"/>
            <a:ext cx="164591" cy="1767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9927" y="1742566"/>
            <a:ext cx="7284720" cy="205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Method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355600" marR="5080" indent="71120">
              <a:lnSpc>
                <a:spcPct val="150000"/>
              </a:lnSpc>
              <a:spcBef>
                <a:spcPts val="430"/>
              </a:spcBef>
              <a:tabLst>
                <a:tab pos="5394325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function,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such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polynomial,</a:t>
            </a:r>
            <a:r>
              <a:rPr sz="18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used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	represent the path </a:t>
            </a:r>
            <a:r>
              <a:rPr sz="1800" spc="-5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connect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two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adjacent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trajectories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joint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  <a:p>
            <a:pPr marL="756285" marR="368300" indent="-287020">
              <a:lnSpc>
                <a:spcPct val="150000"/>
              </a:lnSpc>
              <a:spcBef>
                <a:spcPts val="434"/>
              </a:spcBef>
              <a:buClr>
                <a:srgbClr val="40458C"/>
              </a:buClr>
              <a:buSzPct val="58333"/>
              <a:buFont typeface="Wingdings"/>
              <a:buChar char=""/>
              <a:tabLst>
                <a:tab pos="827405" algn="l"/>
                <a:tab pos="828040" algn="l"/>
              </a:tabLst>
            </a:pPr>
            <a:r>
              <a:rPr dirty="0"/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These function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can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control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manipulator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flexible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 </a:t>
            </a:r>
            <a:r>
              <a:rPr sz="1800" spc="-5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adjusted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 meet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consecutive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conditions.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41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7052" y="882396"/>
            <a:ext cx="524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5.6</a:t>
            </a:r>
            <a:r>
              <a:rPr spc="-10" dirty="0"/>
              <a:t> </a:t>
            </a:r>
            <a:r>
              <a:rPr spc="-15" dirty="0"/>
              <a:t>CARTESIAN-SPACE</a:t>
            </a:r>
            <a:r>
              <a:rPr spc="10" dirty="0"/>
              <a:t> </a:t>
            </a:r>
            <a:r>
              <a:rPr spc="-10" dirty="0"/>
              <a:t>TRAJECTORIES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2950" y="2258504"/>
            <a:ext cx="754189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69925">
              <a:lnSpc>
                <a:spcPct val="150000"/>
              </a:lnSpc>
              <a:spcBef>
                <a:spcPts val="100"/>
              </a:spcBef>
            </a:pP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We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will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illustrate</a:t>
            </a:r>
            <a:r>
              <a:rPr sz="1800" spc="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how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various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types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paths that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we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have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discussed </a:t>
            </a:r>
            <a:r>
              <a:rPr sz="1800" spc="-5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this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chapter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might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specified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robot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language.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Tahoma"/>
              <a:cs typeface="Tahoma"/>
            </a:endParaRPr>
          </a:p>
          <a:p>
            <a:pPr marL="12700" marR="5080">
              <a:lnSpc>
                <a:spcPct val="150000"/>
              </a:lnSpc>
              <a:tabLst>
                <a:tab pos="367665" algn="l"/>
                <a:tab pos="1056005" algn="l"/>
                <a:tab pos="2215515" algn="l"/>
                <a:tab pos="2649855" algn="l"/>
                <a:tab pos="3141980" algn="l"/>
                <a:tab pos="3608704" algn="l"/>
                <a:tab pos="4403725" algn="l"/>
                <a:tab pos="4742815" algn="l"/>
                <a:tab pos="5244465" algn="l"/>
                <a:tab pos="5507990" algn="l"/>
                <a:tab pos="6182995" algn="l"/>
              </a:tabLst>
            </a:pP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ese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x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amp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les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,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u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syn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x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b="1" spc="-5" dirty="0">
                <a:solidFill>
                  <a:srgbClr val="40458C"/>
                </a:solidFill>
                <a:latin typeface="Tahoma"/>
                <a:cs typeface="Tahoma"/>
              </a:rPr>
              <a:t>AL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,	a	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p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g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amm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ng 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language developed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Stanford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University.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42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9927" y="878014"/>
            <a:ext cx="5759450" cy="8394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5.7</a:t>
            </a:r>
            <a:r>
              <a:rPr spc="-5" dirty="0"/>
              <a:t> DESCRIPTION</a:t>
            </a:r>
            <a:r>
              <a:rPr dirty="0"/>
              <a:t> OF</a:t>
            </a:r>
            <a:r>
              <a:rPr spc="-15" dirty="0"/>
              <a:t> </a:t>
            </a:r>
            <a:r>
              <a:rPr spc="-45" dirty="0"/>
              <a:t>PATHS</a:t>
            </a:r>
            <a:r>
              <a:rPr dirty="0"/>
              <a:t> </a:t>
            </a:r>
            <a:r>
              <a:rPr spc="-5" dirty="0"/>
              <a:t>WITH</a:t>
            </a:r>
          </a:p>
          <a:p>
            <a:pPr marL="678180">
              <a:lnSpc>
                <a:spcPct val="100000"/>
              </a:lnSpc>
              <a:spcBef>
                <a:spcPts val="320"/>
              </a:spcBef>
            </a:pPr>
            <a:r>
              <a:rPr dirty="0"/>
              <a:t>A</a:t>
            </a:r>
            <a:r>
              <a:rPr spc="-10" dirty="0"/>
              <a:t> ROBOT</a:t>
            </a:r>
            <a:r>
              <a:rPr spc="-30" dirty="0"/>
              <a:t> </a:t>
            </a:r>
            <a:r>
              <a:rPr spc="-5" dirty="0"/>
              <a:t>PROGRAMMING </a:t>
            </a:r>
            <a:r>
              <a:rPr spc="-15" dirty="0"/>
              <a:t>LANGUAGE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7412" y="1985708"/>
            <a:ext cx="7644765" cy="322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810">
              <a:lnSpc>
                <a:spcPct val="130000"/>
              </a:lnSpc>
              <a:spcBef>
                <a:spcPts val="100"/>
              </a:spcBef>
              <a:tabLst>
                <a:tab pos="536575" algn="l"/>
                <a:tab pos="1491615" algn="l"/>
                <a:tab pos="1840864" algn="l"/>
                <a:tab pos="2186940" algn="l"/>
                <a:tab pos="2535555" algn="l"/>
                <a:tab pos="3053715" algn="l"/>
                <a:tab pos="3350895" algn="l"/>
                <a:tab pos="4047490" algn="l"/>
                <a:tab pos="4466590" algn="l"/>
                <a:tab pos="5497830" algn="l"/>
                <a:tab pos="5836285" algn="l"/>
                <a:tab pos="6414770" algn="l"/>
                <a:tab pos="7326630" algn="l"/>
              </a:tabLst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Th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	symb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A,	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,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,	and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and	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35" dirty="0">
                <a:solidFill>
                  <a:srgbClr val="40458C"/>
                </a:solidFill>
                <a:latin typeface="Tahoma"/>
                <a:cs typeface="Tahoma"/>
              </a:rPr>
              <a:t>v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ab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les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ype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"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me"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 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AL-language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examples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below.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These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frames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specify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path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  <a:p>
            <a:pPr marL="12700" marR="881380">
              <a:lnSpc>
                <a:spcPct val="129400"/>
              </a:lnSpc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we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will</a:t>
            </a:r>
            <a:r>
              <a:rPr sz="18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assume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have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been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taught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or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textually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described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 </a:t>
            </a:r>
            <a:r>
              <a:rPr sz="1800" spc="-5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system. Assume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manipulator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begins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position</a:t>
            </a:r>
            <a:r>
              <a:rPr sz="18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27200"/>
              </a:lnSpc>
              <a:tabLst>
                <a:tab pos="532130" algn="l"/>
                <a:tab pos="1365885" algn="l"/>
                <a:tab pos="1975485" algn="l"/>
                <a:tab pos="3462654" algn="l"/>
                <a:tab pos="3927475" algn="l"/>
                <a:tab pos="5311140" algn="l"/>
                <a:tab pos="6160135" algn="l"/>
                <a:tab pos="6996430" algn="l"/>
              </a:tabLst>
            </a:pPr>
            <a:r>
              <a:rPr sz="1800" spc="-18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o	m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v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man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pu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j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800" spc="-4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-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pa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m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a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ng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- 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parabolic-blend</a:t>
            </a:r>
            <a:r>
              <a:rPr sz="1800" spc="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paths, we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could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say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move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 ARM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 with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duration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=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3*seconds;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43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9927" y="878014"/>
            <a:ext cx="5759450" cy="8394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5.7</a:t>
            </a:r>
            <a:r>
              <a:rPr spc="-5" dirty="0"/>
              <a:t> DESCRIPTION</a:t>
            </a:r>
            <a:r>
              <a:rPr dirty="0"/>
              <a:t> OF</a:t>
            </a:r>
            <a:r>
              <a:rPr spc="-15" dirty="0"/>
              <a:t> </a:t>
            </a:r>
            <a:r>
              <a:rPr spc="-45" dirty="0"/>
              <a:t>PATHS</a:t>
            </a:r>
            <a:r>
              <a:rPr dirty="0"/>
              <a:t> </a:t>
            </a:r>
            <a:r>
              <a:rPr spc="-5" dirty="0"/>
              <a:t>WITH</a:t>
            </a:r>
          </a:p>
          <a:p>
            <a:pPr marL="678180">
              <a:lnSpc>
                <a:spcPct val="100000"/>
              </a:lnSpc>
              <a:spcBef>
                <a:spcPts val="320"/>
              </a:spcBef>
            </a:pPr>
            <a:r>
              <a:rPr dirty="0"/>
              <a:t>A</a:t>
            </a:r>
            <a:r>
              <a:rPr spc="-10" dirty="0"/>
              <a:t> ROBOT</a:t>
            </a:r>
            <a:r>
              <a:rPr spc="-30" dirty="0"/>
              <a:t> </a:t>
            </a:r>
            <a:r>
              <a:rPr spc="-5" dirty="0"/>
              <a:t>PROGRAMMING </a:t>
            </a:r>
            <a:r>
              <a:rPr spc="-15" dirty="0"/>
              <a:t>LANGUAGE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8850" y="1932558"/>
            <a:ext cx="7524750" cy="356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  <a:tabLst>
                <a:tab pos="388620" algn="l"/>
                <a:tab pos="1078865" algn="l"/>
                <a:tab pos="1421765" algn="l"/>
                <a:tab pos="1889760" algn="l"/>
                <a:tab pos="2566670" algn="l"/>
                <a:tab pos="3494404" algn="l"/>
                <a:tab pos="4012565" algn="l"/>
                <a:tab pos="5238115" algn="l"/>
                <a:tab pos="5559425" algn="l"/>
                <a:tab pos="5822950" algn="l"/>
                <a:tab pos="6725284" algn="l"/>
                <a:tab pos="7221855" algn="l"/>
              </a:tabLst>
            </a:pPr>
            <a:r>
              <a:rPr sz="1800" spc="-18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o	m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v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o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p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and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rien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a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g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line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  could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say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700"/>
              </a:spcBef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move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ARM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linearly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duration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3*seconds;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where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clause "linearly"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denotes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Cartesian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straight-line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motion</a:t>
            </a:r>
            <a:endParaRPr sz="1800">
              <a:latin typeface="Tahoma"/>
              <a:cs typeface="Tahoma"/>
            </a:endParaRPr>
          </a:p>
          <a:p>
            <a:pPr marL="12700" marR="68580">
              <a:lnSpc>
                <a:spcPts val="2100"/>
              </a:lnSpc>
              <a:spcBef>
                <a:spcPts val="384"/>
              </a:spcBef>
              <a:tabLst>
                <a:tab pos="309245" algn="l"/>
                <a:tab pos="652145" algn="l"/>
                <a:tab pos="1042669" algn="l"/>
                <a:tab pos="1731010" algn="l"/>
                <a:tab pos="2032635" algn="l"/>
                <a:tab pos="3007995" algn="l"/>
                <a:tab pos="3305175" algn="l"/>
                <a:tab pos="3774440" algn="l"/>
                <a:tab pos="4965700" algn="l"/>
                <a:tab pos="5431790" algn="l"/>
                <a:tab pos="6006465" algn="l"/>
                <a:tab pos="6501765" algn="l"/>
                <a:tab pos="7089775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o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u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d.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If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du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mp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,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u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an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  specification,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and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system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will</a:t>
            </a:r>
            <a:r>
              <a:rPr sz="18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use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default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velocity-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is,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move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ARM</a:t>
            </a:r>
            <a:r>
              <a:rPr sz="18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C;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44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9927" y="878014"/>
            <a:ext cx="5759450" cy="8394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5.7</a:t>
            </a:r>
            <a:r>
              <a:rPr spc="-5" dirty="0"/>
              <a:t> DESCRIPTION</a:t>
            </a:r>
            <a:r>
              <a:rPr dirty="0"/>
              <a:t> OF</a:t>
            </a:r>
            <a:r>
              <a:rPr spc="-15" dirty="0"/>
              <a:t> </a:t>
            </a:r>
            <a:r>
              <a:rPr spc="-45" dirty="0"/>
              <a:t>PATHS</a:t>
            </a:r>
            <a:r>
              <a:rPr dirty="0"/>
              <a:t> </a:t>
            </a:r>
            <a:r>
              <a:rPr spc="-5" dirty="0"/>
              <a:t>WITH</a:t>
            </a:r>
          </a:p>
          <a:p>
            <a:pPr marL="678180">
              <a:lnSpc>
                <a:spcPct val="100000"/>
              </a:lnSpc>
              <a:spcBef>
                <a:spcPts val="320"/>
              </a:spcBef>
            </a:pPr>
            <a:r>
              <a:rPr dirty="0"/>
              <a:t>A</a:t>
            </a:r>
            <a:r>
              <a:rPr spc="-10" dirty="0"/>
              <a:t> ROBOT</a:t>
            </a:r>
            <a:r>
              <a:rPr spc="-30" dirty="0"/>
              <a:t> </a:t>
            </a:r>
            <a:r>
              <a:rPr spc="-5" dirty="0"/>
              <a:t>PROGRAMMING </a:t>
            </a:r>
            <a:r>
              <a:rPr spc="-15" dirty="0"/>
              <a:t>LANGUAGE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57312" y="1598104"/>
            <a:ext cx="5906135" cy="4027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via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can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added,</a:t>
            </a:r>
            <a:r>
              <a:rPr sz="18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we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can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write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move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ARM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via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B;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a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whole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set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via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points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might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specified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by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move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ARM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 via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B,A,D;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Note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that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endParaRPr sz="1800">
              <a:latin typeface="Tahoma"/>
              <a:cs typeface="Tahoma"/>
            </a:endParaRPr>
          </a:p>
          <a:p>
            <a:pPr marL="12700" marR="5080" indent="914400">
              <a:lnSpc>
                <a:spcPts val="4970"/>
              </a:lnSpc>
              <a:spcBef>
                <a:spcPts val="420"/>
              </a:spcBef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move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 ARM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via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with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duration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=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6*seconds; </a:t>
            </a:r>
            <a:r>
              <a:rPr sz="1800" spc="-5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duration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given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for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 the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entire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motion.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45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9927" y="731964"/>
            <a:ext cx="5759450" cy="8394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5.7</a:t>
            </a:r>
            <a:r>
              <a:rPr spc="-5" dirty="0"/>
              <a:t> DESCRIPTION</a:t>
            </a:r>
            <a:r>
              <a:rPr dirty="0"/>
              <a:t> OF</a:t>
            </a:r>
            <a:r>
              <a:rPr spc="-15" dirty="0"/>
              <a:t> </a:t>
            </a:r>
            <a:r>
              <a:rPr spc="-45" dirty="0"/>
              <a:t>PATHS</a:t>
            </a:r>
            <a:r>
              <a:rPr dirty="0"/>
              <a:t> </a:t>
            </a:r>
            <a:r>
              <a:rPr spc="-5" dirty="0"/>
              <a:t>WITH</a:t>
            </a:r>
          </a:p>
          <a:p>
            <a:pPr marL="678180">
              <a:lnSpc>
                <a:spcPct val="100000"/>
              </a:lnSpc>
              <a:spcBef>
                <a:spcPts val="320"/>
              </a:spcBef>
            </a:pPr>
            <a:r>
              <a:rPr dirty="0"/>
              <a:t>A</a:t>
            </a:r>
            <a:r>
              <a:rPr spc="-10" dirty="0"/>
              <a:t> ROBOT</a:t>
            </a:r>
            <a:r>
              <a:rPr spc="-30" dirty="0"/>
              <a:t> </a:t>
            </a:r>
            <a:r>
              <a:rPr spc="-5" dirty="0"/>
              <a:t>PROGRAMMING </a:t>
            </a:r>
            <a:r>
              <a:rPr spc="-15" dirty="0"/>
              <a:t>LANGUAGE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0287" y="1935797"/>
            <a:ext cx="5586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8330" algn="l"/>
                <a:tab pos="1528445" algn="l"/>
                <a:tab pos="2496185" algn="l"/>
                <a:tab pos="3131820" algn="l"/>
                <a:tab pos="3546475" algn="l"/>
                <a:tab pos="4170679" algn="l"/>
                <a:tab pos="4742180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	system	decides	how	to	split	this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duration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46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06848" y="1935797"/>
            <a:ext cx="20091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8390" algn="l"/>
                <a:tab pos="1626235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tw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0287" y="2246693"/>
            <a:ext cx="7541259" cy="2471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272415">
              <a:lnSpc>
                <a:spcPts val="2100"/>
              </a:lnSpc>
              <a:spcBef>
                <a:spcPts val="219"/>
              </a:spcBef>
              <a:tabLst>
                <a:tab pos="1170940" algn="l"/>
                <a:tab pos="1191895" algn="l"/>
                <a:tab pos="1496695" algn="l"/>
                <a:tab pos="1793875" algn="l"/>
                <a:tab pos="2742565" algn="l"/>
                <a:tab pos="3063875" algn="l"/>
                <a:tab pos="3456940" algn="l"/>
                <a:tab pos="3799840" algn="l"/>
                <a:tab pos="4634865" algn="l"/>
                <a:tab pos="5101590" algn="l"/>
                <a:tab pos="6076315" algn="l"/>
                <a:tab pos="6416040" algn="l"/>
                <a:tab pos="6680200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segmen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.	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p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ssi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AL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o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spe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30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y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du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a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ng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le 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segment-	for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example,</a:t>
            </a:r>
            <a:r>
              <a:rPr sz="18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by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 marR="519430" algn="ctr">
              <a:lnSpc>
                <a:spcPct val="100000"/>
              </a:lnSpc>
              <a:spcBef>
                <a:spcPts val="1639"/>
              </a:spcBef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move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 ARM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C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via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where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duration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=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 3*seconds;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Tahoma"/>
              <a:cs typeface="Tahoma"/>
            </a:endParaRPr>
          </a:p>
          <a:p>
            <a:pPr marL="12700" marR="5080">
              <a:lnSpc>
                <a:spcPct val="117300"/>
              </a:lnSpc>
              <a:tabLst>
                <a:tab pos="536575" algn="l"/>
                <a:tab pos="1065530" algn="l"/>
                <a:tab pos="2072639" algn="l"/>
                <a:tab pos="2796540" algn="l"/>
                <a:tab pos="3462654" algn="l"/>
                <a:tab pos="3805554" algn="l"/>
                <a:tab pos="4454525" algn="l"/>
                <a:tab pos="4732020" algn="l"/>
                <a:tab pos="5202555" algn="l"/>
                <a:tab pos="5824220" algn="l"/>
                <a:tab pos="6087745" algn="l"/>
                <a:tab pos="7063105" algn="l"/>
                <a:tab pos="7403465" algn="l"/>
              </a:tabLst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he	f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rst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gm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ent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ad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o	p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il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l	h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av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a	d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3 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seconds.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9927" y="878014"/>
            <a:ext cx="5759450" cy="8394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5.7</a:t>
            </a:r>
            <a:r>
              <a:rPr spc="-5" dirty="0"/>
              <a:t> DESCRIPTION</a:t>
            </a:r>
            <a:r>
              <a:rPr dirty="0"/>
              <a:t> OF</a:t>
            </a:r>
            <a:r>
              <a:rPr spc="-15" dirty="0"/>
              <a:t> </a:t>
            </a:r>
            <a:r>
              <a:rPr spc="-45" dirty="0"/>
              <a:t>PATHS</a:t>
            </a:r>
            <a:r>
              <a:rPr dirty="0"/>
              <a:t> </a:t>
            </a:r>
            <a:r>
              <a:rPr spc="-5" dirty="0"/>
              <a:t>WITH</a:t>
            </a:r>
          </a:p>
          <a:p>
            <a:pPr marL="678180">
              <a:lnSpc>
                <a:spcPct val="100000"/>
              </a:lnSpc>
              <a:spcBef>
                <a:spcPts val="320"/>
              </a:spcBef>
            </a:pPr>
            <a:r>
              <a:rPr dirty="0"/>
              <a:t>A</a:t>
            </a:r>
            <a:r>
              <a:rPr spc="-10" dirty="0"/>
              <a:t> ROBOT</a:t>
            </a:r>
            <a:r>
              <a:rPr spc="-30" dirty="0"/>
              <a:t> </a:t>
            </a:r>
            <a:r>
              <a:rPr spc="-5" dirty="0"/>
              <a:t>PROGRAMMING </a:t>
            </a:r>
            <a:r>
              <a:rPr spc="-15" dirty="0"/>
              <a:t>LANGUAGE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0287" y="1915477"/>
            <a:ext cx="7434580" cy="24561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47800"/>
              </a:lnSpc>
              <a:spcBef>
                <a:spcPts val="75"/>
              </a:spcBef>
              <a:tabLst>
                <a:tab pos="923290" algn="l"/>
                <a:tab pos="1356360" algn="l"/>
                <a:tab pos="1499870" algn="l"/>
                <a:tab pos="1610995" algn="l"/>
                <a:tab pos="1900555" algn="l"/>
                <a:tab pos="1983105" algn="l"/>
                <a:tab pos="2305685" algn="l"/>
                <a:tab pos="2367280" algn="l"/>
                <a:tab pos="2741930" algn="l"/>
                <a:tab pos="2772410" algn="l"/>
                <a:tab pos="3581400" algn="l"/>
                <a:tab pos="3710940" algn="l"/>
                <a:tab pos="3785235" algn="l"/>
                <a:tab pos="4008120" algn="l"/>
                <a:tab pos="4219575" algn="l"/>
                <a:tab pos="4442460" algn="l"/>
                <a:tab pos="4712335" algn="l"/>
                <a:tab pos="4923790" algn="l"/>
                <a:tab pos="4974590" algn="l"/>
                <a:tab pos="5264150" algn="l"/>
                <a:tab pos="5563870" algn="l"/>
                <a:tab pos="5603875" algn="l"/>
                <a:tab pos="5812155" algn="l"/>
                <a:tab pos="6106795" algn="l"/>
                <a:tab pos="6161405" algn="l"/>
                <a:tab pos="6424930" algn="l"/>
                <a:tab pos="6931025" algn="l"/>
                <a:tab pos="7225030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ua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ll</a:t>
            </a:r>
            <a:r>
              <a:rPr sz="1800" spc="-155" dirty="0">
                <a:solidFill>
                  <a:srgbClr val="40458C"/>
                </a:solidFill>
                <a:latin typeface="Tahoma"/>
                <a:cs typeface="Tahoma"/>
              </a:rPr>
              <a:t>y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,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	p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	p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lanne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d,	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use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a		d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spc="-30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au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	a	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x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mum 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cc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ele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	b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nd	p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.		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ua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ll</a:t>
            </a:r>
            <a:r>
              <a:rPr sz="1800" spc="-155" dirty="0">
                <a:solidFill>
                  <a:srgbClr val="40458C"/>
                </a:solidFill>
                <a:latin typeface="Tahoma"/>
                <a:cs typeface="Tahoma"/>
              </a:rPr>
              <a:t>y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,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	</a:t>
            </a:r>
            <a:r>
              <a:rPr sz="1800" spc="-47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am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unt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 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acceleration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that	the		manipulator		is	capable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at		any	instant	is	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800" spc="-5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function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dynamics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arm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and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actuator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limits.</a:t>
            </a:r>
            <a:endParaRPr sz="1800">
              <a:latin typeface="Tahoma"/>
              <a:cs typeface="Tahoma"/>
            </a:endParaRPr>
          </a:p>
          <a:p>
            <a:pPr marL="12700" marR="241300">
              <a:lnSpc>
                <a:spcPts val="3200"/>
              </a:lnSpc>
              <a:spcBef>
                <a:spcPts val="95"/>
              </a:spcBef>
              <a:tabLst>
                <a:tab pos="632460" algn="l"/>
                <a:tab pos="1710055" algn="l"/>
                <a:tab pos="2174875" algn="l"/>
                <a:tab pos="2644140" algn="l"/>
                <a:tab pos="4124325" algn="l"/>
                <a:tab pos="4508500" algn="l"/>
                <a:tab pos="4772025" algn="l"/>
                <a:tab pos="5396865" algn="l"/>
                <a:tab pos="6529070" algn="l"/>
              </a:tabLst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ost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n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ha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eri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z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d	by	a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35" dirty="0">
                <a:solidFill>
                  <a:srgbClr val="40458C"/>
                </a:solidFill>
                <a:latin typeface="Tahoma"/>
                <a:cs typeface="Tahoma"/>
              </a:rPr>
              <a:t>x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d	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x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mum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q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ue 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acceleration,</a:t>
            </a:r>
            <a:r>
              <a:rPr sz="18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but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rather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by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torque-speed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curve.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47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2952" y="804989"/>
            <a:ext cx="5178425" cy="8394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5" dirty="0"/>
              <a:t>5.8</a:t>
            </a:r>
            <a:r>
              <a:rPr spc="-15" dirty="0"/>
              <a:t> </a:t>
            </a:r>
            <a:r>
              <a:rPr spc="-10" dirty="0"/>
              <a:t>PLANNING</a:t>
            </a:r>
            <a:r>
              <a:rPr dirty="0"/>
              <a:t> </a:t>
            </a:r>
            <a:r>
              <a:rPr spc="-45" dirty="0"/>
              <a:t>PATHS</a:t>
            </a:r>
            <a:r>
              <a:rPr spc="-15" dirty="0"/>
              <a:t> </a:t>
            </a:r>
            <a:r>
              <a:rPr spc="-5" dirty="0"/>
              <a:t>WHEN</a:t>
            </a:r>
          </a:p>
          <a:p>
            <a:pPr marL="1155700">
              <a:lnSpc>
                <a:spcPct val="100000"/>
              </a:lnSpc>
              <a:spcBef>
                <a:spcPts val="320"/>
              </a:spcBef>
            </a:pPr>
            <a:r>
              <a:rPr spc="-5" dirty="0"/>
              <a:t>USING</a:t>
            </a:r>
            <a:r>
              <a:rPr dirty="0"/>
              <a:t> </a:t>
            </a:r>
            <a:r>
              <a:rPr spc="-5" dirty="0"/>
              <a:t>THE</a:t>
            </a:r>
            <a:r>
              <a:rPr spc="-10" dirty="0"/>
              <a:t> DYNAMIC</a:t>
            </a:r>
            <a:r>
              <a:rPr spc="-5" dirty="0"/>
              <a:t> MODEL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76444" y="6490715"/>
            <a:ext cx="4067810" cy="367665"/>
          </a:xfrm>
          <a:custGeom>
            <a:avLst/>
            <a:gdLst/>
            <a:ahLst/>
            <a:cxnLst/>
            <a:rect l="l" t="t" r="r" b="b"/>
            <a:pathLst>
              <a:path w="4067809" h="367665">
                <a:moveTo>
                  <a:pt x="4067555" y="0"/>
                </a:moveTo>
                <a:lnTo>
                  <a:pt x="0" y="0"/>
                </a:lnTo>
                <a:lnTo>
                  <a:pt x="0" y="367284"/>
                </a:lnTo>
                <a:lnTo>
                  <a:pt x="4067555" y="367284"/>
                </a:lnTo>
                <a:lnTo>
                  <a:pt x="4067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7050" y="1828660"/>
            <a:ext cx="8169909" cy="39058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24765">
              <a:lnSpc>
                <a:spcPct val="127600"/>
              </a:lnSpc>
              <a:spcBef>
                <a:spcPts val="20"/>
              </a:spcBef>
              <a:tabLst>
                <a:tab pos="598805" algn="l"/>
                <a:tab pos="735965" algn="l"/>
                <a:tab pos="949325" algn="l"/>
                <a:tab pos="1169035" algn="l"/>
                <a:tab pos="1532890" algn="l"/>
                <a:tab pos="1642745" algn="l"/>
                <a:tab pos="1738630" algn="l"/>
                <a:tab pos="1887855" algn="l"/>
                <a:tab pos="2002789" algn="l"/>
                <a:tab pos="2258060" algn="l"/>
                <a:tab pos="2566035" algn="l"/>
                <a:tab pos="2597150" algn="l"/>
                <a:tab pos="2908935" algn="l"/>
                <a:tab pos="3098165" algn="l"/>
                <a:tab pos="3299460" algn="l"/>
                <a:tab pos="3437890" algn="l"/>
                <a:tab pos="3689985" algn="l"/>
                <a:tab pos="4120515" algn="l"/>
                <a:tab pos="4487545" algn="l"/>
                <a:tab pos="4582795" algn="l"/>
                <a:tab pos="4846320" algn="l"/>
                <a:tab pos="4921885" algn="l"/>
                <a:tab pos="5386705" algn="l"/>
                <a:tab pos="5780405" algn="l"/>
                <a:tab pos="5978525" algn="l"/>
                <a:tab pos="6246495" algn="l"/>
                <a:tab pos="6526530" algn="l"/>
                <a:tab pos="7322820" algn="l"/>
                <a:tab pos="7663180" algn="l"/>
              </a:tabLst>
            </a:pP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p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an		a		p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	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ass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um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ng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he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	a	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x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mum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cc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ele</a:t>
            </a:r>
            <a:r>
              <a:rPr sz="1800" spc="-45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 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joint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or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along		each	degree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	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freedom,	we	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are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making	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tremendous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simplification.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In	order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to	be	careful	not		to		exceed	the	actual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capabilities </a:t>
            </a:r>
            <a:r>
              <a:rPr sz="1800" spc="-5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 device,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this maximum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acceleration</a:t>
            </a:r>
            <a:r>
              <a:rPr sz="1800" spc="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must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chosen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conservatively.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Tahoma"/>
              <a:cs typeface="Tahoma"/>
            </a:endParaRPr>
          </a:p>
          <a:p>
            <a:pPr marL="12700" marR="5080">
              <a:lnSpc>
                <a:spcPct val="129200"/>
              </a:lnSpc>
              <a:tabLst>
                <a:tab pos="474345" algn="l"/>
                <a:tab pos="806450" algn="l"/>
                <a:tab pos="1191895" algn="l"/>
                <a:tab pos="1398905" algn="l"/>
                <a:tab pos="1421765" algn="l"/>
                <a:tab pos="1670685" algn="l"/>
                <a:tab pos="1922145" algn="l"/>
                <a:tab pos="1944370" algn="l"/>
                <a:tab pos="2136775" algn="l"/>
                <a:tab pos="2185670" algn="l"/>
                <a:tab pos="2411095" algn="l"/>
                <a:tab pos="3180080" algn="l"/>
                <a:tab pos="3378835" algn="l"/>
                <a:tab pos="3982085" algn="l"/>
                <a:tab pos="4259580" algn="l"/>
                <a:tab pos="4472940" algn="l"/>
                <a:tab pos="4525010" algn="l"/>
                <a:tab pos="4967605" algn="l"/>
                <a:tab pos="4991100" algn="l"/>
                <a:tab pos="5231765" algn="l"/>
                <a:tab pos="5283200" algn="l"/>
                <a:tab pos="5941695" algn="l"/>
                <a:tab pos="6104890" algn="l"/>
                <a:tab pos="6203950" algn="l"/>
                <a:tab pos="6336665" algn="l"/>
                <a:tab pos="6898640" algn="l"/>
                <a:tab pos="7256145" algn="l"/>
                <a:tab pos="7442834" algn="l"/>
                <a:tab pos="7491730" algn="l"/>
                <a:tab pos="7782559" algn="l"/>
                <a:tab pos="7831455" algn="l"/>
              </a:tabLst>
            </a:pPr>
            <a:r>
              <a:rPr sz="1800" spc="-80" dirty="0">
                <a:solidFill>
                  <a:srgbClr val="40458C"/>
                </a:solidFill>
                <a:latin typeface="Tahoma"/>
                <a:cs typeface="Tahoma"/>
              </a:rPr>
              <a:t>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m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g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ask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ll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ow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ng	q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ues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n: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G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v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	a	d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esi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r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d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al	p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h	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	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he  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end-effector,	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find		the	timing	information	(which		turns	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	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description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of	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1800" spc="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spatial	path	into	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a		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trajectory)	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such	that		the		manipulator		reaches	the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goal </a:t>
            </a:r>
            <a:r>
              <a:rPr sz="1800" spc="-5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minimum</a:t>
            </a:r>
            <a:r>
              <a:rPr sz="1800" spc="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time.</a:t>
            </a:r>
            <a:r>
              <a:rPr sz="1800" spc="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Such</a:t>
            </a:r>
            <a:r>
              <a:rPr sz="1800" spc="5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problems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have</a:t>
            </a:r>
            <a:r>
              <a:rPr sz="1800" spc="55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been</a:t>
            </a:r>
            <a:r>
              <a:rPr sz="1800" spc="57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solved</a:t>
            </a:r>
            <a:r>
              <a:rPr sz="1800" spc="56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by</a:t>
            </a:r>
            <a:r>
              <a:rPr sz="1800" spc="57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numerical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means.</a:t>
            </a:r>
            <a:r>
              <a:rPr sz="1800" spc="5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55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solution</a:t>
            </a:r>
            <a:r>
              <a:rPr sz="1800" spc="56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takes</a:t>
            </a:r>
            <a:r>
              <a:rPr sz="1800" spc="55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57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rigid</a:t>
            </a:r>
            <a:r>
              <a:rPr sz="1800" spc="58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body</a:t>
            </a:r>
            <a:r>
              <a:rPr sz="1800" spc="58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dynamics</a:t>
            </a:r>
            <a:r>
              <a:rPr sz="1800" spc="5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into</a:t>
            </a:r>
            <a:r>
              <a:rPr sz="1800" spc="56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account</a:t>
            </a:r>
            <a:r>
              <a:rPr sz="1800" spc="5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as</a:t>
            </a:r>
            <a:r>
              <a:rPr sz="1800" spc="55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well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as actuator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speed-torque</a:t>
            </a:r>
            <a:r>
              <a:rPr sz="1800" spc="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constraint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C"/>
                </a:solidFill>
                <a:latin typeface="Tahoma"/>
                <a:cs typeface="Tahoma"/>
              </a:rPr>
              <a:t>curves.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5155565" y="6541580"/>
            <a:ext cx="381571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  <a:tabLst>
                <a:tab pos="1257300" algn="l"/>
                <a:tab pos="3242945" algn="l"/>
              </a:tabLst>
            </a:pPr>
            <a:r>
              <a:rPr spc="-10" dirty="0"/>
              <a:t>Chapter</a:t>
            </a:r>
            <a:r>
              <a:rPr spc="140" dirty="0"/>
              <a:t> </a:t>
            </a:r>
            <a:r>
              <a:rPr spc="35" dirty="0"/>
              <a:t>5A.	</a:t>
            </a:r>
            <a:r>
              <a:rPr spc="-55" dirty="0"/>
              <a:t>Trajectory</a:t>
            </a:r>
            <a:r>
              <a:rPr spc="150" dirty="0"/>
              <a:t> </a:t>
            </a:r>
            <a:r>
              <a:rPr spc="-35" dirty="0"/>
              <a:t>planning	</a:t>
            </a:r>
            <a:fld id="{81D60167-4931-47E6-BA6A-407CBD079E47}" type="slidenum"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48</a:t>
            </a:fld>
            <a:r>
              <a:rPr sz="1800" dirty="0">
                <a:solidFill>
                  <a:srgbClr val="0000CC"/>
                </a:solidFill>
                <a:latin typeface="Times New Roman"/>
                <a:cs typeface="Times New Roman"/>
              </a:rPr>
              <a:t>/47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2952" y="804989"/>
            <a:ext cx="5178425" cy="8394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5" dirty="0"/>
              <a:t>5.8</a:t>
            </a:r>
            <a:r>
              <a:rPr spc="-15" dirty="0"/>
              <a:t> </a:t>
            </a:r>
            <a:r>
              <a:rPr spc="-10" dirty="0"/>
              <a:t>PLANNING</a:t>
            </a:r>
            <a:r>
              <a:rPr dirty="0"/>
              <a:t> </a:t>
            </a:r>
            <a:r>
              <a:rPr spc="-45" dirty="0"/>
              <a:t>PATHS</a:t>
            </a:r>
            <a:r>
              <a:rPr spc="-15" dirty="0"/>
              <a:t> </a:t>
            </a:r>
            <a:r>
              <a:rPr spc="-5" dirty="0"/>
              <a:t>WHEN</a:t>
            </a:r>
          </a:p>
          <a:p>
            <a:pPr marL="1155700">
              <a:lnSpc>
                <a:spcPct val="100000"/>
              </a:lnSpc>
              <a:spcBef>
                <a:spcPts val="320"/>
              </a:spcBef>
            </a:pPr>
            <a:r>
              <a:rPr spc="-5" dirty="0"/>
              <a:t>USING</a:t>
            </a:r>
            <a:r>
              <a:rPr dirty="0"/>
              <a:t> </a:t>
            </a:r>
            <a:r>
              <a:rPr spc="-5" dirty="0"/>
              <a:t>THE</a:t>
            </a:r>
            <a:r>
              <a:rPr spc="-10" dirty="0"/>
              <a:t> DYNAMIC</a:t>
            </a:r>
            <a:r>
              <a:rPr spc="-5" dirty="0"/>
              <a:t>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</TotalTime>
  <Words>4730</Words>
  <Application>Microsoft Office PowerPoint</Application>
  <PresentationFormat>On-screen Show (4:3)</PresentationFormat>
  <Paragraphs>606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Malgun Gothic</vt:lpstr>
      <vt:lpstr>SimSun</vt:lpstr>
      <vt:lpstr>Arial</vt:lpstr>
      <vt:lpstr>Arial MT</vt:lpstr>
      <vt:lpstr>Calibri</vt:lpstr>
      <vt:lpstr>Cambria</vt:lpstr>
      <vt:lpstr>Georgia</vt:lpstr>
      <vt:lpstr>Symbol</vt:lpstr>
      <vt:lpstr>Tahoma</vt:lpstr>
      <vt:lpstr>Times New Roman</vt:lpstr>
      <vt:lpstr>Wingdings</vt:lpstr>
      <vt:lpstr>Office Theme</vt:lpstr>
      <vt:lpstr>Trajectory Planning </vt:lpstr>
      <vt:lpstr>Chapter 5</vt:lpstr>
      <vt:lpstr>5.1 INTRODUCTION</vt:lpstr>
      <vt:lpstr>Consideration</vt:lpstr>
      <vt:lpstr>As shown in Fig. 5.A1, the basic problem is to move the manipulator  from an initial position to some desired final position.</vt:lpstr>
      <vt:lpstr>5.2 PATH VS. TRAJECTORY</vt:lpstr>
      <vt:lpstr>5.3 JOINT-SPACE VS. CARTESIAN-SPCAE DESCRIPTIONS</vt:lpstr>
      <vt:lpstr>5.4 BASICS OF TRAJECTORY PLANNING</vt:lpstr>
      <vt:lpstr>5.4 BASICS OF TRAJECTORY PLANNING</vt:lpstr>
      <vt:lpstr>5.4 BASICS OF TRAJECTORY PLANNING</vt:lpstr>
      <vt:lpstr>5.4 BASICS OF TRAJECTORY PLANNING</vt:lpstr>
      <vt:lpstr>5.4 BASICS OF TRAJECTORY PLANNING</vt:lpstr>
      <vt:lpstr>Figure 5.A2 shows one possibility where  was chosen quite high. In this  case we quickly accelerate, then coast at constant velocity, and then  decelerate.</vt:lpstr>
      <vt:lpstr>5.5 JOINT-SPACE TRAJECTORY PLANNING</vt:lpstr>
      <vt:lpstr>PowerPoint Presentation</vt:lpstr>
      <vt:lpstr>5.5 JOINT-SPACE TRAJECTORY PLANNING</vt:lpstr>
      <vt:lpstr>5.5 JOINT-SPACE TRAJECTORY PLANNING</vt:lpstr>
      <vt:lpstr>5.5 JOINT-SPACE TRAJECTORY PLANNING</vt:lpstr>
      <vt:lpstr>5.5 JOINT-SPACE TRAJECTORY PLANNING</vt:lpstr>
      <vt:lpstr>5.5 JOINT-SPACE TRAJECTORY PLANNING</vt:lpstr>
      <vt:lpstr>5.6 CARTESIAN-SPACE TRAJECTORIES</vt:lpstr>
      <vt:lpstr>5.6 CARTESIAN-SPACE TRAJECTORIES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5.6 CARTESIAN-SPACE TRAJECTORIES</vt:lpstr>
      <vt:lpstr>PowerPoint Presentation</vt:lpstr>
      <vt:lpstr>PowerPoint Presentation</vt:lpstr>
      <vt:lpstr>PowerPoint Presentation</vt:lpstr>
      <vt:lpstr>5.6 CARTESIAN-SPACE TRAJECTORIES</vt:lpstr>
      <vt:lpstr>5.6 CARTESIAN-SPACE TRAJECTORIES</vt:lpstr>
      <vt:lpstr>5.6 CARTESIAN-SPACE TRAJECTORIES</vt:lpstr>
      <vt:lpstr>5.6 CARTESIAN-SPACE TRAJECTORIES</vt:lpstr>
      <vt:lpstr>PowerPoint Presentation</vt:lpstr>
      <vt:lpstr>PowerPoint Presentation</vt:lpstr>
      <vt:lpstr>5.6 CARTESIAN-SPACE TRAJECTORIES</vt:lpstr>
      <vt:lpstr>5.6 CARTESIAN-SPACE TRAJECTORIES</vt:lpstr>
      <vt:lpstr>5.6 CARTESIAN-SPACE TRAJECTORIES</vt:lpstr>
      <vt:lpstr>5.6 CARTESIAN-SPACE TRAJECTORIES</vt:lpstr>
      <vt:lpstr>5.7 DESCRIPTION OF PATHS WITH A ROBOT PROGRAMMING LANGUAGE</vt:lpstr>
      <vt:lpstr>5.7 DESCRIPTION OF PATHS WITH A ROBOT PROGRAMMING LANGUAGE</vt:lpstr>
      <vt:lpstr>5.7 DESCRIPTION OF PATHS WITH A ROBOT PROGRAMMING LANGUAGE</vt:lpstr>
      <vt:lpstr>5.7 DESCRIPTION OF PATHS WITH A ROBOT PROGRAMMING LANGUAGE</vt:lpstr>
      <vt:lpstr>5.7 DESCRIPTION OF PATHS WITH A ROBOT PROGRAMMING LANGUAGE</vt:lpstr>
      <vt:lpstr>5.8 PLANNING PATHS WHEN USING THE DYNAMIC MODEL</vt:lpstr>
      <vt:lpstr>5.8 PLANNING PATHS WHEN USING THE DYNAMIC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 MC</dc:creator>
  <cp:lastModifiedBy>Boyce Sigweni</cp:lastModifiedBy>
  <cp:revision>6</cp:revision>
  <dcterms:created xsi:type="dcterms:W3CDTF">2022-10-14T06:30:58Z</dcterms:created>
  <dcterms:modified xsi:type="dcterms:W3CDTF">2024-11-14T11:43:41Z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2019-04-15T00:00:00Z</vt:filetime>
  </property>
  <property fmtid="{D5CDD505-2E9C-101B-9397-08002B2CF9AE}" pid="3" name="Creator">
    <vt:lpwstr>PowerPoint용 Acrobat PDFMaker 11</vt:lpwstr>
  </property>
  <property fmtid="{D5CDD505-2E9C-101B-9397-08002B2CF9AE}" pid="4" name="LastSaved">
    <vt:filetime>2022-10-14T00:00:00Z</vt:filetime>
  </property>
</Properties>
</file>
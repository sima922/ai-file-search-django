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8" r:id="rId1"/>
  </p:sldMasterIdLst>
  <p:notesMasterIdLst>
    <p:notesMasterId r:id="rId32"/>
  </p:notesMasterIdLst>
  <p:handoutMasterIdLst>
    <p:handoutMasterId r:id="rId33"/>
  </p:handoutMasterIdLst>
  <p:sldIdLst>
    <p:sldId id="331" r:id="rId2"/>
    <p:sldId id="332" r:id="rId3"/>
    <p:sldId id="336" r:id="rId4"/>
    <p:sldId id="367" r:id="rId5"/>
    <p:sldId id="338" r:id="rId6"/>
    <p:sldId id="294" r:id="rId7"/>
    <p:sldId id="295" r:id="rId8"/>
    <p:sldId id="340" r:id="rId9"/>
    <p:sldId id="383" r:id="rId10"/>
    <p:sldId id="341" r:id="rId11"/>
    <p:sldId id="371" r:id="rId12"/>
    <p:sldId id="380" r:id="rId13"/>
    <p:sldId id="381" r:id="rId14"/>
    <p:sldId id="375" r:id="rId15"/>
    <p:sldId id="376" r:id="rId16"/>
    <p:sldId id="377" r:id="rId17"/>
    <p:sldId id="385" r:id="rId18"/>
    <p:sldId id="386" r:id="rId19"/>
    <p:sldId id="379" r:id="rId20"/>
    <p:sldId id="372" r:id="rId21"/>
    <p:sldId id="345" r:id="rId22"/>
    <p:sldId id="382" r:id="rId23"/>
    <p:sldId id="346" r:id="rId24"/>
    <p:sldId id="347" r:id="rId25"/>
    <p:sldId id="348" r:id="rId26"/>
    <p:sldId id="351" r:id="rId27"/>
    <p:sldId id="352" r:id="rId28"/>
    <p:sldId id="353" r:id="rId29"/>
    <p:sldId id="354" r:id="rId30"/>
    <p:sldId id="384" r:id="rId31"/>
  </p:sldIdLst>
  <p:sldSz cx="9144000" cy="6858000" type="screen4x3"/>
  <p:notesSz cx="6858000" cy="9144000"/>
  <p:defaultText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1" autoAdjust="0"/>
  </p:normalViewPr>
  <p:slideViewPr>
    <p:cSldViewPr>
      <p:cViewPr varScale="1">
        <p:scale>
          <a:sx n="60" d="100"/>
          <a:sy n="60" d="100"/>
        </p:scale>
        <p:origin x="1460" y="48"/>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motsaletswe Moalosi" userId="a3f8274a-0ae2-4e14-946e-a2b704a97a52" providerId="ADAL" clId="{E2054A26-1AB5-4110-8A0D-018C9CAB5861}"/>
    <pc:docChg chg="modSld">
      <pc:chgData name="Remotsaletswe Moalosi" userId="a3f8274a-0ae2-4e14-946e-a2b704a97a52" providerId="ADAL" clId="{E2054A26-1AB5-4110-8A0D-018C9CAB5861}" dt="2023-10-30T14:56:46.576" v="0" actId="1076"/>
      <pc:docMkLst>
        <pc:docMk/>
      </pc:docMkLst>
      <pc:sldChg chg="modSp mod">
        <pc:chgData name="Remotsaletswe Moalosi" userId="a3f8274a-0ae2-4e14-946e-a2b704a97a52" providerId="ADAL" clId="{E2054A26-1AB5-4110-8A0D-018C9CAB5861}" dt="2023-10-30T14:56:46.576" v="0" actId="1076"/>
        <pc:sldMkLst>
          <pc:docMk/>
          <pc:sldMk cId="1859472851" sldId="338"/>
        </pc:sldMkLst>
        <pc:picChg chg="mod">
          <ac:chgData name="Remotsaletswe Moalosi" userId="a3f8274a-0ae2-4e14-946e-a2b704a97a52" providerId="ADAL" clId="{E2054A26-1AB5-4110-8A0D-018C9CAB5861}" dt="2023-10-30T14:56:46.576" v="0" actId="1076"/>
          <ac:picMkLst>
            <pc:docMk/>
            <pc:sldMk cId="1859472851" sldId="338"/>
            <ac:picMk id="7"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1728197-CD8D-444B-9C55-9F977C85EA77}" type="datetimeFigureOut">
              <a:rPr lang="en-US" smtClean="0"/>
              <a:t>10/30/2023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3D1D108-33EE-4799-AA42-0DD0CA895BF9}" type="slidenum">
              <a:rPr lang="en-US" smtClean="0"/>
              <a:t>‹#›</a:t>
            </a:fld>
            <a:endParaRPr lang="en-US"/>
          </a:p>
        </p:txBody>
      </p:sp>
    </p:spTree>
    <p:extLst>
      <p:ext uri="{BB962C8B-B14F-4D97-AF65-F5344CB8AC3E}">
        <p14:creationId xmlns:p14="http://schemas.microsoft.com/office/powerpoint/2010/main" val="11864848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91831D4D-C000-419C-AB81-E25802EBE66C}" type="datetimeFigureOut">
              <a:rPr lang="ar-EG" smtClean="0"/>
              <a:t>16/04/1445</a:t>
            </a:fld>
            <a:endParaRPr lang="ar-E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E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B0AB9A48-C7DA-4C72-BAB5-F5F084FE2274}" type="slidenum">
              <a:rPr lang="ar-EG" smtClean="0"/>
              <a:t>‹#›</a:t>
            </a:fld>
            <a:endParaRPr lang="ar-EG"/>
          </a:p>
        </p:txBody>
      </p:sp>
    </p:spTree>
    <p:extLst>
      <p:ext uri="{BB962C8B-B14F-4D97-AF65-F5344CB8AC3E}">
        <p14:creationId xmlns:p14="http://schemas.microsoft.com/office/powerpoint/2010/main" val="2107860428"/>
      </p:ext>
    </p:extLst>
  </p:cSld>
  <p:clrMap bg1="lt1" tx1="dk1" bg2="lt2" tx2="dk2" accent1="accent1" accent2="accent2" accent3="accent3" accent4="accent4" accent5="accent5" accent6="accent6" hlink="hlink" folHlink="folHlink"/>
  <p:hf hdr="0" ftr="0" dt="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259A8E19-5DAE-45D0-94D4-70DE1FF1FE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6A150C3-1FB1-41BF-861D-D19549449BEB}" type="slidenum">
              <a:rPr lang="en-US" altLang="en-US"/>
              <a:pPr>
                <a:spcBef>
                  <a:spcPct val="0"/>
                </a:spcBef>
              </a:pPr>
              <a:t>6</a:t>
            </a:fld>
            <a:endParaRPr lang="en-US" altLang="en-US"/>
          </a:p>
        </p:txBody>
      </p:sp>
      <p:sp>
        <p:nvSpPr>
          <p:cNvPr id="87043" name="Rectangle 2">
            <a:extLst>
              <a:ext uri="{FF2B5EF4-FFF2-40B4-BE49-F238E27FC236}">
                <a16:creationId xmlns:a16="http://schemas.microsoft.com/office/drawing/2014/main" id="{E17AA03D-8948-4604-94A4-8FE9A1D182EC}"/>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59AFEC4-0FCC-4AEF-8AD1-6AFE8B2F75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152CC92-0A82-4657-9247-F4BFEFFE35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E075F3F-8A4B-4E65-B91B-88033AA5A78C}" type="slidenum">
              <a:rPr lang="en-US" altLang="en-US"/>
              <a:pPr>
                <a:spcBef>
                  <a:spcPct val="0"/>
                </a:spcBef>
              </a:pPr>
              <a:t>7</a:t>
            </a:fld>
            <a:endParaRPr lang="en-US" altLang="en-US"/>
          </a:p>
        </p:txBody>
      </p:sp>
      <p:sp>
        <p:nvSpPr>
          <p:cNvPr id="89091" name="Rectangle 2">
            <a:extLst>
              <a:ext uri="{FF2B5EF4-FFF2-40B4-BE49-F238E27FC236}">
                <a16:creationId xmlns:a16="http://schemas.microsoft.com/office/drawing/2014/main" id="{ECD1DB63-293D-45EC-AB7C-D690BE707BD0}"/>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59499EB1-7078-442B-88F1-F2568E7D62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803A22-0CBC-4FFC-A850-832379E1E372}" type="datetime1">
              <a:rPr lang="en-US" smtClean="0"/>
              <a:t>10/30/2023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15825-450C-4752-A709-EF7DB7484BB2}" type="datetime1">
              <a:rPr lang="en-US" smtClean="0"/>
              <a:t>10/30/2023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96AEBB-AD9F-4AC9-82B0-DB3BCD120D47}" type="datetime1">
              <a:rPr lang="en-US" smtClean="0"/>
              <a:t>10/30/2023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262AC1-5119-420C-B9C2-249BA9CE64D1}" type="datetime1">
              <a:rPr lang="en-US" smtClean="0"/>
              <a:t>10/30/2023</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3942EE-D276-4EA2-A7EF-A42972F60FD1}" type="datetime1">
              <a:rPr lang="en-US" smtClean="0"/>
              <a:t>10/30/2023</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8EE428-C5C8-47BF-94AA-43279AAF31AD}" type="datetime1">
              <a:rPr lang="en-US" smtClean="0"/>
              <a:t>10/30/2023</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183BFF-DCA7-43D4-93CC-AF986AD1DAEA}" type="datetime1">
              <a:rPr lang="en-US" smtClean="0"/>
              <a:t>10/30/2023</a:t>
            </a:fld>
            <a:endParaRPr lang="ar-EG"/>
          </a:p>
        </p:txBody>
      </p:sp>
      <p:sp>
        <p:nvSpPr>
          <p:cNvPr id="3" name="Footer Placeholder 2"/>
          <p:cNvSpPr>
            <a:spLocks noGrp="1"/>
          </p:cNvSpPr>
          <p:nvPr>
            <p:ph type="ftr" sz="quarter" idx="11"/>
          </p:nvPr>
        </p:nvSpPr>
        <p:spPr/>
        <p:txBody>
          <a:bodyPr/>
          <a:lstStyle/>
          <a:p>
            <a:endParaRPr lang="ar-EG"/>
          </a:p>
        </p:txBody>
      </p:sp>
      <p:sp>
        <p:nvSpPr>
          <p:cNvPr id="4" name="Slide Number Placeholder 3"/>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3D9DC-4331-459D-BDCC-35A698B1FC87}" type="datetime1">
              <a:rPr lang="en-US" smtClean="0"/>
              <a:t>10/30/2023</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930C522C-A1E4-4254-BFF3-9729D494B76C}" type="slidenum">
              <a:rPr lang="ar-EG" smtClean="0"/>
              <a:t>‹#›</a:t>
            </a:fld>
            <a:endParaRPr lang="ar-EG"/>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6D8F4CF-9BDC-4E07-B7CA-378959D74D95}" type="datetime1">
              <a:rPr lang="en-US" smtClean="0"/>
              <a:t>10/30/2023</a:t>
            </a:fld>
            <a:endParaRPr lang="ar-EG"/>
          </a:p>
        </p:txBody>
      </p:sp>
      <p:sp>
        <p:nvSpPr>
          <p:cNvPr id="9" name="Slide Number Placeholder 8"/>
          <p:cNvSpPr>
            <a:spLocks noGrp="1"/>
          </p:cNvSpPr>
          <p:nvPr>
            <p:ph type="sldNum" sz="quarter" idx="11"/>
          </p:nvPr>
        </p:nvSpPr>
        <p:spPr/>
        <p:txBody>
          <a:bodyPr/>
          <a:lstStyle/>
          <a:p>
            <a:fld id="{930C522C-A1E4-4254-BFF3-9729D494B76C}" type="slidenum">
              <a:rPr lang="ar-EG" smtClean="0"/>
              <a:t>‹#›</a:t>
            </a:fld>
            <a:endParaRPr lang="ar-EG"/>
          </a:p>
        </p:txBody>
      </p:sp>
      <p:sp>
        <p:nvSpPr>
          <p:cNvPr id="10" name="Footer Placeholder 9"/>
          <p:cNvSpPr>
            <a:spLocks noGrp="1"/>
          </p:cNvSpPr>
          <p:nvPr>
            <p:ph type="ftr" sz="quarter" idx="12"/>
          </p:nvPr>
        </p:nvSpPr>
        <p:spPr/>
        <p:txBody>
          <a:bodyPr/>
          <a:lstStyle/>
          <a:p>
            <a:endParaRPr lang="ar-E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B1D189-F3D5-4D99-A219-8753B73DF599}" type="datetime1">
              <a:rPr lang="en-US" smtClean="0"/>
              <a:t>10/30/2023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66797A-BD4A-46D8-B660-7906102AF9CB}" type="datetime1">
              <a:rPr lang="en-US" smtClean="0"/>
              <a:t>10/30/2023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930C522C-A1E4-4254-BFF3-9729D494B76C}" type="slidenum">
              <a:rPr lang="ar-EG" smtClean="0"/>
              <a:t>‹#›</a:t>
            </a:fld>
            <a:endParaRPr lang="ar-E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a:t>Click to edit Master title style</a:t>
            </a:r>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219200"/>
            <a:ext cx="4038600" cy="4876800"/>
          </a:xfrm>
        </p:spPr>
        <p:txBody>
          <a:bodyPr/>
          <a:lstStyle/>
          <a:p>
            <a:pPr lvl="0"/>
            <a:endParaRPr lang="en-US" noProof="0"/>
          </a:p>
        </p:txBody>
      </p:sp>
      <p:sp>
        <p:nvSpPr>
          <p:cNvPr id="5" name="Rectangle 4">
            <a:extLst>
              <a:ext uri="{FF2B5EF4-FFF2-40B4-BE49-F238E27FC236}">
                <a16:creationId xmlns:a16="http://schemas.microsoft.com/office/drawing/2014/main" id="{1AB68672-121E-4FC6-B146-A6A185A8CA9A}"/>
              </a:ext>
            </a:extLst>
          </p:cNvPr>
          <p:cNvSpPr>
            <a:spLocks noGrp="1" noChangeArrowheads="1"/>
          </p:cNvSpPr>
          <p:nvPr>
            <p:ph type="dt" sz="half" idx="10"/>
          </p:nvPr>
        </p:nvSpPr>
        <p:spPr>
          <a:ln/>
        </p:spPr>
        <p:txBody>
          <a:bodyPr/>
          <a:lstStyle>
            <a:lvl1pPr>
              <a:defRPr/>
            </a:lvl1pPr>
          </a:lstStyle>
          <a:p>
            <a:pPr>
              <a:defRPr/>
            </a:pPr>
            <a:fld id="{63FBD395-79ED-44BD-88C1-6842AB052B55}" type="datetime1">
              <a:rPr lang="en-US"/>
              <a:pPr>
                <a:defRPr/>
              </a:pPr>
              <a:t>10/30/2023</a:t>
            </a:fld>
            <a:endParaRPr lang="en-US"/>
          </a:p>
        </p:txBody>
      </p:sp>
      <p:sp>
        <p:nvSpPr>
          <p:cNvPr id="6" name="Rectangle 5">
            <a:extLst>
              <a:ext uri="{FF2B5EF4-FFF2-40B4-BE49-F238E27FC236}">
                <a16:creationId xmlns:a16="http://schemas.microsoft.com/office/drawing/2014/main" id="{8F29AB05-006C-44F2-8680-4ABBB0C122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B81CD83-6DBE-430D-87AA-B56AE17A3CAB}"/>
              </a:ext>
            </a:extLst>
          </p:cNvPr>
          <p:cNvSpPr>
            <a:spLocks noGrp="1" noChangeArrowheads="1"/>
          </p:cNvSpPr>
          <p:nvPr>
            <p:ph type="sldNum" sz="quarter" idx="12"/>
          </p:nvPr>
        </p:nvSpPr>
        <p:spPr>
          <a:ln/>
        </p:spPr>
        <p:txBody>
          <a:bodyPr/>
          <a:lstStyle>
            <a:lvl1pPr>
              <a:defRPr/>
            </a:lvl1pPr>
          </a:lstStyle>
          <a:p>
            <a:pPr>
              <a:defRPr/>
            </a:pPr>
            <a:fld id="{638C230C-309C-4236-B773-127C042ED4F0}" type="slidenum">
              <a:rPr lang="en-US" altLang="en-US"/>
              <a:pPr>
                <a:defRPr/>
              </a:pPr>
              <a:t>‹#›</a:t>
            </a:fld>
            <a:endParaRPr lang="en-US" altLang="en-US"/>
          </a:p>
        </p:txBody>
      </p:sp>
    </p:spTree>
    <p:extLst>
      <p:ext uri="{BB962C8B-B14F-4D97-AF65-F5344CB8AC3E}">
        <p14:creationId xmlns:p14="http://schemas.microsoft.com/office/powerpoint/2010/main" val="2158930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930C522C-A1E4-4254-BFF3-9729D494B76C}" type="slidenum">
              <a:rPr lang="ar-EG" smtClean="0"/>
              <a:t>‹#›</a:t>
            </a:fld>
            <a:endParaRPr lang="ar-EG"/>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ar-EG"/>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49D2CE8A-6A7B-418B-8DF6-B31D6A4BAD27}" type="datetime1">
              <a:rPr lang="en-US" smtClean="0"/>
              <a:t>10/30/2023</a:t>
            </a:fld>
            <a:endParaRPr lang="ar-EG"/>
          </a:p>
        </p:txBody>
      </p:sp>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Lst>
  <p:hf hdr="0" ftr="0" dt="0"/>
  <p:txStyles>
    <p:titleStyle>
      <a:lvl1pPr algn="l" defTabSz="914400" rtl="1"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r" defTabSz="914400" rtl="1"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r" defTabSz="914400" rtl="1"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r" defTabSz="914400" rtl="1"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r" defTabSz="914400" rtl="1"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r" defTabSz="914400" rtl="1"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r" defTabSz="914400" rtl="1"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r" defTabSz="914400" rtl="1"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r" defTabSz="914400" rtl="1"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r" defTabSz="914400" rtl="1"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9.xml"/><Relationship Id="rId7" Type="http://schemas.openxmlformats.org/officeDocument/2006/relationships/slideLayout" Target="../slideLayouts/slideLayout1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image" Target="../media/image7.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6.bin"/><Relationship Id="rId4" Type="http://schemas.openxmlformats.org/officeDocument/2006/relationships/image" Target="../media/image10.wmf"/></Relationships>
</file>

<file path=ppt/slides/_rels/slide1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15.wm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7.wmf"/><Relationship Id="rId4" Type="http://schemas.openxmlformats.org/officeDocument/2006/relationships/oleObject" Target="../embeddings/oleObject11.bin"/><Relationship Id="rId9" Type="http://schemas.openxmlformats.org/officeDocument/2006/relationships/image" Target="../media/image19.wmf"/></Relationships>
</file>

<file path=ppt/slides/_rels/slide20.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26.wmf"/><Relationship Id="rId4" Type="http://schemas.openxmlformats.org/officeDocument/2006/relationships/oleObject" Target="../embeddings/oleObject15.bin"/><Relationship Id="rId9" Type="http://schemas.openxmlformats.org/officeDocument/2006/relationships/image" Target="../media/image28.wmf"/></Relationships>
</file>

<file path=ppt/slides/_rels/slide29.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8.bin"/><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19.bin"/></Relationships>
</file>

<file path=ppt/slides/_rels/slide3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857500"/>
            <a:ext cx="7620000" cy="1143000"/>
          </a:xfrm>
        </p:spPr>
        <p:txBody>
          <a:bodyPr>
            <a:normAutofit fontScale="90000"/>
          </a:bodyPr>
          <a:lstStyle/>
          <a:p>
            <a:pPr algn="ctr" rtl="0"/>
            <a:br>
              <a:rPr lang="en-US" dirty="0"/>
            </a:br>
            <a:br>
              <a:rPr lang="en-US" dirty="0"/>
            </a:br>
            <a:r>
              <a:rPr lang="en-US" dirty="0"/>
              <a:t>Bridge Circuits</a:t>
            </a:r>
            <a:endParaRPr lang="ar-EG" dirty="0"/>
          </a:p>
        </p:txBody>
      </p:sp>
      <p:sp>
        <p:nvSpPr>
          <p:cNvPr id="4" name="Slide Number Placeholder 3"/>
          <p:cNvSpPr>
            <a:spLocks noGrp="1"/>
          </p:cNvSpPr>
          <p:nvPr>
            <p:ph type="sldNum" sz="quarter" idx="12"/>
          </p:nvPr>
        </p:nvSpPr>
        <p:spPr/>
        <p:txBody>
          <a:bodyPr/>
          <a:lstStyle/>
          <a:p>
            <a:fld id="{930C522C-A1E4-4254-BFF3-9729D494B76C}" type="slidenum">
              <a:rPr lang="ar-EG" smtClean="0"/>
              <a:t>1</a:t>
            </a:fld>
            <a:endParaRPr lang="ar-EG"/>
          </a:p>
        </p:txBody>
      </p:sp>
    </p:spTree>
    <p:extLst>
      <p:ext uri="{BB962C8B-B14F-4D97-AF65-F5344CB8AC3E}">
        <p14:creationId xmlns:p14="http://schemas.microsoft.com/office/powerpoint/2010/main" val="1732629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988840"/>
            <a:ext cx="7499176" cy="4464496"/>
          </a:xfrm>
        </p:spPr>
        <p:txBody>
          <a:bodyPr>
            <a:normAutofit/>
          </a:bodyPr>
          <a:lstStyle/>
          <a:p>
            <a:pPr marL="566928" indent="-457200" algn="just" rtl="0"/>
            <a:r>
              <a:rPr lang="en-US" sz="2300" dirty="0"/>
              <a:t>Many sensors, such as strain gauges and resistance-temperature-detector, convert a physical quantity such as strain or temperature, into small changes in resistance.</a:t>
            </a:r>
          </a:p>
          <a:p>
            <a:pPr marL="566928" indent="-457200" algn="just" rtl="0"/>
            <a:endParaRPr lang="en-US" sz="2300" dirty="0"/>
          </a:p>
          <a:p>
            <a:pPr marL="566928" indent="-457200" algn="just" rtl="0"/>
            <a:r>
              <a:rPr lang="en-US" sz="2300" dirty="0"/>
              <a:t>In order to be suitable for electronic measurement systems, resistance changes should be converted into voltage changes. </a:t>
            </a:r>
          </a:p>
          <a:p>
            <a:pPr marL="566928" indent="-457200" algn="just" rtl="0"/>
            <a:endParaRPr lang="en-US" sz="2300" dirty="0"/>
          </a:p>
          <a:p>
            <a:pPr marL="566928" indent="-457200" algn="just" rtl="0"/>
            <a:r>
              <a:rPr lang="en-US" sz="2300" dirty="0"/>
              <a:t>This can be done using </a:t>
            </a:r>
            <a:r>
              <a:rPr lang="en-US" sz="2300" i="1" dirty="0">
                <a:solidFill>
                  <a:srgbClr val="FF0000"/>
                </a:solidFill>
              </a:rPr>
              <a:t>voltage divider </a:t>
            </a:r>
            <a:r>
              <a:rPr lang="en-US" sz="2300" dirty="0"/>
              <a:t>or </a:t>
            </a:r>
            <a:r>
              <a:rPr lang="en-US" sz="2300" i="1" dirty="0">
                <a:solidFill>
                  <a:srgbClr val="FF0000"/>
                </a:solidFill>
              </a:rPr>
              <a:t>bridge circuits</a:t>
            </a:r>
            <a:r>
              <a:rPr lang="en-US" sz="2300" i="1" dirty="0"/>
              <a:t>. </a:t>
            </a:r>
          </a:p>
        </p:txBody>
      </p:sp>
      <p:sp>
        <p:nvSpPr>
          <p:cNvPr id="4" name="Slide Number Placeholder 3"/>
          <p:cNvSpPr>
            <a:spLocks noGrp="1"/>
          </p:cNvSpPr>
          <p:nvPr>
            <p:ph type="sldNum" sz="quarter" idx="12"/>
          </p:nvPr>
        </p:nvSpPr>
        <p:spPr/>
        <p:txBody>
          <a:bodyPr/>
          <a:lstStyle/>
          <a:p>
            <a:fld id="{930C522C-A1E4-4254-BFF3-9729D494B76C}" type="slidenum">
              <a:rPr lang="ar-EG" smtClean="0"/>
              <a:t>2</a:t>
            </a:fld>
            <a:endParaRPr lang="ar-EG"/>
          </a:p>
        </p:txBody>
      </p:sp>
      <p:sp>
        <p:nvSpPr>
          <p:cNvPr id="5" name="Title 1"/>
          <p:cNvSpPr>
            <a:spLocks noGrp="1"/>
          </p:cNvSpPr>
          <p:nvPr>
            <p:ph type="title"/>
          </p:nvPr>
        </p:nvSpPr>
        <p:spPr>
          <a:xfrm>
            <a:off x="467544" y="476672"/>
            <a:ext cx="7620000" cy="1143000"/>
          </a:xfrm>
        </p:spPr>
        <p:txBody>
          <a:bodyPr/>
          <a:lstStyle/>
          <a:p>
            <a:pPr algn="l" rtl="0"/>
            <a:r>
              <a:rPr lang="en-US" dirty="0"/>
              <a:t>Introduction </a:t>
            </a:r>
            <a:endParaRPr lang="ar-EG" dirty="0"/>
          </a:p>
        </p:txBody>
      </p:sp>
    </p:spTree>
    <p:extLst>
      <p:ext uri="{BB962C8B-B14F-4D97-AF65-F5344CB8AC3E}">
        <p14:creationId xmlns:p14="http://schemas.microsoft.com/office/powerpoint/2010/main" val="376024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sz="4000" b="1" dirty="0"/>
              <a:t>Voltage Divider</a:t>
            </a:r>
            <a:endParaRPr lang="ar-EG" sz="40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6662" y="1988840"/>
            <a:ext cx="1740986" cy="4392488"/>
          </a:xfrm>
        </p:spPr>
      </p:pic>
      <p:sp>
        <p:nvSpPr>
          <p:cNvPr id="4" name="Slide Number Placeholder 3"/>
          <p:cNvSpPr>
            <a:spLocks noGrp="1"/>
          </p:cNvSpPr>
          <p:nvPr>
            <p:ph type="sldNum" sz="quarter" idx="12"/>
          </p:nvPr>
        </p:nvSpPr>
        <p:spPr/>
        <p:txBody>
          <a:bodyPr/>
          <a:lstStyle/>
          <a:p>
            <a:fld id="{930C522C-A1E4-4254-BFF3-9729D494B76C}" type="slidenum">
              <a:rPr lang="ar-EG" smtClean="0"/>
              <a:t>3</a:t>
            </a:fld>
            <a:endParaRPr lang="ar-EG"/>
          </a:p>
        </p:txBody>
      </p:sp>
      <p:graphicFrame>
        <p:nvGraphicFramePr>
          <p:cNvPr id="6" name="Object 5"/>
          <p:cNvGraphicFramePr>
            <a:graphicFrameLocks noChangeAspect="1"/>
          </p:cNvGraphicFramePr>
          <p:nvPr>
            <p:extLst>
              <p:ext uri="{D42A27DB-BD31-4B8C-83A1-F6EECF244321}">
                <p14:modId xmlns:p14="http://schemas.microsoft.com/office/powerpoint/2010/main" val="1065725077"/>
              </p:ext>
            </p:extLst>
          </p:nvPr>
        </p:nvGraphicFramePr>
        <p:xfrm>
          <a:off x="4139952" y="4797152"/>
          <a:ext cx="3048000" cy="914400"/>
        </p:xfrm>
        <a:graphic>
          <a:graphicData uri="http://schemas.openxmlformats.org/presentationml/2006/ole">
            <mc:AlternateContent xmlns:mc="http://schemas.openxmlformats.org/markup-compatibility/2006">
              <mc:Choice xmlns:v="urn:schemas-microsoft-com:vml" Requires="v">
                <p:oleObj name="Equation" r:id="rId3" imgW="1524000" imgH="457200" progId="Equation.DSMT4">
                  <p:embed/>
                </p:oleObj>
              </mc:Choice>
              <mc:Fallback>
                <p:oleObj name="Equation" r:id="rId3" imgW="1524000" imgH="457200" progId="Equation.DSMT4">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4797152"/>
                        <a:ext cx="3048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317695683"/>
              </p:ext>
            </p:extLst>
          </p:nvPr>
        </p:nvGraphicFramePr>
        <p:xfrm>
          <a:off x="4499992" y="2924944"/>
          <a:ext cx="2000250" cy="895350"/>
        </p:xfrm>
        <a:graphic>
          <a:graphicData uri="http://schemas.openxmlformats.org/presentationml/2006/ole">
            <mc:AlternateContent xmlns:mc="http://schemas.openxmlformats.org/markup-compatibility/2006">
              <mc:Choice xmlns:v="urn:schemas-microsoft-com:vml" Requires="v">
                <p:oleObj name="Equation" r:id="rId5" imgW="965160" imgH="431640" progId="Equation.3">
                  <p:embed/>
                </p:oleObj>
              </mc:Choice>
              <mc:Fallback>
                <p:oleObj name="Equation" r:id="rId5" imgW="965160" imgH="431640" progId="Equation.3">
                  <p:embed/>
                  <p:pic>
                    <p:nvPicPr>
                      <p:cNvPr id="7" name="Object 6"/>
                      <p:cNvPicPr>
                        <a:picLocks noChangeAspect="1" noChangeArrowheads="1"/>
                      </p:cNvPicPr>
                      <p:nvPr/>
                    </p:nvPicPr>
                    <p:blipFill>
                      <a:blip r:embed="rId6"/>
                      <a:srcRect/>
                      <a:stretch>
                        <a:fillRect/>
                      </a:stretch>
                    </p:blipFill>
                    <p:spPr bwMode="auto">
                      <a:xfrm>
                        <a:off x="4499992" y="2924944"/>
                        <a:ext cx="20002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83113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lgn="l" rtl="0">
              <a:buNone/>
            </a:pPr>
            <a:r>
              <a:rPr lang="en-US" sz="2400" b="1" dirty="0"/>
              <a:t>Note the following issues:</a:t>
            </a:r>
          </a:p>
          <a:p>
            <a:pPr marL="990600" lvl="1" indent="-533400" algn="l" rtl="0">
              <a:buFontTx/>
              <a:buAutoNum type="arabicPeriod"/>
            </a:pPr>
            <a:endParaRPr lang="en-US" sz="2400" dirty="0"/>
          </a:p>
          <a:p>
            <a:pPr marL="990600" lvl="1" indent="-533400" algn="l" rtl="0">
              <a:buFontTx/>
              <a:buAutoNum type="arabicPeriod"/>
            </a:pPr>
            <a:r>
              <a:rPr lang="en-US" sz="2400" dirty="0"/>
              <a:t>The variation of V</a:t>
            </a:r>
            <a:r>
              <a:rPr lang="en-US" sz="2400" baseline="-25000" dirty="0"/>
              <a:t>R</a:t>
            </a:r>
            <a:r>
              <a:rPr lang="en-US" sz="2400" dirty="0"/>
              <a:t> with either R</a:t>
            </a:r>
            <a:r>
              <a:rPr lang="en-US" sz="2400" baseline="-25000" dirty="0"/>
              <a:t>1</a:t>
            </a:r>
            <a:r>
              <a:rPr lang="en-US" sz="2400" dirty="0"/>
              <a:t> or R</a:t>
            </a:r>
            <a:r>
              <a:rPr lang="en-US" sz="2400" baseline="-25000" dirty="0"/>
              <a:t>2</a:t>
            </a:r>
            <a:r>
              <a:rPr lang="en-US" sz="2400" dirty="0"/>
              <a:t> is nonlinear.</a:t>
            </a:r>
          </a:p>
          <a:p>
            <a:pPr marL="990600" lvl="1" indent="-533400" algn="l" rtl="0">
              <a:buFontTx/>
              <a:buAutoNum type="arabicPeriod"/>
            </a:pPr>
            <a:endParaRPr lang="en-US" sz="2400" dirty="0"/>
          </a:p>
          <a:p>
            <a:pPr marL="990600" lvl="1" indent="-533400" algn="l" rtl="0">
              <a:buFontTx/>
              <a:buAutoNum type="arabicPeriod"/>
            </a:pPr>
            <a:endParaRPr lang="en-US" sz="2400" dirty="0"/>
          </a:p>
          <a:p>
            <a:pPr marL="990600" lvl="1" indent="-533400" algn="l" rtl="0">
              <a:buFontTx/>
              <a:buAutoNum type="arabicPeriod"/>
            </a:pPr>
            <a:r>
              <a:rPr lang="en-US" sz="2400" dirty="0"/>
              <a:t>The effective output impedance of the divider is   R1 // R2 (ideally, the output impedance should be zero!).</a:t>
            </a:r>
          </a:p>
          <a:p>
            <a:pPr marL="990600" lvl="1" indent="-533400" algn="l" rtl="0">
              <a:buFontTx/>
              <a:buAutoNum type="arabicPeriod"/>
            </a:pPr>
            <a:r>
              <a:rPr lang="en-US" sz="2400" dirty="0"/>
              <a:t>The current flows to both R</a:t>
            </a:r>
            <a:r>
              <a:rPr lang="en-US" sz="2400" baseline="-25000" dirty="0"/>
              <a:t>1</a:t>
            </a:r>
            <a:r>
              <a:rPr lang="en-US" sz="2400" dirty="0"/>
              <a:t> and R</a:t>
            </a:r>
            <a:r>
              <a:rPr lang="en-US" sz="2400" baseline="-25000" dirty="0"/>
              <a:t>2</a:t>
            </a:r>
            <a:r>
              <a:rPr lang="en-US" sz="2400" dirty="0"/>
              <a:t>.  The power rating of both resistors should be considered</a:t>
            </a:r>
          </a:p>
          <a:p>
            <a:endParaRPr lang="en-US" dirty="0"/>
          </a:p>
        </p:txBody>
      </p:sp>
      <p:sp>
        <p:nvSpPr>
          <p:cNvPr id="2" name="Title 1"/>
          <p:cNvSpPr>
            <a:spLocks noGrp="1"/>
          </p:cNvSpPr>
          <p:nvPr>
            <p:ph type="title"/>
          </p:nvPr>
        </p:nvSpPr>
        <p:spPr/>
        <p:txBody>
          <a:bodyPr/>
          <a:lstStyle/>
          <a:p>
            <a:pPr rtl="0"/>
            <a:r>
              <a:rPr lang="en-US" sz="4000" b="1" dirty="0"/>
              <a:t>Voltage Divider</a:t>
            </a:r>
            <a:endParaRPr lang="ar-EG" sz="4000" dirty="0"/>
          </a:p>
        </p:txBody>
      </p:sp>
      <p:sp>
        <p:nvSpPr>
          <p:cNvPr id="4" name="Slide Number Placeholder 3"/>
          <p:cNvSpPr>
            <a:spLocks noGrp="1"/>
          </p:cNvSpPr>
          <p:nvPr>
            <p:ph type="sldNum" sz="quarter" idx="12"/>
          </p:nvPr>
        </p:nvSpPr>
        <p:spPr/>
        <p:txBody>
          <a:bodyPr/>
          <a:lstStyle/>
          <a:p>
            <a:fld id="{930C522C-A1E4-4254-BFF3-9729D494B76C}" type="slidenum">
              <a:rPr lang="ar-EG" smtClean="0"/>
              <a:t>4</a:t>
            </a:fld>
            <a:endParaRPr lang="ar-EG"/>
          </a:p>
        </p:txBody>
      </p:sp>
      <p:graphicFrame>
        <p:nvGraphicFramePr>
          <p:cNvPr id="5" name="Object 4"/>
          <p:cNvGraphicFramePr>
            <a:graphicFrameLocks noChangeAspect="1"/>
          </p:cNvGraphicFramePr>
          <p:nvPr>
            <p:extLst>
              <p:ext uri="{D42A27DB-BD31-4B8C-83A1-F6EECF244321}">
                <p14:modId xmlns:p14="http://schemas.microsoft.com/office/powerpoint/2010/main" val="1105163058"/>
              </p:ext>
            </p:extLst>
          </p:nvPr>
        </p:nvGraphicFramePr>
        <p:xfrm>
          <a:off x="3507854" y="2996952"/>
          <a:ext cx="2000250" cy="895350"/>
        </p:xfrm>
        <a:graphic>
          <a:graphicData uri="http://schemas.openxmlformats.org/presentationml/2006/ole">
            <mc:AlternateContent xmlns:mc="http://schemas.openxmlformats.org/markup-compatibility/2006">
              <mc:Choice xmlns:v="urn:schemas-microsoft-com:vml" Requires="v">
                <p:oleObj name="Equation" r:id="rId2" imgW="965160" imgH="431640" progId="Equation.3">
                  <p:embed/>
                </p:oleObj>
              </mc:Choice>
              <mc:Fallback>
                <p:oleObj name="Equation" r:id="rId2" imgW="965160" imgH="43164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7854" y="2996952"/>
                        <a:ext cx="20002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67653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824" y="79456"/>
            <a:ext cx="7715200" cy="1066800"/>
          </a:xfrm>
        </p:spPr>
        <p:txBody>
          <a:bodyPr>
            <a:normAutofit/>
          </a:bodyPr>
          <a:lstStyle/>
          <a:p>
            <a:pPr rtl="0"/>
            <a:r>
              <a:rPr lang="en-US" dirty="0"/>
              <a:t>Example</a:t>
            </a:r>
            <a:endParaRPr lang="ar-EG" sz="3600" dirty="0">
              <a:solidFill>
                <a:srgbClr val="FF0000"/>
              </a:solidFill>
            </a:endParaRPr>
          </a:p>
        </p:txBody>
      </p:sp>
      <p:sp>
        <p:nvSpPr>
          <p:cNvPr id="3" name="Content Placeholder 2"/>
          <p:cNvSpPr>
            <a:spLocks noGrp="1"/>
          </p:cNvSpPr>
          <p:nvPr>
            <p:ph idx="1"/>
          </p:nvPr>
        </p:nvSpPr>
        <p:spPr>
          <a:xfrm>
            <a:off x="265167" y="1124744"/>
            <a:ext cx="6467073" cy="5544616"/>
          </a:xfrm>
        </p:spPr>
        <p:txBody>
          <a:bodyPr>
            <a:noAutofit/>
          </a:bodyPr>
          <a:lstStyle/>
          <a:p>
            <a:pPr marL="109728" indent="0" algn="just" rtl="0">
              <a:buNone/>
            </a:pPr>
            <a:r>
              <a:rPr lang="en-US" sz="2000" b="1" dirty="0"/>
              <a:t>The resistive elements in a strain gauge are each 5k</a:t>
            </a:r>
            <a:r>
              <a:rPr lang="el-GR" sz="2000" b="1" dirty="0"/>
              <a:t>Ω</a:t>
            </a:r>
            <a:r>
              <a:rPr lang="en-US" sz="2000" b="1" dirty="0"/>
              <a:t>. If R</a:t>
            </a:r>
            <a:r>
              <a:rPr lang="en-US" sz="2000" b="1" baseline="-25000" dirty="0"/>
              <a:t>2</a:t>
            </a:r>
            <a:r>
              <a:rPr lang="en-US" sz="2000" b="1" dirty="0"/>
              <a:t> is the fixed element and R</a:t>
            </a:r>
            <a:r>
              <a:rPr lang="en-US" sz="2000" b="1" baseline="-25000" dirty="0"/>
              <a:t>1</a:t>
            </a:r>
            <a:r>
              <a:rPr lang="en-US" sz="2000" b="1" dirty="0"/>
              <a:t> is the element measuring strain, what is the change in R</a:t>
            </a:r>
            <a:r>
              <a:rPr lang="en-US" sz="2000" b="1" baseline="-25000" dirty="0"/>
              <a:t>1</a:t>
            </a:r>
            <a:r>
              <a:rPr lang="en-US" sz="2000" b="1" dirty="0"/>
              <a:t> that produce 0.01V change in output voltage. Assume a supply of 10V.</a:t>
            </a:r>
          </a:p>
          <a:p>
            <a:pPr marL="109728" indent="0" algn="just" rtl="0">
              <a:buNone/>
            </a:pPr>
            <a:endParaRPr lang="en-US" sz="2000" b="1" dirty="0">
              <a:solidFill>
                <a:srgbClr val="FF0000"/>
              </a:solidFill>
            </a:endParaRPr>
          </a:p>
          <a:p>
            <a:pPr marL="109728" indent="0" algn="just" rtl="0">
              <a:buNone/>
            </a:pPr>
            <a:r>
              <a:rPr lang="en-US" sz="2000" dirty="0">
                <a:solidFill>
                  <a:srgbClr val="FF0000"/>
                </a:solidFill>
              </a:rPr>
              <a:t>Answer:</a:t>
            </a:r>
          </a:p>
          <a:p>
            <a:pPr marL="109728" indent="0" algn="just" rtl="0">
              <a:buNone/>
            </a:pPr>
            <a:r>
              <a:rPr lang="en-US" sz="2000" dirty="0"/>
              <a:t>With no strain,</a:t>
            </a:r>
            <a:r>
              <a:rPr lang="en-US" sz="2000" b="1" dirty="0"/>
              <a:t> R</a:t>
            </a:r>
            <a:r>
              <a:rPr lang="en-US" sz="2000" b="1" baseline="-25000" dirty="0"/>
              <a:t>1</a:t>
            </a:r>
            <a:r>
              <a:rPr lang="en-US" sz="2000" b="1" dirty="0"/>
              <a:t> = R</a:t>
            </a:r>
            <a:r>
              <a:rPr lang="en-US" sz="2000" b="1" baseline="-25000" dirty="0"/>
              <a:t>2</a:t>
            </a:r>
            <a:r>
              <a:rPr lang="en-US" sz="2000" dirty="0"/>
              <a:t>. Hence, V</a:t>
            </a:r>
            <a:r>
              <a:rPr lang="en-US" sz="2000" baseline="-25000" dirty="0"/>
              <a:t>R</a:t>
            </a:r>
            <a:r>
              <a:rPr lang="en-US" sz="2000" dirty="0"/>
              <a:t> = 5V. The question is then what is value of R1 that produces 5.01 V or 4.99V.</a:t>
            </a:r>
          </a:p>
          <a:p>
            <a:pPr marL="109728" indent="0" algn="just" rtl="0">
              <a:buNone/>
            </a:pPr>
            <a:endParaRPr lang="en-US" sz="2000" dirty="0"/>
          </a:p>
          <a:p>
            <a:pPr marL="109728" indent="0" algn="just" rtl="0">
              <a:buNone/>
            </a:pPr>
            <a:endParaRPr lang="en-US" sz="2000" dirty="0"/>
          </a:p>
          <a:p>
            <a:pPr marL="109728" indent="0" algn="just" rtl="0">
              <a:buNone/>
            </a:pPr>
            <a:endParaRPr lang="en-US" sz="2000" dirty="0"/>
          </a:p>
          <a:p>
            <a:pPr marL="109728" indent="0" algn="just" rtl="0">
              <a:buNone/>
            </a:pPr>
            <a:endParaRPr lang="en-US" sz="2000" dirty="0"/>
          </a:p>
          <a:p>
            <a:pPr marL="109728" indent="0" algn="just" rtl="0">
              <a:buNone/>
            </a:pPr>
            <a:endParaRPr lang="en-US" sz="2000" dirty="0"/>
          </a:p>
          <a:p>
            <a:pPr marL="109728" indent="0" algn="just" rtl="0">
              <a:buNone/>
            </a:pPr>
            <a:r>
              <a:rPr lang="en-US" sz="2000" dirty="0"/>
              <a:t>As expected, we can realize that the relation between change in resistance </a:t>
            </a:r>
            <a:r>
              <a:rPr lang="el-GR" sz="2000" dirty="0"/>
              <a:t>Δ</a:t>
            </a:r>
            <a:r>
              <a:rPr lang="en-US" sz="2000" dirty="0"/>
              <a:t>R and the corresponding change in output voltage, </a:t>
            </a:r>
            <a:r>
              <a:rPr lang="el-GR" sz="2000" dirty="0"/>
              <a:t>Δ</a:t>
            </a:r>
            <a:r>
              <a:rPr lang="en-US" sz="2000" dirty="0"/>
              <a:t>V, is </a:t>
            </a:r>
            <a:r>
              <a:rPr lang="en-US" sz="2000" i="1" dirty="0"/>
              <a:t>nonlinear</a:t>
            </a:r>
            <a:r>
              <a:rPr lang="en-US" sz="2000" dirty="0"/>
              <a:t>. </a:t>
            </a:r>
            <a:endParaRPr lang="ar-EG" sz="2000" dirty="0"/>
          </a:p>
        </p:txBody>
      </p:sp>
      <p:sp>
        <p:nvSpPr>
          <p:cNvPr id="4" name="Slide Number Placeholder 3"/>
          <p:cNvSpPr>
            <a:spLocks noGrp="1"/>
          </p:cNvSpPr>
          <p:nvPr>
            <p:ph type="sldNum" sz="quarter" idx="12"/>
          </p:nvPr>
        </p:nvSpPr>
        <p:spPr/>
        <p:txBody>
          <a:bodyPr/>
          <a:lstStyle/>
          <a:p>
            <a:fld id="{930C522C-A1E4-4254-BFF3-9729D494B76C}" type="slidenum">
              <a:rPr lang="ar-EG" smtClean="0"/>
              <a:t>5</a:t>
            </a:fld>
            <a:endParaRPr lang="ar-EG"/>
          </a:p>
        </p:txBody>
      </p:sp>
      <p:pic>
        <p:nvPicPr>
          <p:cNvPr id="7" name="Content Placeholder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264" y="506149"/>
            <a:ext cx="1122317" cy="3240360"/>
          </a:xfrm>
          <a:prstGeom prst="rect">
            <a:avLst/>
          </a:prstGeom>
        </p:spPr>
      </p:pic>
      <p:graphicFrame>
        <p:nvGraphicFramePr>
          <p:cNvPr id="5" name="Object 4"/>
          <p:cNvGraphicFramePr>
            <a:graphicFrameLocks noChangeAspect="1"/>
          </p:cNvGraphicFramePr>
          <p:nvPr>
            <p:extLst>
              <p:ext uri="{D42A27DB-BD31-4B8C-83A1-F6EECF244321}">
                <p14:modId xmlns:p14="http://schemas.microsoft.com/office/powerpoint/2010/main" val="1397555090"/>
              </p:ext>
            </p:extLst>
          </p:nvPr>
        </p:nvGraphicFramePr>
        <p:xfrm>
          <a:off x="473075" y="4065588"/>
          <a:ext cx="6699250" cy="1450975"/>
        </p:xfrm>
        <a:graphic>
          <a:graphicData uri="http://schemas.openxmlformats.org/presentationml/2006/ole">
            <mc:AlternateContent xmlns:mc="http://schemas.openxmlformats.org/markup-compatibility/2006">
              <mc:Choice xmlns:v="urn:schemas-microsoft-com:vml" Requires="v">
                <p:oleObj name="Equation" r:id="rId3" imgW="4356000" imgH="888840" progId="Equation.3">
                  <p:embed/>
                </p:oleObj>
              </mc:Choice>
              <mc:Fallback>
                <p:oleObj name="Equation" r:id="rId3" imgW="4356000" imgH="888840" progId="Equation.3">
                  <p:embed/>
                  <p:pic>
                    <p:nvPicPr>
                      <p:cNvPr id="5" name="Object 4"/>
                      <p:cNvPicPr>
                        <a:picLocks noChangeAspect="1" noChangeArrowheads="1"/>
                      </p:cNvPicPr>
                      <p:nvPr/>
                    </p:nvPicPr>
                    <p:blipFill>
                      <a:blip r:embed="rId4"/>
                      <a:srcRect/>
                      <a:stretch>
                        <a:fillRect/>
                      </a:stretch>
                    </p:blipFill>
                    <p:spPr bwMode="auto">
                      <a:xfrm>
                        <a:off x="473075" y="4065588"/>
                        <a:ext cx="6699250" cy="1450975"/>
                      </a:xfrm>
                      <a:prstGeom prst="rect">
                        <a:avLst/>
                      </a:prstGeom>
                      <a:noFill/>
                      <a:ln>
                        <a:noFill/>
                      </a:ln>
                    </p:spPr>
                  </p:pic>
                </p:oleObj>
              </mc:Fallback>
            </mc:AlternateContent>
          </a:graphicData>
        </a:graphic>
      </p:graphicFrame>
      <p:sp>
        <p:nvSpPr>
          <p:cNvPr id="6" name="Curved Left Arrow 5"/>
          <p:cNvSpPr/>
          <p:nvPr/>
        </p:nvSpPr>
        <p:spPr>
          <a:xfrm>
            <a:off x="7164288" y="4279448"/>
            <a:ext cx="561159" cy="980816"/>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5947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1026">
            <a:extLst>
              <a:ext uri="{FF2B5EF4-FFF2-40B4-BE49-F238E27FC236}">
                <a16:creationId xmlns:a16="http://schemas.microsoft.com/office/drawing/2014/main" id="{F7881DF9-8E10-4F66-9203-BE94CC4650E7}"/>
              </a:ext>
            </a:extLst>
          </p:cNvPr>
          <p:cNvSpPr>
            <a:spLocks noGrp="1" noChangeArrowheads="1"/>
          </p:cNvSpPr>
          <p:nvPr>
            <p:ph type="title"/>
            <p:custDataLst>
              <p:tags r:id="rId1"/>
            </p:custDataLst>
          </p:nvPr>
        </p:nvSpPr>
        <p:spPr>
          <a:xfrm>
            <a:off x="762000" y="265308"/>
            <a:ext cx="3962400" cy="944562"/>
          </a:xfrm>
        </p:spPr>
        <p:txBody>
          <a:bodyPr/>
          <a:lstStyle/>
          <a:p>
            <a:pPr algn="l" eaLnBrk="1" hangingPunct="1"/>
            <a:r>
              <a:rPr lang="en-US" altLang="en-US" sz="3500" b="1" dirty="0">
                <a:solidFill>
                  <a:schemeClr val="accent2"/>
                </a:solidFill>
              </a:rPr>
              <a:t>Problem 3</a:t>
            </a:r>
          </a:p>
        </p:txBody>
      </p:sp>
      <p:sp>
        <p:nvSpPr>
          <p:cNvPr id="86021" name="Rectangle 1027">
            <a:extLst>
              <a:ext uri="{FF2B5EF4-FFF2-40B4-BE49-F238E27FC236}">
                <a16:creationId xmlns:a16="http://schemas.microsoft.com/office/drawing/2014/main" id="{4876759C-7E20-4C98-8C0E-33738AC8DFC3}"/>
              </a:ext>
            </a:extLst>
          </p:cNvPr>
          <p:cNvSpPr>
            <a:spLocks noGrp="1" noChangeArrowheads="1"/>
          </p:cNvSpPr>
          <p:nvPr>
            <p:ph type="body" sz="half" idx="1"/>
            <p:custDataLst>
              <p:tags r:id="rId2"/>
            </p:custDataLst>
          </p:nvPr>
        </p:nvSpPr>
        <p:spPr>
          <a:xfrm>
            <a:off x="838200" y="2590800"/>
            <a:ext cx="4038600" cy="3200400"/>
          </a:xfrm>
        </p:spPr>
        <p:txBody>
          <a:bodyPr/>
          <a:lstStyle/>
          <a:p>
            <a:pPr marL="457200" indent="-457200" eaLnBrk="1" hangingPunct="1">
              <a:buFontTx/>
              <a:buNone/>
            </a:pPr>
            <a:endParaRPr lang="en-US" altLang="en-US" sz="2800" dirty="0"/>
          </a:p>
          <a:p>
            <a:pPr marL="457200" indent="-457200" eaLnBrk="1" hangingPunct="1">
              <a:buFontTx/>
              <a:buAutoNum type="alphaLcParenR"/>
            </a:pPr>
            <a:r>
              <a:rPr lang="en-US" altLang="en-US" sz="2800" dirty="0"/>
              <a:t>V</a:t>
            </a:r>
            <a:r>
              <a:rPr lang="en-US" altLang="en-US" sz="2800" baseline="-25000" dirty="0"/>
              <a:t>D</a:t>
            </a:r>
          </a:p>
          <a:p>
            <a:pPr marL="457200" indent="-457200" eaLnBrk="1" hangingPunct="1">
              <a:buFontTx/>
              <a:buAutoNum type="alphaLcParenR"/>
            </a:pPr>
            <a:r>
              <a:rPr lang="en-US" altLang="en-US" sz="2800" dirty="0"/>
              <a:t>Zo</a:t>
            </a:r>
          </a:p>
          <a:p>
            <a:pPr marL="457200" indent="-457200" eaLnBrk="1" hangingPunct="1">
              <a:buFontTx/>
              <a:buAutoNum type="alphaLcParenR"/>
            </a:pPr>
            <a:r>
              <a:rPr lang="en-US" altLang="en-US" sz="2800" dirty="0"/>
              <a:t>P</a:t>
            </a:r>
            <a:r>
              <a:rPr lang="en-US" altLang="en-US" sz="2800" baseline="-25000" dirty="0"/>
              <a:t>R1</a:t>
            </a:r>
            <a:r>
              <a:rPr lang="en-US" altLang="en-US" sz="2800" dirty="0"/>
              <a:t> and P</a:t>
            </a:r>
            <a:r>
              <a:rPr lang="en-US" altLang="en-US" sz="2800" baseline="-25000" dirty="0"/>
              <a:t>R2</a:t>
            </a:r>
          </a:p>
          <a:p>
            <a:pPr marL="457200" indent="-457200" eaLnBrk="1" hangingPunct="1">
              <a:buFontTx/>
              <a:buAutoNum type="alphaLcParenR"/>
            </a:pPr>
            <a:r>
              <a:rPr lang="en-US" altLang="en-US" sz="2800" dirty="0"/>
              <a:t>If R</a:t>
            </a:r>
            <a:r>
              <a:rPr lang="en-US" altLang="en-US" sz="2800" baseline="-25000" dirty="0"/>
              <a:t>2 </a:t>
            </a:r>
            <a:r>
              <a:rPr lang="en-US" altLang="en-US" sz="2800" dirty="0"/>
              <a:t>doubles, does V</a:t>
            </a:r>
            <a:r>
              <a:rPr lang="en-US" altLang="en-US" sz="2800" baseline="-25000" dirty="0"/>
              <a:t>D </a:t>
            </a:r>
            <a:r>
              <a:rPr lang="en-US" altLang="en-US" sz="2800" dirty="0"/>
              <a:t>double too?</a:t>
            </a:r>
          </a:p>
        </p:txBody>
      </p:sp>
      <p:sp>
        <p:nvSpPr>
          <p:cNvPr id="20482" name="Date Placeholder 4">
            <a:extLst>
              <a:ext uri="{FF2B5EF4-FFF2-40B4-BE49-F238E27FC236}">
                <a16:creationId xmlns:a16="http://schemas.microsoft.com/office/drawing/2014/main" id="{19C4EC98-0644-4FD2-AEB2-BC25954BADD2}"/>
              </a:ext>
            </a:extLst>
          </p:cNvPr>
          <p:cNvSpPr>
            <a:spLocks noGrp="1"/>
          </p:cNvSpPr>
          <p:nvPr>
            <p:ph type="dt" sz="half" idx="10"/>
            <p:custDataLst>
              <p:tags r:id="rId3"/>
            </p:custDataLst>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fld id="{06060829-DDF6-44A7-900B-D1B2C3B11515}" type="datetime1">
              <a:rPr lang="en-US" altLang="en-US" sz="1400" smtClean="0"/>
              <a:pPr eaLnBrk="1" hangingPunct="1">
                <a:spcBef>
                  <a:spcPct val="0"/>
                </a:spcBef>
                <a:buFontTx/>
                <a:buNone/>
                <a:defRPr/>
              </a:pPr>
              <a:t>10/30/2023</a:t>
            </a:fld>
            <a:endParaRPr lang="en-US" altLang="en-US" sz="1400"/>
          </a:p>
        </p:txBody>
      </p:sp>
      <p:sp>
        <p:nvSpPr>
          <p:cNvPr id="86019" name="Slide Number Placeholder 6">
            <a:extLst>
              <a:ext uri="{FF2B5EF4-FFF2-40B4-BE49-F238E27FC236}">
                <a16:creationId xmlns:a16="http://schemas.microsoft.com/office/drawing/2014/main" id="{D79394FC-0293-48B5-86F4-1688C9CCB3C5}"/>
              </a:ext>
            </a:extLst>
          </p:cNvPr>
          <p:cNvSpPr>
            <a:spLocks noGrp="1"/>
          </p:cNvSpPr>
          <p:nvPr>
            <p:ph type="sldNum" sz="quarter" idx="12"/>
            <p:custDataLst>
              <p:tags r:id="rId4"/>
            </p:custDataLst>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FA808C5-3FF9-4869-883B-7CC4873F18A0}" type="slidenum">
              <a:rPr lang="en-US" altLang="en-US" sz="1400"/>
              <a:pPr>
                <a:spcBef>
                  <a:spcPct val="0"/>
                </a:spcBef>
                <a:buFontTx/>
                <a:buNone/>
              </a:pPr>
              <a:t>6</a:t>
            </a:fld>
            <a:endParaRPr lang="en-US" altLang="en-US" sz="1400"/>
          </a:p>
        </p:txBody>
      </p:sp>
      <p:sp>
        <p:nvSpPr>
          <p:cNvPr id="86022" name="Text Box 1029">
            <a:extLst>
              <a:ext uri="{FF2B5EF4-FFF2-40B4-BE49-F238E27FC236}">
                <a16:creationId xmlns:a16="http://schemas.microsoft.com/office/drawing/2014/main" id="{F9431975-EB20-44EA-927E-214B2EA93F02}"/>
              </a:ext>
            </a:extLst>
          </p:cNvPr>
          <p:cNvSpPr txBox="1">
            <a:spLocks noChangeArrowheads="1"/>
          </p:cNvSpPr>
          <p:nvPr>
            <p:custDataLst>
              <p:tags r:id="rId5"/>
            </p:custDataLst>
          </p:nvPr>
        </p:nvSpPr>
        <p:spPr bwMode="auto">
          <a:xfrm>
            <a:off x="838200" y="1600200"/>
            <a:ext cx="3657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800" dirty="0"/>
              <a:t>If Vs = 12 V, R</a:t>
            </a:r>
            <a:r>
              <a:rPr lang="en-US" altLang="en-US" sz="2800" baseline="-25000" dirty="0"/>
              <a:t>1</a:t>
            </a:r>
            <a:r>
              <a:rPr lang="en-US" altLang="en-US" sz="2800" dirty="0"/>
              <a:t> = 1 K and R</a:t>
            </a:r>
            <a:r>
              <a:rPr lang="en-US" altLang="en-US" sz="2800" baseline="-25000" dirty="0"/>
              <a:t>2</a:t>
            </a:r>
            <a:r>
              <a:rPr lang="en-US" altLang="en-US" sz="2800" dirty="0"/>
              <a:t> = 4 K, find</a:t>
            </a:r>
            <a:endParaRPr lang="es-ES" altLang="en-US" sz="2800" dirty="0"/>
          </a:p>
        </p:txBody>
      </p:sp>
      <p:pic>
        <p:nvPicPr>
          <p:cNvPr id="86023" name="Picture 1033">
            <a:extLst>
              <a:ext uri="{FF2B5EF4-FFF2-40B4-BE49-F238E27FC236}">
                <a16:creationId xmlns:a16="http://schemas.microsoft.com/office/drawing/2014/main" id="{2E565CD0-4641-4483-BECB-CB5F7B38F26B}"/>
              </a:ext>
            </a:extLst>
          </p:cNvPr>
          <p:cNvPicPr>
            <a:picLocks noChangeAspect="1" noChangeArrowheads="1"/>
          </p:cNvPicPr>
          <p:nvPr>
            <p:custDataLst>
              <p:tags r:id="rId6"/>
            </p:custDataLst>
          </p:nvPr>
        </p:nvPicPr>
        <p:blipFill>
          <a:blip r:embed="rId9">
            <a:extLst>
              <a:ext uri="{28A0092B-C50C-407E-A947-70E740481C1C}">
                <a14:useLocalDpi xmlns:a14="http://schemas.microsoft.com/office/drawing/2010/main" val="0"/>
              </a:ext>
            </a:extLst>
          </a:blip>
          <a:srcRect/>
          <a:stretch>
            <a:fillRect/>
          </a:stretch>
        </p:blipFill>
        <p:spPr bwMode="auto">
          <a:xfrm>
            <a:off x="5637213" y="152400"/>
            <a:ext cx="2897187"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2050">
            <a:extLst>
              <a:ext uri="{FF2B5EF4-FFF2-40B4-BE49-F238E27FC236}">
                <a16:creationId xmlns:a16="http://schemas.microsoft.com/office/drawing/2014/main" id="{562C74D4-34DA-43D8-BC17-A4B19960AE2F}"/>
              </a:ext>
            </a:extLst>
          </p:cNvPr>
          <p:cNvSpPr>
            <a:spLocks noGrp="1" noChangeArrowheads="1"/>
          </p:cNvSpPr>
          <p:nvPr>
            <p:ph type="title"/>
            <p:custDataLst>
              <p:tags r:id="rId1"/>
            </p:custDataLst>
          </p:nvPr>
        </p:nvSpPr>
        <p:spPr>
          <a:xfrm>
            <a:off x="457200" y="274638"/>
            <a:ext cx="3962400" cy="563562"/>
          </a:xfrm>
        </p:spPr>
        <p:txBody>
          <a:bodyPr>
            <a:normAutofit fontScale="90000"/>
          </a:bodyPr>
          <a:lstStyle/>
          <a:p>
            <a:pPr algn="l" eaLnBrk="1" hangingPunct="1"/>
            <a:r>
              <a:rPr lang="en-US" altLang="en-US" sz="3500" b="1">
                <a:solidFill>
                  <a:schemeClr val="accent2"/>
                </a:solidFill>
              </a:rPr>
              <a:t>Problem 3</a:t>
            </a:r>
          </a:p>
        </p:txBody>
      </p:sp>
      <p:sp>
        <p:nvSpPr>
          <p:cNvPr id="88069" name="Rectangle 2051">
            <a:extLst>
              <a:ext uri="{FF2B5EF4-FFF2-40B4-BE49-F238E27FC236}">
                <a16:creationId xmlns:a16="http://schemas.microsoft.com/office/drawing/2014/main" id="{D5617530-98F1-4E86-A010-1990B58EEB56}"/>
              </a:ext>
            </a:extLst>
          </p:cNvPr>
          <p:cNvSpPr>
            <a:spLocks noGrp="1" noChangeArrowheads="1"/>
          </p:cNvSpPr>
          <p:nvPr>
            <p:ph type="body" sz="half" idx="1"/>
            <p:custDataLst>
              <p:tags r:id="rId2"/>
            </p:custDataLst>
          </p:nvPr>
        </p:nvSpPr>
        <p:spPr>
          <a:xfrm>
            <a:off x="457200" y="2286000"/>
            <a:ext cx="4038600" cy="4191000"/>
          </a:xfrm>
        </p:spPr>
        <p:txBody>
          <a:bodyPr>
            <a:normAutofit/>
          </a:bodyPr>
          <a:lstStyle/>
          <a:p>
            <a:pPr marL="533400" indent="-533400" eaLnBrk="1" hangingPunct="1">
              <a:buFontTx/>
              <a:buAutoNum type="alphaLcParenR"/>
            </a:pPr>
            <a:r>
              <a:rPr lang="en-US" altLang="en-US" sz="2800"/>
              <a:t>V</a:t>
            </a:r>
            <a:r>
              <a:rPr lang="en-US" altLang="en-US" sz="2800" baseline="-25000"/>
              <a:t>D</a:t>
            </a:r>
            <a:r>
              <a:rPr lang="en-US" altLang="en-US" sz="2800"/>
              <a:t> =</a:t>
            </a:r>
            <a:r>
              <a:rPr lang="en-US" altLang="en-US" sz="2800">
                <a:solidFill>
                  <a:srgbClr val="3333CC"/>
                </a:solidFill>
              </a:rPr>
              <a:t> 9.6 V</a:t>
            </a:r>
            <a:endParaRPr lang="en-US" altLang="en-US" sz="2800" baseline="-25000">
              <a:solidFill>
                <a:srgbClr val="3333CC"/>
              </a:solidFill>
            </a:endParaRPr>
          </a:p>
          <a:p>
            <a:pPr marL="533400" indent="-533400" eaLnBrk="1" hangingPunct="1">
              <a:buFontTx/>
              <a:buAutoNum type="alphaLcParenR"/>
            </a:pPr>
            <a:r>
              <a:rPr lang="en-US" altLang="en-US" sz="2800"/>
              <a:t>Zo =</a:t>
            </a:r>
            <a:r>
              <a:rPr lang="en-US" altLang="en-US" sz="2800">
                <a:solidFill>
                  <a:srgbClr val="3333CC"/>
                </a:solidFill>
              </a:rPr>
              <a:t> 800 </a:t>
            </a:r>
            <a:r>
              <a:rPr lang="en-US" altLang="en-US" sz="2800">
                <a:solidFill>
                  <a:srgbClr val="3333CC"/>
                </a:solidFill>
                <a:sym typeface="Symbol" panose="05050102010706020507" pitchFamily="18" charset="2"/>
              </a:rPr>
              <a:t></a:t>
            </a:r>
          </a:p>
          <a:p>
            <a:pPr marL="533400" indent="-533400" eaLnBrk="1" hangingPunct="1">
              <a:buFontTx/>
              <a:buAutoNum type="alphaLcParenR"/>
            </a:pPr>
            <a:r>
              <a:rPr lang="en-US" altLang="en-US" sz="2800"/>
              <a:t>P</a:t>
            </a:r>
            <a:r>
              <a:rPr lang="en-US" altLang="en-US" sz="2800" baseline="-25000"/>
              <a:t>R1</a:t>
            </a:r>
            <a:r>
              <a:rPr lang="en-US" altLang="en-US" sz="2800"/>
              <a:t> and P</a:t>
            </a:r>
            <a:r>
              <a:rPr lang="en-US" altLang="en-US" sz="2800" baseline="-25000"/>
              <a:t>R2</a:t>
            </a:r>
            <a:endParaRPr lang="en-US" altLang="en-US" sz="2800"/>
          </a:p>
          <a:p>
            <a:pPr marL="533400" indent="-533400" eaLnBrk="1" hangingPunct="1">
              <a:buFontTx/>
              <a:buNone/>
            </a:pPr>
            <a:r>
              <a:rPr lang="en-US" altLang="en-US" sz="2800" baseline="-25000"/>
              <a:t>	 </a:t>
            </a:r>
            <a:r>
              <a:rPr lang="en-US" altLang="en-US" sz="2800">
                <a:solidFill>
                  <a:srgbClr val="3333CC"/>
                </a:solidFill>
              </a:rPr>
              <a:t>P</a:t>
            </a:r>
            <a:r>
              <a:rPr lang="en-US" altLang="en-US" sz="2800" baseline="-25000">
                <a:solidFill>
                  <a:srgbClr val="3333CC"/>
                </a:solidFill>
              </a:rPr>
              <a:t>R1</a:t>
            </a:r>
            <a:r>
              <a:rPr lang="en-US" altLang="en-US" sz="2800">
                <a:solidFill>
                  <a:srgbClr val="3333CC"/>
                </a:solidFill>
              </a:rPr>
              <a:t> = 5.76 mW</a:t>
            </a:r>
          </a:p>
          <a:p>
            <a:pPr marL="533400" indent="-533400" eaLnBrk="1" hangingPunct="1">
              <a:buFontTx/>
              <a:buNone/>
            </a:pPr>
            <a:r>
              <a:rPr lang="en-US" altLang="en-US" sz="2800"/>
              <a:t>	 </a:t>
            </a:r>
            <a:r>
              <a:rPr lang="en-US" altLang="en-US" sz="2800">
                <a:solidFill>
                  <a:srgbClr val="3333CC"/>
                </a:solidFill>
              </a:rPr>
              <a:t>P</a:t>
            </a:r>
            <a:r>
              <a:rPr lang="en-US" altLang="en-US" sz="2800" baseline="-25000">
                <a:solidFill>
                  <a:srgbClr val="3333CC"/>
                </a:solidFill>
              </a:rPr>
              <a:t>R2</a:t>
            </a:r>
            <a:r>
              <a:rPr lang="en-US" altLang="en-US" sz="2800">
                <a:solidFill>
                  <a:srgbClr val="3333CC"/>
                </a:solidFill>
              </a:rPr>
              <a:t> = 23.04 mW</a:t>
            </a:r>
            <a:endParaRPr lang="en-US" altLang="en-US" sz="2800" baseline="-25000">
              <a:solidFill>
                <a:srgbClr val="3333CC"/>
              </a:solidFill>
            </a:endParaRPr>
          </a:p>
          <a:p>
            <a:pPr marL="533400" indent="-533400" eaLnBrk="1" hangingPunct="1">
              <a:buFontTx/>
              <a:buAutoNum type="alphaLcParenR"/>
            </a:pPr>
            <a:r>
              <a:rPr lang="en-US" altLang="en-US" sz="2800"/>
              <a:t>If R</a:t>
            </a:r>
            <a:r>
              <a:rPr lang="en-US" altLang="en-US" sz="2800" baseline="-25000"/>
              <a:t>2 </a:t>
            </a:r>
            <a:r>
              <a:rPr lang="en-US" altLang="en-US" sz="2800"/>
              <a:t>doubles, does V</a:t>
            </a:r>
            <a:r>
              <a:rPr lang="en-US" altLang="en-US" sz="2800" baseline="-25000"/>
              <a:t>D</a:t>
            </a:r>
            <a:r>
              <a:rPr lang="en-US" altLang="en-US" sz="2800"/>
              <a:t> double too?</a:t>
            </a:r>
          </a:p>
          <a:p>
            <a:pPr marL="533400" indent="-533400" eaLnBrk="1" hangingPunct="1">
              <a:buFontTx/>
              <a:buNone/>
            </a:pPr>
            <a:r>
              <a:rPr lang="en-US" altLang="en-US" sz="2800"/>
              <a:t>	</a:t>
            </a:r>
            <a:r>
              <a:rPr lang="en-US" altLang="en-US" sz="2800">
                <a:solidFill>
                  <a:srgbClr val="3333CC"/>
                </a:solidFill>
              </a:rPr>
              <a:t>No</a:t>
            </a:r>
          </a:p>
        </p:txBody>
      </p:sp>
      <p:sp>
        <p:nvSpPr>
          <p:cNvPr id="21506" name="Date Placeholder 4">
            <a:extLst>
              <a:ext uri="{FF2B5EF4-FFF2-40B4-BE49-F238E27FC236}">
                <a16:creationId xmlns:a16="http://schemas.microsoft.com/office/drawing/2014/main" id="{26AEF7DA-6B16-4475-BBF6-5F7F8DEB03EE}"/>
              </a:ext>
            </a:extLst>
          </p:cNvPr>
          <p:cNvSpPr>
            <a:spLocks noGrp="1"/>
          </p:cNvSpPr>
          <p:nvPr>
            <p:ph type="dt" sz="half" idx="10"/>
            <p:custDataLst>
              <p:tags r:id="rId3"/>
            </p:custDataLst>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fld id="{16F5CF55-ACD1-4D92-93F0-2AD9402B69B5}" type="datetime1">
              <a:rPr lang="en-US" altLang="en-US" sz="1400" smtClean="0"/>
              <a:pPr eaLnBrk="1" hangingPunct="1">
                <a:spcBef>
                  <a:spcPct val="0"/>
                </a:spcBef>
                <a:buFontTx/>
                <a:buNone/>
                <a:defRPr/>
              </a:pPr>
              <a:t>10/30/2023</a:t>
            </a:fld>
            <a:endParaRPr lang="en-US" altLang="en-US" sz="1400"/>
          </a:p>
        </p:txBody>
      </p:sp>
      <p:sp>
        <p:nvSpPr>
          <p:cNvPr id="88067" name="Slide Number Placeholder 6">
            <a:extLst>
              <a:ext uri="{FF2B5EF4-FFF2-40B4-BE49-F238E27FC236}">
                <a16:creationId xmlns:a16="http://schemas.microsoft.com/office/drawing/2014/main" id="{F5336A2B-CC30-449A-B680-EC977EE9C2A7}"/>
              </a:ext>
            </a:extLst>
          </p:cNvPr>
          <p:cNvSpPr>
            <a:spLocks noGrp="1"/>
          </p:cNvSpPr>
          <p:nvPr>
            <p:ph type="sldNum" sz="quarter" idx="12"/>
            <p:custDataLst>
              <p:tags r:id="rId4"/>
            </p:custDataLst>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04426AE-4002-4D2E-AA5C-93AFB9C26750}" type="slidenum">
              <a:rPr lang="en-US" altLang="en-US" sz="1400"/>
              <a:pPr>
                <a:spcBef>
                  <a:spcPct val="0"/>
                </a:spcBef>
                <a:buFontTx/>
                <a:buNone/>
              </a:pPr>
              <a:t>7</a:t>
            </a:fld>
            <a:endParaRPr lang="en-US" altLang="en-US" sz="1400"/>
          </a:p>
        </p:txBody>
      </p:sp>
      <p:sp>
        <p:nvSpPr>
          <p:cNvPr id="88070" name="Text Box 2053">
            <a:extLst>
              <a:ext uri="{FF2B5EF4-FFF2-40B4-BE49-F238E27FC236}">
                <a16:creationId xmlns:a16="http://schemas.microsoft.com/office/drawing/2014/main" id="{2137CB35-A643-4935-B6AC-B3AEF5E0FBDC}"/>
              </a:ext>
            </a:extLst>
          </p:cNvPr>
          <p:cNvSpPr txBox="1">
            <a:spLocks noChangeArrowheads="1"/>
          </p:cNvSpPr>
          <p:nvPr>
            <p:custDataLst>
              <p:tags r:id="rId5"/>
            </p:custDataLst>
          </p:nvPr>
        </p:nvSpPr>
        <p:spPr bwMode="auto">
          <a:xfrm>
            <a:off x="533400" y="1219200"/>
            <a:ext cx="38862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90000"/>
              </a:lnSpc>
              <a:buFontTx/>
              <a:buNone/>
            </a:pPr>
            <a:r>
              <a:rPr lang="en-US" altLang="en-US" sz="2800"/>
              <a:t>If Vs = 12 V, R</a:t>
            </a:r>
            <a:r>
              <a:rPr lang="en-US" altLang="en-US" sz="2800" baseline="-25000"/>
              <a:t>1</a:t>
            </a:r>
            <a:r>
              <a:rPr lang="en-US" altLang="en-US" sz="2800"/>
              <a:t> = 1 K and R</a:t>
            </a:r>
            <a:r>
              <a:rPr lang="en-US" altLang="en-US" sz="2800" baseline="-25000"/>
              <a:t>2</a:t>
            </a:r>
            <a:r>
              <a:rPr lang="en-US" altLang="en-US" sz="2800"/>
              <a:t> = 4 K, find</a:t>
            </a:r>
            <a:endParaRPr lang="es-ES" altLang="en-US" sz="1800"/>
          </a:p>
        </p:txBody>
      </p:sp>
      <p:pic>
        <p:nvPicPr>
          <p:cNvPr id="88071" name="Picture 2056">
            <a:extLst>
              <a:ext uri="{FF2B5EF4-FFF2-40B4-BE49-F238E27FC236}">
                <a16:creationId xmlns:a16="http://schemas.microsoft.com/office/drawing/2014/main" id="{61B28144-9F8A-4206-8C47-9C6EA302BD2E}"/>
              </a:ext>
            </a:extLst>
          </p:cNvPr>
          <p:cNvPicPr>
            <a:picLocks noChangeAspect="1" noChangeArrowheads="1"/>
          </p:cNvPicPr>
          <p:nvPr>
            <p:custDataLst>
              <p:tags r:id="rId6"/>
            </p:custDataLst>
          </p:nvPr>
        </p:nvPicPr>
        <p:blipFill>
          <a:blip r:embed="rId9">
            <a:extLst>
              <a:ext uri="{28A0092B-C50C-407E-A947-70E740481C1C}">
                <a14:useLocalDpi xmlns:a14="http://schemas.microsoft.com/office/drawing/2010/main" val="0"/>
              </a:ext>
            </a:extLst>
          </a:blip>
          <a:srcRect/>
          <a:stretch>
            <a:fillRect/>
          </a:stretch>
        </p:blipFill>
        <p:spPr bwMode="auto">
          <a:xfrm>
            <a:off x="5637213" y="152400"/>
            <a:ext cx="2897187"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571184" cy="1066800"/>
          </a:xfrm>
        </p:spPr>
        <p:txBody>
          <a:bodyPr>
            <a:normAutofit/>
          </a:bodyPr>
          <a:lstStyle/>
          <a:p>
            <a:pPr rtl="0"/>
            <a:r>
              <a:rPr lang="en-US" dirty="0"/>
              <a:t>DC Bridge Circuits</a:t>
            </a:r>
            <a:endParaRPr lang="ar-EG" dirty="0"/>
          </a:p>
        </p:txBody>
      </p:sp>
      <p:sp>
        <p:nvSpPr>
          <p:cNvPr id="3" name="Content Placeholder 2"/>
          <p:cNvSpPr>
            <a:spLocks noGrp="1"/>
          </p:cNvSpPr>
          <p:nvPr>
            <p:ph idx="1"/>
          </p:nvPr>
        </p:nvSpPr>
        <p:spPr>
          <a:xfrm>
            <a:off x="179512" y="1628800"/>
            <a:ext cx="7272808" cy="5112568"/>
          </a:xfrm>
        </p:spPr>
        <p:txBody>
          <a:bodyPr>
            <a:noAutofit/>
          </a:bodyPr>
          <a:lstStyle/>
          <a:p>
            <a:pPr algn="l" rtl="0"/>
            <a:r>
              <a:rPr lang="en-US" sz="2400" dirty="0"/>
              <a:t>Bridge circuits provide a commonly used method of detection of very small changes in resistance about a nominal value.</a:t>
            </a:r>
          </a:p>
          <a:p>
            <a:pPr algn="l" rtl="0"/>
            <a:r>
              <a:rPr lang="en-GB" sz="2400" b="0" i="0" u="none" strike="noStrike" baseline="0" dirty="0">
                <a:latin typeface="Times-Roman"/>
              </a:rPr>
              <a:t>Bridge circuits are used very commonly as a variable conversion element in measurement systems and produce an output in the form of a voltage level that changes as the measured physical quantity changes.</a:t>
            </a:r>
            <a:r>
              <a:rPr lang="en-US" sz="2400" dirty="0"/>
              <a:t> </a:t>
            </a:r>
          </a:p>
          <a:p>
            <a:pPr algn="l" rtl="0"/>
            <a:r>
              <a:rPr lang="en-GB" sz="2400" b="0" i="0" u="none" strike="noStrike" baseline="0" dirty="0">
                <a:latin typeface="Times-Roman"/>
              </a:rPr>
              <a:t>They are of immense importance in measurement system technology because so many transducers measuring physical quantities have an output that is expressed as a change in resistance,</a:t>
            </a:r>
            <a:endParaRPr lang="en-US" sz="2400" dirty="0"/>
          </a:p>
          <a:p>
            <a:pPr algn="l" rtl="0"/>
            <a:endParaRPr lang="en-US" dirty="0"/>
          </a:p>
          <a:p>
            <a:pPr marL="114300" indent="0" algn="l" rtl="0">
              <a:buNone/>
            </a:pPr>
            <a:endParaRPr lang="en-US" dirty="0"/>
          </a:p>
        </p:txBody>
      </p:sp>
      <p:sp>
        <p:nvSpPr>
          <p:cNvPr id="4" name="Slide Number Placeholder 3"/>
          <p:cNvSpPr>
            <a:spLocks noGrp="1"/>
          </p:cNvSpPr>
          <p:nvPr>
            <p:ph type="sldNum" sz="quarter" idx="12"/>
          </p:nvPr>
        </p:nvSpPr>
        <p:spPr/>
        <p:txBody>
          <a:bodyPr/>
          <a:lstStyle/>
          <a:p>
            <a:fld id="{930C522C-A1E4-4254-BFF3-9729D494B76C}" type="slidenum">
              <a:rPr lang="ar-EG" smtClean="0"/>
              <a:t>8</a:t>
            </a:fld>
            <a:endParaRPr lang="ar-EG"/>
          </a:p>
        </p:txBody>
      </p:sp>
    </p:spTree>
    <p:extLst>
      <p:ext uri="{BB962C8B-B14F-4D97-AF65-F5344CB8AC3E}">
        <p14:creationId xmlns:p14="http://schemas.microsoft.com/office/powerpoint/2010/main" val="2011530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EB10C-9C6A-4097-8372-1CB8330DE7EF}"/>
              </a:ext>
            </a:extLst>
          </p:cNvPr>
          <p:cNvSpPr>
            <a:spLocks noGrp="1"/>
          </p:cNvSpPr>
          <p:nvPr>
            <p:ph type="title"/>
          </p:nvPr>
        </p:nvSpPr>
        <p:spPr/>
        <p:txBody>
          <a:bodyPr/>
          <a:lstStyle/>
          <a:p>
            <a:r>
              <a:rPr lang="en-GB" dirty="0"/>
              <a:t>Wheatstone Bridge</a:t>
            </a:r>
            <a:endParaRPr lang="en-BW" dirty="0"/>
          </a:p>
        </p:txBody>
      </p:sp>
      <p:sp>
        <p:nvSpPr>
          <p:cNvPr id="4" name="Slide Number Placeholder 3">
            <a:extLst>
              <a:ext uri="{FF2B5EF4-FFF2-40B4-BE49-F238E27FC236}">
                <a16:creationId xmlns:a16="http://schemas.microsoft.com/office/drawing/2014/main" id="{EB8D2F7E-C2FA-47EE-AE1D-655E076E2A83}"/>
              </a:ext>
            </a:extLst>
          </p:cNvPr>
          <p:cNvSpPr>
            <a:spLocks noGrp="1"/>
          </p:cNvSpPr>
          <p:nvPr>
            <p:ph type="sldNum" sz="quarter" idx="12"/>
          </p:nvPr>
        </p:nvSpPr>
        <p:spPr/>
        <p:txBody>
          <a:bodyPr/>
          <a:lstStyle/>
          <a:p>
            <a:fld id="{930C522C-A1E4-4254-BFF3-9729D494B76C}" type="slidenum">
              <a:rPr lang="ar-EG" smtClean="0"/>
              <a:t>9</a:t>
            </a:fld>
            <a:endParaRPr lang="ar-EG"/>
          </a:p>
        </p:txBody>
      </p:sp>
      <p:pic>
        <p:nvPicPr>
          <p:cNvPr id="5" name="Content Placeholder 4">
            <a:extLst>
              <a:ext uri="{FF2B5EF4-FFF2-40B4-BE49-F238E27FC236}">
                <a16:creationId xmlns:a16="http://schemas.microsoft.com/office/drawing/2014/main" id="{0E711B0D-F95F-482E-8033-B59F52A516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79912" y="3325812"/>
            <a:ext cx="3743325" cy="3257550"/>
          </a:xfrm>
          <a:prstGeom prst="rect">
            <a:avLst/>
          </a:prstGeom>
        </p:spPr>
      </p:pic>
      <p:sp>
        <p:nvSpPr>
          <p:cNvPr id="7" name="TextBox 6">
            <a:extLst>
              <a:ext uri="{FF2B5EF4-FFF2-40B4-BE49-F238E27FC236}">
                <a16:creationId xmlns:a16="http://schemas.microsoft.com/office/drawing/2014/main" id="{C7890F17-687B-471A-B67D-0BA92704525F}"/>
              </a:ext>
            </a:extLst>
          </p:cNvPr>
          <p:cNvSpPr txBox="1"/>
          <p:nvPr/>
        </p:nvSpPr>
        <p:spPr>
          <a:xfrm>
            <a:off x="323528" y="1700808"/>
            <a:ext cx="4572000" cy="1477328"/>
          </a:xfrm>
          <a:prstGeom prst="rect">
            <a:avLst/>
          </a:prstGeom>
          <a:noFill/>
        </p:spPr>
        <p:txBody>
          <a:bodyPr wrap="square">
            <a:spAutoFit/>
          </a:bodyPr>
          <a:lstStyle/>
          <a:p>
            <a:pPr algn="l" rtl="0"/>
            <a:r>
              <a:rPr lang="en-US" dirty="0"/>
              <a:t>The simplest and most common bridge network is the DC Wheatstone bridge which consists of four resistors connected in the form of a diamond with the supply and measuring instruments connected across the bridge. </a:t>
            </a:r>
          </a:p>
        </p:txBody>
      </p:sp>
    </p:spTree>
    <p:extLst>
      <p:ext uri="{BB962C8B-B14F-4D97-AF65-F5344CB8AC3E}">
        <p14:creationId xmlns:p14="http://schemas.microsoft.com/office/powerpoint/2010/main" val="3733238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499176" cy="1066800"/>
          </a:xfrm>
        </p:spPr>
        <p:txBody>
          <a:bodyPr>
            <a:normAutofit/>
          </a:bodyPr>
          <a:lstStyle/>
          <a:p>
            <a:pPr rtl="0"/>
            <a:r>
              <a:rPr lang="en-US" sz="4000" dirty="0"/>
              <a:t>Balancing the bridge</a:t>
            </a:r>
            <a:endParaRPr lang="ar-EG" sz="4000" dirty="0"/>
          </a:p>
        </p:txBody>
      </p:sp>
      <p:sp>
        <p:nvSpPr>
          <p:cNvPr id="3" name="Content Placeholder 2"/>
          <p:cNvSpPr>
            <a:spLocks noGrp="1"/>
          </p:cNvSpPr>
          <p:nvPr>
            <p:ph idx="1"/>
          </p:nvPr>
        </p:nvSpPr>
        <p:spPr>
          <a:xfrm>
            <a:off x="179512" y="1268760"/>
            <a:ext cx="4680520" cy="5256584"/>
          </a:xfrm>
        </p:spPr>
        <p:txBody>
          <a:bodyPr>
            <a:noAutofit/>
          </a:bodyPr>
          <a:lstStyle/>
          <a:p>
            <a:pPr algn="l" rtl="0"/>
            <a:r>
              <a:rPr lang="en-US" sz="2000" dirty="0"/>
              <a:t>When the voltage at </a:t>
            </a:r>
            <a:r>
              <a:rPr lang="en-US" sz="2000" b="1" dirty="0"/>
              <a:t>A</a:t>
            </a:r>
            <a:r>
              <a:rPr lang="en-US" sz="2000" dirty="0"/>
              <a:t> and </a:t>
            </a:r>
            <a:r>
              <a:rPr lang="en-US" sz="2000" b="1" dirty="0"/>
              <a:t>C</a:t>
            </a:r>
            <a:r>
              <a:rPr lang="en-US" sz="2000" dirty="0"/>
              <a:t> are equal, the voltmeter reads zero and the bridge is said to be </a:t>
            </a:r>
            <a:r>
              <a:rPr lang="en-US" sz="2000" i="1" dirty="0">
                <a:solidFill>
                  <a:srgbClr val="FF0000"/>
                </a:solidFill>
              </a:rPr>
              <a:t>balanced</a:t>
            </a:r>
            <a:r>
              <a:rPr lang="en-US" sz="2000" dirty="0"/>
              <a:t>. </a:t>
            </a:r>
          </a:p>
          <a:p>
            <a:pPr algn="l" rtl="0"/>
            <a:endParaRPr lang="en-US" sz="2000" dirty="0"/>
          </a:p>
          <a:p>
            <a:pPr algn="l" rtl="0"/>
            <a:r>
              <a:rPr lang="en-US" sz="2000" dirty="0"/>
              <a:t>This can happen, for example, if all resistors are equal. In this case, the voltages at </a:t>
            </a:r>
            <a:r>
              <a:rPr lang="en-US" sz="2000" b="1" dirty="0"/>
              <a:t>A</a:t>
            </a:r>
            <a:r>
              <a:rPr lang="en-US" sz="2000" dirty="0"/>
              <a:t> and </a:t>
            </a:r>
            <a:r>
              <a:rPr lang="en-US" sz="2000" b="1" dirty="0"/>
              <a:t>C</a:t>
            </a:r>
            <a:r>
              <a:rPr lang="en-US" sz="2000" dirty="0"/>
              <a:t> will be equal </a:t>
            </a:r>
            <a:r>
              <a:rPr lang="en-US" sz="2000" b="1" dirty="0"/>
              <a:t>(E/2)</a:t>
            </a:r>
            <a:r>
              <a:rPr lang="en-US" sz="2000" dirty="0"/>
              <a:t>, and the voltmeter reads zero. </a:t>
            </a:r>
          </a:p>
          <a:p>
            <a:pPr algn="l" rtl="0"/>
            <a:endParaRPr lang="en-US" sz="2000" dirty="0"/>
          </a:p>
          <a:p>
            <a:pPr algn="l" rtl="0"/>
            <a:r>
              <a:rPr lang="en-US" sz="2000" dirty="0"/>
              <a:t>To deduce the general condition for balance we can write:</a:t>
            </a:r>
          </a:p>
          <a:p>
            <a:pPr algn="l" rtl="0"/>
            <a:endParaRPr lang="en-US" sz="2000" dirty="0"/>
          </a:p>
          <a:p>
            <a:pPr lvl="1" algn="l" rtl="0">
              <a:buFont typeface="Courier New" pitchFamily="49" charset="0"/>
              <a:buChar char="o"/>
            </a:pPr>
            <a:r>
              <a:rPr lang="en-US" sz="1800" dirty="0"/>
              <a:t>The voltage at </a:t>
            </a:r>
            <a:r>
              <a:rPr lang="en-US" sz="1800" b="1" dirty="0"/>
              <a:t>C</a:t>
            </a:r>
            <a:r>
              <a:rPr lang="en-US" sz="1800" dirty="0"/>
              <a:t> referenced to </a:t>
            </a:r>
            <a:r>
              <a:rPr lang="en-US" sz="1800" b="1" dirty="0"/>
              <a:t>D</a:t>
            </a:r>
            <a:r>
              <a:rPr lang="en-US" sz="1800" dirty="0"/>
              <a:t>, </a:t>
            </a:r>
          </a:p>
          <a:p>
            <a:pPr algn="l" rtl="0">
              <a:buFont typeface="Courier New" pitchFamily="49" charset="0"/>
              <a:buChar char="o"/>
            </a:pPr>
            <a:endParaRPr lang="en-US" sz="2000" dirty="0"/>
          </a:p>
          <a:p>
            <a:pPr lvl="1" algn="l" rtl="0">
              <a:buFont typeface="Courier New" pitchFamily="49" charset="0"/>
              <a:buChar char="o"/>
            </a:pPr>
            <a:r>
              <a:rPr lang="en-US" sz="1800" dirty="0"/>
              <a:t>The voltage at </a:t>
            </a:r>
            <a:r>
              <a:rPr lang="en-US" sz="1800" b="1" dirty="0"/>
              <a:t>A</a:t>
            </a:r>
            <a:r>
              <a:rPr lang="en-US" sz="1800" dirty="0"/>
              <a:t> referenced to </a:t>
            </a:r>
            <a:r>
              <a:rPr lang="en-US" sz="1800" b="1" dirty="0"/>
              <a:t>D</a:t>
            </a:r>
            <a:r>
              <a:rPr lang="en-US" sz="1800" dirty="0"/>
              <a:t>, </a:t>
            </a:r>
          </a:p>
          <a:p>
            <a:pPr algn="l" rtl="0"/>
            <a:endParaRPr lang="en-US" sz="2000" dirty="0"/>
          </a:p>
          <a:p>
            <a:pPr algn="l" rtl="0"/>
            <a:endParaRPr lang="en-US" sz="2000" dirty="0"/>
          </a:p>
          <a:p>
            <a:pPr algn="l" rtl="0"/>
            <a:endParaRPr lang="en-US" sz="2000" dirty="0"/>
          </a:p>
        </p:txBody>
      </p:sp>
      <p:sp>
        <p:nvSpPr>
          <p:cNvPr id="4" name="Slide Number Placeholder 3"/>
          <p:cNvSpPr>
            <a:spLocks noGrp="1"/>
          </p:cNvSpPr>
          <p:nvPr>
            <p:ph type="sldNum" sz="quarter" idx="12"/>
          </p:nvPr>
        </p:nvSpPr>
        <p:spPr/>
        <p:txBody>
          <a:bodyPr/>
          <a:lstStyle/>
          <a:p>
            <a:fld id="{930C522C-A1E4-4254-BFF3-9729D494B76C}" type="slidenum">
              <a:rPr lang="ar-EG" smtClean="0"/>
              <a:t>10</a:t>
            </a:fld>
            <a:endParaRPr lang="ar-EG"/>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2770" y="1196752"/>
            <a:ext cx="3437662" cy="2543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Object 4"/>
          <p:cNvGraphicFramePr>
            <a:graphicFrameLocks noChangeAspect="1"/>
          </p:cNvGraphicFramePr>
          <p:nvPr>
            <p:extLst>
              <p:ext uri="{D42A27DB-BD31-4B8C-83A1-F6EECF244321}">
                <p14:modId xmlns:p14="http://schemas.microsoft.com/office/powerpoint/2010/main" val="2600581490"/>
              </p:ext>
            </p:extLst>
          </p:nvPr>
        </p:nvGraphicFramePr>
        <p:xfrm>
          <a:off x="4323947" y="4954524"/>
          <a:ext cx="1832229" cy="778732"/>
        </p:xfrm>
        <a:graphic>
          <a:graphicData uri="http://schemas.openxmlformats.org/presentationml/2006/ole">
            <mc:AlternateContent xmlns:mc="http://schemas.openxmlformats.org/markup-compatibility/2006">
              <mc:Choice xmlns:v="urn:schemas-microsoft-com:vml" Requires="v">
                <p:oleObj name="Equation" r:id="rId3" imgW="1016000" imgH="431800" progId="Equation.3">
                  <p:embed/>
                </p:oleObj>
              </mc:Choice>
              <mc:Fallback>
                <p:oleObj name="Equation" r:id="rId3" imgW="1016000" imgH="431800" progId="Equation.3">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3947" y="4954524"/>
                        <a:ext cx="1832229" cy="778732"/>
                      </a:xfrm>
                      <a:prstGeom prst="rect">
                        <a:avLst/>
                      </a:prstGeom>
                      <a:noFill/>
                      <a:ln>
                        <a:noFill/>
                      </a:ln>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4038982580"/>
              </p:ext>
            </p:extLst>
          </p:nvPr>
        </p:nvGraphicFramePr>
        <p:xfrm>
          <a:off x="4297616" y="5845426"/>
          <a:ext cx="1820477" cy="783180"/>
        </p:xfrm>
        <a:graphic>
          <a:graphicData uri="http://schemas.openxmlformats.org/presentationml/2006/ole">
            <mc:AlternateContent xmlns:mc="http://schemas.openxmlformats.org/markup-compatibility/2006">
              <mc:Choice xmlns:v="urn:schemas-microsoft-com:vml" Requires="v">
                <p:oleObj name="Equation" r:id="rId5" imgW="1002865" imgH="431613" progId="Equation.3">
                  <p:embed/>
                </p:oleObj>
              </mc:Choice>
              <mc:Fallback>
                <p:oleObj name="Equation" r:id="rId5" imgW="1002865" imgH="431613" progId="Equation.3">
                  <p:embed/>
                  <p:pic>
                    <p:nvPicPr>
                      <p:cNvPr id="9"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7616" y="5845426"/>
                        <a:ext cx="1820477" cy="78318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297157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7499176" cy="1066800"/>
          </a:xfrm>
        </p:spPr>
        <p:txBody>
          <a:bodyPr>
            <a:normAutofit/>
          </a:bodyPr>
          <a:lstStyle/>
          <a:p>
            <a:pPr rtl="0"/>
            <a:r>
              <a:rPr lang="en-US" sz="4000" dirty="0"/>
              <a:t>Balancing the bridge</a:t>
            </a:r>
            <a:endParaRPr lang="ar-EG" sz="4000" dirty="0"/>
          </a:p>
        </p:txBody>
      </p:sp>
      <p:sp>
        <p:nvSpPr>
          <p:cNvPr id="3" name="Content Placeholder 2"/>
          <p:cNvSpPr>
            <a:spLocks noGrp="1"/>
          </p:cNvSpPr>
          <p:nvPr>
            <p:ph idx="1"/>
          </p:nvPr>
        </p:nvSpPr>
        <p:spPr>
          <a:xfrm>
            <a:off x="179512" y="1448706"/>
            <a:ext cx="7776863" cy="5076638"/>
          </a:xfrm>
        </p:spPr>
        <p:txBody>
          <a:bodyPr>
            <a:noAutofit/>
          </a:bodyPr>
          <a:lstStyle/>
          <a:p>
            <a:pPr algn="l" rtl="0"/>
            <a:r>
              <a:rPr lang="en-US" dirty="0"/>
              <a:t>Hence, the voltage between A and C,</a:t>
            </a:r>
          </a:p>
          <a:p>
            <a:pPr algn="l" rtl="0"/>
            <a:endParaRPr lang="en-US" dirty="0"/>
          </a:p>
          <a:p>
            <a:pPr algn="l" rtl="0"/>
            <a:endParaRPr lang="en-US" dirty="0"/>
          </a:p>
          <a:p>
            <a:pPr algn="l" rtl="0"/>
            <a:endParaRPr lang="en-US" dirty="0"/>
          </a:p>
          <a:p>
            <a:pPr algn="l" rtl="0"/>
            <a:endParaRPr lang="en-US" dirty="0"/>
          </a:p>
          <a:p>
            <a:pPr algn="l" rtl="0"/>
            <a:r>
              <a:rPr lang="en-US" dirty="0"/>
              <a:t>Therefore, to balance the bridge, i.e. to make </a:t>
            </a:r>
            <a:r>
              <a:rPr lang="en-US" i="1" dirty="0"/>
              <a:t>V</a:t>
            </a:r>
            <a:r>
              <a:rPr lang="en-US" i="1" baseline="-25000" dirty="0"/>
              <a:t>AC</a:t>
            </a:r>
            <a:r>
              <a:rPr lang="en-US" dirty="0"/>
              <a:t> = 0, the following condition must be achieved:</a:t>
            </a:r>
          </a:p>
          <a:p>
            <a:pPr algn="l" rtl="0"/>
            <a:endParaRPr lang="en-US" dirty="0"/>
          </a:p>
          <a:p>
            <a:pPr marL="109728" indent="0" algn="l" rtl="0">
              <a:buNone/>
            </a:pPr>
            <a:r>
              <a:rPr lang="en-US" dirty="0"/>
              <a:t> 		</a:t>
            </a:r>
          </a:p>
          <a:p>
            <a:pPr algn="l" rtl="0"/>
            <a:endParaRPr lang="en-US" dirty="0"/>
          </a:p>
          <a:p>
            <a:pPr algn="l" rtl="0"/>
            <a:r>
              <a:rPr lang="en-US" dirty="0"/>
              <a:t>Note that the voltmeter should have a high resistance, so that it does not load the bridge circuit.</a:t>
            </a:r>
          </a:p>
        </p:txBody>
      </p:sp>
      <p:sp>
        <p:nvSpPr>
          <p:cNvPr id="4" name="Slide Number Placeholder 3"/>
          <p:cNvSpPr>
            <a:spLocks noGrp="1"/>
          </p:cNvSpPr>
          <p:nvPr>
            <p:ph type="sldNum" sz="quarter" idx="12"/>
          </p:nvPr>
        </p:nvSpPr>
        <p:spPr/>
        <p:txBody>
          <a:bodyPr/>
          <a:lstStyle/>
          <a:p>
            <a:fld id="{930C522C-A1E4-4254-BFF3-9729D494B76C}" type="slidenum">
              <a:rPr lang="ar-EG" smtClean="0"/>
              <a:t>11</a:t>
            </a:fld>
            <a:endParaRPr lang="ar-EG"/>
          </a:p>
        </p:txBody>
      </p:sp>
      <p:sp>
        <p:nvSpPr>
          <p:cNvPr id="5" name="Rounded Rectangle 4"/>
          <p:cNvSpPr/>
          <p:nvPr/>
        </p:nvSpPr>
        <p:spPr>
          <a:xfrm>
            <a:off x="3419872" y="4509120"/>
            <a:ext cx="1944216" cy="576064"/>
          </a:xfrm>
          <a:prstGeom prst="roundRect">
            <a:avLst/>
          </a:prstGeom>
          <a:solidFill>
            <a:schemeClr val="accent1">
              <a:alpha val="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solidFill>
                <a:srgbClr val="FF0000"/>
              </a:solidFill>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2144690360"/>
              </p:ext>
            </p:extLst>
          </p:nvPr>
        </p:nvGraphicFramePr>
        <p:xfrm>
          <a:off x="1752600" y="2204864"/>
          <a:ext cx="5083175" cy="1000125"/>
        </p:xfrm>
        <a:graphic>
          <a:graphicData uri="http://schemas.openxmlformats.org/presentationml/2006/ole">
            <mc:AlternateContent xmlns:mc="http://schemas.openxmlformats.org/markup-compatibility/2006">
              <mc:Choice xmlns:v="urn:schemas-microsoft-com:vml" Requires="v">
                <p:oleObj name="Equation" r:id="rId2" imgW="2450880" imgH="482400" progId="Equation.3">
                  <p:embed/>
                </p:oleObj>
              </mc:Choice>
              <mc:Fallback>
                <p:oleObj name="Equation" r:id="rId2" imgW="2450880" imgH="482400" progId="Equation.3">
                  <p:embed/>
                  <p:pic>
                    <p:nvPicPr>
                      <p:cNvPr id="8" name="Object 7"/>
                      <p:cNvPicPr>
                        <a:picLocks noChangeAspect="1" noChangeArrowheads="1"/>
                      </p:cNvPicPr>
                      <p:nvPr/>
                    </p:nvPicPr>
                    <p:blipFill>
                      <a:blip r:embed="rId3"/>
                      <a:srcRect/>
                      <a:stretch>
                        <a:fillRect/>
                      </a:stretch>
                    </p:blipFill>
                    <p:spPr bwMode="auto">
                      <a:xfrm>
                        <a:off x="1752600" y="2204864"/>
                        <a:ext cx="50831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818039022"/>
              </p:ext>
            </p:extLst>
          </p:nvPr>
        </p:nvGraphicFramePr>
        <p:xfrm>
          <a:off x="3635896" y="4581128"/>
          <a:ext cx="1608137" cy="474662"/>
        </p:xfrm>
        <a:graphic>
          <a:graphicData uri="http://schemas.openxmlformats.org/presentationml/2006/ole">
            <mc:AlternateContent xmlns:mc="http://schemas.openxmlformats.org/markup-compatibility/2006">
              <mc:Choice xmlns:v="urn:schemas-microsoft-com:vml" Requires="v">
                <p:oleObj name="Equation" r:id="rId4" imgW="774360" imgH="228600" progId="Equation.3">
                  <p:embed/>
                </p:oleObj>
              </mc:Choice>
              <mc:Fallback>
                <p:oleObj name="Equation" r:id="rId4" imgW="774360" imgH="228600" progId="Equation.3">
                  <p:embed/>
                  <p:pic>
                    <p:nvPicPr>
                      <p:cNvPr id="9" name="Object 8"/>
                      <p:cNvPicPr>
                        <a:picLocks noChangeAspect="1" noChangeArrowheads="1"/>
                      </p:cNvPicPr>
                      <p:nvPr/>
                    </p:nvPicPr>
                    <p:blipFill>
                      <a:blip r:embed="rId5"/>
                      <a:srcRect/>
                      <a:stretch>
                        <a:fillRect/>
                      </a:stretch>
                    </p:blipFill>
                    <p:spPr bwMode="auto">
                      <a:xfrm>
                        <a:off x="3635896" y="4581128"/>
                        <a:ext cx="1608137"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24686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sz="3600" dirty="0"/>
              <a:t>Null vs. Deflection-type Bridge Circuits</a:t>
            </a:r>
          </a:p>
        </p:txBody>
      </p:sp>
      <p:sp>
        <p:nvSpPr>
          <p:cNvPr id="3" name="Content Placeholder 2"/>
          <p:cNvSpPr>
            <a:spLocks noGrp="1"/>
          </p:cNvSpPr>
          <p:nvPr>
            <p:ph idx="1"/>
          </p:nvPr>
        </p:nvSpPr>
        <p:spPr/>
        <p:txBody>
          <a:bodyPr/>
          <a:lstStyle/>
          <a:p>
            <a:pPr algn="l" rtl="0"/>
            <a:endParaRPr lang="en-US" sz="2400" dirty="0"/>
          </a:p>
          <a:p>
            <a:pPr algn="l" rtl="0"/>
            <a:r>
              <a:rPr lang="en-US" sz="2400" dirty="0"/>
              <a:t>Bridge circuits, similar to many measuring instruments, have both null and deflection types.</a:t>
            </a:r>
          </a:p>
          <a:p>
            <a:pPr algn="l" rtl="0"/>
            <a:endParaRPr lang="en-US" sz="2400" dirty="0"/>
          </a:p>
          <a:p>
            <a:pPr algn="l" rtl="0"/>
            <a:r>
              <a:rPr lang="en-US" sz="2400" dirty="0"/>
              <a:t>The null-type is more accurate and so is used in calibration purposes.</a:t>
            </a:r>
          </a:p>
          <a:p>
            <a:pPr algn="l" rtl="0"/>
            <a:endParaRPr lang="en-US" sz="2400" dirty="0"/>
          </a:p>
          <a:p>
            <a:pPr algn="l" rtl="0"/>
            <a:r>
              <a:rPr lang="en-US" sz="2400" dirty="0"/>
              <a:t>On the other hand, deflection-type is more suitable for measuring systems. </a:t>
            </a:r>
          </a:p>
          <a:p>
            <a:pPr algn="l" rtl="0"/>
            <a:endParaRPr lang="en-US" sz="2400" dirty="0"/>
          </a:p>
          <a:p>
            <a:pPr algn="l" rtl="0"/>
            <a:endParaRPr lang="en-US" sz="2400" dirty="0"/>
          </a:p>
          <a:p>
            <a:pPr algn="l" rtl="0"/>
            <a:endParaRPr lang="en-US" dirty="0"/>
          </a:p>
          <a:p>
            <a:pPr algn="l" rtl="0"/>
            <a:endParaRPr lang="en-US" dirty="0"/>
          </a:p>
        </p:txBody>
      </p:sp>
      <p:sp>
        <p:nvSpPr>
          <p:cNvPr id="4" name="Slide Number Placeholder 3"/>
          <p:cNvSpPr>
            <a:spLocks noGrp="1"/>
          </p:cNvSpPr>
          <p:nvPr>
            <p:ph type="sldNum" sz="quarter" idx="12"/>
          </p:nvPr>
        </p:nvSpPr>
        <p:spPr/>
        <p:txBody>
          <a:bodyPr/>
          <a:lstStyle/>
          <a:p>
            <a:fld id="{930C522C-A1E4-4254-BFF3-9729D494B76C}" type="slidenum">
              <a:rPr lang="ar-EG" smtClean="0"/>
              <a:t>12</a:t>
            </a:fld>
            <a:endParaRPr lang="ar-EG"/>
          </a:p>
        </p:txBody>
      </p:sp>
    </p:spTree>
    <p:extLst>
      <p:ext uri="{BB962C8B-B14F-4D97-AF65-F5344CB8AC3E}">
        <p14:creationId xmlns:p14="http://schemas.microsoft.com/office/powerpoint/2010/main" val="1167725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30C522C-A1E4-4254-BFF3-9729D494B76C}" type="slidenum">
              <a:rPr lang="ar-EG" smtClean="0"/>
              <a:t>13</a:t>
            </a:fld>
            <a:endParaRPr lang="ar-EG"/>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452" y="4293096"/>
            <a:ext cx="3135036" cy="2319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able 5"/>
          <p:cNvGraphicFramePr>
            <a:graphicFrameLocks noGrp="1"/>
          </p:cNvGraphicFramePr>
          <p:nvPr>
            <p:extLst>
              <p:ext uri="{D42A27DB-BD31-4B8C-83A1-F6EECF244321}">
                <p14:modId xmlns:p14="http://schemas.microsoft.com/office/powerpoint/2010/main" val="3538154981"/>
              </p:ext>
            </p:extLst>
          </p:nvPr>
        </p:nvGraphicFramePr>
        <p:xfrm>
          <a:off x="278816" y="682744"/>
          <a:ext cx="7992888" cy="3322320"/>
        </p:xfrm>
        <a:graphic>
          <a:graphicData uri="http://schemas.openxmlformats.org/drawingml/2006/table">
            <a:tbl>
              <a:tblPr firstRow="1" bandRow="1">
                <a:tableStyleId>{5C22544A-7EE6-4342-B048-85BDC9FD1C3A}</a:tableStyleId>
              </a:tblPr>
              <a:tblGrid>
                <a:gridCol w="3894751">
                  <a:extLst>
                    <a:ext uri="{9D8B030D-6E8A-4147-A177-3AD203B41FA5}">
                      <a16:colId xmlns:a16="http://schemas.microsoft.com/office/drawing/2014/main" val="20000"/>
                    </a:ext>
                  </a:extLst>
                </a:gridCol>
                <a:gridCol w="4098137">
                  <a:extLst>
                    <a:ext uri="{9D8B030D-6E8A-4147-A177-3AD203B41FA5}">
                      <a16:colId xmlns:a16="http://schemas.microsoft.com/office/drawing/2014/main" val="20001"/>
                    </a:ext>
                  </a:extLst>
                </a:gridCol>
              </a:tblGrid>
              <a:tr h="441031">
                <a:tc>
                  <a:txBody>
                    <a:bodyPr/>
                    <a:lstStyle/>
                    <a:p>
                      <a:pPr algn="ctr"/>
                      <a:r>
                        <a:rPr lang="en-US" sz="2400" dirty="0">
                          <a:solidFill>
                            <a:schemeClr val="tx1"/>
                          </a:solidFill>
                        </a:rPr>
                        <a:t>Null-type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400" dirty="0">
                          <a:solidFill>
                            <a:schemeClr val="tx1"/>
                          </a:solidFill>
                        </a:rPr>
                        <a:t>Deflection-type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676247">
                <a:tc gridSpan="2">
                  <a:txBody>
                    <a:bodyPr/>
                    <a:lstStyle/>
                    <a:p>
                      <a:pPr marL="2114550" marR="0" lvl="4"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200" b="1" baseline="0" dirty="0"/>
                        <a:t>R4 </a:t>
                      </a:r>
                      <a:r>
                        <a:rPr lang="en-US" sz="2200" b="0" baseline="0" dirty="0"/>
                        <a:t>is an </a:t>
                      </a:r>
                      <a:r>
                        <a:rPr lang="en-US" sz="2200" b="0" baseline="0" dirty="0">
                          <a:solidFill>
                            <a:srgbClr val="FF0000"/>
                          </a:solidFill>
                        </a:rPr>
                        <a:t>unknown</a:t>
                      </a:r>
                      <a:r>
                        <a:rPr lang="en-US" sz="2200" b="0" baseline="0" dirty="0"/>
                        <a:t> resistor.</a:t>
                      </a:r>
                    </a:p>
                    <a:p>
                      <a:pPr marL="2114550" marR="0" lvl="4"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200" b="1" dirty="0"/>
                        <a:t>R1</a:t>
                      </a:r>
                      <a:r>
                        <a:rPr lang="en-US" sz="2200" b="0" dirty="0"/>
                        <a:t> and </a:t>
                      </a:r>
                      <a:r>
                        <a:rPr lang="en-US" sz="2200" b="1" dirty="0"/>
                        <a:t>R3 </a:t>
                      </a:r>
                      <a:r>
                        <a:rPr lang="en-US" sz="2200" b="0" dirty="0"/>
                        <a:t>are two equal value resistors</a:t>
                      </a:r>
                      <a:r>
                        <a:rPr lang="en-US" sz="2200" b="0" baseline="0" dirty="0"/>
                        <a:t>.</a:t>
                      </a:r>
                      <a:endParaRPr lang="en-US" sz="2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17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992714">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200" b="1" dirty="0"/>
                        <a:t>R2 </a:t>
                      </a:r>
                      <a:r>
                        <a:rPr lang="en-US" sz="2200" b="0" dirty="0"/>
                        <a:t>is a </a:t>
                      </a:r>
                      <a:r>
                        <a:rPr lang="en-US" sz="2200" b="0" dirty="0">
                          <a:solidFill>
                            <a:srgbClr val="FF0000"/>
                          </a:solidFill>
                        </a:rPr>
                        <a:t>variable</a:t>
                      </a:r>
                      <a:r>
                        <a:rPr lang="en-US" sz="2200" b="0" dirty="0"/>
                        <a:t> resistor.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200" b="0" dirty="0"/>
                        <a:t>It is varied until the measured voltage </a:t>
                      </a:r>
                      <a:r>
                        <a:rPr lang="en-US" sz="2200" b="1" dirty="0"/>
                        <a:t>V</a:t>
                      </a:r>
                      <a:r>
                        <a:rPr lang="en-US" sz="2200" b="1" baseline="-25000" dirty="0"/>
                        <a:t>AC</a:t>
                      </a:r>
                      <a:r>
                        <a:rPr lang="en-US" sz="2200" b="0" baseline="0" dirty="0"/>
                        <a:t> = 0</a:t>
                      </a:r>
                      <a:r>
                        <a:rPr lang="en-US" sz="2200" b="0" dirty="0"/>
                        <a:t>.  At this point, the value of </a:t>
                      </a:r>
                      <a:r>
                        <a:rPr lang="en-US" sz="2200" b="1" dirty="0"/>
                        <a:t>R4 </a:t>
                      </a:r>
                      <a:r>
                        <a:rPr lang="en-US" sz="2200" b="0" dirty="0"/>
                        <a:t>is obtained.</a:t>
                      </a:r>
                    </a:p>
                    <a:p>
                      <a:pPr algn="just" rtl="0"/>
                      <a:endParaRPr lang="en-US" sz="2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200" b="1" dirty="0"/>
                        <a:t>R2</a:t>
                      </a:r>
                      <a:r>
                        <a:rPr lang="en-US" sz="2200" b="0" dirty="0"/>
                        <a:t> is a </a:t>
                      </a:r>
                      <a:r>
                        <a:rPr lang="en-US" sz="2200" b="0" dirty="0">
                          <a:solidFill>
                            <a:srgbClr val="FF0000"/>
                          </a:solidFill>
                        </a:rPr>
                        <a:t>fixed</a:t>
                      </a:r>
                      <a:r>
                        <a:rPr lang="en-US" sz="2200" b="0" dirty="0"/>
                        <a:t> resistor equal to the nominal value of </a:t>
                      </a:r>
                      <a:r>
                        <a:rPr lang="en-US" sz="2200" b="1" dirty="0"/>
                        <a:t>R4</a:t>
                      </a:r>
                      <a:r>
                        <a:rPr lang="en-US" sz="2200" b="0" dirty="0"/>
                        <a: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200" b="0" dirty="0"/>
                        <a:t>As </a:t>
                      </a:r>
                      <a:r>
                        <a:rPr lang="en-US" sz="2200" b="1" dirty="0"/>
                        <a:t>R4</a:t>
                      </a:r>
                      <a:r>
                        <a:rPr lang="en-US" sz="2200" b="0" dirty="0"/>
                        <a:t> changes, the voltage </a:t>
                      </a:r>
                      <a:r>
                        <a:rPr lang="en-US" sz="2200" b="1" dirty="0"/>
                        <a:t>V</a:t>
                      </a:r>
                      <a:r>
                        <a:rPr lang="en-US" sz="2200" b="1" baseline="-25000" dirty="0"/>
                        <a:t>AC</a:t>
                      </a:r>
                      <a:r>
                        <a:rPr lang="en-US" sz="2200" b="0" dirty="0"/>
                        <a:t> varies.</a:t>
                      </a:r>
                      <a:r>
                        <a:rPr lang="en-US" sz="2200" b="0" baseline="0" dirty="0"/>
                        <a:t> </a:t>
                      </a:r>
                      <a:r>
                        <a:rPr lang="en-US" sz="2200" b="0" dirty="0"/>
                        <a:t>However, the relationship between these </a:t>
                      </a:r>
                      <a:r>
                        <a:rPr lang="en-US" sz="2200" b="0" baseline="0" dirty="0"/>
                        <a:t>changes </a:t>
                      </a:r>
                      <a:r>
                        <a:rPr lang="en-US" sz="2200" b="0" dirty="0"/>
                        <a:t>is non-linear.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2310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a:xfrm>
            <a:off x="457200" y="1498432"/>
            <a:ext cx="7620000" cy="4925144"/>
          </a:xfrm>
        </p:spPr>
        <p:txBody>
          <a:bodyPr>
            <a:normAutofit lnSpcReduction="10000"/>
          </a:bodyPr>
          <a:lstStyle/>
          <a:p>
            <a:pPr marL="114300" indent="0" algn="just" rtl="0">
              <a:buNone/>
            </a:pPr>
            <a:r>
              <a:rPr lang="en-US" dirty="0"/>
              <a:t>A pressure transducer, designed to measure pressures in the range 0–10 bar, consists of a diaphragm with a strain gauge cemented to it to detect diaphragm deﬂections. The strain gauge has a nominal resistance of 120</a:t>
            </a:r>
            <a:r>
              <a:rPr lang="el-GR" dirty="0"/>
              <a:t>Ω</a:t>
            </a:r>
            <a:r>
              <a:rPr lang="en-US" dirty="0"/>
              <a:t> and forms one arm of a Wheatstone bridge circuit, with the other three arms each having a resistance of 120</a:t>
            </a:r>
            <a:r>
              <a:rPr lang="el-GR" dirty="0"/>
              <a:t>Ω</a:t>
            </a:r>
            <a:r>
              <a:rPr lang="en-US" dirty="0"/>
              <a:t>. The bridge output is measured by an instrument whose input impedance can be assumed inﬁnite. </a:t>
            </a:r>
          </a:p>
          <a:p>
            <a:pPr marL="114300" indent="0" algn="just" rtl="0">
              <a:buNone/>
            </a:pPr>
            <a:endParaRPr lang="en-US" dirty="0"/>
          </a:p>
          <a:p>
            <a:pPr marL="114300" indent="0" algn="just" rtl="0">
              <a:buNone/>
            </a:pPr>
            <a:r>
              <a:rPr lang="en-US" dirty="0"/>
              <a:t>(a) If, in order to limit heating effects, the maximum allowable gauge current is 30 mA, calculate the maximum allowable bridge supply voltage.</a:t>
            </a:r>
          </a:p>
          <a:p>
            <a:pPr marL="114300" indent="0" algn="just" rtl="0">
              <a:buNone/>
            </a:pPr>
            <a:endParaRPr lang="en-US" dirty="0"/>
          </a:p>
          <a:p>
            <a:pPr marL="114300" indent="0" algn="just" rtl="0">
              <a:buNone/>
            </a:pPr>
            <a:r>
              <a:rPr lang="en-US" dirty="0"/>
              <a:t>(b) If the sensitivity of the strain gauge is 338 m</a:t>
            </a:r>
            <a:r>
              <a:rPr lang="el-GR" dirty="0"/>
              <a:t>Ω</a:t>
            </a:r>
            <a:r>
              <a:rPr lang="en-US" dirty="0"/>
              <a:t>/bar and the maximum bridge supply voltage is used, calculate the bridge output voltage when measuring a pressure of 10 bar.</a:t>
            </a:r>
          </a:p>
        </p:txBody>
      </p:sp>
      <p:sp>
        <p:nvSpPr>
          <p:cNvPr id="4" name="Slide Number Placeholder 3"/>
          <p:cNvSpPr>
            <a:spLocks noGrp="1"/>
          </p:cNvSpPr>
          <p:nvPr>
            <p:ph type="sldNum" sz="quarter" idx="12"/>
          </p:nvPr>
        </p:nvSpPr>
        <p:spPr/>
        <p:txBody>
          <a:bodyPr/>
          <a:lstStyle/>
          <a:p>
            <a:fld id="{930C522C-A1E4-4254-BFF3-9729D494B76C}" type="slidenum">
              <a:rPr lang="ar-EG" smtClean="0"/>
              <a:t>14</a:t>
            </a:fld>
            <a:endParaRPr lang="ar-EG"/>
          </a:p>
        </p:txBody>
      </p:sp>
    </p:spTree>
    <p:extLst>
      <p:ext uri="{BB962C8B-B14F-4D97-AF65-F5344CB8AC3E}">
        <p14:creationId xmlns:p14="http://schemas.microsoft.com/office/powerpoint/2010/main" val="2728129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408" y="116632"/>
            <a:ext cx="7620000" cy="1143000"/>
          </a:xfrm>
        </p:spPr>
        <p:txBody>
          <a:bodyPr/>
          <a:lstStyle/>
          <a:p>
            <a:r>
              <a:rPr lang="en-US" dirty="0"/>
              <a:t>Solution</a:t>
            </a:r>
          </a:p>
        </p:txBody>
      </p:sp>
      <p:sp>
        <p:nvSpPr>
          <p:cNvPr id="3" name="Content Placeholder 2"/>
          <p:cNvSpPr>
            <a:spLocks noGrp="1"/>
          </p:cNvSpPr>
          <p:nvPr>
            <p:ph idx="1"/>
          </p:nvPr>
        </p:nvSpPr>
        <p:spPr>
          <a:xfrm>
            <a:off x="457200" y="2996952"/>
            <a:ext cx="7787208" cy="3816424"/>
          </a:xfrm>
        </p:spPr>
        <p:txBody>
          <a:bodyPr>
            <a:normAutofit/>
          </a:bodyPr>
          <a:lstStyle/>
          <a:p>
            <a:pPr marL="114300" indent="0" algn="just" rtl="0">
              <a:buNone/>
            </a:pPr>
            <a:r>
              <a:rPr lang="en-US" dirty="0"/>
              <a:t>(a) The resistors in the bridge circuit have the following values:</a:t>
            </a:r>
          </a:p>
          <a:p>
            <a:pPr marL="114300" indent="0" algn="just" rtl="0">
              <a:buNone/>
            </a:pPr>
            <a:r>
              <a:rPr lang="en-US" dirty="0"/>
              <a:t>			</a:t>
            </a:r>
            <a:r>
              <a:rPr lang="en-US" b="1" dirty="0"/>
              <a:t>R</a:t>
            </a:r>
            <a:r>
              <a:rPr lang="en-US" b="1" baseline="-25000" dirty="0"/>
              <a:t>1</a:t>
            </a:r>
            <a:r>
              <a:rPr lang="en-US" b="1" dirty="0"/>
              <a:t> = R</a:t>
            </a:r>
            <a:r>
              <a:rPr lang="en-US" b="1" baseline="-25000" dirty="0"/>
              <a:t>2</a:t>
            </a:r>
            <a:r>
              <a:rPr lang="en-US" b="1" dirty="0"/>
              <a:t> = R</a:t>
            </a:r>
            <a:r>
              <a:rPr lang="en-US" b="1" baseline="-25000" dirty="0"/>
              <a:t>3</a:t>
            </a:r>
            <a:r>
              <a:rPr lang="en-US" b="1" dirty="0"/>
              <a:t> = 120</a:t>
            </a:r>
            <a:r>
              <a:rPr lang="el-GR" b="1" dirty="0"/>
              <a:t>Ω</a:t>
            </a:r>
            <a:endParaRPr lang="en-US" b="1" dirty="0"/>
          </a:p>
          <a:p>
            <a:pPr marL="114300" indent="0" algn="just" rtl="0">
              <a:buNone/>
            </a:pPr>
            <a:r>
              <a:rPr lang="en-US" dirty="0"/>
              <a:t>And the nominal value of the sensor resistance </a:t>
            </a:r>
            <a:r>
              <a:rPr lang="en-US" b="1" dirty="0"/>
              <a:t>R</a:t>
            </a:r>
            <a:r>
              <a:rPr lang="en-US" b="1" baseline="-25000" dirty="0"/>
              <a:t>4</a:t>
            </a:r>
            <a:r>
              <a:rPr lang="en-US" b="1" dirty="0"/>
              <a:t> = 120</a:t>
            </a:r>
            <a:r>
              <a:rPr lang="el-GR" b="1" dirty="0"/>
              <a:t>Ω</a:t>
            </a:r>
            <a:r>
              <a:rPr lang="en-US" b="1" dirty="0"/>
              <a:t>.</a:t>
            </a:r>
            <a:r>
              <a:rPr lang="en-US" dirty="0"/>
              <a:t> </a:t>
            </a:r>
          </a:p>
          <a:p>
            <a:pPr algn="just" rtl="0"/>
            <a:r>
              <a:rPr lang="en-US" dirty="0"/>
              <a:t>Deﬁning I to be the current ﬂowing in path BCD of the bridge, we can write:</a:t>
            </a:r>
          </a:p>
          <a:p>
            <a:pPr marL="114300" indent="0" algn="just" rtl="0">
              <a:buNone/>
            </a:pPr>
            <a:r>
              <a:rPr lang="en-US" dirty="0"/>
              <a:t>	  		</a:t>
            </a:r>
            <a:r>
              <a:rPr lang="en-US" b="1" dirty="0"/>
              <a:t>E = (R</a:t>
            </a:r>
            <a:r>
              <a:rPr lang="en-US" b="1" baseline="-25000" dirty="0"/>
              <a:t>3</a:t>
            </a:r>
            <a:r>
              <a:rPr lang="en-US" b="1" dirty="0"/>
              <a:t> + R</a:t>
            </a:r>
            <a:r>
              <a:rPr lang="en-US" b="1" baseline="-25000" dirty="0"/>
              <a:t>4</a:t>
            </a:r>
            <a:r>
              <a:rPr lang="en-US" b="1" dirty="0"/>
              <a:t>) x I</a:t>
            </a:r>
          </a:p>
          <a:p>
            <a:pPr algn="just" rtl="0"/>
            <a:r>
              <a:rPr lang="en-US" dirty="0"/>
              <a:t>As the maximum allowable value for I is 0.03A, then:</a:t>
            </a:r>
          </a:p>
          <a:p>
            <a:pPr marL="114300" indent="0" algn="just" rtl="0">
              <a:buNone/>
            </a:pPr>
            <a:r>
              <a:rPr lang="en-US" b="1" dirty="0"/>
              <a:t>			E = 0.03(120 + 120) =  7.2 V</a:t>
            </a:r>
          </a:p>
          <a:p>
            <a:pPr algn="just" rtl="0"/>
            <a:r>
              <a:rPr lang="en-US" dirty="0"/>
              <a:t>Thus, the maximum allowable bridge supply voltage is 7.2V.</a:t>
            </a:r>
          </a:p>
        </p:txBody>
      </p:sp>
      <p:sp>
        <p:nvSpPr>
          <p:cNvPr id="4" name="Slide Number Placeholder 3"/>
          <p:cNvSpPr>
            <a:spLocks noGrp="1"/>
          </p:cNvSpPr>
          <p:nvPr>
            <p:ph type="sldNum" sz="quarter" idx="12"/>
          </p:nvPr>
        </p:nvSpPr>
        <p:spPr/>
        <p:txBody>
          <a:bodyPr/>
          <a:lstStyle/>
          <a:p>
            <a:fld id="{930C522C-A1E4-4254-BFF3-9729D494B76C}" type="slidenum">
              <a:rPr lang="ar-EG" smtClean="0"/>
              <a:t>15</a:t>
            </a:fld>
            <a:endParaRPr lang="ar-EG"/>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2451" y="260648"/>
            <a:ext cx="3405972"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1384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114300" indent="0" algn="l" rtl="0">
              <a:buNone/>
            </a:pPr>
            <a:r>
              <a:rPr lang="en-US" dirty="0"/>
              <a:t>(b) For an applied pressure of 10 bar, the resistance change is 3.38</a:t>
            </a:r>
            <a:r>
              <a:rPr lang="el-GR" dirty="0"/>
              <a:t> Ω</a:t>
            </a:r>
            <a:r>
              <a:rPr lang="en-US" dirty="0"/>
              <a:t>, i.e. R</a:t>
            </a:r>
            <a:r>
              <a:rPr lang="en-US" baseline="-25000" dirty="0"/>
              <a:t>4</a:t>
            </a:r>
            <a:r>
              <a:rPr lang="en-US" dirty="0"/>
              <a:t> is then equal to 123.38</a:t>
            </a:r>
            <a:r>
              <a:rPr lang="el-GR" dirty="0"/>
              <a:t> Ω</a:t>
            </a:r>
            <a:r>
              <a:rPr lang="en-US" dirty="0"/>
              <a:t>.</a:t>
            </a:r>
          </a:p>
          <a:p>
            <a:pPr algn="l" rtl="0"/>
            <a:endParaRPr lang="en-US" dirty="0"/>
          </a:p>
          <a:p>
            <a:pPr algn="l" rtl="0"/>
            <a:r>
              <a:rPr lang="en-US" dirty="0"/>
              <a:t>The bridge output voltage is found as</a:t>
            </a:r>
          </a:p>
          <a:p>
            <a:pPr algn="l" rtl="0"/>
            <a:endParaRPr lang="en-US" dirty="0"/>
          </a:p>
          <a:p>
            <a:pPr algn="l" rtl="0"/>
            <a:endParaRPr lang="en-US" dirty="0"/>
          </a:p>
          <a:p>
            <a:pPr algn="l" rtl="0"/>
            <a:endParaRPr lang="en-US" dirty="0"/>
          </a:p>
          <a:p>
            <a:pPr algn="l" rtl="0"/>
            <a:endParaRPr lang="en-US" dirty="0"/>
          </a:p>
          <a:p>
            <a:pPr algn="l" rtl="0"/>
            <a:r>
              <a:rPr lang="en-US" dirty="0"/>
              <a:t>Thus, with supply voltage of 7.2V, the output voltage is -50 mV when a pressure of 10 bar is measured.</a:t>
            </a:r>
          </a:p>
          <a:p>
            <a:pPr algn="l" rtl="0"/>
            <a:endParaRPr lang="en-US" dirty="0"/>
          </a:p>
          <a:p>
            <a:pPr algn="l" rtl="0"/>
            <a:endParaRPr lang="en-US" dirty="0"/>
          </a:p>
          <a:p>
            <a:pPr algn="l" rtl="0"/>
            <a:endParaRPr lang="en-US" dirty="0"/>
          </a:p>
        </p:txBody>
      </p:sp>
      <p:sp>
        <p:nvSpPr>
          <p:cNvPr id="4" name="Slide Number Placeholder 3"/>
          <p:cNvSpPr>
            <a:spLocks noGrp="1"/>
          </p:cNvSpPr>
          <p:nvPr>
            <p:ph type="sldNum" sz="quarter" idx="12"/>
          </p:nvPr>
        </p:nvSpPr>
        <p:spPr/>
        <p:txBody>
          <a:bodyPr/>
          <a:lstStyle/>
          <a:p>
            <a:fld id="{930C522C-A1E4-4254-BFF3-9729D494B76C}" type="slidenum">
              <a:rPr lang="ar-EG" smtClean="0"/>
              <a:t>16</a:t>
            </a:fld>
            <a:endParaRPr lang="ar-EG"/>
          </a:p>
        </p:txBody>
      </p:sp>
      <p:graphicFrame>
        <p:nvGraphicFramePr>
          <p:cNvPr id="6" name="Object 5"/>
          <p:cNvGraphicFramePr>
            <a:graphicFrameLocks noChangeAspect="1"/>
          </p:cNvGraphicFramePr>
          <p:nvPr>
            <p:extLst>
              <p:ext uri="{D42A27DB-BD31-4B8C-83A1-F6EECF244321}">
                <p14:modId xmlns:p14="http://schemas.microsoft.com/office/powerpoint/2010/main" val="2212422390"/>
              </p:ext>
            </p:extLst>
          </p:nvPr>
        </p:nvGraphicFramePr>
        <p:xfrm>
          <a:off x="692150" y="3573463"/>
          <a:ext cx="7546975" cy="890587"/>
        </p:xfrm>
        <a:graphic>
          <a:graphicData uri="http://schemas.openxmlformats.org/presentationml/2006/ole">
            <mc:AlternateContent xmlns:mc="http://schemas.openxmlformats.org/markup-compatibility/2006">
              <mc:Choice xmlns:v="urn:schemas-microsoft-com:vml" Requires="v">
                <p:oleObj name="Equation" r:id="rId2" imgW="4241520" imgH="482400" progId="Equation.3">
                  <p:embed/>
                </p:oleObj>
              </mc:Choice>
              <mc:Fallback>
                <p:oleObj name="Equation" r:id="rId2" imgW="4241520" imgH="482400" progId="Equation.3">
                  <p:embed/>
                  <p:pic>
                    <p:nvPicPr>
                      <p:cNvPr id="6" name="Object 5"/>
                      <p:cNvPicPr>
                        <a:picLocks noChangeAspect="1" noChangeArrowheads="1"/>
                      </p:cNvPicPr>
                      <p:nvPr/>
                    </p:nvPicPr>
                    <p:blipFill>
                      <a:blip r:embed="rId3"/>
                      <a:srcRect/>
                      <a:stretch>
                        <a:fillRect/>
                      </a:stretch>
                    </p:blipFill>
                    <p:spPr bwMode="auto">
                      <a:xfrm>
                        <a:off x="692150" y="3573463"/>
                        <a:ext cx="7546975" cy="890587"/>
                      </a:xfrm>
                      <a:prstGeom prst="rect">
                        <a:avLst/>
                      </a:prstGeom>
                      <a:noFill/>
                      <a:ln>
                        <a:noFill/>
                      </a:ln>
                    </p:spPr>
                  </p:pic>
                </p:oleObj>
              </mc:Fallback>
            </mc:AlternateContent>
          </a:graphicData>
        </a:graphic>
      </p:graphicFrame>
      <p:sp>
        <p:nvSpPr>
          <p:cNvPr id="7" name="Title 1"/>
          <p:cNvSpPr txBox="1">
            <a:spLocks/>
          </p:cNvSpPr>
          <p:nvPr/>
        </p:nvSpPr>
        <p:spPr>
          <a:xfrm>
            <a:off x="624408" y="116632"/>
            <a:ext cx="7620000" cy="1143000"/>
          </a:xfrm>
          <a:prstGeom prst="rect">
            <a:avLst/>
          </a:prstGeom>
        </p:spPr>
        <p:txBody>
          <a:bodyPr vert="horz" lIns="91440" tIns="45720" rIns="91440" bIns="45720" rtlCol="0" anchor="ctr">
            <a:noAutofit/>
          </a:bodyPr>
          <a:lstStyle>
            <a:lvl1pPr algn="l" defTabSz="914400" rtl="1"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a:t>Solution</a:t>
            </a:r>
            <a:endParaRPr lang="en-US" dirty="0"/>
          </a:p>
        </p:txBody>
      </p:sp>
    </p:spTree>
    <p:extLst>
      <p:ext uri="{BB962C8B-B14F-4D97-AF65-F5344CB8AC3E}">
        <p14:creationId xmlns:p14="http://schemas.microsoft.com/office/powerpoint/2010/main" val="3390240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65E1-50C4-4C64-A896-A16AC839FD0D}"/>
              </a:ext>
            </a:extLst>
          </p:cNvPr>
          <p:cNvSpPr>
            <a:spLocks noGrp="1"/>
          </p:cNvSpPr>
          <p:nvPr>
            <p:ph type="title"/>
          </p:nvPr>
        </p:nvSpPr>
        <p:spPr/>
        <p:txBody>
          <a:bodyPr/>
          <a:lstStyle/>
          <a:p>
            <a:r>
              <a:rPr lang="en-GB" dirty="0"/>
              <a:t>Example 2</a:t>
            </a:r>
            <a:endParaRPr lang="en-BW" dirty="0"/>
          </a:p>
        </p:txBody>
      </p:sp>
      <p:sp>
        <p:nvSpPr>
          <p:cNvPr id="3" name="Content Placeholder 2">
            <a:extLst>
              <a:ext uri="{FF2B5EF4-FFF2-40B4-BE49-F238E27FC236}">
                <a16:creationId xmlns:a16="http://schemas.microsoft.com/office/drawing/2014/main" id="{D2DAB191-7B05-40AD-8BFD-E01B04EFDACB}"/>
              </a:ext>
            </a:extLst>
          </p:cNvPr>
          <p:cNvSpPr>
            <a:spLocks noGrp="1"/>
          </p:cNvSpPr>
          <p:nvPr>
            <p:ph idx="1"/>
          </p:nvPr>
        </p:nvSpPr>
        <p:spPr/>
        <p:txBody>
          <a:bodyPr/>
          <a:lstStyle/>
          <a:p>
            <a:endParaRPr lang="en-BW" dirty="0"/>
          </a:p>
        </p:txBody>
      </p:sp>
      <p:sp>
        <p:nvSpPr>
          <p:cNvPr id="4" name="Slide Number Placeholder 3">
            <a:extLst>
              <a:ext uri="{FF2B5EF4-FFF2-40B4-BE49-F238E27FC236}">
                <a16:creationId xmlns:a16="http://schemas.microsoft.com/office/drawing/2014/main" id="{7D7AEE74-FFD2-47E9-A215-5A8955493D16}"/>
              </a:ext>
            </a:extLst>
          </p:cNvPr>
          <p:cNvSpPr>
            <a:spLocks noGrp="1"/>
          </p:cNvSpPr>
          <p:nvPr>
            <p:ph type="sldNum" sz="quarter" idx="12"/>
          </p:nvPr>
        </p:nvSpPr>
        <p:spPr/>
        <p:txBody>
          <a:bodyPr/>
          <a:lstStyle/>
          <a:p>
            <a:fld id="{930C522C-A1E4-4254-BFF3-9729D494B76C}" type="slidenum">
              <a:rPr lang="ar-EG" smtClean="0"/>
              <a:t>17</a:t>
            </a:fld>
            <a:endParaRPr lang="ar-EG"/>
          </a:p>
        </p:txBody>
      </p:sp>
      <p:sp>
        <p:nvSpPr>
          <p:cNvPr id="5" name="Rectangle 1027">
            <a:extLst>
              <a:ext uri="{FF2B5EF4-FFF2-40B4-BE49-F238E27FC236}">
                <a16:creationId xmlns:a16="http://schemas.microsoft.com/office/drawing/2014/main" id="{085856F5-6315-4D0F-B323-2CDB058A8AF5}"/>
              </a:ext>
            </a:extLst>
          </p:cNvPr>
          <p:cNvSpPr txBox="1">
            <a:spLocks noChangeArrowheads="1"/>
          </p:cNvSpPr>
          <p:nvPr>
            <p:custDataLst>
              <p:tags r:id="rId1"/>
            </p:custDataLst>
          </p:nvPr>
        </p:nvSpPr>
        <p:spPr>
          <a:xfrm>
            <a:off x="762000" y="1981200"/>
            <a:ext cx="7050360" cy="3124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763" marR="0" lvl="0" indent="-4763" algn="l" defTabSz="457200" rtl="0" eaLnBrk="1" fontAlgn="auto" latinLnBrk="0" hangingPunct="1">
              <a:lnSpc>
                <a:spcPct val="100000"/>
              </a:lnSpc>
              <a:spcBef>
                <a:spcPts val="1000"/>
              </a:spcBef>
              <a:spcAft>
                <a:spcPts val="0"/>
              </a:spcAft>
              <a:buClr>
                <a:srgbClr val="90C226"/>
              </a:buClr>
              <a:buSzPct val="80000"/>
              <a:buFontTx/>
              <a:buNone/>
              <a:tabLst/>
              <a:defRPr/>
            </a:pP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The depicted Wheatstone bridge nulls with R</a:t>
            </a:r>
            <a:r>
              <a:rPr kumimoji="0" lang="en-US" altLang="en-US" sz="2800" b="0" i="0" u="none" strike="noStrike" kern="1200" cap="none" spc="0" normalizeH="0" baseline="-25000" noProof="0" dirty="0">
                <a:ln>
                  <a:noFill/>
                </a:ln>
                <a:solidFill>
                  <a:sysClr val="windowText" lastClr="000000">
                    <a:lumMod val="75000"/>
                    <a:lumOff val="25000"/>
                  </a:sysClr>
                </a:solidFill>
                <a:effectLst/>
                <a:uLnTx/>
                <a:uFillTx/>
                <a:latin typeface="Trebuchet MS" panose="020B0603020202020204"/>
                <a:ea typeface="+mn-ea"/>
                <a:cs typeface="+mn-cs"/>
              </a:rPr>
              <a:t>1</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 1200 </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sym typeface="Symbol" panose="05050102010706020507" pitchFamily="18" charset="2"/>
              </a:rPr>
              <a:t>, </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R</a:t>
            </a:r>
            <a:r>
              <a:rPr kumimoji="0" lang="en-US" altLang="en-US" sz="2800" b="0" i="0" u="none" strike="noStrike" kern="1200" cap="none" spc="0" normalizeH="0" baseline="-25000" noProof="0" dirty="0">
                <a:ln>
                  <a:noFill/>
                </a:ln>
                <a:solidFill>
                  <a:sysClr val="windowText" lastClr="000000">
                    <a:lumMod val="75000"/>
                    <a:lumOff val="25000"/>
                  </a:sysClr>
                </a:solidFill>
                <a:effectLst/>
                <a:uLnTx/>
                <a:uFillTx/>
                <a:latin typeface="Trebuchet MS" panose="020B0603020202020204"/>
                <a:ea typeface="+mn-ea"/>
                <a:cs typeface="+mn-cs"/>
              </a:rPr>
              <a:t>2</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 920 </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sym typeface="Symbol" panose="05050102010706020507" pitchFamily="18" charset="2"/>
              </a:rPr>
              <a:t>, and </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R</a:t>
            </a:r>
            <a:r>
              <a:rPr kumimoji="0" lang="en-US" altLang="en-US" sz="2800" b="0" i="0" u="none" strike="noStrike" kern="1200" cap="none" spc="0" normalizeH="0" baseline="-25000" noProof="0" dirty="0">
                <a:ln>
                  <a:noFill/>
                </a:ln>
                <a:solidFill>
                  <a:sysClr val="windowText" lastClr="000000">
                    <a:lumMod val="75000"/>
                    <a:lumOff val="25000"/>
                  </a:sysClr>
                </a:solidFill>
                <a:effectLst/>
                <a:uLnTx/>
                <a:uFillTx/>
                <a:latin typeface="Trebuchet MS" panose="020B0603020202020204"/>
                <a:ea typeface="+mn-ea"/>
                <a:cs typeface="+mn-cs"/>
              </a:rPr>
              <a:t>3</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 600 </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sym typeface="Symbol" panose="05050102010706020507" pitchFamily="18" charset="2"/>
              </a:rPr>
              <a:t>. Find the value of </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R</a:t>
            </a:r>
            <a:r>
              <a:rPr kumimoji="0" lang="en-US" altLang="en-US" sz="2800" b="0" i="0" u="none" strike="noStrike" kern="1200" cap="none" spc="0" normalizeH="0" baseline="-25000" noProof="0" dirty="0">
                <a:ln>
                  <a:noFill/>
                </a:ln>
                <a:solidFill>
                  <a:sysClr val="windowText" lastClr="000000">
                    <a:lumMod val="75000"/>
                    <a:lumOff val="25000"/>
                  </a:sysClr>
                </a:solidFill>
                <a:effectLst/>
                <a:uLnTx/>
                <a:uFillTx/>
                <a:latin typeface="Trebuchet MS" panose="020B0603020202020204"/>
                <a:ea typeface="+mn-ea"/>
                <a:cs typeface="+mn-cs"/>
              </a:rPr>
              <a:t>4</a:t>
            </a:r>
            <a:r>
              <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a:t>
            </a:r>
            <a:endPar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sym typeface="Symbol" panose="05050102010706020507" pitchFamily="18" charset="2"/>
            </a:endParaRPr>
          </a:p>
          <a:p>
            <a:pPr marL="4763" marR="0" lvl="0" indent="-4763"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US" altLang="en-US" sz="28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sym typeface="Symbol" panose="05050102010706020507" pitchFamily="18" charset="2"/>
            </a:endParaRPr>
          </a:p>
        </p:txBody>
      </p:sp>
      <p:pic>
        <p:nvPicPr>
          <p:cNvPr id="6" name="Picture 1031">
            <a:extLst>
              <a:ext uri="{FF2B5EF4-FFF2-40B4-BE49-F238E27FC236}">
                <a16:creationId xmlns:a16="http://schemas.microsoft.com/office/drawing/2014/main" id="{0F8E923E-EB04-4E06-B9B2-68EF29512314}"/>
              </a:ext>
            </a:extLst>
          </p:cNvPr>
          <p:cNvPicPr>
            <a:picLocks noChangeAspect="1" noChangeArrowheads="1"/>
          </p:cNvPicPr>
          <p:nvPr>
            <p:custDataLst>
              <p:tags r:id="rId2"/>
            </p:custDataLst>
          </p:nvPr>
        </p:nvPicPr>
        <p:blipFill>
          <a:blip r:embed="rId4">
            <a:extLst>
              <a:ext uri="{28A0092B-C50C-407E-A947-70E740481C1C}">
                <a14:useLocalDpi xmlns:a14="http://schemas.microsoft.com/office/drawing/2010/main" val="0"/>
              </a:ext>
            </a:extLst>
          </a:blip>
          <a:srcRect/>
          <a:stretch>
            <a:fillRect/>
          </a:stretch>
        </p:blipFill>
        <p:spPr bwMode="auto">
          <a:xfrm>
            <a:off x="3554244" y="2636912"/>
            <a:ext cx="49530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6391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D6C3F-5734-47CE-B949-2784BB7D06DD}"/>
              </a:ext>
            </a:extLst>
          </p:cNvPr>
          <p:cNvSpPr>
            <a:spLocks noGrp="1"/>
          </p:cNvSpPr>
          <p:nvPr>
            <p:ph type="title"/>
          </p:nvPr>
        </p:nvSpPr>
        <p:spPr/>
        <p:txBody>
          <a:bodyPr/>
          <a:lstStyle/>
          <a:p>
            <a:r>
              <a:rPr lang="en-GB" dirty="0"/>
              <a:t>Solution </a:t>
            </a:r>
            <a:endParaRPr lang="en-BW" dirty="0"/>
          </a:p>
        </p:txBody>
      </p:sp>
      <p:sp>
        <p:nvSpPr>
          <p:cNvPr id="4" name="Slide Number Placeholder 3">
            <a:extLst>
              <a:ext uri="{FF2B5EF4-FFF2-40B4-BE49-F238E27FC236}">
                <a16:creationId xmlns:a16="http://schemas.microsoft.com/office/drawing/2014/main" id="{36344938-CFC5-4FA3-80E6-9999CD1DA7FC}"/>
              </a:ext>
            </a:extLst>
          </p:cNvPr>
          <p:cNvSpPr>
            <a:spLocks noGrp="1"/>
          </p:cNvSpPr>
          <p:nvPr>
            <p:ph type="sldNum" sz="quarter" idx="12"/>
          </p:nvPr>
        </p:nvSpPr>
        <p:spPr/>
        <p:txBody>
          <a:bodyPr/>
          <a:lstStyle/>
          <a:p>
            <a:fld id="{930C522C-A1E4-4254-BFF3-9729D494B76C}" type="slidenum">
              <a:rPr lang="ar-EG" smtClean="0"/>
              <a:t>18</a:t>
            </a:fld>
            <a:endParaRPr lang="ar-EG"/>
          </a:p>
        </p:txBody>
      </p:sp>
      <p:sp>
        <p:nvSpPr>
          <p:cNvPr id="5" name="Text Box 5">
            <a:extLst>
              <a:ext uri="{FF2B5EF4-FFF2-40B4-BE49-F238E27FC236}">
                <a16:creationId xmlns:a16="http://schemas.microsoft.com/office/drawing/2014/main" id="{FDE35881-0E55-4452-8FD6-15E54CC9268D}"/>
              </a:ext>
            </a:extLst>
          </p:cNvPr>
          <p:cNvSpPr txBox="1">
            <a:spLocks noGrp="1" noChangeArrowheads="1"/>
          </p:cNvSpPr>
          <p:nvPr>
            <p:ph idx="1"/>
            <p:custDataLst>
              <p:tags r:id="rId1"/>
            </p:custDataLst>
          </p:nvPr>
        </p:nvSpPr>
        <p:spPr bwMode="auto">
          <a:xfrm>
            <a:off x="467139" y="3789040"/>
            <a:ext cx="76200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800" dirty="0">
                <a:sym typeface="Symbol" panose="05050102010706020507" pitchFamily="18" charset="2"/>
              </a:rPr>
              <a:t>R</a:t>
            </a:r>
            <a:r>
              <a:rPr lang="en-US" altLang="en-US" sz="2800" baseline="-25000" dirty="0">
                <a:sym typeface="Symbol" panose="05050102010706020507" pitchFamily="18" charset="2"/>
              </a:rPr>
              <a:t>4</a:t>
            </a:r>
            <a:r>
              <a:rPr lang="en-US" altLang="en-US" sz="2800" dirty="0">
                <a:sym typeface="Symbol" panose="05050102010706020507" pitchFamily="18" charset="2"/>
              </a:rPr>
              <a:t> = (R</a:t>
            </a:r>
            <a:r>
              <a:rPr lang="en-US" altLang="en-US" sz="2800" baseline="-25000" dirty="0">
                <a:sym typeface="Symbol" panose="05050102010706020507" pitchFamily="18" charset="2"/>
              </a:rPr>
              <a:t>3</a:t>
            </a:r>
            <a:r>
              <a:rPr lang="en-US" altLang="en-US" sz="2800"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 (600 * 920)/1200 = 460  </a:t>
            </a:r>
          </a:p>
          <a:p>
            <a:pPr eaLnBrk="1" hangingPunct="1">
              <a:spcBef>
                <a:spcPct val="50000"/>
              </a:spcBef>
              <a:buFontTx/>
              <a:buNone/>
            </a:pPr>
            <a:endParaRPr lang="en-US" altLang="en-US" sz="2800" dirty="0">
              <a:sym typeface="Symbol" panose="05050102010706020507" pitchFamily="18" charset="2"/>
            </a:endParaRPr>
          </a:p>
        </p:txBody>
      </p:sp>
      <p:sp>
        <p:nvSpPr>
          <p:cNvPr id="7" name="TextBox 6">
            <a:extLst>
              <a:ext uri="{FF2B5EF4-FFF2-40B4-BE49-F238E27FC236}">
                <a16:creationId xmlns:a16="http://schemas.microsoft.com/office/drawing/2014/main" id="{6B206680-CBE0-4DC8-8451-325F6D88653F}"/>
              </a:ext>
            </a:extLst>
          </p:cNvPr>
          <p:cNvSpPr txBox="1"/>
          <p:nvPr/>
        </p:nvSpPr>
        <p:spPr>
          <a:xfrm>
            <a:off x="2286000" y="3258184"/>
            <a:ext cx="4572000" cy="424732"/>
          </a:xfrm>
          <a:prstGeom prst="rect">
            <a:avLst/>
          </a:prstGeom>
          <a:noFill/>
        </p:spPr>
        <p:txBody>
          <a:bodyPr wrap="square">
            <a:spAutoFit/>
          </a:bodyPr>
          <a:lstStyle/>
          <a:p>
            <a:pPr marL="4763" indent="-4763" eaLnBrk="1" hangingPunct="1">
              <a:lnSpc>
                <a:spcPct val="90000"/>
              </a:lnSpc>
              <a:buFontTx/>
              <a:buNone/>
            </a:pPr>
            <a:r>
              <a:rPr lang="en-US" altLang="en-US" sz="2400" dirty="0">
                <a:sym typeface="Symbol" panose="05050102010706020507" pitchFamily="18" charset="2"/>
              </a:rPr>
              <a:t>R</a:t>
            </a:r>
            <a:r>
              <a:rPr lang="en-US" altLang="en-US" sz="2400" baseline="-25000" dirty="0">
                <a:sym typeface="Symbol" panose="05050102010706020507" pitchFamily="18" charset="2"/>
              </a:rPr>
              <a:t>1</a:t>
            </a:r>
            <a:r>
              <a:rPr lang="en-US" altLang="en-US" sz="2400" dirty="0">
                <a:sym typeface="Symbol" panose="05050102010706020507" pitchFamily="18" charset="2"/>
              </a:rPr>
              <a:t>R</a:t>
            </a:r>
            <a:r>
              <a:rPr lang="en-US" altLang="en-US" sz="2400" baseline="-25000" dirty="0">
                <a:sym typeface="Symbol" panose="05050102010706020507" pitchFamily="18" charset="2"/>
              </a:rPr>
              <a:t>4</a:t>
            </a:r>
            <a:r>
              <a:rPr lang="en-US" altLang="en-US" sz="2400" dirty="0">
                <a:sym typeface="Symbol" panose="05050102010706020507" pitchFamily="18" charset="2"/>
              </a:rPr>
              <a:t> = R</a:t>
            </a:r>
            <a:r>
              <a:rPr lang="en-US" altLang="en-US" sz="2400" baseline="-25000" dirty="0">
                <a:sym typeface="Symbol" panose="05050102010706020507" pitchFamily="18" charset="2"/>
              </a:rPr>
              <a:t>3</a:t>
            </a:r>
            <a:r>
              <a:rPr lang="en-US" altLang="en-US" sz="2400" dirty="0">
                <a:sym typeface="Symbol" panose="05050102010706020507" pitchFamily="18" charset="2"/>
              </a:rPr>
              <a:t>R</a:t>
            </a:r>
            <a:r>
              <a:rPr lang="en-US" altLang="en-US" sz="2400" baseline="-25000" dirty="0">
                <a:sym typeface="Symbol" panose="05050102010706020507" pitchFamily="18" charset="2"/>
              </a:rPr>
              <a:t>2</a:t>
            </a:r>
          </a:p>
        </p:txBody>
      </p:sp>
    </p:spTree>
    <p:extLst>
      <p:ext uri="{BB962C8B-B14F-4D97-AF65-F5344CB8AC3E}">
        <p14:creationId xmlns:p14="http://schemas.microsoft.com/office/powerpoint/2010/main" val="2500862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384"/>
            <a:ext cx="7620000" cy="1143000"/>
          </a:xfrm>
        </p:spPr>
        <p:txBody>
          <a:bodyPr/>
          <a:lstStyle/>
          <a:p>
            <a:r>
              <a:rPr lang="en-US" dirty="0"/>
              <a:t>Bridge linearity</a:t>
            </a:r>
          </a:p>
        </p:txBody>
      </p:sp>
      <p:sp>
        <p:nvSpPr>
          <p:cNvPr id="3" name="Content Placeholder 2"/>
          <p:cNvSpPr>
            <a:spLocks noGrp="1"/>
          </p:cNvSpPr>
          <p:nvPr>
            <p:ph idx="1"/>
          </p:nvPr>
        </p:nvSpPr>
        <p:spPr>
          <a:xfrm>
            <a:off x="179512" y="1196752"/>
            <a:ext cx="8208912" cy="5544616"/>
          </a:xfrm>
        </p:spPr>
        <p:txBody>
          <a:bodyPr>
            <a:normAutofit/>
          </a:bodyPr>
          <a:lstStyle/>
          <a:p>
            <a:pPr algn="l" rtl="0"/>
            <a:r>
              <a:rPr lang="en-US" sz="2000" dirty="0"/>
              <a:t>Now, let us study the linearity of the bridge circuit. The bridge output is given by: </a:t>
            </a:r>
          </a:p>
          <a:p>
            <a:pPr algn="l" rtl="0"/>
            <a:endParaRPr lang="en-US" sz="2000" dirty="0"/>
          </a:p>
          <a:p>
            <a:pPr algn="l" rtl="0"/>
            <a:endParaRPr lang="en-US" sz="2000" dirty="0"/>
          </a:p>
          <a:p>
            <a:pPr algn="l" rtl="0"/>
            <a:r>
              <a:rPr lang="en-US" sz="2000" dirty="0"/>
              <a:t>It is clear that the relationship between V</a:t>
            </a:r>
            <a:r>
              <a:rPr lang="en-US" sz="2000" baseline="-25000" dirty="0"/>
              <a:t>AC</a:t>
            </a:r>
            <a:r>
              <a:rPr lang="en-US" sz="2000" dirty="0"/>
              <a:t> and R4 is </a:t>
            </a:r>
            <a:r>
              <a:rPr lang="en-US" sz="2000" i="1" dirty="0"/>
              <a:t>nonlinear</a:t>
            </a:r>
            <a:r>
              <a:rPr lang="en-US" sz="2000" dirty="0"/>
              <a:t>.</a:t>
            </a:r>
          </a:p>
          <a:p>
            <a:pPr algn="l" rtl="0"/>
            <a:r>
              <a:rPr lang="en-US" sz="2000" dirty="0"/>
              <a:t>However, let us assume that </a:t>
            </a:r>
            <a:r>
              <a:rPr lang="en-US" sz="2000" b="1" dirty="0"/>
              <a:t>R4</a:t>
            </a:r>
            <a:r>
              <a:rPr lang="en-US" sz="2000" dirty="0"/>
              <a:t> changes to </a:t>
            </a:r>
            <a:r>
              <a:rPr lang="en-US" sz="2000" b="1" dirty="0"/>
              <a:t>R4+</a:t>
            </a:r>
            <a:r>
              <a:rPr lang="el-GR" sz="2000" b="1" dirty="0"/>
              <a:t>Δ</a:t>
            </a:r>
            <a:r>
              <a:rPr lang="en-US" sz="2000" b="1" dirty="0"/>
              <a:t>R4</a:t>
            </a:r>
            <a:r>
              <a:rPr lang="en-US" sz="2000" dirty="0"/>
              <a:t> where </a:t>
            </a:r>
            <a:r>
              <a:rPr lang="el-GR" sz="2000" b="1" dirty="0"/>
              <a:t>Δ</a:t>
            </a:r>
            <a:r>
              <a:rPr lang="en-US" sz="2000" b="1" dirty="0"/>
              <a:t>R4 &lt;&lt; R4</a:t>
            </a:r>
            <a:r>
              <a:rPr lang="en-US" sz="2000" dirty="0"/>
              <a:t>. This results in output</a:t>
            </a:r>
          </a:p>
          <a:p>
            <a:pPr algn="l" rtl="0"/>
            <a:endParaRPr lang="en-US" sz="2000" dirty="0"/>
          </a:p>
          <a:p>
            <a:pPr algn="l" rtl="0"/>
            <a:endParaRPr lang="en-US" sz="2000" dirty="0"/>
          </a:p>
          <a:p>
            <a:pPr algn="l" rtl="0"/>
            <a:r>
              <a:rPr lang="en-US" sz="2000" dirty="0"/>
              <a:t>Then, </a:t>
            </a:r>
            <a:r>
              <a:rPr lang="el-GR" sz="2000" b="1" dirty="0"/>
              <a:t>Δ</a:t>
            </a:r>
            <a:r>
              <a:rPr lang="en-US" sz="2000" b="1" i="1" dirty="0"/>
              <a:t>V</a:t>
            </a:r>
            <a:r>
              <a:rPr lang="en-US" sz="2000" b="1" i="1" baseline="-25000" dirty="0"/>
              <a:t>AC</a:t>
            </a:r>
          </a:p>
          <a:p>
            <a:pPr algn="l" rtl="0"/>
            <a:endParaRPr lang="en-US" sz="2000" i="1" baseline="-25000" dirty="0"/>
          </a:p>
          <a:p>
            <a:pPr algn="l" rtl="0"/>
            <a:endParaRPr lang="en-US" sz="2000" i="1" baseline="-25000" dirty="0"/>
          </a:p>
          <a:p>
            <a:pPr algn="l" rtl="0"/>
            <a:endParaRPr lang="en-US" sz="2000" i="1" baseline="-25000" dirty="0"/>
          </a:p>
          <a:p>
            <a:pPr algn="l" rtl="0"/>
            <a:r>
              <a:rPr lang="en-US" sz="2000" dirty="0"/>
              <a:t>Based on the assumption that </a:t>
            </a:r>
            <a:r>
              <a:rPr lang="el-GR" sz="2000" b="1" dirty="0"/>
              <a:t>δ</a:t>
            </a:r>
            <a:r>
              <a:rPr lang="en-US" sz="2000" b="1" dirty="0"/>
              <a:t>R4 &lt;&lt; R4</a:t>
            </a:r>
            <a:r>
              <a:rPr lang="en-US" sz="2000" dirty="0"/>
              <a:t>, then </a:t>
            </a:r>
          </a:p>
          <a:p>
            <a:pPr algn="l" rtl="0"/>
            <a:endParaRPr lang="en-US" sz="2000" dirty="0"/>
          </a:p>
        </p:txBody>
      </p:sp>
      <p:sp>
        <p:nvSpPr>
          <p:cNvPr id="4" name="Slide Number Placeholder 3"/>
          <p:cNvSpPr>
            <a:spLocks noGrp="1"/>
          </p:cNvSpPr>
          <p:nvPr>
            <p:ph type="sldNum" sz="quarter" idx="12"/>
          </p:nvPr>
        </p:nvSpPr>
        <p:spPr/>
        <p:txBody>
          <a:bodyPr/>
          <a:lstStyle/>
          <a:p>
            <a:fld id="{930C522C-A1E4-4254-BFF3-9729D494B76C}" type="slidenum">
              <a:rPr lang="ar-EG" smtClean="0"/>
              <a:t>19</a:t>
            </a:fld>
            <a:endParaRPr lang="ar-EG"/>
          </a:p>
        </p:txBody>
      </p:sp>
      <p:graphicFrame>
        <p:nvGraphicFramePr>
          <p:cNvPr id="5" name="Object 4"/>
          <p:cNvGraphicFramePr>
            <a:graphicFrameLocks noChangeAspect="1"/>
          </p:cNvGraphicFramePr>
          <p:nvPr>
            <p:extLst>
              <p:ext uri="{D42A27DB-BD31-4B8C-83A1-F6EECF244321}">
                <p14:modId xmlns:p14="http://schemas.microsoft.com/office/powerpoint/2010/main" val="814727859"/>
              </p:ext>
            </p:extLst>
          </p:nvPr>
        </p:nvGraphicFramePr>
        <p:xfrm>
          <a:off x="2771800" y="1700808"/>
          <a:ext cx="3078932" cy="859427"/>
        </p:xfrm>
        <a:graphic>
          <a:graphicData uri="http://schemas.openxmlformats.org/presentationml/2006/ole">
            <mc:AlternateContent xmlns:mc="http://schemas.openxmlformats.org/markup-compatibility/2006">
              <mc:Choice xmlns:v="urn:schemas-microsoft-com:vml" Requires="v">
                <p:oleObj name="Equation" r:id="rId2" imgW="1726920" imgH="482400" progId="Equation.3">
                  <p:embed/>
                </p:oleObj>
              </mc:Choice>
              <mc:Fallback>
                <p:oleObj name="Equation" r:id="rId2" imgW="1726920" imgH="482400" progId="Equation.3">
                  <p:embed/>
                  <p:pic>
                    <p:nvPicPr>
                      <p:cNvPr id="5" name="Object 4"/>
                      <p:cNvPicPr>
                        <a:picLocks noChangeAspect="1" noChangeArrowheads="1"/>
                      </p:cNvPicPr>
                      <p:nvPr/>
                    </p:nvPicPr>
                    <p:blipFill>
                      <a:blip r:embed="rId3"/>
                      <a:srcRect/>
                      <a:stretch>
                        <a:fillRect/>
                      </a:stretch>
                    </p:blipFill>
                    <p:spPr bwMode="auto">
                      <a:xfrm>
                        <a:off x="2771800" y="1700808"/>
                        <a:ext cx="3078932" cy="859427"/>
                      </a:xfrm>
                      <a:prstGeom prst="rect">
                        <a:avLst/>
                      </a:prstGeom>
                      <a:noFill/>
                      <a:ln>
                        <a:noFill/>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757951509"/>
              </p:ext>
            </p:extLst>
          </p:nvPr>
        </p:nvGraphicFramePr>
        <p:xfrm>
          <a:off x="2699792" y="3573016"/>
          <a:ext cx="3565525" cy="815975"/>
        </p:xfrm>
        <a:graphic>
          <a:graphicData uri="http://schemas.openxmlformats.org/presentationml/2006/ole">
            <mc:AlternateContent xmlns:mc="http://schemas.openxmlformats.org/markup-compatibility/2006">
              <mc:Choice xmlns:v="urn:schemas-microsoft-com:vml" Requires="v">
                <p:oleObj name="Equation" r:id="rId4" imgW="2108160" imgH="482400" progId="Equation.3">
                  <p:embed/>
                </p:oleObj>
              </mc:Choice>
              <mc:Fallback>
                <p:oleObj name="Equation" r:id="rId4" imgW="2108160" imgH="482400" progId="Equation.3">
                  <p:embed/>
                  <p:pic>
                    <p:nvPicPr>
                      <p:cNvPr id="6" name="Object 5"/>
                      <p:cNvPicPr>
                        <a:picLocks noChangeAspect="1" noChangeArrowheads="1"/>
                      </p:cNvPicPr>
                      <p:nvPr/>
                    </p:nvPicPr>
                    <p:blipFill>
                      <a:blip r:embed="rId5"/>
                      <a:srcRect/>
                      <a:stretch>
                        <a:fillRect/>
                      </a:stretch>
                    </p:blipFill>
                    <p:spPr bwMode="auto">
                      <a:xfrm>
                        <a:off x="2699792" y="3573016"/>
                        <a:ext cx="3565525" cy="815975"/>
                      </a:xfrm>
                      <a:prstGeom prst="rect">
                        <a:avLst/>
                      </a:prstGeom>
                      <a:noFill/>
                      <a:ln>
                        <a:noFill/>
                      </a:ln>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172622203"/>
              </p:ext>
            </p:extLst>
          </p:nvPr>
        </p:nvGraphicFramePr>
        <p:xfrm>
          <a:off x="2564407" y="4509120"/>
          <a:ext cx="4887913" cy="796925"/>
        </p:xfrm>
        <a:graphic>
          <a:graphicData uri="http://schemas.openxmlformats.org/presentationml/2006/ole">
            <mc:AlternateContent xmlns:mc="http://schemas.openxmlformats.org/markup-compatibility/2006">
              <mc:Choice xmlns:v="urn:schemas-microsoft-com:vml" Requires="v">
                <p:oleObj name="Equation" r:id="rId6" imgW="2958840" imgH="482400" progId="Equation.3">
                  <p:embed/>
                </p:oleObj>
              </mc:Choice>
              <mc:Fallback>
                <p:oleObj name="Equation" r:id="rId6" imgW="2958840" imgH="482400" progId="Equation.3">
                  <p:embed/>
                  <p:pic>
                    <p:nvPicPr>
                      <p:cNvPr id="7" name="Object 6"/>
                      <p:cNvPicPr>
                        <a:picLocks noChangeAspect="1" noChangeArrowheads="1"/>
                      </p:cNvPicPr>
                      <p:nvPr/>
                    </p:nvPicPr>
                    <p:blipFill>
                      <a:blip r:embed="rId7"/>
                      <a:srcRect/>
                      <a:stretch>
                        <a:fillRect/>
                      </a:stretch>
                    </p:blipFill>
                    <p:spPr bwMode="auto">
                      <a:xfrm>
                        <a:off x="2564407" y="4509120"/>
                        <a:ext cx="4887913" cy="796925"/>
                      </a:xfrm>
                      <a:prstGeom prst="rect">
                        <a:avLst/>
                      </a:prstGeom>
                      <a:noFill/>
                      <a:ln>
                        <a:noFill/>
                      </a:ln>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061525294"/>
              </p:ext>
            </p:extLst>
          </p:nvPr>
        </p:nvGraphicFramePr>
        <p:xfrm>
          <a:off x="3491880" y="5956572"/>
          <a:ext cx="1803400" cy="712788"/>
        </p:xfrm>
        <a:graphic>
          <a:graphicData uri="http://schemas.openxmlformats.org/presentationml/2006/ole">
            <mc:AlternateContent xmlns:mc="http://schemas.openxmlformats.org/markup-compatibility/2006">
              <mc:Choice xmlns:v="urn:schemas-microsoft-com:vml" Requires="v">
                <p:oleObj name="Equation" r:id="rId8" imgW="1091880" imgH="431640" progId="Equation.3">
                  <p:embed/>
                </p:oleObj>
              </mc:Choice>
              <mc:Fallback>
                <p:oleObj name="Equation" r:id="rId8" imgW="1091880" imgH="431640" progId="Equation.3">
                  <p:embed/>
                  <p:pic>
                    <p:nvPicPr>
                      <p:cNvPr id="8" name="Object 7"/>
                      <p:cNvPicPr>
                        <a:picLocks noChangeAspect="1" noChangeArrowheads="1"/>
                      </p:cNvPicPr>
                      <p:nvPr/>
                    </p:nvPicPr>
                    <p:blipFill>
                      <a:blip r:embed="rId9"/>
                      <a:srcRect/>
                      <a:stretch>
                        <a:fillRect/>
                      </a:stretch>
                    </p:blipFill>
                    <p:spPr bwMode="auto">
                      <a:xfrm>
                        <a:off x="3491880" y="5956572"/>
                        <a:ext cx="1803400"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0" name="Curved Connector 9"/>
          <p:cNvCxnSpPr/>
          <p:nvPr/>
        </p:nvCxnSpPr>
        <p:spPr>
          <a:xfrm>
            <a:off x="5508104" y="6318612"/>
            <a:ext cx="1008112" cy="206732"/>
          </a:xfrm>
          <a:prstGeom prst="curvedConnector3">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588224" y="6309320"/>
            <a:ext cx="1872208" cy="369332"/>
          </a:xfrm>
          <a:prstGeom prst="rect">
            <a:avLst/>
          </a:prstGeom>
          <a:noFill/>
        </p:spPr>
        <p:txBody>
          <a:bodyPr wrap="square" rtlCol="0">
            <a:spAutoFit/>
          </a:bodyPr>
          <a:lstStyle/>
          <a:p>
            <a:pPr algn="l" rtl="0"/>
            <a:r>
              <a:rPr lang="en-US" i="1" dirty="0">
                <a:solidFill>
                  <a:srgbClr val="FF0000"/>
                </a:solidFill>
              </a:rPr>
              <a:t>Linear relation!</a:t>
            </a:r>
          </a:p>
        </p:txBody>
      </p:sp>
    </p:spTree>
    <p:extLst>
      <p:ext uri="{BB962C8B-B14F-4D97-AF65-F5344CB8AC3E}">
        <p14:creationId xmlns:p14="http://schemas.microsoft.com/office/powerpoint/2010/main" val="211742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4624"/>
            <a:ext cx="8229600" cy="1066800"/>
          </a:xfrm>
        </p:spPr>
        <p:txBody>
          <a:bodyPr/>
          <a:lstStyle/>
          <a:p>
            <a:r>
              <a:rPr lang="en-US" dirty="0"/>
              <a:t>Bridge linearity</a:t>
            </a:r>
            <a:endParaRPr lang="ar-EG" dirty="0"/>
          </a:p>
        </p:txBody>
      </p:sp>
      <p:sp>
        <p:nvSpPr>
          <p:cNvPr id="3" name="Content Placeholder 2"/>
          <p:cNvSpPr>
            <a:spLocks noGrp="1"/>
          </p:cNvSpPr>
          <p:nvPr>
            <p:ph idx="1"/>
          </p:nvPr>
        </p:nvSpPr>
        <p:spPr>
          <a:xfrm>
            <a:off x="251520" y="1144159"/>
            <a:ext cx="8136904" cy="3508977"/>
          </a:xfrm>
        </p:spPr>
        <p:txBody>
          <a:bodyPr>
            <a:normAutofit/>
          </a:bodyPr>
          <a:lstStyle/>
          <a:p>
            <a:pPr algn="l" rtl="0"/>
            <a:r>
              <a:rPr lang="en-US" sz="1900" dirty="0"/>
              <a:t>We conclude that </a:t>
            </a:r>
            <a:r>
              <a:rPr lang="en-US" sz="1900" b="1" dirty="0"/>
              <a:t>ΔV</a:t>
            </a:r>
            <a:r>
              <a:rPr lang="en-US" sz="1900" b="1" baseline="-25000" dirty="0"/>
              <a:t>AC</a:t>
            </a:r>
            <a:r>
              <a:rPr lang="en-US" sz="1900" b="1" dirty="0"/>
              <a:t> </a:t>
            </a:r>
            <a:r>
              <a:rPr lang="en-US" sz="1900" dirty="0"/>
              <a:t>is approximately linear with </a:t>
            </a:r>
            <a:r>
              <a:rPr lang="en-US" sz="1900" b="1" dirty="0"/>
              <a:t>ΔR4 </a:t>
            </a:r>
            <a:r>
              <a:rPr lang="en-US" sz="1900" dirty="0"/>
              <a:t>if </a:t>
            </a:r>
            <a:r>
              <a:rPr lang="en-US" sz="1900" b="1" dirty="0"/>
              <a:t>ΔR4</a:t>
            </a:r>
            <a:r>
              <a:rPr lang="en-US" sz="1900" dirty="0"/>
              <a:t> does not vary too much around the null condition </a:t>
            </a:r>
            <a:r>
              <a:rPr lang="en-US" sz="1900" b="1" dirty="0"/>
              <a:t>ΔV = 0</a:t>
            </a:r>
            <a:r>
              <a:rPr lang="en-US" sz="1900" dirty="0"/>
              <a:t>. </a:t>
            </a:r>
          </a:p>
          <a:p>
            <a:pPr algn="l" rtl="0"/>
            <a:endParaRPr lang="en-US" sz="1900" dirty="0"/>
          </a:p>
          <a:p>
            <a:pPr algn="l" rtl="0"/>
            <a:r>
              <a:rPr lang="en-US" sz="1900" dirty="0"/>
              <a:t>However, for large </a:t>
            </a:r>
            <a:r>
              <a:rPr lang="en-US" sz="1900" b="1" dirty="0"/>
              <a:t>ΔR</a:t>
            </a:r>
            <a:r>
              <a:rPr lang="en-US" sz="1900" dirty="0"/>
              <a:t>, the relationship is </a:t>
            </a:r>
            <a:r>
              <a:rPr lang="en-US" sz="1900" dirty="0">
                <a:solidFill>
                  <a:srgbClr val="FF0000"/>
                </a:solidFill>
              </a:rPr>
              <a:t>nonlinear</a:t>
            </a:r>
            <a:r>
              <a:rPr lang="en-US" sz="1900" dirty="0"/>
              <a:t>. Hence, </a:t>
            </a:r>
            <a:r>
              <a:rPr lang="en-US" sz="1900" b="1" dirty="0"/>
              <a:t>ΔV</a:t>
            </a:r>
            <a:r>
              <a:rPr lang="en-US" sz="1900" dirty="0"/>
              <a:t> should not be used to indicate linear out-of-balance unless a </a:t>
            </a:r>
            <a:r>
              <a:rPr lang="en-US" sz="1900" b="1" u="sng" dirty="0"/>
              <a:t>correction</a:t>
            </a:r>
            <a:r>
              <a:rPr lang="en-US" sz="1900" dirty="0"/>
              <a:t> is applied. </a:t>
            </a:r>
          </a:p>
          <a:p>
            <a:pPr algn="l" rtl="0"/>
            <a:endParaRPr lang="en-US" sz="1900" dirty="0"/>
          </a:p>
        </p:txBody>
      </p:sp>
      <p:sp>
        <p:nvSpPr>
          <p:cNvPr id="4" name="Slide Number Placeholder 3"/>
          <p:cNvSpPr>
            <a:spLocks noGrp="1"/>
          </p:cNvSpPr>
          <p:nvPr>
            <p:ph type="sldNum" sz="quarter" idx="12"/>
          </p:nvPr>
        </p:nvSpPr>
        <p:spPr/>
        <p:txBody>
          <a:bodyPr/>
          <a:lstStyle/>
          <a:p>
            <a:fld id="{930C522C-A1E4-4254-BFF3-9729D494B76C}" type="slidenum">
              <a:rPr lang="ar-EG" smtClean="0"/>
              <a:t>20</a:t>
            </a:fld>
            <a:endParaRPr lang="ar-EG"/>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3140968"/>
            <a:ext cx="8208912" cy="3600400"/>
          </a:xfrm>
          <a:prstGeom prst="rect">
            <a:avLst/>
          </a:prstGeom>
        </p:spPr>
      </p:pic>
    </p:spTree>
    <p:extLst>
      <p:ext uri="{BB962C8B-B14F-4D97-AF65-F5344CB8AC3E}">
        <p14:creationId xmlns:p14="http://schemas.microsoft.com/office/powerpoint/2010/main" val="2017471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5904656" cy="576064"/>
          </a:xfrm>
          <a:solidFill>
            <a:schemeClr val="accent1">
              <a:lumMod val="20000"/>
              <a:lumOff val="80000"/>
            </a:schemeClr>
          </a:solidFill>
        </p:spPr>
        <p:txBody>
          <a:bodyPr>
            <a:noAutofit/>
          </a:bodyPr>
          <a:lstStyle/>
          <a:p>
            <a:pPr rtl="0"/>
            <a:r>
              <a:rPr lang="en-US" sz="4000" dirty="0"/>
              <a:t>Temperature compensation </a:t>
            </a:r>
            <a:endParaRPr lang="ar-EG" sz="2800" dirty="0"/>
          </a:p>
        </p:txBody>
      </p:sp>
      <p:sp>
        <p:nvSpPr>
          <p:cNvPr id="3" name="Content Placeholder 2"/>
          <p:cNvSpPr>
            <a:spLocks noGrp="1"/>
          </p:cNvSpPr>
          <p:nvPr>
            <p:ph idx="1"/>
          </p:nvPr>
        </p:nvSpPr>
        <p:spPr>
          <a:xfrm>
            <a:off x="323528" y="1916832"/>
            <a:ext cx="7704856" cy="4896544"/>
          </a:xfrm>
        </p:spPr>
        <p:txBody>
          <a:bodyPr>
            <a:noAutofit/>
          </a:bodyPr>
          <a:lstStyle/>
          <a:p>
            <a:pPr algn="ctr" rtl="0"/>
            <a:endParaRPr lang="en-US" sz="2800" dirty="0"/>
          </a:p>
          <a:p>
            <a:pPr algn="ctr" rtl="0"/>
            <a:endParaRPr lang="en-US" sz="2800" dirty="0"/>
          </a:p>
          <a:p>
            <a:pPr marL="114300" indent="0" algn="ctr" rtl="0">
              <a:buNone/>
            </a:pPr>
            <a:r>
              <a:rPr lang="en-US" sz="2800" dirty="0"/>
              <a:t>Resistive sensors such as strain gauges are </a:t>
            </a:r>
            <a:r>
              <a:rPr lang="en-US" sz="2800" dirty="0">
                <a:solidFill>
                  <a:srgbClr val="FF0000"/>
                </a:solidFill>
              </a:rPr>
              <a:t>temperature sensitive</a:t>
            </a:r>
            <a:r>
              <a:rPr lang="en-US" sz="2800" dirty="0"/>
              <a:t>. It is important to minimize temperature effects on the measurement of strain and other physical quantities. </a:t>
            </a:r>
          </a:p>
        </p:txBody>
      </p:sp>
      <p:sp>
        <p:nvSpPr>
          <p:cNvPr id="4" name="Slide Number Placeholder 3"/>
          <p:cNvSpPr>
            <a:spLocks noGrp="1"/>
          </p:cNvSpPr>
          <p:nvPr>
            <p:ph type="sldNum" sz="quarter" idx="12"/>
          </p:nvPr>
        </p:nvSpPr>
        <p:spPr/>
        <p:txBody>
          <a:bodyPr/>
          <a:lstStyle/>
          <a:p>
            <a:fld id="{930C522C-A1E4-4254-BFF3-9729D494B76C}" type="slidenum">
              <a:rPr lang="ar-EG" smtClean="0"/>
              <a:t>21</a:t>
            </a:fld>
            <a:endParaRPr lang="ar-EG"/>
          </a:p>
        </p:txBody>
      </p:sp>
    </p:spTree>
    <p:extLst>
      <p:ext uri="{BB962C8B-B14F-4D97-AF65-F5344CB8AC3E}">
        <p14:creationId xmlns:p14="http://schemas.microsoft.com/office/powerpoint/2010/main" val="3392671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04664"/>
            <a:ext cx="5904656" cy="576064"/>
          </a:xfrm>
          <a:solidFill>
            <a:schemeClr val="accent1">
              <a:lumMod val="20000"/>
              <a:lumOff val="80000"/>
            </a:schemeClr>
          </a:solidFill>
        </p:spPr>
        <p:txBody>
          <a:bodyPr>
            <a:noAutofit/>
          </a:bodyPr>
          <a:lstStyle/>
          <a:p>
            <a:pPr rtl="0"/>
            <a:r>
              <a:rPr lang="en-US" sz="4000" dirty="0"/>
              <a:t>Temperature compensation </a:t>
            </a:r>
            <a:endParaRPr lang="ar-EG" sz="2800" dirty="0"/>
          </a:p>
        </p:txBody>
      </p:sp>
      <p:sp>
        <p:nvSpPr>
          <p:cNvPr id="3" name="Content Placeholder 2"/>
          <p:cNvSpPr>
            <a:spLocks noGrp="1"/>
          </p:cNvSpPr>
          <p:nvPr>
            <p:ph idx="1"/>
          </p:nvPr>
        </p:nvSpPr>
        <p:spPr>
          <a:xfrm>
            <a:off x="323528" y="1340768"/>
            <a:ext cx="7704856" cy="4896544"/>
          </a:xfrm>
        </p:spPr>
        <p:txBody>
          <a:bodyPr>
            <a:noAutofit/>
          </a:bodyPr>
          <a:lstStyle/>
          <a:p>
            <a:pPr marL="114300" indent="0" algn="just" rtl="0">
              <a:buNone/>
            </a:pPr>
            <a:r>
              <a:rPr lang="en-US" sz="2100" dirty="0"/>
              <a:t>For this purpose, the sensors are often configured with two elements that can be used in a bridge circuit. For instance, in a bridge circuit, if R1 and R2 are the same type of sensing element. Then, resistance of each element will change by an equal percentage with temperature, so that the bridge will remain balanced when the temperature changes. If R1 is now used to sense a variable, the voltmeter will only sense the change in R1 due to the change in the variable, not the change due to temperature.</a:t>
            </a:r>
            <a:endParaRPr lang="ar-EG" sz="2100" dirty="0"/>
          </a:p>
        </p:txBody>
      </p:sp>
      <p:sp>
        <p:nvSpPr>
          <p:cNvPr id="4" name="Slide Number Placeholder 3"/>
          <p:cNvSpPr>
            <a:spLocks noGrp="1"/>
          </p:cNvSpPr>
          <p:nvPr>
            <p:ph type="sldNum" sz="quarter" idx="12"/>
          </p:nvPr>
        </p:nvSpPr>
        <p:spPr/>
        <p:txBody>
          <a:bodyPr/>
          <a:lstStyle/>
          <a:p>
            <a:fld id="{930C522C-A1E4-4254-BFF3-9729D494B76C}" type="slidenum">
              <a:rPr lang="ar-EG" smtClean="0"/>
              <a:t>22</a:t>
            </a:fld>
            <a:endParaRPr lang="ar-EG"/>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4331597"/>
            <a:ext cx="2880321" cy="2133571"/>
          </a:xfrm>
          <a:prstGeom prst="rect">
            <a:avLst/>
          </a:prstGeom>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4162728"/>
            <a:ext cx="3405972"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5782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45976"/>
            <a:ext cx="7992888" cy="706760"/>
          </a:xfrm>
          <a:solidFill>
            <a:schemeClr val="accent1">
              <a:lumMod val="20000"/>
              <a:lumOff val="80000"/>
            </a:schemeClr>
          </a:solidFill>
        </p:spPr>
        <p:txBody>
          <a:bodyPr/>
          <a:lstStyle/>
          <a:p>
            <a:r>
              <a:rPr lang="en-US" dirty="0"/>
              <a:t>Lead Compensation</a:t>
            </a:r>
            <a:endParaRPr lang="ar-EG" dirty="0"/>
          </a:p>
        </p:txBody>
      </p:sp>
      <p:sp>
        <p:nvSpPr>
          <p:cNvPr id="3" name="Content Placeholder 2"/>
          <p:cNvSpPr>
            <a:spLocks noGrp="1"/>
          </p:cNvSpPr>
          <p:nvPr>
            <p:ph idx="1"/>
          </p:nvPr>
        </p:nvSpPr>
        <p:spPr>
          <a:xfrm>
            <a:off x="107504" y="1412776"/>
            <a:ext cx="8208912" cy="5184576"/>
          </a:xfrm>
        </p:spPr>
        <p:txBody>
          <a:bodyPr>
            <a:noAutofit/>
          </a:bodyPr>
          <a:lstStyle/>
          <a:p>
            <a:pPr algn="l" rtl="0"/>
            <a:r>
              <a:rPr lang="en-US" sz="1900" dirty="0"/>
              <a:t>In many applications, the sensing resistor (</a:t>
            </a:r>
            <a:r>
              <a:rPr lang="en-US" sz="1900" b="1" i="1" dirty="0"/>
              <a:t>R</a:t>
            </a:r>
            <a:r>
              <a:rPr lang="en-US" sz="1900" b="1" dirty="0"/>
              <a:t>2</a:t>
            </a:r>
            <a:r>
              <a:rPr lang="en-US" sz="1900" dirty="0"/>
              <a:t>) may be remote from a centrally located bridge as shown. The resistance temperature detector (RTD) is an example of such a device. </a:t>
            </a:r>
          </a:p>
          <a:p>
            <a:pPr algn="l" rtl="0"/>
            <a:endParaRPr lang="en-US" sz="1900" dirty="0"/>
          </a:p>
          <a:p>
            <a:pPr algn="l" rtl="0"/>
            <a:endParaRPr lang="en-US" sz="1900" dirty="0"/>
          </a:p>
          <a:p>
            <a:pPr algn="l" rtl="0"/>
            <a:endParaRPr lang="en-US" sz="1900" dirty="0"/>
          </a:p>
          <a:p>
            <a:pPr algn="l" rtl="0"/>
            <a:endParaRPr lang="en-US" sz="1900" dirty="0"/>
          </a:p>
          <a:p>
            <a:pPr algn="l" rtl="0"/>
            <a:endParaRPr lang="en-US" sz="1900" dirty="0"/>
          </a:p>
          <a:p>
            <a:pPr algn="l" rtl="0"/>
            <a:endParaRPr lang="en-US" sz="1900" dirty="0"/>
          </a:p>
          <a:p>
            <a:pPr algn="l" rtl="0"/>
            <a:endParaRPr lang="en-US" sz="1900" dirty="0"/>
          </a:p>
          <a:p>
            <a:pPr algn="l" rtl="0"/>
            <a:endParaRPr lang="en-US" sz="1900" dirty="0"/>
          </a:p>
          <a:p>
            <a:pPr algn="l" rtl="0"/>
            <a:r>
              <a:rPr lang="en-US" sz="1900" dirty="0"/>
              <a:t>In this case, the resistance of the two long leads (a) and (b) is added to R2. Adjusting the bridge resistor (</a:t>
            </a:r>
            <a:r>
              <a:rPr lang="en-US" sz="1900" b="1" i="1" dirty="0"/>
              <a:t>R</a:t>
            </a:r>
            <a:r>
              <a:rPr lang="en-US" sz="1900" b="1" dirty="0"/>
              <a:t>4</a:t>
            </a:r>
            <a:r>
              <a:rPr lang="en-US" sz="1900" dirty="0"/>
              <a:t>) can zero out this additional resistance.</a:t>
            </a:r>
          </a:p>
          <a:p>
            <a:pPr algn="l" rtl="0"/>
            <a:r>
              <a:rPr lang="en-US" sz="1900" dirty="0"/>
              <a:t>However, any change in lead resistance due to temperature will appear as a sensor value change. To correct this error, </a:t>
            </a:r>
            <a:r>
              <a:rPr lang="en-US" sz="1900" b="1" i="1" dirty="0"/>
              <a:t>three-lead compensation </a:t>
            </a:r>
            <a:r>
              <a:rPr lang="en-US" sz="1900" dirty="0"/>
              <a:t>is used. </a:t>
            </a:r>
          </a:p>
        </p:txBody>
      </p:sp>
      <p:sp>
        <p:nvSpPr>
          <p:cNvPr id="4" name="Slide Number Placeholder 3"/>
          <p:cNvSpPr>
            <a:spLocks noGrp="1"/>
          </p:cNvSpPr>
          <p:nvPr>
            <p:ph type="sldNum" sz="quarter" idx="12"/>
          </p:nvPr>
        </p:nvSpPr>
        <p:spPr/>
        <p:txBody>
          <a:bodyPr/>
          <a:lstStyle/>
          <a:p>
            <a:fld id="{930C522C-A1E4-4254-BFF3-9729D494B76C}" type="slidenum">
              <a:rPr lang="ar-EG" smtClean="0"/>
              <a:t>23</a:t>
            </a:fld>
            <a:endParaRPr lang="ar-EG"/>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492896"/>
            <a:ext cx="5688632" cy="2486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1141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7920880" cy="792088"/>
          </a:xfrm>
          <a:solidFill>
            <a:schemeClr val="accent1">
              <a:lumMod val="20000"/>
              <a:lumOff val="80000"/>
            </a:schemeClr>
          </a:solidFill>
        </p:spPr>
        <p:txBody>
          <a:bodyPr/>
          <a:lstStyle/>
          <a:p>
            <a:pPr rtl="0"/>
            <a:r>
              <a:rPr lang="en-US" dirty="0"/>
              <a:t>Three-lead (wire) compensation</a:t>
            </a:r>
            <a:endParaRPr lang="ar-EG" dirty="0"/>
          </a:p>
        </p:txBody>
      </p:sp>
      <p:sp>
        <p:nvSpPr>
          <p:cNvPr id="3" name="Content Placeholder 2"/>
          <p:cNvSpPr>
            <a:spLocks noGrp="1"/>
          </p:cNvSpPr>
          <p:nvPr>
            <p:ph idx="1"/>
          </p:nvPr>
        </p:nvSpPr>
        <p:spPr>
          <a:xfrm>
            <a:off x="107504" y="1480152"/>
            <a:ext cx="8064896" cy="4397120"/>
          </a:xfrm>
        </p:spPr>
        <p:txBody>
          <a:bodyPr>
            <a:noAutofit/>
          </a:bodyPr>
          <a:lstStyle/>
          <a:p>
            <a:pPr marL="114300" indent="0" algn="l" rtl="0">
              <a:buNone/>
            </a:pPr>
            <a:r>
              <a:rPr lang="en-US" dirty="0"/>
              <a:t>In this method, t</a:t>
            </a:r>
            <a:r>
              <a:rPr lang="en-US" dirty="0">
                <a:solidFill>
                  <a:schemeClr val="tx1"/>
                </a:solidFill>
              </a:rPr>
              <a:t>hree long wires {(a),(b),(c)} are connected to the sensor where a separate power lead (c) is used to supply </a:t>
            </a:r>
            <a:r>
              <a:rPr lang="en-US" i="1" dirty="0">
                <a:solidFill>
                  <a:schemeClr val="tx1"/>
                </a:solidFill>
              </a:rPr>
              <a:t>R</a:t>
            </a:r>
            <a:r>
              <a:rPr lang="en-US" dirty="0">
                <a:solidFill>
                  <a:schemeClr val="tx1"/>
                </a:solidFill>
              </a:rPr>
              <a:t>2. By this way point </a:t>
            </a:r>
            <a:r>
              <a:rPr lang="en-US" b="1" dirty="0">
                <a:solidFill>
                  <a:schemeClr val="tx1"/>
                </a:solidFill>
              </a:rPr>
              <a:t>D</a:t>
            </a:r>
            <a:r>
              <a:rPr lang="en-US" dirty="0">
                <a:solidFill>
                  <a:schemeClr val="tx1"/>
                </a:solidFill>
              </a:rPr>
              <a:t> in the bridge is moved remotely.</a:t>
            </a:r>
          </a:p>
          <a:p>
            <a:pPr marL="114300" indent="0" algn="l" rtl="0">
              <a:buNone/>
            </a:pPr>
            <a:endParaRPr lang="en-US" dirty="0"/>
          </a:p>
        </p:txBody>
      </p:sp>
      <p:sp>
        <p:nvSpPr>
          <p:cNvPr id="4" name="Slide Number Placeholder 3"/>
          <p:cNvSpPr>
            <a:spLocks noGrp="1"/>
          </p:cNvSpPr>
          <p:nvPr>
            <p:ph type="sldNum" sz="quarter" idx="12"/>
          </p:nvPr>
        </p:nvSpPr>
        <p:spPr/>
        <p:txBody>
          <a:bodyPr/>
          <a:lstStyle/>
          <a:p>
            <a:fld id="{930C522C-A1E4-4254-BFF3-9729D494B76C}" type="slidenum">
              <a:rPr lang="ar-EG" smtClean="0"/>
              <a:t>24</a:t>
            </a:fld>
            <a:endParaRPr lang="ar-EG"/>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140968"/>
            <a:ext cx="7632848"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urved Up Arrow 5"/>
          <p:cNvSpPr/>
          <p:nvPr/>
        </p:nvSpPr>
        <p:spPr>
          <a:xfrm>
            <a:off x="5580112" y="4725144"/>
            <a:ext cx="2016224" cy="720080"/>
          </a:xfrm>
          <a:prstGeom prst="curved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EG">
              <a:solidFill>
                <a:schemeClr val="tx1"/>
              </a:solidFill>
            </a:endParaRPr>
          </a:p>
        </p:txBody>
      </p:sp>
    </p:spTree>
    <p:extLst>
      <p:ext uri="{BB962C8B-B14F-4D97-AF65-F5344CB8AC3E}">
        <p14:creationId xmlns:p14="http://schemas.microsoft.com/office/powerpoint/2010/main" val="372088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628800"/>
            <a:ext cx="8136904" cy="4896544"/>
          </a:xfrm>
        </p:spPr>
        <p:txBody>
          <a:bodyPr>
            <a:noAutofit/>
          </a:bodyPr>
          <a:lstStyle/>
          <a:p>
            <a:pPr lvl="1" algn="l" rtl="0"/>
            <a:endParaRPr lang="en-US" sz="2400" dirty="0">
              <a:solidFill>
                <a:schemeClr val="tx1"/>
              </a:solidFill>
            </a:endParaRPr>
          </a:p>
          <a:p>
            <a:pPr algn="l" rtl="0"/>
            <a:r>
              <a:rPr lang="en-US" sz="2600" dirty="0">
                <a:solidFill>
                  <a:schemeClr val="tx1"/>
                </a:solidFill>
              </a:rPr>
              <a:t>Now, the resistance of lead (b) is part of resistor </a:t>
            </a:r>
            <a:r>
              <a:rPr lang="en-US" sz="2600" i="1" dirty="0">
                <a:solidFill>
                  <a:schemeClr val="tx1"/>
                </a:solidFill>
              </a:rPr>
              <a:t>R</a:t>
            </a:r>
            <a:r>
              <a:rPr lang="en-US" sz="2600" dirty="0">
                <a:solidFill>
                  <a:schemeClr val="tx1"/>
                </a:solidFill>
              </a:rPr>
              <a:t>4 and the resistance of lead (a) is part of remote resistor </a:t>
            </a:r>
            <a:r>
              <a:rPr lang="en-US" sz="2600" i="1" dirty="0">
                <a:solidFill>
                  <a:schemeClr val="tx1"/>
                </a:solidFill>
              </a:rPr>
              <a:t>R</a:t>
            </a:r>
            <a:r>
              <a:rPr lang="en-US" sz="2600" dirty="0">
                <a:solidFill>
                  <a:schemeClr val="tx1"/>
                </a:solidFill>
              </a:rPr>
              <a:t>2.</a:t>
            </a:r>
          </a:p>
          <a:p>
            <a:pPr algn="l" rtl="0"/>
            <a:endParaRPr lang="en-US" sz="2600" dirty="0">
              <a:solidFill>
                <a:schemeClr val="tx1"/>
              </a:solidFill>
            </a:endParaRPr>
          </a:p>
          <a:p>
            <a:pPr algn="l" rtl="0"/>
            <a:r>
              <a:rPr lang="en-US" sz="2600" dirty="0">
                <a:solidFill>
                  <a:schemeClr val="tx1"/>
                </a:solidFill>
              </a:rPr>
              <a:t>Since both leads have the same length with the same resistance and in the same environment, any changes in the resistance of the leads (due to </a:t>
            </a:r>
            <a:r>
              <a:rPr lang="en-US" sz="2600" dirty="0" err="1">
                <a:solidFill>
                  <a:schemeClr val="tx1"/>
                </a:solidFill>
              </a:rPr>
              <a:t>temperatue</a:t>
            </a:r>
            <a:r>
              <a:rPr lang="en-US" sz="2600" dirty="0">
                <a:solidFill>
                  <a:schemeClr val="tx1"/>
                </a:solidFill>
              </a:rPr>
              <a:t>) will cancel, keeping the bridge balanced.</a:t>
            </a:r>
          </a:p>
        </p:txBody>
      </p:sp>
      <p:sp>
        <p:nvSpPr>
          <p:cNvPr id="4" name="Slide Number Placeholder 3"/>
          <p:cNvSpPr>
            <a:spLocks noGrp="1"/>
          </p:cNvSpPr>
          <p:nvPr>
            <p:ph type="sldNum" sz="quarter" idx="12"/>
          </p:nvPr>
        </p:nvSpPr>
        <p:spPr/>
        <p:txBody>
          <a:bodyPr/>
          <a:lstStyle/>
          <a:p>
            <a:fld id="{930C522C-A1E4-4254-BFF3-9729D494B76C}" type="slidenum">
              <a:rPr lang="ar-EG" smtClean="0"/>
              <a:t>25</a:t>
            </a:fld>
            <a:endParaRPr lang="ar-EG"/>
          </a:p>
        </p:txBody>
      </p:sp>
      <p:sp>
        <p:nvSpPr>
          <p:cNvPr id="7" name="Title 1"/>
          <p:cNvSpPr>
            <a:spLocks noGrp="1"/>
          </p:cNvSpPr>
          <p:nvPr>
            <p:ph type="title"/>
          </p:nvPr>
        </p:nvSpPr>
        <p:spPr>
          <a:xfrm>
            <a:off x="251520" y="332656"/>
            <a:ext cx="7920880" cy="792088"/>
          </a:xfrm>
          <a:solidFill>
            <a:schemeClr val="accent1">
              <a:lumMod val="20000"/>
              <a:lumOff val="80000"/>
            </a:schemeClr>
          </a:solidFill>
        </p:spPr>
        <p:txBody>
          <a:bodyPr/>
          <a:lstStyle/>
          <a:p>
            <a:pPr rtl="0"/>
            <a:r>
              <a:rPr lang="en-US" dirty="0"/>
              <a:t>Three-lead (wire) compensation</a:t>
            </a:r>
            <a:endParaRPr lang="ar-EG" dirty="0"/>
          </a:p>
        </p:txBody>
      </p:sp>
    </p:spTree>
    <p:extLst>
      <p:ext uri="{BB962C8B-B14F-4D97-AF65-F5344CB8AC3E}">
        <p14:creationId xmlns:p14="http://schemas.microsoft.com/office/powerpoint/2010/main" val="3894408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p:spPr>
        <p:txBody>
          <a:bodyPr/>
          <a:lstStyle/>
          <a:p>
            <a:r>
              <a:rPr lang="en-US" sz="4200" b="1" dirty="0"/>
              <a:t>AC Bridge Circuits</a:t>
            </a:r>
            <a:endParaRPr lang="ar-EG" sz="4200" dirty="0"/>
          </a:p>
        </p:txBody>
      </p:sp>
      <p:sp>
        <p:nvSpPr>
          <p:cNvPr id="3" name="Content Placeholder 2"/>
          <p:cNvSpPr>
            <a:spLocks noGrp="1"/>
          </p:cNvSpPr>
          <p:nvPr>
            <p:ph idx="1"/>
          </p:nvPr>
        </p:nvSpPr>
        <p:spPr>
          <a:xfrm>
            <a:off x="457200" y="1700808"/>
            <a:ext cx="7715200" cy="4968552"/>
          </a:xfrm>
        </p:spPr>
        <p:txBody>
          <a:bodyPr>
            <a:normAutofit/>
          </a:bodyPr>
          <a:lstStyle/>
          <a:p>
            <a:pPr algn="l" rtl="0"/>
            <a:r>
              <a:rPr lang="en-US" dirty="0"/>
              <a:t>The basic concept of dc bridges can be extended to ac bridges.</a:t>
            </a:r>
          </a:p>
          <a:p>
            <a:pPr algn="l" rtl="0"/>
            <a:endParaRPr lang="en-US" dirty="0"/>
          </a:p>
          <a:p>
            <a:pPr algn="l" rtl="0"/>
            <a:r>
              <a:rPr lang="en-US" dirty="0"/>
              <a:t>In this case, the bridge supply is ac voltage, and hence ac meters are used and the resistive elements are replaced with impedances.</a:t>
            </a:r>
          </a:p>
          <a:p>
            <a:pPr algn="l" rtl="0"/>
            <a:r>
              <a:rPr lang="en-US" dirty="0"/>
              <a:t>Now, measurement of resistance, capacitance, inductance, or a combination of them can be achieved.</a:t>
            </a:r>
            <a:endParaRPr lang="en-GB" dirty="0"/>
          </a:p>
          <a:p>
            <a:pPr algn="l" rtl="0"/>
            <a:r>
              <a:rPr lang="en-US" dirty="0"/>
              <a:t>This type of setup can be used to measure small changes in capacitance as required in, e.g., the capacitive pressure sensor.</a:t>
            </a:r>
          </a:p>
          <a:p>
            <a:pPr algn="l" rtl="0"/>
            <a:r>
              <a:rPr lang="en-GB" b="0" i="0" u="none" strike="noStrike" baseline="0" dirty="0"/>
              <a:t>Measurements of inductance, capacitance, storage factor, loss factor etc. may be made conveniently and accurately by employing </a:t>
            </a:r>
            <a:r>
              <a:rPr lang="en-GB" b="0" i="0" u="none" strike="noStrike" baseline="0" dirty="0" err="1"/>
              <a:t>a.c.</a:t>
            </a:r>
            <a:r>
              <a:rPr lang="en-GB" b="0" i="0" u="none" strike="noStrike" baseline="0" dirty="0"/>
              <a:t> bridge networks.</a:t>
            </a:r>
            <a:endParaRPr lang="en-US" dirty="0"/>
          </a:p>
          <a:p>
            <a:pPr algn="l" rtl="0"/>
            <a:endParaRPr lang="en-US" dirty="0"/>
          </a:p>
        </p:txBody>
      </p:sp>
      <p:sp>
        <p:nvSpPr>
          <p:cNvPr id="4" name="Slide Number Placeholder 3"/>
          <p:cNvSpPr>
            <a:spLocks noGrp="1"/>
          </p:cNvSpPr>
          <p:nvPr>
            <p:ph type="sldNum" sz="quarter" idx="12"/>
          </p:nvPr>
        </p:nvSpPr>
        <p:spPr/>
        <p:txBody>
          <a:bodyPr/>
          <a:lstStyle/>
          <a:p>
            <a:fld id="{930C522C-A1E4-4254-BFF3-9729D494B76C}" type="slidenum">
              <a:rPr lang="ar-EG" smtClean="0"/>
              <a:t>26</a:t>
            </a:fld>
            <a:endParaRPr lang="ar-EG"/>
          </a:p>
        </p:txBody>
      </p:sp>
    </p:spTree>
    <p:extLst>
      <p:ext uri="{BB962C8B-B14F-4D97-AF65-F5344CB8AC3E}">
        <p14:creationId xmlns:p14="http://schemas.microsoft.com/office/powerpoint/2010/main" val="2297358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p:spPr>
        <p:txBody>
          <a:bodyPr/>
          <a:lstStyle/>
          <a:p>
            <a:r>
              <a:rPr lang="en-US" sz="4200" b="1" dirty="0"/>
              <a:t>AC Bridge Circuits</a:t>
            </a:r>
            <a:endParaRPr lang="ar-EG" sz="4200" dirty="0"/>
          </a:p>
        </p:txBody>
      </p:sp>
      <p:sp>
        <p:nvSpPr>
          <p:cNvPr id="4" name="Slide Number Placeholder 3"/>
          <p:cNvSpPr>
            <a:spLocks noGrp="1"/>
          </p:cNvSpPr>
          <p:nvPr>
            <p:ph type="sldNum" sz="quarter" idx="12"/>
          </p:nvPr>
        </p:nvSpPr>
        <p:spPr/>
        <p:txBody>
          <a:bodyPr/>
          <a:lstStyle/>
          <a:p>
            <a:fld id="{930C522C-A1E4-4254-BFF3-9729D494B76C}" type="slidenum">
              <a:rPr lang="ar-EG" smtClean="0"/>
              <a:t>27</a:t>
            </a:fld>
            <a:endParaRPr lang="ar-EG"/>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71799"/>
            <a:ext cx="7620000" cy="4057402"/>
          </a:xfrm>
        </p:spPr>
      </p:pic>
    </p:spTree>
    <p:extLst>
      <p:ext uri="{BB962C8B-B14F-4D97-AF65-F5344CB8AC3E}">
        <p14:creationId xmlns:p14="http://schemas.microsoft.com/office/powerpoint/2010/main" val="1970334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7620000" cy="6068144"/>
          </a:xfrm>
        </p:spPr>
        <p:txBody>
          <a:bodyPr/>
          <a:lstStyle/>
          <a:p>
            <a:pPr algn="l" rtl="0"/>
            <a:r>
              <a:rPr lang="en-US" dirty="0"/>
              <a:t>The voltage V</a:t>
            </a:r>
            <a:r>
              <a:rPr lang="en-US" baseline="-25000" dirty="0"/>
              <a:t>AC</a:t>
            </a:r>
            <a:r>
              <a:rPr lang="en-US" dirty="0"/>
              <a:t> is given by:</a:t>
            </a:r>
          </a:p>
          <a:p>
            <a:pPr algn="l" rtl="0"/>
            <a:endParaRPr lang="en-US" dirty="0"/>
          </a:p>
          <a:p>
            <a:pPr algn="l" rtl="0"/>
            <a:endParaRPr lang="en-US" dirty="0"/>
          </a:p>
          <a:p>
            <a:pPr algn="l" rtl="0"/>
            <a:endParaRPr lang="en-US" dirty="0"/>
          </a:p>
          <a:p>
            <a:pPr algn="l" rtl="0"/>
            <a:r>
              <a:rPr lang="en-US" dirty="0"/>
              <a:t>Where E is the ac supply voltage.</a:t>
            </a:r>
          </a:p>
          <a:p>
            <a:pPr algn="l" rtl="0"/>
            <a:r>
              <a:rPr lang="en-US" dirty="0"/>
              <a:t>When the bridge is balanced, V</a:t>
            </a:r>
            <a:r>
              <a:rPr lang="en-US" baseline="-25000" dirty="0"/>
              <a:t>AC </a:t>
            </a:r>
            <a:r>
              <a:rPr lang="en-US" dirty="0"/>
              <a:t>= 0, and:</a:t>
            </a:r>
          </a:p>
          <a:p>
            <a:pPr algn="l" rtl="0"/>
            <a:endParaRPr lang="en-US" dirty="0"/>
          </a:p>
          <a:p>
            <a:pPr algn="l" rtl="0"/>
            <a:endParaRPr lang="en-US" dirty="0"/>
          </a:p>
          <a:p>
            <a:pPr algn="l" rtl="0"/>
            <a:r>
              <a:rPr lang="en-US" dirty="0"/>
              <a:t>Or </a:t>
            </a:r>
          </a:p>
          <a:p>
            <a:pPr algn="l" rtl="0"/>
            <a:endParaRPr lang="en-US" dirty="0"/>
          </a:p>
          <a:p>
            <a:pPr algn="l" rtl="0"/>
            <a:endParaRPr lang="en-US" dirty="0"/>
          </a:p>
          <a:p>
            <a:pPr algn="l" rtl="0"/>
            <a:r>
              <a:rPr lang="en-US" dirty="0"/>
              <a:t>Because the real and imaginary parts must be independently equal</a:t>
            </a:r>
            <a:endParaRPr lang="ar-EG" dirty="0"/>
          </a:p>
        </p:txBody>
      </p:sp>
      <p:sp>
        <p:nvSpPr>
          <p:cNvPr id="4" name="Slide Number Placeholder 3"/>
          <p:cNvSpPr>
            <a:spLocks noGrp="1"/>
          </p:cNvSpPr>
          <p:nvPr>
            <p:ph type="sldNum" sz="quarter" idx="12"/>
          </p:nvPr>
        </p:nvSpPr>
        <p:spPr/>
        <p:txBody>
          <a:bodyPr/>
          <a:lstStyle/>
          <a:p>
            <a:fld id="{930C522C-A1E4-4254-BFF3-9729D494B76C}" type="slidenum">
              <a:rPr lang="ar-EG" smtClean="0"/>
              <a:t>28</a:t>
            </a:fld>
            <a:endParaRPr lang="ar-EG"/>
          </a:p>
        </p:txBody>
      </p:sp>
      <p:graphicFrame>
        <p:nvGraphicFramePr>
          <p:cNvPr id="5" name="Object 4"/>
          <p:cNvGraphicFramePr>
            <a:graphicFrameLocks noChangeAspect="1"/>
          </p:cNvGraphicFramePr>
          <p:nvPr>
            <p:extLst>
              <p:ext uri="{D42A27DB-BD31-4B8C-83A1-F6EECF244321}">
                <p14:modId xmlns:p14="http://schemas.microsoft.com/office/powerpoint/2010/main" val="3009856120"/>
              </p:ext>
            </p:extLst>
          </p:nvPr>
        </p:nvGraphicFramePr>
        <p:xfrm>
          <a:off x="3006725" y="1058863"/>
          <a:ext cx="2749550" cy="714375"/>
        </p:xfrm>
        <a:graphic>
          <a:graphicData uri="http://schemas.openxmlformats.org/presentationml/2006/ole">
            <mc:AlternateContent xmlns:mc="http://schemas.openxmlformats.org/markup-compatibility/2006">
              <mc:Choice xmlns:v="urn:schemas-microsoft-com:vml" Requires="v">
                <p:oleObj name="Equation" r:id="rId2" imgW="1663560" imgH="431640" progId="Equation.3">
                  <p:embed/>
                </p:oleObj>
              </mc:Choice>
              <mc:Fallback>
                <p:oleObj name="Equation" r:id="rId2" imgW="1663560" imgH="431640" progId="Equation.3">
                  <p:embed/>
                  <p:pic>
                    <p:nvPicPr>
                      <p:cNvPr id="5" name="Object 4"/>
                      <p:cNvPicPr>
                        <a:picLocks noChangeAspect="1" noChangeArrowheads="1"/>
                      </p:cNvPicPr>
                      <p:nvPr/>
                    </p:nvPicPr>
                    <p:blipFill>
                      <a:blip r:embed="rId3"/>
                      <a:srcRect/>
                      <a:stretch>
                        <a:fillRect/>
                      </a:stretch>
                    </p:blipFill>
                    <p:spPr bwMode="auto">
                      <a:xfrm>
                        <a:off x="3006725" y="1058863"/>
                        <a:ext cx="27495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864828841"/>
              </p:ext>
            </p:extLst>
          </p:nvPr>
        </p:nvGraphicFramePr>
        <p:xfrm>
          <a:off x="3690938" y="2979167"/>
          <a:ext cx="1279525" cy="377825"/>
        </p:xfrm>
        <a:graphic>
          <a:graphicData uri="http://schemas.openxmlformats.org/presentationml/2006/ole">
            <mc:AlternateContent xmlns:mc="http://schemas.openxmlformats.org/markup-compatibility/2006">
              <mc:Choice xmlns:v="urn:schemas-microsoft-com:vml" Requires="v">
                <p:oleObj name="Equation" r:id="rId4" imgW="774360" imgH="228600" progId="Equation.3">
                  <p:embed/>
                </p:oleObj>
              </mc:Choice>
              <mc:Fallback>
                <p:oleObj name="Equation" r:id="rId4" imgW="774360" imgH="228600" progId="Equation.3">
                  <p:embed/>
                  <p:pic>
                    <p:nvPicPr>
                      <p:cNvPr id="7" name="Object 6"/>
                      <p:cNvPicPr>
                        <a:picLocks noChangeAspect="1" noChangeArrowheads="1"/>
                      </p:cNvPicPr>
                      <p:nvPr/>
                    </p:nvPicPr>
                    <p:blipFill>
                      <a:blip r:embed="rId5"/>
                      <a:srcRect/>
                      <a:stretch>
                        <a:fillRect/>
                      </a:stretch>
                    </p:blipFill>
                    <p:spPr bwMode="auto">
                      <a:xfrm>
                        <a:off x="3690938" y="2979167"/>
                        <a:ext cx="12795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006766933"/>
              </p:ext>
            </p:extLst>
          </p:nvPr>
        </p:nvGraphicFramePr>
        <p:xfrm>
          <a:off x="2628900" y="3712195"/>
          <a:ext cx="3440113" cy="796925"/>
        </p:xfrm>
        <a:graphic>
          <a:graphicData uri="http://schemas.openxmlformats.org/presentationml/2006/ole">
            <mc:AlternateContent xmlns:mc="http://schemas.openxmlformats.org/markup-compatibility/2006">
              <mc:Choice xmlns:v="urn:schemas-microsoft-com:vml" Requires="v">
                <p:oleObj name="Equation" r:id="rId6" imgW="2082600" imgH="482400" progId="Equation.3">
                  <p:embed/>
                </p:oleObj>
              </mc:Choice>
              <mc:Fallback>
                <p:oleObj name="Equation" r:id="rId6" imgW="2082600" imgH="482400" progId="Equation.3">
                  <p:embed/>
                  <p:pic>
                    <p:nvPicPr>
                      <p:cNvPr id="8" name="Object 7"/>
                      <p:cNvPicPr>
                        <a:picLocks noChangeAspect="1" noChangeArrowheads="1"/>
                      </p:cNvPicPr>
                      <p:nvPr/>
                    </p:nvPicPr>
                    <p:blipFill>
                      <a:blip r:embed="rId7"/>
                      <a:srcRect/>
                      <a:stretch>
                        <a:fillRect/>
                      </a:stretch>
                    </p:blipFill>
                    <p:spPr bwMode="auto">
                      <a:xfrm>
                        <a:off x="2628900" y="3712195"/>
                        <a:ext cx="3440113"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732084119"/>
              </p:ext>
            </p:extLst>
          </p:nvPr>
        </p:nvGraphicFramePr>
        <p:xfrm>
          <a:off x="3490972" y="5517232"/>
          <a:ext cx="1585084" cy="936104"/>
        </p:xfrm>
        <a:graphic>
          <a:graphicData uri="http://schemas.openxmlformats.org/presentationml/2006/ole">
            <mc:AlternateContent xmlns:mc="http://schemas.openxmlformats.org/markup-compatibility/2006">
              <mc:Choice xmlns:v="urn:schemas-microsoft-com:vml" Requires="v">
                <p:oleObj name="Equation" r:id="rId8" imgW="774360" imgH="457200" progId="Equation.3">
                  <p:embed/>
                </p:oleObj>
              </mc:Choice>
              <mc:Fallback>
                <p:oleObj name="Equation" r:id="rId8" imgW="774360" imgH="457200" progId="Equation.3">
                  <p:embed/>
                  <p:pic>
                    <p:nvPicPr>
                      <p:cNvPr id="9" name="Object 8"/>
                      <p:cNvPicPr>
                        <a:picLocks noChangeAspect="1" noChangeArrowheads="1"/>
                      </p:cNvPicPr>
                      <p:nvPr/>
                    </p:nvPicPr>
                    <p:blipFill>
                      <a:blip r:embed="rId9"/>
                      <a:srcRect/>
                      <a:stretch>
                        <a:fillRect/>
                      </a:stretch>
                    </p:blipFill>
                    <p:spPr bwMode="auto">
                      <a:xfrm>
                        <a:off x="3490972" y="5517232"/>
                        <a:ext cx="1585084" cy="93610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13612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dirty="0"/>
              <a:t>Example </a:t>
            </a:r>
            <a:endParaRPr lang="ar-EG" dirty="0"/>
          </a:p>
        </p:txBody>
      </p:sp>
      <p:sp>
        <p:nvSpPr>
          <p:cNvPr id="3" name="Content Placeholder 2"/>
          <p:cNvSpPr>
            <a:spLocks noGrp="1"/>
          </p:cNvSpPr>
          <p:nvPr>
            <p:ph idx="1"/>
          </p:nvPr>
        </p:nvSpPr>
        <p:spPr/>
        <p:txBody>
          <a:bodyPr>
            <a:normAutofit/>
          </a:bodyPr>
          <a:lstStyle/>
          <a:p>
            <a:pPr marL="114300" indent="0" algn="l" rtl="0">
              <a:buNone/>
            </a:pPr>
            <a:r>
              <a:rPr lang="en-US" dirty="0"/>
              <a:t>If the previous ac bridge circuit is balanced, with R</a:t>
            </a:r>
            <a:r>
              <a:rPr lang="en-US" baseline="-25000" dirty="0"/>
              <a:t>1</a:t>
            </a:r>
            <a:r>
              <a:rPr lang="en-US" dirty="0"/>
              <a:t> = 15 kΩ, R</a:t>
            </a:r>
            <a:r>
              <a:rPr lang="en-US" baseline="-25000" dirty="0"/>
              <a:t>2</a:t>
            </a:r>
            <a:r>
              <a:rPr lang="en-US" dirty="0"/>
              <a:t> = 27 kΩ, R</a:t>
            </a:r>
            <a:r>
              <a:rPr lang="en-US" baseline="-25000" dirty="0"/>
              <a:t>3</a:t>
            </a:r>
            <a:r>
              <a:rPr lang="en-US" dirty="0"/>
              <a:t> = 18 kΩ, and C</a:t>
            </a:r>
            <a:r>
              <a:rPr lang="en-US" baseline="-25000" dirty="0"/>
              <a:t>1</a:t>
            </a:r>
            <a:r>
              <a:rPr lang="en-US" dirty="0"/>
              <a:t> = 220 pF, what are the values of R</a:t>
            </a:r>
            <a:r>
              <a:rPr lang="en-US" baseline="-25000" dirty="0"/>
              <a:t>4</a:t>
            </a:r>
            <a:r>
              <a:rPr lang="en-US" dirty="0"/>
              <a:t> and C</a:t>
            </a:r>
            <a:r>
              <a:rPr lang="en-US" baseline="-25000" dirty="0"/>
              <a:t>2</a:t>
            </a:r>
            <a:r>
              <a:rPr lang="en-US" dirty="0"/>
              <a:t>?</a:t>
            </a:r>
          </a:p>
          <a:p>
            <a:pPr marL="114300" indent="0" algn="l" rtl="0">
              <a:buNone/>
            </a:pPr>
            <a:r>
              <a:rPr lang="en-US" dirty="0"/>
              <a:t>				</a:t>
            </a:r>
          </a:p>
          <a:p>
            <a:pPr marL="114300" indent="0" algn="l" rtl="0">
              <a:buNone/>
            </a:pPr>
            <a:r>
              <a:rPr lang="en-US" dirty="0"/>
              <a:t>			</a:t>
            </a:r>
          </a:p>
          <a:p>
            <a:pPr marL="114300" indent="0" algn="l" rtl="0">
              <a:buNone/>
            </a:pPr>
            <a:endParaRPr lang="en-US" dirty="0"/>
          </a:p>
          <a:p>
            <a:pPr marL="114300" indent="0" algn="l" rtl="0">
              <a:buNone/>
            </a:pPr>
            <a:r>
              <a:rPr lang="en-US" dirty="0"/>
              <a:t>			</a:t>
            </a:r>
            <a:r>
              <a:rPr lang="en-US" i="1" dirty="0"/>
              <a:t>R</a:t>
            </a:r>
            <a:r>
              <a:rPr lang="en-US" baseline="-25000" dirty="0"/>
              <a:t>4</a:t>
            </a:r>
            <a:r>
              <a:rPr lang="en-US" dirty="0"/>
              <a:t> = 27 × 18/15 = 32.4 kΩ</a:t>
            </a:r>
          </a:p>
          <a:p>
            <a:pPr marL="114300" indent="0" algn="l" rtl="0">
              <a:buNone/>
            </a:pPr>
            <a:endParaRPr lang="en-US" dirty="0"/>
          </a:p>
          <a:p>
            <a:pPr marL="114300" indent="0" algn="l" rtl="0">
              <a:buNone/>
            </a:pPr>
            <a:r>
              <a:rPr lang="en-US" dirty="0"/>
              <a:t>Additionally,</a:t>
            </a:r>
          </a:p>
          <a:p>
            <a:pPr marL="114300" indent="0" algn="l" rtl="0">
              <a:buNone/>
            </a:pPr>
            <a:r>
              <a:rPr lang="en-US" i="1" dirty="0"/>
              <a:t>			</a:t>
            </a:r>
          </a:p>
          <a:p>
            <a:pPr marL="114300" indent="0" algn="l" rtl="0">
              <a:buNone/>
            </a:pPr>
            <a:endParaRPr lang="en-US" dirty="0"/>
          </a:p>
          <a:p>
            <a:pPr marL="114300" indent="0" algn="l" rtl="0">
              <a:buNone/>
            </a:pPr>
            <a:r>
              <a:rPr lang="en-US" dirty="0"/>
              <a:t>			</a:t>
            </a:r>
            <a:r>
              <a:rPr lang="en-US" i="1" dirty="0"/>
              <a:t>C</a:t>
            </a:r>
            <a:r>
              <a:rPr lang="en-US" baseline="-25000" dirty="0"/>
              <a:t>2</a:t>
            </a:r>
            <a:r>
              <a:rPr lang="en-US" dirty="0"/>
              <a:t> = 220 × 15/27 = 122 pF</a:t>
            </a:r>
            <a:endParaRPr lang="ar-EG" dirty="0"/>
          </a:p>
        </p:txBody>
      </p:sp>
      <p:sp>
        <p:nvSpPr>
          <p:cNvPr id="4" name="Slide Number Placeholder 3"/>
          <p:cNvSpPr>
            <a:spLocks noGrp="1"/>
          </p:cNvSpPr>
          <p:nvPr>
            <p:ph type="sldNum" sz="quarter" idx="12"/>
          </p:nvPr>
        </p:nvSpPr>
        <p:spPr/>
        <p:txBody>
          <a:bodyPr/>
          <a:lstStyle/>
          <a:p>
            <a:fld id="{930C522C-A1E4-4254-BFF3-9729D494B76C}" type="slidenum">
              <a:rPr lang="ar-EG" smtClean="0"/>
              <a:t>29</a:t>
            </a:fld>
            <a:endParaRPr lang="ar-EG"/>
          </a:p>
        </p:txBody>
      </p:sp>
      <p:graphicFrame>
        <p:nvGraphicFramePr>
          <p:cNvPr id="5" name="Object 4"/>
          <p:cNvGraphicFramePr>
            <a:graphicFrameLocks noChangeAspect="1"/>
          </p:cNvGraphicFramePr>
          <p:nvPr>
            <p:extLst>
              <p:ext uri="{D42A27DB-BD31-4B8C-83A1-F6EECF244321}">
                <p14:modId xmlns:p14="http://schemas.microsoft.com/office/powerpoint/2010/main" val="686720089"/>
              </p:ext>
            </p:extLst>
          </p:nvPr>
        </p:nvGraphicFramePr>
        <p:xfrm>
          <a:off x="3419872" y="3140968"/>
          <a:ext cx="1585913" cy="468313"/>
        </p:xfrm>
        <a:graphic>
          <a:graphicData uri="http://schemas.openxmlformats.org/presentationml/2006/ole">
            <mc:AlternateContent xmlns:mc="http://schemas.openxmlformats.org/markup-compatibility/2006">
              <mc:Choice xmlns:v="urn:schemas-microsoft-com:vml" Requires="v">
                <p:oleObj name="Equation" r:id="rId2" imgW="774360" imgH="228600" progId="Equation.3">
                  <p:embed/>
                </p:oleObj>
              </mc:Choice>
              <mc:Fallback>
                <p:oleObj name="Equation" r:id="rId2" imgW="774360" imgH="228600" progId="Equation.3">
                  <p:embed/>
                  <p:pic>
                    <p:nvPicPr>
                      <p:cNvPr id="5" name="Object 4"/>
                      <p:cNvPicPr>
                        <a:picLocks noChangeAspect="1" noChangeArrowheads="1"/>
                      </p:cNvPicPr>
                      <p:nvPr/>
                    </p:nvPicPr>
                    <p:blipFill>
                      <a:blip r:embed="rId3"/>
                      <a:srcRect/>
                      <a:stretch>
                        <a:fillRect/>
                      </a:stretch>
                    </p:blipFill>
                    <p:spPr bwMode="auto">
                      <a:xfrm>
                        <a:off x="3419872" y="3140968"/>
                        <a:ext cx="158591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341511945"/>
              </p:ext>
            </p:extLst>
          </p:nvPr>
        </p:nvGraphicFramePr>
        <p:xfrm>
          <a:off x="3361512" y="5057888"/>
          <a:ext cx="1585913" cy="442913"/>
        </p:xfrm>
        <a:graphic>
          <a:graphicData uri="http://schemas.openxmlformats.org/presentationml/2006/ole">
            <mc:AlternateContent xmlns:mc="http://schemas.openxmlformats.org/markup-compatibility/2006">
              <mc:Choice xmlns:v="urn:schemas-microsoft-com:vml" Requires="v">
                <p:oleObj name="Equation" r:id="rId4" imgW="774360" imgH="215640" progId="Equation.3">
                  <p:embed/>
                </p:oleObj>
              </mc:Choice>
              <mc:Fallback>
                <p:oleObj name="Equation" r:id="rId4" imgW="774360" imgH="215640" progId="Equation.3">
                  <p:embed/>
                  <p:pic>
                    <p:nvPicPr>
                      <p:cNvPr id="6" name="Object 5"/>
                      <p:cNvPicPr>
                        <a:picLocks noChangeAspect="1" noChangeArrowheads="1"/>
                      </p:cNvPicPr>
                      <p:nvPr/>
                    </p:nvPicPr>
                    <p:blipFill>
                      <a:blip r:embed="rId5"/>
                      <a:srcRect/>
                      <a:stretch>
                        <a:fillRect/>
                      </a:stretch>
                    </p:blipFill>
                    <p:spPr bwMode="auto">
                      <a:xfrm>
                        <a:off x="3361512" y="5057888"/>
                        <a:ext cx="1585913"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95738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2E6D-E37B-47E8-A6B2-414B3D974617}"/>
              </a:ext>
            </a:extLst>
          </p:cNvPr>
          <p:cNvSpPr>
            <a:spLocks noGrp="1"/>
          </p:cNvSpPr>
          <p:nvPr>
            <p:ph type="title"/>
          </p:nvPr>
        </p:nvSpPr>
        <p:spPr/>
        <p:txBody>
          <a:bodyPr/>
          <a:lstStyle/>
          <a:p>
            <a:r>
              <a:rPr lang="en-GB" dirty="0"/>
              <a:t>Example 2</a:t>
            </a:r>
            <a:endParaRPr lang="en-BW" dirty="0"/>
          </a:p>
        </p:txBody>
      </p:sp>
      <p:sp>
        <p:nvSpPr>
          <p:cNvPr id="3" name="Content Placeholder 2">
            <a:extLst>
              <a:ext uri="{FF2B5EF4-FFF2-40B4-BE49-F238E27FC236}">
                <a16:creationId xmlns:a16="http://schemas.microsoft.com/office/drawing/2014/main" id="{B73C2446-EA0E-4AAF-BA01-C4D65F81822C}"/>
              </a:ext>
            </a:extLst>
          </p:cNvPr>
          <p:cNvSpPr>
            <a:spLocks noGrp="1"/>
          </p:cNvSpPr>
          <p:nvPr>
            <p:ph idx="1"/>
          </p:nvPr>
        </p:nvSpPr>
        <p:spPr/>
        <p:txBody>
          <a:bodyPr/>
          <a:lstStyle/>
          <a:p>
            <a:pPr algn="l"/>
            <a:r>
              <a:rPr lang="en-GB" sz="1800" b="0" i="0" u="none" strike="noStrike" baseline="0" dirty="0">
                <a:latin typeface="Times New Roman" panose="02020603050405020304" pitchFamily="18" charset="0"/>
              </a:rPr>
              <a:t>An </a:t>
            </a:r>
            <a:r>
              <a:rPr lang="en-GB" sz="1800" b="0" i="0" u="none" strike="noStrike" baseline="0" dirty="0" err="1">
                <a:latin typeface="Times New Roman" panose="02020603050405020304" pitchFamily="18" charset="0"/>
              </a:rPr>
              <a:t>a.c</a:t>
            </a:r>
            <a:r>
              <a:rPr lang="en-GB" sz="1800" dirty="0">
                <a:latin typeface="Times New Roman" panose="02020603050405020304" pitchFamily="18" charset="0"/>
              </a:rPr>
              <a:t> </a:t>
            </a:r>
            <a:r>
              <a:rPr lang="en-GB" sz="1800" b="0" i="0" u="none" strike="noStrike" baseline="0" dirty="0">
                <a:latin typeface="Times New Roman" panose="02020603050405020304" pitchFamily="18" charset="0"/>
              </a:rPr>
              <a:t>bridge circuit working at 1000 Hz is shown in Fig. </a:t>
            </a:r>
            <a:r>
              <a:rPr lang="en-GB" sz="1800" dirty="0">
                <a:latin typeface="Times New Roman" panose="02020603050405020304" pitchFamily="18" charset="0"/>
              </a:rPr>
              <a:t>below</a:t>
            </a:r>
            <a:r>
              <a:rPr lang="en-GB" sz="1800" b="0" i="0" u="none" strike="noStrike" baseline="0" dirty="0">
                <a:latin typeface="Times New Roman" panose="02020603050405020304" pitchFamily="18" charset="0"/>
              </a:rPr>
              <a:t>. Arm </a:t>
            </a:r>
            <a:r>
              <a:rPr lang="en-GB" sz="1800" b="0" i="1" u="none" strike="noStrike" baseline="0" dirty="0">
                <a:latin typeface="Times New Roman" panose="02020603050405020304" pitchFamily="18" charset="0"/>
              </a:rPr>
              <a:t>ab </a:t>
            </a:r>
            <a:r>
              <a:rPr lang="en-GB" sz="1800" b="0" i="0" u="none" strike="noStrike" baseline="0" dirty="0">
                <a:latin typeface="Times New Roman" panose="02020603050405020304" pitchFamily="18" charset="0"/>
              </a:rPr>
              <a:t>is </a:t>
            </a:r>
            <a:r>
              <a:rPr lang="en-GB" sz="1800" b="0" i="0" u="none" strike="noStrike" baseline="0" dirty="0">
                <a:latin typeface="Arial" panose="020B0604020202020204" pitchFamily="34" charset="0"/>
              </a:rPr>
              <a:t>a </a:t>
            </a:r>
            <a:r>
              <a:rPr lang="en-GB" sz="1800" b="0" i="0" u="none" strike="noStrike" baseline="0" dirty="0">
                <a:latin typeface="Times New Roman" panose="02020603050405020304" pitchFamily="18" charset="0"/>
              </a:rPr>
              <a:t>0.2 </a:t>
            </a:r>
            <a:r>
              <a:rPr lang="en-GB" sz="1800" b="0" i="0" u="none" strike="noStrike" baseline="0" dirty="0" err="1">
                <a:latin typeface="Times New Roman" panose="02020603050405020304" pitchFamily="18" charset="0"/>
              </a:rPr>
              <a:t>μF</a:t>
            </a:r>
            <a:r>
              <a:rPr lang="en-GB" sz="1800" b="0" i="0" u="none" strike="noStrike" baseline="0" dirty="0">
                <a:latin typeface="Times New Roman" panose="02020603050405020304" pitchFamily="18" charset="0"/>
              </a:rPr>
              <a:t> pure capacitance ; arm </a:t>
            </a:r>
            <a:r>
              <a:rPr lang="en-GB" sz="1800" b="0" i="1" u="none" strike="noStrike" baseline="0" dirty="0">
                <a:latin typeface="Times New Roman" panose="02020603050405020304" pitchFamily="18" charset="0"/>
              </a:rPr>
              <a:t>be </a:t>
            </a:r>
            <a:r>
              <a:rPr lang="en-GB" sz="1800" b="0" i="0" u="none" strike="noStrike" baseline="0" dirty="0">
                <a:latin typeface="Times New Roman" panose="02020603050405020304" pitchFamily="18" charset="0"/>
              </a:rPr>
              <a:t>is a 500</a:t>
            </a:r>
            <a:r>
              <a:rPr lang="el-GR" sz="1800" b="0" i="0" u="none" strike="noStrike" baseline="0" dirty="0">
                <a:latin typeface="Times New Roman" panose="02020603050405020304" pitchFamily="18" charset="0"/>
              </a:rPr>
              <a:t>Ω</a:t>
            </a:r>
            <a:r>
              <a:rPr lang="en-GB" sz="1800" b="0" i="0" u="none" strike="noStrike" baseline="0" dirty="0">
                <a:latin typeface="Arial" panose="020B0604020202020204" pitchFamily="34" charset="0"/>
              </a:rPr>
              <a:t> </a:t>
            </a:r>
            <a:r>
              <a:rPr lang="en-GB" sz="1800" b="0" i="0" u="none" strike="noStrike" baseline="0" dirty="0">
                <a:latin typeface="Times New Roman" panose="02020603050405020304" pitchFamily="18" charset="0"/>
              </a:rPr>
              <a:t>pure resistance ; arm </a:t>
            </a:r>
            <a:r>
              <a:rPr lang="en-GB" sz="1800" b="0" i="1" u="none" strike="noStrike" baseline="0" dirty="0">
                <a:latin typeface="Times New Roman" panose="02020603050405020304" pitchFamily="18" charset="0"/>
              </a:rPr>
              <a:t>cd </a:t>
            </a:r>
            <a:r>
              <a:rPr lang="en-GB" sz="1800" b="0" i="0" u="none" strike="noStrike" baseline="0" dirty="0">
                <a:latin typeface="Times New Roman" panose="02020603050405020304" pitchFamily="18" charset="0"/>
              </a:rPr>
              <a:t>contains </a:t>
            </a:r>
            <a:r>
              <a:rPr lang="en-GB" sz="1800" b="0" i="0" u="none" strike="noStrike" baseline="0" dirty="0">
                <a:latin typeface="Arial" panose="020B0604020202020204" pitchFamily="34" charset="0"/>
              </a:rPr>
              <a:t>an </a:t>
            </a:r>
            <a:r>
              <a:rPr lang="en-GB" sz="1800" b="0" i="0" u="none" strike="noStrike" baseline="0" dirty="0">
                <a:latin typeface="Times New Roman" panose="02020603050405020304" pitchFamily="18" charset="0"/>
              </a:rPr>
              <a:t>unknown impedance and arm </a:t>
            </a:r>
            <a:r>
              <a:rPr lang="en-GB" sz="1800" b="0" i="1" u="none" strike="noStrike" baseline="0" dirty="0">
                <a:latin typeface="Times New Roman" panose="02020603050405020304" pitchFamily="18" charset="0"/>
              </a:rPr>
              <a:t>da </a:t>
            </a:r>
            <a:r>
              <a:rPr lang="en-GB" sz="1800" b="0" i="0" u="none" strike="noStrike" baseline="0" dirty="0">
                <a:latin typeface="Times New Roman" panose="02020603050405020304" pitchFamily="18" charset="0"/>
              </a:rPr>
              <a:t>has a 300</a:t>
            </a:r>
            <a:r>
              <a:rPr lang="el-GR" sz="1800" b="0" i="0" u="none" strike="noStrike" baseline="0" dirty="0">
                <a:latin typeface="Times New Roman" panose="02020603050405020304" pitchFamily="18" charset="0"/>
              </a:rPr>
              <a:t>Ω</a:t>
            </a:r>
            <a:r>
              <a:rPr lang="en-GB" sz="1800" b="0" i="0" u="none" strike="noStrike" baseline="0" dirty="0">
                <a:latin typeface="Arial" panose="020B0604020202020204" pitchFamily="34" charset="0"/>
              </a:rPr>
              <a:t> </a:t>
            </a:r>
            <a:r>
              <a:rPr lang="en-GB" sz="1800" b="0" i="0" u="none" strike="noStrike" baseline="0" dirty="0">
                <a:latin typeface="Times New Roman" panose="02020603050405020304" pitchFamily="18" charset="0"/>
              </a:rPr>
              <a:t>resistance in parallel with a 0.1 </a:t>
            </a:r>
            <a:r>
              <a:rPr lang="en-GB" sz="1800" b="0" i="0" u="none" strike="noStrike" baseline="0" dirty="0" err="1">
                <a:latin typeface="Times New Roman" panose="02020603050405020304" pitchFamily="18" charset="0"/>
              </a:rPr>
              <a:t>μF</a:t>
            </a:r>
            <a:r>
              <a:rPr lang="en-GB" sz="1800" b="0" i="0" u="none" strike="noStrike" baseline="0" dirty="0">
                <a:latin typeface="Times New Roman" panose="02020603050405020304" pitchFamily="18" charset="0"/>
              </a:rPr>
              <a:t> capacitor. Find the R  and </a:t>
            </a:r>
            <a:r>
              <a:rPr lang="en-GB" sz="1800" b="0" i="1" u="none" strike="noStrike" baseline="0" dirty="0">
                <a:latin typeface="Times New Roman" panose="02020603050405020304" pitchFamily="18" charset="0"/>
              </a:rPr>
              <a:t>c </a:t>
            </a:r>
            <a:r>
              <a:rPr lang="en-GB" sz="1800" b="0" i="0" u="none" strike="noStrike" baseline="0" dirty="0">
                <a:latin typeface="Times New Roman" panose="02020603050405020304" pitchFamily="18" charset="0"/>
              </a:rPr>
              <a:t>or </a:t>
            </a:r>
            <a:r>
              <a:rPr lang="en-GB" sz="1800" b="0" i="1" u="none" strike="noStrike" baseline="0" dirty="0">
                <a:latin typeface="Times New Roman" panose="02020603050405020304" pitchFamily="18" charset="0"/>
              </a:rPr>
              <a:t>L </a:t>
            </a:r>
            <a:r>
              <a:rPr lang="en-GB" sz="1800" b="0" i="0" u="none" strike="noStrike" baseline="0" dirty="0">
                <a:latin typeface="Times New Roman" panose="02020603050405020304" pitchFamily="18" charset="0"/>
              </a:rPr>
              <a:t>constants of arm </a:t>
            </a:r>
            <a:r>
              <a:rPr lang="en-GB" sz="1800" b="0" i="1" u="none" strike="noStrike" baseline="0" dirty="0">
                <a:latin typeface="Times New Roman" panose="02020603050405020304" pitchFamily="18" charset="0"/>
              </a:rPr>
              <a:t>cd </a:t>
            </a:r>
            <a:r>
              <a:rPr lang="en-GB" sz="1800" b="0" i="0" u="none" strike="noStrike" baseline="0" dirty="0">
                <a:latin typeface="Times New Roman" panose="02020603050405020304" pitchFamily="18" charset="0"/>
              </a:rPr>
              <a:t>considering it as a series circuit </a:t>
            </a:r>
          </a:p>
          <a:p>
            <a:pPr algn="l"/>
            <a:endParaRPr lang="en-GB" sz="1800" dirty="0">
              <a:latin typeface="Times New Roman" panose="02020603050405020304" pitchFamily="18" charset="0"/>
            </a:endParaRPr>
          </a:p>
          <a:p>
            <a:pPr algn="l"/>
            <a:endParaRPr lang="en-GB" sz="1800" dirty="0">
              <a:latin typeface="Times New Roman" panose="02020603050405020304" pitchFamily="18" charset="0"/>
            </a:endParaRPr>
          </a:p>
          <a:p>
            <a:pPr algn="l"/>
            <a:endParaRPr lang="en-GB" sz="1800" b="0" i="0" u="none" strike="noStrike" baseline="0" dirty="0">
              <a:latin typeface="Times New Roman" panose="02020603050405020304" pitchFamily="18" charset="0"/>
            </a:endParaRPr>
          </a:p>
          <a:p>
            <a:pPr algn="l"/>
            <a:endParaRPr lang="en-GB" sz="1800" dirty="0">
              <a:latin typeface="Times New Roman" panose="02020603050405020304" pitchFamily="18" charset="0"/>
            </a:endParaRPr>
          </a:p>
          <a:p>
            <a:pPr algn="l"/>
            <a:endParaRPr lang="en-BW" dirty="0"/>
          </a:p>
        </p:txBody>
      </p:sp>
      <p:sp>
        <p:nvSpPr>
          <p:cNvPr id="4" name="Slide Number Placeholder 3">
            <a:extLst>
              <a:ext uri="{FF2B5EF4-FFF2-40B4-BE49-F238E27FC236}">
                <a16:creationId xmlns:a16="http://schemas.microsoft.com/office/drawing/2014/main" id="{1A03C904-791C-432E-AC87-7BC29388B534}"/>
              </a:ext>
            </a:extLst>
          </p:cNvPr>
          <p:cNvSpPr>
            <a:spLocks noGrp="1"/>
          </p:cNvSpPr>
          <p:nvPr>
            <p:ph type="sldNum" sz="quarter" idx="12"/>
          </p:nvPr>
        </p:nvSpPr>
        <p:spPr/>
        <p:txBody>
          <a:bodyPr/>
          <a:lstStyle/>
          <a:p>
            <a:fld id="{930C522C-A1E4-4254-BFF3-9729D494B76C}" type="slidenum">
              <a:rPr lang="ar-EG" smtClean="0"/>
              <a:t>30</a:t>
            </a:fld>
            <a:endParaRPr lang="ar-EG"/>
          </a:p>
        </p:txBody>
      </p:sp>
      <p:pic>
        <p:nvPicPr>
          <p:cNvPr id="6" name="Picture 5">
            <a:extLst>
              <a:ext uri="{FF2B5EF4-FFF2-40B4-BE49-F238E27FC236}">
                <a16:creationId xmlns:a16="http://schemas.microsoft.com/office/drawing/2014/main" id="{DDAFCC5E-4BD4-4A93-BC05-3DD3E86B327D}"/>
              </a:ext>
            </a:extLst>
          </p:cNvPr>
          <p:cNvPicPr>
            <a:picLocks noChangeAspect="1"/>
          </p:cNvPicPr>
          <p:nvPr/>
        </p:nvPicPr>
        <p:blipFill>
          <a:blip r:embed="rId2"/>
          <a:stretch>
            <a:fillRect/>
          </a:stretch>
        </p:blipFill>
        <p:spPr>
          <a:xfrm>
            <a:off x="2915816" y="2852936"/>
            <a:ext cx="4248472" cy="3937570"/>
          </a:xfrm>
          <a:prstGeom prst="rect">
            <a:avLst/>
          </a:prstGeom>
        </p:spPr>
      </p:pic>
    </p:spTree>
    <p:extLst>
      <p:ext uri="{BB962C8B-B14F-4D97-AF65-F5344CB8AC3E}">
        <p14:creationId xmlns:p14="http://schemas.microsoft.com/office/powerpoint/2010/main" val="38128602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3704</TotalTime>
  <Words>1903</Words>
  <Application>Microsoft Office PowerPoint</Application>
  <PresentationFormat>On-screen Show (4:3)</PresentationFormat>
  <Paragraphs>231</Paragraphs>
  <Slides>30</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0" baseType="lpstr">
      <vt:lpstr>Arial</vt:lpstr>
      <vt:lpstr>Calibri</vt:lpstr>
      <vt:lpstr>Cambria</vt:lpstr>
      <vt:lpstr>Courier New</vt:lpstr>
      <vt:lpstr>Times New Roman</vt:lpstr>
      <vt:lpstr>Times-Roman</vt:lpstr>
      <vt:lpstr>Trebuchet MS</vt:lpstr>
      <vt:lpstr>Wingdings 3</vt:lpstr>
      <vt:lpstr>Adjacency</vt:lpstr>
      <vt:lpstr>Equation</vt:lpstr>
      <vt:lpstr>  Bridge Circuits</vt:lpstr>
      <vt:lpstr>Introduction </vt:lpstr>
      <vt:lpstr>Voltage Divider</vt:lpstr>
      <vt:lpstr>Voltage Divider</vt:lpstr>
      <vt:lpstr>Example</vt:lpstr>
      <vt:lpstr>Problem 3</vt:lpstr>
      <vt:lpstr>Problem 3</vt:lpstr>
      <vt:lpstr>DC Bridge Circuits</vt:lpstr>
      <vt:lpstr>Wheatstone Bridge</vt:lpstr>
      <vt:lpstr>Balancing the bridge</vt:lpstr>
      <vt:lpstr>Balancing the bridge</vt:lpstr>
      <vt:lpstr>Null vs. Deflection-type Bridge Circuits</vt:lpstr>
      <vt:lpstr>PowerPoint Presentation</vt:lpstr>
      <vt:lpstr>Example </vt:lpstr>
      <vt:lpstr>Solution</vt:lpstr>
      <vt:lpstr>PowerPoint Presentation</vt:lpstr>
      <vt:lpstr>Example 2</vt:lpstr>
      <vt:lpstr>Solution </vt:lpstr>
      <vt:lpstr>Bridge linearity</vt:lpstr>
      <vt:lpstr>Bridge linearity</vt:lpstr>
      <vt:lpstr>Temperature compensation </vt:lpstr>
      <vt:lpstr>Temperature compensation </vt:lpstr>
      <vt:lpstr>Lead Compensation</vt:lpstr>
      <vt:lpstr>Three-lead (wire) compensation</vt:lpstr>
      <vt:lpstr>Three-lead (wire) compensation</vt:lpstr>
      <vt:lpstr>AC Bridge Circuits</vt:lpstr>
      <vt:lpstr>AC Bridge Circuits</vt:lpstr>
      <vt:lpstr>PowerPoint Presentation</vt:lpstr>
      <vt:lpstr>Example </vt:lpstr>
      <vt:lpstr>Example 2</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425: Process Control</dc:title>
  <dc:creator>ahmed</dc:creator>
  <cp:lastModifiedBy>Remotsaletswe Moalosi</cp:lastModifiedBy>
  <cp:revision>934</cp:revision>
  <dcterms:created xsi:type="dcterms:W3CDTF">2013-02-10T06:54:24Z</dcterms:created>
  <dcterms:modified xsi:type="dcterms:W3CDTF">2023-10-30T14:56:57Z</dcterms:modified>
</cp:coreProperties>
</file>
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Lst>
  <p:notesMasterIdLst>
    <p:notesMasterId r:id="rId36"/>
  </p:notesMasterIdLst>
  <p:sldIdLst>
    <p:sldId id="374" r:id="rId2"/>
    <p:sldId id="266" r:id="rId3"/>
    <p:sldId id="267" r:id="rId4"/>
    <p:sldId id="271" r:id="rId5"/>
    <p:sldId id="268" r:id="rId6"/>
    <p:sldId id="259" r:id="rId7"/>
    <p:sldId id="260" r:id="rId8"/>
    <p:sldId id="261" r:id="rId9"/>
    <p:sldId id="262" r:id="rId10"/>
    <p:sldId id="269" r:id="rId11"/>
    <p:sldId id="270" r:id="rId12"/>
    <p:sldId id="272" r:id="rId13"/>
    <p:sldId id="273" r:id="rId14"/>
    <p:sldId id="263" r:id="rId15"/>
    <p:sldId id="278" r:id="rId16"/>
    <p:sldId id="281" r:id="rId17"/>
    <p:sldId id="276" r:id="rId18"/>
    <p:sldId id="275" r:id="rId19"/>
    <p:sldId id="277" r:id="rId20"/>
    <p:sldId id="282" r:id="rId21"/>
    <p:sldId id="279" r:id="rId22"/>
    <p:sldId id="283" r:id="rId23"/>
    <p:sldId id="274" r:id="rId24"/>
    <p:sldId id="284" r:id="rId25"/>
    <p:sldId id="285" r:id="rId26"/>
    <p:sldId id="286" r:id="rId27"/>
    <p:sldId id="291" r:id="rId28"/>
    <p:sldId id="292" r:id="rId29"/>
    <p:sldId id="293" r:id="rId30"/>
    <p:sldId id="294" r:id="rId31"/>
    <p:sldId id="295" r:id="rId32"/>
    <p:sldId id="296" r:id="rId33"/>
    <p:sldId id="297" r:id="rId34"/>
    <p:sldId id="298"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902"/>
    <p:restoredTop sz="79964"/>
  </p:normalViewPr>
  <p:slideViewPr>
    <p:cSldViewPr snapToGrid="0" snapToObjects="1">
      <p:cViewPr varScale="1">
        <p:scale>
          <a:sx n="75" d="100"/>
          <a:sy n="75" d="100"/>
        </p:scale>
        <p:origin x="94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AC1F28-7673-D041-BC6C-697A8B432E1A}" type="datetimeFigureOut">
              <a:rPr lang="en-US" smtClean="0"/>
              <a:t>11/1/22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AC9A9A-3303-234F-902B-69392EB8A9C8}" type="slidenum">
              <a:rPr lang="en-US" smtClean="0"/>
              <a:t>‹#›</a:t>
            </a:fld>
            <a:endParaRPr lang="en-US"/>
          </a:p>
        </p:txBody>
      </p:sp>
    </p:spTree>
    <p:extLst>
      <p:ext uri="{BB962C8B-B14F-4D97-AF65-F5344CB8AC3E}">
        <p14:creationId xmlns:p14="http://schemas.microsoft.com/office/powerpoint/2010/main" val="447099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smtClean="0"/>
              <a:t>11/1/22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smtClean="0"/>
              <a:t>11/1/22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smtClean="0"/>
              <a:t>11/1/22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smtClean="0"/>
              <a:t>11/1/22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smtClean="0"/>
              <a:t>11/1/22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smtClean="0"/>
              <a:t>11/1/22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smtClean="0"/>
              <a:t>11/1/22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smtClean="0"/>
              <a:t>11/1/22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smtClean="0"/>
              <a:t>11/1/22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smtClean="0"/>
              <a:t>11/1/22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smtClean="0"/>
              <a:t>11/1/22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smtClean="0"/>
              <a:t>11/1/22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smtClean="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smtClean="0"/>
              <a:t>11/1/22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smtClean="0"/>
              <a:t>11/1/22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smtClean="0"/>
              <a:t>11/1/22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smtClean="0"/>
              <a:t>11/1/22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smtClean="0"/>
              <a:t>11/1/22</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6000"/>
                <a:shade val="100000"/>
                <a:hueMod val="270000"/>
                <a:satMod val="200000"/>
                <a:lumMod val="128000"/>
              </a:schemeClr>
            </a:gs>
            <a:gs pos="92000">
              <a:schemeClr val="bg2">
                <a:shade val="100000"/>
                <a:hueMod val="100000"/>
                <a:satMod val="110000"/>
                <a:lumMod val="130000"/>
              </a:schemeClr>
            </a:gs>
            <a:gs pos="100000">
              <a:schemeClr val="bg2">
                <a:shade val="78000"/>
                <a:hueMod val="44000"/>
                <a:satMod val="200000"/>
                <a:lumMod val="69000"/>
              </a:schemeClr>
            </a:gs>
          </a:gsLst>
          <a:lin ang="2520000" scaled="0"/>
          <a:tileRect/>
        </a:gradFill>
        <a:effectLst/>
      </p:bgPr>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smtClean="0"/>
              <a:t>11/1/22</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6169973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200" y="2733709"/>
            <a:ext cx="8621256" cy="1373070"/>
          </a:xfrm>
        </p:spPr>
        <p:txBody>
          <a:bodyPr/>
          <a:lstStyle/>
          <a:p>
            <a:pPr algn="l"/>
            <a:r>
              <a:rPr lang="en-US" dirty="0">
                <a:latin typeface="Arial" pitchFamily="34" charset="0"/>
                <a:cs typeface="Arial" pitchFamily="34" charset="0"/>
              </a:rPr>
              <a:t>Actuators</a:t>
            </a:r>
          </a:p>
        </p:txBody>
      </p:sp>
      <p:sp>
        <p:nvSpPr>
          <p:cNvPr id="3" name="Subtitle 2"/>
          <p:cNvSpPr>
            <a:spLocks noGrp="1"/>
          </p:cNvSpPr>
          <p:nvPr>
            <p:ph type="subTitle" idx="1"/>
          </p:nvPr>
        </p:nvSpPr>
        <p:spPr/>
        <p:txBody>
          <a:bodyPr>
            <a:normAutofit/>
          </a:bodyPr>
          <a:lstStyle/>
          <a:p>
            <a:r>
              <a:rPr lang="en-US" dirty="0" err="1"/>
              <a:t>Dr</a:t>
            </a:r>
            <a:r>
              <a:rPr lang="en-US" dirty="0"/>
              <a:t> Boyce </a:t>
            </a:r>
            <a:r>
              <a:rPr lang="en-US" dirty="0" err="1"/>
              <a:t>Sigweni</a:t>
            </a:r>
            <a:endParaRPr lang="en-US" dirty="0"/>
          </a:p>
          <a:p>
            <a:endParaRPr lang="en-US" dirty="0"/>
          </a:p>
          <a:p>
            <a:r>
              <a:rPr lang="en-US" sz="1600" dirty="0">
                <a:latin typeface="Arial" pitchFamily="34" charset="0"/>
                <a:cs typeface="Arial" pitchFamily="34" charset="0"/>
              </a:rPr>
              <a:t>from </a:t>
            </a:r>
            <a:r>
              <a:rPr lang="en-US" sz="1600" b="1" dirty="0" err="1">
                <a:latin typeface="Adjutant-Normal" pitchFamily="2" charset="0"/>
              </a:rPr>
              <a:t>Sccemechanical.wordpress.com</a:t>
            </a:r>
            <a:endParaRPr lang="en-US" sz="1600" b="1" dirty="0">
              <a:latin typeface="Adjutant-Normal" pitchFamily="2" charset="0"/>
            </a:endParaRPr>
          </a:p>
          <a:p>
            <a:endParaRPr lang="en-US" sz="16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9448800" y="2733709"/>
            <a:ext cx="2479962" cy="1190525"/>
          </a:xfrm>
          <a:prstGeom prst="rect">
            <a:avLst/>
          </a:prstGeom>
          <a:noFill/>
          <a:ln>
            <a:noFill/>
          </a:ln>
        </p:spPr>
      </p:pic>
    </p:spTree>
    <p:extLst>
      <p:ext uri="{BB962C8B-B14F-4D97-AF65-F5344CB8AC3E}">
        <p14:creationId xmlns:p14="http://schemas.microsoft.com/office/powerpoint/2010/main" val="1259037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ACTUATORS</a:t>
            </a:r>
          </a:p>
        </p:txBody>
      </p:sp>
      <p:sp>
        <p:nvSpPr>
          <p:cNvPr id="3" name="Content Placeholder 2"/>
          <p:cNvSpPr>
            <a:spLocks noGrp="1"/>
          </p:cNvSpPr>
          <p:nvPr>
            <p:ph idx="1"/>
          </p:nvPr>
        </p:nvSpPr>
        <p:spPr>
          <a:xfrm>
            <a:off x="618491" y="2066735"/>
            <a:ext cx="10893188" cy="5011904"/>
          </a:xfrm>
        </p:spPr>
        <p:txBody>
          <a:bodyPr>
            <a:normAutofit/>
          </a:bodyPr>
          <a:lstStyle/>
          <a:p>
            <a:pPr algn="just"/>
            <a:r>
              <a:rPr lang="en-US" b="1" i="1" dirty="0"/>
              <a:t>Actuators are the devices which provide the actual motive force for the robot joints. </a:t>
            </a:r>
          </a:p>
          <a:p>
            <a:pPr algn="just"/>
            <a:r>
              <a:rPr lang="en-US" dirty="0"/>
              <a:t>Actuators are the muscles of robots. If you imagine that the links and the joints are the skeleton of the robot, the actuators act as muscles, which moves or rotate the links to change the configuration of robots. The actuators must have enough power to accelerate and decelerate the links and to carry the loads, yet be light, economical, accurate, responsive, reliable and easy to maintain.</a:t>
            </a:r>
          </a:p>
          <a:p>
            <a:pPr algn="just"/>
            <a:r>
              <a:rPr lang="en-US" dirty="0"/>
              <a:t>Actuators in robotic system basically consists of :</a:t>
            </a:r>
          </a:p>
          <a:p>
            <a:pPr lvl="1" algn="just"/>
            <a:r>
              <a:rPr lang="en-US" dirty="0"/>
              <a:t>A power supply.</a:t>
            </a:r>
          </a:p>
          <a:p>
            <a:pPr lvl="1" algn="just"/>
            <a:r>
              <a:rPr lang="en-US" dirty="0"/>
              <a:t>A power amplifier.</a:t>
            </a:r>
          </a:p>
          <a:p>
            <a:pPr lvl="1" algn="just"/>
            <a:r>
              <a:rPr lang="en-US" dirty="0"/>
              <a:t>A servomotor.</a:t>
            </a:r>
          </a:p>
          <a:p>
            <a:pPr lvl="1" algn="just"/>
            <a:r>
              <a:rPr lang="en-US" dirty="0"/>
              <a:t>A transmission system.</a:t>
            </a:r>
          </a:p>
        </p:txBody>
      </p:sp>
    </p:spTree>
    <p:extLst>
      <p:ext uri="{BB962C8B-B14F-4D97-AF65-F5344CB8AC3E}">
        <p14:creationId xmlns:p14="http://schemas.microsoft.com/office/powerpoint/2010/main" val="314585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304" y="450131"/>
            <a:ext cx="9613861" cy="1080938"/>
          </a:xfrm>
        </p:spPr>
        <p:txBody>
          <a:bodyPr/>
          <a:lstStyle/>
          <a:p>
            <a:r>
              <a:rPr lang="en-US" b="1" u="sng" dirty="0"/>
              <a:t>Actuator system</a:t>
            </a:r>
          </a:p>
        </p:txBody>
      </p:sp>
      <p:sp>
        <p:nvSpPr>
          <p:cNvPr id="4" name="Rectangle 3"/>
          <p:cNvSpPr/>
          <p:nvPr/>
        </p:nvSpPr>
        <p:spPr>
          <a:xfrm>
            <a:off x="2438400" y="1371600"/>
            <a:ext cx="19812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FF0000"/>
                </a:solidFill>
              </a:rPr>
              <a:t>POWER</a:t>
            </a:r>
          </a:p>
          <a:p>
            <a:pPr algn="ctr"/>
            <a:r>
              <a:rPr lang="en-US" sz="2400" b="1" dirty="0">
                <a:solidFill>
                  <a:srgbClr val="FF0000"/>
                </a:solidFill>
              </a:rPr>
              <a:t>SUPPLIES</a:t>
            </a:r>
          </a:p>
        </p:txBody>
      </p:sp>
      <p:sp>
        <p:nvSpPr>
          <p:cNvPr id="5" name="Rectangle 4"/>
          <p:cNvSpPr/>
          <p:nvPr/>
        </p:nvSpPr>
        <p:spPr>
          <a:xfrm>
            <a:off x="2438400" y="2971800"/>
            <a:ext cx="1981200" cy="990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FF0000"/>
                </a:solidFill>
              </a:rPr>
              <a:t>POWER</a:t>
            </a:r>
          </a:p>
          <a:p>
            <a:pPr algn="ctr"/>
            <a:r>
              <a:rPr lang="en-US" sz="2400" b="1" dirty="0">
                <a:solidFill>
                  <a:srgbClr val="FF0000"/>
                </a:solidFill>
              </a:rPr>
              <a:t>AMPLIFIER</a:t>
            </a:r>
          </a:p>
        </p:txBody>
      </p:sp>
      <p:sp>
        <p:nvSpPr>
          <p:cNvPr id="6" name="Rectangle 5"/>
          <p:cNvSpPr/>
          <p:nvPr/>
        </p:nvSpPr>
        <p:spPr>
          <a:xfrm>
            <a:off x="7696200" y="2971800"/>
            <a:ext cx="2369390" cy="990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FF0000"/>
                </a:solidFill>
              </a:rPr>
              <a:t>TRANSMISSION</a:t>
            </a:r>
          </a:p>
        </p:txBody>
      </p:sp>
      <p:sp>
        <p:nvSpPr>
          <p:cNvPr id="7" name="Rectangle 6"/>
          <p:cNvSpPr/>
          <p:nvPr/>
        </p:nvSpPr>
        <p:spPr>
          <a:xfrm>
            <a:off x="4876800" y="2971800"/>
            <a:ext cx="2362200" cy="990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solidFill>
                  <a:srgbClr val="FF0000"/>
                </a:solidFill>
              </a:rPr>
              <a:t>MOTOR</a:t>
            </a:r>
            <a:endParaRPr lang="en-US" b="1" dirty="0">
              <a:solidFill>
                <a:srgbClr val="FF0000"/>
              </a:solidFill>
            </a:endParaRPr>
          </a:p>
          <a:p>
            <a:pPr algn="ctr"/>
            <a:r>
              <a:rPr lang="en-US" b="1" dirty="0">
                <a:solidFill>
                  <a:srgbClr val="FF0000"/>
                </a:solidFill>
              </a:rPr>
              <a:t>OR</a:t>
            </a:r>
          </a:p>
          <a:p>
            <a:pPr algn="ctr"/>
            <a:r>
              <a:rPr lang="en-US" sz="2400" b="1" dirty="0">
                <a:solidFill>
                  <a:srgbClr val="FF0000"/>
                </a:solidFill>
              </a:rPr>
              <a:t>SERVO MOTOR</a:t>
            </a:r>
          </a:p>
        </p:txBody>
      </p:sp>
      <p:sp>
        <p:nvSpPr>
          <p:cNvPr id="8" name="Rectangle 7"/>
          <p:cNvSpPr/>
          <p:nvPr/>
        </p:nvSpPr>
        <p:spPr>
          <a:xfrm>
            <a:off x="2819400" y="2438400"/>
            <a:ext cx="838200" cy="369332"/>
          </a:xfrm>
          <a:prstGeom prst="rect">
            <a:avLst/>
          </a:prstGeom>
        </p:spPr>
        <p:txBody>
          <a:bodyPr wrap="square">
            <a:spAutoFit/>
          </a:bodyPr>
          <a:lstStyle/>
          <a:p>
            <a:pPr algn="ctr"/>
            <a:r>
              <a:rPr lang="en-US" b="1" dirty="0">
                <a:solidFill>
                  <a:srgbClr val="FF0000"/>
                </a:solidFill>
              </a:rPr>
              <a:t>P</a:t>
            </a:r>
            <a:r>
              <a:rPr lang="en-US" sz="1100" b="1" dirty="0">
                <a:solidFill>
                  <a:srgbClr val="FF0000"/>
                </a:solidFill>
              </a:rPr>
              <a:t>P</a:t>
            </a:r>
            <a:endParaRPr lang="en-US" b="1" dirty="0">
              <a:solidFill>
                <a:srgbClr val="FF0000"/>
              </a:solidFill>
            </a:endParaRPr>
          </a:p>
        </p:txBody>
      </p:sp>
      <p:sp>
        <p:nvSpPr>
          <p:cNvPr id="9" name="Rectangle 8"/>
          <p:cNvSpPr/>
          <p:nvPr/>
        </p:nvSpPr>
        <p:spPr>
          <a:xfrm>
            <a:off x="10045577" y="2971801"/>
            <a:ext cx="457177" cy="646331"/>
          </a:xfrm>
          <a:prstGeom prst="rect">
            <a:avLst/>
          </a:prstGeom>
        </p:spPr>
        <p:txBody>
          <a:bodyPr wrap="none">
            <a:spAutoFit/>
          </a:bodyPr>
          <a:lstStyle/>
          <a:p>
            <a:pPr algn="ctr"/>
            <a:r>
              <a:rPr lang="en-US" b="1" dirty="0" err="1">
                <a:solidFill>
                  <a:srgbClr val="FF0000"/>
                </a:solidFill>
              </a:rPr>
              <a:t>Pu</a:t>
            </a:r>
            <a:endParaRPr lang="en-US" b="1" dirty="0">
              <a:solidFill>
                <a:srgbClr val="FF0000"/>
              </a:solidFill>
            </a:endParaRPr>
          </a:p>
          <a:p>
            <a:pPr algn="ctr"/>
            <a:endParaRPr lang="en-US" b="1" dirty="0">
              <a:solidFill>
                <a:srgbClr val="FF0000"/>
              </a:solidFill>
            </a:endParaRPr>
          </a:p>
        </p:txBody>
      </p:sp>
      <p:sp>
        <p:nvSpPr>
          <p:cNvPr id="10" name="Rectangle 9"/>
          <p:cNvSpPr/>
          <p:nvPr/>
        </p:nvSpPr>
        <p:spPr>
          <a:xfrm>
            <a:off x="4485380" y="3048000"/>
            <a:ext cx="417102" cy="369332"/>
          </a:xfrm>
          <a:prstGeom prst="rect">
            <a:avLst/>
          </a:prstGeom>
        </p:spPr>
        <p:txBody>
          <a:bodyPr wrap="none">
            <a:spAutoFit/>
          </a:bodyPr>
          <a:lstStyle/>
          <a:p>
            <a:pPr algn="ctr"/>
            <a:r>
              <a:rPr lang="en-US" b="1" dirty="0">
                <a:solidFill>
                  <a:srgbClr val="FF0000"/>
                </a:solidFill>
              </a:rPr>
              <a:t>P</a:t>
            </a:r>
            <a:r>
              <a:rPr lang="en-US" sz="1400" b="1" dirty="0">
                <a:solidFill>
                  <a:srgbClr val="FF0000"/>
                </a:solidFill>
              </a:rPr>
              <a:t>a</a:t>
            </a:r>
            <a:endParaRPr lang="en-US" b="1" dirty="0">
              <a:solidFill>
                <a:srgbClr val="FF0000"/>
              </a:solidFill>
            </a:endParaRPr>
          </a:p>
        </p:txBody>
      </p:sp>
      <p:sp>
        <p:nvSpPr>
          <p:cNvPr id="11" name="Rectangle 10"/>
          <p:cNvSpPr/>
          <p:nvPr/>
        </p:nvSpPr>
        <p:spPr>
          <a:xfrm>
            <a:off x="7228580" y="3048000"/>
            <a:ext cx="474810" cy="369332"/>
          </a:xfrm>
          <a:prstGeom prst="rect">
            <a:avLst/>
          </a:prstGeom>
        </p:spPr>
        <p:txBody>
          <a:bodyPr wrap="none">
            <a:spAutoFit/>
          </a:bodyPr>
          <a:lstStyle/>
          <a:p>
            <a:pPr algn="ctr"/>
            <a:r>
              <a:rPr lang="en-US" b="1" dirty="0">
                <a:solidFill>
                  <a:srgbClr val="FF0000"/>
                </a:solidFill>
              </a:rPr>
              <a:t>P</a:t>
            </a:r>
            <a:r>
              <a:rPr lang="en-US" sz="1400" b="1" dirty="0">
                <a:solidFill>
                  <a:srgbClr val="FF0000"/>
                </a:solidFill>
              </a:rPr>
              <a:t>m</a:t>
            </a:r>
            <a:endParaRPr lang="en-US" b="1" dirty="0">
              <a:solidFill>
                <a:srgbClr val="FF0000"/>
              </a:solidFill>
            </a:endParaRPr>
          </a:p>
        </p:txBody>
      </p:sp>
      <p:sp>
        <p:nvSpPr>
          <p:cNvPr id="12" name="Rectangle 11"/>
          <p:cNvSpPr/>
          <p:nvPr/>
        </p:nvSpPr>
        <p:spPr>
          <a:xfrm>
            <a:off x="1814373" y="3200400"/>
            <a:ext cx="412292" cy="369332"/>
          </a:xfrm>
          <a:prstGeom prst="rect">
            <a:avLst/>
          </a:prstGeom>
        </p:spPr>
        <p:txBody>
          <a:bodyPr wrap="none">
            <a:spAutoFit/>
          </a:bodyPr>
          <a:lstStyle/>
          <a:p>
            <a:pPr algn="ctr"/>
            <a:r>
              <a:rPr lang="en-US" b="1" dirty="0">
                <a:solidFill>
                  <a:srgbClr val="FF0000"/>
                </a:solidFill>
              </a:rPr>
              <a:t>P</a:t>
            </a:r>
            <a:r>
              <a:rPr lang="en-US" sz="1400" b="1" dirty="0">
                <a:solidFill>
                  <a:srgbClr val="FF0000"/>
                </a:solidFill>
              </a:rPr>
              <a:t>c</a:t>
            </a:r>
            <a:endParaRPr lang="en-US" b="1" dirty="0">
              <a:solidFill>
                <a:srgbClr val="FF0000"/>
              </a:solidFill>
            </a:endParaRPr>
          </a:p>
        </p:txBody>
      </p:sp>
      <p:sp>
        <p:nvSpPr>
          <p:cNvPr id="13" name="Rectangle 12"/>
          <p:cNvSpPr/>
          <p:nvPr/>
        </p:nvSpPr>
        <p:spPr>
          <a:xfrm>
            <a:off x="3187575" y="4572000"/>
            <a:ext cx="492444" cy="369332"/>
          </a:xfrm>
          <a:prstGeom prst="rect">
            <a:avLst/>
          </a:prstGeom>
        </p:spPr>
        <p:txBody>
          <a:bodyPr wrap="none">
            <a:spAutoFit/>
          </a:bodyPr>
          <a:lstStyle/>
          <a:p>
            <a:pPr algn="ctr"/>
            <a:r>
              <a:rPr lang="en-US" b="1" dirty="0" err="1">
                <a:solidFill>
                  <a:srgbClr val="FF0000"/>
                </a:solidFill>
              </a:rPr>
              <a:t>P</a:t>
            </a:r>
            <a:r>
              <a:rPr lang="en-US" sz="1200" b="1" dirty="0" err="1">
                <a:solidFill>
                  <a:srgbClr val="FF0000"/>
                </a:solidFill>
              </a:rPr>
              <a:t>da</a:t>
            </a:r>
            <a:endParaRPr lang="en-US" b="1" dirty="0">
              <a:solidFill>
                <a:srgbClr val="FF0000"/>
              </a:solidFill>
            </a:endParaRPr>
          </a:p>
        </p:txBody>
      </p:sp>
      <p:sp>
        <p:nvSpPr>
          <p:cNvPr id="14" name="Rectangle 13"/>
          <p:cNvSpPr/>
          <p:nvPr/>
        </p:nvSpPr>
        <p:spPr>
          <a:xfrm>
            <a:off x="5855378" y="4572000"/>
            <a:ext cx="476412" cy="369332"/>
          </a:xfrm>
          <a:prstGeom prst="rect">
            <a:avLst/>
          </a:prstGeom>
        </p:spPr>
        <p:txBody>
          <a:bodyPr wrap="none">
            <a:spAutoFit/>
          </a:bodyPr>
          <a:lstStyle/>
          <a:p>
            <a:pPr algn="ctr"/>
            <a:r>
              <a:rPr lang="en-US" b="1" dirty="0" err="1">
                <a:solidFill>
                  <a:srgbClr val="FF0000"/>
                </a:solidFill>
              </a:rPr>
              <a:t>P</a:t>
            </a:r>
            <a:r>
              <a:rPr lang="en-US" sz="1200" b="1" dirty="0" err="1">
                <a:solidFill>
                  <a:srgbClr val="FF0000"/>
                </a:solidFill>
              </a:rPr>
              <a:t>ds</a:t>
            </a:r>
            <a:endParaRPr lang="en-US" b="1" dirty="0">
              <a:solidFill>
                <a:srgbClr val="FF0000"/>
              </a:solidFill>
            </a:endParaRPr>
          </a:p>
        </p:txBody>
      </p:sp>
      <p:sp>
        <p:nvSpPr>
          <p:cNvPr id="15" name="Rectangle 14"/>
          <p:cNvSpPr/>
          <p:nvPr/>
        </p:nvSpPr>
        <p:spPr>
          <a:xfrm>
            <a:off x="8673174" y="4495800"/>
            <a:ext cx="471604" cy="369332"/>
          </a:xfrm>
          <a:prstGeom prst="rect">
            <a:avLst/>
          </a:prstGeom>
        </p:spPr>
        <p:txBody>
          <a:bodyPr wrap="none">
            <a:spAutoFit/>
          </a:bodyPr>
          <a:lstStyle/>
          <a:p>
            <a:pPr algn="ctr"/>
            <a:r>
              <a:rPr lang="en-US" b="1" dirty="0" err="1">
                <a:solidFill>
                  <a:srgbClr val="FF0000"/>
                </a:solidFill>
              </a:rPr>
              <a:t>P</a:t>
            </a:r>
            <a:r>
              <a:rPr lang="en-US" sz="1200" b="1" dirty="0" err="1">
                <a:solidFill>
                  <a:srgbClr val="FF0000"/>
                </a:solidFill>
              </a:rPr>
              <a:t>dt</a:t>
            </a:r>
            <a:endParaRPr lang="en-US" b="1" dirty="0">
              <a:solidFill>
                <a:srgbClr val="FF0000"/>
              </a:solidFill>
            </a:endParaRPr>
          </a:p>
        </p:txBody>
      </p:sp>
      <p:cxnSp>
        <p:nvCxnSpPr>
          <p:cNvPr id="17" name="Straight Arrow Connector 16"/>
          <p:cNvCxnSpPr>
            <a:stCxn id="4" idx="2"/>
            <a:endCxn id="5" idx="0"/>
          </p:cNvCxnSpPr>
          <p:nvPr/>
        </p:nvCxnSpPr>
        <p:spPr>
          <a:xfrm rot="5400000">
            <a:off x="3086100" y="2628900"/>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5" idx="2"/>
          </p:cNvCxnSpPr>
          <p:nvPr/>
        </p:nvCxnSpPr>
        <p:spPr>
          <a:xfrm rot="5400000">
            <a:off x="3124200" y="42672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5791994" y="4266406"/>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8535194" y="4266406"/>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10800000" flipH="1">
            <a:off x="7239000" y="3429000"/>
            <a:ext cx="4539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0800000" flipH="1">
            <a:off x="4419600" y="3429000"/>
            <a:ext cx="4539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10800000" flipH="1">
            <a:off x="1981200" y="3505200"/>
            <a:ext cx="4539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5330770" y="797611"/>
            <a:ext cx="5029200" cy="1938992"/>
          </a:xfrm>
          <a:prstGeom prst="rect">
            <a:avLst/>
          </a:prstGeom>
        </p:spPr>
        <p:txBody>
          <a:bodyPr wrap="square">
            <a:spAutoFit/>
          </a:bodyPr>
          <a:lstStyle/>
          <a:p>
            <a:r>
              <a:rPr lang="en-US" b="1" dirty="0">
                <a:solidFill>
                  <a:srgbClr val="FF0000"/>
                </a:solidFill>
              </a:rPr>
              <a:t>P</a:t>
            </a:r>
            <a:r>
              <a:rPr lang="en-US" sz="1200" b="1" dirty="0">
                <a:solidFill>
                  <a:srgbClr val="FF0000"/>
                </a:solidFill>
              </a:rPr>
              <a:t>p</a:t>
            </a:r>
            <a:r>
              <a:rPr lang="en-US" b="1" dirty="0">
                <a:solidFill>
                  <a:srgbClr val="FF0000"/>
                </a:solidFill>
              </a:rPr>
              <a:t> : Primary source of power (Electric, </a:t>
            </a:r>
            <a:r>
              <a:rPr lang="en-US" b="1" dirty="0" err="1">
                <a:solidFill>
                  <a:srgbClr val="FF0000"/>
                </a:solidFill>
              </a:rPr>
              <a:t>Press.fluid</a:t>
            </a:r>
            <a:r>
              <a:rPr lang="en-US" b="1" dirty="0">
                <a:solidFill>
                  <a:srgbClr val="FF0000"/>
                </a:solidFill>
              </a:rPr>
              <a:t>, compress. Air)</a:t>
            </a:r>
          </a:p>
          <a:p>
            <a:r>
              <a:rPr lang="en-US" b="1" dirty="0">
                <a:solidFill>
                  <a:srgbClr val="FF0000"/>
                </a:solidFill>
              </a:rPr>
              <a:t>P</a:t>
            </a:r>
            <a:r>
              <a:rPr lang="en-US" sz="1400" b="1" dirty="0">
                <a:solidFill>
                  <a:srgbClr val="FF0000"/>
                </a:solidFill>
              </a:rPr>
              <a:t>c  :  Input control power usually electric .</a:t>
            </a:r>
          </a:p>
          <a:p>
            <a:r>
              <a:rPr lang="en-US" sz="1600" b="1" dirty="0">
                <a:solidFill>
                  <a:srgbClr val="FF0000"/>
                </a:solidFill>
              </a:rPr>
              <a:t>P</a:t>
            </a:r>
            <a:r>
              <a:rPr lang="en-US" sz="1400" b="1" dirty="0">
                <a:solidFill>
                  <a:srgbClr val="FF0000"/>
                </a:solidFill>
              </a:rPr>
              <a:t>a</a:t>
            </a:r>
            <a:r>
              <a:rPr lang="en-US" sz="1100" b="1" dirty="0">
                <a:solidFill>
                  <a:srgbClr val="FF0000"/>
                </a:solidFill>
              </a:rPr>
              <a:t>   : </a:t>
            </a:r>
            <a:r>
              <a:rPr lang="en-US" sz="1400" b="1" dirty="0">
                <a:solidFill>
                  <a:srgbClr val="FF0000"/>
                </a:solidFill>
              </a:rPr>
              <a:t> Input power to motor Electric, Hydraulic, or Pneumatic.</a:t>
            </a:r>
          </a:p>
          <a:p>
            <a:r>
              <a:rPr lang="en-US" b="1" dirty="0">
                <a:solidFill>
                  <a:srgbClr val="FF0000"/>
                </a:solidFill>
              </a:rPr>
              <a:t>P</a:t>
            </a:r>
            <a:r>
              <a:rPr lang="en-US" sz="1200" b="1" dirty="0">
                <a:solidFill>
                  <a:srgbClr val="FF0000"/>
                </a:solidFill>
              </a:rPr>
              <a:t>m</a:t>
            </a:r>
            <a:r>
              <a:rPr lang="en-US" b="1" dirty="0">
                <a:solidFill>
                  <a:srgbClr val="FF0000"/>
                </a:solidFill>
              </a:rPr>
              <a:t>: Power output from motor.</a:t>
            </a:r>
          </a:p>
          <a:p>
            <a:r>
              <a:rPr lang="en-US" b="1" dirty="0" err="1">
                <a:solidFill>
                  <a:srgbClr val="FF0000"/>
                </a:solidFill>
              </a:rPr>
              <a:t>Pu</a:t>
            </a:r>
            <a:r>
              <a:rPr lang="en-US" b="1" dirty="0">
                <a:solidFill>
                  <a:srgbClr val="FF0000"/>
                </a:solidFill>
              </a:rPr>
              <a:t> : mechanical power required</a:t>
            </a:r>
          </a:p>
        </p:txBody>
      </p:sp>
      <p:sp>
        <p:nvSpPr>
          <p:cNvPr id="33" name="Rectangle 32"/>
          <p:cNvSpPr/>
          <p:nvPr/>
        </p:nvSpPr>
        <p:spPr>
          <a:xfrm>
            <a:off x="2438400" y="4876801"/>
            <a:ext cx="5867400" cy="615553"/>
          </a:xfrm>
          <a:prstGeom prst="rect">
            <a:avLst/>
          </a:prstGeom>
        </p:spPr>
        <p:txBody>
          <a:bodyPr wrap="square">
            <a:spAutoFit/>
          </a:bodyPr>
          <a:lstStyle/>
          <a:p>
            <a:r>
              <a:rPr lang="en-US" b="1" dirty="0" err="1">
                <a:solidFill>
                  <a:srgbClr val="FF0000"/>
                </a:solidFill>
              </a:rPr>
              <a:t>P</a:t>
            </a:r>
            <a:r>
              <a:rPr lang="en-US" sz="1200" b="1" dirty="0" err="1">
                <a:solidFill>
                  <a:srgbClr val="FF0000"/>
                </a:solidFill>
              </a:rPr>
              <a:t>ds</a:t>
            </a:r>
            <a:r>
              <a:rPr lang="en-US" sz="1600" b="1" dirty="0">
                <a:solidFill>
                  <a:srgbClr val="FF0000"/>
                </a:solidFill>
              </a:rPr>
              <a:t>, </a:t>
            </a:r>
            <a:r>
              <a:rPr lang="en-US" sz="1600" b="1" dirty="0" err="1">
                <a:solidFill>
                  <a:srgbClr val="FF0000"/>
                </a:solidFill>
              </a:rPr>
              <a:t>P</a:t>
            </a:r>
            <a:r>
              <a:rPr lang="en-US" sz="1200" b="1" dirty="0" err="1">
                <a:solidFill>
                  <a:srgbClr val="FF0000"/>
                </a:solidFill>
              </a:rPr>
              <a:t>dt</a:t>
            </a:r>
            <a:r>
              <a:rPr lang="en-US" sz="1600" b="1" dirty="0">
                <a:solidFill>
                  <a:srgbClr val="FF0000"/>
                </a:solidFill>
              </a:rPr>
              <a:t> , </a:t>
            </a:r>
            <a:r>
              <a:rPr lang="en-US" sz="1600" b="1" dirty="0" err="1">
                <a:solidFill>
                  <a:srgbClr val="FF0000"/>
                </a:solidFill>
              </a:rPr>
              <a:t>P</a:t>
            </a:r>
            <a:r>
              <a:rPr lang="en-US" sz="1200" b="1" dirty="0" err="1">
                <a:solidFill>
                  <a:srgbClr val="FF0000"/>
                </a:solidFill>
              </a:rPr>
              <a:t>da</a:t>
            </a:r>
            <a:r>
              <a:rPr lang="en-US" sz="1600" b="1" dirty="0">
                <a:solidFill>
                  <a:srgbClr val="FF0000"/>
                </a:solidFill>
              </a:rPr>
              <a:t> : Powers lost in dissipation for the conversion performed by the Amplifier, Motor, Transmission</a:t>
            </a:r>
            <a:endParaRPr lang="en-US" b="1" dirty="0">
              <a:solidFill>
                <a:srgbClr val="FF0000"/>
              </a:solidFill>
            </a:endParaRPr>
          </a:p>
        </p:txBody>
      </p:sp>
      <p:cxnSp>
        <p:nvCxnSpPr>
          <p:cNvPr id="34" name="Straight Arrow Connector 33"/>
          <p:cNvCxnSpPr/>
          <p:nvPr/>
        </p:nvCxnSpPr>
        <p:spPr>
          <a:xfrm rot="10800000" flipH="1">
            <a:off x="10041209" y="3442732"/>
            <a:ext cx="4539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906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ISSUES/CHARACTERISTICS  OF AN ACTUATOR </a:t>
            </a:r>
          </a:p>
        </p:txBody>
      </p:sp>
      <p:sp>
        <p:nvSpPr>
          <p:cNvPr id="3" name="Content Placeholder 2"/>
          <p:cNvSpPr>
            <a:spLocks noGrp="1"/>
          </p:cNvSpPr>
          <p:nvPr>
            <p:ph idx="1"/>
          </p:nvPr>
        </p:nvSpPr>
        <p:spPr/>
        <p:txBody>
          <a:bodyPr>
            <a:normAutofit lnSpcReduction="10000"/>
          </a:bodyPr>
          <a:lstStyle/>
          <a:p>
            <a:r>
              <a:rPr lang="en-US" dirty="0"/>
              <a:t>Load (e.g. torque to overcome own inertia)</a:t>
            </a:r>
          </a:p>
          <a:p>
            <a:r>
              <a:rPr lang="en-US" dirty="0"/>
              <a:t>Speed (fast enough but not too fast)</a:t>
            </a:r>
          </a:p>
          <a:p>
            <a:r>
              <a:rPr lang="en-US" dirty="0"/>
              <a:t>Accuracy (will it move to where you want?)</a:t>
            </a:r>
          </a:p>
          <a:p>
            <a:r>
              <a:rPr lang="en-US" dirty="0"/>
              <a:t>Resolution (can you specify exactly where?)</a:t>
            </a:r>
          </a:p>
          <a:p>
            <a:r>
              <a:rPr lang="en-US" dirty="0"/>
              <a:t>Repeatability (will it do this every time?)</a:t>
            </a:r>
          </a:p>
          <a:p>
            <a:r>
              <a:rPr lang="en-US" dirty="0"/>
              <a:t>Reliability (mean time between failures)</a:t>
            </a:r>
          </a:p>
          <a:p>
            <a:r>
              <a:rPr lang="en-US" dirty="0"/>
              <a:t>Power consumption (how to feed it)</a:t>
            </a:r>
          </a:p>
          <a:p>
            <a:r>
              <a:rPr lang="en-US" dirty="0"/>
              <a:t>Energy supply &amp; its weight.</a:t>
            </a:r>
          </a:p>
        </p:txBody>
      </p:sp>
    </p:spTree>
    <p:extLst>
      <p:ext uri="{BB962C8B-B14F-4D97-AF65-F5344CB8AC3E}">
        <p14:creationId xmlns:p14="http://schemas.microsoft.com/office/powerpoint/2010/main" val="2393571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8119" y="72788"/>
            <a:ext cx="8229600" cy="1143000"/>
          </a:xfrm>
        </p:spPr>
        <p:txBody>
          <a:bodyPr/>
          <a:lstStyle/>
          <a:p>
            <a:r>
              <a:rPr lang="en-US" b="1" u="sng" dirty="0"/>
              <a:t>TYPES OF ACTUATORS</a:t>
            </a:r>
          </a:p>
        </p:txBody>
      </p:sp>
      <p:sp>
        <p:nvSpPr>
          <p:cNvPr id="3" name="Content Placeholder 2"/>
          <p:cNvSpPr>
            <a:spLocks noGrp="1"/>
          </p:cNvSpPr>
          <p:nvPr>
            <p:ph idx="1"/>
          </p:nvPr>
        </p:nvSpPr>
        <p:spPr>
          <a:xfrm>
            <a:off x="404810" y="1215788"/>
            <a:ext cx="8229600" cy="4162007"/>
          </a:xfrm>
        </p:spPr>
        <p:txBody>
          <a:bodyPr>
            <a:normAutofit/>
          </a:bodyPr>
          <a:lstStyle/>
          <a:p>
            <a:r>
              <a:rPr lang="en-US" dirty="0"/>
              <a:t>Based on the source of Input Power actuators are classified in to three groups :</a:t>
            </a:r>
          </a:p>
          <a:p>
            <a:pPr marL="971550" lvl="1" indent="-514350">
              <a:buFont typeface="+mj-lt"/>
              <a:buAutoNum type="arabicPeriod"/>
            </a:pPr>
            <a:r>
              <a:rPr lang="en-US" dirty="0"/>
              <a:t>Pneumatic Actuators.</a:t>
            </a:r>
          </a:p>
          <a:p>
            <a:pPr lvl="2"/>
            <a:r>
              <a:rPr lang="en-US" dirty="0"/>
              <a:t>These utilize pneumatic energy provided by the compressor and transforms it into mechanical energy by means of pistons or turbines.</a:t>
            </a:r>
          </a:p>
          <a:p>
            <a:pPr marL="971550" lvl="1" indent="-514350">
              <a:buFont typeface="+mj-lt"/>
              <a:buAutoNum type="arabicPeriod"/>
            </a:pPr>
            <a:r>
              <a:rPr lang="en-US" dirty="0"/>
              <a:t>Hydraulic Actuators.</a:t>
            </a:r>
          </a:p>
          <a:p>
            <a:pPr lvl="2" algn="just"/>
            <a:r>
              <a:rPr lang="en-US" dirty="0"/>
              <a:t>These Transform the energy stored in reservoir into mechanical energy by means of suitable pumps.</a:t>
            </a:r>
          </a:p>
          <a:p>
            <a:pPr marL="971550" lvl="1" indent="-514350">
              <a:buAutoNum type="arabicPeriod" startAt="3"/>
            </a:pPr>
            <a:r>
              <a:rPr lang="en-US" dirty="0"/>
              <a:t>Electric Actuators.</a:t>
            </a:r>
          </a:p>
          <a:p>
            <a:pPr lvl="2" algn="just"/>
            <a:r>
              <a:rPr lang="en-US" dirty="0"/>
              <a:t>Electric actuators are simply electro-mechanical devices which allow movement through the use of an electrically controlled systems of gears</a:t>
            </a:r>
          </a:p>
        </p:txBody>
      </p:sp>
      <p:pic>
        <p:nvPicPr>
          <p:cNvPr id="15361" name="Picture 1"/>
          <p:cNvPicPr>
            <a:picLocks noChangeAspect="1" noChangeArrowheads="1"/>
          </p:cNvPicPr>
          <p:nvPr/>
        </p:nvPicPr>
        <p:blipFill>
          <a:blip r:embed="rId2"/>
          <a:srcRect/>
          <a:stretch>
            <a:fillRect/>
          </a:stretch>
        </p:blipFill>
        <p:spPr bwMode="auto">
          <a:xfrm>
            <a:off x="8686800" y="3516311"/>
            <a:ext cx="1981201" cy="3159125"/>
          </a:xfrm>
          <a:prstGeom prst="rect">
            <a:avLst/>
          </a:prstGeom>
          <a:noFill/>
          <a:ln w="9525">
            <a:noFill/>
            <a:miter lim="800000"/>
            <a:headEnd/>
            <a:tailEnd/>
          </a:ln>
        </p:spPr>
      </p:pic>
      <p:pic>
        <p:nvPicPr>
          <p:cNvPr id="15362" name="Picture 2"/>
          <p:cNvPicPr>
            <a:picLocks noChangeAspect="1" noChangeArrowheads="1"/>
          </p:cNvPicPr>
          <p:nvPr/>
        </p:nvPicPr>
        <p:blipFill>
          <a:blip r:embed="rId3"/>
          <a:srcRect/>
          <a:stretch>
            <a:fillRect/>
          </a:stretch>
        </p:blipFill>
        <p:spPr bwMode="auto">
          <a:xfrm>
            <a:off x="2252660" y="5089709"/>
            <a:ext cx="2266950" cy="1449730"/>
          </a:xfrm>
          <a:prstGeom prst="rect">
            <a:avLst/>
          </a:prstGeom>
          <a:noFill/>
          <a:ln w="9525">
            <a:noFill/>
            <a:miter lim="800000"/>
            <a:headEnd/>
            <a:tailEnd/>
          </a:ln>
        </p:spPr>
      </p:pic>
      <p:pic>
        <p:nvPicPr>
          <p:cNvPr id="15363" name="Picture 3"/>
          <p:cNvPicPr>
            <a:picLocks noChangeAspect="1" noChangeArrowheads="1"/>
          </p:cNvPicPr>
          <p:nvPr/>
        </p:nvPicPr>
        <p:blipFill>
          <a:blip r:embed="rId4"/>
          <a:srcRect/>
          <a:stretch>
            <a:fillRect/>
          </a:stretch>
        </p:blipFill>
        <p:spPr bwMode="auto">
          <a:xfrm>
            <a:off x="4537603" y="4850092"/>
            <a:ext cx="2100264" cy="1693581"/>
          </a:xfrm>
          <a:prstGeom prst="rect">
            <a:avLst/>
          </a:prstGeom>
          <a:noFill/>
          <a:ln w="9525">
            <a:noFill/>
            <a:miter lim="800000"/>
            <a:headEnd/>
            <a:tailEnd/>
          </a:ln>
        </p:spPr>
      </p:pic>
      <p:pic>
        <p:nvPicPr>
          <p:cNvPr id="15364" name="Picture 4"/>
          <p:cNvPicPr>
            <a:picLocks noChangeAspect="1" noChangeArrowheads="1"/>
          </p:cNvPicPr>
          <p:nvPr/>
        </p:nvPicPr>
        <p:blipFill>
          <a:blip r:embed="rId5"/>
          <a:srcRect/>
          <a:stretch>
            <a:fillRect/>
          </a:stretch>
        </p:blipFill>
        <p:spPr bwMode="auto">
          <a:xfrm>
            <a:off x="8656638" y="2239962"/>
            <a:ext cx="2011363" cy="1530350"/>
          </a:xfrm>
          <a:prstGeom prst="rect">
            <a:avLst/>
          </a:prstGeom>
          <a:noFill/>
          <a:ln w="9525">
            <a:noFill/>
            <a:miter lim="800000"/>
            <a:headEnd/>
            <a:tailEnd/>
          </a:ln>
        </p:spPr>
      </p:pic>
    </p:spTree>
    <p:extLst>
      <p:ext uri="{BB962C8B-B14F-4D97-AF65-F5344CB8AC3E}">
        <p14:creationId xmlns:p14="http://schemas.microsoft.com/office/powerpoint/2010/main" val="915351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2193"/>
            <a:ext cx="8133213" cy="1325563"/>
          </a:xfrm>
        </p:spPr>
        <p:txBody>
          <a:bodyPr/>
          <a:lstStyle/>
          <a:p>
            <a:r>
              <a:rPr lang="en-US" b="1" i="1" dirty="0"/>
              <a:t>Pneumatic </a:t>
            </a:r>
            <a:r>
              <a:rPr lang="en-US" b="1" dirty="0"/>
              <a:t>and </a:t>
            </a:r>
            <a:r>
              <a:rPr lang="en-US" b="1" i="1" dirty="0"/>
              <a:t>Hydraulic </a:t>
            </a:r>
            <a:r>
              <a:rPr lang="en-US" b="1" dirty="0"/>
              <a:t>Actuators</a:t>
            </a:r>
            <a:endParaRPr lang="en-US" dirty="0"/>
          </a:p>
        </p:txBody>
      </p:sp>
      <p:sp>
        <p:nvSpPr>
          <p:cNvPr id="3" name="Content Placeholder 2"/>
          <p:cNvSpPr>
            <a:spLocks noGrp="1"/>
          </p:cNvSpPr>
          <p:nvPr>
            <p:ph idx="1"/>
          </p:nvPr>
        </p:nvSpPr>
        <p:spPr>
          <a:xfrm>
            <a:off x="287866" y="2117211"/>
            <a:ext cx="10266655" cy="4019518"/>
          </a:xfrm>
        </p:spPr>
        <p:txBody>
          <a:bodyPr>
            <a:normAutofit/>
          </a:bodyPr>
          <a:lstStyle/>
          <a:p>
            <a:pPr algn="just"/>
            <a:r>
              <a:rPr lang="en-US" sz="2800" dirty="0"/>
              <a:t>Both these actuators are powered by moving fluids.</a:t>
            </a:r>
          </a:p>
          <a:p>
            <a:pPr algn="just"/>
            <a:r>
              <a:rPr lang="en-US" sz="2800" dirty="0"/>
              <a:t>In the first case, the fluid is compressed air </a:t>
            </a:r>
            <a:r>
              <a:rPr lang="en-US" sz="2800" i="1" dirty="0"/>
              <a:t>and</a:t>
            </a:r>
            <a:endParaRPr lang="en-US" sz="2800" dirty="0"/>
          </a:p>
          <a:p>
            <a:pPr algn="just"/>
            <a:r>
              <a:rPr lang="en-US" sz="2800" dirty="0"/>
              <a:t>In the second case, the fluid is pressurized oil.</a:t>
            </a:r>
          </a:p>
          <a:p>
            <a:pPr algn="just"/>
            <a:r>
              <a:rPr lang="en-US" sz="2800" dirty="0"/>
              <a:t>Pneumatic systems typically operate at about </a:t>
            </a:r>
            <a:r>
              <a:rPr lang="en-US" sz="2800" b="1" dirty="0"/>
              <a:t>100lb/in2</a:t>
            </a:r>
          </a:p>
          <a:p>
            <a:pPr algn="just"/>
            <a:r>
              <a:rPr lang="en-US" sz="2800" dirty="0"/>
              <a:t>Hydraulic systems at </a:t>
            </a:r>
            <a:r>
              <a:rPr lang="en-US" sz="2800" b="1" dirty="0"/>
              <a:t>1000 to 3000 </a:t>
            </a:r>
            <a:r>
              <a:rPr lang="en-US" sz="2800" b="1" dirty="0" err="1"/>
              <a:t>lb</a:t>
            </a:r>
            <a:r>
              <a:rPr lang="en-US" sz="2800" b="1" dirty="0"/>
              <a:t>/in2</a:t>
            </a:r>
            <a:r>
              <a:rPr lang="en-US" sz="2800" dirty="0"/>
              <a:t>.</a:t>
            </a:r>
          </a:p>
          <a:p>
            <a:pPr>
              <a:buFont typeface="Wingdings" pitchFamily="2" charset="2"/>
              <a:buChar char="§"/>
            </a:pPr>
            <a:r>
              <a:rPr lang="en-US" sz="2000" dirty="0"/>
              <a:t>Both Hydraulic and Pneumatic actuators are classified as</a:t>
            </a:r>
          </a:p>
          <a:p>
            <a:pPr lvl="2"/>
            <a:r>
              <a:rPr lang="en-US" sz="2400" dirty="0"/>
              <a:t>linear Actuators (Cylinders).</a:t>
            </a:r>
            <a:endParaRPr lang="en-US" sz="600" dirty="0"/>
          </a:p>
          <a:p>
            <a:pPr lvl="2"/>
            <a:r>
              <a:rPr lang="en-US" sz="2400" dirty="0"/>
              <a:t>Rotary Actuators (Motors).</a:t>
            </a:r>
          </a:p>
        </p:txBody>
      </p:sp>
    </p:spTree>
    <p:extLst>
      <p:ext uri="{BB962C8B-B14F-4D97-AF65-F5344CB8AC3E}">
        <p14:creationId xmlns:p14="http://schemas.microsoft.com/office/powerpoint/2010/main" val="550448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553078" y="1690690"/>
            <a:ext cx="4879878" cy="4876387"/>
          </a:xfrm>
          <a:prstGeom prst="rect">
            <a:avLst/>
          </a:prstGeom>
        </p:spPr>
      </p:pic>
      <p:sp>
        <p:nvSpPr>
          <p:cNvPr id="5" name="Title 1"/>
          <p:cNvSpPr>
            <a:spLocks noGrp="1"/>
          </p:cNvSpPr>
          <p:nvPr>
            <p:ph type="title"/>
          </p:nvPr>
        </p:nvSpPr>
        <p:spPr>
          <a:xfrm>
            <a:off x="1906138" y="365127"/>
            <a:ext cx="8133213" cy="1325563"/>
          </a:xfrm>
        </p:spPr>
        <p:txBody>
          <a:bodyPr/>
          <a:lstStyle/>
          <a:p>
            <a:r>
              <a:rPr lang="en-US" b="1" i="1" dirty="0"/>
              <a:t>Pneumatic </a:t>
            </a:r>
            <a:r>
              <a:rPr lang="en-US" b="1" dirty="0"/>
              <a:t>and </a:t>
            </a:r>
            <a:r>
              <a:rPr lang="en-US" b="1" i="1" dirty="0"/>
              <a:t>Hydraulic </a:t>
            </a:r>
            <a:r>
              <a:rPr lang="en-US" b="1" dirty="0"/>
              <a:t>Actuators</a:t>
            </a:r>
            <a:endParaRPr lang="en-US" dirty="0"/>
          </a:p>
        </p:txBody>
      </p:sp>
      <p:sp>
        <p:nvSpPr>
          <p:cNvPr id="2" name="TextBox 1"/>
          <p:cNvSpPr txBox="1"/>
          <p:nvPr/>
        </p:nvSpPr>
        <p:spPr>
          <a:xfrm>
            <a:off x="2492991" y="1334590"/>
            <a:ext cx="3957851" cy="523220"/>
          </a:xfrm>
          <a:prstGeom prst="rect">
            <a:avLst/>
          </a:prstGeom>
          <a:noFill/>
        </p:spPr>
        <p:txBody>
          <a:bodyPr wrap="square" rtlCol="0">
            <a:spAutoFit/>
          </a:bodyPr>
          <a:lstStyle/>
          <a:p>
            <a:r>
              <a:rPr lang="en-US" sz="2800" b="1" i="1" dirty="0"/>
              <a:t>linear Actuators</a:t>
            </a:r>
          </a:p>
        </p:txBody>
      </p:sp>
    </p:spTree>
    <p:extLst>
      <p:ext uri="{BB962C8B-B14F-4D97-AF65-F5344CB8AC3E}">
        <p14:creationId xmlns:p14="http://schemas.microsoft.com/office/powerpoint/2010/main" val="1589407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9394" y="2827273"/>
            <a:ext cx="7886700" cy="4351338"/>
          </a:xfrm>
        </p:spPr>
        <p:txBody>
          <a:bodyPr>
            <a:normAutofit/>
          </a:bodyPr>
          <a:lstStyle/>
          <a:p>
            <a:pPr algn="just">
              <a:lnSpc>
                <a:spcPct val="100000"/>
              </a:lnSpc>
            </a:pPr>
            <a:r>
              <a:rPr lang="en-US" dirty="0"/>
              <a:t>The simplest power device could be used to actuate a linear joint by means of a moving piston.</a:t>
            </a:r>
          </a:p>
          <a:p>
            <a:pPr algn="just">
              <a:lnSpc>
                <a:spcPct val="100000"/>
              </a:lnSpc>
            </a:pPr>
            <a:r>
              <a:rPr lang="en-US" dirty="0"/>
              <a:t>There are two relationships of particular interest when discussing actuators:</a:t>
            </a:r>
          </a:p>
          <a:p>
            <a:pPr marL="971550" lvl="1" indent="-514350">
              <a:buFont typeface="+mj-lt"/>
              <a:buAutoNum type="arabicPeriod"/>
            </a:pPr>
            <a:r>
              <a:rPr lang="en-US" sz="2800" dirty="0"/>
              <a:t>The velocity of the actuator with respect to input power and </a:t>
            </a:r>
          </a:p>
          <a:p>
            <a:pPr marL="971550" lvl="1" indent="-514350">
              <a:buFont typeface="+mj-lt"/>
              <a:buAutoNum type="arabicPeriod"/>
            </a:pPr>
            <a:r>
              <a:rPr lang="en-US" sz="2800" dirty="0"/>
              <a:t>Force of the actuator with respect to the input power</a:t>
            </a:r>
            <a:r>
              <a:rPr lang="en-US" dirty="0"/>
              <a:t>. </a:t>
            </a:r>
          </a:p>
          <a:p>
            <a:pPr lvl="1"/>
            <a:endParaRPr lang="en-US" dirty="0"/>
          </a:p>
        </p:txBody>
      </p:sp>
      <p:sp>
        <p:nvSpPr>
          <p:cNvPr id="7" name="Title 1"/>
          <p:cNvSpPr>
            <a:spLocks noGrp="1"/>
          </p:cNvSpPr>
          <p:nvPr>
            <p:ph type="title"/>
          </p:nvPr>
        </p:nvSpPr>
        <p:spPr>
          <a:xfrm>
            <a:off x="333943" y="752130"/>
            <a:ext cx="9582151" cy="1325563"/>
          </a:xfrm>
        </p:spPr>
        <p:txBody>
          <a:bodyPr/>
          <a:lstStyle/>
          <a:p>
            <a:r>
              <a:rPr lang="en-US" b="1" i="1" dirty="0"/>
              <a:t>Pneumatic </a:t>
            </a:r>
            <a:r>
              <a:rPr lang="en-US" b="1" dirty="0"/>
              <a:t>and </a:t>
            </a:r>
            <a:r>
              <a:rPr lang="en-US" b="1" i="1" dirty="0"/>
              <a:t>Hydraulic </a:t>
            </a:r>
            <a:r>
              <a:rPr lang="en-US" b="1" dirty="0"/>
              <a:t>Actuators</a:t>
            </a:r>
            <a:endParaRPr lang="en-US" dirty="0"/>
          </a:p>
        </p:txBody>
      </p:sp>
      <p:sp>
        <p:nvSpPr>
          <p:cNvPr id="4" name="TextBox 3"/>
          <p:cNvSpPr txBox="1"/>
          <p:nvPr/>
        </p:nvSpPr>
        <p:spPr>
          <a:xfrm>
            <a:off x="2138149" y="2130456"/>
            <a:ext cx="3957851" cy="523220"/>
          </a:xfrm>
          <a:prstGeom prst="rect">
            <a:avLst/>
          </a:prstGeom>
          <a:noFill/>
        </p:spPr>
        <p:txBody>
          <a:bodyPr wrap="square" rtlCol="0">
            <a:spAutoFit/>
          </a:bodyPr>
          <a:lstStyle/>
          <a:p>
            <a:r>
              <a:rPr lang="en-US" sz="2800" b="1" i="1" dirty="0"/>
              <a:t>linear Actuators</a:t>
            </a:r>
          </a:p>
        </p:txBody>
      </p:sp>
    </p:spTree>
    <p:extLst>
      <p:ext uri="{BB962C8B-B14F-4D97-AF65-F5344CB8AC3E}">
        <p14:creationId xmlns:p14="http://schemas.microsoft.com/office/powerpoint/2010/main" val="4018743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21727" y="2267907"/>
            <a:ext cx="5674273" cy="2017519"/>
          </a:xfrm>
          <a:prstGeom prst="rect">
            <a:avLst/>
          </a:prstGeom>
        </p:spPr>
      </p:pic>
      <p:pic>
        <p:nvPicPr>
          <p:cNvPr id="5" name="Picture 4"/>
          <p:cNvPicPr>
            <a:picLocks noChangeAspect="1"/>
          </p:cNvPicPr>
          <p:nvPr/>
        </p:nvPicPr>
        <p:blipFill>
          <a:blip r:embed="rId3"/>
          <a:stretch>
            <a:fillRect/>
          </a:stretch>
        </p:blipFill>
        <p:spPr>
          <a:xfrm>
            <a:off x="6096000" y="2267907"/>
            <a:ext cx="5191125" cy="2981325"/>
          </a:xfrm>
          <a:prstGeom prst="rect">
            <a:avLst/>
          </a:prstGeom>
        </p:spPr>
      </p:pic>
      <p:sp>
        <p:nvSpPr>
          <p:cNvPr id="6" name="Title 1"/>
          <p:cNvSpPr>
            <a:spLocks noGrp="1"/>
          </p:cNvSpPr>
          <p:nvPr>
            <p:ph type="title"/>
          </p:nvPr>
        </p:nvSpPr>
        <p:spPr>
          <a:xfrm>
            <a:off x="1906138" y="365127"/>
            <a:ext cx="8133213" cy="1325563"/>
          </a:xfrm>
        </p:spPr>
        <p:txBody>
          <a:bodyPr/>
          <a:lstStyle/>
          <a:p>
            <a:r>
              <a:rPr lang="en-US" b="1" i="1" dirty="0"/>
              <a:t>Pneumatic </a:t>
            </a:r>
            <a:r>
              <a:rPr lang="en-US" b="1" dirty="0"/>
              <a:t>and </a:t>
            </a:r>
            <a:r>
              <a:rPr lang="en-US" b="1" i="1" dirty="0"/>
              <a:t>Hydraulic </a:t>
            </a:r>
            <a:r>
              <a:rPr lang="en-US" b="1" dirty="0"/>
              <a:t>Actuators</a:t>
            </a:r>
            <a:endParaRPr lang="en-US" dirty="0"/>
          </a:p>
        </p:txBody>
      </p:sp>
      <p:sp>
        <p:nvSpPr>
          <p:cNvPr id="7" name="TextBox 6"/>
          <p:cNvSpPr txBox="1"/>
          <p:nvPr/>
        </p:nvSpPr>
        <p:spPr>
          <a:xfrm>
            <a:off x="2492991" y="1334590"/>
            <a:ext cx="3957851" cy="523220"/>
          </a:xfrm>
          <a:prstGeom prst="rect">
            <a:avLst/>
          </a:prstGeom>
          <a:noFill/>
        </p:spPr>
        <p:txBody>
          <a:bodyPr wrap="square" rtlCol="0">
            <a:spAutoFit/>
          </a:bodyPr>
          <a:lstStyle/>
          <a:p>
            <a:r>
              <a:rPr lang="en-US" sz="2800" b="1" i="1" dirty="0"/>
              <a:t>linear Actuators</a:t>
            </a:r>
          </a:p>
        </p:txBody>
      </p:sp>
    </p:spTree>
    <p:extLst>
      <p:ext uri="{BB962C8B-B14F-4D97-AF65-F5344CB8AC3E}">
        <p14:creationId xmlns:p14="http://schemas.microsoft.com/office/powerpoint/2010/main" val="3359280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4967" y="270637"/>
            <a:ext cx="8133213" cy="1325563"/>
          </a:xfrm>
        </p:spPr>
        <p:txBody>
          <a:bodyPr/>
          <a:lstStyle/>
          <a:p>
            <a:r>
              <a:rPr lang="en-US" b="1" i="1" dirty="0"/>
              <a:t>Pneumatic </a:t>
            </a:r>
            <a:r>
              <a:rPr lang="en-US" b="1" dirty="0"/>
              <a:t>and </a:t>
            </a:r>
            <a:r>
              <a:rPr lang="en-US" b="1" i="1" dirty="0"/>
              <a:t>Hydraulic </a:t>
            </a:r>
            <a:r>
              <a:rPr lang="en-US" b="1" dirty="0"/>
              <a:t>Actuators</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2736" y="1857810"/>
            <a:ext cx="6509698" cy="4824446"/>
          </a:xfrm>
          <a:prstGeom prst="rect">
            <a:avLst/>
          </a:prstGeom>
        </p:spPr>
      </p:pic>
      <p:sp>
        <p:nvSpPr>
          <p:cNvPr id="6" name="TextBox 5"/>
          <p:cNvSpPr txBox="1"/>
          <p:nvPr/>
        </p:nvSpPr>
        <p:spPr>
          <a:xfrm>
            <a:off x="173723" y="1334590"/>
            <a:ext cx="3957851" cy="523220"/>
          </a:xfrm>
          <a:prstGeom prst="rect">
            <a:avLst/>
          </a:prstGeom>
          <a:noFill/>
        </p:spPr>
        <p:txBody>
          <a:bodyPr wrap="square" rtlCol="0">
            <a:spAutoFit/>
          </a:bodyPr>
          <a:lstStyle/>
          <a:p>
            <a:r>
              <a:rPr lang="en-US" sz="2800" b="1" i="1" dirty="0"/>
              <a:t>Rotary Actuators</a:t>
            </a:r>
          </a:p>
        </p:txBody>
      </p:sp>
      <p:sp>
        <p:nvSpPr>
          <p:cNvPr id="8" name="TextBox 7"/>
          <p:cNvSpPr txBox="1"/>
          <p:nvPr/>
        </p:nvSpPr>
        <p:spPr>
          <a:xfrm>
            <a:off x="10258568" y="204717"/>
            <a:ext cx="461665" cy="6264323"/>
          </a:xfrm>
          <a:prstGeom prst="rect">
            <a:avLst/>
          </a:prstGeom>
          <a:noFill/>
        </p:spPr>
        <p:txBody>
          <a:bodyPr vert="vert270" wrap="square" rtlCol="0">
            <a:spAutoFit/>
          </a:bodyPr>
          <a:lstStyle/>
          <a:p>
            <a:r>
              <a:rPr lang="en-US" dirty="0">
                <a:latin typeface="Adjutant-Normal" pitchFamily="2" charset="0"/>
              </a:rPr>
              <a:t>Sccemechanical.wordpress.com</a:t>
            </a:r>
          </a:p>
        </p:txBody>
      </p:sp>
    </p:spTree>
    <p:extLst>
      <p:ext uri="{BB962C8B-B14F-4D97-AF65-F5344CB8AC3E}">
        <p14:creationId xmlns:p14="http://schemas.microsoft.com/office/powerpoint/2010/main" val="540327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6533" y="1840668"/>
            <a:ext cx="10326806" cy="4779892"/>
          </a:xfrm>
        </p:spPr>
        <p:txBody>
          <a:bodyPr/>
          <a:lstStyle/>
          <a:p>
            <a:pPr algn="just"/>
            <a:r>
              <a:rPr lang="en-US" dirty="0"/>
              <a:t>There is a relationship of particular interest when discussing Rotary actuator:</a:t>
            </a:r>
          </a:p>
          <a:p>
            <a:pPr algn="just"/>
            <a:r>
              <a:rPr lang="en-US" dirty="0"/>
              <a:t>The angular velocity, </a:t>
            </a:r>
            <a:r>
              <a:rPr lang="el-GR" dirty="0"/>
              <a:t>ω</a:t>
            </a:r>
            <a:r>
              <a:rPr lang="en-US" dirty="0"/>
              <a:t>, and Torque, T.</a:t>
            </a:r>
          </a:p>
          <a:p>
            <a:pPr algn="just"/>
            <a:endParaRPr lang="en-US" dirty="0"/>
          </a:p>
          <a:p>
            <a:pPr algn="just"/>
            <a:endParaRPr lang="en-US" dirty="0"/>
          </a:p>
          <a:p>
            <a:pPr algn="just"/>
            <a:endParaRPr lang="en-US" dirty="0"/>
          </a:p>
          <a:p>
            <a:pPr algn="just"/>
            <a:endParaRPr lang="en-US" dirty="0"/>
          </a:p>
          <a:p>
            <a:pPr algn="just"/>
            <a:endParaRPr lang="en-US" dirty="0"/>
          </a:p>
          <a:p>
            <a:pPr algn="just"/>
            <a:r>
              <a:rPr lang="en-US" i="1" dirty="0"/>
              <a:t>R</a:t>
            </a:r>
            <a:r>
              <a:rPr lang="en-US" dirty="0"/>
              <a:t>, outer radius of the vane., </a:t>
            </a:r>
            <a:r>
              <a:rPr lang="en-US" i="1" dirty="0"/>
              <a:t>r</a:t>
            </a:r>
            <a:r>
              <a:rPr lang="en-US" dirty="0"/>
              <a:t>, inner radius., </a:t>
            </a:r>
            <a:r>
              <a:rPr lang="en-US" i="1" dirty="0"/>
              <a:t>h,</a:t>
            </a:r>
            <a:r>
              <a:rPr lang="en-US" dirty="0"/>
              <a:t> thickness of the vane.,</a:t>
            </a:r>
            <a:r>
              <a:rPr lang="el-GR" dirty="0"/>
              <a:t> </a:t>
            </a:r>
            <a:r>
              <a:rPr lang="el-GR" i="1" dirty="0"/>
              <a:t>ω</a:t>
            </a:r>
            <a:r>
              <a:rPr lang="en-US" i="1" dirty="0"/>
              <a:t>, </a:t>
            </a:r>
            <a:r>
              <a:rPr lang="en-US" dirty="0"/>
              <a:t>angular velocity., </a:t>
            </a:r>
            <a:r>
              <a:rPr lang="en-US" i="1" dirty="0"/>
              <a:t>T,</a:t>
            </a:r>
            <a:r>
              <a:rPr lang="en-US" dirty="0"/>
              <a:t> torque.</a:t>
            </a:r>
            <a:r>
              <a:rPr lang="en-US" i="1" dirty="0"/>
              <a:t> </a:t>
            </a:r>
          </a:p>
        </p:txBody>
      </p:sp>
      <p:sp>
        <p:nvSpPr>
          <p:cNvPr id="4" name="Title 1"/>
          <p:cNvSpPr>
            <a:spLocks noGrp="1"/>
          </p:cNvSpPr>
          <p:nvPr>
            <p:ph type="title"/>
          </p:nvPr>
        </p:nvSpPr>
        <p:spPr>
          <a:xfrm>
            <a:off x="0" y="9027"/>
            <a:ext cx="8133213" cy="1325563"/>
          </a:xfrm>
        </p:spPr>
        <p:txBody>
          <a:bodyPr/>
          <a:lstStyle/>
          <a:p>
            <a:r>
              <a:rPr lang="en-US" b="1" i="1" dirty="0"/>
              <a:t>Pneumatic </a:t>
            </a:r>
            <a:r>
              <a:rPr lang="en-US" b="1" dirty="0"/>
              <a:t>and </a:t>
            </a:r>
            <a:r>
              <a:rPr lang="en-US" b="1" i="1" dirty="0"/>
              <a:t>Hydraulic </a:t>
            </a:r>
            <a:r>
              <a:rPr lang="en-US" b="1" dirty="0"/>
              <a:t>Actuators</a:t>
            </a:r>
            <a:endParaRPr lang="en-US" dirty="0"/>
          </a:p>
        </p:txBody>
      </p:sp>
      <p:sp>
        <p:nvSpPr>
          <p:cNvPr id="5" name="TextBox 4"/>
          <p:cNvSpPr txBox="1"/>
          <p:nvPr/>
        </p:nvSpPr>
        <p:spPr>
          <a:xfrm>
            <a:off x="0" y="889537"/>
            <a:ext cx="3957851" cy="523220"/>
          </a:xfrm>
          <a:prstGeom prst="rect">
            <a:avLst/>
          </a:prstGeom>
          <a:noFill/>
        </p:spPr>
        <p:txBody>
          <a:bodyPr wrap="square" rtlCol="0">
            <a:spAutoFit/>
          </a:bodyPr>
          <a:lstStyle/>
          <a:p>
            <a:r>
              <a:rPr lang="en-US" sz="2800" b="1" i="1" dirty="0"/>
              <a:t>Rotary Actuators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2991" y="3219711"/>
            <a:ext cx="5281685" cy="2021806"/>
          </a:xfrm>
          <a:prstGeom prst="rect">
            <a:avLst/>
          </a:prstGeom>
        </p:spPr>
      </p:pic>
    </p:spTree>
    <p:extLst>
      <p:ext uri="{BB962C8B-B14F-4D97-AF65-F5344CB8AC3E}">
        <p14:creationId xmlns:p14="http://schemas.microsoft.com/office/powerpoint/2010/main" val="2440516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Advantages and limitations of  Pneumatic actuators</a:t>
            </a:r>
            <a:endParaRPr lang="en-US" dirty="0"/>
          </a:p>
        </p:txBody>
      </p:sp>
      <p:sp>
        <p:nvSpPr>
          <p:cNvPr id="3" name="Text Placeholder 2"/>
          <p:cNvSpPr>
            <a:spLocks noGrp="1"/>
          </p:cNvSpPr>
          <p:nvPr>
            <p:ph type="body" idx="1"/>
          </p:nvPr>
        </p:nvSpPr>
        <p:spPr>
          <a:xfrm>
            <a:off x="1839943" y="1503742"/>
            <a:ext cx="3868340" cy="823912"/>
          </a:xfrm>
        </p:spPr>
        <p:txBody>
          <a:bodyPr/>
          <a:lstStyle/>
          <a:p>
            <a:pPr algn="ctr">
              <a:lnSpc>
                <a:spcPct val="100000"/>
              </a:lnSpc>
            </a:pPr>
            <a:r>
              <a:rPr lang="en-US" u="sng" dirty="0"/>
              <a:t>ADVANTAGES</a:t>
            </a:r>
            <a:endParaRPr lang="en-US" dirty="0"/>
          </a:p>
        </p:txBody>
      </p:sp>
      <p:sp>
        <p:nvSpPr>
          <p:cNvPr id="4" name="Content Placeholder 3"/>
          <p:cNvSpPr>
            <a:spLocks noGrp="1"/>
          </p:cNvSpPr>
          <p:nvPr>
            <p:ph sz="half" idx="2"/>
          </p:nvPr>
        </p:nvSpPr>
        <p:spPr>
          <a:xfrm>
            <a:off x="0" y="2327654"/>
            <a:ext cx="6055057" cy="4073146"/>
          </a:xfrm>
        </p:spPr>
        <p:txBody>
          <a:bodyPr>
            <a:normAutofit fontScale="85000" lnSpcReduction="20000"/>
          </a:bodyPr>
          <a:lstStyle/>
          <a:p>
            <a:pPr algn="just"/>
            <a:r>
              <a:rPr lang="en-US" dirty="0"/>
              <a:t>It is cheapest form of all actuators. Components are readily available and compressed air normally is an readily available facility in factories.</a:t>
            </a:r>
          </a:p>
          <a:p>
            <a:pPr algn="just"/>
            <a:r>
              <a:rPr lang="en-US" dirty="0"/>
              <a:t>Compressed air can be stored and conveyed easily over long distances.</a:t>
            </a:r>
          </a:p>
          <a:p>
            <a:pPr algn="just"/>
            <a:r>
              <a:rPr lang="en-US" dirty="0"/>
              <a:t>They have few moving parts making them inherently reliable and reducing maintenance costs.</a:t>
            </a:r>
          </a:p>
          <a:p>
            <a:pPr algn="just"/>
            <a:r>
              <a:rPr lang="en-US" dirty="0"/>
              <a:t>They have quick action and response time thus allowing for fast work cycles.</a:t>
            </a:r>
          </a:p>
          <a:p>
            <a:pPr algn="just"/>
            <a:r>
              <a:rPr lang="en-US" dirty="0"/>
              <a:t>No mechanical transmission is usually required.</a:t>
            </a:r>
          </a:p>
          <a:p>
            <a:pPr algn="just"/>
            <a:r>
              <a:rPr lang="en-US" dirty="0"/>
              <a:t>These systems are usually compact thus the control is simple </a:t>
            </a:r>
            <a:r>
              <a:rPr lang="en-US" dirty="0" err="1"/>
              <a:t>e.g</a:t>
            </a:r>
            <a:r>
              <a:rPr lang="en-US" dirty="0"/>
              <a:t>: mechanical stops are often used.</a:t>
            </a:r>
          </a:p>
          <a:p>
            <a:pPr algn="just"/>
            <a:endParaRPr lang="en-US" dirty="0"/>
          </a:p>
        </p:txBody>
      </p:sp>
      <p:sp>
        <p:nvSpPr>
          <p:cNvPr id="5" name="Text Placeholder 4"/>
          <p:cNvSpPr>
            <a:spLocks noGrp="1"/>
          </p:cNvSpPr>
          <p:nvPr>
            <p:ph type="body" sz="quarter" idx="3"/>
          </p:nvPr>
        </p:nvSpPr>
        <p:spPr>
          <a:xfrm>
            <a:off x="6022182" y="1503742"/>
            <a:ext cx="3887391" cy="823912"/>
          </a:xfrm>
        </p:spPr>
        <p:txBody>
          <a:bodyPr/>
          <a:lstStyle/>
          <a:p>
            <a:pPr algn="ctr"/>
            <a:r>
              <a:rPr lang="en-US" u="sng" dirty="0"/>
              <a:t>LIMITATIONS</a:t>
            </a:r>
          </a:p>
        </p:txBody>
      </p:sp>
      <p:sp>
        <p:nvSpPr>
          <p:cNvPr id="6" name="Content Placeholder 5"/>
          <p:cNvSpPr>
            <a:spLocks noGrp="1"/>
          </p:cNvSpPr>
          <p:nvPr>
            <p:ph sz="quarter" idx="4"/>
          </p:nvPr>
        </p:nvSpPr>
        <p:spPr>
          <a:xfrm>
            <a:off x="6564046" y="2327654"/>
            <a:ext cx="5627953" cy="1329946"/>
          </a:xfrm>
        </p:spPr>
        <p:txBody>
          <a:bodyPr>
            <a:normAutofit fontScale="85000" lnSpcReduction="20000"/>
          </a:bodyPr>
          <a:lstStyle/>
          <a:p>
            <a:pPr algn="just"/>
            <a:r>
              <a:rPr lang="en-US" sz="1600" dirty="0"/>
              <a:t>Since air is compressible, precise control of speed and position is not easily obtainable unless much more complex electro mechanical devices are incorporated in to system.</a:t>
            </a:r>
          </a:p>
          <a:p>
            <a:pPr algn="just"/>
            <a:r>
              <a:rPr lang="en-US" sz="1600" dirty="0"/>
              <a:t>If mechanical stops are used resetting the system can be slow.</a:t>
            </a:r>
          </a:p>
          <a:p>
            <a:pPr algn="just"/>
            <a:r>
              <a:rPr lang="en-US" sz="1600" dirty="0"/>
              <a:t>If moisture penetrates the units and ferrous metals have been used then damage to individual components may happen.</a:t>
            </a:r>
          </a:p>
        </p:txBody>
      </p:sp>
    </p:spTree>
    <p:extLst>
      <p:ext uri="{BB962C8B-B14F-4D97-AF65-F5344CB8AC3E}">
        <p14:creationId xmlns:p14="http://schemas.microsoft.com/office/powerpoint/2010/main" val="1445531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Advantages and limitations of  Hydraulic actuators</a:t>
            </a:r>
            <a:endParaRPr lang="en-US" dirty="0"/>
          </a:p>
        </p:txBody>
      </p:sp>
      <p:sp>
        <p:nvSpPr>
          <p:cNvPr id="3" name="Text Placeholder 2"/>
          <p:cNvSpPr>
            <a:spLocks noGrp="1"/>
          </p:cNvSpPr>
          <p:nvPr>
            <p:ph type="body" idx="1"/>
          </p:nvPr>
        </p:nvSpPr>
        <p:spPr>
          <a:xfrm>
            <a:off x="2153841" y="1380912"/>
            <a:ext cx="3868340" cy="823912"/>
          </a:xfrm>
        </p:spPr>
        <p:txBody>
          <a:bodyPr/>
          <a:lstStyle/>
          <a:p>
            <a:pPr algn="ctr"/>
            <a:r>
              <a:rPr lang="en-US" u="sng" dirty="0"/>
              <a:t>ADVANTAGES</a:t>
            </a:r>
          </a:p>
        </p:txBody>
      </p:sp>
      <p:sp>
        <p:nvSpPr>
          <p:cNvPr id="4" name="Content Placeholder 3"/>
          <p:cNvSpPr>
            <a:spLocks noGrp="1"/>
          </p:cNvSpPr>
          <p:nvPr>
            <p:ph sz="half" idx="2"/>
          </p:nvPr>
        </p:nvSpPr>
        <p:spPr>
          <a:xfrm>
            <a:off x="186267" y="2505075"/>
            <a:ext cx="5835915" cy="4032202"/>
          </a:xfrm>
        </p:spPr>
        <p:txBody>
          <a:bodyPr>
            <a:normAutofit fontScale="92500" lnSpcReduction="20000"/>
          </a:bodyPr>
          <a:lstStyle/>
          <a:p>
            <a:pPr algn="just"/>
            <a:r>
              <a:rPr lang="en-US" dirty="0"/>
              <a:t>High efficiency and high power to size ratio.</a:t>
            </a:r>
          </a:p>
          <a:p>
            <a:pPr algn="just"/>
            <a:r>
              <a:rPr lang="en-US" dirty="0"/>
              <a:t>Complete and accurate control over speed position and direction of actuators are possible.</a:t>
            </a:r>
          </a:p>
          <a:p>
            <a:pPr algn="just"/>
            <a:r>
              <a:rPr lang="en-US" dirty="0"/>
              <a:t>No mechanical linkage is required i.e., a direct drive is obtained with mechanical simplicity.</a:t>
            </a:r>
          </a:p>
          <a:p>
            <a:pPr algn="just"/>
            <a:r>
              <a:rPr lang="en-US" dirty="0"/>
              <a:t>They generally have a greater load carrying capacity than electric and pneumatic actuators.</a:t>
            </a:r>
          </a:p>
          <a:p>
            <a:pPr algn="just"/>
            <a:r>
              <a:rPr lang="en-US" dirty="0"/>
              <a:t>Self lubricating and non corrosive.</a:t>
            </a:r>
          </a:p>
          <a:p>
            <a:pPr algn="just"/>
            <a:r>
              <a:rPr lang="en-US" dirty="0"/>
              <a:t>Hydraulic robots are more capable of with standing shock loads than electric robots.</a:t>
            </a:r>
          </a:p>
        </p:txBody>
      </p:sp>
      <p:sp>
        <p:nvSpPr>
          <p:cNvPr id="5" name="Text Placeholder 4"/>
          <p:cNvSpPr>
            <a:spLocks noGrp="1"/>
          </p:cNvSpPr>
          <p:nvPr>
            <p:ph type="body" sz="quarter" idx="3"/>
          </p:nvPr>
        </p:nvSpPr>
        <p:spPr>
          <a:xfrm>
            <a:off x="6022182" y="1380912"/>
            <a:ext cx="3887391" cy="823912"/>
          </a:xfrm>
        </p:spPr>
        <p:txBody>
          <a:bodyPr/>
          <a:lstStyle/>
          <a:p>
            <a:pPr algn="ctr"/>
            <a:r>
              <a:rPr lang="en-US" u="sng" dirty="0"/>
              <a:t>LIMITATIONS</a:t>
            </a:r>
          </a:p>
        </p:txBody>
      </p:sp>
      <p:sp>
        <p:nvSpPr>
          <p:cNvPr id="6" name="Content Placeholder 5"/>
          <p:cNvSpPr>
            <a:spLocks noGrp="1"/>
          </p:cNvSpPr>
          <p:nvPr>
            <p:ph sz="quarter" idx="4"/>
          </p:nvPr>
        </p:nvSpPr>
        <p:spPr>
          <a:xfrm>
            <a:off x="6153151" y="2505075"/>
            <a:ext cx="5293782" cy="3684588"/>
          </a:xfrm>
        </p:spPr>
        <p:txBody>
          <a:bodyPr>
            <a:normAutofit fontScale="92500" lnSpcReduction="20000"/>
          </a:bodyPr>
          <a:lstStyle/>
          <a:p>
            <a:pPr algn="just"/>
            <a:r>
              <a:rPr lang="en-US" dirty="0"/>
              <a:t>Leakages can occur causing a loss in performance and general contamination of the work area. There is also a higher fire risk.</a:t>
            </a:r>
          </a:p>
          <a:p>
            <a:pPr algn="just"/>
            <a:r>
              <a:rPr lang="en-US" dirty="0"/>
              <a:t>The power pack can be noisy typically about 70 decibel or louder if not protected by an acoustic muffler.</a:t>
            </a:r>
          </a:p>
          <a:p>
            <a:pPr algn="just"/>
            <a:r>
              <a:rPr lang="en-US" dirty="0"/>
              <a:t>Changes in temp alter the viscosity of hydraulic fluid. Thus at low temperatures fluid viscosity will increase possibly causing sluggish movement of the robot.</a:t>
            </a:r>
          </a:p>
          <a:p>
            <a:pPr algn="just"/>
            <a:endParaRPr lang="en-US" dirty="0"/>
          </a:p>
        </p:txBody>
      </p:sp>
    </p:spTree>
    <p:extLst>
      <p:ext uri="{BB962C8B-B14F-4D97-AF65-F5344CB8AC3E}">
        <p14:creationId xmlns:p14="http://schemas.microsoft.com/office/powerpoint/2010/main" val="1802712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i="1" dirty="0"/>
              <a:t>Electric</a:t>
            </a:r>
            <a:r>
              <a:rPr lang="en-US" sz="4800" b="1" dirty="0"/>
              <a:t> and </a:t>
            </a:r>
            <a:r>
              <a:rPr lang="en-US" sz="4800" b="1" i="1" dirty="0"/>
              <a:t>Stepper</a:t>
            </a:r>
            <a:r>
              <a:rPr lang="en-US" sz="4800" b="1" dirty="0"/>
              <a:t> Motors</a:t>
            </a:r>
            <a:endParaRPr lang="en-US" sz="4800" dirty="0"/>
          </a:p>
        </p:txBody>
      </p:sp>
      <p:sp>
        <p:nvSpPr>
          <p:cNvPr id="3" name="Content Placeholder 2"/>
          <p:cNvSpPr>
            <a:spLocks noGrp="1"/>
          </p:cNvSpPr>
          <p:nvPr>
            <p:ph idx="1"/>
          </p:nvPr>
        </p:nvSpPr>
        <p:spPr/>
        <p:txBody>
          <a:bodyPr/>
          <a:lstStyle/>
          <a:p>
            <a:pPr algn="just"/>
            <a:r>
              <a:rPr lang="en-US" sz="3200" dirty="0"/>
              <a:t>There are a variety of types of motors used in robots. The most common types are Servomotors and Stepper motors.</a:t>
            </a:r>
          </a:p>
          <a:p>
            <a:pPr marL="228600" lvl="3" algn="just">
              <a:spcBef>
                <a:spcPts val="1000"/>
              </a:spcBef>
            </a:pPr>
            <a:r>
              <a:rPr lang="en-US" sz="3200" dirty="0"/>
              <a:t>Electric actuators are simply electro-mechanical devices which allow movement through the use of an electrically controlled systems of gear.</a:t>
            </a:r>
          </a:p>
          <a:p>
            <a:pPr algn="just"/>
            <a:endParaRPr lang="en-US" dirty="0"/>
          </a:p>
        </p:txBody>
      </p:sp>
    </p:spTree>
    <p:extLst>
      <p:ext uri="{BB962C8B-B14F-4D97-AF65-F5344CB8AC3E}">
        <p14:creationId xmlns:p14="http://schemas.microsoft.com/office/powerpoint/2010/main" val="1367820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142" y="1981201"/>
            <a:ext cx="9920817" cy="5262563"/>
          </a:xfrm>
        </p:spPr>
        <p:txBody>
          <a:bodyPr>
            <a:normAutofit/>
          </a:bodyPr>
          <a:lstStyle/>
          <a:p>
            <a:pPr algn="just"/>
            <a:r>
              <a:rPr lang="en-US" sz="3200" dirty="0"/>
              <a:t>Electric motors usually have a small rating, ranging up to a few horsepower. </a:t>
            </a:r>
          </a:p>
          <a:p>
            <a:pPr algn="just"/>
            <a:r>
              <a:rPr lang="en-US" sz="3200" dirty="0"/>
              <a:t>They are used in small appliances, battery operated vehicles, for medical purposes and in other medical equipment like x-ray machines.</a:t>
            </a:r>
          </a:p>
          <a:p>
            <a:pPr algn="just"/>
            <a:r>
              <a:rPr lang="en-US" sz="3200" dirty="0"/>
              <a:t>Electric motors are also used in toys, and in automobiles as auxiliary motors for the purposes of seat adjustment, power windows, sunroof, mirror adjustment, blower motors, engine cooling fans.</a:t>
            </a:r>
          </a:p>
        </p:txBody>
      </p:sp>
      <p:sp>
        <p:nvSpPr>
          <p:cNvPr id="5" name="Title 1"/>
          <p:cNvSpPr>
            <a:spLocks noGrp="1"/>
          </p:cNvSpPr>
          <p:nvPr>
            <p:ph type="title"/>
          </p:nvPr>
        </p:nvSpPr>
        <p:spPr>
          <a:xfrm>
            <a:off x="480025" y="884236"/>
            <a:ext cx="8229600" cy="914400"/>
          </a:xfrm>
        </p:spPr>
        <p:txBody>
          <a:bodyPr/>
          <a:lstStyle/>
          <a:p>
            <a:r>
              <a:rPr lang="en-US" b="1" u="sng" dirty="0"/>
              <a:t>ELECTRIC MOTORS </a:t>
            </a:r>
          </a:p>
        </p:txBody>
      </p:sp>
      <p:sp>
        <p:nvSpPr>
          <p:cNvPr id="4" name="TextBox 3"/>
          <p:cNvSpPr txBox="1"/>
          <p:nvPr/>
        </p:nvSpPr>
        <p:spPr>
          <a:xfrm>
            <a:off x="10258568" y="204717"/>
            <a:ext cx="461665" cy="6264323"/>
          </a:xfrm>
          <a:prstGeom prst="rect">
            <a:avLst/>
          </a:prstGeom>
          <a:noFill/>
        </p:spPr>
        <p:txBody>
          <a:bodyPr vert="vert270" wrap="square" rtlCol="0">
            <a:spAutoFit/>
          </a:bodyPr>
          <a:lstStyle/>
          <a:p>
            <a:r>
              <a:rPr lang="en-US" dirty="0">
                <a:latin typeface="Adjutant-Normal" pitchFamily="2" charset="0"/>
              </a:rPr>
              <a:t>Sccemechanical.wordpress.com</a:t>
            </a:r>
          </a:p>
        </p:txBody>
      </p:sp>
    </p:spTree>
    <p:extLst>
      <p:ext uri="{BB962C8B-B14F-4D97-AF65-F5344CB8AC3E}">
        <p14:creationId xmlns:p14="http://schemas.microsoft.com/office/powerpoint/2010/main" val="2263358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srcRect/>
          <a:stretch>
            <a:fillRect/>
          </a:stretch>
        </p:blipFill>
        <p:spPr bwMode="auto">
          <a:xfrm>
            <a:off x="2646527" y="1248988"/>
            <a:ext cx="7126975" cy="5123967"/>
          </a:xfrm>
          <a:prstGeom prst="rect">
            <a:avLst/>
          </a:prstGeom>
          <a:noFill/>
          <a:ln w="9525">
            <a:noFill/>
            <a:miter lim="800000"/>
            <a:headEnd/>
            <a:tailEnd/>
          </a:ln>
        </p:spPr>
      </p:pic>
      <p:sp>
        <p:nvSpPr>
          <p:cNvPr id="8" name="Rectangle 7"/>
          <p:cNvSpPr/>
          <p:nvPr/>
        </p:nvSpPr>
        <p:spPr>
          <a:xfrm>
            <a:off x="2646528" y="1517176"/>
            <a:ext cx="1495922" cy="523220"/>
          </a:xfrm>
          <a:prstGeom prst="rect">
            <a:avLst/>
          </a:prstGeom>
        </p:spPr>
        <p:txBody>
          <a:bodyPr wrap="none">
            <a:spAutoFit/>
          </a:bodyPr>
          <a:lstStyle/>
          <a:p>
            <a:pPr lvl="0" fontAlgn="base">
              <a:spcBef>
                <a:spcPct val="0"/>
              </a:spcBef>
              <a:spcAft>
                <a:spcPct val="0"/>
              </a:spcAft>
            </a:pPr>
            <a:r>
              <a:rPr lang="en-US" sz="1400" dirty="0">
                <a:solidFill>
                  <a:srgbClr val="9B2E1F"/>
                </a:solidFill>
                <a:latin typeface="Segoe UI" pitchFamily="34" charset="0"/>
                <a:cs typeface="Segoe UI" pitchFamily="34" charset="0"/>
              </a:rPr>
              <a:t>ROTATING</a:t>
            </a:r>
          </a:p>
          <a:p>
            <a:pPr lvl="0" fontAlgn="base">
              <a:spcBef>
                <a:spcPct val="0"/>
              </a:spcBef>
              <a:spcAft>
                <a:spcPct val="0"/>
              </a:spcAft>
            </a:pPr>
            <a:r>
              <a:rPr lang="en-US" sz="1400" dirty="0">
                <a:solidFill>
                  <a:srgbClr val="9B2E1F"/>
                </a:solidFill>
                <a:latin typeface="Segoe UI" pitchFamily="34" charset="0"/>
                <a:cs typeface="Segoe UI" pitchFamily="34" charset="0"/>
              </a:rPr>
              <a:t>(COMMUTATOR)</a:t>
            </a:r>
            <a:endParaRPr lang="en-US" sz="1400" dirty="0">
              <a:latin typeface="Arial" pitchFamily="34" charset="0"/>
              <a:cs typeface="Arial" pitchFamily="34" charset="0"/>
            </a:endParaRPr>
          </a:p>
        </p:txBody>
      </p:sp>
      <p:sp>
        <p:nvSpPr>
          <p:cNvPr id="9" name="Rectangle 3"/>
          <p:cNvSpPr>
            <a:spLocks noChangeArrowheads="1"/>
          </p:cNvSpPr>
          <p:nvPr/>
        </p:nvSpPr>
        <p:spPr bwMode="auto">
          <a:xfrm>
            <a:off x="1524000" y="3998927"/>
            <a:ext cx="1371600" cy="4154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defTabSz="914400" fontAlgn="base">
              <a:spcBef>
                <a:spcPct val="0"/>
              </a:spcBef>
              <a:spcAft>
                <a:spcPct val="0"/>
              </a:spcAft>
            </a:pPr>
            <a:r>
              <a:rPr lang="en-US" sz="2100" dirty="0">
                <a:solidFill>
                  <a:srgbClr val="9B2E1F"/>
                </a:solidFill>
                <a:latin typeface="Segoe UI" pitchFamily="34" charset="0"/>
                <a:ea typeface="Times New Roman" pitchFamily="18" charset="0"/>
                <a:cs typeface="Segoe UI" pitchFamily="34" charset="0"/>
              </a:rPr>
              <a:t>Brushes</a:t>
            </a:r>
            <a:endParaRPr lang="en-US" dirty="0">
              <a:latin typeface="Arial" pitchFamily="34" charset="0"/>
              <a:cs typeface="Arial" pitchFamily="34" charset="0"/>
            </a:endParaRPr>
          </a:p>
        </p:txBody>
      </p:sp>
      <p:sp>
        <p:nvSpPr>
          <p:cNvPr id="10" name="Rectangle 9"/>
          <p:cNvSpPr/>
          <p:nvPr/>
        </p:nvSpPr>
        <p:spPr>
          <a:xfrm>
            <a:off x="9725635" y="2714389"/>
            <a:ext cx="1088696" cy="307777"/>
          </a:xfrm>
          <a:prstGeom prst="rect">
            <a:avLst/>
          </a:prstGeom>
        </p:spPr>
        <p:txBody>
          <a:bodyPr wrap="none">
            <a:spAutoFit/>
          </a:bodyPr>
          <a:lstStyle/>
          <a:p>
            <a:pPr lvl="0" fontAlgn="base">
              <a:spcBef>
                <a:spcPct val="0"/>
              </a:spcBef>
              <a:spcAft>
                <a:spcPct val="0"/>
              </a:spcAft>
            </a:pPr>
            <a:r>
              <a:rPr lang="en-US" sz="1400" dirty="0">
                <a:solidFill>
                  <a:srgbClr val="9B2E1F"/>
                </a:solidFill>
                <a:latin typeface="Segoe UI" pitchFamily="34" charset="0"/>
                <a:cs typeface="Segoe UI" pitchFamily="34" charset="0"/>
              </a:rPr>
              <a:t>ARMATURE</a:t>
            </a:r>
            <a:endParaRPr lang="en-US" sz="1400" dirty="0">
              <a:latin typeface="Arial" pitchFamily="34" charset="0"/>
              <a:cs typeface="Arial" pitchFamily="34" charset="0"/>
            </a:endParaRPr>
          </a:p>
        </p:txBody>
      </p:sp>
      <p:sp>
        <p:nvSpPr>
          <p:cNvPr id="11" name="Rectangle 10"/>
          <p:cNvSpPr/>
          <p:nvPr/>
        </p:nvSpPr>
        <p:spPr>
          <a:xfrm>
            <a:off x="8584042" y="1517176"/>
            <a:ext cx="792974" cy="307777"/>
          </a:xfrm>
          <a:prstGeom prst="rect">
            <a:avLst/>
          </a:prstGeom>
        </p:spPr>
        <p:txBody>
          <a:bodyPr wrap="none">
            <a:spAutoFit/>
          </a:bodyPr>
          <a:lstStyle/>
          <a:p>
            <a:pPr lvl="0" fontAlgn="base">
              <a:spcBef>
                <a:spcPct val="0"/>
              </a:spcBef>
              <a:spcAft>
                <a:spcPct val="0"/>
              </a:spcAft>
            </a:pPr>
            <a:r>
              <a:rPr lang="en-US" sz="1400" dirty="0">
                <a:solidFill>
                  <a:srgbClr val="9B2E1F"/>
                </a:solidFill>
                <a:latin typeface="Segoe UI" pitchFamily="34" charset="0"/>
                <a:cs typeface="Segoe UI" pitchFamily="34" charset="0"/>
              </a:rPr>
              <a:t>STATOR</a:t>
            </a:r>
            <a:endParaRPr lang="en-US" sz="1400" dirty="0">
              <a:latin typeface="Arial" pitchFamily="34" charset="0"/>
              <a:cs typeface="Arial" pitchFamily="34" charset="0"/>
            </a:endParaRPr>
          </a:p>
        </p:txBody>
      </p:sp>
    </p:spTree>
    <p:extLst>
      <p:ext uri="{BB962C8B-B14F-4D97-AF65-F5344CB8AC3E}">
        <p14:creationId xmlns:p14="http://schemas.microsoft.com/office/powerpoint/2010/main" val="1121846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b="1" u="sng" dirty="0"/>
              <a:t>COMPONENTS OF DC ELECTRIC MOTOR</a:t>
            </a:r>
          </a:p>
        </p:txBody>
      </p:sp>
      <p:sp>
        <p:nvSpPr>
          <p:cNvPr id="3" name="Content Placeholder 2"/>
          <p:cNvSpPr>
            <a:spLocks noGrp="1"/>
          </p:cNvSpPr>
          <p:nvPr>
            <p:ph idx="1"/>
          </p:nvPr>
        </p:nvSpPr>
        <p:spPr>
          <a:xfrm>
            <a:off x="371615" y="2015067"/>
            <a:ext cx="10231272" cy="5105400"/>
          </a:xfrm>
        </p:spPr>
        <p:txBody>
          <a:bodyPr>
            <a:normAutofit/>
          </a:bodyPr>
          <a:lstStyle/>
          <a:p>
            <a:pPr algn="just"/>
            <a:r>
              <a:rPr lang="en-US" dirty="0"/>
              <a:t>The principle components of an electric motor are: </a:t>
            </a:r>
            <a:r>
              <a:rPr lang="en-US" dirty="0">
                <a:solidFill>
                  <a:srgbClr val="FF0000"/>
                </a:solidFill>
              </a:rPr>
              <a:t>North </a:t>
            </a:r>
            <a:r>
              <a:rPr lang="en-US" dirty="0"/>
              <a:t>and </a:t>
            </a:r>
            <a:r>
              <a:rPr lang="en-US" dirty="0">
                <a:solidFill>
                  <a:srgbClr val="FF0000"/>
                </a:solidFill>
              </a:rPr>
              <a:t>south</a:t>
            </a:r>
            <a:r>
              <a:rPr lang="en-US" b="1" dirty="0">
                <a:solidFill>
                  <a:srgbClr val="FF0000"/>
                </a:solidFill>
              </a:rPr>
              <a:t> magnetic poles</a:t>
            </a:r>
            <a:r>
              <a:rPr lang="en-US" dirty="0"/>
              <a:t> to provide a strong magnetic field. Being made of bulky ferrous material they traditionally form the outer casing of the motor and collectively form the stator.</a:t>
            </a:r>
          </a:p>
          <a:p>
            <a:pPr algn="just"/>
            <a:r>
              <a:rPr lang="en-US" dirty="0"/>
              <a:t>An</a:t>
            </a:r>
            <a:r>
              <a:rPr lang="en-US" b="1" dirty="0"/>
              <a:t> </a:t>
            </a:r>
            <a:r>
              <a:rPr lang="en-US" b="1" i="1" dirty="0">
                <a:solidFill>
                  <a:srgbClr val="FF0000"/>
                </a:solidFill>
              </a:rPr>
              <a:t>armature</a:t>
            </a:r>
            <a:r>
              <a:rPr lang="en-US" i="1" dirty="0">
                <a:solidFill>
                  <a:srgbClr val="FF0000"/>
                </a:solidFill>
              </a:rPr>
              <a:t>, </a:t>
            </a:r>
            <a:r>
              <a:rPr lang="en-US" dirty="0"/>
              <a:t>which is a cylindrical ferrous core rotating within the stator and carries a large number of windings made from one or more conductors.</a:t>
            </a:r>
          </a:p>
          <a:p>
            <a:pPr algn="just"/>
            <a:r>
              <a:rPr lang="en-US" dirty="0"/>
              <a:t>A</a:t>
            </a:r>
            <a:r>
              <a:rPr lang="en-US" b="1" dirty="0"/>
              <a:t> </a:t>
            </a:r>
            <a:r>
              <a:rPr lang="en-US" b="1" i="1" dirty="0" err="1">
                <a:solidFill>
                  <a:srgbClr val="FF0000"/>
                </a:solidFill>
              </a:rPr>
              <a:t>commutator</a:t>
            </a:r>
            <a:r>
              <a:rPr lang="en-US" dirty="0">
                <a:solidFill>
                  <a:srgbClr val="FF0000"/>
                </a:solidFill>
              </a:rPr>
              <a:t>,</a:t>
            </a:r>
            <a:r>
              <a:rPr lang="en-US" dirty="0"/>
              <a:t> which rotates with the armature and consists of copper contacts attached to the end of the windings.</a:t>
            </a:r>
          </a:p>
          <a:p>
            <a:pPr algn="just"/>
            <a:r>
              <a:rPr lang="en-US" b="1" i="1" dirty="0">
                <a:solidFill>
                  <a:srgbClr val="FF0000"/>
                </a:solidFill>
              </a:rPr>
              <a:t>Brushes</a:t>
            </a:r>
            <a:r>
              <a:rPr lang="en-US" dirty="0"/>
              <a:t> in fixed positions and in contact with the rotating </a:t>
            </a:r>
            <a:r>
              <a:rPr lang="en-US" dirty="0" err="1"/>
              <a:t>commutator</a:t>
            </a:r>
            <a:r>
              <a:rPr lang="en-US" dirty="0"/>
              <a:t> contacts. They carry direct current to the coils, resulting in the required motion.</a:t>
            </a:r>
          </a:p>
          <a:p>
            <a:pPr algn="just"/>
            <a:endParaRPr lang="en-US" dirty="0"/>
          </a:p>
          <a:p>
            <a:pPr algn="just">
              <a:buNone/>
            </a:pPr>
            <a:endParaRPr lang="en-US" dirty="0"/>
          </a:p>
        </p:txBody>
      </p:sp>
    </p:spTree>
    <p:extLst>
      <p:ext uri="{BB962C8B-B14F-4D97-AF65-F5344CB8AC3E}">
        <p14:creationId xmlns:p14="http://schemas.microsoft.com/office/powerpoint/2010/main" val="272763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914400"/>
          </a:xfrm>
        </p:spPr>
        <p:txBody>
          <a:bodyPr/>
          <a:lstStyle/>
          <a:p>
            <a:r>
              <a:rPr lang="en-US" b="1" u="sng" dirty="0"/>
              <a:t>ELECTRIC MOTORS </a:t>
            </a:r>
          </a:p>
        </p:txBody>
      </p:sp>
      <p:sp>
        <p:nvSpPr>
          <p:cNvPr id="3" name="Content Placeholder 2"/>
          <p:cNvSpPr>
            <a:spLocks noGrp="1"/>
          </p:cNvSpPr>
          <p:nvPr>
            <p:ph idx="1"/>
          </p:nvPr>
        </p:nvSpPr>
        <p:spPr>
          <a:xfrm>
            <a:off x="1523999" y="838200"/>
            <a:ext cx="8966580" cy="5486400"/>
          </a:xfrm>
        </p:spPr>
        <p:txBody>
          <a:bodyPr>
            <a:noAutofit/>
          </a:bodyPr>
          <a:lstStyle/>
          <a:p>
            <a:pPr algn="just"/>
            <a:r>
              <a:rPr lang="en-US" b="1" i="1" dirty="0"/>
              <a:t>DC motors :</a:t>
            </a:r>
            <a:r>
              <a:rPr lang="en-US" dirty="0"/>
              <a:t>In DC motors, the stator is a set of fixed permanent magnets, creating a fixed magnetic field, while the rotor carries a current. Through brushes and </a:t>
            </a:r>
            <a:r>
              <a:rPr lang="en-US" dirty="0" err="1"/>
              <a:t>commutators</a:t>
            </a:r>
            <a:r>
              <a:rPr lang="en-US" dirty="0"/>
              <a:t>, the direction of current is changed continuously, causing the rotor to rotate continuously.</a:t>
            </a:r>
          </a:p>
          <a:p>
            <a:pPr algn="just"/>
            <a:r>
              <a:rPr lang="en-US" b="1" i="1" dirty="0"/>
              <a:t>AC motors : </a:t>
            </a:r>
            <a:r>
              <a:rPr lang="en-US" dirty="0"/>
              <a:t>These are similar to DC motors except that the rotor is permanent magnet, the stator houses the windings, and all </a:t>
            </a:r>
            <a:r>
              <a:rPr lang="en-US" dirty="0" err="1"/>
              <a:t>commutators</a:t>
            </a:r>
            <a:r>
              <a:rPr lang="en-US" dirty="0"/>
              <a:t> and brushes are eliminated.</a:t>
            </a:r>
          </a:p>
          <a:p>
            <a:pPr algn="just"/>
            <a:r>
              <a:rPr lang="en-US" b="1" i="1" dirty="0"/>
              <a:t>A Servomotor</a:t>
            </a:r>
            <a:r>
              <a:rPr lang="en-US" dirty="0"/>
              <a:t> is a DC,AC, brushless, or even stepper motor with feedback that can be controlled to move at a desired speed (and consequently, torque), for a desired angle of rotation. To do this, a feedback device sends signals to the controller circuit of the servomotor reporting its angular position and velocity.</a:t>
            </a:r>
          </a:p>
        </p:txBody>
      </p:sp>
    </p:spTree>
    <p:extLst>
      <p:ext uri="{BB962C8B-B14F-4D97-AF65-F5344CB8AC3E}">
        <p14:creationId xmlns:p14="http://schemas.microsoft.com/office/powerpoint/2010/main" val="1794916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srcRect/>
          <a:stretch>
            <a:fillRect/>
          </a:stretch>
        </p:blipFill>
        <p:spPr bwMode="auto">
          <a:xfrm>
            <a:off x="1978025" y="3670110"/>
            <a:ext cx="2693988" cy="2692400"/>
          </a:xfrm>
          <a:prstGeom prst="rect">
            <a:avLst/>
          </a:prstGeom>
          <a:noFill/>
          <a:ln w="9525">
            <a:noFill/>
            <a:miter lim="800000"/>
            <a:headEnd/>
            <a:tailEnd/>
          </a:ln>
        </p:spPr>
      </p:pic>
      <p:sp>
        <p:nvSpPr>
          <p:cNvPr id="31747" name="Rectangle 3"/>
          <p:cNvSpPr>
            <a:spLocks noChangeArrowheads="1"/>
          </p:cNvSpPr>
          <p:nvPr/>
        </p:nvSpPr>
        <p:spPr bwMode="auto">
          <a:xfrm>
            <a:off x="423333" y="1731118"/>
            <a:ext cx="9944416"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r>
              <a:rPr lang="en-US" sz="2000" b="1" dirty="0">
                <a:solidFill>
                  <a:srgbClr val="000000"/>
                </a:solidFill>
                <a:latin typeface="+mj-lt"/>
                <a:ea typeface="Times New Roman" pitchFamily="18" charset="0"/>
                <a:cs typeface="Times New Roman" pitchFamily="18" charset="0"/>
              </a:rPr>
              <a:t>A simple DC electric motor: when the coil is powered, a magnetic field is generated around the armature. The left side of the armature is pushed away from the left magnet and drawn toward the right, causing rotation. </a:t>
            </a:r>
            <a:r>
              <a:rPr lang="en-US" sz="2000" b="1" dirty="0"/>
              <a:t>The armature continues to rotate, </a:t>
            </a:r>
            <a:r>
              <a:rPr lang="en-US" sz="2000" b="1" dirty="0">
                <a:latin typeface="+mj-lt"/>
              </a:rPr>
              <a:t>When the armature becomes horizontally aligned, the </a:t>
            </a:r>
            <a:r>
              <a:rPr lang="en-US" sz="2000" b="1" dirty="0" err="1">
                <a:latin typeface="+mj-lt"/>
              </a:rPr>
              <a:t>commutator</a:t>
            </a:r>
            <a:r>
              <a:rPr lang="en-US" sz="2000" b="1" dirty="0">
                <a:latin typeface="+mj-lt"/>
              </a:rPr>
              <a:t> reverses the direction of current through the coil, reversing the magnetic field. The process then repeats. </a:t>
            </a:r>
            <a:endParaRPr lang="en-US" sz="2000" b="1" dirty="0">
              <a:latin typeface="+mj-lt"/>
              <a:cs typeface="Arial" pitchFamily="34" charset="0"/>
            </a:endParaRPr>
          </a:p>
        </p:txBody>
      </p:sp>
      <p:pic>
        <p:nvPicPr>
          <p:cNvPr id="31748" name="Picture 4"/>
          <p:cNvPicPr>
            <a:picLocks noChangeAspect="1" noChangeArrowheads="1"/>
          </p:cNvPicPr>
          <p:nvPr/>
        </p:nvPicPr>
        <p:blipFill>
          <a:blip r:embed="rId3"/>
          <a:srcRect/>
          <a:stretch>
            <a:fillRect/>
          </a:stretch>
        </p:blipFill>
        <p:spPr bwMode="auto">
          <a:xfrm>
            <a:off x="4622800" y="3664044"/>
            <a:ext cx="2692400" cy="2692400"/>
          </a:xfrm>
          <a:prstGeom prst="rect">
            <a:avLst/>
          </a:prstGeom>
          <a:noFill/>
          <a:ln w="9525">
            <a:noFill/>
            <a:miter lim="800000"/>
            <a:headEnd/>
            <a:tailEnd/>
          </a:ln>
        </p:spPr>
      </p:pic>
      <p:pic>
        <p:nvPicPr>
          <p:cNvPr id="31749" name="Picture 5"/>
          <p:cNvPicPr>
            <a:picLocks noChangeAspect="1" noChangeArrowheads="1"/>
          </p:cNvPicPr>
          <p:nvPr/>
        </p:nvPicPr>
        <p:blipFill>
          <a:blip r:embed="rId4"/>
          <a:srcRect/>
          <a:stretch>
            <a:fillRect/>
          </a:stretch>
        </p:blipFill>
        <p:spPr bwMode="auto">
          <a:xfrm>
            <a:off x="7315201" y="3664045"/>
            <a:ext cx="2695575" cy="2695575"/>
          </a:xfrm>
          <a:prstGeom prst="rect">
            <a:avLst/>
          </a:prstGeom>
          <a:noFill/>
        </p:spPr>
      </p:pic>
      <p:sp>
        <p:nvSpPr>
          <p:cNvPr id="10" name="Title 1"/>
          <p:cNvSpPr>
            <a:spLocks noGrp="1"/>
          </p:cNvSpPr>
          <p:nvPr>
            <p:ph type="title"/>
          </p:nvPr>
        </p:nvSpPr>
        <p:spPr>
          <a:xfrm>
            <a:off x="2152650" y="365127"/>
            <a:ext cx="7886700" cy="1325563"/>
          </a:xfrm>
        </p:spPr>
        <p:txBody>
          <a:bodyPr>
            <a:normAutofit/>
          </a:bodyPr>
          <a:lstStyle/>
          <a:p>
            <a:pPr algn="just"/>
            <a:r>
              <a:rPr lang="en-US" b="1" u="sng" dirty="0"/>
              <a:t>COMPONENTS OF DC ELECTRIC MOTOR</a:t>
            </a:r>
          </a:p>
        </p:txBody>
      </p:sp>
    </p:spTree>
    <p:extLst>
      <p:ext uri="{BB962C8B-B14F-4D97-AF65-F5344CB8AC3E}">
        <p14:creationId xmlns:p14="http://schemas.microsoft.com/office/powerpoint/2010/main" val="3408852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524001" y="838174"/>
            <a:ext cx="8843749" cy="765578"/>
          </a:xfrm>
          <a:prstGeom prst="rect">
            <a:avLst/>
          </a:prstGeom>
        </p:spPr>
      </p:pic>
      <p:pic>
        <p:nvPicPr>
          <p:cNvPr id="6" name="Picture 5"/>
          <p:cNvPicPr>
            <a:picLocks noChangeAspect="1"/>
          </p:cNvPicPr>
          <p:nvPr/>
        </p:nvPicPr>
        <p:blipFill>
          <a:blip r:embed="rId3"/>
          <a:stretch>
            <a:fillRect/>
          </a:stretch>
        </p:blipFill>
        <p:spPr>
          <a:xfrm>
            <a:off x="2819400" y="1603752"/>
            <a:ext cx="6051072" cy="2166938"/>
          </a:xfrm>
          <a:prstGeom prst="rect">
            <a:avLst/>
          </a:prstGeom>
        </p:spPr>
      </p:pic>
      <p:pic>
        <p:nvPicPr>
          <p:cNvPr id="7" name="Picture 6"/>
          <p:cNvPicPr>
            <a:picLocks noChangeAspect="1"/>
          </p:cNvPicPr>
          <p:nvPr/>
        </p:nvPicPr>
        <p:blipFill>
          <a:blip r:embed="rId4"/>
          <a:stretch>
            <a:fillRect/>
          </a:stretch>
        </p:blipFill>
        <p:spPr>
          <a:xfrm>
            <a:off x="1892516" y="3770690"/>
            <a:ext cx="8775485" cy="1625600"/>
          </a:xfrm>
          <a:prstGeom prst="rect">
            <a:avLst/>
          </a:prstGeom>
        </p:spPr>
      </p:pic>
      <p:pic>
        <p:nvPicPr>
          <p:cNvPr id="8" name="Picture 7"/>
          <p:cNvPicPr>
            <a:picLocks noChangeAspect="1"/>
          </p:cNvPicPr>
          <p:nvPr/>
        </p:nvPicPr>
        <p:blipFill>
          <a:blip r:embed="rId5"/>
          <a:stretch>
            <a:fillRect/>
          </a:stretch>
        </p:blipFill>
        <p:spPr>
          <a:xfrm>
            <a:off x="4753410" y="5339356"/>
            <a:ext cx="2183052" cy="1518645"/>
          </a:xfrm>
          <a:prstGeom prst="rect">
            <a:avLst/>
          </a:prstGeom>
        </p:spPr>
      </p:pic>
    </p:spTree>
    <p:extLst>
      <p:ext uri="{BB962C8B-B14F-4D97-AF65-F5344CB8AC3E}">
        <p14:creationId xmlns:p14="http://schemas.microsoft.com/office/powerpoint/2010/main" val="163578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384" y="854678"/>
            <a:ext cx="7886700" cy="1325563"/>
          </a:xfrm>
        </p:spPr>
        <p:txBody>
          <a:bodyPr/>
          <a:lstStyle/>
          <a:p>
            <a:r>
              <a:rPr lang="en-US" b="1" u="sng" dirty="0"/>
              <a:t>STEPPER MOTOR</a:t>
            </a:r>
          </a:p>
        </p:txBody>
      </p:sp>
      <p:sp>
        <p:nvSpPr>
          <p:cNvPr id="3" name="Content Placeholder 2"/>
          <p:cNvSpPr>
            <a:spLocks noGrp="1"/>
          </p:cNvSpPr>
          <p:nvPr>
            <p:ph idx="1"/>
          </p:nvPr>
        </p:nvSpPr>
        <p:spPr>
          <a:xfrm>
            <a:off x="1168400" y="2512562"/>
            <a:ext cx="9237007" cy="5312154"/>
          </a:xfrm>
        </p:spPr>
        <p:txBody>
          <a:bodyPr>
            <a:noAutofit/>
          </a:bodyPr>
          <a:lstStyle/>
          <a:p>
            <a:pPr algn="just"/>
            <a:r>
              <a:rPr lang="en-US" dirty="0"/>
              <a:t>When incremental rotary motion is required in a robot, it is possible to use</a:t>
            </a:r>
            <a:r>
              <a:rPr lang="en-US" b="1" dirty="0"/>
              <a:t> stepper motors.</a:t>
            </a:r>
            <a:endParaRPr lang="en-US" dirty="0"/>
          </a:p>
          <a:p>
            <a:pPr algn="just"/>
            <a:r>
              <a:rPr lang="en-US" dirty="0"/>
              <a:t> A stepper motor possesses the ability to move a specified number of revolutions or fraction of a revolution in order to achieve a fixed and consistent angular movement.</a:t>
            </a:r>
          </a:p>
          <a:p>
            <a:pPr algn="just"/>
            <a:r>
              <a:rPr lang="en-US" dirty="0"/>
              <a:t>This is achieved by increasing the numbers of poles on both rotor and stator</a:t>
            </a:r>
          </a:p>
          <a:p>
            <a:pPr algn="just"/>
            <a:r>
              <a:rPr lang="en-US" dirty="0"/>
              <a:t>Additionally, soft magnetic material with many teeth on the rotor and stator cheaply multiplies the number of poles(reluctance motor)</a:t>
            </a:r>
          </a:p>
        </p:txBody>
      </p:sp>
    </p:spTree>
    <p:extLst>
      <p:ext uri="{BB962C8B-B14F-4D97-AF65-F5344CB8AC3E}">
        <p14:creationId xmlns:p14="http://schemas.microsoft.com/office/powerpoint/2010/main" val="3261340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152650" y="160411"/>
            <a:ext cx="7886700" cy="1325563"/>
          </a:xfrm>
        </p:spPr>
        <p:txBody>
          <a:bodyPr/>
          <a:lstStyle/>
          <a:p>
            <a:r>
              <a:rPr lang="en-US" b="1" u="sng" dirty="0"/>
              <a:t>STEPPER MOTOR</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2651" y="1879600"/>
            <a:ext cx="2365549" cy="2365549"/>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4251" y="1749251"/>
            <a:ext cx="2616374" cy="2616374"/>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6680" y="1749252"/>
            <a:ext cx="2643821" cy="2692209"/>
          </a:xfrm>
          <a:prstGeom prst="rect">
            <a:avLst/>
          </a:prstGeom>
        </p:spPr>
      </p:pic>
      <p:pic>
        <p:nvPicPr>
          <p:cNvPr id="11" name="Picture 10"/>
          <p:cNvPicPr>
            <a:picLocks noChangeAspect="1"/>
          </p:cNvPicPr>
          <p:nvPr/>
        </p:nvPicPr>
        <p:blipFill>
          <a:blip r:embed="rId5"/>
          <a:stretch>
            <a:fillRect/>
          </a:stretch>
        </p:blipFill>
        <p:spPr>
          <a:xfrm>
            <a:off x="2152650" y="4441460"/>
            <a:ext cx="8197850" cy="2141316"/>
          </a:xfrm>
          <a:prstGeom prst="rect">
            <a:avLst/>
          </a:prstGeom>
        </p:spPr>
      </p:pic>
    </p:spTree>
    <p:extLst>
      <p:ext uri="{BB962C8B-B14F-4D97-AF65-F5344CB8AC3E}">
        <p14:creationId xmlns:p14="http://schemas.microsoft.com/office/powerpoint/2010/main" val="3462370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ADVANTAGES &amp; LIMITATIONS OF </a:t>
            </a:r>
            <a:r>
              <a:rPr lang="en-US" b="1" i="1" u="sng" dirty="0"/>
              <a:t>ELECTRIC</a:t>
            </a:r>
            <a:r>
              <a:rPr lang="en-US" b="1" u="sng" dirty="0"/>
              <a:t> ACTUATORS</a:t>
            </a:r>
          </a:p>
        </p:txBody>
      </p:sp>
      <p:sp>
        <p:nvSpPr>
          <p:cNvPr id="3" name="Text Placeholder 2"/>
          <p:cNvSpPr>
            <a:spLocks noGrp="1"/>
          </p:cNvSpPr>
          <p:nvPr>
            <p:ph type="body" idx="1"/>
          </p:nvPr>
        </p:nvSpPr>
        <p:spPr>
          <a:xfrm>
            <a:off x="2153842" y="1269207"/>
            <a:ext cx="3868340" cy="823912"/>
          </a:xfrm>
        </p:spPr>
        <p:txBody>
          <a:bodyPr/>
          <a:lstStyle/>
          <a:p>
            <a:pPr algn="ctr"/>
            <a:r>
              <a:rPr lang="en-US" u="sng" dirty="0"/>
              <a:t>ADVANTAGES</a:t>
            </a:r>
          </a:p>
        </p:txBody>
      </p:sp>
      <p:sp>
        <p:nvSpPr>
          <p:cNvPr id="4" name="Content Placeholder 3"/>
          <p:cNvSpPr>
            <a:spLocks noGrp="1"/>
          </p:cNvSpPr>
          <p:nvPr>
            <p:ph sz="half" idx="2"/>
          </p:nvPr>
        </p:nvSpPr>
        <p:spPr>
          <a:xfrm>
            <a:off x="186267" y="2141596"/>
            <a:ext cx="6155392" cy="4602104"/>
          </a:xfrm>
        </p:spPr>
        <p:txBody>
          <a:bodyPr>
            <a:noAutofit/>
          </a:bodyPr>
          <a:lstStyle/>
          <a:p>
            <a:pPr algn="just"/>
            <a:r>
              <a:rPr lang="en-US" sz="1800" b="1" dirty="0"/>
              <a:t>Wide spread availability of power supply.</a:t>
            </a:r>
          </a:p>
          <a:p>
            <a:pPr algn="just"/>
            <a:r>
              <a:rPr lang="en-US" sz="1800" b="1" dirty="0"/>
              <a:t>The basic dive element in an electric motor is usually lighter than that for fluid power.</a:t>
            </a:r>
          </a:p>
          <a:p>
            <a:pPr algn="just"/>
            <a:r>
              <a:rPr lang="en-US" sz="1800" b="1" dirty="0"/>
              <a:t>High power conversion efficiency.</a:t>
            </a:r>
          </a:p>
          <a:p>
            <a:pPr algn="just"/>
            <a:r>
              <a:rPr lang="en-US" sz="1800" b="1" dirty="0"/>
              <a:t>No pollution of working environment</a:t>
            </a:r>
          </a:p>
          <a:p>
            <a:pPr algn="just"/>
            <a:r>
              <a:rPr lang="en-US" sz="1800" b="1" dirty="0"/>
              <a:t>The accuracy and repeatability of electric power driven robots are normally better than fluid power robots in relation to cost.</a:t>
            </a:r>
          </a:p>
          <a:p>
            <a:pPr algn="just"/>
            <a:r>
              <a:rPr lang="en-US" sz="1800" b="1" dirty="0"/>
              <a:t>Easily maintained and repaired.</a:t>
            </a:r>
          </a:p>
          <a:p>
            <a:pPr algn="just"/>
            <a:r>
              <a:rPr lang="en-US" sz="1800" b="1" dirty="0"/>
              <a:t>The drive system is well suited to electronic control.</a:t>
            </a:r>
          </a:p>
        </p:txBody>
      </p:sp>
      <p:sp>
        <p:nvSpPr>
          <p:cNvPr id="5" name="Text Placeholder 4"/>
          <p:cNvSpPr>
            <a:spLocks noGrp="1"/>
          </p:cNvSpPr>
          <p:nvPr>
            <p:ph type="body" sz="quarter" idx="3"/>
          </p:nvPr>
        </p:nvSpPr>
        <p:spPr>
          <a:xfrm>
            <a:off x="6153150" y="1269207"/>
            <a:ext cx="3887391" cy="823912"/>
          </a:xfrm>
        </p:spPr>
        <p:txBody>
          <a:bodyPr/>
          <a:lstStyle/>
          <a:p>
            <a:pPr algn="ctr"/>
            <a:r>
              <a:rPr lang="en-US" u="sng" dirty="0"/>
              <a:t>LIMITATIONS</a:t>
            </a:r>
          </a:p>
        </p:txBody>
      </p:sp>
      <p:sp>
        <p:nvSpPr>
          <p:cNvPr id="6" name="Content Placeholder 5"/>
          <p:cNvSpPr>
            <a:spLocks noGrp="1"/>
          </p:cNvSpPr>
          <p:nvPr>
            <p:ph sz="quarter" idx="4"/>
          </p:nvPr>
        </p:nvSpPr>
        <p:spPr>
          <a:xfrm>
            <a:off x="6515099" y="2141597"/>
            <a:ext cx="5236633" cy="4259202"/>
          </a:xfrm>
        </p:spPr>
        <p:txBody>
          <a:bodyPr>
            <a:normAutofit fontScale="92500" lnSpcReduction="10000"/>
          </a:bodyPr>
          <a:lstStyle/>
          <a:p>
            <a:pPr algn="just"/>
            <a:r>
              <a:rPr lang="en-US" dirty="0"/>
              <a:t>Electric actuators often require some sort of mechanical transmission system this increases the unwanted movement, additional power and may complicate control.</a:t>
            </a:r>
          </a:p>
          <a:p>
            <a:pPr algn="just"/>
            <a:r>
              <a:rPr lang="en-US" dirty="0"/>
              <a:t>Due to increased complexity of the transmission system additional cost is incurred for their procurement and maintenance.</a:t>
            </a:r>
          </a:p>
          <a:p>
            <a:pPr algn="just"/>
            <a:r>
              <a:rPr lang="en-US" dirty="0"/>
              <a:t>Electric motors are not intrinsically safe. They cannot therefore be used in for example explosive atmospheres.</a:t>
            </a:r>
          </a:p>
        </p:txBody>
      </p:sp>
    </p:spTree>
    <p:extLst>
      <p:ext uri="{BB962C8B-B14F-4D97-AF65-F5344CB8AC3E}">
        <p14:creationId xmlns:p14="http://schemas.microsoft.com/office/powerpoint/2010/main" val="1181620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APPLICATIONS</a:t>
            </a:r>
          </a:p>
        </p:txBody>
      </p:sp>
      <p:sp>
        <p:nvSpPr>
          <p:cNvPr id="3" name="Content Placeholder 2"/>
          <p:cNvSpPr>
            <a:spLocks noGrp="1"/>
          </p:cNvSpPr>
          <p:nvPr>
            <p:ph idx="1"/>
          </p:nvPr>
        </p:nvSpPr>
        <p:spPr/>
        <p:txBody>
          <a:bodyPr>
            <a:normAutofit fontScale="92500" lnSpcReduction="20000"/>
          </a:bodyPr>
          <a:lstStyle/>
          <a:p>
            <a:r>
              <a:rPr lang="en-US" dirty="0"/>
              <a:t> Stepper motors can be a good choice whenever controlled movement is required.</a:t>
            </a:r>
          </a:p>
          <a:p>
            <a:r>
              <a:rPr lang="en-US" dirty="0"/>
              <a:t>They can be used to advantage in applications where you need to control rotation angle, speed, position</a:t>
            </a:r>
          </a:p>
          <a:p>
            <a:pPr>
              <a:buNone/>
            </a:pPr>
            <a:r>
              <a:rPr lang="en-US" dirty="0"/>
              <a:t>	and synchronism. These include :</a:t>
            </a:r>
          </a:p>
          <a:p>
            <a:r>
              <a:rPr lang="en-US" dirty="0"/>
              <a:t>printers</a:t>
            </a:r>
          </a:p>
          <a:p>
            <a:r>
              <a:rPr lang="en-US" dirty="0"/>
              <a:t>plotters</a:t>
            </a:r>
          </a:p>
          <a:p>
            <a:r>
              <a:rPr lang="en-US" dirty="0"/>
              <a:t>medical equipment</a:t>
            </a:r>
          </a:p>
          <a:p>
            <a:r>
              <a:rPr lang="en-US" dirty="0"/>
              <a:t>fax machines</a:t>
            </a:r>
          </a:p>
          <a:p>
            <a:r>
              <a:rPr lang="en-US" dirty="0"/>
              <a:t>automotive and scientific equipment etc.</a:t>
            </a:r>
          </a:p>
          <a:p>
            <a:endParaRPr lang="en-US" dirty="0"/>
          </a:p>
        </p:txBody>
      </p:sp>
    </p:spTree>
    <p:extLst>
      <p:ext uri="{BB962C8B-B14F-4D97-AF65-F5344CB8AC3E}">
        <p14:creationId xmlns:p14="http://schemas.microsoft.com/office/powerpoint/2010/main" val="2919450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Comparison of actuating systems</a:t>
            </a:r>
          </a:p>
        </p:txBody>
      </p:sp>
      <p:graphicFrame>
        <p:nvGraphicFramePr>
          <p:cNvPr id="5" name="Table 4"/>
          <p:cNvGraphicFramePr>
            <a:graphicFrameLocks noGrp="1"/>
          </p:cNvGraphicFramePr>
          <p:nvPr>
            <p:extLst>
              <p:ext uri="{D42A27DB-BD31-4B8C-83A1-F6EECF244321}">
                <p14:modId xmlns:p14="http://schemas.microsoft.com/office/powerpoint/2010/main" val="1570502716"/>
              </p:ext>
            </p:extLst>
          </p:nvPr>
        </p:nvGraphicFramePr>
        <p:xfrm>
          <a:off x="914400" y="1524000"/>
          <a:ext cx="3644900" cy="5016500"/>
        </p:xfrm>
        <a:graphic>
          <a:graphicData uri="http://schemas.openxmlformats.org/drawingml/2006/table">
            <a:tbl>
              <a:tblPr/>
              <a:tblGrid>
                <a:gridCol w="3644900">
                  <a:extLst>
                    <a:ext uri="{9D8B030D-6E8A-4147-A177-3AD203B41FA5}">
                      <a16:colId xmlns:a16="http://schemas.microsoft.com/office/drawing/2014/main" val="20000"/>
                    </a:ext>
                  </a:extLst>
                </a:gridCol>
              </a:tblGrid>
              <a:tr h="325722">
                <a:tc>
                  <a:txBody>
                    <a:bodyPr/>
                    <a:lstStyle/>
                    <a:p>
                      <a:pPr marL="906780" marR="0">
                        <a:lnSpc>
                          <a:spcPts val="2290"/>
                        </a:lnSpc>
                        <a:spcBef>
                          <a:spcPts val="0"/>
                        </a:spcBef>
                        <a:spcAft>
                          <a:spcPts val="0"/>
                        </a:spcAft>
                      </a:pPr>
                      <a:r>
                        <a:rPr lang="en-US" sz="1600" b="1" dirty="0">
                          <a:solidFill>
                            <a:srgbClr val="000000"/>
                          </a:solidFill>
                          <a:latin typeface="Calibri"/>
                          <a:ea typeface="Times New Roman"/>
                          <a:cs typeface="Calibri"/>
                        </a:rPr>
                        <a:t>Hydraulic</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93930">
                <a:tc>
                  <a:txBody>
                    <a:bodyPr/>
                    <a:lstStyle/>
                    <a:p>
                      <a:pPr marL="50165" marR="0">
                        <a:lnSpc>
                          <a:spcPts val="2280"/>
                        </a:lnSpc>
                        <a:spcBef>
                          <a:spcPts val="0"/>
                        </a:spcBef>
                        <a:spcAft>
                          <a:spcPts val="0"/>
                        </a:spcAft>
                      </a:pPr>
                      <a:r>
                        <a:rPr lang="en-US" sz="1600" dirty="0">
                          <a:solidFill>
                            <a:srgbClr val="000000"/>
                          </a:solidFill>
                          <a:latin typeface="Calibri"/>
                          <a:ea typeface="Times New Roman"/>
                          <a:cs typeface="Calibri"/>
                        </a:rPr>
                        <a:t>+ Good for large robots</a:t>
                      </a:r>
                      <a:endParaRPr lang="en-US" sz="1600" dirty="0">
                        <a:latin typeface="Calibri"/>
                        <a:ea typeface="Times New Roman"/>
                        <a:cs typeface="Times New Roman"/>
                      </a:endParaRPr>
                    </a:p>
                    <a:p>
                      <a:pPr marL="50165" marR="0">
                        <a:lnSpc>
                          <a:spcPts val="2590"/>
                        </a:lnSpc>
                        <a:spcBef>
                          <a:spcPts val="0"/>
                        </a:spcBef>
                        <a:spcAft>
                          <a:spcPts val="0"/>
                        </a:spcAft>
                      </a:pPr>
                      <a:r>
                        <a:rPr lang="en-US" sz="1600" dirty="0">
                          <a:solidFill>
                            <a:srgbClr val="000000"/>
                          </a:solidFill>
                          <a:latin typeface="Calibri"/>
                          <a:ea typeface="Times New Roman"/>
                          <a:cs typeface="Calibri"/>
                        </a:rPr>
                        <a:t>and heavy payload</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93930">
                <a:tc>
                  <a:txBody>
                    <a:bodyPr/>
                    <a:lstStyle/>
                    <a:p>
                      <a:pPr marL="50165" marR="0">
                        <a:lnSpc>
                          <a:spcPts val="2290"/>
                        </a:lnSpc>
                        <a:spcBef>
                          <a:spcPts val="0"/>
                        </a:spcBef>
                        <a:spcAft>
                          <a:spcPts val="0"/>
                        </a:spcAft>
                      </a:pPr>
                      <a:r>
                        <a:rPr lang="en-US" sz="1600" dirty="0">
                          <a:solidFill>
                            <a:srgbClr val="000000"/>
                          </a:solidFill>
                          <a:latin typeface="Calibri"/>
                          <a:ea typeface="Times New Roman"/>
                          <a:cs typeface="Calibri"/>
                        </a:rPr>
                        <a:t>+Highest Power/Weight</a:t>
                      </a:r>
                      <a:endParaRPr lang="en-US" sz="1600" dirty="0">
                        <a:latin typeface="Calibri"/>
                        <a:ea typeface="Times New Roman"/>
                        <a:cs typeface="Times New Roman"/>
                      </a:endParaRPr>
                    </a:p>
                    <a:p>
                      <a:pPr marL="50165" marR="0">
                        <a:lnSpc>
                          <a:spcPts val="2590"/>
                        </a:lnSpc>
                        <a:spcBef>
                          <a:spcPts val="0"/>
                        </a:spcBef>
                        <a:spcAft>
                          <a:spcPts val="0"/>
                        </a:spcAft>
                      </a:pPr>
                      <a:r>
                        <a:rPr lang="en-US" sz="1600" dirty="0">
                          <a:solidFill>
                            <a:srgbClr val="000000"/>
                          </a:solidFill>
                          <a:latin typeface="Calibri"/>
                          <a:ea typeface="Times New Roman"/>
                          <a:cs typeface="Calibri"/>
                        </a:rPr>
                        <a:t>Ratio</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93930">
                <a:tc>
                  <a:txBody>
                    <a:bodyPr/>
                    <a:lstStyle/>
                    <a:p>
                      <a:pPr marL="50165" marR="0">
                        <a:lnSpc>
                          <a:spcPts val="2290"/>
                        </a:lnSpc>
                        <a:spcBef>
                          <a:spcPts val="0"/>
                        </a:spcBef>
                        <a:spcAft>
                          <a:spcPts val="0"/>
                        </a:spcAft>
                      </a:pPr>
                      <a:r>
                        <a:rPr lang="en-US" sz="1600">
                          <a:solidFill>
                            <a:srgbClr val="000000"/>
                          </a:solidFill>
                          <a:latin typeface="Calibri"/>
                          <a:ea typeface="Times New Roman"/>
                          <a:cs typeface="Calibri"/>
                        </a:rPr>
                        <a:t>+Stiff system, High</a:t>
                      </a:r>
                      <a:endParaRPr lang="en-US" sz="1600">
                        <a:latin typeface="Calibri"/>
                        <a:ea typeface="Times New Roman"/>
                        <a:cs typeface="Times New Roman"/>
                      </a:endParaRPr>
                    </a:p>
                    <a:p>
                      <a:pPr marL="50165" marR="0">
                        <a:lnSpc>
                          <a:spcPts val="2590"/>
                        </a:lnSpc>
                        <a:spcBef>
                          <a:spcPts val="0"/>
                        </a:spcBef>
                        <a:spcAft>
                          <a:spcPts val="0"/>
                        </a:spcAft>
                      </a:pPr>
                      <a:r>
                        <a:rPr lang="en-US" sz="1600">
                          <a:solidFill>
                            <a:srgbClr val="000000"/>
                          </a:solidFill>
                          <a:latin typeface="Calibri"/>
                          <a:ea typeface="Times New Roman"/>
                          <a:cs typeface="Calibri"/>
                        </a:rPr>
                        <a:t>accuracy, better response</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6397">
                <a:tc>
                  <a:txBody>
                    <a:bodyPr/>
                    <a:lstStyle/>
                    <a:p>
                      <a:pPr marL="50165" marR="0">
                        <a:lnSpc>
                          <a:spcPts val="2305"/>
                        </a:lnSpc>
                        <a:spcBef>
                          <a:spcPts val="0"/>
                        </a:spcBef>
                        <a:spcAft>
                          <a:spcPts val="0"/>
                        </a:spcAft>
                      </a:pPr>
                      <a:r>
                        <a:rPr lang="en-US" sz="1600" dirty="0">
                          <a:solidFill>
                            <a:srgbClr val="000000"/>
                          </a:solidFill>
                          <a:latin typeface="Calibri"/>
                          <a:ea typeface="Times New Roman"/>
                          <a:cs typeface="Calibri"/>
                        </a:rPr>
                        <a:t>+No reduction gear</a:t>
                      </a:r>
                      <a:endParaRPr lang="en-US" sz="1600" dirty="0">
                        <a:latin typeface="Calibri"/>
                        <a:ea typeface="Times New Roman"/>
                        <a:cs typeface="Times New Roman"/>
                      </a:endParaRPr>
                    </a:p>
                    <a:p>
                      <a:pPr marL="50165" marR="0">
                        <a:lnSpc>
                          <a:spcPts val="2590"/>
                        </a:lnSpc>
                        <a:spcBef>
                          <a:spcPts val="0"/>
                        </a:spcBef>
                        <a:spcAft>
                          <a:spcPts val="0"/>
                        </a:spcAft>
                      </a:pPr>
                      <a:r>
                        <a:rPr lang="en-US" sz="1600" dirty="0">
                          <a:solidFill>
                            <a:srgbClr val="000000"/>
                          </a:solidFill>
                          <a:latin typeface="Calibri"/>
                          <a:ea typeface="Times New Roman"/>
                          <a:cs typeface="Calibri"/>
                        </a:rPr>
                        <a:t>needed</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62137">
                <a:tc>
                  <a:txBody>
                    <a:bodyPr/>
                    <a:lstStyle/>
                    <a:p>
                      <a:pPr marL="50165" marR="0">
                        <a:lnSpc>
                          <a:spcPts val="2305"/>
                        </a:lnSpc>
                        <a:spcBef>
                          <a:spcPts val="0"/>
                        </a:spcBef>
                        <a:spcAft>
                          <a:spcPts val="0"/>
                        </a:spcAft>
                      </a:pPr>
                      <a:r>
                        <a:rPr lang="en-US" sz="1600">
                          <a:solidFill>
                            <a:srgbClr val="000000"/>
                          </a:solidFill>
                          <a:latin typeface="Calibri"/>
                          <a:ea typeface="Times New Roman"/>
                          <a:cs typeface="Calibri"/>
                        </a:rPr>
                        <a:t>+Can work in wide range</a:t>
                      </a:r>
                      <a:endParaRPr lang="en-US" sz="1600">
                        <a:latin typeface="Calibri"/>
                        <a:ea typeface="Times New Roman"/>
                        <a:cs typeface="Times New Roman"/>
                      </a:endParaRPr>
                    </a:p>
                    <a:p>
                      <a:pPr marL="50165" marR="0">
                        <a:lnSpc>
                          <a:spcPts val="2590"/>
                        </a:lnSpc>
                        <a:spcBef>
                          <a:spcPts val="0"/>
                        </a:spcBef>
                        <a:spcAft>
                          <a:spcPts val="0"/>
                        </a:spcAft>
                      </a:pPr>
                      <a:r>
                        <a:rPr lang="en-US" sz="1600">
                          <a:solidFill>
                            <a:srgbClr val="000000"/>
                          </a:solidFill>
                          <a:latin typeface="Calibri"/>
                          <a:ea typeface="Times New Roman"/>
                          <a:cs typeface="Calibri"/>
                        </a:rPr>
                        <a:t>of speeds without</a:t>
                      </a:r>
                      <a:endParaRPr lang="en-US" sz="1600">
                        <a:latin typeface="Calibri"/>
                        <a:ea typeface="Times New Roman"/>
                        <a:cs typeface="Times New Roman"/>
                      </a:endParaRPr>
                    </a:p>
                    <a:p>
                      <a:pPr marL="50165" marR="0">
                        <a:lnSpc>
                          <a:spcPts val="2615"/>
                        </a:lnSpc>
                        <a:spcBef>
                          <a:spcPts val="0"/>
                        </a:spcBef>
                        <a:spcAft>
                          <a:spcPts val="0"/>
                        </a:spcAft>
                      </a:pPr>
                      <a:r>
                        <a:rPr lang="en-US" sz="1600">
                          <a:solidFill>
                            <a:srgbClr val="000000"/>
                          </a:solidFill>
                          <a:latin typeface="Calibri"/>
                          <a:ea typeface="Times New Roman"/>
                          <a:cs typeface="Calibri"/>
                        </a:rPr>
                        <a:t>difficulty</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840454">
                <a:tc>
                  <a:txBody>
                    <a:bodyPr/>
                    <a:lstStyle/>
                    <a:p>
                      <a:pPr marL="50165" marR="0">
                        <a:lnSpc>
                          <a:spcPts val="2305"/>
                        </a:lnSpc>
                        <a:spcBef>
                          <a:spcPts val="0"/>
                        </a:spcBef>
                        <a:spcAft>
                          <a:spcPts val="0"/>
                        </a:spcAft>
                      </a:pPr>
                      <a:r>
                        <a:rPr lang="en-US" sz="1600" dirty="0">
                          <a:solidFill>
                            <a:srgbClr val="000000"/>
                          </a:solidFill>
                          <a:latin typeface="Calibri"/>
                          <a:ea typeface="Times New Roman"/>
                          <a:cs typeface="Calibri"/>
                        </a:rPr>
                        <a:t>+Can be left in position</a:t>
                      </a:r>
                      <a:endParaRPr lang="en-US" sz="1600" dirty="0">
                        <a:latin typeface="Calibri"/>
                        <a:ea typeface="Times New Roman"/>
                        <a:cs typeface="Times New Roman"/>
                      </a:endParaRPr>
                    </a:p>
                    <a:p>
                      <a:pPr marL="50165" marR="0">
                        <a:lnSpc>
                          <a:spcPts val="2590"/>
                        </a:lnSpc>
                        <a:spcBef>
                          <a:spcPts val="0"/>
                        </a:spcBef>
                        <a:spcAft>
                          <a:spcPts val="0"/>
                        </a:spcAft>
                      </a:pPr>
                      <a:r>
                        <a:rPr lang="en-US" sz="1600" dirty="0">
                          <a:solidFill>
                            <a:srgbClr val="000000"/>
                          </a:solidFill>
                          <a:latin typeface="Calibri"/>
                          <a:ea typeface="Times New Roman"/>
                          <a:cs typeface="Calibri"/>
                        </a:rPr>
                        <a:t>without any damage</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867545813"/>
              </p:ext>
            </p:extLst>
          </p:nvPr>
        </p:nvGraphicFramePr>
        <p:xfrm>
          <a:off x="3996267" y="1519906"/>
          <a:ext cx="3471334" cy="5007894"/>
        </p:xfrm>
        <a:graphic>
          <a:graphicData uri="http://schemas.openxmlformats.org/drawingml/2006/table">
            <a:tbl>
              <a:tblPr/>
              <a:tblGrid>
                <a:gridCol w="3471334">
                  <a:extLst>
                    <a:ext uri="{9D8B030D-6E8A-4147-A177-3AD203B41FA5}">
                      <a16:colId xmlns:a16="http://schemas.microsoft.com/office/drawing/2014/main" val="20000"/>
                    </a:ext>
                  </a:extLst>
                </a:gridCol>
              </a:tblGrid>
              <a:tr h="334245">
                <a:tc>
                  <a:txBody>
                    <a:bodyPr/>
                    <a:lstStyle/>
                    <a:p>
                      <a:pPr marL="1008380" marR="0">
                        <a:lnSpc>
                          <a:spcPts val="2290"/>
                        </a:lnSpc>
                        <a:spcBef>
                          <a:spcPts val="0"/>
                        </a:spcBef>
                        <a:spcAft>
                          <a:spcPts val="0"/>
                        </a:spcAft>
                      </a:pPr>
                      <a:r>
                        <a:rPr lang="en-US" sz="1600" b="1" dirty="0">
                          <a:solidFill>
                            <a:srgbClr val="000000"/>
                          </a:solidFill>
                          <a:latin typeface="Calibri"/>
                          <a:ea typeface="Times New Roman"/>
                          <a:cs typeface="Calibri"/>
                        </a:rPr>
                        <a:t>Electric  </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2087">
                <a:tc>
                  <a:txBody>
                    <a:bodyPr/>
                    <a:lstStyle/>
                    <a:p>
                      <a:pPr marL="48260" marR="0">
                        <a:lnSpc>
                          <a:spcPts val="2280"/>
                        </a:lnSpc>
                        <a:spcBef>
                          <a:spcPts val="0"/>
                        </a:spcBef>
                        <a:spcAft>
                          <a:spcPts val="0"/>
                        </a:spcAft>
                      </a:pPr>
                      <a:r>
                        <a:rPr lang="en-US" sz="1600" dirty="0">
                          <a:solidFill>
                            <a:srgbClr val="000000"/>
                          </a:solidFill>
                          <a:latin typeface="Calibri"/>
                          <a:ea typeface="Times New Roman"/>
                          <a:cs typeface="Calibri"/>
                        </a:rPr>
                        <a:t>+ Good for all size of</a:t>
                      </a:r>
                      <a:endParaRPr lang="en-US" sz="1600" dirty="0">
                        <a:latin typeface="Calibri"/>
                        <a:ea typeface="Times New Roman"/>
                        <a:cs typeface="Times New Roman"/>
                      </a:endParaRPr>
                    </a:p>
                    <a:p>
                      <a:pPr marL="48260" marR="0">
                        <a:lnSpc>
                          <a:spcPts val="2590"/>
                        </a:lnSpc>
                        <a:spcBef>
                          <a:spcPts val="0"/>
                        </a:spcBef>
                        <a:spcAft>
                          <a:spcPts val="0"/>
                        </a:spcAft>
                      </a:pPr>
                      <a:r>
                        <a:rPr lang="en-US" sz="1600" dirty="0">
                          <a:solidFill>
                            <a:srgbClr val="000000"/>
                          </a:solidFill>
                          <a:latin typeface="Calibri"/>
                          <a:ea typeface="Times New Roman"/>
                          <a:cs typeface="Calibri"/>
                        </a:rPr>
                        <a:t>Robots</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2087">
                <a:tc>
                  <a:txBody>
                    <a:bodyPr/>
                    <a:lstStyle/>
                    <a:p>
                      <a:pPr marL="48260" marR="0">
                        <a:lnSpc>
                          <a:spcPts val="2290"/>
                        </a:lnSpc>
                        <a:spcBef>
                          <a:spcPts val="0"/>
                        </a:spcBef>
                        <a:spcAft>
                          <a:spcPts val="0"/>
                        </a:spcAft>
                      </a:pPr>
                      <a:r>
                        <a:rPr lang="en-US" sz="1600">
                          <a:solidFill>
                            <a:srgbClr val="000000"/>
                          </a:solidFill>
                          <a:latin typeface="Calibri"/>
                          <a:ea typeface="Times New Roman"/>
                          <a:cs typeface="Calibri"/>
                        </a:rPr>
                        <a:t>+Better control, good for</a:t>
                      </a:r>
                      <a:endParaRPr lang="en-US" sz="1600">
                        <a:latin typeface="Calibri"/>
                        <a:ea typeface="Times New Roman"/>
                        <a:cs typeface="Times New Roman"/>
                      </a:endParaRPr>
                    </a:p>
                    <a:p>
                      <a:pPr marL="48260" marR="0">
                        <a:lnSpc>
                          <a:spcPts val="2590"/>
                        </a:lnSpc>
                        <a:spcBef>
                          <a:spcPts val="0"/>
                        </a:spcBef>
                        <a:spcAft>
                          <a:spcPts val="0"/>
                        </a:spcAft>
                      </a:pPr>
                      <a:r>
                        <a:rPr lang="en-US" sz="1600">
                          <a:solidFill>
                            <a:srgbClr val="000000"/>
                          </a:solidFill>
                          <a:latin typeface="Calibri"/>
                          <a:ea typeface="Times New Roman"/>
                          <a:cs typeface="Calibri"/>
                        </a:rPr>
                        <a:t>high precision robots</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2087">
                <a:tc>
                  <a:txBody>
                    <a:bodyPr/>
                    <a:lstStyle/>
                    <a:p>
                      <a:pPr marL="48260" marR="0">
                        <a:lnSpc>
                          <a:spcPts val="2290"/>
                        </a:lnSpc>
                        <a:spcBef>
                          <a:spcPts val="0"/>
                        </a:spcBef>
                        <a:spcAft>
                          <a:spcPts val="0"/>
                        </a:spcAft>
                      </a:pPr>
                      <a:r>
                        <a:rPr lang="en-US" sz="1600">
                          <a:solidFill>
                            <a:srgbClr val="000000"/>
                          </a:solidFill>
                          <a:latin typeface="Calibri"/>
                          <a:ea typeface="Times New Roman"/>
                          <a:cs typeface="Calibri"/>
                        </a:rPr>
                        <a:t>+Higher Compliance that</a:t>
                      </a:r>
                      <a:endParaRPr lang="en-US" sz="1600">
                        <a:latin typeface="Calibri"/>
                        <a:ea typeface="Times New Roman"/>
                        <a:cs typeface="Times New Roman"/>
                      </a:endParaRPr>
                    </a:p>
                    <a:p>
                      <a:pPr marL="48260" marR="0">
                        <a:lnSpc>
                          <a:spcPts val="2590"/>
                        </a:lnSpc>
                        <a:spcBef>
                          <a:spcPts val="0"/>
                        </a:spcBef>
                        <a:spcAft>
                          <a:spcPts val="0"/>
                        </a:spcAft>
                      </a:pPr>
                      <a:r>
                        <a:rPr lang="en-US" sz="1600">
                          <a:solidFill>
                            <a:srgbClr val="000000"/>
                          </a:solidFill>
                          <a:latin typeface="Calibri"/>
                          <a:ea typeface="Times New Roman"/>
                          <a:cs typeface="Calibri"/>
                        </a:rPr>
                        <a:t>Hydraulics</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89928">
                <a:tc>
                  <a:txBody>
                    <a:bodyPr/>
                    <a:lstStyle/>
                    <a:p>
                      <a:pPr marL="48260" marR="0">
                        <a:lnSpc>
                          <a:spcPts val="2305"/>
                        </a:lnSpc>
                        <a:spcBef>
                          <a:spcPts val="0"/>
                        </a:spcBef>
                        <a:spcAft>
                          <a:spcPts val="0"/>
                        </a:spcAft>
                      </a:pPr>
                      <a:r>
                        <a:rPr lang="en-US" sz="1600" dirty="0">
                          <a:solidFill>
                            <a:srgbClr val="000000"/>
                          </a:solidFill>
                          <a:latin typeface="Calibri"/>
                          <a:ea typeface="Times New Roman"/>
                          <a:cs typeface="Calibri"/>
                        </a:rPr>
                        <a:t>+Reduction gears used</a:t>
                      </a:r>
                      <a:endParaRPr lang="en-US" sz="1600" dirty="0">
                        <a:latin typeface="Calibri"/>
                        <a:ea typeface="Times New Roman"/>
                        <a:cs typeface="Times New Roman"/>
                      </a:endParaRPr>
                    </a:p>
                    <a:p>
                      <a:pPr marL="48260" marR="0">
                        <a:lnSpc>
                          <a:spcPts val="2590"/>
                        </a:lnSpc>
                        <a:spcBef>
                          <a:spcPts val="0"/>
                        </a:spcBef>
                        <a:spcAft>
                          <a:spcPts val="0"/>
                        </a:spcAft>
                      </a:pPr>
                      <a:r>
                        <a:rPr lang="en-US" sz="1600" dirty="0">
                          <a:solidFill>
                            <a:srgbClr val="000000"/>
                          </a:solidFill>
                          <a:latin typeface="Calibri"/>
                          <a:ea typeface="Times New Roman"/>
                          <a:cs typeface="Calibri"/>
                        </a:rPr>
                        <a:t>reduce inertia on the</a:t>
                      </a:r>
                      <a:endParaRPr lang="en-US" sz="1600" dirty="0">
                        <a:latin typeface="Calibri"/>
                        <a:ea typeface="Times New Roman"/>
                        <a:cs typeface="Times New Roman"/>
                      </a:endParaRPr>
                    </a:p>
                    <a:p>
                      <a:pPr marL="48260" marR="0">
                        <a:lnSpc>
                          <a:spcPts val="2615"/>
                        </a:lnSpc>
                        <a:spcBef>
                          <a:spcPts val="0"/>
                        </a:spcBef>
                        <a:spcAft>
                          <a:spcPts val="0"/>
                        </a:spcAft>
                      </a:pPr>
                      <a:r>
                        <a:rPr lang="en-US" sz="1600" dirty="0">
                          <a:solidFill>
                            <a:srgbClr val="000000"/>
                          </a:solidFill>
                          <a:latin typeface="Calibri"/>
                          <a:ea typeface="Times New Roman"/>
                          <a:cs typeface="Calibri"/>
                        </a:rPr>
                        <a:t>motor</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5373">
                <a:tc>
                  <a:txBody>
                    <a:bodyPr/>
                    <a:lstStyle/>
                    <a:p>
                      <a:pPr marL="48260" marR="0">
                        <a:lnSpc>
                          <a:spcPts val="2305"/>
                        </a:lnSpc>
                        <a:spcBef>
                          <a:spcPts val="0"/>
                        </a:spcBef>
                        <a:spcAft>
                          <a:spcPts val="0"/>
                        </a:spcAft>
                      </a:pPr>
                      <a:r>
                        <a:rPr lang="en-US" sz="1600" dirty="0">
                          <a:solidFill>
                            <a:srgbClr val="000000"/>
                          </a:solidFill>
                          <a:latin typeface="Calibri"/>
                          <a:ea typeface="Times New Roman"/>
                          <a:cs typeface="Calibri"/>
                        </a:rPr>
                        <a:t>+does not leak, good for</a:t>
                      </a:r>
                      <a:endParaRPr lang="en-US" sz="1600" dirty="0">
                        <a:latin typeface="Calibri"/>
                        <a:ea typeface="Times New Roman"/>
                        <a:cs typeface="Times New Roman"/>
                      </a:endParaRPr>
                    </a:p>
                    <a:p>
                      <a:pPr marL="48260" marR="0">
                        <a:lnSpc>
                          <a:spcPts val="2590"/>
                        </a:lnSpc>
                        <a:spcBef>
                          <a:spcPts val="0"/>
                        </a:spcBef>
                        <a:spcAft>
                          <a:spcPts val="0"/>
                        </a:spcAft>
                      </a:pPr>
                      <a:r>
                        <a:rPr lang="en-US" sz="1600" dirty="0">
                          <a:solidFill>
                            <a:srgbClr val="000000"/>
                          </a:solidFill>
                          <a:latin typeface="Calibri"/>
                          <a:ea typeface="Times New Roman"/>
                          <a:cs typeface="Calibri"/>
                        </a:rPr>
                        <a:t>clean room</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12087">
                <a:tc>
                  <a:txBody>
                    <a:bodyPr/>
                    <a:lstStyle/>
                    <a:p>
                      <a:pPr marL="48260" marR="0">
                        <a:lnSpc>
                          <a:spcPts val="2305"/>
                        </a:lnSpc>
                        <a:spcBef>
                          <a:spcPts val="0"/>
                        </a:spcBef>
                        <a:spcAft>
                          <a:spcPts val="0"/>
                        </a:spcAft>
                      </a:pPr>
                      <a:r>
                        <a:rPr lang="en-US" sz="1600" dirty="0">
                          <a:solidFill>
                            <a:srgbClr val="000000"/>
                          </a:solidFill>
                          <a:latin typeface="Calibri"/>
                          <a:ea typeface="Times New Roman"/>
                          <a:cs typeface="Calibri"/>
                        </a:rPr>
                        <a:t>+Reliable, low</a:t>
                      </a:r>
                      <a:endParaRPr lang="en-US" sz="1600" dirty="0">
                        <a:latin typeface="Calibri"/>
                        <a:ea typeface="Times New Roman"/>
                        <a:cs typeface="Times New Roman"/>
                      </a:endParaRPr>
                    </a:p>
                    <a:p>
                      <a:pPr marL="48260" marR="0">
                        <a:lnSpc>
                          <a:spcPts val="2590"/>
                        </a:lnSpc>
                        <a:spcBef>
                          <a:spcPts val="0"/>
                        </a:spcBef>
                        <a:spcAft>
                          <a:spcPts val="0"/>
                        </a:spcAft>
                      </a:pPr>
                      <a:r>
                        <a:rPr lang="en-US" sz="1600" dirty="0">
                          <a:solidFill>
                            <a:srgbClr val="000000"/>
                          </a:solidFill>
                          <a:latin typeface="Calibri"/>
                          <a:ea typeface="Times New Roman"/>
                          <a:cs typeface="Calibri"/>
                        </a:rPr>
                        <a:t>maintenance</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72043409"/>
              </p:ext>
            </p:extLst>
          </p:nvPr>
        </p:nvGraphicFramePr>
        <p:xfrm>
          <a:off x="7518400" y="1524001"/>
          <a:ext cx="3810000" cy="4978399"/>
        </p:xfrm>
        <a:graphic>
          <a:graphicData uri="http://schemas.openxmlformats.org/drawingml/2006/table">
            <a:tbl>
              <a:tblPr/>
              <a:tblGrid>
                <a:gridCol w="3810000">
                  <a:extLst>
                    <a:ext uri="{9D8B030D-6E8A-4147-A177-3AD203B41FA5}">
                      <a16:colId xmlns:a16="http://schemas.microsoft.com/office/drawing/2014/main" val="20000"/>
                    </a:ext>
                  </a:extLst>
                </a:gridCol>
              </a:tblGrid>
              <a:tr h="328281">
                <a:tc>
                  <a:txBody>
                    <a:bodyPr/>
                    <a:lstStyle/>
                    <a:p>
                      <a:pPr marL="840740" marR="0">
                        <a:lnSpc>
                          <a:spcPts val="2290"/>
                        </a:lnSpc>
                        <a:spcBef>
                          <a:spcPts val="0"/>
                        </a:spcBef>
                        <a:spcAft>
                          <a:spcPts val="0"/>
                        </a:spcAft>
                      </a:pPr>
                      <a:r>
                        <a:rPr lang="en-US" sz="1600" b="1" dirty="0">
                          <a:solidFill>
                            <a:srgbClr val="000000"/>
                          </a:solidFill>
                          <a:latin typeface="Calibri"/>
                          <a:ea typeface="Times New Roman"/>
                          <a:cs typeface="Calibri"/>
                        </a:rPr>
                        <a:t>Pneumatic</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99380">
                <a:tc>
                  <a:txBody>
                    <a:bodyPr/>
                    <a:lstStyle/>
                    <a:p>
                      <a:pPr marL="48260" marR="0">
                        <a:lnSpc>
                          <a:spcPts val="2280"/>
                        </a:lnSpc>
                        <a:spcBef>
                          <a:spcPts val="0"/>
                        </a:spcBef>
                        <a:spcAft>
                          <a:spcPts val="0"/>
                        </a:spcAft>
                      </a:pPr>
                      <a:r>
                        <a:rPr lang="en-US" sz="1600">
                          <a:solidFill>
                            <a:srgbClr val="000000"/>
                          </a:solidFill>
                          <a:latin typeface="Calibri"/>
                          <a:ea typeface="Times New Roman"/>
                          <a:cs typeface="Calibri"/>
                        </a:rPr>
                        <a:t>+ Many components are</a:t>
                      </a:r>
                      <a:endParaRPr lang="en-US" sz="1600">
                        <a:latin typeface="Calibri"/>
                        <a:ea typeface="Times New Roman"/>
                        <a:cs typeface="Times New Roman"/>
                      </a:endParaRPr>
                    </a:p>
                    <a:p>
                      <a:pPr marL="48260" marR="0">
                        <a:lnSpc>
                          <a:spcPts val="2590"/>
                        </a:lnSpc>
                        <a:spcBef>
                          <a:spcPts val="0"/>
                        </a:spcBef>
                        <a:spcAft>
                          <a:spcPts val="0"/>
                        </a:spcAft>
                      </a:pPr>
                      <a:r>
                        <a:rPr lang="en-US" sz="1600">
                          <a:solidFill>
                            <a:srgbClr val="000000"/>
                          </a:solidFill>
                          <a:latin typeface="Calibri"/>
                          <a:ea typeface="Times New Roman"/>
                          <a:cs typeface="Calibri"/>
                        </a:rPr>
                        <a:t>usually off-the-shelf</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4770">
                <a:tc>
                  <a:txBody>
                    <a:bodyPr/>
                    <a:lstStyle/>
                    <a:p>
                      <a:pPr marL="48260" marR="0">
                        <a:lnSpc>
                          <a:spcPts val="2290"/>
                        </a:lnSpc>
                        <a:spcBef>
                          <a:spcPts val="0"/>
                        </a:spcBef>
                        <a:spcAft>
                          <a:spcPts val="0"/>
                        </a:spcAft>
                      </a:pPr>
                      <a:r>
                        <a:rPr lang="en-US" sz="1600">
                          <a:solidFill>
                            <a:srgbClr val="000000"/>
                          </a:solidFill>
                          <a:latin typeface="Calibri"/>
                          <a:ea typeface="Times New Roman"/>
                          <a:cs typeface="Calibri"/>
                        </a:rPr>
                        <a:t>+Reliable components.</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3750">
                <a:tc>
                  <a:txBody>
                    <a:bodyPr/>
                    <a:lstStyle/>
                    <a:p>
                      <a:pPr marL="48260" marR="0">
                        <a:lnSpc>
                          <a:spcPts val="2290"/>
                        </a:lnSpc>
                        <a:spcBef>
                          <a:spcPts val="0"/>
                        </a:spcBef>
                        <a:spcAft>
                          <a:spcPts val="0"/>
                        </a:spcAft>
                      </a:pPr>
                      <a:r>
                        <a:rPr lang="en-US" sz="1600">
                          <a:solidFill>
                            <a:srgbClr val="000000"/>
                          </a:solidFill>
                          <a:latin typeface="Calibri"/>
                          <a:ea typeface="Times New Roman"/>
                          <a:cs typeface="Calibri"/>
                        </a:rPr>
                        <a:t>+No leaks or sparks</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99208">
                <a:tc>
                  <a:txBody>
                    <a:bodyPr/>
                    <a:lstStyle/>
                    <a:p>
                      <a:pPr marL="48260" marR="0">
                        <a:lnSpc>
                          <a:spcPts val="2305"/>
                        </a:lnSpc>
                        <a:spcBef>
                          <a:spcPts val="0"/>
                        </a:spcBef>
                        <a:spcAft>
                          <a:spcPts val="0"/>
                        </a:spcAft>
                      </a:pPr>
                      <a:r>
                        <a:rPr lang="en-US" sz="1600" dirty="0">
                          <a:solidFill>
                            <a:srgbClr val="000000"/>
                          </a:solidFill>
                          <a:latin typeface="Calibri"/>
                          <a:ea typeface="Times New Roman"/>
                          <a:cs typeface="Calibri"/>
                        </a:rPr>
                        <a:t>+Inexpensive and simple</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99208">
                <a:tc>
                  <a:txBody>
                    <a:bodyPr/>
                    <a:lstStyle/>
                    <a:p>
                      <a:pPr marL="48260" marR="0">
                        <a:lnSpc>
                          <a:spcPts val="2305"/>
                        </a:lnSpc>
                        <a:spcBef>
                          <a:spcPts val="0"/>
                        </a:spcBef>
                        <a:spcAft>
                          <a:spcPts val="0"/>
                        </a:spcAft>
                      </a:pPr>
                      <a:r>
                        <a:rPr lang="en-US" sz="1600">
                          <a:solidFill>
                            <a:srgbClr val="000000"/>
                          </a:solidFill>
                          <a:latin typeface="Calibri"/>
                          <a:ea typeface="Times New Roman"/>
                          <a:cs typeface="Calibri"/>
                        </a:rPr>
                        <a:t>+Low pressure compared</a:t>
                      </a:r>
                      <a:endParaRPr lang="en-US" sz="1600">
                        <a:latin typeface="Calibri"/>
                        <a:ea typeface="Times New Roman"/>
                        <a:cs typeface="Times New Roman"/>
                      </a:endParaRPr>
                    </a:p>
                    <a:p>
                      <a:pPr marL="48260" marR="0">
                        <a:lnSpc>
                          <a:spcPts val="2590"/>
                        </a:lnSpc>
                        <a:spcBef>
                          <a:spcPts val="0"/>
                        </a:spcBef>
                        <a:spcAft>
                          <a:spcPts val="0"/>
                        </a:spcAft>
                      </a:pPr>
                      <a:r>
                        <a:rPr lang="en-US" sz="1600">
                          <a:solidFill>
                            <a:srgbClr val="000000"/>
                          </a:solidFill>
                          <a:latin typeface="Calibri"/>
                          <a:ea typeface="Times New Roman"/>
                          <a:cs typeface="Calibri"/>
                        </a:rPr>
                        <a:t>to hydraulics</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083802">
                <a:tc>
                  <a:txBody>
                    <a:bodyPr/>
                    <a:lstStyle/>
                    <a:p>
                      <a:pPr marL="48260" marR="0">
                        <a:lnSpc>
                          <a:spcPts val="2305"/>
                        </a:lnSpc>
                        <a:spcBef>
                          <a:spcPts val="0"/>
                        </a:spcBef>
                        <a:spcAft>
                          <a:spcPts val="0"/>
                        </a:spcAft>
                      </a:pPr>
                      <a:r>
                        <a:rPr lang="en-US" sz="1600" dirty="0">
                          <a:solidFill>
                            <a:srgbClr val="000000"/>
                          </a:solidFill>
                          <a:latin typeface="Calibri"/>
                          <a:ea typeface="Times New Roman"/>
                          <a:cs typeface="Calibri"/>
                        </a:rPr>
                        <a:t>+ Good for on-off</a:t>
                      </a:r>
                      <a:endParaRPr lang="en-US" sz="1600" dirty="0">
                        <a:latin typeface="Calibri"/>
                        <a:ea typeface="Times New Roman"/>
                        <a:cs typeface="Times New Roman"/>
                      </a:endParaRPr>
                    </a:p>
                    <a:p>
                      <a:pPr marL="48260" marR="0">
                        <a:lnSpc>
                          <a:spcPts val="2590"/>
                        </a:lnSpc>
                        <a:spcBef>
                          <a:spcPts val="0"/>
                        </a:spcBef>
                        <a:spcAft>
                          <a:spcPts val="0"/>
                        </a:spcAft>
                      </a:pPr>
                      <a:r>
                        <a:rPr lang="en-US" sz="1600" dirty="0">
                          <a:solidFill>
                            <a:srgbClr val="000000"/>
                          </a:solidFill>
                          <a:latin typeface="Calibri"/>
                          <a:ea typeface="Times New Roman"/>
                          <a:cs typeface="Calibri"/>
                        </a:rPr>
                        <a:t>applications and for pick</a:t>
                      </a:r>
                      <a:endParaRPr lang="en-US" sz="1600" dirty="0">
                        <a:latin typeface="Calibri"/>
                        <a:ea typeface="Times New Roman"/>
                        <a:cs typeface="Times New Roman"/>
                      </a:endParaRPr>
                    </a:p>
                    <a:p>
                      <a:pPr marL="48260" marR="0">
                        <a:lnSpc>
                          <a:spcPts val="2615"/>
                        </a:lnSpc>
                        <a:spcBef>
                          <a:spcPts val="0"/>
                        </a:spcBef>
                        <a:spcAft>
                          <a:spcPts val="0"/>
                        </a:spcAft>
                      </a:pPr>
                      <a:r>
                        <a:rPr lang="en-US" sz="1600" dirty="0">
                          <a:solidFill>
                            <a:srgbClr val="000000"/>
                          </a:solidFill>
                          <a:latin typeface="Calibri"/>
                          <a:ea typeface="Times New Roman"/>
                          <a:cs typeface="Calibri"/>
                        </a:rPr>
                        <a:t>and place</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38358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Comparison of actuating systems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89534104"/>
              </p:ext>
            </p:extLst>
          </p:nvPr>
        </p:nvGraphicFramePr>
        <p:xfrm>
          <a:off x="846667" y="1600201"/>
          <a:ext cx="3814233" cy="4787901"/>
        </p:xfrm>
        <a:graphic>
          <a:graphicData uri="http://schemas.openxmlformats.org/drawingml/2006/table">
            <a:tbl>
              <a:tblPr/>
              <a:tblGrid>
                <a:gridCol w="3814233">
                  <a:extLst>
                    <a:ext uri="{9D8B030D-6E8A-4147-A177-3AD203B41FA5}">
                      <a16:colId xmlns:a16="http://schemas.microsoft.com/office/drawing/2014/main" val="20000"/>
                    </a:ext>
                  </a:extLst>
                </a:gridCol>
              </a:tblGrid>
              <a:tr h="266177">
                <a:tc>
                  <a:txBody>
                    <a:bodyPr/>
                    <a:lstStyle/>
                    <a:p>
                      <a:pPr marL="942975" marR="0">
                        <a:lnSpc>
                          <a:spcPts val="2025"/>
                        </a:lnSpc>
                        <a:spcBef>
                          <a:spcPts val="0"/>
                        </a:spcBef>
                        <a:spcAft>
                          <a:spcPts val="0"/>
                        </a:spcAft>
                      </a:pPr>
                      <a:r>
                        <a:rPr lang="en-US" sz="1600" b="1" dirty="0">
                          <a:solidFill>
                            <a:srgbClr val="000000"/>
                          </a:solidFill>
                          <a:latin typeface="Calibri"/>
                          <a:ea typeface="Times New Roman"/>
                          <a:cs typeface="Calibri"/>
                        </a:rPr>
                        <a:t>Hydraulic</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2281">
                <a:tc>
                  <a:txBody>
                    <a:bodyPr/>
                    <a:lstStyle/>
                    <a:p>
                      <a:pPr marL="50165" marR="0">
                        <a:lnSpc>
                          <a:spcPts val="2015"/>
                        </a:lnSpc>
                        <a:spcBef>
                          <a:spcPts val="0"/>
                        </a:spcBef>
                        <a:spcAft>
                          <a:spcPts val="0"/>
                        </a:spcAft>
                      </a:pPr>
                      <a:r>
                        <a:rPr lang="en-US" sz="1600">
                          <a:solidFill>
                            <a:srgbClr val="000000"/>
                          </a:solidFill>
                          <a:latin typeface="Calibri"/>
                          <a:ea typeface="Times New Roman"/>
                          <a:cs typeface="Calibri"/>
                        </a:rPr>
                        <a:t>- May leak. Not fit for clean</a:t>
                      </a:r>
                      <a:endParaRPr lang="en-US" sz="1600">
                        <a:latin typeface="Calibri"/>
                        <a:ea typeface="Times New Roman"/>
                        <a:cs typeface="Times New Roman"/>
                      </a:endParaRPr>
                    </a:p>
                    <a:p>
                      <a:pPr marL="50165" marR="0">
                        <a:lnSpc>
                          <a:spcPts val="2325"/>
                        </a:lnSpc>
                        <a:spcBef>
                          <a:spcPts val="0"/>
                        </a:spcBef>
                        <a:spcAft>
                          <a:spcPts val="0"/>
                        </a:spcAft>
                      </a:pPr>
                      <a:r>
                        <a:rPr lang="en-US" sz="1600">
                          <a:solidFill>
                            <a:srgbClr val="000000"/>
                          </a:solidFill>
                          <a:latin typeface="Calibri"/>
                          <a:ea typeface="Times New Roman"/>
                          <a:cs typeface="Calibri"/>
                        </a:rPr>
                        <a:t>room application</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2281">
                <a:tc>
                  <a:txBody>
                    <a:bodyPr/>
                    <a:lstStyle/>
                    <a:p>
                      <a:pPr marL="50165" marR="0">
                        <a:lnSpc>
                          <a:spcPts val="2005"/>
                        </a:lnSpc>
                        <a:spcBef>
                          <a:spcPts val="0"/>
                        </a:spcBef>
                        <a:spcAft>
                          <a:spcPts val="0"/>
                        </a:spcAft>
                      </a:pPr>
                      <a:r>
                        <a:rPr lang="en-US" sz="1600">
                          <a:solidFill>
                            <a:srgbClr val="000000"/>
                          </a:solidFill>
                          <a:latin typeface="Calibri"/>
                          <a:ea typeface="Times New Roman"/>
                          <a:cs typeface="Calibri"/>
                        </a:rPr>
                        <a:t>-Requires pump, reservoir,</a:t>
                      </a:r>
                      <a:endParaRPr lang="en-US" sz="1600">
                        <a:latin typeface="Calibri"/>
                        <a:ea typeface="Times New Roman"/>
                        <a:cs typeface="Times New Roman"/>
                      </a:endParaRPr>
                    </a:p>
                    <a:p>
                      <a:pPr marL="50165" marR="0">
                        <a:lnSpc>
                          <a:spcPts val="2325"/>
                        </a:lnSpc>
                        <a:spcBef>
                          <a:spcPts val="0"/>
                        </a:spcBef>
                        <a:spcAft>
                          <a:spcPts val="0"/>
                        </a:spcAft>
                      </a:pPr>
                      <a:r>
                        <a:rPr lang="en-US" sz="1600">
                          <a:solidFill>
                            <a:srgbClr val="000000"/>
                          </a:solidFill>
                          <a:latin typeface="Calibri"/>
                          <a:ea typeface="Times New Roman"/>
                          <a:cs typeface="Calibri"/>
                        </a:rPr>
                        <a:t>motor, hoses etc.</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36960">
                <a:tc>
                  <a:txBody>
                    <a:bodyPr/>
                    <a:lstStyle/>
                    <a:p>
                      <a:pPr marL="50165" marR="0">
                        <a:lnSpc>
                          <a:spcPts val="2030"/>
                        </a:lnSpc>
                        <a:spcBef>
                          <a:spcPts val="0"/>
                        </a:spcBef>
                        <a:spcAft>
                          <a:spcPts val="0"/>
                        </a:spcAft>
                      </a:pPr>
                      <a:r>
                        <a:rPr lang="en-US" sz="1600">
                          <a:solidFill>
                            <a:srgbClr val="000000"/>
                          </a:solidFill>
                          <a:latin typeface="Calibri"/>
                          <a:ea typeface="Times New Roman"/>
                          <a:cs typeface="Calibri"/>
                        </a:rPr>
                        <a:t>-Can be expensive and noisy,</a:t>
                      </a:r>
                      <a:endParaRPr lang="en-US" sz="1600">
                        <a:latin typeface="Calibri"/>
                        <a:ea typeface="Times New Roman"/>
                        <a:cs typeface="Times New Roman"/>
                      </a:endParaRPr>
                    </a:p>
                    <a:p>
                      <a:pPr marL="50165" marR="0">
                        <a:lnSpc>
                          <a:spcPts val="2325"/>
                        </a:lnSpc>
                        <a:spcBef>
                          <a:spcPts val="0"/>
                        </a:spcBef>
                        <a:spcAft>
                          <a:spcPts val="0"/>
                        </a:spcAft>
                      </a:pPr>
                      <a:r>
                        <a:rPr lang="en-US" sz="1600">
                          <a:solidFill>
                            <a:srgbClr val="000000"/>
                          </a:solidFill>
                          <a:latin typeface="Calibri"/>
                          <a:ea typeface="Times New Roman"/>
                          <a:cs typeface="Calibri"/>
                        </a:rPr>
                        <a:t>requires maintenance.</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36960">
                <a:tc>
                  <a:txBody>
                    <a:bodyPr/>
                    <a:lstStyle/>
                    <a:p>
                      <a:pPr marL="50165" marR="0">
                        <a:lnSpc>
                          <a:spcPts val="2030"/>
                        </a:lnSpc>
                        <a:spcBef>
                          <a:spcPts val="0"/>
                        </a:spcBef>
                        <a:spcAft>
                          <a:spcPts val="0"/>
                        </a:spcAft>
                      </a:pPr>
                      <a:r>
                        <a:rPr lang="en-US" sz="1600" dirty="0">
                          <a:solidFill>
                            <a:srgbClr val="000000"/>
                          </a:solidFill>
                          <a:latin typeface="Calibri"/>
                          <a:ea typeface="Times New Roman"/>
                          <a:cs typeface="Calibri"/>
                        </a:rPr>
                        <a:t>-Viscosity of oil changes with</a:t>
                      </a:r>
                      <a:endParaRPr lang="en-US" sz="1600" dirty="0">
                        <a:latin typeface="Calibri"/>
                        <a:ea typeface="Times New Roman"/>
                        <a:cs typeface="Times New Roman"/>
                      </a:endParaRPr>
                    </a:p>
                    <a:p>
                      <a:pPr marL="50165" marR="0">
                        <a:lnSpc>
                          <a:spcPts val="2325"/>
                        </a:lnSpc>
                        <a:spcBef>
                          <a:spcPts val="0"/>
                        </a:spcBef>
                        <a:spcAft>
                          <a:spcPts val="0"/>
                        </a:spcAft>
                      </a:pPr>
                      <a:r>
                        <a:rPr lang="en-US" sz="1600" dirty="0">
                          <a:solidFill>
                            <a:srgbClr val="000000"/>
                          </a:solidFill>
                          <a:latin typeface="Calibri"/>
                          <a:ea typeface="Times New Roman"/>
                          <a:cs typeface="Calibri"/>
                        </a:rPr>
                        <a:t>temperature</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2281">
                <a:tc>
                  <a:txBody>
                    <a:bodyPr/>
                    <a:lstStyle/>
                    <a:p>
                      <a:pPr marL="50165" marR="0">
                        <a:lnSpc>
                          <a:spcPts val="2005"/>
                        </a:lnSpc>
                        <a:spcBef>
                          <a:spcPts val="0"/>
                        </a:spcBef>
                        <a:spcAft>
                          <a:spcPts val="0"/>
                        </a:spcAft>
                      </a:pPr>
                      <a:r>
                        <a:rPr lang="en-US" sz="1600">
                          <a:solidFill>
                            <a:srgbClr val="000000"/>
                          </a:solidFill>
                          <a:latin typeface="Calibri"/>
                          <a:ea typeface="Times New Roman"/>
                          <a:cs typeface="Calibri"/>
                        </a:rPr>
                        <a:t>-Very susceptible to dirt and</a:t>
                      </a:r>
                      <a:endParaRPr lang="en-US" sz="1600">
                        <a:latin typeface="Calibri"/>
                        <a:ea typeface="Times New Roman"/>
                        <a:cs typeface="Times New Roman"/>
                      </a:endParaRPr>
                    </a:p>
                    <a:p>
                      <a:pPr marL="50165" marR="0">
                        <a:lnSpc>
                          <a:spcPts val="2325"/>
                        </a:lnSpc>
                        <a:spcBef>
                          <a:spcPts val="0"/>
                        </a:spcBef>
                        <a:spcAft>
                          <a:spcPts val="0"/>
                        </a:spcAft>
                      </a:pPr>
                      <a:r>
                        <a:rPr lang="en-US" sz="1600">
                          <a:solidFill>
                            <a:srgbClr val="000000"/>
                          </a:solidFill>
                          <a:latin typeface="Calibri"/>
                          <a:ea typeface="Times New Roman"/>
                          <a:cs typeface="Calibri"/>
                        </a:rPr>
                        <a:t>other foreign material in oil</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8680">
                <a:tc>
                  <a:txBody>
                    <a:bodyPr/>
                    <a:lstStyle/>
                    <a:p>
                      <a:pPr marL="50165" marR="0">
                        <a:lnSpc>
                          <a:spcPts val="2030"/>
                        </a:lnSpc>
                        <a:spcBef>
                          <a:spcPts val="0"/>
                        </a:spcBef>
                        <a:spcAft>
                          <a:spcPts val="0"/>
                        </a:spcAft>
                      </a:pPr>
                      <a:r>
                        <a:rPr lang="en-US" sz="1600">
                          <a:solidFill>
                            <a:srgbClr val="000000"/>
                          </a:solidFill>
                          <a:latin typeface="Calibri"/>
                          <a:ea typeface="Times New Roman"/>
                          <a:cs typeface="Calibri"/>
                        </a:rPr>
                        <a:t>-Low compliance</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72281">
                <a:tc>
                  <a:txBody>
                    <a:bodyPr/>
                    <a:lstStyle/>
                    <a:p>
                      <a:pPr marL="50165" marR="0">
                        <a:lnSpc>
                          <a:spcPts val="2015"/>
                        </a:lnSpc>
                        <a:spcBef>
                          <a:spcPts val="0"/>
                        </a:spcBef>
                        <a:spcAft>
                          <a:spcPts val="0"/>
                        </a:spcAft>
                      </a:pPr>
                      <a:r>
                        <a:rPr lang="en-US" sz="1600" dirty="0">
                          <a:solidFill>
                            <a:srgbClr val="000000"/>
                          </a:solidFill>
                          <a:latin typeface="Calibri"/>
                          <a:ea typeface="Times New Roman"/>
                          <a:cs typeface="Calibri"/>
                        </a:rPr>
                        <a:t>-High torque, High pressure,</a:t>
                      </a:r>
                      <a:endParaRPr lang="en-US" sz="1600" dirty="0">
                        <a:latin typeface="Calibri"/>
                        <a:ea typeface="Times New Roman"/>
                        <a:cs typeface="Times New Roman"/>
                      </a:endParaRPr>
                    </a:p>
                    <a:p>
                      <a:pPr marL="50165" marR="0">
                        <a:lnSpc>
                          <a:spcPts val="2325"/>
                        </a:lnSpc>
                        <a:spcBef>
                          <a:spcPts val="0"/>
                        </a:spcBef>
                        <a:spcAft>
                          <a:spcPts val="0"/>
                        </a:spcAft>
                      </a:pPr>
                      <a:r>
                        <a:rPr lang="en-US" sz="1600" dirty="0">
                          <a:solidFill>
                            <a:srgbClr val="000000"/>
                          </a:solidFill>
                          <a:latin typeface="Calibri"/>
                          <a:ea typeface="Times New Roman"/>
                          <a:cs typeface="Calibri"/>
                        </a:rPr>
                        <a:t>large inertia on the actuator.</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4724400" y="1600201"/>
          <a:ext cx="2857500" cy="4813299"/>
        </p:xfrm>
        <a:graphic>
          <a:graphicData uri="http://schemas.openxmlformats.org/drawingml/2006/table">
            <a:tbl>
              <a:tblPr/>
              <a:tblGrid>
                <a:gridCol w="2857500">
                  <a:extLst>
                    <a:ext uri="{9D8B030D-6E8A-4147-A177-3AD203B41FA5}">
                      <a16:colId xmlns:a16="http://schemas.microsoft.com/office/drawing/2014/main" val="20000"/>
                    </a:ext>
                  </a:extLst>
                </a:gridCol>
              </a:tblGrid>
              <a:tr h="266827">
                <a:tc>
                  <a:txBody>
                    <a:bodyPr/>
                    <a:lstStyle/>
                    <a:p>
                      <a:pPr marL="1035685" marR="0">
                        <a:lnSpc>
                          <a:spcPts val="2025"/>
                        </a:lnSpc>
                        <a:spcBef>
                          <a:spcPts val="0"/>
                        </a:spcBef>
                        <a:spcAft>
                          <a:spcPts val="0"/>
                        </a:spcAft>
                      </a:pPr>
                      <a:r>
                        <a:rPr lang="en-US" sz="1600" b="1" dirty="0">
                          <a:solidFill>
                            <a:srgbClr val="000000"/>
                          </a:solidFill>
                          <a:latin typeface="Calibri"/>
                          <a:ea typeface="Times New Roman"/>
                          <a:cs typeface="Calibri"/>
                        </a:rPr>
                        <a:t>Electric</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46813">
                <a:tc>
                  <a:txBody>
                    <a:bodyPr/>
                    <a:lstStyle/>
                    <a:p>
                      <a:pPr marL="48260" marR="0">
                        <a:lnSpc>
                          <a:spcPts val="2015"/>
                        </a:lnSpc>
                        <a:spcBef>
                          <a:spcPts val="0"/>
                        </a:spcBef>
                        <a:spcAft>
                          <a:spcPts val="0"/>
                        </a:spcAft>
                      </a:pPr>
                      <a:r>
                        <a:rPr lang="en-US" sz="1600">
                          <a:solidFill>
                            <a:srgbClr val="000000"/>
                          </a:solidFill>
                          <a:latin typeface="Calibri"/>
                          <a:ea typeface="Times New Roman"/>
                          <a:cs typeface="Calibri"/>
                        </a:rPr>
                        <a:t>+Can be spark-free. Good for</a:t>
                      </a:r>
                      <a:endParaRPr lang="en-US" sz="1600">
                        <a:latin typeface="Calibri"/>
                        <a:ea typeface="Times New Roman"/>
                        <a:cs typeface="Times New Roman"/>
                      </a:endParaRPr>
                    </a:p>
                    <a:p>
                      <a:pPr marL="48260" marR="0">
                        <a:lnSpc>
                          <a:spcPts val="2325"/>
                        </a:lnSpc>
                        <a:spcBef>
                          <a:spcPts val="0"/>
                        </a:spcBef>
                        <a:spcAft>
                          <a:spcPts val="0"/>
                        </a:spcAft>
                      </a:pPr>
                      <a:r>
                        <a:rPr lang="en-US" sz="1600">
                          <a:solidFill>
                            <a:srgbClr val="000000"/>
                          </a:solidFill>
                          <a:latin typeface="Calibri"/>
                          <a:ea typeface="Times New Roman"/>
                          <a:cs typeface="Calibri"/>
                        </a:rPr>
                        <a:t>explosive environment.</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1592">
                <a:tc>
                  <a:txBody>
                    <a:bodyPr/>
                    <a:lstStyle/>
                    <a:p>
                      <a:pPr marL="48260" marR="0">
                        <a:lnSpc>
                          <a:spcPts val="2005"/>
                        </a:lnSpc>
                        <a:spcBef>
                          <a:spcPts val="0"/>
                        </a:spcBef>
                        <a:spcAft>
                          <a:spcPts val="0"/>
                        </a:spcAft>
                      </a:pPr>
                      <a:r>
                        <a:rPr lang="en-US" sz="1600">
                          <a:solidFill>
                            <a:srgbClr val="000000"/>
                          </a:solidFill>
                          <a:latin typeface="Calibri"/>
                          <a:ea typeface="Times New Roman"/>
                          <a:cs typeface="Calibri"/>
                        </a:rPr>
                        <a:t>-Low stiffness</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68183">
                <a:tc>
                  <a:txBody>
                    <a:bodyPr/>
                    <a:lstStyle/>
                    <a:p>
                      <a:pPr marL="48260" marR="0">
                        <a:lnSpc>
                          <a:spcPts val="2030"/>
                        </a:lnSpc>
                        <a:spcBef>
                          <a:spcPts val="0"/>
                        </a:spcBef>
                        <a:spcAft>
                          <a:spcPts val="0"/>
                        </a:spcAft>
                      </a:pPr>
                      <a:r>
                        <a:rPr lang="en-US" sz="1600" dirty="0">
                          <a:solidFill>
                            <a:srgbClr val="000000"/>
                          </a:solidFill>
                          <a:latin typeface="Calibri"/>
                          <a:ea typeface="Times New Roman"/>
                          <a:cs typeface="Calibri"/>
                        </a:rPr>
                        <a:t>-Needs reduction gears,</a:t>
                      </a:r>
                      <a:endParaRPr lang="en-US" sz="1600" dirty="0">
                        <a:latin typeface="Calibri"/>
                        <a:ea typeface="Times New Roman"/>
                        <a:cs typeface="Times New Roman"/>
                      </a:endParaRPr>
                    </a:p>
                    <a:p>
                      <a:pPr marL="48260" marR="0">
                        <a:lnSpc>
                          <a:spcPts val="2325"/>
                        </a:lnSpc>
                        <a:spcBef>
                          <a:spcPts val="0"/>
                        </a:spcBef>
                        <a:spcAft>
                          <a:spcPts val="0"/>
                        </a:spcAft>
                      </a:pPr>
                      <a:r>
                        <a:rPr lang="en-US" sz="1600" dirty="0">
                          <a:solidFill>
                            <a:srgbClr val="000000"/>
                          </a:solidFill>
                          <a:latin typeface="Calibri"/>
                          <a:ea typeface="Times New Roman"/>
                          <a:cs typeface="Calibri"/>
                        </a:rPr>
                        <a:t>increased backlash, cost,</a:t>
                      </a:r>
                      <a:endParaRPr lang="en-US" sz="1600" dirty="0">
                        <a:latin typeface="Calibri"/>
                        <a:ea typeface="Times New Roman"/>
                        <a:cs typeface="Times New Roman"/>
                      </a:endParaRPr>
                    </a:p>
                    <a:p>
                      <a:pPr marL="48260" marR="0">
                        <a:lnSpc>
                          <a:spcPts val="2325"/>
                        </a:lnSpc>
                        <a:spcBef>
                          <a:spcPts val="0"/>
                        </a:spcBef>
                        <a:spcAft>
                          <a:spcPts val="0"/>
                        </a:spcAft>
                      </a:pPr>
                      <a:r>
                        <a:rPr lang="en-US" sz="1600" dirty="0">
                          <a:solidFill>
                            <a:srgbClr val="000000"/>
                          </a:solidFill>
                          <a:latin typeface="Calibri"/>
                          <a:ea typeface="Times New Roman"/>
                          <a:cs typeface="Calibri"/>
                        </a:rPr>
                        <a:t>weight, etc.</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315390">
                <a:tc>
                  <a:txBody>
                    <a:bodyPr/>
                    <a:lstStyle/>
                    <a:p>
                      <a:pPr marL="48260" marR="0">
                        <a:lnSpc>
                          <a:spcPts val="2030"/>
                        </a:lnSpc>
                        <a:spcBef>
                          <a:spcPts val="0"/>
                        </a:spcBef>
                        <a:spcAft>
                          <a:spcPts val="0"/>
                        </a:spcAft>
                      </a:pPr>
                      <a:r>
                        <a:rPr lang="en-US" sz="1600" dirty="0">
                          <a:solidFill>
                            <a:srgbClr val="000000"/>
                          </a:solidFill>
                          <a:latin typeface="Calibri"/>
                          <a:ea typeface="Times New Roman"/>
                          <a:cs typeface="Calibri"/>
                        </a:rPr>
                        <a:t>-Motor needs braking device</a:t>
                      </a:r>
                      <a:endParaRPr lang="en-US" sz="1600" dirty="0">
                        <a:latin typeface="Calibri"/>
                        <a:ea typeface="Times New Roman"/>
                        <a:cs typeface="Times New Roman"/>
                      </a:endParaRPr>
                    </a:p>
                    <a:p>
                      <a:pPr marL="48260" marR="0">
                        <a:lnSpc>
                          <a:spcPts val="2325"/>
                        </a:lnSpc>
                        <a:spcBef>
                          <a:spcPts val="0"/>
                        </a:spcBef>
                        <a:spcAft>
                          <a:spcPts val="0"/>
                        </a:spcAft>
                      </a:pPr>
                      <a:r>
                        <a:rPr lang="en-US" sz="1600" dirty="0">
                          <a:solidFill>
                            <a:srgbClr val="000000"/>
                          </a:solidFill>
                          <a:latin typeface="Calibri"/>
                          <a:ea typeface="Times New Roman"/>
                          <a:cs typeface="Calibri"/>
                        </a:rPr>
                        <a:t>when not powered.</a:t>
                      </a:r>
                      <a:endParaRPr lang="en-US" sz="1600" dirty="0">
                        <a:latin typeface="Calibri"/>
                        <a:ea typeface="Times New Roman"/>
                        <a:cs typeface="Times New Roman"/>
                      </a:endParaRPr>
                    </a:p>
                    <a:p>
                      <a:pPr marL="48260" marR="0">
                        <a:lnSpc>
                          <a:spcPts val="2325"/>
                        </a:lnSpc>
                        <a:spcBef>
                          <a:spcPts val="0"/>
                        </a:spcBef>
                        <a:spcAft>
                          <a:spcPts val="0"/>
                        </a:spcAft>
                      </a:pPr>
                      <a:r>
                        <a:rPr lang="en-US" sz="1600" dirty="0">
                          <a:solidFill>
                            <a:srgbClr val="000000"/>
                          </a:solidFill>
                          <a:latin typeface="Calibri"/>
                          <a:ea typeface="Times New Roman"/>
                          <a:cs typeface="Calibri"/>
                        </a:rPr>
                        <a:t>Otherwise, the arm will fail.</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1592">
                <a:tc>
                  <a:txBody>
                    <a:bodyPr/>
                    <a:lstStyle/>
                    <a:p>
                      <a:pPr marL="48260" marR="0">
                        <a:lnSpc>
                          <a:spcPts val="2005"/>
                        </a:lnSpc>
                        <a:spcBef>
                          <a:spcPts val="0"/>
                        </a:spcBef>
                        <a:spcAft>
                          <a:spcPts val="0"/>
                        </a:spcAft>
                      </a:pPr>
                      <a:r>
                        <a:rPr lang="en-US" sz="1600">
                          <a:solidFill>
                            <a:srgbClr val="000000"/>
                          </a:solidFill>
                          <a:latin typeface="Calibri"/>
                          <a:ea typeface="Times New Roman"/>
                          <a:cs typeface="Calibri"/>
                        </a:rPr>
                        <a:t>-</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6501">
                <a:tc>
                  <a:txBody>
                    <a:bodyPr/>
                    <a:lstStyle/>
                    <a:p>
                      <a:pPr marL="48260" marR="0">
                        <a:lnSpc>
                          <a:spcPts val="2030"/>
                        </a:lnSpc>
                        <a:spcBef>
                          <a:spcPts val="0"/>
                        </a:spcBef>
                        <a:spcAft>
                          <a:spcPts val="0"/>
                        </a:spcAft>
                      </a:pPr>
                      <a:r>
                        <a:rPr lang="en-US" sz="1600" dirty="0">
                          <a:solidFill>
                            <a:srgbClr val="000000"/>
                          </a:solidFill>
                          <a:latin typeface="Calibri"/>
                          <a:ea typeface="Times New Roman"/>
                          <a:cs typeface="Calibri"/>
                        </a:rPr>
                        <a:t>-</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6401">
                <a:tc>
                  <a:txBody>
                    <a:bodyPr/>
                    <a:lstStyle/>
                    <a:p>
                      <a:pPr marL="48260" marR="0">
                        <a:lnSpc>
                          <a:spcPts val="2015"/>
                        </a:lnSpc>
                        <a:spcBef>
                          <a:spcPts val="0"/>
                        </a:spcBef>
                        <a:spcAft>
                          <a:spcPts val="0"/>
                        </a:spcAft>
                      </a:pPr>
                      <a:r>
                        <a:rPr lang="en-US" sz="1600" dirty="0">
                          <a:solidFill>
                            <a:srgbClr val="000000"/>
                          </a:solidFill>
                          <a:latin typeface="Calibri"/>
                          <a:ea typeface="Times New Roman"/>
                          <a:cs typeface="Calibri"/>
                        </a:rPr>
                        <a:t>-</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793862782"/>
              </p:ext>
            </p:extLst>
          </p:nvPr>
        </p:nvGraphicFramePr>
        <p:xfrm>
          <a:off x="7645400" y="1600201"/>
          <a:ext cx="3649133" cy="4851401"/>
        </p:xfrm>
        <a:graphic>
          <a:graphicData uri="http://schemas.openxmlformats.org/drawingml/2006/table">
            <a:tbl>
              <a:tblPr/>
              <a:tblGrid>
                <a:gridCol w="3649133">
                  <a:extLst>
                    <a:ext uri="{9D8B030D-6E8A-4147-A177-3AD203B41FA5}">
                      <a16:colId xmlns:a16="http://schemas.microsoft.com/office/drawing/2014/main" val="20000"/>
                    </a:ext>
                  </a:extLst>
                </a:gridCol>
              </a:tblGrid>
              <a:tr h="306944">
                <a:tc>
                  <a:txBody>
                    <a:bodyPr/>
                    <a:lstStyle/>
                    <a:p>
                      <a:pPr marL="888365" marR="0">
                        <a:lnSpc>
                          <a:spcPts val="2025"/>
                        </a:lnSpc>
                        <a:spcBef>
                          <a:spcPts val="0"/>
                        </a:spcBef>
                        <a:spcAft>
                          <a:spcPts val="0"/>
                        </a:spcAft>
                      </a:pPr>
                      <a:r>
                        <a:rPr lang="en-US" sz="1600" b="1" dirty="0">
                          <a:solidFill>
                            <a:srgbClr val="000000"/>
                          </a:solidFill>
                          <a:latin typeface="Calibri"/>
                          <a:ea typeface="Times New Roman"/>
                          <a:cs typeface="Calibri"/>
                        </a:rPr>
                        <a:t>Pneumatic</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8486">
                <a:tc>
                  <a:txBody>
                    <a:bodyPr/>
                    <a:lstStyle/>
                    <a:p>
                      <a:pPr marL="50165" marR="0">
                        <a:lnSpc>
                          <a:spcPts val="2015"/>
                        </a:lnSpc>
                        <a:spcBef>
                          <a:spcPts val="0"/>
                        </a:spcBef>
                        <a:spcAft>
                          <a:spcPts val="0"/>
                        </a:spcAft>
                      </a:pPr>
                      <a:r>
                        <a:rPr lang="en-US" sz="1600">
                          <a:solidFill>
                            <a:srgbClr val="000000"/>
                          </a:solidFill>
                          <a:latin typeface="Calibri"/>
                          <a:ea typeface="Times New Roman"/>
                          <a:cs typeface="Calibri"/>
                        </a:rPr>
                        <a:t>+Complaint systems.</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841">
                <a:tc>
                  <a:txBody>
                    <a:bodyPr/>
                    <a:lstStyle/>
                    <a:p>
                      <a:pPr marL="50165" marR="0">
                        <a:lnSpc>
                          <a:spcPts val="2005"/>
                        </a:lnSpc>
                        <a:spcBef>
                          <a:spcPts val="0"/>
                        </a:spcBef>
                        <a:spcAft>
                          <a:spcPts val="0"/>
                        </a:spcAft>
                      </a:pPr>
                      <a:r>
                        <a:rPr lang="en-US" sz="1600">
                          <a:solidFill>
                            <a:srgbClr val="000000"/>
                          </a:solidFill>
                          <a:latin typeface="Calibri"/>
                          <a:ea typeface="Times New Roman"/>
                          <a:cs typeface="Calibri"/>
                        </a:rPr>
                        <a:t>-Noisy systems.</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6633">
                <a:tc>
                  <a:txBody>
                    <a:bodyPr/>
                    <a:lstStyle/>
                    <a:p>
                      <a:pPr marL="50165" marR="0">
                        <a:lnSpc>
                          <a:spcPts val="2030"/>
                        </a:lnSpc>
                        <a:spcBef>
                          <a:spcPts val="0"/>
                        </a:spcBef>
                        <a:spcAft>
                          <a:spcPts val="0"/>
                        </a:spcAft>
                      </a:pPr>
                      <a:r>
                        <a:rPr lang="en-US" sz="1600" dirty="0">
                          <a:solidFill>
                            <a:srgbClr val="000000"/>
                          </a:solidFill>
                          <a:latin typeface="Calibri"/>
                          <a:ea typeface="Times New Roman"/>
                          <a:cs typeface="Calibri"/>
                        </a:rPr>
                        <a:t>- Require air pressure, filter,</a:t>
                      </a:r>
                      <a:endParaRPr lang="en-US" sz="1600" dirty="0">
                        <a:latin typeface="Calibri"/>
                        <a:ea typeface="Times New Roman"/>
                        <a:cs typeface="Times New Roman"/>
                      </a:endParaRPr>
                    </a:p>
                    <a:p>
                      <a:pPr marL="50165" marR="0">
                        <a:lnSpc>
                          <a:spcPts val="2325"/>
                        </a:lnSpc>
                        <a:spcBef>
                          <a:spcPts val="0"/>
                        </a:spcBef>
                        <a:spcAft>
                          <a:spcPts val="0"/>
                        </a:spcAft>
                      </a:pPr>
                      <a:r>
                        <a:rPr lang="en-US" sz="1600" dirty="0">
                          <a:solidFill>
                            <a:srgbClr val="000000"/>
                          </a:solidFill>
                          <a:latin typeface="Calibri"/>
                          <a:ea typeface="Times New Roman"/>
                          <a:cs typeface="Calibri"/>
                        </a:rPr>
                        <a:t>etc.</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6633">
                <a:tc>
                  <a:txBody>
                    <a:bodyPr/>
                    <a:lstStyle/>
                    <a:p>
                      <a:pPr marL="50165" marR="0">
                        <a:lnSpc>
                          <a:spcPts val="2030"/>
                        </a:lnSpc>
                        <a:spcBef>
                          <a:spcPts val="0"/>
                        </a:spcBef>
                        <a:spcAft>
                          <a:spcPts val="0"/>
                        </a:spcAft>
                      </a:pPr>
                      <a:r>
                        <a:rPr lang="en-US" sz="1600" dirty="0">
                          <a:solidFill>
                            <a:srgbClr val="000000"/>
                          </a:solidFill>
                          <a:latin typeface="Calibri"/>
                          <a:ea typeface="Times New Roman"/>
                          <a:cs typeface="Calibri"/>
                        </a:rPr>
                        <a:t>-Difficult to control their</a:t>
                      </a:r>
                      <a:endParaRPr lang="en-US" sz="1600" dirty="0">
                        <a:latin typeface="Calibri"/>
                        <a:ea typeface="Times New Roman"/>
                        <a:cs typeface="Times New Roman"/>
                      </a:endParaRPr>
                    </a:p>
                    <a:p>
                      <a:pPr marL="50165" marR="0">
                        <a:lnSpc>
                          <a:spcPts val="2325"/>
                        </a:lnSpc>
                        <a:spcBef>
                          <a:spcPts val="0"/>
                        </a:spcBef>
                        <a:spcAft>
                          <a:spcPts val="0"/>
                        </a:spcAft>
                      </a:pPr>
                      <a:r>
                        <a:rPr lang="en-US" sz="1600" dirty="0">
                          <a:solidFill>
                            <a:srgbClr val="000000"/>
                          </a:solidFill>
                          <a:latin typeface="Calibri"/>
                          <a:ea typeface="Times New Roman"/>
                          <a:cs typeface="Calibri"/>
                        </a:rPr>
                        <a:t>linear position</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9930">
                <a:tc>
                  <a:txBody>
                    <a:bodyPr/>
                    <a:lstStyle/>
                    <a:p>
                      <a:pPr marL="50165" marR="0">
                        <a:lnSpc>
                          <a:spcPts val="2005"/>
                        </a:lnSpc>
                        <a:spcBef>
                          <a:spcPts val="0"/>
                        </a:spcBef>
                        <a:spcAft>
                          <a:spcPts val="0"/>
                        </a:spcAft>
                      </a:pPr>
                      <a:r>
                        <a:rPr lang="en-US" sz="1600">
                          <a:solidFill>
                            <a:srgbClr val="000000"/>
                          </a:solidFill>
                          <a:latin typeface="Calibri"/>
                          <a:ea typeface="Times New Roman"/>
                          <a:cs typeface="Calibri"/>
                        </a:rPr>
                        <a:t>-Deform under load</a:t>
                      </a:r>
                      <a:endParaRPr lang="en-US" sz="1600">
                        <a:latin typeface="Calibri"/>
                        <a:ea typeface="Times New Roman"/>
                        <a:cs typeface="Times New Roman"/>
                      </a:endParaRPr>
                    </a:p>
                    <a:p>
                      <a:pPr marL="50165" marR="0">
                        <a:lnSpc>
                          <a:spcPts val="2325"/>
                        </a:lnSpc>
                        <a:spcBef>
                          <a:spcPts val="0"/>
                        </a:spcBef>
                        <a:spcAft>
                          <a:spcPts val="0"/>
                        </a:spcAft>
                      </a:pPr>
                      <a:r>
                        <a:rPr lang="en-US" sz="1600">
                          <a:solidFill>
                            <a:srgbClr val="000000"/>
                          </a:solidFill>
                          <a:latin typeface="Calibri"/>
                          <a:ea typeface="Times New Roman"/>
                          <a:cs typeface="Calibri"/>
                        </a:rPr>
                        <a:t>constantly</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9930">
                <a:tc>
                  <a:txBody>
                    <a:bodyPr/>
                    <a:lstStyle/>
                    <a:p>
                      <a:pPr marL="50165" marR="0">
                        <a:lnSpc>
                          <a:spcPts val="2030"/>
                        </a:lnSpc>
                        <a:spcBef>
                          <a:spcPts val="0"/>
                        </a:spcBef>
                        <a:spcAft>
                          <a:spcPts val="0"/>
                        </a:spcAft>
                      </a:pPr>
                      <a:r>
                        <a:rPr lang="en-US" sz="1600">
                          <a:solidFill>
                            <a:srgbClr val="000000"/>
                          </a:solidFill>
                          <a:latin typeface="Calibri"/>
                          <a:ea typeface="Times New Roman"/>
                          <a:cs typeface="Calibri"/>
                        </a:rPr>
                        <a:t>-Very low stiffness. Inaccurate</a:t>
                      </a:r>
                      <a:endParaRPr lang="en-US" sz="1600">
                        <a:latin typeface="Calibri"/>
                        <a:ea typeface="Times New Roman"/>
                        <a:cs typeface="Times New Roman"/>
                      </a:endParaRPr>
                    </a:p>
                    <a:p>
                      <a:pPr marL="50165" marR="0">
                        <a:lnSpc>
                          <a:spcPts val="2325"/>
                        </a:lnSpc>
                        <a:spcBef>
                          <a:spcPts val="0"/>
                        </a:spcBef>
                        <a:spcAft>
                          <a:spcPts val="0"/>
                        </a:spcAft>
                      </a:pPr>
                      <a:r>
                        <a:rPr lang="en-US" sz="1600">
                          <a:solidFill>
                            <a:srgbClr val="000000"/>
                          </a:solidFill>
                          <a:latin typeface="Calibri"/>
                          <a:ea typeface="Times New Roman"/>
                          <a:cs typeface="Calibri"/>
                        </a:rPr>
                        <a:t>response.</a:t>
                      </a:r>
                      <a:endParaRPr lang="en-US" sz="16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6004">
                <a:tc>
                  <a:txBody>
                    <a:bodyPr/>
                    <a:lstStyle/>
                    <a:p>
                      <a:pPr marL="50165" marR="0">
                        <a:lnSpc>
                          <a:spcPts val="2015"/>
                        </a:lnSpc>
                        <a:spcBef>
                          <a:spcPts val="0"/>
                        </a:spcBef>
                        <a:spcAft>
                          <a:spcPts val="0"/>
                        </a:spcAft>
                      </a:pPr>
                      <a:r>
                        <a:rPr lang="en-US" sz="1600" dirty="0">
                          <a:solidFill>
                            <a:srgbClr val="000000"/>
                          </a:solidFill>
                          <a:latin typeface="Calibri"/>
                          <a:ea typeface="Times New Roman"/>
                          <a:cs typeface="Calibri"/>
                        </a:rPr>
                        <a:t>-Lowest power to weight ratio</a:t>
                      </a:r>
                      <a:endParaRPr lang="en-US" sz="16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18407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71280B3C-C3C4-CC73-9259-DF8E4B9F8552}"/>
              </a:ext>
            </a:extLst>
          </p:cNvPr>
          <p:cNvSpPr>
            <a:spLocks noGrp="1"/>
          </p:cNvSpPr>
          <p:nvPr>
            <p:ph type="ftr" sz="quarter" idx="11"/>
          </p:nvPr>
        </p:nvSpPr>
        <p:spPr/>
        <p:txBody>
          <a:bodyPr/>
          <a:lstStyle/>
          <a:p>
            <a:r>
              <a:rPr lang="en-US" altLang="en-BW"/>
              <a:t>Manfred Huber and Charles Hannon</a:t>
            </a:r>
          </a:p>
        </p:txBody>
      </p:sp>
      <p:sp>
        <p:nvSpPr>
          <p:cNvPr id="137218" name="Rectangle 2">
            <a:extLst>
              <a:ext uri="{FF2B5EF4-FFF2-40B4-BE49-F238E27FC236}">
                <a16:creationId xmlns:a16="http://schemas.microsoft.com/office/drawing/2014/main" id="{620A8FAF-7AEB-7F1B-2E8F-9F65DEB779E2}"/>
              </a:ext>
            </a:extLst>
          </p:cNvPr>
          <p:cNvSpPr>
            <a:spLocks noGrp="1" noChangeArrowheads="1"/>
          </p:cNvSpPr>
          <p:nvPr>
            <p:ph type="title"/>
          </p:nvPr>
        </p:nvSpPr>
        <p:spPr/>
        <p:txBody>
          <a:bodyPr/>
          <a:lstStyle/>
          <a:p>
            <a:r>
              <a:rPr lang="en-US" altLang="en-BW"/>
              <a:t>The Temperature Sensor</a:t>
            </a:r>
          </a:p>
        </p:txBody>
      </p:sp>
      <p:sp>
        <p:nvSpPr>
          <p:cNvPr id="137219" name="Line 3">
            <a:extLst>
              <a:ext uri="{FF2B5EF4-FFF2-40B4-BE49-F238E27FC236}">
                <a16:creationId xmlns:a16="http://schemas.microsoft.com/office/drawing/2014/main" id="{07CB70A3-3B6F-5BD6-79B4-CE9B4687D0ED}"/>
              </a:ext>
            </a:extLst>
          </p:cNvPr>
          <p:cNvSpPr>
            <a:spLocks noChangeShapeType="1"/>
          </p:cNvSpPr>
          <p:nvPr/>
        </p:nvSpPr>
        <p:spPr bwMode="auto">
          <a:xfrm flipV="1">
            <a:off x="2362200" y="2971800"/>
            <a:ext cx="0" cy="5334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20" name="Text Box 4">
            <a:extLst>
              <a:ext uri="{FF2B5EF4-FFF2-40B4-BE49-F238E27FC236}">
                <a16:creationId xmlns:a16="http://schemas.microsoft.com/office/drawing/2014/main" id="{9DBFA180-6B4A-66AC-3342-412AB1EF05D4}"/>
              </a:ext>
            </a:extLst>
          </p:cNvPr>
          <p:cNvSpPr txBox="1">
            <a:spLocks noChangeArrowheads="1"/>
          </p:cNvSpPr>
          <p:nvPr/>
        </p:nvSpPr>
        <p:spPr bwMode="auto">
          <a:xfrm>
            <a:off x="1981200" y="2514600"/>
            <a:ext cx="5421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+5v</a:t>
            </a:r>
          </a:p>
        </p:txBody>
      </p:sp>
      <p:sp>
        <p:nvSpPr>
          <p:cNvPr id="137221" name="Line 5">
            <a:extLst>
              <a:ext uri="{FF2B5EF4-FFF2-40B4-BE49-F238E27FC236}">
                <a16:creationId xmlns:a16="http://schemas.microsoft.com/office/drawing/2014/main" id="{1E58DE6A-0C1D-93F5-954A-F775D8640301}"/>
              </a:ext>
            </a:extLst>
          </p:cNvPr>
          <p:cNvSpPr>
            <a:spLocks noChangeShapeType="1"/>
          </p:cNvSpPr>
          <p:nvPr/>
        </p:nvSpPr>
        <p:spPr bwMode="auto">
          <a:xfrm>
            <a:off x="2362200" y="4114800"/>
            <a:ext cx="0" cy="5334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22" name="Line 6">
            <a:extLst>
              <a:ext uri="{FF2B5EF4-FFF2-40B4-BE49-F238E27FC236}">
                <a16:creationId xmlns:a16="http://schemas.microsoft.com/office/drawing/2014/main" id="{6C3CB415-60C4-4F32-37B5-841DCCCB7CA5}"/>
              </a:ext>
            </a:extLst>
          </p:cNvPr>
          <p:cNvSpPr>
            <a:spLocks noChangeShapeType="1"/>
          </p:cNvSpPr>
          <p:nvPr/>
        </p:nvSpPr>
        <p:spPr bwMode="auto">
          <a:xfrm>
            <a:off x="2057400" y="4648200"/>
            <a:ext cx="6096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23" name="Line 7">
            <a:extLst>
              <a:ext uri="{FF2B5EF4-FFF2-40B4-BE49-F238E27FC236}">
                <a16:creationId xmlns:a16="http://schemas.microsoft.com/office/drawing/2014/main" id="{CC92C9F7-67F8-F8AF-E5D4-43608D35B21A}"/>
              </a:ext>
            </a:extLst>
          </p:cNvPr>
          <p:cNvSpPr>
            <a:spLocks noChangeShapeType="1"/>
          </p:cNvSpPr>
          <p:nvPr/>
        </p:nvSpPr>
        <p:spPr bwMode="auto">
          <a:xfrm>
            <a:off x="2209800" y="4800600"/>
            <a:ext cx="3048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24" name="Line 8">
            <a:extLst>
              <a:ext uri="{FF2B5EF4-FFF2-40B4-BE49-F238E27FC236}">
                <a16:creationId xmlns:a16="http://schemas.microsoft.com/office/drawing/2014/main" id="{CC05C93F-03A5-8686-C3F3-A003320E712F}"/>
              </a:ext>
            </a:extLst>
          </p:cNvPr>
          <p:cNvSpPr>
            <a:spLocks noChangeShapeType="1"/>
          </p:cNvSpPr>
          <p:nvPr/>
        </p:nvSpPr>
        <p:spPr bwMode="auto">
          <a:xfrm>
            <a:off x="2286000" y="4953000"/>
            <a:ext cx="1524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25" name="Line 9">
            <a:extLst>
              <a:ext uri="{FF2B5EF4-FFF2-40B4-BE49-F238E27FC236}">
                <a16:creationId xmlns:a16="http://schemas.microsoft.com/office/drawing/2014/main" id="{3028AE35-E688-32C9-70A1-E6FFE430F070}"/>
              </a:ext>
            </a:extLst>
          </p:cNvPr>
          <p:cNvSpPr>
            <a:spLocks noChangeShapeType="1"/>
          </p:cNvSpPr>
          <p:nvPr/>
        </p:nvSpPr>
        <p:spPr bwMode="auto">
          <a:xfrm>
            <a:off x="2209800" y="4800600"/>
            <a:ext cx="3048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pic>
        <p:nvPicPr>
          <p:cNvPr id="137226" name="Picture 10">
            <a:extLst>
              <a:ext uri="{FF2B5EF4-FFF2-40B4-BE49-F238E27FC236}">
                <a16:creationId xmlns:a16="http://schemas.microsoft.com/office/drawing/2014/main" id="{ACFCA9E4-E75B-EF7C-1C01-553005543F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733800"/>
            <a:ext cx="914400" cy="15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7227" name="Rectangle 11">
            <a:extLst>
              <a:ext uri="{FF2B5EF4-FFF2-40B4-BE49-F238E27FC236}">
                <a16:creationId xmlns:a16="http://schemas.microsoft.com/office/drawing/2014/main" id="{593E1C99-9684-DE95-B4C5-E18198016DA3}"/>
              </a:ext>
            </a:extLst>
          </p:cNvPr>
          <p:cNvSpPr>
            <a:spLocks noChangeArrowheads="1"/>
          </p:cNvSpPr>
          <p:nvPr/>
        </p:nvSpPr>
        <p:spPr bwMode="auto">
          <a:xfrm>
            <a:off x="1905000" y="3505200"/>
            <a:ext cx="914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BW"/>
              <a:t>LM34</a:t>
            </a:r>
          </a:p>
        </p:txBody>
      </p:sp>
      <p:pic>
        <p:nvPicPr>
          <p:cNvPr id="137228" name="Picture 12">
            <a:extLst>
              <a:ext uri="{FF2B5EF4-FFF2-40B4-BE49-F238E27FC236}">
                <a16:creationId xmlns:a16="http://schemas.microsoft.com/office/drawing/2014/main" id="{16E4CF5A-AEDC-8D9A-4948-075CDEFA1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3733800"/>
            <a:ext cx="914400" cy="15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7229" name="Line 13">
            <a:extLst>
              <a:ext uri="{FF2B5EF4-FFF2-40B4-BE49-F238E27FC236}">
                <a16:creationId xmlns:a16="http://schemas.microsoft.com/office/drawing/2014/main" id="{D02F25FE-A966-C629-8F93-6A6D33EB5B36}"/>
              </a:ext>
            </a:extLst>
          </p:cNvPr>
          <p:cNvSpPr>
            <a:spLocks noChangeShapeType="1"/>
          </p:cNvSpPr>
          <p:nvPr/>
        </p:nvSpPr>
        <p:spPr bwMode="auto">
          <a:xfrm>
            <a:off x="2819400" y="3810000"/>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0" name="Line 14">
            <a:extLst>
              <a:ext uri="{FF2B5EF4-FFF2-40B4-BE49-F238E27FC236}">
                <a16:creationId xmlns:a16="http://schemas.microsoft.com/office/drawing/2014/main" id="{59314CE3-0602-3466-D129-D2424AF515E7}"/>
              </a:ext>
            </a:extLst>
          </p:cNvPr>
          <p:cNvSpPr>
            <a:spLocks noChangeShapeType="1"/>
          </p:cNvSpPr>
          <p:nvPr/>
        </p:nvSpPr>
        <p:spPr bwMode="auto">
          <a:xfrm>
            <a:off x="4800600" y="3810000"/>
            <a:ext cx="152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1" name="Line 15">
            <a:extLst>
              <a:ext uri="{FF2B5EF4-FFF2-40B4-BE49-F238E27FC236}">
                <a16:creationId xmlns:a16="http://schemas.microsoft.com/office/drawing/2014/main" id="{F9DB6317-042B-19FA-1655-AD69BE483875}"/>
              </a:ext>
            </a:extLst>
          </p:cNvPr>
          <p:cNvSpPr>
            <a:spLocks noChangeShapeType="1"/>
          </p:cNvSpPr>
          <p:nvPr/>
        </p:nvSpPr>
        <p:spPr bwMode="auto">
          <a:xfrm flipV="1">
            <a:off x="3962400" y="3124200"/>
            <a:ext cx="0" cy="1143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2" name="Line 16">
            <a:extLst>
              <a:ext uri="{FF2B5EF4-FFF2-40B4-BE49-F238E27FC236}">
                <a16:creationId xmlns:a16="http://schemas.microsoft.com/office/drawing/2014/main" id="{73D07942-0805-D41A-093E-913C0484CCDE}"/>
              </a:ext>
            </a:extLst>
          </p:cNvPr>
          <p:cNvSpPr>
            <a:spLocks noChangeShapeType="1"/>
          </p:cNvSpPr>
          <p:nvPr/>
        </p:nvSpPr>
        <p:spPr bwMode="auto">
          <a:xfrm>
            <a:off x="3962400" y="3124200"/>
            <a:ext cx="990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3" name="Line 17">
            <a:extLst>
              <a:ext uri="{FF2B5EF4-FFF2-40B4-BE49-F238E27FC236}">
                <a16:creationId xmlns:a16="http://schemas.microsoft.com/office/drawing/2014/main" id="{AD471D93-1A3E-532E-2DB1-A5588DEA7B4A}"/>
              </a:ext>
            </a:extLst>
          </p:cNvPr>
          <p:cNvSpPr>
            <a:spLocks noChangeShapeType="1"/>
          </p:cNvSpPr>
          <p:nvPr/>
        </p:nvSpPr>
        <p:spPr bwMode="auto">
          <a:xfrm>
            <a:off x="3657600" y="4267200"/>
            <a:ext cx="6096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4" name="Line 18">
            <a:extLst>
              <a:ext uri="{FF2B5EF4-FFF2-40B4-BE49-F238E27FC236}">
                <a16:creationId xmlns:a16="http://schemas.microsoft.com/office/drawing/2014/main" id="{8681845B-3E0D-D1AF-FB3A-4F9D7D5B53DC}"/>
              </a:ext>
            </a:extLst>
          </p:cNvPr>
          <p:cNvSpPr>
            <a:spLocks noChangeShapeType="1"/>
          </p:cNvSpPr>
          <p:nvPr/>
        </p:nvSpPr>
        <p:spPr bwMode="auto">
          <a:xfrm>
            <a:off x="3657600" y="4495800"/>
            <a:ext cx="6096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5" name="Line 19">
            <a:extLst>
              <a:ext uri="{FF2B5EF4-FFF2-40B4-BE49-F238E27FC236}">
                <a16:creationId xmlns:a16="http://schemas.microsoft.com/office/drawing/2014/main" id="{FD586BCB-0646-AE22-3A8B-EFFC3236CD3B}"/>
              </a:ext>
            </a:extLst>
          </p:cNvPr>
          <p:cNvSpPr>
            <a:spLocks noChangeShapeType="1"/>
          </p:cNvSpPr>
          <p:nvPr/>
        </p:nvSpPr>
        <p:spPr bwMode="auto">
          <a:xfrm>
            <a:off x="3962400" y="4495800"/>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6" name="Line 20">
            <a:extLst>
              <a:ext uri="{FF2B5EF4-FFF2-40B4-BE49-F238E27FC236}">
                <a16:creationId xmlns:a16="http://schemas.microsoft.com/office/drawing/2014/main" id="{497DAC4F-5805-4436-F7C5-E6FA604DF62F}"/>
              </a:ext>
            </a:extLst>
          </p:cNvPr>
          <p:cNvSpPr>
            <a:spLocks noChangeShapeType="1"/>
          </p:cNvSpPr>
          <p:nvPr/>
        </p:nvSpPr>
        <p:spPr bwMode="auto">
          <a:xfrm>
            <a:off x="3657600" y="4953000"/>
            <a:ext cx="6096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7" name="Line 21">
            <a:extLst>
              <a:ext uri="{FF2B5EF4-FFF2-40B4-BE49-F238E27FC236}">
                <a16:creationId xmlns:a16="http://schemas.microsoft.com/office/drawing/2014/main" id="{60665B3D-149D-1F61-4C40-D1F6F8735B54}"/>
              </a:ext>
            </a:extLst>
          </p:cNvPr>
          <p:cNvSpPr>
            <a:spLocks noChangeShapeType="1"/>
          </p:cNvSpPr>
          <p:nvPr/>
        </p:nvSpPr>
        <p:spPr bwMode="auto">
          <a:xfrm>
            <a:off x="3810000" y="5105400"/>
            <a:ext cx="3048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8" name="Line 22">
            <a:extLst>
              <a:ext uri="{FF2B5EF4-FFF2-40B4-BE49-F238E27FC236}">
                <a16:creationId xmlns:a16="http://schemas.microsoft.com/office/drawing/2014/main" id="{BD9DEBA4-CA6D-DAA2-F063-96BE2EED7D93}"/>
              </a:ext>
            </a:extLst>
          </p:cNvPr>
          <p:cNvSpPr>
            <a:spLocks noChangeShapeType="1"/>
          </p:cNvSpPr>
          <p:nvPr/>
        </p:nvSpPr>
        <p:spPr bwMode="auto">
          <a:xfrm>
            <a:off x="3886200" y="5257800"/>
            <a:ext cx="1524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39" name="Line 23">
            <a:extLst>
              <a:ext uri="{FF2B5EF4-FFF2-40B4-BE49-F238E27FC236}">
                <a16:creationId xmlns:a16="http://schemas.microsoft.com/office/drawing/2014/main" id="{5D7431A5-CF11-03E7-8536-5E722542CB0E}"/>
              </a:ext>
            </a:extLst>
          </p:cNvPr>
          <p:cNvSpPr>
            <a:spLocks noChangeShapeType="1"/>
          </p:cNvSpPr>
          <p:nvPr/>
        </p:nvSpPr>
        <p:spPr bwMode="auto">
          <a:xfrm>
            <a:off x="3810000" y="5105400"/>
            <a:ext cx="3048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37240" name="Oval 24">
            <a:extLst>
              <a:ext uri="{FF2B5EF4-FFF2-40B4-BE49-F238E27FC236}">
                <a16:creationId xmlns:a16="http://schemas.microsoft.com/office/drawing/2014/main" id="{028968A4-E3A7-0CC8-5B34-8A9DEAA9459E}"/>
              </a:ext>
            </a:extLst>
          </p:cNvPr>
          <p:cNvSpPr>
            <a:spLocks noChangeArrowheads="1"/>
          </p:cNvSpPr>
          <p:nvPr/>
        </p:nvSpPr>
        <p:spPr bwMode="auto">
          <a:xfrm>
            <a:off x="3924300" y="3771900"/>
            <a:ext cx="76200" cy="762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BW"/>
          </a:p>
        </p:txBody>
      </p:sp>
      <p:sp>
        <p:nvSpPr>
          <p:cNvPr id="137241" name="Text Box 25">
            <a:extLst>
              <a:ext uri="{FF2B5EF4-FFF2-40B4-BE49-F238E27FC236}">
                <a16:creationId xmlns:a16="http://schemas.microsoft.com/office/drawing/2014/main" id="{C0871C72-3BFC-793C-8033-85FC0EE3699D}"/>
              </a:ext>
            </a:extLst>
          </p:cNvPr>
          <p:cNvSpPr txBox="1">
            <a:spLocks noChangeArrowheads="1"/>
          </p:cNvSpPr>
          <p:nvPr/>
        </p:nvSpPr>
        <p:spPr bwMode="auto">
          <a:xfrm>
            <a:off x="4343400" y="4191000"/>
            <a:ext cx="5613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1</a:t>
            </a:r>
            <a:r>
              <a:rPr lang="en-US" altLang="en-BW">
                <a:sym typeface="Symbol" pitchFamily="2" charset="2"/>
              </a:rPr>
              <a:t>F</a:t>
            </a:r>
            <a:endParaRPr lang="en-US" altLang="en-BW"/>
          </a:p>
        </p:txBody>
      </p:sp>
      <p:sp>
        <p:nvSpPr>
          <p:cNvPr id="137242" name="Text Box 26">
            <a:extLst>
              <a:ext uri="{FF2B5EF4-FFF2-40B4-BE49-F238E27FC236}">
                <a16:creationId xmlns:a16="http://schemas.microsoft.com/office/drawing/2014/main" id="{3A268F7A-13B4-0C8E-A260-5B4CE56C51DE}"/>
              </a:ext>
            </a:extLst>
          </p:cNvPr>
          <p:cNvSpPr txBox="1">
            <a:spLocks noChangeArrowheads="1"/>
          </p:cNvSpPr>
          <p:nvPr/>
        </p:nvSpPr>
        <p:spPr bwMode="auto">
          <a:xfrm>
            <a:off x="2971800" y="3276600"/>
            <a:ext cx="6479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1M</a:t>
            </a:r>
            <a:r>
              <a:rPr lang="en-US" altLang="en-BW">
                <a:sym typeface="Symbol" pitchFamily="2" charset="2"/>
              </a:rPr>
              <a:t></a:t>
            </a:r>
            <a:endParaRPr lang="en-US" altLang="en-BW"/>
          </a:p>
        </p:txBody>
      </p:sp>
      <p:sp>
        <p:nvSpPr>
          <p:cNvPr id="137243" name="Rectangle 27">
            <a:extLst>
              <a:ext uri="{FF2B5EF4-FFF2-40B4-BE49-F238E27FC236}">
                <a16:creationId xmlns:a16="http://schemas.microsoft.com/office/drawing/2014/main" id="{4194099A-E43C-803E-3EB9-D204E2113EDA}"/>
              </a:ext>
            </a:extLst>
          </p:cNvPr>
          <p:cNvSpPr>
            <a:spLocks noChangeArrowheads="1"/>
          </p:cNvSpPr>
          <p:nvPr/>
        </p:nvSpPr>
        <p:spPr bwMode="auto">
          <a:xfrm>
            <a:off x="4038600" y="3276600"/>
            <a:ext cx="6479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1M</a:t>
            </a:r>
            <a:r>
              <a:rPr lang="en-US" altLang="en-BW">
                <a:sym typeface="Symbol" pitchFamily="2" charset="2"/>
              </a:rPr>
              <a:t></a:t>
            </a:r>
          </a:p>
        </p:txBody>
      </p:sp>
      <p:sp>
        <p:nvSpPr>
          <p:cNvPr id="137244" name="Text Box 28">
            <a:extLst>
              <a:ext uri="{FF2B5EF4-FFF2-40B4-BE49-F238E27FC236}">
                <a16:creationId xmlns:a16="http://schemas.microsoft.com/office/drawing/2014/main" id="{D758C232-8C35-92B6-879E-1BCB6ABCB4C8}"/>
              </a:ext>
            </a:extLst>
          </p:cNvPr>
          <p:cNvSpPr txBox="1">
            <a:spLocks noChangeArrowheads="1"/>
          </p:cNvSpPr>
          <p:nvPr/>
        </p:nvSpPr>
        <p:spPr bwMode="auto">
          <a:xfrm>
            <a:off x="5105400" y="2895600"/>
            <a:ext cx="13067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P9 (pin 14)</a:t>
            </a:r>
          </a:p>
        </p:txBody>
      </p:sp>
      <p:sp>
        <p:nvSpPr>
          <p:cNvPr id="137245" name="Text Box 29">
            <a:extLst>
              <a:ext uri="{FF2B5EF4-FFF2-40B4-BE49-F238E27FC236}">
                <a16:creationId xmlns:a16="http://schemas.microsoft.com/office/drawing/2014/main" id="{866248E3-A3FB-F6C1-A99C-FBB0B2E99127}"/>
              </a:ext>
            </a:extLst>
          </p:cNvPr>
          <p:cNvSpPr txBox="1">
            <a:spLocks noChangeArrowheads="1"/>
          </p:cNvSpPr>
          <p:nvPr/>
        </p:nvSpPr>
        <p:spPr bwMode="auto">
          <a:xfrm>
            <a:off x="5105400" y="3581400"/>
            <a:ext cx="13067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P8 (pin 13)</a:t>
            </a:r>
          </a:p>
        </p:txBody>
      </p:sp>
      <p:sp>
        <p:nvSpPr>
          <p:cNvPr id="137246" name="Rectangle 30">
            <a:extLst>
              <a:ext uri="{FF2B5EF4-FFF2-40B4-BE49-F238E27FC236}">
                <a16:creationId xmlns:a16="http://schemas.microsoft.com/office/drawing/2014/main" id="{42691BCE-6A9F-BE15-748E-EC00B5BC1270}"/>
              </a:ext>
            </a:extLst>
          </p:cNvPr>
          <p:cNvSpPr>
            <a:spLocks noChangeArrowheads="1"/>
          </p:cNvSpPr>
          <p:nvPr/>
        </p:nvSpPr>
        <p:spPr bwMode="auto">
          <a:xfrm>
            <a:off x="4876800" y="3048000"/>
            <a:ext cx="152400" cy="1524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BW"/>
          </a:p>
        </p:txBody>
      </p:sp>
      <p:sp>
        <p:nvSpPr>
          <p:cNvPr id="137247" name="Rectangle 31">
            <a:extLst>
              <a:ext uri="{FF2B5EF4-FFF2-40B4-BE49-F238E27FC236}">
                <a16:creationId xmlns:a16="http://schemas.microsoft.com/office/drawing/2014/main" id="{3970FCC2-CD9F-4B54-8A43-C59730BDE315}"/>
              </a:ext>
            </a:extLst>
          </p:cNvPr>
          <p:cNvSpPr>
            <a:spLocks noChangeArrowheads="1"/>
          </p:cNvSpPr>
          <p:nvPr/>
        </p:nvSpPr>
        <p:spPr bwMode="auto">
          <a:xfrm>
            <a:off x="4876800" y="3733800"/>
            <a:ext cx="152400" cy="1524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BW"/>
          </a:p>
        </p:txBody>
      </p:sp>
      <p:sp>
        <p:nvSpPr>
          <p:cNvPr id="137248" name="Rectangle 32">
            <a:extLst>
              <a:ext uri="{FF2B5EF4-FFF2-40B4-BE49-F238E27FC236}">
                <a16:creationId xmlns:a16="http://schemas.microsoft.com/office/drawing/2014/main" id="{51F7781A-05E0-535E-7BD1-85BD375D38D2}"/>
              </a:ext>
            </a:extLst>
          </p:cNvPr>
          <p:cNvSpPr>
            <a:spLocks noGrp="1" noChangeArrowheads="1"/>
          </p:cNvSpPr>
          <p:nvPr>
            <p:ph type="body" idx="1"/>
          </p:nvPr>
        </p:nvSpPr>
        <p:spPr>
          <a:xfrm>
            <a:off x="6934200" y="2209800"/>
            <a:ext cx="3468688" cy="4114800"/>
          </a:xfrm>
        </p:spPr>
        <p:txBody>
          <a:bodyPr/>
          <a:lstStyle/>
          <a:p>
            <a:pPr>
              <a:lnSpc>
                <a:spcPct val="90000"/>
              </a:lnSpc>
            </a:pPr>
            <a:r>
              <a:rPr lang="en-US" altLang="en-BW"/>
              <a:t>This circuit supports a poor man’s approach to ADC called delta sigma using the ADC VP object (page159)</a:t>
            </a:r>
            <a:endParaRPr lang="en-US" altLang="en-BW" sz="2000"/>
          </a:p>
          <a:p>
            <a:pPr>
              <a:lnSpc>
                <a:spcPct val="90000"/>
              </a:lnSpc>
            </a:pPr>
            <a:r>
              <a:rPr lang="en-US" altLang="en-BW"/>
              <a:t>You may need to play with the resistor and capacitor values to get useful output, but be careful not to over drive P8</a:t>
            </a:r>
          </a:p>
        </p:txBody>
      </p:sp>
      <p:sp>
        <p:nvSpPr>
          <p:cNvPr id="137249" name="Text Box 33">
            <a:extLst>
              <a:ext uri="{FF2B5EF4-FFF2-40B4-BE49-F238E27FC236}">
                <a16:creationId xmlns:a16="http://schemas.microsoft.com/office/drawing/2014/main" id="{155D5DDA-24C4-A1BB-DD2E-63B1787302BE}"/>
              </a:ext>
            </a:extLst>
          </p:cNvPr>
          <p:cNvSpPr txBox="1">
            <a:spLocks noChangeArrowheads="1"/>
          </p:cNvSpPr>
          <p:nvPr/>
        </p:nvSpPr>
        <p:spPr bwMode="auto">
          <a:xfrm>
            <a:off x="1981200" y="5535613"/>
            <a:ext cx="40386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BW" sz="1600" b="1" i="1"/>
              <a:t>Note:</a:t>
            </a:r>
            <a:r>
              <a:rPr lang="en-US" altLang="en-BW" sz="1600" i="1"/>
              <a:t> make sure you connect the voltages correctly to LM34 or you are going to have a short-lived room heater.</a:t>
            </a:r>
            <a:r>
              <a:rPr lang="en-US" altLang="en-BW" sz="1600"/>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EAA39E1-C9D5-964E-9586-3EC47F477735}"/>
              </a:ext>
            </a:extLst>
          </p:cNvPr>
          <p:cNvSpPr>
            <a:spLocks noGrp="1"/>
          </p:cNvSpPr>
          <p:nvPr>
            <p:ph type="ftr" sz="quarter" idx="11"/>
          </p:nvPr>
        </p:nvSpPr>
        <p:spPr/>
        <p:txBody>
          <a:bodyPr/>
          <a:lstStyle/>
          <a:p>
            <a:r>
              <a:rPr lang="en-US" altLang="en-BW"/>
              <a:t>Manfred Huber and Charles Hannon</a:t>
            </a:r>
          </a:p>
        </p:txBody>
      </p:sp>
      <p:sp>
        <p:nvSpPr>
          <p:cNvPr id="138242" name="Rectangle 2">
            <a:extLst>
              <a:ext uri="{FF2B5EF4-FFF2-40B4-BE49-F238E27FC236}">
                <a16:creationId xmlns:a16="http://schemas.microsoft.com/office/drawing/2014/main" id="{00D76C7A-05DD-B3D0-B274-759381F7C773}"/>
              </a:ext>
            </a:extLst>
          </p:cNvPr>
          <p:cNvSpPr>
            <a:spLocks noGrp="1" noChangeArrowheads="1"/>
          </p:cNvSpPr>
          <p:nvPr>
            <p:ph type="title"/>
          </p:nvPr>
        </p:nvSpPr>
        <p:spPr/>
        <p:txBody>
          <a:bodyPr/>
          <a:lstStyle/>
          <a:p>
            <a:r>
              <a:rPr lang="en-US" altLang="en-BW"/>
              <a:t>How The Circuits Works (1)</a:t>
            </a:r>
          </a:p>
        </p:txBody>
      </p:sp>
      <p:sp>
        <p:nvSpPr>
          <p:cNvPr id="138243" name="Rectangle 3">
            <a:extLst>
              <a:ext uri="{FF2B5EF4-FFF2-40B4-BE49-F238E27FC236}">
                <a16:creationId xmlns:a16="http://schemas.microsoft.com/office/drawing/2014/main" id="{5733F006-2838-5B80-5BC0-5C6EAE244EA7}"/>
              </a:ext>
            </a:extLst>
          </p:cNvPr>
          <p:cNvSpPr>
            <a:spLocks noGrp="1" noChangeArrowheads="1"/>
          </p:cNvSpPr>
          <p:nvPr>
            <p:ph type="body" idx="1"/>
          </p:nvPr>
        </p:nvSpPr>
        <p:spPr>
          <a:xfrm>
            <a:off x="2170114" y="2209800"/>
            <a:ext cx="8497887" cy="4114800"/>
          </a:xfrm>
        </p:spPr>
        <p:txBody>
          <a:bodyPr/>
          <a:lstStyle/>
          <a:p>
            <a:r>
              <a:rPr lang="en-US" altLang="en-BW" sz="2800"/>
              <a:t>The output of the LM34 </a:t>
            </a:r>
          </a:p>
          <a:p>
            <a:pPr lvl="1"/>
            <a:r>
              <a:rPr lang="en-US" altLang="en-BW" sz="2400"/>
              <a:t>changes +10mV/°F</a:t>
            </a:r>
          </a:p>
          <a:p>
            <a:pPr lvl="1"/>
            <a:r>
              <a:rPr lang="en-US" altLang="en-BW" sz="2400"/>
              <a:t>should be very close to 0mV at 0°F</a:t>
            </a:r>
          </a:p>
          <a:p>
            <a:r>
              <a:rPr lang="en-US" altLang="en-BW" sz="2800"/>
              <a:t>Now the trick for doing ADC without an ADC chip</a:t>
            </a:r>
          </a:p>
          <a:p>
            <a:pPr lvl="1"/>
            <a:r>
              <a:rPr lang="en-US" altLang="en-BW" sz="2400"/>
              <a:t>the SX controller of the Javelin is a CMOS device so its logic threshold voltage for a high value (i.e., when a zero becomes a one) is 2.5 volts</a:t>
            </a:r>
          </a:p>
          <a:p>
            <a:pPr lvl="1"/>
            <a:r>
              <a:rPr lang="en-US" altLang="en-BW" sz="2400"/>
              <a:t>This means that if you apply a value less than 2.5 volts to an input line, the Javelin will assume it is a zero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C93FD28-2A18-F4FF-F7EE-D15B5FDB4603}"/>
              </a:ext>
            </a:extLst>
          </p:cNvPr>
          <p:cNvSpPr>
            <a:spLocks noGrp="1"/>
          </p:cNvSpPr>
          <p:nvPr>
            <p:ph type="ftr" sz="quarter" idx="11"/>
          </p:nvPr>
        </p:nvSpPr>
        <p:spPr/>
        <p:txBody>
          <a:bodyPr/>
          <a:lstStyle/>
          <a:p>
            <a:r>
              <a:rPr lang="en-US" altLang="en-BW"/>
              <a:t>Manfred Huber and Charles Hannon</a:t>
            </a:r>
          </a:p>
        </p:txBody>
      </p:sp>
      <p:sp>
        <p:nvSpPr>
          <p:cNvPr id="139266" name="Rectangle 2">
            <a:extLst>
              <a:ext uri="{FF2B5EF4-FFF2-40B4-BE49-F238E27FC236}">
                <a16:creationId xmlns:a16="http://schemas.microsoft.com/office/drawing/2014/main" id="{83E3A770-E29A-CC78-5F62-55039AE4511A}"/>
              </a:ext>
            </a:extLst>
          </p:cNvPr>
          <p:cNvSpPr>
            <a:spLocks noGrp="1" noChangeArrowheads="1"/>
          </p:cNvSpPr>
          <p:nvPr>
            <p:ph type="title"/>
          </p:nvPr>
        </p:nvSpPr>
        <p:spPr/>
        <p:txBody>
          <a:bodyPr/>
          <a:lstStyle/>
          <a:p>
            <a:r>
              <a:rPr lang="en-US" altLang="en-BW"/>
              <a:t>How The Circuits Works (2)</a:t>
            </a:r>
          </a:p>
        </p:txBody>
      </p:sp>
      <p:sp>
        <p:nvSpPr>
          <p:cNvPr id="139267" name="Rectangle 3">
            <a:extLst>
              <a:ext uri="{FF2B5EF4-FFF2-40B4-BE49-F238E27FC236}">
                <a16:creationId xmlns:a16="http://schemas.microsoft.com/office/drawing/2014/main" id="{DFB6AF48-1CBE-47DF-D1F0-697848D70D27}"/>
              </a:ext>
            </a:extLst>
          </p:cNvPr>
          <p:cNvSpPr>
            <a:spLocks noGrp="1" noChangeArrowheads="1"/>
          </p:cNvSpPr>
          <p:nvPr>
            <p:ph type="body" idx="1"/>
          </p:nvPr>
        </p:nvSpPr>
        <p:spPr>
          <a:xfrm>
            <a:off x="2286000" y="2209800"/>
            <a:ext cx="8153400" cy="4114800"/>
          </a:xfrm>
        </p:spPr>
        <p:txBody>
          <a:bodyPr/>
          <a:lstStyle/>
          <a:p>
            <a:r>
              <a:rPr lang="en-US" altLang="en-BW" sz="2800"/>
              <a:t>Assume that the LM34 is putting out zero volts</a:t>
            </a:r>
          </a:p>
          <a:p>
            <a:pPr lvl="1"/>
            <a:r>
              <a:rPr lang="en-US" altLang="en-BW"/>
              <a:t>applying a high voltage (5V) to P8 would generate a 2.5V drop across both resistors and the capacitor would be held at 2.5 volts above ground</a:t>
            </a:r>
          </a:p>
          <a:p>
            <a:pPr lvl="1"/>
            <a:r>
              <a:rPr lang="en-US" altLang="en-BW"/>
              <a:t>applying a low to P8 would cause the charge on the capacitor to begin bleeding off and the voltage would drop below 2.5 volts</a:t>
            </a:r>
          </a:p>
          <a:p>
            <a:pPr lvl="1"/>
            <a:r>
              <a:rPr lang="en-US" altLang="en-BW"/>
              <a:t>every 2.1 ms the ACD object reads the truth value of pin P9 (equal to the voltage across the capacitor) </a:t>
            </a:r>
          </a:p>
          <a:p>
            <a:pPr lvl="1"/>
            <a:r>
              <a:rPr lang="en-US" altLang="en-BW"/>
              <a:t>since the duty cycle of the pulse is timed to allow some bleed off before the measurement is taken, if the LM34 is putting out zero volts, and all 255 samples would be zero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0A57ABF-4094-8120-C1F1-E44155978703}"/>
              </a:ext>
            </a:extLst>
          </p:cNvPr>
          <p:cNvSpPr>
            <a:spLocks noGrp="1"/>
          </p:cNvSpPr>
          <p:nvPr>
            <p:ph type="ftr" sz="quarter" idx="11"/>
          </p:nvPr>
        </p:nvSpPr>
        <p:spPr/>
        <p:txBody>
          <a:bodyPr/>
          <a:lstStyle/>
          <a:p>
            <a:r>
              <a:rPr lang="en-US" altLang="en-BW"/>
              <a:t>Manfred Huber and Charles Hannon</a:t>
            </a:r>
          </a:p>
        </p:txBody>
      </p:sp>
      <p:sp>
        <p:nvSpPr>
          <p:cNvPr id="140290" name="Rectangle 2">
            <a:extLst>
              <a:ext uri="{FF2B5EF4-FFF2-40B4-BE49-F238E27FC236}">
                <a16:creationId xmlns:a16="http://schemas.microsoft.com/office/drawing/2014/main" id="{22AFA8D2-7335-D309-860A-096C47072335}"/>
              </a:ext>
            </a:extLst>
          </p:cNvPr>
          <p:cNvSpPr>
            <a:spLocks noGrp="1" noChangeArrowheads="1"/>
          </p:cNvSpPr>
          <p:nvPr>
            <p:ph type="title"/>
          </p:nvPr>
        </p:nvSpPr>
        <p:spPr/>
        <p:txBody>
          <a:bodyPr/>
          <a:lstStyle/>
          <a:p>
            <a:r>
              <a:rPr lang="en-US" altLang="en-BW"/>
              <a:t>How The Circuits Works (3)</a:t>
            </a:r>
          </a:p>
        </p:txBody>
      </p:sp>
      <p:sp>
        <p:nvSpPr>
          <p:cNvPr id="140291" name="Rectangle 3">
            <a:extLst>
              <a:ext uri="{FF2B5EF4-FFF2-40B4-BE49-F238E27FC236}">
                <a16:creationId xmlns:a16="http://schemas.microsoft.com/office/drawing/2014/main" id="{614CA54E-3BFF-DA7E-480A-7989E6FB2F13}"/>
              </a:ext>
            </a:extLst>
          </p:cNvPr>
          <p:cNvSpPr>
            <a:spLocks noGrp="1" noChangeArrowheads="1"/>
          </p:cNvSpPr>
          <p:nvPr>
            <p:ph type="body" idx="1"/>
          </p:nvPr>
        </p:nvSpPr>
        <p:spPr>
          <a:xfrm>
            <a:off x="1905000" y="2209800"/>
            <a:ext cx="8458200" cy="4114800"/>
          </a:xfrm>
        </p:spPr>
        <p:txBody>
          <a:bodyPr/>
          <a:lstStyle/>
          <a:p>
            <a:r>
              <a:rPr lang="en-US" altLang="en-BW"/>
              <a:t>Now, assume that the LM34 is putting out 5 volts</a:t>
            </a:r>
          </a:p>
          <a:p>
            <a:pPr lvl="1"/>
            <a:r>
              <a:rPr lang="en-US" altLang="en-BW"/>
              <a:t>applying a high voltage (5V) to P8 would generate no voltage drop across the resistors and the capacitor would be held at 5 volts above ground</a:t>
            </a:r>
          </a:p>
          <a:p>
            <a:pPr lvl="1"/>
            <a:r>
              <a:rPr lang="en-US" altLang="en-BW"/>
              <a:t>applying a low to P8 would cause the charge on the capacitor to begin bleeding off but the voltage would never drop below 2.5 volts</a:t>
            </a:r>
          </a:p>
          <a:p>
            <a:pPr lvl="1"/>
            <a:r>
              <a:rPr lang="en-US" altLang="en-BW"/>
              <a:t>thus, all 255 samples would be ones </a:t>
            </a:r>
          </a:p>
          <a:p>
            <a:r>
              <a:rPr lang="en-US" altLang="en-BW"/>
              <a:t>At this point, it should be obvious that LM34 voltage outputs between 0 and 5 volts would generate values between 0-255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74321F-A0EA-2CB2-0355-9FDC81B09FFD}"/>
              </a:ext>
            </a:extLst>
          </p:cNvPr>
          <p:cNvSpPr>
            <a:spLocks noGrp="1"/>
          </p:cNvSpPr>
          <p:nvPr>
            <p:ph type="ftr" sz="quarter" idx="11"/>
          </p:nvPr>
        </p:nvSpPr>
        <p:spPr/>
        <p:txBody>
          <a:bodyPr/>
          <a:lstStyle/>
          <a:p>
            <a:r>
              <a:rPr lang="en-US" altLang="en-BW"/>
              <a:t>Manfred Huber and Charles Hannon</a:t>
            </a:r>
          </a:p>
        </p:txBody>
      </p:sp>
      <p:sp>
        <p:nvSpPr>
          <p:cNvPr id="141314" name="Rectangle 2">
            <a:extLst>
              <a:ext uri="{FF2B5EF4-FFF2-40B4-BE49-F238E27FC236}">
                <a16:creationId xmlns:a16="http://schemas.microsoft.com/office/drawing/2014/main" id="{2DE6B22A-3C81-BE1D-5AF7-2EE02AEAFA8B}"/>
              </a:ext>
            </a:extLst>
          </p:cNvPr>
          <p:cNvSpPr>
            <a:spLocks noGrp="1" noChangeArrowheads="1"/>
          </p:cNvSpPr>
          <p:nvPr>
            <p:ph type="title"/>
          </p:nvPr>
        </p:nvSpPr>
        <p:spPr/>
        <p:txBody>
          <a:bodyPr/>
          <a:lstStyle/>
          <a:p>
            <a:r>
              <a:rPr lang="en-US" altLang="en-BW"/>
              <a:t>Issues With the Circuit</a:t>
            </a:r>
          </a:p>
        </p:txBody>
      </p:sp>
      <p:sp>
        <p:nvSpPr>
          <p:cNvPr id="141315" name="Rectangle 3">
            <a:extLst>
              <a:ext uri="{FF2B5EF4-FFF2-40B4-BE49-F238E27FC236}">
                <a16:creationId xmlns:a16="http://schemas.microsoft.com/office/drawing/2014/main" id="{2B673164-AFBE-A211-66D7-AF7ADD96CA10}"/>
              </a:ext>
            </a:extLst>
          </p:cNvPr>
          <p:cNvSpPr>
            <a:spLocks noGrp="1" noChangeArrowheads="1"/>
          </p:cNvSpPr>
          <p:nvPr>
            <p:ph type="body" idx="1"/>
          </p:nvPr>
        </p:nvSpPr>
        <p:spPr>
          <a:xfrm>
            <a:off x="2505075" y="2017713"/>
            <a:ext cx="7772400" cy="4114800"/>
          </a:xfrm>
        </p:spPr>
        <p:txBody>
          <a:bodyPr>
            <a:normAutofit lnSpcReduction="10000"/>
          </a:bodyPr>
          <a:lstStyle/>
          <a:p>
            <a:pPr>
              <a:lnSpc>
                <a:spcPct val="90000"/>
              </a:lnSpc>
            </a:pPr>
            <a:r>
              <a:rPr lang="en-US" altLang="en-BW" sz="2800"/>
              <a:t>From the discussion, it should be fairly clear that a delta sigma ADC is both slow and fairly inaccurate</a:t>
            </a:r>
          </a:p>
          <a:p>
            <a:pPr>
              <a:lnSpc>
                <a:spcPct val="90000"/>
              </a:lnSpc>
            </a:pPr>
            <a:r>
              <a:rPr lang="en-US" altLang="en-BW" sz="2800"/>
              <a:t>Further, the ADC has a resolution which is about ½ that of the temperature sensor so we are losing a great deal of information</a:t>
            </a:r>
          </a:p>
          <a:p>
            <a:pPr>
              <a:lnSpc>
                <a:spcPct val="90000"/>
              </a:lnSpc>
            </a:pPr>
            <a:r>
              <a:rPr lang="en-US" altLang="en-BW" sz="2800"/>
              <a:t>Last, it does not help that the LM34D only generates a voltage range of 320-2120 mV losing more than half of the ADC’s range</a:t>
            </a:r>
          </a:p>
          <a:p>
            <a:pPr>
              <a:lnSpc>
                <a:spcPct val="90000"/>
              </a:lnSpc>
            </a:pPr>
            <a:r>
              <a:rPr lang="en-US" altLang="en-BW" sz="2800"/>
              <a:t>Is there a way to fix any of these problems?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359FEC22-46B8-62AB-1CAB-CD56B9000801}"/>
              </a:ext>
            </a:extLst>
          </p:cNvPr>
          <p:cNvSpPr>
            <a:spLocks noGrp="1"/>
          </p:cNvSpPr>
          <p:nvPr>
            <p:ph type="ftr" sz="quarter" idx="11"/>
          </p:nvPr>
        </p:nvSpPr>
        <p:spPr/>
        <p:txBody>
          <a:bodyPr/>
          <a:lstStyle/>
          <a:p>
            <a:r>
              <a:rPr lang="en-US" altLang="en-BW"/>
              <a:t>Manfred Huber and Charles Hannon</a:t>
            </a:r>
          </a:p>
        </p:txBody>
      </p:sp>
      <p:sp>
        <p:nvSpPr>
          <p:cNvPr id="142338" name="Rectangle 2">
            <a:extLst>
              <a:ext uri="{FF2B5EF4-FFF2-40B4-BE49-F238E27FC236}">
                <a16:creationId xmlns:a16="http://schemas.microsoft.com/office/drawing/2014/main" id="{8CAC5443-F176-D588-50D9-8F01A2651A56}"/>
              </a:ext>
            </a:extLst>
          </p:cNvPr>
          <p:cNvSpPr>
            <a:spLocks noGrp="1" noChangeArrowheads="1"/>
          </p:cNvSpPr>
          <p:nvPr>
            <p:ph type="title"/>
          </p:nvPr>
        </p:nvSpPr>
        <p:spPr/>
        <p:txBody>
          <a:bodyPr/>
          <a:lstStyle/>
          <a:p>
            <a:r>
              <a:rPr lang="en-US" altLang="en-BW"/>
              <a:t>The Light Sensor</a:t>
            </a:r>
          </a:p>
        </p:txBody>
      </p:sp>
      <p:pic>
        <p:nvPicPr>
          <p:cNvPr id="142339" name="Picture 3">
            <a:extLst>
              <a:ext uri="{FF2B5EF4-FFF2-40B4-BE49-F238E27FC236}">
                <a16:creationId xmlns:a16="http://schemas.microsoft.com/office/drawing/2014/main" id="{E3935DFD-AC7A-51BA-DC7F-D792C08E9C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921125"/>
            <a:ext cx="914400" cy="15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2340" name="Picture 4">
            <a:extLst>
              <a:ext uri="{FF2B5EF4-FFF2-40B4-BE49-F238E27FC236}">
                <a16:creationId xmlns:a16="http://schemas.microsoft.com/office/drawing/2014/main" id="{94AD7663-C470-9665-1755-8FE2DB099B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921125"/>
            <a:ext cx="914400" cy="15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341" name="Line 5">
            <a:extLst>
              <a:ext uri="{FF2B5EF4-FFF2-40B4-BE49-F238E27FC236}">
                <a16:creationId xmlns:a16="http://schemas.microsoft.com/office/drawing/2014/main" id="{495CB93B-0FD7-864D-4A8B-9E7D3CBFBD40}"/>
              </a:ext>
            </a:extLst>
          </p:cNvPr>
          <p:cNvSpPr>
            <a:spLocks noChangeShapeType="1"/>
          </p:cNvSpPr>
          <p:nvPr/>
        </p:nvSpPr>
        <p:spPr bwMode="auto">
          <a:xfrm>
            <a:off x="4876800" y="4000500"/>
            <a:ext cx="152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42" name="Line 6">
            <a:extLst>
              <a:ext uri="{FF2B5EF4-FFF2-40B4-BE49-F238E27FC236}">
                <a16:creationId xmlns:a16="http://schemas.microsoft.com/office/drawing/2014/main" id="{F23D1453-EFA4-214C-B3CC-31D892AC368F}"/>
              </a:ext>
            </a:extLst>
          </p:cNvPr>
          <p:cNvSpPr>
            <a:spLocks noChangeShapeType="1"/>
          </p:cNvSpPr>
          <p:nvPr/>
        </p:nvSpPr>
        <p:spPr bwMode="auto">
          <a:xfrm flipV="1">
            <a:off x="4038600" y="3352800"/>
            <a:ext cx="0" cy="609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43" name="Line 7">
            <a:extLst>
              <a:ext uri="{FF2B5EF4-FFF2-40B4-BE49-F238E27FC236}">
                <a16:creationId xmlns:a16="http://schemas.microsoft.com/office/drawing/2014/main" id="{CAAC8E0A-C71A-8B19-F0E1-10366F66EDC1}"/>
              </a:ext>
            </a:extLst>
          </p:cNvPr>
          <p:cNvSpPr>
            <a:spLocks noChangeShapeType="1"/>
          </p:cNvSpPr>
          <p:nvPr/>
        </p:nvSpPr>
        <p:spPr bwMode="auto">
          <a:xfrm>
            <a:off x="3429000" y="4000500"/>
            <a:ext cx="533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44" name="Line 8">
            <a:extLst>
              <a:ext uri="{FF2B5EF4-FFF2-40B4-BE49-F238E27FC236}">
                <a16:creationId xmlns:a16="http://schemas.microsoft.com/office/drawing/2014/main" id="{91973354-A513-900C-7F4B-AA7049541E84}"/>
              </a:ext>
            </a:extLst>
          </p:cNvPr>
          <p:cNvSpPr>
            <a:spLocks noChangeShapeType="1"/>
          </p:cNvSpPr>
          <p:nvPr/>
        </p:nvSpPr>
        <p:spPr bwMode="auto">
          <a:xfrm>
            <a:off x="3733800" y="3124200"/>
            <a:ext cx="6096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45" name="Line 9">
            <a:extLst>
              <a:ext uri="{FF2B5EF4-FFF2-40B4-BE49-F238E27FC236}">
                <a16:creationId xmlns:a16="http://schemas.microsoft.com/office/drawing/2014/main" id="{42FD52DC-6EAF-4D80-D418-2D47688040E2}"/>
              </a:ext>
            </a:extLst>
          </p:cNvPr>
          <p:cNvSpPr>
            <a:spLocks noChangeShapeType="1"/>
          </p:cNvSpPr>
          <p:nvPr/>
        </p:nvSpPr>
        <p:spPr bwMode="auto">
          <a:xfrm>
            <a:off x="3733800" y="3352800"/>
            <a:ext cx="6096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46" name="Line 10">
            <a:extLst>
              <a:ext uri="{FF2B5EF4-FFF2-40B4-BE49-F238E27FC236}">
                <a16:creationId xmlns:a16="http://schemas.microsoft.com/office/drawing/2014/main" id="{FAE308A0-D70D-3748-0C2E-A23053B527D8}"/>
              </a:ext>
            </a:extLst>
          </p:cNvPr>
          <p:cNvSpPr>
            <a:spLocks noChangeShapeType="1"/>
          </p:cNvSpPr>
          <p:nvPr/>
        </p:nvSpPr>
        <p:spPr bwMode="auto">
          <a:xfrm>
            <a:off x="2209800" y="4000500"/>
            <a:ext cx="0" cy="762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47" name="Line 11">
            <a:extLst>
              <a:ext uri="{FF2B5EF4-FFF2-40B4-BE49-F238E27FC236}">
                <a16:creationId xmlns:a16="http://schemas.microsoft.com/office/drawing/2014/main" id="{D4A21B19-B7ED-E851-A20A-87C9CE77390C}"/>
              </a:ext>
            </a:extLst>
          </p:cNvPr>
          <p:cNvSpPr>
            <a:spLocks noChangeShapeType="1"/>
          </p:cNvSpPr>
          <p:nvPr/>
        </p:nvSpPr>
        <p:spPr bwMode="auto">
          <a:xfrm>
            <a:off x="1905000" y="4800600"/>
            <a:ext cx="6096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48" name="Line 12">
            <a:extLst>
              <a:ext uri="{FF2B5EF4-FFF2-40B4-BE49-F238E27FC236}">
                <a16:creationId xmlns:a16="http://schemas.microsoft.com/office/drawing/2014/main" id="{2E2E09F1-B740-2A82-CEF4-323587182EE1}"/>
              </a:ext>
            </a:extLst>
          </p:cNvPr>
          <p:cNvSpPr>
            <a:spLocks noChangeShapeType="1"/>
          </p:cNvSpPr>
          <p:nvPr/>
        </p:nvSpPr>
        <p:spPr bwMode="auto">
          <a:xfrm>
            <a:off x="2057400" y="4953000"/>
            <a:ext cx="3048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49" name="Line 13">
            <a:extLst>
              <a:ext uri="{FF2B5EF4-FFF2-40B4-BE49-F238E27FC236}">
                <a16:creationId xmlns:a16="http://schemas.microsoft.com/office/drawing/2014/main" id="{1E1DB3E8-956F-C60C-053E-E5E899A50082}"/>
              </a:ext>
            </a:extLst>
          </p:cNvPr>
          <p:cNvSpPr>
            <a:spLocks noChangeShapeType="1"/>
          </p:cNvSpPr>
          <p:nvPr/>
        </p:nvSpPr>
        <p:spPr bwMode="auto">
          <a:xfrm>
            <a:off x="2133600" y="5105400"/>
            <a:ext cx="1524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50" name="Line 14">
            <a:extLst>
              <a:ext uri="{FF2B5EF4-FFF2-40B4-BE49-F238E27FC236}">
                <a16:creationId xmlns:a16="http://schemas.microsoft.com/office/drawing/2014/main" id="{41897E81-F905-1D17-2AE8-861918156A81}"/>
              </a:ext>
            </a:extLst>
          </p:cNvPr>
          <p:cNvSpPr>
            <a:spLocks noChangeShapeType="1"/>
          </p:cNvSpPr>
          <p:nvPr/>
        </p:nvSpPr>
        <p:spPr bwMode="auto">
          <a:xfrm>
            <a:off x="2057400" y="4953000"/>
            <a:ext cx="3048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51" name="Oval 15">
            <a:extLst>
              <a:ext uri="{FF2B5EF4-FFF2-40B4-BE49-F238E27FC236}">
                <a16:creationId xmlns:a16="http://schemas.microsoft.com/office/drawing/2014/main" id="{DE2CFF2F-F8DD-A2FB-3F16-9AE931E3F7BF}"/>
              </a:ext>
            </a:extLst>
          </p:cNvPr>
          <p:cNvSpPr>
            <a:spLocks noChangeArrowheads="1"/>
          </p:cNvSpPr>
          <p:nvPr/>
        </p:nvSpPr>
        <p:spPr bwMode="auto">
          <a:xfrm>
            <a:off x="4000500" y="3962400"/>
            <a:ext cx="76200" cy="762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BW"/>
          </a:p>
        </p:txBody>
      </p:sp>
      <p:sp>
        <p:nvSpPr>
          <p:cNvPr id="142352" name="Text Box 16">
            <a:extLst>
              <a:ext uri="{FF2B5EF4-FFF2-40B4-BE49-F238E27FC236}">
                <a16:creationId xmlns:a16="http://schemas.microsoft.com/office/drawing/2014/main" id="{231813F5-CF4B-8A84-4742-4B5A0AF4C9BB}"/>
              </a:ext>
            </a:extLst>
          </p:cNvPr>
          <p:cNvSpPr txBox="1">
            <a:spLocks noChangeArrowheads="1"/>
          </p:cNvSpPr>
          <p:nvPr/>
        </p:nvSpPr>
        <p:spPr bwMode="auto">
          <a:xfrm>
            <a:off x="4419600" y="2895600"/>
            <a:ext cx="5613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1</a:t>
            </a:r>
            <a:r>
              <a:rPr lang="en-US" altLang="en-BW">
                <a:sym typeface="Symbol" pitchFamily="2" charset="2"/>
              </a:rPr>
              <a:t>F</a:t>
            </a:r>
            <a:endParaRPr lang="en-US" altLang="en-BW"/>
          </a:p>
        </p:txBody>
      </p:sp>
      <p:sp>
        <p:nvSpPr>
          <p:cNvPr id="142353" name="Rectangle 17">
            <a:extLst>
              <a:ext uri="{FF2B5EF4-FFF2-40B4-BE49-F238E27FC236}">
                <a16:creationId xmlns:a16="http://schemas.microsoft.com/office/drawing/2014/main" id="{11480ABC-FCDF-3D48-7B25-C11A2D2F3F70}"/>
              </a:ext>
            </a:extLst>
          </p:cNvPr>
          <p:cNvSpPr>
            <a:spLocks noChangeArrowheads="1"/>
          </p:cNvSpPr>
          <p:nvPr/>
        </p:nvSpPr>
        <p:spPr bwMode="auto">
          <a:xfrm>
            <a:off x="3962400" y="4114800"/>
            <a:ext cx="7280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220</a:t>
            </a:r>
            <a:r>
              <a:rPr lang="en-US" altLang="en-BW">
                <a:sym typeface="Symbol" pitchFamily="2" charset="2"/>
              </a:rPr>
              <a:t></a:t>
            </a:r>
          </a:p>
        </p:txBody>
      </p:sp>
      <p:sp>
        <p:nvSpPr>
          <p:cNvPr id="142354" name="Text Box 18">
            <a:extLst>
              <a:ext uri="{FF2B5EF4-FFF2-40B4-BE49-F238E27FC236}">
                <a16:creationId xmlns:a16="http://schemas.microsoft.com/office/drawing/2014/main" id="{F2D181B1-B1D6-FCB8-3327-1CD578C5AC4E}"/>
              </a:ext>
            </a:extLst>
          </p:cNvPr>
          <p:cNvSpPr txBox="1">
            <a:spLocks noChangeArrowheads="1"/>
          </p:cNvSpPr>
          <p:nvPr/>
        </p:nvSpPr>
        <p:spPr bwMode="auto">
          <a:xfrm>
            <a:off x="5181601" y="3810001"/>
            <a:ext cx="8659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P4</a:t>
            </a:r>
          </a:p>
          <a:p>
            <a:r>
              <a:rPr lang="en-US" altLang="en-BW"/>
              <a:t>(pin 9)</a:t>
            </a:r>
          </a:p>
        </p:txBody>
      </p:sp>
      <p:sp>
        <p:nvSpPr>
          <p:cNvPr id="142355" name="Rectangle 19">
            <a:extLst>
              <a:ext uri="{FF2B5EF4-FFF2-40B4-BE49-F238E27FC236}">
                <a16:creationId xmlns:a16="http://schemas.microsoft.com/office/drawing/2014/main" id="{5D49DC6D-F8BD-D2F7-06D0-7C58ACB38023}"/>
              </a:ext>
            </a:extLst>
          </p:cNvPr>
          <p:cNvSpPr>
            <a:spLocks noChangeArrowheads="1"/>
          </p:cNvSpPr>
          <p:nvPr/>
        </p:nvSpPr>
        <p:spPr bwMode="auto">
          <a:xfrm>
            <a:off x="4953000" y="3924300"/>
            <a:ext cx="152400" cy="1524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BW"/>
          </a:p>
        </p:txBody>
      </p:sp>
      <p:sp>
        <p:nvSpPr>
          <p:cNvPr id="142356" name="Rectangle 20">
            <a:extLst>
              <a:ext uri="{FF2B5EF4-FFF2-40B4-BE49-F238E27FC236}">
                <a16:creationId xmlns:a16="http://schemas.microsoft.com/office/drawing/2014/main" id="{620729B4-D40D-6CEE-AA6F-368EA727A6E8}"/>
              </a:ext>
            </a:extLst>
          </p:cNvPr>
          <p:cNvSpPr>
            <a:spLocks noGrp="1" noChangeArrowheads="1"/>
          </p:cNvSpPr>
          <p:nvPr>
            <p:ph type="body" idx="1"/>
          </p:nvPr>
        </p:nvSpPr>
        <p:spPr>
          <a:xfrm>
            <a:off x="6480176" y="2438400"/>
            <a:ext cx="3998913" cy="4114800"/>
          </a:xfrm>
        </p:spPr>
        <p:txBody>
          <a:bodyPr/>
          <a:lstStyle/>
          <a:p>
            <a:r>
              <a:rPr lang="en-US" altLang="en-BW"/>
              <a:t>The good news is that this circuit supports a very common approach to measuring resistance called rcTime (page 55)</a:t>
            </a:r>
            <a:endParaRPr lang="en-US" altLang="en-BW" sz="2000"/>
          </a:p>
          <a:p>
            <a:r>
              <a:rPr lang="en-US" altLang="en-BW"/>
              <a:t>The bad news is that</a:t>
            </a:r>
          </a:p>
          <a:p>
            <a:pPr lvl="1"/>
            <a:r>
              <a:rPr lang="en-US" altLang="en-BW"/>
              <a:t>CdS photoresistors are notoriously inaccurate</a:t>
            </a:r>
          </a:p>
          <a:p>
            <a:pPr lvl="1"/>
            <a:r>
              <a:rPr lang="en-US" altLang="en-BW"/>
              <a:t>They have a memory which can last up for days</a:t>
            </a:r>
          </a:p>
          <a:p>
            <a:endParaRPr lang="en-US" altLang="en-BW"/>
          </a:p>
        </p:txBody>
      </p:sp>
      <p:sp>
        <p:nvSpPr>
          <p:cNvPr id="142357" name="Oval 21">
            <a:extLst>
              <a:ext uri="{FF2B5EF4-FFF2-40B4-BE49-F238E27FC236}">
                <a16:creationId xmlns:a16="http://schemas.microsoft.com/office/drawing/2014/main" id="{A691B751-A8EA-C849-94E0-0D23A2ABAD39}"/>
              </a:ext>
            </a:extLst>
          </p:cNvPr>
          <p:cNvSpPr>
            <a:spLocks noChangeArrowheads="1"/>
          </p:cNvSpPr>
          <p:nvPr/>
        </p:nvSpPr>
        <p:spPr bwMode="auto">
          <a:xfrm>
            <a:off x="2590800" y="3657600"/>
            <a:ext cx="762000" cy="685800"/>
          </a:xfrm>
          <a:prstGeom prst="ellipse">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BW"/>
          </a:p>
        </p:txBody>
      </p:sp>
      <p:sp>
        <p:nvSpPr>
          <p:cNvPr id="142358" name="Line 22">
            <a:extLst>
              <a:ext uri="{FF2B5EF4-FFF2-40B4-BE49-F238E27FC236}">
                <a16:creationId xmlns:a16="http://schemas.microsoft.com/office/drawing/2014/main" id="{EF956191-A5AE-088A-AE23-10165F3DA9E3}"/>
              </a:ext>
            </a:extLst>
          </p:cNvPr>
          <p:cNvSpPr>
            <a:spLocks noChangeShapeType="1"/>
          </p:cNvSpPr>
          <p:nvPr/>
        </p:nvSpPr>
        <p:spPr bwMode="auto">
          <a:xfrm>
            <a:off x="2743200" y="3200400"/>
            <a:ext cx="22860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59" name="Line 23">
            <a:extLst>
              <a:ext uri="{FF2B5EF4-FFF2-40B4-BE49-F238E27FC236}">
                <a16:creationId xmlns:a16="http://schemas.microsoft.com/office/drawing/2014/main" id="{A10A84A1-A417-D281-0604-878335846DD7}"/>
              </a:ext>
            </a:extLst>
          </p:cNvPr>
          <p:cNvSpPr>
            <a:spLocks noChangeShapeType="1"/>
          </p:cNvSpPr>
          <p:nvPr/>
        </p:nvSpPr>
        <p:spPr bwMode="auto">
          <a:xfrm>
            <a:off x="2590800" y="3352800"/>
            <a:ext cx="1524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60" name="Line 24">
            <a:extLst>
              <a:ext uri="{FF2B5EF4-FFF2-40B4-BE49-F238E27FC236}">
                <a16:creationId xmlns:a16="http://schemas.microsoft.com/office/drawing/2014/main" id="{AD1AB5D5-7F5E-9DC3-8727-9332BE8F9366}"/>
              </a:ext>
            </a:extLst>
          </p:cNvPr>
          <p:cNvSpPr>
            <a:spLocks noChangeShapeType="1"/>
          </p:cNvSpPr>
          <p:nvPr/>
        </p:nvSpPr>
        <p:spPr bwMode="auto">
          <a:xfrm flipH="1">
            <a:off x="2209800" y="4000500"/>
            <a:ext cx="304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61" name="Line 25">
            <a:extLst>
              <a:ext uri="{FF2B5EF4-FFF2-40B4-BE49-F238E27FC236}">
                <a16:creationId xmlns:a16="http://schemas.microsoft.com/office/drawing/2014/main" id="{7D85AE92-34DC-9F03-87FB-3FC7A287C193}"/>
              </a:ext>
            </a:extLst>
          </p:cNvPr>
          <p:cNvSpPr>
            <a:spLocks noChangeShapeType="1"/>
          </p:cNvSpPr>
          <p:nvPr/>
        </p:nvSpPr>
        <p:spPr bwMode="auto">
          <a:xfrm flipV="1">
            <a:off x="4038600" y="2667000"/>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BW"/>
          </a:p>
        </p:txBody>
      </p:sp>
      <p:sp>
        <p:nvSpPr>
          <p:cNvPr id="142362" name="Text Box 26">
            <a:extLst>
              <a:ext uri="{FF2B5EF4-FFF2-40B4-BE49-F238E27FC236}">
                <a16:creationId xmlns:a16="http://schemas.microsoft.com/office/drawing/2014/main" id="{BDE6F0C0-F15B-FCC4-1098-E28C78709151}"/>
              </a:ext>
            </a:extLst>
          </p:cNvPr>
          <p:cNvSpPr txBox="1">
            <a:spLocks noChangeArrowheads="1"/>
          </p:cNvSpPr>
          <p:nvPr/>
        </p:nvSpPr>
        <p:spPr bwMode="auto">
          <a:xfrm>
            <a:off x="3581400" y="2209800"/>
            <a:ext cx="5645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BW"/>
              <a:t>+5V</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F6DE54F-0AF3-01D4-3CDA-E0598C9766B5}"/>
              </a:ext>
            </a:extLst>
          </p:cNvPr>
          <p:cNvSpPr>
            <a:spLocks noGrp="1"/>
          </p:cNvSpPr>
          <p:nvPr>
            <p:ph type="ftr" sz="quarter" idx="11"/>
          </p:nvPr>
        </p:nvSpPr>
        <p:spPr/>
        <p:txBody>
          <a:bodyPr/>
          <a:lstStyle/>
          <a:p>
            <a:r>
              <a:rPr lang="en-US" altLang="en-BW"/>
              <a:t>Manfred Huber and Charles Hannon</a:t>
            </a:r>
          </a:p>
        </p:txBody>
      </p:sp>
      <p:sp>
        <p:nvSpPr>
          <p:cNvPr id="143362" name="Rectangle 2">
            <a:extLst>
              <a:ext uri="{FF2B5EF4-FFF2-40B4-BE49-F238E27FC236}">
                <a16:creationId xmlns:a16="http://schemas.microsoft.com/office/drawing/2014/main" id="{2155AC40-CF01-F1F8-264F-8109DC2592DE}"/>
              </a:ext>
            </a:extLst>
          </p:cNvPr>
          <p:cNvSpPr>
            <a:spLocks noGrp="1" noChangeArrowheads="1"/>
          </p:cNvSpPr>
          <p:nvPr>
            <p:ph type="title"/>
          </p:nvPr>
        </p:nvSpPr>
        <p:spPr/>
        <p:txBody>
          <a:bodyPr/>
          <a:lstStyle/>
          <a:p>
            <a:r>
              <a:rPr lang="en-US" altLang="en-BW"/>
              <a:t>How The Circuits Works (1)</a:t>
            </a:r>
          </a:p>
        </p:txBody>
      </p:sp>
      <p:sp>
        <p:nvSpPr>
          <p:cNvPr id="143363" name="Rectangle 3">
            <a:extLst>
              <a:ext uri="{FF2B5EF4-FFF2-40B4-BE49-F238E27FC236}">
                <a16:creationId xmlns:a16="http://schemas.microsoft.com/office/drawing/2014/main" id="{3FA531A0-13A3-C08D-AA51-FACAD6CAD084}"/>
              </a:ext>
            </a:extLst>
          </p:cNvPr>
          <p:cNvSpPr>
            <a:spLocks noGrp="1" noChangeArrowheads="1"/>
          </p:cNvSpPr>
          <p:nvPr>
            <p:ph type="body" idx="1"/>
          </p:nvPr>
        </p:nvSpPr>
        <p:spPr>
          <a:xfrm>
            <a:off x="1981200" y="2209800"/>
            <a:ext cx="8458200" cy="4114800"/>
          </a:xfrm>
        </p:spPr>
        <p:txBody>
          <a:bodyPr>
            <a:normAutofit lnSpcReduction="10000"/>
          </a:bodyPr>
          <a:lstStyle/>
          <a:p>
            <a:pPr>
              <a:lnSpc>
                <a:spcPct val="90000"/>
              </a:lnSpc>
            </a:pPr>
            <a:r>
              <a:rPr lang="en-US" altLang="en-BW" sz="2800"/>
              <a:t>The resistance of a typical CdS is inversely proportional to the amount of light falling on its surface</a:t>
            </a:r>
          </a:p>
          <a:p>
            <a:pPr>
              <a:lnSpc>
                <a:spcPct val="90000"/>
              </a:lnSpc>
            </a:pPr>
            <a:r>
              <a:rPr lang="en-US" altLang="en-BW" sz="2800"/>
              <a:t>Built into the Javelin CPU object are all of the methods needed to support this circuit</a:t>
            </a:r>
          </a:p>
          <a:p>
            <a:pPr lvl="1">
              <a:lnSpc>
                <a:spcPct val="90000"/>
              </a:lnSpc>
            </a:pPr>
            <a:r>
              <a:rPr lang="en-US" altLang="en-BW" sz="2400"/>
              <a:t>First you call a CPU.writePen method to set the pin high, and thus, charge the capacitor</a:t>
            </a:r>
          </a:p>
          <a:p>
            <a:pPr lvl="1">
              <a:lnSpc>
                <a:spcPct val="90000"/>
              </a:lnSpc>
            </a:pPr>
            <a:r>
              <a:rPr lang="en-US" altLang="en-BW" sz="2400"/>
              <a:t>Then you call a CPU.delay method to ensure that it is fully charged</a:t>
            </a:r>
          </a:p>
          <a:p>
            <a:pPr lvl="1">
              <a:lnSpc>
                <a:spcPct val="90000"/>
              </a:lnSpc>
            </a:pPr>
            <a:r>
              <a:rPr lang="en-US" altLang="en-BW" sz="2400"/>
              <a:t>Finally, you call a CPU.rcTime method which track how long it takes for the capacitor to bleed below 2.5 volt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20152BF-FF51-050B-E627-8FD444FC55DE}"/>
              </a:ext>
            </a:extLst>
          </p:cNvPr>
          <p:cNvSpPr>
            <a:spLocks noGrp="1"/>
          </p:cNvSpPr>
          <p:nvPr>
            <p:ph type="ftr" sz="quarter" idx="11"/>
          </p:nvPr>
        </p:nvSpPr>
        <p:spPr/>
        <p:txBody>
          <a:bodyPr/>
          <a:lstStyle/>
          <a:p>
            <a:r>
              <a:rPr lang="en-US" altLang="en-BW"/>
              <a:t>Manfred Huber and Charles Hannon</a:t>
            </a:r>
          </a:p>
        </p:txBody>
      </p:sp>
      <p:sp>
        <p:nvSpPr>
          <p:cNvPr id="144386" name="Rectangle 2">
            <a:extLst>
              <a:ext uri="{FF2B5EF4-FFF2-40B4-BE49-F238E27FC236}">
                <a16:creationId xmlns:a16="http://schemas.microsoft.com/office/drawing/2014/main" id="{0331F6B1-DA02-EFFF-75C1-5F9E7C5C13BB}"/>
              </a:ext>
            </a:extLst>
          </p:cNvPr>
          <p:cNvSpPr>
            <a:spLocks noGrp="1" noChangeArrowheads="1"/>
          </p:cNvSpPr>
          <p:nvPr>
            <p:ph type="title"/>
          </p:nvPr>
        </p:nvSpPr>
        <p:spPr/>
        <p:txBody>
          <a:bodyPr/>
          <a:lstStyle/>
          <a:p>
            <a:r>
              <a:rPr lang="en-US" altLang="en-BW"/>
              <a:t>How The Circuits Works (2)</a:t>
            </a:r>
          </a:p>
        </p:txBody>
      </p:sp>
      <p:sp>
        <p:nvSpPr>
          <p:cNvPr id="144387" name="Rectangle 3">
            <a:extLst>
              <a:ext uri="{FF2B5EF4-FFF2-40B4-BE49-F238E27FC236}">
                <a16:creationId xmlns:a16="http://schemas.microsoft.com/office/drawing/2014/main" id="{4A8DBF2F-AEE4-B458-32F4-D126F3531F7F}"/>
              </a:ext>
            </a:extLst>
          </p:cNvPr>
          <p:cNvSpPr>
            <a:spLocks noGrp="1" noChangeArrowheads="1"/>
          </p:cNvSpPr>
          <p:nvPr>
            <p:ph type="body" idx="1"/>
          </p:nvPr>
        </p:nvSpPr>
        <p:spPr>
          <a:xfrm>
            <a:off x="1981200" y="2209800"/>
            <a:ext cx="8458200" cy="4114800"/>
          </a:xfrm>
        </p:spPr>
        <p:txBody>
          <a:bodyPr>
            <a:normAutofit lnSpcReduction="10000"/>
          </a:bodyPr>
          <a:lstStyle/>
          <a:p>
            <a:pPr>
              <a:lnSpc>
                <a:spcPct val="90000"/>
              </a:lnSpc>
            </a:pPr>
            <a:r>
              <a:rPr lang="en-US" altLang="en-BW" sz="2800"/>
              <a:t>The time it takes for the capacitor to bleed down is directly proportional to the resistance of the photoresistor, and thus, to the amount of light falling on its surface</a:t>
            </a:r>
          </a:p>
          <a:p>
            <a:pPr>
              <a:lnSpc>
                <a:spcPct val="90000"/>
              </a:lnSpc>
            </a:pPr>
            <a:r>
              <a:rPr lang="en-US" altLang="en-BW" sz="2800"/>
              <a:t>Once you characterize your photoresistor’s performance, the rcTime output can be used to keep track of how much light your sensor is seeing at any given time</a:t>
            </a:r>
          </a:p>
          <a:p>
            <a:pPr>
              <a:lnSpc>
                <a:spcPct val="90000"/>
              </a:lnSpc>
            </a:pPr>
            <a:r>
              <a:rPr lang="en-US" altLang="en-BW" sz="2800"/>
              <a:t>This light can be from an ambient source or from one of your own actuators</a:t>
            </a:r>
          </a:p>
        </p:txBody>
      </p:sp>
    </p:spTree>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45144</TotalTime>
  <Words>2725</Words>
  <Application>Microsoft Macintosh PowerPoint</Application>
  <PresentationFormat>Widescreen</PresentationFormat>
  <Paragraphs>303</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Adjutant-Normal</vt:lpstr>
      <vt:lpstr>Arial</vt:lpstr>
      <vt:lpstr>Calibri</vt:lpstr>
      <vt:lpstr>Segoe UI</vt:lpstr>
      <vt:lpstr>Trebuchet MS</vt:lpstr>
      <vt:lpstr>Wingdings</vt:lpstr>
      <vt:lpstr>Berlin</vt:lpstr>
      <vt:lpstr>Actuators</vt:lpstr>
      <vt:lpstr>ACTUATORS</vt:lpstr>
      <vt:lpstr>Actuator system</vt:lpstr>
      <vt:lpstr>ISSUES/CHARACTERISTICS  OF AN ACTUATOR </vt:lpstr>
      <vt:lpstr>TYPES OF ACTUATORS</vt:lpstr>
      <vt:lpstr>Pneumatic and Hydraulic Actuators</vt:lpstr>
      <vt:lpstr>Pneumatic and Hydraulic Actuators</vt:lpstr>
      <vt:lpstr>Pneumatic and Hydraulic Actuators</vt:lpstr>
      <vt:lpstr>Pneumatic and Hydraulic Actuators</vt:lpstr>
      <vt:lpstr>Pneumatic and Hydraulic Actuators</vt:lpstr>
      <vt:lpstr>Pneumatic and Hydraulic Actuators</vt:lpstr>
      <vt:lpstr>Advantages and limitations of  Pneumatic actuators</vt:lpstr>
      <vt:lpstr>Advantages and limitations of  Hydraulic actuators</vt:lpstr>
      <vt:lpstr>Electric and Stepper Motors</vt:lpstr>
      <vt:lpstr>ELECTRIC MOTORS </vt:lpstr>
      <vt:lpstr>PowerPoint Presentation</vt:lpstr>
      <vt:lpstr>COMPONENTS OF DC ELECTRIC MOTOR</vt:lpstr>
      <vt:lpstr>ELECTRIC MOTORS </vt:lpstr>
      <vt:lpstr>COMPONENTS OF DC ELECTRIC MOTOR</vt:lpstr>
      <vt:lpstr>PowerPoint Presentation</vt:lpstr>
      <vt:lpstr>STEPPER MOTOR</vt:lpstr>
      <vt:lpstr>STEPPER MOTOR</vt:lpstr>
      <vt:lpstr>ADVANTAGES &amp; LIMITATIONS OF ELECTRIC ACTUATORS</vt:lpstr>
      <vt:lpstr>APPLICATIONS</vt:lpstr>
      <vt:lpstr>Comparison of actuating systems</vt:lpstr>
      <vt:lpstr>Comparison of actuating systems</vt:lpstr>
      <vt:lpstr>The Temperature Sensor</vt:lpstr>
      <vt:lpstr>How The Circuits Works (1)</vt:lpstr>
      <vt:lpstr>How The Circuits Works (2)</vt:lpstr>
      <vt:lpstr>How The Circuits Works (3)</vt:lpstr>
      <vt:lpstr>Issues With the Circuit</vt:lpstr>
      <vt:lpstr>The Light Sensor</vt:lpstr>
      <vt:lpstr>How The Circuits Works (1)</vt:lpstr>
      <vt:lpstr>How The Circuits Works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Algorithms Analysis and Design </dc:title>
  <dc:creator>Microsoft Office User</dc:creator>
  <cp:lastModifiedBy>Boyce Sigweni (Staff)</cp:lastModifiedBy>
  <cp:revision>54</cp:revision>
  <dcterms:created xsi:type="dcterms:W3CDTF">2016-12-06T16:10:55Z</dcterms:created>
  <dcterms:modified xsi:type="dcterms:W3CDTF">2022-11-01T11:11:36Z</dcterms:modified>
</cp:coreProperties>
</file>
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4" r:id="rId8"/>
    <p:sldId id="265" r:id="rId9"/>
    <p:sldId id="261" r:id="rId10"/>
    <p:sldId id="262"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A3D3803D-DD0A-487C-8F5B-2514B81F624C}" type="datetimeFigureOut">
              <a:rPr lang="en-ZA" smtClean="0"/>
              <a:t>2020/06/16</a:t>
            </a:fld>
            <a:endParaRPr lang="en-ZA"/>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ZA"/>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09AFE1D7-42C4-46FA-B6E9-82B482C3B445}" type="slidenum">
              <a:rPr lang="en-ZA" smtClean="0"/>
              <a:t>‹#›</a:t>
            </a:fld>
            <a:endParaRPr lang="en-ZA"/>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3D3803D-DD0A-487C-8F5B-2514B81F624C}" type="datetimeFigureOut">
              <a:rPr lang="en-ZA" smtClean="0"/>
              <a:t>2020/06/16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D3803D-DD0A-487C-8F5B-2514B81F624C}" type="datetimeFigureOut">
              <a:rPr lang="en-ZA" smtClean="0"/>
              <a:t>2020/06/16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A3D3803D-DD0A-487C-8F5B-2514B81F624C}" type="datetimeFigureOut">
              <a:rPr lang="en-ZA" smtClean="0"/>
              <a:t>2020/06/16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9AFE1D7-42C4-46FA-B6E9-82B482C3B445}" type="slidenum">
              <a:rPr lang="en-ZA" smtClean="0"/>
              <a:t>‹#›</a:t>
            </a:fld>
            <a:endParaRPr lang="en-ZA"/>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3D3803D-DD0A-487C-8F5B-2514B81F624C}" type="datetimeFigureOut">
              <a:rPr lang="en-ZA" smtClean="0"/>
              <a:t>2020/06/16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3D3803D-DD0A-487C-8F5B-2514B81F624C}" type="datetimeFigureOut">
              <a:rPr lang="en-ZA" smtClean="0"/>
              <a:t>2020/06/16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D3803D-DD0A-487C-8F5B-2514B81F624C}" type="datetimeFigureOut">
              <a:rPr lang="en-ZA" smtClean="0"/>
              <a:t>2020/06/16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A3D3803D-DD0A-487C-8F5B-2514B81F624C}" type="datetimeFigureOut">
              <a:rPr lang="en-ZA" smtClean="0"/>
              <a:t>2020/06/16</a:t>
            </a:fld>
            <a:endParaRPr lang="en-ZA"/>
          </a:p>
        </p:txBody>
      </p:sp>
      <p:sp>
        <p:nvSpPr>
          <p:cNvPr id="7" name="Slide Number Placeholder 6"/>
          <p:cNvSpPr>
            <a:spLocks noGrp="1"/>
          </p:cNvSpPr>
          <p:nvPr>
            <p:ph type="sldNum" sz="quarter" idx="12"/>
          </p:nvPr>
        </p:nvSpPr>
        <p:spPr/>
        <p:txBody>
          <a:bodyPr/>
          <a:lstStyle/>
          <a:p>
            <a:fld id="{09AFE1D7-42C4-46FA-B6E9-82B482C3B445}" type="slidenum">
              <a:rPr lang="en-ZA" smtClean="0"/>
              <a:t>‹#›</a:t>
            </a:fld>
            <a:endParaRPr lang="en-ZA"/>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ZA"/>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D3803D-DD0A-487C-8F5B-2514B81F624C}" type="datetimeFigureOut">
              <a:rPr lang="en-ZA" smtClean="0"/>
              <a:t>2020/06/16</a:t>
            </a:fld>
            <a:endParaRPr lang="en-ZA"/>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ZA"/>
          </a:p>
        </p:txBody>
      </p:sp>
      <p:sp>
        <p:nvSpPr>
          <p:cNvPr id="7" name="Slide Number Placeholder 6"/>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D3803D-DD0A-487C-8F5B-2514B81F624C}" type="datetimeFigureOut">
              <a:rPr lang="en-ZA" smtClean="0"/>
              <a:t>2020/06/16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D3803D-DD0A-487C-8F5B-2514B81F624C}" type="datetimeFigureOut">
              <a:rPr lang="en-ZA" smtClean="0"/>
              <a:t>2020/06/16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AFE1D7-42C4-46FA-B6E9-82B482C3B445}" type="slidenum">
              <a:rPr lang="en-ZA" smtClean="0"/>
              <a:t>‹#›</a:t>
            </a:fld>
            <a:endParaRPr lang="en-Z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A3D3803D-DD0A-487C-8F5B-2514B81F624C}" type="datetimeFigureOut">
              <a:rPr lang="en-ZA" smtClean="0"/>
              <a:t>2020/06/16</a:t>
            </a:fld>
            <a:endParaRPr lang="en-ZA"/>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ZA"/>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09AFE1D7-42C4-46FA-B6E9-82B482C3B445}" type="slidenum">
              <a:rPr lang="en-ZA" smtClean="0"/>
              <a:t>‹#›</a:t>
            </a:fld>
            <a:endParaRPr lang="en-ZA"/>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ZA" dirty="0" smtClean="0"/>
              <a:t>TYPES OF DISCOURSE IN WRITING</a:t>
            </a:r>
            <a:endParaRPr lang="en-ZA" dirty="0"/>
          </a:p>
        </p:txBody>
      </p:sp>
      <p:sp>
        <p:nvSpPr>
          <p:cNvPr id="3" name="Subtitle 2"/>
          <p:cNvSpPr>
            <a:spLocks noGrp="1"/>
          </p:cNvSpPr>
          <p:nvPr>
            <p:ph type="subTitle" idx="1"/>
          </p:nvPr>
        </p:nvSpPr>
        <p:spPr/>
        <p:txBody>
          <a:bodyPr/>
          <a:lstStyle/>
          <a:p>
            <a:r>
              <a:rPr lang="en-ZA" dirty="0" smtClean="0"/>
              <a:t>TYPES OF DISCOURSE </a:t>
            </a:r>
            <a:endParaRPr lang="en-ZA" dirty="0"/>
          </a:p>
        </p:txBody>
      </p:sp>
    </p:spTree>
    <p:extLst>
      <p:ext uri="{BB962C8B-B14F-4D97-AF65-F5344CB8AC3E}">
        <p14:creationId xmlns:p14="http://schemas.microsoft.com/office/powerpoint/2010/main" val="3243377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WHAT IS DISCOURSE?</a:t>
            </a:r>
            <a:endParaRPr lang="en-ZA" dirty="0"/>
          </a:p>
        </p:txBody>
      </p:sp>
      <p:sp>
        <p:nvSpPr>
          <p:cNvPr id="3" name="Content Placeholder 2"/>
          <p:cNvSpPr>
            <a:spLocks noGrp="1"/>
          </p:cNvSpPr>
          <p:nvPr>
            <p:ph idx="1"/>
          </p:nvPr>
        </p:nvSpPr>
        <p:spPr/>
        <p:txBody>
          <a:bodyPr/>
          <a:lstStyle/>
          <a:p>
            <a:r>
              <a:rPr lang="en-ZA" dirty="0" smtClean="0"/>
              <a:t>Any </a:t>
            </a:r>
            <a:r>
              <a:rPr lang="en-ZA" dirty="0"/>
              <a:t>written or spoken communication</a:t>
            </a:r>
            <a:r>
              <a:rPr lang="en-ZA" dirty="0" smtClean="0"/>
              <a:t>.</a:t>
            </a:r>
          </a:p>
          <a:p>
            <a:r>
              <a:rPr lang="en-ZA" dirty="0"/>
              <a:t>T</a:t>
            </a:r>
            <a:r>
              <a:rPr lang="en-ZA" dirty="0" smtClean="0"/>
              <a:t>he expression of thought through language.</a:t>
            </a:r>
          </a:p>
          <a:p>
            <a:endParaRPr lang="en-ZA" dirty="0"/>
          </a:p>
        </p:txBody>
      </p:sp>
    </p:spTree>
    <p:extLst>
      <p:ext uri="{BB962C8B-B14F-4D97-AF65-F5344CB8AC3E}">
        <p14:creationId xmlns:p14="http://schemas.microsoft.com/office/powerpoint/2010/main" val="30595926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TYPES OF DISCOURSE</a:t>
            </a:r>
            <a:endParaRPr lang="en-ZA" dirty="0"/>
          </a:p>
        </p:txBody>
      </p:sp>
      <p:sp>
        <p:nvSpPr>
          <p:cNvPr id="3" name="Content Placeholder 2"/>
          <p:cNvSpPr>
            <a:spLocks noGrp="1"/>
          </p:cNvSpPr>
          <p:nvPr>
            <p:ph idx="1"/>
          </p:nvPr>
        </p:nvSpPr>
        <p:spPr/>
        <p:txBody>
          <a:bodyPr/>
          <a:lstStyle/>
          <a:p>
            <a:r>
              <a:rPr lang="en-ZA" dirty="0" smtClean="0"/>
              <a:t>Descriptive</a:t>
            </a:r>
          </a:p>
          <a:p>
            <a:r>
              <a:rPr lang="en-ZA" dirty="0" smtClean="0"/>
              <a:t>Argumentative/Persuasive</a:t>
            </a:r>
          </a:p>
          <a:p>
            <a:r>
              <a:rPr lang="en-ZA" dirty="0" smtClean="0"/>
              <a:t>Analytical</a:t>
            </a:r>
          </a:p>
          <a:p>
            <a:r>
              <a:rPr lang="en-ZA" dirty="0" smtClean="0"/>
              <a:t>Expository</a:t>
            </a:r>
          </a:p>
          <a:p>
            <a:pPr marL="68580" indent="0">
              <a:buNone/>
            </a:pPr>
            <a:endParaRPr lang="en-ZA" dirty="0"/>
          </a:p>
        </p:txBody>
      </p:sp>
    </p:spTree>
    <p:extLst>
      <p:ext uri="{BB962C8B-B14F-4D97-AF65-F5344CB8AC3E}">
        <p14:creationId xmlns:p14="http://schemas.microsoft.com/office/powerpoint/2010/main" val="7533432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DESCRIPTIVE WRITING</a:t>
            </a:r>
            <a:endParaRPr lang="en-ZA" dirty="0"/>
          </a:p>
        </p:txBody>
      </p:sp>
      <p:sp>
        <p:nvSpPr>
          <p:cNvPr id="3" name="Content Placeholder 2"/>
          <p:cNvSpPr>
            <a:spLocks noGrp="1"/>
          </p:cNvSpPr>
          <p:nvPr>
            <p:ph idx="1"/>
          </p:nvPr>
        </p:nvSpPr>
        <p:spPr/>
        <p:txBody>
          <a:bodyPr/>
          <a:lstStyle/>
          <a:p>
            <a:r>
              <a:rPr lang="en-ZA" dirty="0"/>
              <a:t>Descriptive writing is where the author uses words that create a vivid image of a person, place or thing. When you write descriptively you tell a story. </a:t>
            </a:r>
            <a:endParaRPr lang="en-ZA" dirty="0" smtClean="0"/>
          </a:p>
          <a:p>
            <a:r>
              <a:rPr lang="en-ZA" dirty="0"/>
              <a:t>It </a:t>
            </a:r>
            <a:r>
              <a:rPr lang="en-ZA" dirty="0" smtClean="0"/>
              <a:t>helps </a:t>
            </a:r>
            <a:r>
              <a:rPr lang="en-ZA" dirty="0"/>
              <a:t>writing </a:t>
            </a:r>
            <a:r>
              <a:rPr lang="en-ZA" dirty="0" smtClean="0"/>
              <a:t>to be </a:t>
            </a:r>
            <a:r>
              <a:rPr lang="en-ZA" dirty="0"/>
              <a:t>more interesting and full of details</a:t>
            </a:r>
          </a:p>
          <a:p>
            <a:r>
              <a:rPr lang="en-ZA" dirty="0"/>
              <a:t>It encourages </a:t>
            </a:r>
            <a:r>
              <a:rPr lang="en-ZA" dirty="0" smtClean="0"/>
              <a:t>the </a:t>
            </a:r>
            <a:r>
              <a:rPr lang="en-ZA" dirty="0"/>
              <a:t>use </a:t>
            </a:r>
            <a:r>
              <a:rPr lang="en-ZA" dirty="0" smtClean="0"/>
              <a:t>of new </a:t>
            </a:r>
            <a:r>
              <a:rPr lang="en-ZA" dirty="0"/>
              <a:t>vocabulary </a:t>
            </a:r>
          </a:p>
          <a:p>
            <a:endParaRPr lang="en-ZA" dirty="0"/>
          </a:p>
        </p:txBody>
      </p:sp>
    </p:spTree>
    <p:extLst>
      <p:ext uri="{BB962C8B-B14F-4D97-AF65-F5344CB8AC3E}">
        <p14:creationId xmlns:p14="http://schemas.microsoft.com/office/powerpoint/2010/main" val="8680778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lstStyle/>
          <a:p>
            <a:r>
              <a:rPr lang="en-ZA" dirty="0"/>
              <a:t>Good descriptive writing often makes use of figurative language such as </a:t>
            </a:r>
            <a:r>
              <a:rPr lang="en-ZA" b="1" dirty="0"/>
              <a:t>analogies</a:t>
            </a:r>
            <a:r>
              <a:rPr lang="en-ZA" dirty="0"/>
              <a:t>, </a:t>
            </a:r>
            <a:r>
              <a:rPr lang="en-ZA" b="1" dirty="0"/>
              <a:t>similes</a:t>
            </a:r>
            <a:r>
              <a:rPr lang="en-ZA" dirty="0"/>
              <a:t> and </a:t>
            </a:r>
            <a:r>
              <a:rPr lang="en-ZA" b="1" dirty="0"/>
              <a:t>metaphors</a:t>
            </a:r>
            <a:r>
              <a:rPr lang="en-ZA" dirty="0"/>
              <a:t> to help paint the picture in the </a:t>
            </a:r>
            <a:r>
              <a:rPr lang="en-ZA" dirty="0" smtClean="0"/>
              <a:t>reader's mind</a:t>
            </a:r>
          </a:p>
          <a:p>
            <a:r>
              <a:rPr lang="en-ZA" dirty="0"/>
              <a:t>Good descriptive writing is organized. Some ways to organize descriptive writing include: chronological (time), spatial (location), and order of importance.</a:t>
            </a:r>
          </a:p>
        </p:txBody>
      </p:sp>
    </p:spTree>
    <p:extLst>
      <p:ext uri="{BB962C8B-B14F-4D97-AF65-F5344CB8AC3E}">
        <p14:creationId xmlns:p14="http://schemas.microsoft.com/office/powerpoint/2010/main" val="16922086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Argumentative Writing</a:t>
            </a:r>
            <a:endParaRPr lang="en-ZA" dirty="0"/>
          </a:p>
        </p:txBody>
      </p:sp>
      <p:sp>
        <p:nvSpPr>
          <p:cNvPr id="3" name="Content Placeholder 2"/>
          <p:cNvSpPr>
            <a:spLocks noGrp="1"/>
          </p:cNvSpPr>
          <p:nvPr>
            <p:ph idx="1"/>
          </p:nvPr>
        </p:nvSpPr>
        <p:spPr/>
        <p:txBody>
          <a:bodyPr/>
          <a:lstStyle/>
          <a:p>
            <a:r>
              <a:rPr lang="en-ZA" dirty="0"/>
              <a:t>is a type of writing that requires a writer to defend a position on a topic using evidence from personal experience, literature, historical examples, and research to support his or her viewpoint. </a:t>
            </a:r>
          </a:p>
        </p:txBody>
      </p:sp>
    </p:spTree>
    <p:extLst>
      <p:ext uri="{BB962C8B-B14F-4D97-AF65-F5344CB8AC3E}">
        <p14:creationId xmlns:p14="http://schemas.microsoft.com/office/powerpoint/2010/main" val="886599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169088"/>
          </a:xfrm>
        </p:spPr>
        <p:txBody>
          <a:bodyPr>
            <a:normAutofit fontScale="90000"/>
          </a:bodyPr>
          <a:lstStyle/>
          <a:p>
            <a:endParaRPr lang="en-ZA" dirty="0"/>
          </a:p>
        </p:txBody>
      </p:sp>
      <p:sp>
        <p:nvSpPr>
          <p:cNvPr id="3" name="Content Placeholder 2"/>
          <p:cNvSpPr>
            <a:spLocks noGrp="1"/>
          </p:cNvSpPr>
          <p:nvPr>
            <p:ph idx="1"/>
          </p:nvPr>
        </p:nvSpPr>
        <p:spPr>
          <a:xfrm>
            <a:off x="1043492" y="1628800"/>
            <a:ext cx="6777317" cy="4203829"/>
          </a:xfrm>
        </p:spPr>
        <p:txBody>
          <a:bodyPr>
            <a:normAutofit/>
          </a:bodyPr>
          <a:lstStyle/>
          <a:p>
            <a:r>
              <a:rPr lang="en-ZA" dirty="0"/>
              <a:t>You </a:t>
            </a:r>
            <a:r>
              <a:rPr lang="en-ZA" dirty="0" smtClean="0"/>
              <a:t>must </a:t>
            </a:r>
            <a:r>
              <a:rPr lang="en-ZA" dirty="0"/>
              <a:t>choose a</a:t>
            </a:r>
            <a:r>
              <a:rPr lang="en-ZA" dirty="0" smtClean="0"/>
              <a:t> side when </a:t>
            </a:r>
            <a:r>
              <a:rPr lang="en-ZA" dirty="0"/>
              <a:t>you write an argument </a:t>
            </a:r>
            <a:r>
              <a:rPr lang="en-ZA" dirty="0" smtClean="0"/>
              <a:t>paper but do not forget to acknowledge the opposing side’s argument.</a:t>
            </a:r>
          </a:p>
          <a:p>
            <a:r>
              <a:rPr lang="en-ZA" dirty="0"/>
              <a:t>By addressing the opposition you achieve the following goals</a:t>
            </a:r>
            <a:r>
              <a:rPr lang="en-ZA" dirty="0" smtClean="0"/>
              <a:t>:</a:t>
            </a:r>
          </a:p>
          <a:p>
            <a:pPr>
              <a:buFont typeface="Wingdings" panose="05000000000000000000" pitchFamily="2" charset="2"/>
              <a:buChar char="Ø"/>
            </a:pPr>
            <a:r>
              <a:rPr lang="en-ZA" dirty="0" smtClean="0"/>
              <a:t>illustrate </a:t>
            </a:r>
            <a:r>
              <a:rPr lang="en-ZA" dirty="0"/>
              <a:t>a well-rounded understanding of the topic</a:t>
            </a:r>
          </a:p>
          <a:p>
            <a:pPr>
              <a:buFont typeface="Wingdings" panose="05000000000000000000" pitchFamily="2" charset="2"/>
              <a:buChar char="Ø"/>
            </a:pPr>
            <a:r>
              <a:rPr lang="en-ZA" dirty="0"/>
              <a:t>demonstrate a lack of bias</a:t>
            </a:r>
          </a:p>
          <a:p>
            <a:endParaRPr lang="en-ZA" dirty="0"/>
          </a:p>
          <a:p>
            <a:pPr marL="68580" indent="0">
              <a:buNone/>
            </a:pPr>
            <a:endParaRPr lang="en-ZA" dirty="0" smtClean="0"/>
          </a:p>
          <a:p>
            <a:endParaRPr lang="en-ZA" dirty="0"/>
          </a:p>
        </p:txBody>
      </p:sp>
    </p:spTree>
    <p:extLst>
      <p:ext uri="{BB962C8B-B14F-4D97-AF65-F5344CB8AC3E}">
        <p14:creationId xmlns:p14="http://schemas.microsoft.com/office/powerpoint/2010/main" val="29246339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normAutofit/>
          </a:bodyPr>
          <a:lstStyle/>
          <a:p>
            <a:endParaRPr lang="en-ZA" dirty="0"/>
          </a:p>
          <a:p>
            <a:pPr>
              <a:buFont typeface="Wingdings" panose="05000000000000000000" pitchFamily="2" charset="2"/>
              <a:buChar char="Ø"/>
            </a:pPr>
            <a:r>
              <a:rPr lang="en-ZA" dirty="0" smtClean="0"/>
              <a:t>enhance </a:t>
            </a:r>
            <a:r>
              <a:rPr lang="en-ZA" dirty="0"/>
              <a:t>the level of trust that the reader has for both you and your opinion</a:t>
            </a:r>
          </a:p>
          <a:p>
            <a:pPr>
              <a:buFont typeface="Wingdings" panose="05000000000000000000" pitchFamily="2" charset="2"/>
              <a:buChar char="Ø"/>
            </a:pPr>
            <a:r>
              <a:rPr lang="en-ZA" dirty="0"/>
              <a:t>give yourself the opportunity to refute any arguments the opposition may have</a:t>
            </a:r>
          </a:p>
          <a:p>
            <a:pPr>
              <a:buFont typeface="Wingdings" panose="05000000000000000000" pitchFamily="2" charset="2"/>
              <a:buChar char="Ø"/>
            </a:pPr>
            <a:r>
              <a:rPr lang="en-ZA" dirty="0"/>
              <a:t>strengthen your argument by diminishing your opposition's argument</a:t>
            </a:r>
          </a:p>
        </p:txBody>
      </p:sp>
    </p:spTree>
    <p:extLst>
      <p:ext uri="{BB962C8B-B14F-4D97-AF65-F5344CB8AC3E}">
        <p14:creationId xmlns:p14="http://schemas.microsoft.com/office/powerpoint/2010/main" val="11863788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Do..</a:t>
            </a:r>
            <a:endParaRPr lang="en-ZA" dirty="0"/>
          </a:p>
        </p:txBody>
      </p:sp>
      <p:sp>
        <p:nvSpPr>
          <p:cNvPr id="3" name="Content Placeholder 2"/>
          <p:cNvSpPr>
            <a:spLocks noGrp="1"/>
          </p:cNvSpPr>
          <p:nvPr>
            <p:ph idx="1"/>
          </p:nvPr>
        </p:nvSpPr>
        <p:spPr>
          <a:xfrm>
            <a:off x="1043492" y="2276872"/>
            <a:ext cx="6777317" cy="3555757"/>
          </a:xfrm>
        </p:spPr>
        <p:txBody>
          <a:bodyPr>
            <a:normAutofit/>
          </a:bodyPr>
          <a:lstStyle/>
          <a:p>
            <a:pPr marL="68580" indent="0">
              <a:buNone/>
            </a:pPr>
            <a:r>
              <a:rPr lang="en-ZA" dirty="0"/>
              <a:t>	</a:t>
            </a:r>
          </a:p>
          <a:p>
            <a:r>
              <a:rPr lang="en-ZA" dirty="0" smtClean="0"/>
              <a:t>use </a:t>
            </a:r>
            <a:r>
              <a:rPr lang="en-ZA" dirty="0"/>
              <a:t>passionate </a:t>
            </a:r>
            <a:r>
              <a:rPr lang="en-ZA" dirty="0" smtClean="0"/>
              <a:t>language</a:t>
            </a:r>
            <a:endParaRPr lang="en-ZA" dirty="0"/>
          </a:p>
          <a:p>
            <a:r>
              <a:rPr lang="en-ZA" dirty="0" smtClean="0"/>
              <a:t>cite </a:t>
            </a:r>
            <a:r>
              <a:rPr lang="en-ZA" dirty="0"/>
              <a:t>experts who agree with </a:t>
            </a:r>
            <a:r>
              <a:rPr lang="en-ZA" dirty="0" smtClean="0"/>
              <a:t>you</a:t>
            </a:r>
            <a:endParaRPr lang="en-ZA" dirty="0"/>
          </a:p>
          <a:p>
            <a:r>
              <a:rPr lang="en-ZA" dirty="0" smtClean="0"/>
              <a:t>provide </a:t>
            </a:r>
            <a:r>
              <a:rPr lang="en-ZA" dirty="0"/>
              <a:t>facts, evidence, and statistics to support your </a:t>
            </a:r>
            <a:r>
              <a:rPr lang="en-ZA" dirty="0" smtClean="0"/>
              <a:t>position</a:t>
            </a:r>
            <a:endParaRPr lang="en-ZA" dirty="0"/>
          </a:p>
          <a:p>
            <a:r>
              <a:rPr lang="en-ZA" dirty="0" smtClean="0"/>
              <a:t>provide </a:t>
            </a:r>
            <a:r>
              <a:rPr lang="en-ZA" dirty="0"/>
              <a:t>reasons to support your </a:t>
            </a:r>
            <a:r>
              <a:rPr lang="en-ZA" dirty="0" smtClean="0"/>
              <a:t>claim</a:t>
            </a:r>
            <a:endParaRPr lang="en-ZA" dirty="0"/>
          </a:p>
          <a:p>
            <a:r>
              <a:rPr lang="en-ZA" dirty="0" smtClean="0"/>
              <a:t>address </a:t>
            </a:r>
            <a:r>
              <a:rPr lang="en-ZA" dirty="0"/>
              <a:t>the opposing side’s argument and refute their claims</a:t>
            </a:r>
          </a:p>
          <a:p>
            <a:endParaRPr lang="en-ZA" dirty="0"/>
          </a:p>
        </p:txBody>
      </p:sp>
    </p:spTree>
    <p:extLst>
      <p:ext uri="{BB962C8B-B14F-4D97-AF65-F5344CB8AC3E}">
        <p14:creationId xmlns:p14="http://schemas.microsoft.com/office/powerpoint/2010/main" val="862117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764704"/>
            <a:ext cx="7024744" cy="720080"/>
          </a:xfrm>
        </p:spPr>
        <p:txBody>
          <a:bodyPr>
            <a:normAutofit/>
          </a:bodyPr>
          <a:lstStyle/>
          <a:p>
            <a:r>
              <a:rPr lang="en-ZA" dirty="0" smtClean="0"/>
              <a:t>Don’t…</a:t>
            </a:r>
            <a:endParaRPr lang="en-ZA" dirty="0"/>
          </a:p>
        </p:txBody>
      </p:sp>
      <p:sp>
        <p:nvSpPr>
          <p:cNvPr id="3" name="Content Placeholder 2"/>
          <p:cNvSpPr>
            <a:spLocks noGrp="1"/>
          </p:cNvSpPr>
          <p:nvPr>
            <p:ph idx="1"/>
          </p:nvPr>
        </p:nvSpPr>
        <p:spPr>
          <a:xfrm>
            <a:off x="1043492" y="1628800"/>
            <a:ext cx="7200916" cy="4680520"/>
          </a:xfrm>
        </p:spPr>
        <p:txBody>
          <a:bodyPr>
            <a:normAutofit/>
          </a:bodyPr>
          <a:lstStyle/>
          <a:p>
            <a:pPr marL="68580" indent="0">
              <a:buNone/>
            </a:pPr>
            <a:endParaRPr lang="en-ZA" dirty="0" smtClean="0"/>
          </a:p>
          <a:p>
            <a:r>
              <a:rPr lang="en-ZA" dirty="0"/>
              <a:t>use weak qualifiers like “I believe,” “I feel,” or “I think</a:t>
            </a:r>
            <a:r>
              <a:rPr lang="en-ZA" dirty="0" smtClean="0"/>
              <a:t>”</a:t>
            </a:r>
          </a:p>
          <a:p>
            <a:r>
              <a:rPr lang="en-ZA" dirty="0" smtClean="0"/>
              <a:t>claim </a:t>
            </a:r>
            <a:r>
              <a:rPr lang="en-ZA" dirty="0"/>
              <a:t>to be an expert if </a:t>
            </a:r>
            <a:r>
              <a:rPr lang="en-ZA" dirty="0" smtClean="0"/>
              <a:t>you are </a:t>
            </a:r>
            <a:r>
              <a:rPr lang="en-ZA" dirty="0"/>
              <a:t>not </a:t>
            </a:r>
            <a:r>
              <a:rPr lang="en-ZA" dirty="0" smtClean="0"/>
              <a:t>one</a:t>
            </a:r>
          </a:p>
          <a:p>
            <a:r>
              <a:rPr lang="en-ZA" dirty="0"/>
              <a:t>use strictly </a:t>
            </a:r>
            <a:r>
              <a:rPr lang="en-ZA" dirty="0" smtClean="0"/>
              <a:t>moral </a:t>
            </a:r>
            <a:r>
              <a:rPr lang="en-ZA" dirty="0"/>
              <a:t>claims as support for your </a:t>
            </a:r>
            <a:r>
              <a:rPr lang="en-ZA" dirty="0" smtClean="0"/>
              <a:t>argument</a:t>
            </a:r>
          </a:p>
          <a:p>
            <a:r>
              <a:rPr lang="en-ZA" dirty="0"/>
              <a:t>assume the audience will agree with you about any aspect of your </a:t>
            </a:r>
            <a:r>
              <a:rPr lang="en-ZA" dirty="0" smtClean="0"/>
              <a:t>argument</a:t>
            </a:r>
          </a:p>
          <a:p>
            <a:r>
              <a:rPr lang="en-ZA" dirty="0"/>
              <a:t>…attempt to make others look bad (i.e. Mr. Smith is ignorant—don’t listen to him!)</a:t>
            </a:r>
          </a:p>
          <a:p>
            <a:endParaRPr lang="en-ZA" dirty="0"/>
          </a:p>
          <a:p>
            <a:endParaRPr lang="en-ZA" dirty="0"/>
          </a:p>
          <a:p>
            <a:endParaRPr lang="en-ZA" dirty="0"/>
          </a:p>
          <a:p>
            <a:endParaRPr lang="en-ZA" dirty="0"/>
          </a:p>
          <a:p>
            <a:endParaRPr lang="en-ZA" dirty="0"/>
          </a:p>
          <a:p>
            <a:endParaRPr lang="en-ZA" dirty="0"/>
          </a:p>
        </p:txBody>
      </p:sp>
    </p:spTree>
    <p:extLst>
      <p:ext uri="{BB962C8B-B14F-4D97-AF65-F5344CB8AC3E}">
        <p14:creationId xmlns:p14="http://schemas.microsoft.com/office/powerpoint/2010/main" val="594544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Expository Writing</a:t>
            </a:r>
            <a:endParaRPr lang="en-ZA" dirty="0"/>
          </a:p>
        </p:txBody>
      </p:sp>
      <p:sp>
        <p:nvSpPr>
          <p:cNvPr id="3" name="Content Placeholder 2"/>
          <p:cNvSpPr>
            <a:spLocks noGrp="1"/>
          </p:cNvSpPr>
          <p:nvPr>
            <p:ph idx="1"/>
          </p:nvPr>
        </p:nvSpPr>
        <p:spPr/>
        <p:txBody>
          <a:bodyPr>
            <a:normAutofit/>
          </a:bodyPr>
          <a:lstStyle/>
          <a:p>
            <a:r>
              <a:rPr lang="en-ZA" dirty="0"/>
              <a:t>Expository writing is a type of writing that is used to </a:t>
            </a:r>
            <a:r>
              <a:rPr lang="en-ZA" dirty="0" smtClean="0"/>
              <a:t>explain and give information. The </a:t>
            </a:r>
            <a:r>
              <a:rPr lang="en-ZA" dirty="0"/>
              <a:t>writer of an expository text cannot assume that the </a:t>
            </a:r>
            <a:r>
              <a:rPr lang="en-ZA" dirty="0" smtClean="0"/>
              <a:t>reader </a:t>
            </a:r>
            <a:r>
              <a:rPr lang="en-ZA" dirty="0"/>
              <a:t>has prior knowledge or prior understanding of the topic that is being </a:t>
            </a:r>
            <a:r>
              <a:rPr lang="en-ZA" dirty="0" smtClean="0"/>
              <a:t>discussed.</a:t>
            </a:r>
            <a:endParaRPr lang="en-ZA" dirty="0"/>
          </a:p>
        </p:txBody>
      </p:sp>
    </p:spTree>
    <p:extLst>
      <p:ext uri="{BB962C8B-B14F-4D97-AF65-F5344CB8AC3E}">
        <p14:creationId xmlns:p14="http://schemas.microsoft.com/office/powerpoint/2010/main" val="281911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Expository writing….</a:t>
            </a:r>
            <a:endParaRPr lang="en-ZA" dirty="0"/>
          </a:p>
        </p:txBody>
      </p:sp>
      <p:sp>
        <p:nvSpPr>
          <p:cNvPr id="3" name="Content Placeholder 2"/>
          <p:cNvSpPr>
            <a:spLocks noGrp="1"/>
          </p:cNvSpPr>
          <p:nvPr>
            <p:ph idx="1"/>
          </p:nvPr>
        </p:nvSpPr>
        <p:spPr/>
        <p:txBody>
          <a:bodyPr>
            <a:normAutofit fontScale="92500" lnSpcReduction="10000"/>
          </a:bodyPr>
          <a:lstStyle/>
          <a:p>
            <a:pPr lvl="0"/>
            <a:r>
              <a:rPr lang="en-ZA" dirty="0"/>
              <a:t>Informs the reader by presenting facts or ideas in direct and concise language that is neither colourful nor figurative.</a:t>
            </a:r>
          </a:p>
          <a:p>
            <a:pPr lvl="0"/>
            <a:r>
              <a:rPr lang="en-ZA" dirty="0"/>
              <a:t>It attempts to explain to the reader what </a:t>
            </a:r>
            <a:r>
              <a:rPr lang="en-ZA" dirty="0" smtClean="0"/>
              <a:t>the subject </a:t>
            </a:r>
            <a:r>
              <a:rPr lang="en-ZA" dirty="0"/>
              <a:t>is, how it works, and how it relates to something else.</a:t>
            </a:r>
          </a:p>
          <a:p>
            <a:pPr lvl="0"/>
            <a:r>
              <a:rPr lang="en-ZA" dirty="0"/>
              <a:t>It is aimed at the reader’s understanding, rather than at his imagination or emotions.</a:t>
            </a:r>
          </a:p>
          <a:p>
            <a:pPr lvl="0"/>
            <a:r>
              <a:rPr lang="en-ZA" dirty="0"/>
              <a:t>It is a sharing of the writer’s knowledge with the reader</a:t>
            </a:r>
            <a:r>
              <a:rPr lang="en-ZA" dirty="0" smtClean="0"/>
              <a:t>.</a:t>
            </a:r>
            <a:endParaRPr lang="en-ZA" dirty="0"/>
          </a:p>
        </p:txBody>
      </p:sp>
    </p:spTree>
    <p:extLst>
      <p:ext uri="{BB962C8B-B14F-4D97-AF65-F5344CB8AC3E}">
        <p14:creationId xmlns:p14="http://schemas.microsoft.com/office/powerpoint/2010/main" val="13088738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normAutofit fontScale="92500" lnSpcReduction="10000"/>
          </a:bodyPr>
          <a:lstStyle/>
          <a:p>
            <a:pPr lvl="0"/>
            <a:r>
              <a:rPr lang="en-ZA" dirty="0"/>
              <a:t>It gives accurate and complete information to the reader to </a:t>
            </a:r>
            <a:r>
              <a:rPr lang="en-ZA" dirty="0" smtClean="0"/>
              <a:t>analyse</a:t>
            </a:r>
            <a:r>
              <a:rPr lang="en-ZA" dirty="0"/>
              <a:t>.</a:t>
            </a:r>
          </a:p>
          <a:p>
            <a:pPr lvl="0"/>
            <a:r>
              <a:rPr lang="en-ZA" dirty="0"/>
              <a:t>It is the most effective form of discourse for explaining difficult subjects.</a:t>
            </a:r>
          </a:p>
          <a:p>
            <a:pPr lvl="0"/>
            <a:r>
              <a:rPr lang="en-ZA" dirty="0"/>
              <a:t>It is widely used in technical writing; e.g. descriptions, reports etc.</a:t>
            </a:r>
          </a:p>
          <a:p>
            <a:pPr lvl="0"/>
            <a:r>
              <a:rPr lang="en-ZA" dirty="0"/>
              <a:t> In expository writing, you should have a thorough knowledge of your subject; but bear in mind, the reader’s needs and your objective.</a:t>
            </a:r>
          </a:p>
        </p:txBody>
      </p:sp>
    </p:spTree>
    <p:extLst>
      <p:ext uri="{BB962C8B-B14F-4D97-AF65-F5344CB8AC3E}">
        <p14:creationId xmlns:p14="http://schemas.microsoft.com/office/powerpoint/2010/main" val="34466514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Analytical Writing</a:t>
            </a:r>
            <a:endParaRPr lang="en-ZA" dirty="0"/>
          </a:p>
        </p:txBody>
      </p:sp>
      <p:sp>
        <p:nvSpPr>
          <p:cNvPr id="3" name="Content Placeholder 2"/>
          <p:cNvSpPr>
            <a:spLocks noGrp="1"/>
          </p:cNvSpPr>
          <p:nvPr>
            <p:ph idx="1"/>
          </p:nvPr>
        </p:nvSpPr>
        <p:spPr/>
        <p:txBody>
          <a:bodyPr>
            <a:normAutofit/>
          </a:bodyPr>
          <a:lstStyle/>
          <a:p>
            <a:r>
              <a:rPr lang="en-ZA" dirty="0"/>
              <a:t>Analytical writing is commonly required in academic writing to show relationships between pieces of information. It is used to compare and contrast, assess or </a:t>
            </a:r>
            <a:r>
              <a:rPr lang="en-ZA" dirty="0" smtClean="0"/>
              <a:t>evaluate. </a:t>
            </a:r>
            <a:endParaRPr lang="en-ZA" dirty="0"/>
          </a:p>
          <a:p>
            <a:r>
              <a:rPr lang="en-ZA" dirty="0"/>
              <a:t>It assesses your ability to articulate and support complex ideas, construct and evaluate arguments, and sustain a focused and coherent discussion.</a:t>
            </a:r>
          </a:p>
        </p:txBody>
      </p:sp>
    </p:spTree>
    <p:extLst>
      <p:ext uri="{BB962C8B-B14F-4D97-AF65-F5344CB8AC3E}">
        <p14:creationId xmlns:p14="http://schemas.microsoft.com/office/powerpoint/2010/main" val="7520852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dirty="0" smtClean="0"/>
              <a:t>Introduction and Presentation </a:t>
            </a:r>
            <a:r>
              <a:rPr lang="en-ZA" dirty="0"/>
              <a:t>of argument </a:t>
            </a:r>
          </a:p>
        </p:txBody>
      </p:sp>
      <p:sp>
        <p:nvSpPr>
          <p:cNvPr id="3" name="Content Placeholder 2"/>
          <p:cNvSpPr>
            <a:spLocks noGrp="1"/>
          </p:cNvSpPr>
          <p:nvPr>
            <p:ph idx="1"/>
          </p:nvPr>
        </p:nvSpPr>
        <p:spPr/>
        <p:txBody>
          <a:bodyPr/>
          <a:lstStyle/>
          <a:p>
            <a:r>
              <a:rPr lang="en-ZA" dirty="0"/>
              <a:t>In your introduction you </a:t>
            </a:r>
            <a:r>
              <a:rPr lang="en-ZA" dirty="0" smtClean="0"/>
              <a:t>must define </a:t>
            </a:r>
            <a:r>
              <a:rPr lang="en-ZA" dirty="0"/>
              <a:t>the </a:t>
            </a:r>
            <a:r>
              <a:rPr lang="en-ZA" dirty="0" smtClean="0"/>
              <a:t>idea(s) </a:t>
            </a:r>
            <a:r>
              <a:rPr lang="en-ZA" dirty="0"/>
              <a:t>or </a:t>
            </a:r>
            <a:r>
              <a:rPr lang="en-ZA" dirty="0" smtClean="0"/>
              <a:t>issue(s) that </a:t>
            </a:r>
            <a:r>
              <a:rPr lang="en-ZA" dirty="0"/>
              <a:t>you wish to examine in your </a:t>
            </a:r>
            <a:r>
              <a:rPr lang="en-ZA" dirty="0" smtClean="0"/>
              <a:t>analysis.</a:t>
            </a:r>
          </a:p>
          <a:p>
            <a:r>
              <a:rPr lang="en-ZA" dirty="0"/>
              <a:t>This is sometimes called the thesis or research question.</a:t>
            </a:r>
          </a:p>
        </p:txBody>
      </p:sp>
    </p:spTree>
    <p:extLst>
      <p:ext uri="{BB962C8B-B14F-4D97-AF65-F5344CB8AC3E}">
        <p14:creationId xmlns:p14="http://schemas.microsoft.com/office/powerpoint/2010/main" val="25696347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i="1" dirty="0"/>
              <a:t>Analysis of the text (the longest part of the essay)</a:t>
            </a:r>
            <a:r>
              <a:rPr lang="en-ZA" dirty="0"/>
              <a:t> </a:t>
            </a:r>
          </a:p>
        </p:txBody>
      </p:sp>
      <p:sp>
        <p:nvSpPr>
          <p:cNvPr id="3" name="Content Placeholder 2"/>
          <p:cNvSpPr>
            <a:spLocks noGrp="1"/>
          </p:cNvSpPr>
          <p:nvPr>
            <p:ph idx="1"/>
          </p:nvPr>
        </p:nvSpPr>
        <p:spPr/>
        <p:txBody>
          <a:bodyPr/>
          <a:lstStyle/>
          <a:p>
            <a:r>
              <a:rPr lang="en-ZA" dirty="0"/>
              <a:t>The issue you have chosen to </a:t>
            </a:r>
            <a:r>
              <a:rPr lang="en-ZA" dirty="0" smtClean="0"/>
              <a:t>analyse </a:t>
            </a:r>
            <a:r>
              <a:rPr lang="en-ZA" dirty="0"/>
              <a:t>is connected to your argument. After stating the problem, present your </a:t>
            </a:r>
            <a:r>
              <a:rPr lang="en-ZA" dirty="0" smtClean="0"/>
              <a:t>argument</a:t>
            </a:r>
          </a:p>
          <a:p>
            <a:pPr lvl="0"/>
            <a:r>
              <a:rPr lang="en-ZA" dirty="0"/>
              <a:t>Do not forget to support your assumptions with examples and reasonable judgment.</a:t>
            </a:r>
          </a:p>
          <a:p>
            <a:endParaRPr lang="en-ZA" dirty="0"/>
          </a:p>
        </p:txBody>
      </p:sp>
    </p:spTree>
    <p:extLst>
      <p:ext uri="{BB962C8B-B14F-4D97-AF65-F5344CB8AC3E}">
        <p14:creationId xmlns:p14="http://schemas.microsoft.com/office/powerpoint/2010/main" val="1699724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i="1" dirty="0"/>
              <a:t>Personal response</a:t>
            </a:r>
            <a:endParaRPr lang="en-ZA" dirty="0"/>
          </a:p>
        </p:txBody>
      </p:sp>
      <p:sp>
        <p:nvSpPr>
          <p:cNvPr id="3" name="Content Placeholder 2"/>
          <p:cNvSpPr>
            <a:spLocks noGrp="1"/>
          </p:cNvSpPr>
          <p:nvPr>
            <p:ph idx="1"/>
          </p:nvPr>
        </p:nvSpPr>
        <p:spPr/>
        <p:txBody>
          <a:bodyPr>
            <a:normAutofit/>
          </a:bodyPr>
          <a:lstStyle/>
          <a:p>
            <a:r>
              <a:rPr lang="en-ZA" dirty="0" smtClean="0"/>
              <a:t>Your </a:t>
            </a:r>
            <a:r>
              <a:rPr lang="en-ZA" dirty="0"/>
              <a:t>personal response will show a deeper understanding of the text </a:t>
            </a:r>
            <a:r>
              <a:rPr lang="en-ZA" dirty="0" smtClean="0"/>
              <a:t>. </a:t>
            </a:r>
          </a:p>
          <a:p>
            <a:r>
              <a:rPr lang="en-ZA" dirty="0" smtClean="0"/>
              <a:t>Do </a:t>
            </a:r>
            <a:r>
              <a:rPr lang="en-ZA" dirty="0"/>
              <a:t>not make the mistake of thinking that you only have to have a positive response to a text. If a writer is trying to convince you of something but fails to do so, in your opinion, your </a:t>
            </a:r>
            <a:r>
              <a:rPr lang="en-ZA" b="1" dirty="0"/>
              <a:t>critical</a:t>
            </a:r>
            <a:r>
              <a:rPr lang="en-ZA" dirty="0"/>
              <a:t> personal response can be very enlightening. </a:t>
            </a:r>
          </a:p>
        </p:txBody>
      </p:sp>
    </p:spTree>
    <p:extLst>
      <p:ext uri="{BB962C8B-B14F-4D97-AF65-F5344CB8AC3E}">
        <p14:creationId xmlns:p14="http://schemas.microsoft.com/office/powerpoint/2010/main" val="953297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lstStyle/>
          <a:p>
            <a:r>
              <a:rPr lang="en-ZA" dirty="0" smtClean="0"/>
              <a:t>Base </a:t>
            </a:r>
            <a:r>
              <a:rPr lang="en-ZA" dirty="0"/>
              <a:t>any objections on the text and use evidence from the text. Personal response should be in evidence throughout the essay, not tacked on at the end. </a:t>
            </a:r>
          </a:p>
        </p:txBody>
      </p:sp>
    </p:spTree>
    <p:extLst>
      <p:ext uri="{BB962C8B-B14F-4D97-AF65-F5344CB8AC3E}">
        <p14:creationId xmlns:p14="http://schemas.microsoft.com/office/powerpoint/2010/main" val="26728766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Conclusion</a:t>
            </a:r>
            <a:endParaRPr lang="en-ZA" dirty="0"/>
          </a:p>
        </p:txBody>
      </p:sp>
      <p:sp>
        <p:nvSpPr>
          <p:cNvPr id="3" name="Content Placeholder 2"/>
          <p:cNvSpPr>
            <a:spLocks noGrp="1"/>
          </p:cNvSpPr>
          <p:nvPr>
            <p:ph idx="1"/>
          </p:nvPr>
        </p:nvSpPr>
        <p:spPr/>
        <p:txBody>
          <a:bodyPr/>
          <a:lstStyle/>
          <a:p>
            <a:r>
              <a:rPr lang="en-ZA" dirty="0"/>
              <a:t>Your conclusion should explain the relation between the </a:t>
            </a:r>
            <a:r>
              <a:rPr lang="en-ZA" dirty="0" smtClean="0"/>
              <a:t>analysed </a:t>
            </a:r>
            <a:r>
              <a:rPr lang="en-ZA" dirty="0"/>
              <a:t>text and the presented argument.</a:t>
            </a:r>
          </a:p>
        </p:txBody>
      </p:sp>
    </p:spTree>
    <p:extLst>
      <p:ext uri="{BB962C8B-B14F-4D97-AF65-F5344CB8AC3E}">
        <p14:creationId xmlns:p14="http://schemas.microsoft.com/office/powerpoint/2010/main" val="25370183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To Sum Up…</a:t>
            </a:r>
            <a:endParaRPr lang="en-ZA" dirty="0"/>
          </a:p>
        </p:txBody>
      </p:sp>
      <p:sp>
        <p:nvSpPr>
          <p:cNvPr id="3" name="Content Placeholder 2"/>
          <p:cNvSpPr>
            <a:spLocks noGrp="1"/>
          </p:cNvSpPr>
          <p:nvPr>
            <p:ph idx="1"/>
          </p:nvPr>
        </p:nvSpPr>
        <p:spPr/>
        <p:txBody>
          <a:bodyPr/>
          <a:lstStyle/>
          <a:p>
            <a:pPr lvl="0"/>
            <a:r>
              <a:rPr lang="en-ZA" dirty="0"/>
              <a:t>Analysis does not mean retelling the story. Many students fall into the trap of telling the reader what is happening in the text instead of </a:t>
            </a:r>
            <a:r>
              <a:rPr lang="en-ZA" dirty="0" smtClean="0"/>
              <a:t>analysing </a:t>
            </a:r>
            <a:r>
              <a:rPr lang="en-ZA" dirty="0"/>
              <a:t>it</a:t>
            </a:r>
            <a:r>
              <a:rPr lang="en-ZA" dirty="0" smtClean="0"/>
              <a:t>.</a:t>
            </a:r>
          </a:p>
          <a:p>
            <a:pPr lvl="0"/>
            <a:r>
              <a:rPr lang="en-ZA" dirty="0" smtClean="0"/>
              <a:t> </a:t>
            </a:r>
            <a:r>
              <a:rPr lang="en-ZA" dirty="0"/>
              <a:t>Analysis aims to explain how the writer makes us see what he or she wants us to see, the effect of the writing techniques, the text’s themes and your personal response to these.</a:t>
            </a:r>
          </a:p>
          <a:p>
            <a:endParaRPr lang="en-ZA" dirty="0"/>
          </a:p>
        </p:txBody>
      </p:sp>
    </p:spTree>
    <p:extLst>
      <p:ext uri="{BB962C8B-B14F-4D97-AF65-F5344CB8AC3E}">
        <p14:creationId xmlns:p14="http://schemas.microsoft.com/office/powerpoint/2010/main" val="252559842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289</TotalTime>
  <Words>823</Words>
  <Application>Microsoft Office PowerPoint</Application>
  <PresentationFormat>On-screen Show (4:3)</PresentationFormat>
  <Paragraphs>74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Century Gothic</vt:lpstr>
      <vt:lpstr>Wingdings</vt:lpstr>
      <vt:lpstr>Wingdings 2</vt:lpstr>
      <vt:lpstr>Austin</vt:lpstr>
      <vt:lpstr>TYPES OF DISCOURSE IN WRITING</vt:lpstr>
      <vt:lpstr>WHAT IS DISCOURSE?</vt:lpstr>
      <vt:lpstr>TYPES OF DISCOURSE</vt:lpstr>
      <vt:lpstr>DESCRIPTIVE WRITING</vt:lpstr>
      <vt:lpstr>PowerPoint Presentation</vt:lpstr>
      <vt:lpstr>Argumentative Writing</vt:lpstr>
      <vt:lpstr>PowerPoint Presentation</vt:lpstr>
      <vt:lpstr>PowerPoint Presentation</vt:lpstr>
      <vt:lpstr>Do..</vt:lpstr>
      <vt:lpstr>Don’t…</vt:lpstr>
      <vt:lpstr>Expository Writing</vt:lpstr>
      <vt:lpstr>Expository writing….</vt:lpstr>
      <vt:lpstr>PowerPoint Presentation</vt:lpstr>
      <vt:lpstr>Analytical Writing</vt:lpstr>
      <vt:lpstr>Introduction and Presentation of argument </vt:lpstr>
      <vt:lpstr>Analysis of the text (the longest part of the essay) </vt:lpstr>
      <vt:lpstr>Personal response</vt:lpstr>
      <vt:lpstr>PowerPoint Presentation</vt:lpstr>
      <vt:lpstr>Conclusion</vt:lpstr>
      <vt:lpstr>To Sum Up…</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ESSAY WRITING</dc:title>
  <dc:creator>Kelebogile Phalaagae</dc:creator>
  <cp:lastModifiedBy>Rejoice Morwamang</cp:lastModifiedBy>
  <cp:revision>16</cp:revision>
  <dcterms:created xsi:type="dcterms:W3CDTF">2016-08-02T12:55:49Z</dcterms:created>
  <dcterms:modified xsi:type="dcterms:W3CDTF">2020-06-16T11:34:06Z</dcterms:modified>
</cp:coreProperties>
</file>
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80" r:id="rId3"/>
    <p:sldId id="257" r:id="rId4"/>
    <p:sldId id="258" r:id="rId5"/>
    <p:sldId id="259" r:id="rId6"/>
    <p:sldId id="260" r:id="rId7"/>
    <p:sldId id="262" r:id="rId8"/>
    <p:sldId id="263" r:id="rId9"/>
    <p:sldId id="264" r:id="rId10"/>
    <p:sldId id="265" r:id="rId11"/>
    <p:sldId id="266" r:id="rId12"/>
    <p:sldId id="282" r:id="rId13"/>
    <p:sldId id="268" r:id="rId14"/>
    <p:sldId id="269" r:id="rId15"/>
    <p:sldId id="270" r:id="rId16"/>
    <p:sldId id="281" r:id="rId17"/>
    <p:sldId id="273" r:id="rId18"/>
    <p:sldId id="274" r:id="rId19"/>
    <p:sldId id="275" r:id="rId20"/>
    <p:sldId id="276" r:id="rId21"/>
    <p:sldId id="278"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83" d="100"/>
          <a:sy n="83" d="100"/>
        </p:scale>
        <p:origin x="8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en-ZA" sz="2000"/>
              <a:t>PRODUCTION POSSIBILITIES</a:t>
            </a:r>
            <a:r>
              <a:rPr lang="en-ZA" sz="2000" baseline="0"/>
              <a:t> CURVE</a:t>
            </a:r>
            <a:endParaRPr lang="en-ZA" sz="2000"/>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spPr>
            <a:ln w="19050"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Sheet2!$C$4:$C$10</c:f>
              <c:numCache>
                <c:formatCode>General</c:formatCode>
                <c:ptCount val="7"/>
                <c:pt idx="0">
                  <c:v>60</c:v>
                </c:pt>
                <c:pt idx="1">
                  <c:v>50</c:v>
                </c:pt>
                <c:pt idx="2">
                  <c:v>40</c:v>
                </c:pt>
                <c:pt idx="3">
                  <c:v>30</c:v>
                </c:pt>
                <c:pt idx="4">
                  <c:v>20</c:v>
                </c:pt>
                <c:pt idx="5">
                  <c:v>10</c:v>
                </c:pt>
                <c:pt idx="6">
                  <c:v>0</c:v>
                </c:pt>
              </c:numCache>
            </c:numRef>
          </c:xVal>
          <c:yVal>
            <c:numRef>
              <c:f>Sheet2!$D$4:$D$10</c:f>
              <c:numCache>
                <c:formatCode>General</c:formatCode>
                <c:ptCount val="7"/>
                <c:pt idx="0">
                  <c:v>0</c:v>
                </c:pt>
                <c:pt idx="1">
                  <c:v>60</c:v>
                </c:pt>
                <c:pt idx="2">
                  <c:v>80</c:v>
                </c:pt>
                <c:pt idx="3">
                  <c:v>100</c:v>
                </c:pt>
                <c:pt idx="4">
                  <c:v>110</c:v>
                </c:pt>
                <c:pt idx="5">
                  <c:v>120</c:v>
                </c:pt>
                <c:pt idx="6">
                  <c:v>130</c:v>
                </c:pt>
              </c:numCache>
            </c:numRef>
          </c:yVal>
          <c:smooth val="1"/>
          <c:extLst>
            <c:ext xmlns:c16="http://schemas.microsoft.com/office/drawing/2014/chart" uri="{C3380CC4-5D6E-409C-BE32-E72D297353CC}">
              <c16:uniqueId val="{00000000-EF4D-4F09-AA0E-866B7496809F}"/>
            </c:ext>
          </c:extLst>
        </c:ser>
        <c:dLbls>
          <c:showLegendKey val="0"/>
          <c:showVal val="0"/>
          <c:showCatName val="0"/>
          <c:showSerName val="0"/>
          <c:showPercent val="0"/>
          <c:showBubbleSize val="0"/>
        </c:dLbls>
        <c:axId val="379231744"/>
        <c:axId val="379231352"/>
      </c:scatterChart>
      <c:valAx>
        <c:axId val="37923174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r>
                  <a:rPr lang="en-ZA" sz="2000" dirty="0"/>
                  <a:t>MANUFACTURING</a:t>
                </a:r>
              </a:p>
            </c:rich>
          </c:tx>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379231352"/>
        <c:crosses val="autoZero"/>
        <c:crossBetween val="midCat"/>
      </c:valAx>
      <c:valAx>
        <c:axId val="3792313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r>
                  <a:rPr lang="en-ZA" sz="2000"/>
                  <a:t>CONSTRUCTION</a:t>
                </a:r>
              </a:p>
            </c:rich>
          </c:tx>
          <c:overlay val="0"/>
          <c:spPr>
            <a:noFill/>
            <a:ln>
              <a:noFill/>
            </a:ln>
            <a:effectLst/>
          </c:spPr>
          <c:txPr>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37923174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b="1"/>
              <a:t>Production Possibilities Frontier/Curve</a:t>
            </a: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Sheet2!$E$5</c:f>
              <c:strCache>
                <c:ptCount val="1"/>
                <c:pt idx="0">
                  <c:v>Soya Beans Output</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Sheet2!$D$6:$D$18</c:f>
              <c:numCache>
                <c:formatCode>General</c:formatCode>
                <c:ptCount val="13"/>
                <c:pt idx="0">
                  <c:v>0</c:v>
                </c:pt>
                <c:pt idx="1">
                  <c:v>1</c:v>
                </c:pt>
                <c:pt idx="2">
                  <c:v>2</c:v>
                </c:pt>
                <c:pt idx="3">
                  <c:v>3</c:v>
                </c:pt>
                <c:pt idx="4">
                  <c:v>4</c:v>
                </c:pt>
                <c:pt idx="5">
                  <c:v>5</c:v>
                </c:pt>
                <c:pt idx="6">
                  <c:v>6</c:v>
                </c:pt>
                <c:pt idx="7">
                  <c:v>7</c:v>
                </c:pt>
                <c:pt idx="8">
                  <c:v>8</c:v>
                </c:pt>
                <c:pt idx="9">
                  <c:v>9</c:v>
                </c:pt>
                <c:pt idx="10">
                  <c:v>9.17</c:v>
                </c:pt>
                <c:pt idx="11">
                  <c:v>9.8000000000000007</c:v>
                </c:pt>
                <c:pt idx="12">
                  <c:v>10</c:v>
                </c:pt>
              </c:numCache>
            </c:numRef>
          </c:xVal>
          <c:yVal>
            <c:numRef>
              <c:f>Sheet2!$E$6:$E$18</c:f>
              <c:numCache>
                <c:formatCode>General</c:formatCode>
                <c:ptCount val="13"/>
                <c:pt idx="0">
                  <c:v>5</c:v>
                </c:pt>
                <c:pt idx="1">
                  <c:v>4.97</c:v>
                </c:pt>
                <c:pt idx="2">
                  <c:v>4.9000000000000004</c:v>
                </c:pt>
                <c:pt idx="3">
                  <c:v>4.7699999999999996</c:v>
                </c:pt>
                <c:pt idx="4">
                  <c:v>4.58</c:v>
                </c:pt>
                <c:pt idx="5">
                  <c:v>4.33</c:v>
                </c:pt>
                <c:pt idx="6">
                  <c:v>4</c:v>
                </c:pt>
                <c:pt idx="7">
                  <c:v>3.57</c:v>
                </c:pt>
                <c:pt idx="8">
                  <c:v>3</c:v>
                </c:pt>
                <c:pt idx="9">
                  <c:v>2.1800000000000002</c:v>
                </c:pt>
                <c:pt idx="10">
                  <c:v>2</c:v>
                </c:pt>
                <c:pt idx="11">
                  <c:v>1</c:v>
                </c:pt>
                <c:pt idx="12">
                  <c:v>0</c:v>
                </c:pt>
              </c:numCache>
            </c:numRef>
          </c:yVal>
          <c:smooth val="0"/>
          <c:extLst>
            <c:ext xmlns:c16="http://schemas.microsoft.com/office/drawing/2014/chart" uri="{C3380CC4-5D6E-409C-BE32-E72D297353CC}">
              <c16:uniqueId val="{00000000-71DB-4C10-9FA5-559B15254438}"/>
            </c:ext>
          </c:extLst>
        </c:ser>
        <c:dLbls>
          <c:showLegendKey val="0"/>
          <c:showVal val="0"/>
          <c:showCatName val="0"/>
          <c:showSerName val="0"/>
          <c:showPercent val="0"/>
          <c:showBubbleSize val="0"/>
        </c:dLbls>
        <c:axId val="379230568"/>
        <c:axId val="379232920"/>
      </c:scatterChart>
      <c:valAx>
        <c:axId val="37923056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r>
                  <a:rPr lang="en-ZA" sz="1400" b="1"/>
                  <a:t>Investment</a:t>
                </a:r>
                <a:r>
                  <a:rPr lang="en-ZA" sz="1400" b="1" baseline="0"/>
                  <a:t> </a:t>
                </a:r>
                <a:r>
                  <a:rPr lang="en-ZA" sz="1400" b="1"/>
                  <a:t>Goods</a:t>
                </a:r>
              </a:p>
            </c:rich>
          </c:tx>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79232920"/>
        <c:crosses val="autoZero"/>
        <c:crossBetween val="midCat"/>
      </c:valAx>
      <c:valAx>
        <c:axId val="37923292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r>
                  <a:rPr lang="en-US" sz="1400" b="1"/>
                  <a:t>Consumption</a:t>
                </a:r>
                <a:r>
                  <a:rPr lang="en-US" sz="1400" b="1" baseline="0"/>
                  <a:t> Goods</a:t>
                </a:r>
                <a:endParaRPr lang="en-US" sz="1400" b="1"/>
              </a:p>
            </c:rich>
          </c:tx>
          <c:layout>
            <c:manualLayout>
              <c:xMode val="edge"/>
              <c:yMode val="edge"/>
              <c:x val="1.1904761904761904E-2"/>
              <c:y val="0.12487088874656216"/>
            </c:manualLayout>
          </c:layout>
          <c:overlay val="0"/>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7923056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996F2D-AA1E-4C24-AADC-46A9CA3B88CC}" type="datetimeFigureOut">
              <a:rPr lang="en-ZA" smtClean="0"/>
              <a:t>2024/10/08</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AB850E-C003-4F4F-834C-E08600D7E33B}" type="slidenum">
              <a:rPr lang="en-ZA" smtClean="0"/>
              <a:t>‹#›</a:t>
            </a:fld>
            <a:endParaRPr lang="en-ZA"/>
          </a:p>
        </p:txBody>
      </p:sp>
    </p:spTree>
    <p:extLst>
      <p:ext uri="{BB962C8B-B14F-4D97-AF65-F5344CB8AC3E}">
        <p14:creationId xmlns:p14="http://schemas.microsoft.com/office/powerpoint/2010/main" val="2872991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E5AB850E-C003-4F4F-834C-E08600D7E33B}" type="slidenum">
              <a:rPr lang="en-ZA" smtClean="0"/>
              <a:t>6</a:t>
            </a:fld>
            <a:endParaRPr lang="en-ZA"/>
          </a:p>
        </p:txBody>
      </p:sp>
    </p:spTree>
    <p:extLst>
      <p:ext uri="{BB962C8B-B14F-4D97-AF65-F5344CB8AC3E}">
        <p14:creationId xmlns:p14="http://schemas.microsoft.com/office/powerpoint/2010/main" val="1431531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E5AB850E-C003-4F4F-834C-E08600D7E33B}" type="slidenum">
              <a:rPr lang="en-ZA" smtClean="0"/>
              <a:t>10</a:t>
            </a:fld>
            <a:endParaRPr lang="en-ZA"/>
          </a:p>
        </p:txBody>
      </p:sp>
    </p:spTree>
    <p:extLst>
      <p:ext uri="{BB962C8B-B14F-4D97-AF65-F5344CB8AC3E}">
        <p14:creationId xmlns:p14="http://schemas.microsoft.com/office/powerpoint/2010/main" val="33515692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C0892F51-210C-44F8-8CEB-445626058AC4}" type="datetime1">
              <a:rPr lang="en-ZA" smtClean="0"/>
              <a:t>2024/10/08</a:t>
            </a:fld>
            <a:endParaRPr lang="en-ZA"/>
          </a:p>
        </p:txBody>
      </p:sp>
      <p:sp>
        <p:nvSpPr>
          <p:cNvPr id="5" name="Footer Placeholder 4"/>
          <p:cNvSpPr>
            <a:spLocks noGrp="1"/>
          </p:cNvSpPr>
          <p:nvPr>
            <p:ph type="ftr" sz="quarter" idx="11"/>
          </p:nvPr>
        </p:nvSpPr>
        <p:spPr>
          <a:xfrm>
            <a:off x="2692397" y="5037663"/>
            <a:ext cx="5214635" cy="279400"/>
          </a:xfrm>
        </p:spPr>
        <p:txBody>
          <a:bodyPr/>
          <a:lstStyle/>
          <a:p>
            <a:endParaRPr lang="en-ZA"/>
          </a:p>
        </p:txBody>
      </p:sp>
      <p:sp>
        <p:nvSpPr>
          <p:cNvPr id="6" name="Slide Number Placeholder 5"/>
          <p:cNvSpPr>
            <a:spLocks noGrp="1"/>
          </p:cNvSpPr>
          <p:nvPr>
            <p:ph type="sldNum" sz="quarter" idx="12"/>
          </p:nvPr>
        </p:nvSpPr>
        <p:spPr>
          <a:xfrm>
            <a:off x="8956900" y="5037663"/>
            <a:ext cx="551167" cy="279400"/>
          </a:xfrm>
        </p:spPr>
        <p:txBody>
          <a:bodyPr/>
          <a:lstStyle/>
          <a:p>
            <a:fld id="{AC2845FC-E9D4-4B00-B81C-16D6AF5A4399}" type="slidenum">
              <a:rPr lang="en-ZA" smtClean="0"/>
              <a:t>‹#›</a:t>
            </a:fld>
            <a:endParaRPr lang="en-ZA"/>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3672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329A78-57D1-4B1E-9940-AD6A90C5E1A0}" type="datetime1">
              <a:rPr lang="en-ZA" smtClean="0"/>
              <a:t>2024/10/08</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C2845FC-E9D4-4B00-B81C-16D6AF5A4399}" type="slidenum">
              <a:rPr lang="en-ZA" smtClean="0"/>
              <a:t>‹#›</a:t>
            </a:fld>
            <a:endParaRPr lang="en-ZA"/>
          </a:p>
        </p:txBody>
      </p:sp>
    </p:spTree>
    <p:extLst>
      <p:ext uri="{BB962C8B-B14F-4D97-AF65-F5344CB8AC3E}">
        <p14:creationId xmlns:p14="http://schemas.microsoft.com/office/powerpoint/2010/main" val="3983052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3E2A2A-0136-4B09-9730-47EB9061F42B}" type="datetime1">
              <a:rPr lang="en-ZA" smtClean="0"/>
              <a:t>2024/10/08</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C2845FC-E9D4-4B00-B81C-16D6AF5A4399}" type="slidenum">
              <a:rPr lang="en-ZA" smtClean="0"/>
              <a:t>‹#›</a:t>
            </a:fld>
            <a:endParaRPr lang="en-ZA"/>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71050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F38248-CD2A-41AC-B4D3-A33395CBAE31}" type="datetime1">
              <a:rPr lang="en-ZA" smtClean="0"/>
              <a:t>2024/10/08</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C2845FC-E9D4-4B00-B81C-16D6AF5A4399}" type="slidenum">
              <a:rPr lang="en-ZA" smtClean="0"/>
              <a:t>‹#›</a:t>
            </a:fld>
            <a:endParaRPr lang="en-ZA"/>
          </a:p>
        </p:txBody>
      </p:sp>
    </p:spTree>
    <p:extLst>
      <p:ext uri="{BB962C8B-B14F-4D97-AF65-F5344CB8AC3E}">
        <p14:creationId xmlns:p14="http://schemas.microsoft.com/office/powerpoint/2010/main" val="1748538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3FF316D-2D91-4649-A68B-E83D2FA5239C}" type="datetime1">
              <a:rPr lang="en-ZA" smtClean="0"/>
              <a:t>2024/10/08</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AC2845FC-E9D4-4B00-B81C-16D6AF5A4399}" type="slidenum">
              <a:rPr lang="en-ZA" smtClean="0"/>
              <a:t>‹#›</a:t>
            </a:fld>
            <a:endParaRPr lang="en-ZA"/>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5730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417A15-76BD-445F-9FCA-06A979DA021E}" type="datetime1">
              <a:rPr lang="en-ZA" smtClean="0"/>
              <a:t>2024/10/08</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a:t>
            </a:fld>
            <a:endParaRPr lang="en-ZA"/>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2278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775AE0-EBB9-49BF-ABEA-D5924D10C618}" type="datetime1">
              <a:rPr lang="en-ZA" smtClean="0"/>
              <a:t>2024/10/08</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AC2845FC-E9D4-4B00-B81C-16D6AF5A4399}" type="slidenum">
              <a:rPr lang="en-ZA" smtClean="0"/>
              <a:t>‹#›</a:t>
            </a:fld>
            <a:endParaRPr lang="en-ZA"/>
          </a:p>
        </p:txBody>
      </p:sp>
    </p:spTree>
    <p:extLst>
      <p:ext uri="{BB962C8B-B14F-4D97-AF65-F5344CB8AC3E}">
        <p14:creationId xmlns:p14="http://schemas.microsoft.com/office/powerpoint/2010/main" val="1613145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905672-3527-4CCC-AD8F-92D783435C10}" type="datetime1">
              <a:rPr lang="en-ZA" smtClean="0"/>
              <a:t>2024/10/08</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C2845FC-E9D4-4B00-B81C-16D6AF5A4399}" type="slidenum">
              <a:rPr lang="en-ZA" smtClean="0"/>
              <a:t>‹#›</a:t>
            </a:fld>
            <a:endParaRPr lang="en-ZA"/>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98707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DD023C-3884-4B13-8868-C9E8EF5964CE}" type="datetime1">
              <a:rPr lang="en-ZA" smtClean="0"/>
              <a:t>2024/10/08</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C2845FC-E9D4-4B00-B81C-16D6AF5A4399}" type="slidenum">
              <a:rPr lang="en-ZA" smtClean="0"/>
              <a:t>‹#›</a:t>
            </a:fld>
            <a:endParaRPr lang="en-ZA"/>
          </a:p>
        </p:txBody>
      </p:sp>
    </p:spTree>
    <p:extLst>
      <p:ext uri="{BB962C8B-B14F-4D97-AF65-F5344CB8AC3E}">
        <p14:creationId xmlns:p14="http://schemas.microsoft.com/office/powerpoint/2010/main" val="3313746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CEE9A90-576F-4C9E-91E4-3727EEA69BB7}" type="datetime1">
              <a:rPr lang="en-ZA" smtClean="0"/>
              <a:t>2024/10/08</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C2845FC-E9D4-4B00-B81C-16D6AF5A4399}" type="slidenum">
              <a:rPr lang="en-ZA" smtClean="0"/>
              <a:t>‹#›</a:t>
            </a:fld>
            <a:endParaRPr lang="en-ZA"/>
          </a:p>
        </p:txBody>
      </p:sp>
    </p:spTree>
    <p:extLst>
      <p:ext uri="{BB962C8B-B14F-4D97-AF65-F5344CB8AC3E}">
        <p14:creationId xmlns:p14="http://schemas.microsoft.com/office/powerpoint/2010/main" val="300987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383613-4400-40E7-A870-F34FC398345E}" type="datetime1">
              <a:rPr lang="en-ZA" smtClean="0"/>
              <a:t>2024/10/08</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C2845FC-E9D4-4B00-B81C-16D6AF5A4399}" type="slidenum">
              <a:rPr lang="en-ZA" smtClean="0"/>
              <a:t>‹#›</a:t>
            </a:fld>
            <a:endParaRPr lang="en-ZA"/>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09950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5AFA62-11B3-47AE-85DB-E8951BBB698B}" type="datetime1">
              <a:rPr lang="en-ZA" smtClean="0"/>
              <a:t>2024/10/08</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C2845FC-E9D4-4B00-B81C-16D6AF5A4399}" type="slidenum">
              <a:rPr lang="en-ZA" smtClean="0"/>
              <a:t>‹#›</a:t>
            </a:fld>
            <a:endParaRPr lang="en-ZA"/>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61355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12EE30-2101-4EF1-B650-FE0E24A98559}" type="datetime1">
              <a:rPr lang="en-ZA" smtClean="0"/>
              <a:t>2024/10/08</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C2845FC-E9D4-4B00-B81C-16D6AF5A4399}" type="slidenum">
              <a:rPr lang="en-ZA" smtClean="0"/>
              <a:t>‹#›</a:t>
            </a:fld>
            <a:endParaRPr lang="en-ZA"/>
          </a:p>
        </p:txBody>
      </p:sp>
    </p:spTree>
    <p:extLst>
      <p:ext uri="{BB962C8B-B14F-4D97-AF65-F5344CB8AC3E}">
        <p14:creationId xmlns:p14="http://schemas.microsoft.com/office/powerpoint/2010/main" val="37098530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761743-DCCD-4DC5-A490-E7A75A5E2981}" type="datetime1">
              <a:rPr lang="en-ZA" smtClean="0"/>
              <a:t>2024/10/08</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C2845FC-E9D4-4B00-B81C-16D6AF5A4399}" type="slidenum">
              <a:rPr lang="en-ZA" smtClean="0"/>
              <a:t>‹#›</a:t>
            </a:fld>
            <a:endParaRPr lang="en-ZA"/>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40525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BFE09E-97C0-4375-83A9-FC8EB88F6B25}" type="datetime1">
              <a:rPr lang="en-ZA" smtClean="0"/>
              <a:t>2024/10/08</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C2845FC-E9D4-4B00-B81C-16D6AF5A4399}" type="slidenum">
              <a:rPr lang="en-ZA" smtClean="0"/>
              <a:t>‹#›</a:t>
            </a:fld>
            <a:endParaRPr lang="en-ZA"/>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92573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2A35AD-21A4-4A0C-A6A2-BD61C6E62493}" type="datetime1">
              <a:rPr lang="en-ZA" smtClean="0"/>
              <a:t>2024/10/08</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C2845FC-E9D4-4B00-B81C-16D6AF5A4399}" type="slidenum">
              <a:rPr lang="en-ZA" smtClean="0"/>
              <a:t>‹#›</a:t>
            </a:fld>
            <a:endParaRPr lang="en-ZA"/>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56721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D090CF-A576-4657-8EB9-49C6A8313344}" type="datetime1">
              <a:rPr lang="en-ZA" smtClean="0"/>
              <a:t>2024/10/08</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C2845FC-E9D4-4B00-B81C-16D6AF5A4399}" type="slidenum">
              <a:rPr lang="en-ZA" smtClean="0"/>
              <a:t>‹#›</a:t>
            </a:fld>
            <a:endParaRPr lang="en-ZA"/>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3446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B571B65-3184-40D5-84A7-DD8746CBC3E2}" type="datetime1">
              <a:rPr lang="en-ZA" smtClean="0"/>
              <a:t>2024/10/08</a:t>
            </a:fld>
            <a:endParaRPr lang="en-ZA"/>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ZA"/>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C2845FC-E9D4-4B00-B81C-16D6AF5A4399}" type="slidenum">
              <a:rPr lang="en-ZA" smtClean="0"/>
              <a:t>‹#›</a:t>
            </a:fld>
            <a:endParaRPr lang="en-ZA"/>
          </a:p>
        </p:txBody>
      </p:sp>
    </p:spTree>
    <p:extLst>
      <p:ext uri="{BB962C8B-B14F-4D97-AF65-F5344CB8AC3E}">
        <p14:creationId xmlns:p14="http://schemas.microsoft.com/office/powerpoint/2010/main" val="611840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ZA"/>
              <a:t>LECTURE 1</a:t>
            </a:r>
            <a:endParaRPr lang="en-ZA" dirty="0"/>
          </a:p>
        </p:txBody>
      </p:sp>
      <p:sp>
        <p:nvSpPr>
          <p:cNvPr id="3" name="Subtitle 2"/>
          <p:cNvSpPr>
            <a:spLocks noGrp="1"/>
          </p:cNvSpPr>
          <p:nvPr>
            <p:ph type="subTitle" idx="1"/>
          </p:nvPr>
        </p:nvSpPr>
        <p:spPr/>
        <p:txBody>
          <a:bodyPr/>
          <a:lstStyle/>
          <a:p>
            <a:r>
              <a:rPr lang="en-ZA" dirty="0"/>
              <a:t>ECONOMICS</a:t>
            </a:r>
          </a:p>
        </p:txBody>
      </p:sp>
      <p:sp>
        <p:nvSpPr>
          <p:cNvPr id="4" name="Slide Number Placeholder 3"/>
          <p:cNvSpPr>
            <a:spLocks noGrp="1"/>
          </p:cNvSpPr>
          <p:nvPr>
            <p:ph type="sldNum" sz="quarter" idx="12"/>
          </p:nvPr>
        </p:nvSpPr>
        <p:spPr/>
        <p:txBody>
          <a:bodyPr/>
          <a:lstStyle/>
          <a:p>
            <a:fld id="{AC2845FC-E9D4-4B00-B81C-16D6AF5A4399}" type="slidenum">
              <a:rPr lang="en-ZA" smtClean="0"/>
              <a:t>1</a:t>
            </a:fld>
            <a:endParaRPr lang="en-ZA"/>
          </a:p>
        </p:txBody>
      </p:sp>
      <p:sp>
        <p:nvSpPr>
          <p:cNvPr id="5" name="Date Placeholder 4"/>
          <p:cNvSpPr>
            <a:spLocks noGrp="1"/>
          </p:cNvSpPr>
          <p:nvPr>
            <p:ph type="dt" sz="half" idx="10"/>
          </p:nvPr>
        </p:nvSpPr>
        <p:spPr/>
        <p:txBody>
          <a:bodyPr/>
          <a:lstStyle/>
          <a:p>
            <a:fld id="{0A081555-8C93-4C5D-B385-5AEDD550435E}" type="datetime1">
              <a:rPr lang="en-ZA" smtClean="0"/>
              <a:t>2024/10/08</a:t>
            </a:fld>
            <a:endParaRPr lang="en-ZA"/>
          </a:p>
        </p:txBody>
      </p:sp>
    </p:spTree>
    <p:extLst>
      <p:ext uri="{BB962C8B-B14F-4D97-AF65-F5344CB8AC3E}">
        <p14:creationId xmlns:p14="http://schemas.microsoft.com/office/powerpoint/2010/main" val="159556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Expected Learning Outcomes</a:t>
            </a:r>
          </a:p>
        </p:txBody>
      </p:sp>
      <p:sp>
        <p:nvSpPr>
          <p:cNvPr id="3" name="Date Placeholder 2"/>
          <p:cNvSpPr>
            <a:spLocks noGrp="1"/>
          </p:cNvSpPr>
          <p:nvPr>
            <p:ph type="dt" sz="half" idx="10"/>
          </p:nvPr>
        </p:nvSpPr>
        <p:spPr/>
        <p:txBody>
          <a:bodyPr/>
          <a:lstStyle/>
          <a:p>
            <a:fld id="{1E417A15-76BD-445F-9FCA-06A979DA021E}" type="datetime1">
              <a:rPr lang="en-ZA" smtClean="0"/>
              <a:t>2024/10/08</a:t>
            </a:fld>
            <a:endParaRPr lang="en-ZA"/>
          </a:p>
        </p:txBody>
      </p:sp>
      <p:sp>
        <p:nvSpPr>
          <p:cNvPr id="4" name="Slide Number Placeholder 3"/>
          <p:cNvSpPr>
            <a:spLocks noGrp="1"/>
          </p:cNvSpPr>
          <p:nvPr>
            <p:ph type="sldNum" sz="quarter" idx="12"/>
          </p:nvPr>
        </p:nvSpPr>
        <p:spPr/>
        <p:txBody>
          <a:bodyPr/>
          <a:lstStyle/>
          <a:p>
            <a:fld id="{AC2845FC-E9D4-4B00-B81C-16D6AF5A4399}" type="slidenum">
              <a:rPr lang="en-ZA" smtClean="0"/>
              <a:t>2</a:t>
            </a:fld>
            <a:endParaRPr lang="en-ZA"/>
          </a:p>
        </p:txBody>
      </p:sp>
      <p:sp>
        <p:nvSpPr>
          <p:cNvPr id="5" name="Rectangle 4"/>
          <p:cNvSpPr/>
          <p:nvPr/>
        </p:nvSpPr>
        <p:spPr>
          <a:xfrm>
            <a:off x="1463040" y="2921169"/>
            <a:ext cx="9692640" cy="4985980"/>
          </a:xfrm>
          <a:prstGeom prst="rect">
            <a:avLst/>
          </a:prstGeom>
        </p:spPr>
        <p:txBody>
          <a:bodyPr wrap="square">
            <a:spAutoFit/>
          </a:bodyPr>
          <a:lstStyle/>
          <a:p>
            <a:pPr lvl="1">
              <a:spcAft>
                <a:spcPts val="0"/>
              </a:spcAft>
            </a:pPr>
            <a:r>
              <a:rPr lang="en-US" sz="2400" dirty="0">
                <a:latin typeface="Arial Narrow" panose="020B0606020202030204" pitchFamily="34" charset="0"/>
                <a:ea typeface="Times New Roman" panose="02020603050405020304" pitchFamily="18" charset="0"/>
              </a:rPr>
              <a:t>1. Discuss the concepts of scarcity, choice and opportunity cost in the production of goods and services.</a:t>
            </a:r>
          </a:p>
          <a:p>
            <a:pPr lvl="1">
              <a:spcAft>
                <a:spcPts val="0"/>
              </a:spcAft>
            </a:pPr>
            <a:endParaRPr lang="en-ZA" sz="2400" dirty="0">
              <a:latin typeface="Times New Roman" panose="02020603050405020304" pitchFamily="18" charset="0"/>
              <a:ea typeface="Times New Roman" panose="02020603050405020304" pitchFamily="18" charset="0"/>
            </a:endParaRPr>
          </a:p>
          <a:p>
            <a:pPr lvl="1">
              <a:spcAft>
                <a:spcPts val="0"/>
              </a:spcAft>
            </a:pPr>
            <a:r>
              <a:rPr lang="en-US" sz="2400" dirty="0">
                <a:latin typeface="Arial Narrow" panose="020B0606020202030204" pitchFamily="34" charset="0"/>
                <a:ea typeface="Times New Roman" panose="02020603050405020304" pitchFamily="18" charset="0"/>
              </a:rPr>
              <a:t>2. Describe the PPF</a:t>
            </a:r>
          </a:p>
          <a:p>
            <a:pPr lvl="1">
              <a:spcAft>
                <a:spcPts val="0"/>
              </a:spcAft>
            </a:pPr>
            <a:endParaRPr lang="en-ZA" sz="2400" dirty="0">
              <a:latin typeface="Times New Roman" panose="02020603050405020304" pitchFamily="18" charset="0"/>
              <a:ea typeface="Times New Roman" panose="02020603050405020304" pitchFamily="18" charset="0"/>
            </a:endParaRPr>
          </a:p>
          <a:p>
            <a:pPr lvl="1">
              <a:spcAft>
                <a:spcPts val="0"/>
              </a:spcAft>
            </a:pPr>
            <a:r>
              <a:rPr lang="en-US" sz="2400" dirty="0">
                <a:latin typeface="Arial Narrow" panose="020B0606020202030204" pitchFamily="34" charset="0"/>
                <a:ea typeface="Times New Roman" panose="02020603050405020304" pitchFamily="18" charset="0"/>
              </a:rPr>
              <a:t>3. Explain how resources can be </a:t>
            </a:r>
            <a:r>
              <a:rPr lang="en-US" sz="2400" dirty="0" err="1">
                <a:latin typeface="Arial Narrow" panose="020B0606020202030204" pitchFamily="34" charset="0"/>
                <a:ea typeface="Times New Roman" panose="02020603050405020304" pitchFamily="18" charset="0"/>
              </a:rPr>
              <a:t>utilised</a:t>
            </a:r>
            <a:r>
              <a:rPr lang="en-US" sz="2400" dirty="0">
                <a:latin typeface="Arial Narrow" panose="020B0606020202030204" pitchFamily="34" charset="0"/>
                <a:ea typeface="Times New Roman" panose="02020603050405020304" pitchFamily="18" charset="0"/>
              </a:rPr>
              <a:t> to </a:t>
            </a:r>
            <a:r>
              <a:rPr lang="en-US" sz="2400" dirty="0" err="1">
                <a:latin typeface="Arial Narrow" panose="020B0606020202030204" pitchFamily="34" charset="0"/>
                <a:ea typeface="Times New Roman" panose="02020603050405020304" pitchFamily="18" charset="0"/>
              </a:rPr>
              <a:t>maximise</a:t>
            </a:r>
            <a:r>
              <a:rPr lang="en-US" sz="2400" dirty="0">
                <a:latin typeface="Arial Narrow" panose="020B0606020202030204" pitchFamily="34" charset="0"/>
                <a:ea typeface="Times New Roman" panose="02020603050405020304" pitchFamily="18" charset="0"/>
              </a:rPr>
              <a:t> production</a:t>
            </a:r>
            <a:endParaRPr lang="en-ZA" sz="2400" dirty="0">
              <a:latin typeface="Times New Roman" panose="02020603050405020304" pitchFamily="18" charset="0"/>
              <a:ea typeface="Times New Roman" panose="02020603050405020304" pitchFamily="18" charset="0"/>
            </a:endParaRPr>
          </a:p>
          <a:p>
            <a:endParaRPr lang="en-US" sz="2400" dirty="0">
              <a:latin typeface="Arial Narrow" panose="020B0606020202030204" pitchFamily="34" charset="0"/>
              <a:ea typeface="Times New Roman" panose="02020603050405020304" pitchFamily="18" charset="0"/>
              <a:cs typeface="Times New Roman" panose="02020603050405020304" pitchFamily="18" charset="0"/>
            </a:endParaRPr>
          </a:p>
          <a:p>
            <a:endParaRPr lang="en-US" sz="1200" dirty="0">
              <a:latin typeface="Arial Narrow" panose="020B0606020202030204" pitchFamily="34" charset="0"/>
              <a:cs typeface="Times New Roman" panose="02020603050405020304" pitchFamily="18" charset="0"/>
            </a:endParaRPr>
          </a:p>
          <a:p>
            <a:endParaRPr lang="en-US" sz="1200" dirty="0">
              <a:latin typeface="Arial Narrow" panose="020B0606020202030204" pitchFamily="34" charset="0"/>
              <a:cs typeface="Times New Roman" panose="02020603050405020304" pitchFamily="18" charset="0"/>
            </a:endParaRPr>
          </a:p>
          <a:p>
            <a:endParaRPr lang="en-US" sz="1200" dirty="0">
              <a:latin typeface="Arial Narrow" panose="020B0606020202030204" pitchFamily="34" charset="0"/>
              <a:cs typeface="Times New Roman" panose="02020603050405020304" pitchFamily="18" charset="0"/>
            </a:endParaRPr>
          </a:p>
          <a:p>
            <a:endParaRPr lang="en-US" sz="1200" dirty="0">
              <a:latin typeface="Arial Narrow" panose="020B0606020202030204" pitchFamily="34" charset="0"/>
              <a:cs typeface="Times New Roman" panose="02020603050405020304" pitchFamily="18" charset="0"/>
            </a:endParaRPr>
          </a:p>
          <a:p>
            <a:endParaRPr lang="en-US" sz="1200" dirty="0">
              <a:latin typeface="Arial Narrow" panose="020B0606020202030204" pitchFamily="34" charset="0"/>
              <a:cs typeface="Times New Roman" panose="02020603050405020304" pitchFamily="18" charset="0"/>
            </a:endParaRPr>
          </a:p>
          <a:p>
            <a:endParaRPr lang="en-US" sz="1200" dirty="0">
              <a:latin typeface="Arial Narrow" panose="020B0606020202030204" pitchFamily="34" charset="0"/>
              <a:cs typeface="Times New Roman" panose="02020603050405020304" pitchFamily="18" charset="0"/>
            </a:endParaRPr>
          </a:p>
          <a:p>
            <a:endParaRPr lang="en-US" sz="1200" dirty="0">
              <a:latin typeface="Arial Narrow" panose="020B0606020202030204" pitchFamily="34" charset="0"/>
              <a:cs typeface="Times New Roman" panose="02020603050405020304" pitchFamily="18" charset="0"/>
            </a:endParaRPr>
          </a:p>
          <a:p>
            <a:endParaRPr lang="en-US" sz="1200" dirty="0">
              <a:latin typeface="Arial Narrow" panose="020B0606020202030204" pitchFamily="34" charset="0"/>
              <a:cs typeface="Times New Roman" panose="02020603050405020304" pitchFamily="18" charset="0"/>
            </a:endParaRPr>
          </a:p>
          <a:p>
            <a:endParaRPr lang="en-US" sz="1200" dirty="0">
              <a:latin typeface="Arial Narrow" panose="020B0606020202030204" pitchFamily="34" charset="0"/>
              <a:cs typeface="Times New Roman" panose="02020603050405020304" pitchFamily="18" charset="0"/>
            </a:endParaRPr>
          </a:p>
          <a:p>
            <a:endParaRPr lang="en-US" sz="1200" dirty="0">
              <a:latin typeface="Arial Narrow" panose="020B0606020202030204" pitchFamily="34" charset="0"/>
              <a:cs typeface="Times New Roman" panose="02020603050405020304" pitchFamily="18" charset="0"/>
            </a:endParaRPr>
          </a:p>
          <a:p>
            <a:endParaRPr lang="en-US" sz="1200" dirty="0">
              <a:latin typeface="Arial Narrow" panose="020B0606020202030204" pitchFamily="34" charset="0"/>
              <a:cs typeface="Times New Roman" panose="02020603050405020304" pitchFamily="18" charset="0"/>
            </a:endParaRPr>
          </a:p>
          <a:p>
            <a:endParaRPr lang="en-ZA" dirty="0"/>
          </a:p>
        </p:txBody>
      </p:sp>
    </p:spTree>
    <p:extLst>
      <p:ext uri="{BB962C8B-B14F-4D97-AF65-F5344CB8AC3E}">
        <p14:creationId xmlns:p14="http://schemas.microsoft.com/office/powerpoint/2010/main" val="545362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What is Economics?</a:t>
            </a:r>
          </a:p>
        </p:txBody>
      </p:sp>
      <p:sp>
        <p:nvSpPr>
          <p:cNvPr id="3" name="Content Placeholder 2"/>
          <p:cNvSpPr>
            <a:spLocks noGrp="1"/>
          </p:cNvSpPr>
          <p:nvPr>
            <p:ph idx="1"/>
          </p:nvPr>
        </p:nvSpPr>
        <p:spPr>
          <a:xfrm>
            <a:off x="1295401" y="2556932"/>
            <a:ext cx="9601196" cy="3691468"/>
          </a:xfrm>
        </p:spPr>
        <p:txBody>
          <a:bodyPr>
            <a:normAutofit fontScale="62500" lnSpcReduction="20000"/>
          </a:bodyPr>
          <a:lstStyle/>
          <a:p>
            <a:r>
              <a:rPr lang="en-ZA" sz="3400" dirty="0"/>
              <a:t>On a clean sheet of paper write down things you would like to have and give an estimate of the cost.</a:t>
            </a:r>
          </a:p>
          <a:p>
            <a:r>
              <a:rPr lang="en-ZA" sz="3400" dirty="0"/>
              <a:t>On the other side of the sheet write down the resources you can use to buy what you would like to have.</a:t>
            </a:r>
          </a:p>
          <a:p>
            <a:r>
              <a:rPr lang="en-ZA" sz="3400" dirty="0"/>
              <a:t>What is/are your observation(s)?</a:t>
            </a:r>
          </a:p>
          <a:p>
            <a:r>
              <a:rPr lang="en-ZA" sz="3400" dirty="0"/>
              <a:t>Your observation(s) explains three phenomena.</a:t>
            </a:r>
          </a:p>
          <a:p>
            <a:pPr lvl="1"/>
            <a:r>
              <a:rPr lang="en-ZA" sz="3200" dirty="0"/>
              <a:t>Our wants are many and unlimited</a:t>
            </a:r>
          </a:p>
          <a:p>
            <a:pPr lvl="1"/>
            <a:r>
              <a:rPr lang="en-ZA" sz="3200" dirty="0"/>
              <a:t>The resources available to us for the satisfaction of our wants are limited</a:t>
            </a:r>
          </a:p>
          <a:p>
            <a:pPr lvl="1"/>
            <a:r>
              <a:rPr lang="en-ZA" sz="3200" dirty="0"/>
              <a:t>Resources have alternative uses</a:t>
            </a:r>
          </a:p>
          <a:p>
            <a:pPr lvl="1"/>
            <a:r>
              <a:rPr lang="en-ZA" sz="3200" dirty="0"/>
              <a:t>The above are true for individuals, firms, societies and governments</a:t>
            </a:r>
          </a:p>
        </p:txBody>
      </p:sp>
      <p:sp>
        <p:nvSpPr>
          <p:cNvPr id="4" name="Slide Number Placeholder 3"/>
          <p:cNvSpPr>
            <a:spLocks noGrp="1"/>
          </p:cNvSpPr>
          <p:nvPr>
            <p:ph type="sldNum" sz="quarter" idx="12"/>
          </p:nvPr>
        </p:nvSpPr>
        <p:spPr/>
        <p:txBody>
          <a:bodyPr/>
          <a:lstStyle/>
          <a:p>
            <a:fld id="{AC2845FC-E9D4-4B00-B81C-16D6AF5A4399}" type="slidenum">
              <a:rPr lang="en-ZA" smtClean="0"/>
              <a:t>3</a:t>
            </a:fld>
            <a:endParaRPr lang="en-ZA"/>
          </a:p>
        </p:txBody>
      </p:sp>
      <p:sp>
        <p:nvSpPr>
          <p:cNvPr id="5" name="Date Placeholder 4"/>
          <p:cNvSpPr>
            <a:spLocks noGrp="1"/>
          </p:cNvSpPr>
          <p:nvPr>
            <p:ph type="dt" sz="half" idx="10"/>
          </p:nvPr>
        </p:nvSpPr>
        <p:spPr/>
        <p:txBody>
          <a:bodyPr/>
          <a:lstStyle/>
          <a:p>
            <a:fld id="{ADE8515E-AC10-4DFF-9728-DEFBDC79DFD9}" type="datetime1">
              <a:rPr lang="en-ZA" smtClean="0"/>
              <a:t>2024/10/08</a:t>
            </a:fld>
            <a:endParaRPr lang="en-ZA"/>
          </a:p>
        </p:txBody>
      </p:sp>
    </p:spTree>
    <p:extLst>
      <p:ext uri="{BB962C8B-B14F-4D97-AF65-F5344CB8AC3E}">
        <p14:creationId xmlns:p14="http://schemas.microsoft.com/office/powerpoint/2010/main" val="1250915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What is Economics</a:t>
            </a:r>
          </a:p>
        </p:txBody>
      </p:sp>
      <p:sp>
        <p:nvSpPr>
          <p:cNvPr id="3" name="Content Placeholder 2"/>
          <p:cNvSpPr>
            <a:spLocks noGrp="1"/>
          </p:cNvSpPr>
          <p:nvPr>
            <p:ph idx="1"/>
          </p:nvPr>
        </p:nvSpPr>
        <p:spPr/>
        <p:txBody>
          <a:bodyPr/>
          <a:lstStyle/>
          <a:p>
            <a:r>
              <a:rPr lang="en-ZA" dirty="0"/>
              <a:t>How best can individuals, business firms, societies and government use the limited resources to satisfy their unlimited wants?</a:t>
            </a:r>
          </a:p>
          <a:p>
            <a:r>
              <a:rPr lang="en-ZA" dirty="0"/>
              <a:t>Economics answers this question.</a:t>
            </a:r>
          </a:p>
          <a:p>
            <a:r>
              <a:rPr lang="en-ZA" dirty="0"/>
              <a:t>Therefore, Economics is a discipline that is concerned about the allocation of limited resources to satisfy unlimited wants </a:t>
            </a:r>
          </a:p>
          <a:p>
            <a:endParaRPr lang="en-ZA" dirty="0"/>
          </a:p>
        </p:txBody>
      </p:sp>
      <p:sp>
        <p:nvSpPr>
          <p:cNvPr id="4" name="Slide Number Placeholder 3"/>
          <p:cNvSpPr>
            <a:spLocks noGrp="1"/>
          </p:cNvSpPr>
          <p:nvPr>
            <p:ph type="sldNum" sz="quarter" idx="12"/>
          </p:nvPr>
        </p:nvSpPr>
        <p:spPr/>
        <p:txBody>
          <a:bodyPr/>
          <a:lstStyle/>
          <a:p>
            <a:fld id="{AC2845FC-E9D4-4B00-B81C-16D6AF5A4399}" type="slidenum">
              <a:rPr lang="en-ZA" smtClean="0"/>
              <a:t>4</a:t>
            </a:fld>
            <a:endParaRPr lang="en-ZA"/>
          </a:p>
        </p:txBody>
      </p:sp>
      <p:sp>
        <p:nvSpPr>
          <p:cNvPr id="5" name="Date Placeholder 4"/>
          <p:cNvSpPr>
            <a:spLocks noGrp="1"/>
          </p:cNvSpPr>
          <p:nvPr>
            <p:ph type="dt" sz="half" idx="10"/>
          </p:nvPr>
        </p:nvSpPr>
        <p:spPr/>
        <p:txBody>
          <a:bodyPr/>
          <a:lstStyle/>
          <a:p>
            <a:fld id="{68B33A0D-59BD-452C-B71F-79F023762F64}" type="datetime1">
              <a:rPr lang="en-ZA" smtClean="0"/>
              <a:t>2024/10/08</a:t>
            </a:fld>
            <a:endParaRPr lang="en-ZA"/>
          </a:p>
        </p:txBody>
      </p:sp>
    </p:spTree>
    <p:extLst>
      <p:ext uri="{BB962C8B-B14F-4D97-AF65-F5344CB8AC3E}">
        <p14:creationId xmlns:p14="http://schemas.microsoft.com/office/powerpoint/2010/main" val="560140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Economics</a:t>
            </a:r>
          </a:p>
        </p:txBody>
      </p:sp>
      <p:sp>
        <p:nvSpPr>
          <p:cNvPr id="3" name="Content Placeholder 2"/>
          <p:cNvSpPr>
            <a:spLocks noGrp="1"/>
          </p:cNvSpPr>
          <p:nvPr>
            <p:ph idx="1"/>
          </p:nvPr>
        </p:nvSpPr>
        <p:spPr/>
        <p:txBody>
          <a:bodyPr/>
          <a:lstStyle/>
          <a:p>
            <a:r>
              <a:rPr lang="en-US" altLang="en-US" sz="3600" dirty="0"/>
              <a:t>A good definition of economics</a:t>
            </a:r>
          </a:p>
          <a:p>
            <a:pPr lvl="1"/>
            <a:r>
              <a:rPr lang="en-US" altLang="en-US" sz="3200" dirty="0"/>
              <a:t>Study of choice under conditions of scarcity</a:t>
            </a:r>
          </a:p>
          <a:p>
            <a:r>
              <a:rPr lang="en-US" altLang="en-US" sz="3600" dirty="0"/>
              <a:t>Scarcity</a:t>
            </a:r>
          </a:p>
          <a:p>
            <a:pPr lvl="1"/>
            <a:r>
              <a:rPr lang="en-US" altLang="en-US" sz="3200" dirty="0"/>
              <a:t>Situation in which the amount of something available is insufficient to satisfy the desire for it</a:t>
            </a:r>
          </a:p>
          <a:p>
            <a:endParaRPr lang="en-ZA" dirty="0"/>
          </a:p>
        </p:txBody>
      </p:sp>
      <p:sp>
        <p:nvSpPr>
          <p:cNvPr id="4" name="Slide Number Placeholder 3"/>
          <p:cNvSpPr>
            <a:spLocks noGrp="1"/>
          </p:cNvSpPr>
          <p:nvPr>
            <p:ph type="sldNum" sz="quarter" idx="12"/>
          </p:nvPr>
        </p:nvSpPr>
        <p:spPr/>
        <p:txBody>
          <a:bodyPr/>
          <a:lstStyle/>
          <a:p>
            <a:fld id="{AC2845FC-E9D4-4B00-B81C-16D6AF5A4399}" type="slidenum">
              <a:rPr lang="en-ZA" smtClean="0"/>
              <a:t>5</a:t>
            </a:fld>
            <a:endParaRPr lang="en-ZA"/>
          </a:p>
        </p:txBody>
      </p:sp>
      <p:sp>
        <p:nvSpPr>
          <p:cNvPr id="5" name="Date Placeholder 4"/>
          <p:cNvSpPr>
            <a:spLocks noGrp="1"/>
          </p:cNvSpPr>
          <p:nvPr>
            <p:ph type="dt" sz="half" idx="10"/>
          </p:nvPr>
        </p:nvSpPr>
        <p:spPr/>
        <p:txBody>
          <a:bodyPr/>
          <a:lstStyle/>
          <a:p>
            <a:fld id="{61A7B450-50C0-4F56-864B-61963EF3CBCF}" type="datetime1">
              <a:rPr lang="en-ZA" smtClean="0"/>
              <a:t>2024/10/08</a:t>
            </a:fld>
            <a:endParaRPr lang="en-ZA"/>
          </a:p>
        </p:txBody>
      </p:sp>
    </p:spTree>
    <p:extLst>
      <p:ext uri="{BB962C8B-B14F-4D97-AF65-F5344CB8AC3E}">
        <p14:creationId xmlns:p14="http://schemas.microsoft.com/office/powerpoint/2010/main" val="3209724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Scarcity</a:t>
            </a:r>
          </a:p>
        </p:txBody>
      </p:sp>
      <p:sp>
        <p:nvSpPr>
          <p:cNvPr id="3" name="Content Placeholder 2"/>
          <p:cNvSpPr>
            <a:spLocks noGrp="1"/>
          </p:cNvSpPr>
          <p:nvPr>
            <p:ph idx="1"/>
          </p:nvPr>
        </p:nvSpPr>
        <p:spPr/>
        <p:txBody>
          <a:bodyPr>
            <a:normAutofit fontScale="77500" lnSpcReduction="20000"/>
          </a:bodyPr>
          <a:lstStyle/>
          <a:p>
            <a:r>
              <a:rPr lang="en-US" altLang="en-US" sz="2800" dirty="0"/>
              <a:t>There are an unlimited variety of scarcities, however they are all based on two basic limitations</a:t>
            </a:r>
          </a:p>
          <a:p>
            <a:pPr lvl="1"/>
            <a:r>
              <a:rPr lang="en-US" altLang="en-US" sz="2400" dirty="0"/>
              <a:t>Scarce time</a:t>
            </a:r>
          </a:p>
          <a:p>
            <a:pPr lvl="1"/>
            <a:r>
              <a:rPr lang="en-US" altLang="en-US" sz="2400" dirty="0"/>
              <a:t>Scarce spending power</a:t>
            </a:r>
          </a:p>
          <a:p>
            <a:r>
              <a:rPr lang="en-US" altLang="en-US" sz="2800" dirty="0"/>
              <a:t>Limitations force each of us to make choices</a:t>
            </a:r>
          </a:p>
          <a:p>
            <a:r>
              <a:rPr lang="en-US" altLang="en-US" sz="2800" dirty="0"/>
              <a:t>Economists study choices we make as individuals, and consequences of those choices</a:t>
            </a:r>
          </a:p>
          <a:p>
            <a:r>
              <a:rPr lang="en-US" altLang="en-US" sz="2800" dirty="0"/>
              <a:t>Economists also study more subtle and indirect effects of individual choice on our society</a:t>
            </a:r>
          </a:p>
        </p:txBody>
      </p:sp>
      <p:sp>
        <p:nvSpPr>
          <p:cNvPr id="4" name="Slide Number Placeholder 3"/>
          <p:cNvSpPr>
            <a:spLocks noGrp="1"/>
          </p:cNvSpPr>
          <p:nvPr>
            <p:ph type="sldNum" sz="quarter" idx="12"/>
          </p:nvPr>
        </p:nvSpPr>
        <p:spPr/>
        <p:txBody>
          <a:bodyPr/>
          <a:lstStyle/>
          <a:p>
            <a:fld id="{AC2845FC-E9D4-4B00-B81C-16D6AF5A4399}" type="slidenum">
              <a:rPr lang="en-ZA" smtClean="0"/>
              <a:t>6</a:t>
            </a:fld>
            <a:endParaRPr lang="en-ZA"/>
          </a:p>
        </p:txBody>
      </p:sp>
      <p:sp>
        <p:nvSpPr>
          <p:cNvPr id="5" name="Date Placeholder 4"/>
          <p:cNvSpPr>
            <a:spLocks noGrp="1"/>
          </p:cNvSpPr>
          <p:nvPr>
            <p:ph type="dt" sz="half" idx="10"/>
          </p:nvPr>
        </p:nvSpPr>
        <p:spPr/>
        <p:txBody>
          <a:bodyPr/>
          <a:lstStyle/>
          <a:p>
            <a:fld id="{0E57D58C-84B0-49FB-AB9D-10C46422A18B}" type="datetime1">
              <a:rPr lang="en-ZA" smtClean="0"/>
              <a:t>2024/10/08</a:t>
            </a:fld>
            <a:endParaRPr lang="en-ZA"/>
          </a:p>
        </p:txBody>
      </p:sp>
    </p:spTree>
    <p:extLst>
      <p:ext uri="{BB962C8B-B14F-4D97-AF65-F5344CB8AC3E}">
        <p14:creationId xmlns:p14="http://schemas.microsoft.com/office/powerpoint/2010/main" val="4138664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Scarcity and Economics</a:t>
            </a:r>
          </a:p>
        </p:txBody>
      </p:sp>
      <p:sp>
        <p:nvSpPr>
          <p:cNvPr id="3" name="Content Placeholder 2"/>
          <p:cNvSpPr>
            <a:spLocks noGrp="1"/>
          </p:cNvSpPr>
          <p:nvPr>
            <p:ph idx="1"/>
          </p:nvPr>
        </p:nvSpPr>
        <p:spPr>
          <a:xfrm>
            <a:off x="1017432" y="2408349"/>
            <a:ext cx="10161430" cy="3863662"/>
          </a:xfrm>
        </p:spPr>
        <p:txBody>
          <a:bodyPr>
            <a:normAutofit fontScale="92500" lnSpcReduction="20000"/>
          </a:bodyPr>
          <a:lstStyle/>
          <a:p>
            <a:pPr>
              <a:lnSpc>
                <a:spcPct val="80000"/>
              </a:lnSpc>
            </a:pPr>
            <a:r>
              <a:rPr lang="en-US" altLang="en-US" sz="2800" dirty="0"/>
              <a:t>The scarcity of resources and the choices it forces us to make, are the source of all the problems studied in economics</a:t>
            </a:r>
          </a:p>
          <a:p>
            <a:pPr lvl="1">
              <a:lnSpc>
                <a:spcPct val="80000"/>
              </a:lnSpc>
            </a:pPr>
            <a:r>
              <a:rPr lang="en-US" altLang="en-US" sz="2400" dirty="0"/>
              <a:t>Households allocate limited income among goods and services</a:t>
            </a:r>
          </a:p>
          <a:p>
            <a:pPr lvl="1">
              <a:lnSpc>
                <a:spcPct val="80000"/>
              </a:lnSpc>
            </a:pPr>
            <a:r>
              <a:rPr lang="en-US" altLang="en-US" sz="2400" dirty="0"/>
              <a:t>Business firms’ choices of what to produce and how much to are limited by costs of production</a:t>
            </a:r>
          </a:p>
          <a:p>
            <a:pPr lvl="1">
              <a:lnSpc>
                <a:spcPct val="80000"/>
              </a:lnSpc>
            </a:pPr>
            <a:r>
              <a:rPr lang="en-US" altLang="en-US" sz="2400" dirty="0"/>
              <a:t>Government agencies work with limited budgets and must carefully choose which goals to pursue</a:t>
            </a:r>
          </a:p>
          <a:p>
            <a:pPr>
              <a:lnSpc>
                <a:spcPct val="80000"/>
              </a:lnSpc>
            </a:pPr>
            <a:r>
              <a:rPr lang="en-US" altLang="en-US" sz="2800" dirty="0"/>
              <a:t>Economists study these decisions to</a:t>
            </a:r>
          </a:p>
          <a:p>
            <a:pPr lvl="1">
              <a:lnSpc>
                <a:spcPct val="80000"/>
              </a:lnSpc>
            </a:pPr>
            <a:r>
              <a:rPr lang="en-US" altLang="en-US" sz="2400" dirty="0"/>
              <a:t>Explain how our economic system works</a:t>
            </a:r>
          </a:p>
          <a:p>
            <a:pPr lvl="1">
              <a:lnSpc>
                <a:spcPct val="80000"/>
              </a:lnSpc>
            </a:pPr>
            <a:r>
              <a:rPr lang="en-US" altLang="en-US" sz="2400" dirty="0"/>
              <a:t>Forecast the future of our economy</a:t>
            </a:r>
          </a:p>
          <a:p>
            <a:pPr lvl="1">
              <a:lnSpc>
                <a:spcPct val="80000"/>
              </a:lnSpc>
            </a:pPr>
            <a:r>
              <a:rPr lang="en-US" altLang="en-US" sz="2400" dirty="0"/>
              <a:t>Suggest ways to make the future even better</a:t>
            </a:r>
          </a:p>
          <a:p>
            <a:endParaRPr lang="en-ZA" dirty="0"/>
          </a:p>
        </p:txBody>
      </p:sp>
      <p:sp>
        <p:nvSpPr>
          <p:cNvPr id="4" name="Slide Number Placeholder 3"/>
          <p:cNvSpPr>
            <a:spLocks noGrp="1"/>
          </p:cNvSpPr>
          <p:nvPr>
            <p:ph type="sldNum" sz="quarter" idx="12"/>
          </p:nvPr>
        </p:nvSpPr>
        <p:spPr/>
        <p:txBody>
          <a:bodyPr/>
          <a:lstStyle/>
          <a:p>
            <a:fld id="{AC2845FC-E9D4-4B00-B81C-16D6AF5A4399}" type="slidenum">
              <a:rPr lang="en-ZA" smtClean="0"/>
              <a:t>7</a:t>
            </a:fld>
            <a:endParaRPr lang="en-ZA"/>
          </a:p>
        </p:txBody>
      </p:sp>
      <p:sp>
        <p:nvSpPr>
          <p:cNvPr id="5" name="Date Placeholder 4"/>
          <p:cNvSpPr>
            <a:spLocks noGrp="1"/>
          </p:cNvSpPr>
          <p:nvPr>
            <p:ph type="dt" sz="half" idx="10"/>
          </p:nvPr>
        </p:nvSpPr>
        <p:spPr/>
        <p:txBody>
          <a:bodyPr/>
          <a:lstStyle/>
          <a:p>
            <a:fld id="{7E942C24-D09E-407F-9BCC-2862F487ED93}" type="datetime1">
              <a:rPr lang="en-ZA" smtClean="0"/>
              <a:t>2024/10/08</a:t>
            </a:fld>
            <a:endParaRPr lang="en-ZA"/>
          </a:p>
        </p:txBody>
      </p:sp>
    </p:spTree>
    <p:extLst>
      <p:ext uri="{BB962C8B-B14F-4D97-AF65-F5344CB8AC3E}">
        <p14:creationId xmlns:p14="http://schemas.microsoft.com/office/powerpoint/2010/main" val="3110647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Micro Vs Macroeconomics</a:t>
            </a:r>
          </a:p>
        </p:txBody>
      </p:sp>
      <p:sp>
        <p:nvSpPr>
          <p:cNvPr id="3" name="Content Placeholder 2"/>
          <p:cNvSpPr>
            <a:spLocks noGrp="1"/>
          </p:cNvSpPr>
          <p:nvPr>
            <p:ph idx="1"/>
          </p:nvPr>
        </p:nvSpPr>
        <p:spPr/>
        <p:txBody>
          <a:bodyPr>
            <a:normAutofit fontScale="92500" lnSpcReduction="10000"/>
          </a:bodyPr>
          <a:lstStyle/>
          <a:p>
            <a:pPr>
              <a:lnSpc>
                <a:spcPct val="90000"/>
              </a:lnSpc>
            </a:pPr>
            <a:r>
              <a:rPr lang="en-US" altLang="en-US" dirty="0"/>
              <a:t>Microeconomics</a:t>
            </a:r>
          </a:p>
          <a:p>
            <a:pPr lvl="1">
              <a:lnSpc>
                <a:spcPct val="90000"/>
              </a:lnSpc>
            </a:pPr>
            <a:r>
              <a:rPr lang="en-US" altLang="en-US" dirty="0"/>
              <a:t>Study of behavior of individual households, firms, and governments</a:t>
            </a:r>
          </a:p>
          <a:p>
            <a:pPr lvl="2">
              <a:lnSpc>
                <a:spcPct val="90000"/>
              </a:lnSpc>
            </a:pPr>
            <a:r>
              <a:rPr lang="en-US" altLang="en-US" dirty="0"/>
              <a:t>Choices they make</a:t>
            </a:r>
          </a:p>
          <a:p>
            <a:pPr lvl="2">
              <a:lnSpc>
                <a:spcPct val="90000"/>
              </a:lnSpc>
            </a:pPr>
            <a:r>
              <a:rPr lang="en-US" altLang="en-US" dirty="0"/>
              <a:t>Interaction in specific markets</a:t>
            </a:r>
          </a:p>
          <a:p>
            <a:pPr>
              <a:lnSpc>
                <a:spcPct val="90000"/>
              </a:lnSpc>
            </a:pPr>
            <a:r>
              <a:rPr lang="en-US" altLang="en-US" dirty="0"/>
              <a:t>Focuses on individual parts of an economy, rather than the whole</a:t>
            </a:r>
          </a:p>
          <a:p>
            <a:r>
              <a:rPr lang="en-US" altLang="en-US" dirty="0"/>
              <a:t>Macroeconomics</a:t>
            </a:r>
          </a:p>
          <a:p>
            <a:pPr lvl="1"/>
            <a:r>
              <a:rPr lang="en-US" altLang="en-US" dirty="0"/>
              <a:t>Study of the economy as a whole</a:t>
            </a:r>
          </a:p>
          <a:p>
            <a:r>
              <a:rPr lang="en-US" altLang="en-US" dirty="0"/>
              <a:t>Focuses on big picture and ignores fine details</a:t>
            </a:r>
          </a:p>
          <a:p>
            <a:endParaRPr lang="en-ZA" dirty="0"/>
          </a:p>
        </p:txBody>
      </p:sp>
      <p:sp>
        <p:nvSpPr>
          <p:cNvPr id="4" name="Slide Number Placeholder 3"/>
          <p:cNvSpPr>
            <a:spLocks noGrp="1"/>
          </p:cNvSpPr>
          <p:nvPr>
            <p:ph type="sldNum" sz="quarter" idx="12"/>
          </p:nvPr>
        </p:nvSpPr>
        <p:spPr/>
        <p:txBody>
          <a:bodyPr/>
          <a:lstStyle/>
          <a:p>
            <a:fld id="{AC2845FC-E9D4-4B00-B81C-16D6AF5A4399}" type="slidenum">
              <a:rPr lang="en-ZA" smtClean="0"/>
              <a:t>8</a:t>
            </a:fld>
            <a:endParaRPr lang="en-ZA"/>
          </a:p>
        </p:txBody>
      </p:sp>
      <p:sp>
        <p:nvSpPr>
          <p:cNvPr id="5" name="Date Placeholder 4"/>
          <p:cNvSpPr>
            <a:spLocks noGrp="1"/>
          </p:cNvSpPr>
          <p:nvPr>
            <p:ph type="dt" sz="half" idx="10"/>
          </p:nvPr>
        </p:nvSpPr>
        <p:spPr/>
        <p:txBody>
          <a:bodyPr/>
          <a:lstStyle/>
          <a:p>
            <a:fld id="{676C6515-28C0-48AA-B8A7-B60B64B0E75A}" type="datetime1">
              <a:rPr lang="en-ZA" smtClean="0"/>
              <a:t>2024/10/08</a:t>
            </a:fld>
            <a:endParaRPr lang="en-ZA"/>
          </a:p>
        </p:txBody>
      </p:sp>
    </p:spTree>
    <p:extLst>
      <p:ext uri="{BB962C8B-B14F-4D97-AF65-F5344CB8AC3E}">
        <p14:creationId xmlns:p14="http://schemas.microsoft.com/office/powerpoint/2010/main" val="3135803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Opportunity Cost</a:t>
            </a:r>
          </a:p>
        </p:txBody>
      </p:sp>
      <p:sp>
        <p:nvSpPr>
          <p:cNvPr id="3" name="Content Placeholder 2"/>
          <p:cNvSpPr>
            <a:spLocks noGrp="1"/>
          </p:cNvSpPr>
          <p:nvPr>
            <p:ph idx="1"/>
          </p:nvPr>
        </p:nvSpPr>
        <p:spPr/>
        <p:txBody>
          <a:bodyPr>
            <a:normAutofit fontScale="77500" lnSpcReduction="20000"/>
          </a:bodyPr>
          <a:lstStyle/>
          <a:p>
            <a:r>
              <a:rPr lang="en-ZA" dirty="0"/>
              <a:t>The forgone opportunity of consuming a good or service</a:t>
            </a:r>
          </a:p>
          <a:p>
            <a:r>
              <a:rPr lang="en-ZA" dirty="0"/>
              <a:t>Represents an alternative that is given when a decision is made</a:t>
            </a:r>
          </a:p>
          <a:p>
            <a:pPr lvl="1"/>
            <a:r>
              <a:rPr lang="en-ZA" dirty="0"/>
              <a:t>Between leisure and work</a:t>
            </a:r>
          </a:p>
          <a:p>
            <a:pPr lvl="1"/>
            <a:r>
              <a:rPr lang="en-ZA" dirty="0"/>
              <a:t>More consumption now and less consumption at retirement</a:t>
            </a:r>
          </a:p>
          <a:p>
            <a:pPr lvl="1"/>
            <a:r>
              <a:rPr lang="en-ZA" dirty="0"/>
              <a:t>Between consumption and capital goods</a:t>
            </a:r>
          </a:p>
          <a:p>
            <a:pPr lvl="1"/>
            <a:r>
              <a:rPr lang="en-ZA" dirty="0"/>
              <a:t>Clothing and food</a:t>
            </a:r>
          </a:p>
          <a:p>
            <a:pPr lvl="1"/>
            <a:r>
              <a:rPr lang="en-ZA" dirty="0"/>
              <a:t>Between a highway and military hardware (Infrastructure and defence)</a:t>
            </a:r>
          </a:p>
          <a:p>
            <a:r>
              <a:rPr lang="en-ZA" dirty="0"/>
              <a:t>A choice between several mutually exclusive alternatives, and assuming that the best choice is made, opportunity cost is the second-best alternative that was not chosen.</a:t>
            </a:r>
          </a:p>
          <a:p>
            <a:r>
              <a:rPr lang="en-ZA" dirty="0"/>
              <a:t>Very important in economics</a:t>
            </a:r>
          </a:p>
        </p:txBody>
      </p:sp>
      <p:sp>
        <p:nvSpPr>
          <p:cNvPr id="4" name="Slide Number Placeholder 3"/>
          <p:cNvSpPr>
            <a:spLocks noGrp="1"/>
          </p:cNvSpPr>
          <p:nvPr>
            <p:ph type="sldNum" sz="quarter" idx="12"/>
          </p:nvPr>
        </p:nvSpPr>
        <p:spPr/>
        <p:txBody>
          <a:bodyPr/>
          <a:lstStyle/>
          <a:p>
            <a:fld id="{AC2845FC-E9D4-4B00-B81C-16D6AF5A4399}" type="slidenum">
              <a:rPr lang="en-ZA" smtClean="0"/>
              <a:t>9</a:t>
            </a:fld>
            <a:endParaRPr lang="en-ZA"/>
          </a:p>
        </p:txBody>
      </p:sp>
      <p:sp>
        <p:nvSpPr>
          <p:cNvPr id="5" name="Date Placeholder 4"/>
          <p:cNvSpPr>
            <a:spLocks noGrp="1"/>
          </p:cNvSpPr>
          <p:nvPr>
            <p:ph type="dt" sz="half" idx="10"/>
          </p:nvPr>
        </p:nvSpPr>
        <p:spPr/>
        <p:txBody>
          <a:bodyPr/>
          <a:lstStyle/>
          <a:p>
            <a:fld id="{5F8D8C55-4DEC-4032-B0AB-D87A30FE8804}" type="datetime1">
              <a:rPr lang="en-ZA" smtClean="0"/>
              <a:t>2024/10/08</a:t>
            </a:fld>
            <a:endParaRPr lang="en-ZA"/>
          </a:p>
        </p:txBody>
      </p:sp>
    </p:spTree>
    <p:extLst>
      <p:ext uri="{BB962C8B-B14F-4D97-AF65-F5344CB8AC3E}">
        <p14:creationId xmlns:p14="http://schemas.microsoft.com/office/powerpoint/2010/main" val="3554787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Opportunity Cost</a:t>
            </a:r>
          </a:p>
        </p:txBody>
      </p:sp>
      <p:sp>
        <p:nvSpPr>
          <p:cNvPr id="3" name="Content Placeholder 2"/>
          <p:cNvSpPr>
            <a:spLocks noGrp="1"/>
          </p:cNvSpPr>
          <p:nvPr>
            <p:ph idx="1"/>
          </p:nvPr>
        </p:nvSpPr>
        <p:spPr/>
        <p:txBody>
          <a:bodyPr/>
          <a:lstStyle/>
          <a:p>
            <a:r>
              <a:rPr lang="en-US" altLang="en-US" dirty="0"/>
              <a:t>Decisions involve tradeoffs. When you make a choice, you give up an opportunity to do something else. </a:t>
            </a:r>
          </a:p>
          <a:p>
            <a:pPr lvl="1"/>
            <a:r>
              <a:rPr lang="en-US" altLang="en-US" dirty="0"/>
              <a:t>Decision to study for a masters degree, by giving up the opportunity to work </a:t>
            </a:r>
          </a:p>
          <a:p>
            <a:r>
              <a:rPr lang="en-US" altLang="en-US" dirty="0"/>
              <a:t>The highest-valued alternative you give up is the opportunity cost of your decision. </a:t>
            </a:r>
          </a:p>
          <a:p>
            <a:pPr lvl="1"/>
            <a:r>
              <a:rPr lang="en-US" altLang="en-US" dirty="0"/>
              <a:t>Limited government budget: decision between university sponsorship and provision of training facilities for existing workers.</a:t>
            </a:r>
          </a:p>
          <a:p>
            <a:endParaRPr lang="en-ZA" dirty="0"/>
          </a:p>
        </p:txBody>
      </p:sp>
      <p:sp>
        <p:nvSpPr>
          <p:cNvPr id="4" name="Slide Number Placeholder 3"/>
          <p:cNvSpPr>
            <a:spLocks noGrp="1"/>
          </p:cNvSpPr>
          <p:nvPr>
            <p:ph type="sldNum" sz="quarter" idx="12"/>
          </p:nvPr>
        </p:nvSpPr>
        <p:spPr/>
        <p:txBody>
          <a:bodyPr/>
          <a:lstStyle/>
          <a:p>
            <a:fld id="{AC2845FC-E9D4-4B00-B81C-16D6AF5A4399}" type="slidenum">
              <a:rPr lang="en-ZA" smtClean="0"/>
              <a:t>10</a:t>
            </a:fld>
            <a:endParaRPr lang="en-ZA"/>
          </a:p>
        </p:txBody>
      </p:sp>
      <p:sp>
        <p:nvSpPr>
          <p:cNvPr id="5" name="Date Placeholder 4"/>
          <p:cNvSpPr>
            <a:spLocks noGrp="1"/>
          </p:cNvSpPr>
          <p:nvPr>
            <p:ph type="dt" sz="half" idx="10"/>
          </p:nvPr>
        </p:nvSpPr>
        <p:spPr/>
        <p:txBody>
          <a:bodyPr/>
          <a:lstStyle/>
          <a:p>
            <a:fld id="{210F6969-B356-4CE7-B14D-61930C8192C6}" type="datetime1">
              <a:rPr lang="en-ZA" smtClean="0"/>
              <a:t>2024/10/08</a:t>
            </a:fld>
            <a:endParaRPr lang="en-ZA"/>
          </a:p>
        </p:txBody>
      </p:sp>
    </p:spTree>
    <p:extLst>
      <p:ext uri="{BB962C8B-B14F-4D97-AF65-F5344CB8AC3E}">
        <p14:creationId xmlns:p14="http://schemas.microsoft.com/office/powerpoint/2010/main" val="502901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Measuring Opportunity Cost</a:t>
            </a:r>
          </a:p>
        </p:txBody>
      </p:sp>
      <p:sp>
        <p:nvSpPr>
          <p:cNvPr id="3" name="Content Placeholder 2"/>
          <p:cNvSpPr>
            <a:spLocks noGrp="1"/>
          </p:cNvSpPr>
          <p:nvPr>
            <p:ph idx="1"/>
          </p:nvPr>
        </p:nvSpPr>
        <p:spPr/>
        <p:txBody>
          <a:bodyPr/>
          <a:lstStyle/>
          <a:p>
            <a:r>
              <a:rPr lang="en-US" altLang="en-US" dirty="0"/>
              <a:t>An Engineering Firm can undertake two activities (construction and manufacturing) using all its limited resources.  The major decision for the year is how much manufacturing and construction to do. Look at the various combinations</a:t>
            </a:r>
          </a:p>
          <a:p>
            <a:endParaRPr lang="en-ZA" dirty="0"/>
          </a:p>
        </p:txBody>
      </p:sp>
      <p:sp>
        <p:nvSpPr>
          <p:cNvPr id="4" name="Date Placeholder 3"/>
          <p:cNvSpPr>
            <a:spLocks noGrp="1"/>
          </p:cNvSpPr>
          <p:nvPr>
            <p:ph type="dt" sz="half" idx="10"/>
          </p:nvPr>
        </p:nvSpPr>
        <p:spPr/>
        <p:txBody>
          <a:bodyPr/>
          <a:lstStyle/>
          <a:p>
            <a:fld id="{E7329A78-57D1-4B1E-9940-AD6A90C5E1A0}" type="datetime1">
              <a:rPr lang="en-ZA" smtClean="0"/>
              <a:t>2024/10/08</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11</a:t>
            </a:fld>
            <a:endParaRPr lang="en-ZA"/>
          </a:p>
        </p:txBody>
      </p:sp>
    </p:spTree>
    <p:extLst>
      <p:ext uri="{BB962C8B-B14F-4D97-AF65-F5344CB8AC3E}">
        <p14:creationId xmlns:p14="http://schemas.microsoft.com/office/powerpoint/2010/main" val="397892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A" dirty="0"/>
              <a:t>CONSTRUCTION VERSUS MANUFACTURING</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856755345"/>
              </p:ext>
            </p:extLst>
          </p:nvPr>
        </p:nvGraphicFramePr>
        <p:xfrm>
          <a:off x="1295400" y="2557463"/>
          <a:ext cx="9601200" cy="296672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370840">
                <a:tc>
                  <a:txBody>
                    <a:bodyPr/>
                    <a:lstStyle/>
                    <a:p>
                      <a:r>
                        <a:rPr lang="en-ZA" dirty="0"/>
                        <a:t>COMBINATION</a:t>
                      </a:r>
                    </a:p>
                  </a:txBody>
                  <a:tcPr/>
                </a:tc>
                <a:tc>
                  <a:txBody>
                    <a:bodyPr/>
                    <a:lstStyle/>
                    <a:p>
                      <a:r>
                        <a:rPr lang="en-ZA" dirty="0"/>
                        <a:t>CONSTRUCTION</a:t>
                      </a:r>
                    </a:p>
                  </a:txBody>
                  <a:tcPr/>
                </a:tc>
                <a:tc>
                  <a:txBody>
                    <a:bodyPr/>
                    <a:lstStyle/>
                    <a:p>
                      <a:r>
                        <a:rPr lang="en-ZA" dirty="0"/>
                        <a:t>MANUFACTURING</a:t>
                      </a:r>
                    </a:p>
                  </a:txBody>
                  <a:tcPr/>
                </a:tc>
                <a:extLst>
                  <a:ext uri="{0D108BD9-81ED-4DB2-BD59-A6C34878D82A}">
                    <a16:rowId xmlns:a16="http://schemas.microsoft.com/office/drawing/2014/main" val="10000"/>
                  </a:ext>
                </a:extLst>
              </a:tr>
              <a:tr h="370840">
                <a:tc>
                  <a:txBody>
                    <a:bodyPr/>
                    <a:lstStyle/>
                    <a:p>
                      <a:pPr algn="ctr"/>
                      <a:r>
                        <a:rPr lang="en-ZA" dirty="0"/>
                        <a:t>1</a:t>
                      </a:r>
                    </a:p>
                  </a:txBody>
                  <a:tcPr/>
                </a:tc>
                <a:tc>
                  <a:txBody>
                    <a:bodyPr/>
                    <a:lstStyle/>
                    <a:p>
                      <a:pPr algn="ctr"/>
                      <a:r>
                        <a:rPr lang="en-ZA" dirty="0"/>
                        <a:t>0</a:t>
                      </a:r>
                    </a:p>
                  </a:txBody>
                  <a:tcPr/>
                </a:tc>
                <a:tc>
                  <a:txBody>
                    <a:bodyPr/>
                    <a:lstStyle/>
                    <a:p>
                      <a:pPr algn="ctr"/>
                      <a:r>
                        <a:rPr lang="en-ZA" dirty="0"/>
                        <a:t>60</a:t>
                      </a:r>
                    </a:p>
                  </a:txBody>
                  <a:tcPr/>
                </a:tc>
                <a:extLst>
                  <a:ext uri="{0D108BD9-81ED-4DB2-BD59-A6C34878D82A}">
                    <a16:rowId xmlns:a16="http://schemas.microsoft.com/office/drawing/2014/main" val="10001"/>
                  </a:ext>
                </a:extLst>
              </a:tr>
              <a:tr h="370840">
                <a:tc>
                  <a:txBody>
                    <a:bodyPr/>
                    <a:lstStyle/>
                    <a:p>
                      <a:pPr algn="ctr"/>
                      <a:r>
                        <a:rPr lang="en-ZA" dirty="0"/>
                        <a:t>2</a:t>
                      </a:r>
                    </a:p>
                  </a:txBody>
                  <a:tcPr/>
                </a:tc>
                <a:tc>
                  <a:txBody>
                    <a:bodyPr/>
                    <a:lstStyle/>
                    <a:p>
                      <a:pPr algn="ctr"/>
                      <a:r>
                        <a:rPr lang="en-ZA" dirty="0"/>
                        <a:t>60</a:t>
                      </a:r>
                    </a:p>
                  </a:txBody>
                  <a:tcPr/>
                </a:tc>
                <a:tc>
                  <a:txBody>
                    <a:bodyPr/>
                    <a:lstStyle/>
                    <a:p>
                      <a:pPr algn="ctr"/>
                      <a:r>
                        <a:rPr lang="en-ZA" dirty="0"/>
                        <a:t>50</a:t>
                      </a:r>
                    </a:p>
                  </a:txBody>
                  <a:tcPr/>
                </a:tc>
                <a:extLst>
                  <a:ext uri="{0D108BD9-81ED-4DB2-BD59-A6C34878D82A}">
                    <a16:rowId xmlns:a16="http://schemas.microsoft.com/office/drawing/2014/main" val="10002"/>
                  </a:ext>
                </a:extLst>
              </a:tr>
              <a:tr h="370840">
                <a:tc>
                  <a:txBody>
                    <a:bodyPr/>
                    <a:lstStyle/>
                    <a:p>
                      <a:pPr algn="ctr"/>
                      <a:r>
                        <a:rPr lang="en-ZA" dirty="0"/>
                        <a:t>3</a:t>
                      </a:r>
                    </a:p>
                  </a:txBody>
                  <a:tcPr/>
                </a:tc>
                <a:tc>
                  <a:txBody>
                    <a:bodyPr/>
                    <a:lstStyle/>
                    <a:p>
                      <a:pPr algn="ctr"/>
                      <a:r>
                        <a:rPr lang="en-ZA" dirty="0"/>
                        <a:t>80</a:t>
                      </a:r>
                    </a:p>
                  </a:txBody>
                  <a:tcPr/>
                </a:tc>
                <a:tc>
                  <a:txBody>
                    <a:bodyPr/>
                    <a:lstStyle/>
                    <a:p>
                      <a:pPr algn="ctr"/>
                      <a:r>
                        <a:rPr lang="en-ZA" dirty="0"/>
                        <a:t>40</a:t>
                      </a:r>
                    </a:p>
                  </a:txBody>
                  <a:tcPr/>
                </a:tc>
                <a:extLst>
                  <a:ext uri="{0D108BD9-81ED-4DB2-BD59-A6C34878D82A}">
                    <a16:rowId xmlns:a16="http://schemas.microsoft.com/office/drawing/2014/main" val="10003"/>
                  </a:ext>
                </a:extLst>
              </a:tr>
              <a:tr h="370840">
                <a:tc>
                  <a:txBody>
                    <a:bodyPr/>
                    <a:lstStyle/>
                    <a:p>
                      <a:pPr algn="ctr"/>
                      <a:r>
                        <a:rPr lang="en-ZA" dirty="0"/>
                        <a:t>4</a:t>
                      </a:r>
                    </a:p>
                  </a:txBody>
                  <a:tcPr/>
                </a:tc>
                <a:tc>
                  <a:txBody>
                    <a:bodyPr/>
                    <a:lstStyle/>
                    <a:p>
                      <a:pPr algn="ctr"/>
                      <a:r>
                        <a:rPr lang="en-ZA" dirty="0"/>
                        <a:t>100</a:t>
                      </a:r>
                    </a:p>
                  </a:txBody>
                  <a:tcPr/>
                </a:tc>
                <a:tc>
                  <a:txBody>
                    <a:bodyPr/>
                    <a:lstStyle/>
                    <a:p>
                      <a:pPr algn="ctr"/>
                      <a:r>
                        <a:rPr lang="en-ZA" dirty="0"/>
                        <a:t>30</a:t>
                      </a:r>
                    </a:p>
                  </a:txBody>
                  <a:tcPr/>
                </a:tc>
                <a:extLst>
                  <a:ext uri="{0D108BD9-81ED-4DB2-BD59-A6C34878D82A}">
                    <a16:rowId xmlns:a16="http://schemas.microsoft.com/office/drawing/2014/main" val="10004"/>
                  </a:ext>
                </a:extLst>
              </a:tr>
              <a:tr h="370840">
                <a:tc>
                  <a:txBody>
                    <a:bodyPr/>
                    <a:lstStyle/>
                    <a:p>
                      <a:pPr algn="ctr"/>
                      <a:r>
                        <a:rPr lang="en-ZA" dirty="0"/>
                        <a:t>5</a:t>
                      </a:r>
                    </a:p>
                  </a:txBody>
                  <a:tcPr/>
                </a:tc>
                <a:tc>
                  <a:txBody>
                    <a:bodyPr/>
                    <a:lstStyle/>
                    <a:p>
                      <a:pPr algn="ctr"/>
                      <a:r>
                        <a:rPr lang="en-ZA" dirty="0"/>
                        <a:t>110</a:t>
                      </a:r>
                    </a:p>
                  </a:txBody>
                  <a:tcPr/>
                </a:tc>
                <a:tc>
                  <a:txBody>
                    <a:bodyPr/>
                    <a:lstStyle/>
                    <a:p>
                      <a:pPr algn="ctr"/>
                      <a:r>
                        <a:rPr lang="en-ZA" dirty="0"/>
                        <a:t>20</a:t>
                      </a:r>
                    </a:p>
                  </a:txBody>
                  <a:tcPr/>
                </a:tc>
                <a:extLst>
                  <a:ext uri="{0D108BD9-81ED-4DB2-BD59-A6C34878D82A}">
                    <a16:rowId xmlns:a16="http://schemas.microsoft.com/office/drawing/2014/main" val="10005"/>
                  </a:ext>
                </a:extLst>
              </a:tr>
              <a:tr h="370840">
                <a:tc>
                  <a:txBody>
                    <a:bodyPr/>
                    <a:lstStyle/>
                    <a:p>
                      <a:pPr algn="ctr"/>
                      <a:r>
                        <a:rPr lang="en-ZA" dirty="0"/>
                        <a:t>6</a:t>
                      </a:r>
                    </a:p>
                  </a:txBody>
                  <a:tcPr/>
                </a:tc>
                <a:tc>
                  <a:txBody>
                    <a:bodyPr/>
                    <a:lstStyle/>
                    <a:p>
                      <a:pPr algn="ctr"/>
                      <a:r>
                        <a:rPr lang="en-ZA" dirty="0"/>
                        <a:t>120</a:t>
                      </a:r>
                    </a:p>
                  </a:txBody>
                  <a:tcPr/>
                </a:tc>
                <a:tc>
                  <a:txBody>
                    <a:bodyPr/>
                    <a:lstStyle/>
                    <a:p>
                      <a:pPr algn="ctr"/>
                      <a:r>
                        <a:rPr lang="en-ZA" dirty="0"/>
                        <a:t>10</a:t>
                      </a:r>
                    </a:p>
                  </a:txBody>
                  <a:tcPr/>
                </a:tc>
                <a:extLst>
                  <a:ext uri="{0D108BD9-81ED-4DB2-BD59-A6C34878D82A}">
                    <a16:rowId xmlns:a16="http://schemas.microsoft.com/office/drawing/2014/main" val="10006"/>
                  </a:ext>
                </a:extLst>
              </a:tr>
              <a:tr h="370840">
                <a:tc>
                  <a:txBody>
                    <a:bodyPr/>
                    <a:lstStyle/>
                    <a:p>
                      <a:pPr algn="ctr"/>
                      <a:r>
                        <a:rPr lang="en-ZA" dirty="0"/>
                        <a:t>7</a:t>
                      </a:r>
                    </a:p>
                  </a:txBody>
                  <a:tcPr/>
                </a:tc>
                <a:tc>
                  <a:txBody>
                    <a:bodyPr/>
                    <a:lstStyle/>
                    <a:p>
                      <a:pPr algn="ctr"/>
                      <a:r>
                        <a:rPr lang="en-ZA"/>
                        <a:t>125</a:t>
                      </a:r>
                      <a:endParaRPr lang="en-ZA" dirty="0"/>
                    </a:p>
                  </a:txBody>
                  <a:tcPr/>
                </a:tc>
                <a:tc>
                  <a:txBody>
                    <a:bodyPr/>
                    <a:lstStyle/>
                    <a:p>
                      <a:pPr algn="ctr"/>
                      <a:r>
                        <a:rPr lang="en-ZA" dirty="0"/>
                        <a:t>0</a:t>
                      </a:r>
                    </a:p>
                  </a:txBody>
                  <a:tcPr/>
                </a:tc>
                <a:extLst>
                  <a:ext uri="{0D108BD9-81ED-4DB2-BD59-A6C34878D82A}">
                    <a16:rowId xmlns:a16="http://schemas.microsoft.com/office/drawing/2014/main" val="10007"/>
                  </a:ext>
                </a:extLst>
              </a:tr>
            </a:tbl>
          </a:graphicData>
        </a:graphic>
      </p:graphicFrame>
      <p:sp>
        <p:nvSpPr>
          <p:cNvPr id="4" name="Date Placeholder 3"/>
          <p:cNvSpPr>
            <a:spLocks noGrp="1"/>
          </p:cNvSpPr>
          <p:nvPr>
            <p:ph type="dt" sz="half" idx="10"/>
          </p:nvPr>
        </p:nvSpPr>
        <p:spPr/>
        <p:txBody>
          <a:bodyPr/>
          <a:lstStyle/>
          <a:p>
            <a:fld id="{E7329A78-57D1-4B1E-9940-AD6A90C5E1A0}" type="datetime1">
              <a:rPr lang="en-ZA" smtClean="0"/>
              <a:t>2024/10/08</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12</a:t>
            </a:fld>
            <a:endParaRPr lang="en-ZA"/>
          </a:p>
        </p:txBody>
      </p:sp>
    </p:spTree>
    <p:extLst>
      <p:ext uri="{BB962C8B-B14F-4D97-AF65-F5344CB8AC3E}">
        <p14:creationId xmlns:p14="http://schemas.microsoft.com/office/powerpoint/2010/main" val="846177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Opportunity Cost</a:t>
            </a:r>
          </a:p>
        </p:txBody>
      </p:sp>
      <p:sp>
        <p:nvSpPr>
          <p:cNvPr id="3" name="Content Placeholder 2"/>
          <p:cNvSpPr>
            <a:spLocks noGrp="1"/>
          </p:cNvSpPr>
          <p:nvPr>
            <p:ph idx="1"/>
          </p:nvPr>
        </p:nvSpPr>
        <p:spPr/>
        <p:txBody>
          <a:bodyPr>
            <a:normAutofit fontScale="92500" lnSpcReduction="20000"/>
          </a:bodyPr>
          <a:lstStyle/>
          <a:p>
            <a:r>
              <a:rPr lang="en-ZA" dirty="0"/>
              <a:t>The above information tell us how many units of manufacturing must be given up to produce an extra unit of construction.</a:t>
            </a:r>
          </a:p>
          <a:p>
            <a:r>
              <a:rPr lang="en-ZA" dirty="0"/>
              <a:t>For example; to move from combination 1 to 2  requires giving up 10 units of manufacturing to produce 60 units of construction. This implies that to produce an extra unit of construction one sixth of manufacturing must be giving up.  </a:t>
            </a:r>
          </a:p>
          <a:p>
            <a:r>
              <a:rPr lang="en-ZA" dirty="0"/>
              <a:t>From 2 to 3 requires giving up 10 units of manufacturing to produce an extra 20 units of construction., implying that MRS of construction for manufacturing is 0.5. if we compute the trade-off between construction and manufacturing for all the various points, we find that and increasing  MRS..</a:t>
            </a:r>
          </a:p>
          <a:p>
            <a:r>
              <a:rPr lang="en-ZA" dirty="0"/>
              <a:t>What are the economic implications?</a:t>
            </a:r>
          </a:p>
        </p:txBody>
      </p:sp>
      <p:sp>
        <p:nvSpPr>
          <p:cNvPr id="4" name="Date Placeholder 3"/>
          <p:cNvSpPr>
            <a:spLocks noGrp="1"/>
          </p:cNvSpPr>
          <p:nvPr>
            <p:ph type="dt" sz="half" idx="10"/>
          </p:nvPr>
        </p:nvSpPr>
        <p:spPr/>
        <p:txBody>
          <a:bodyPr/>
          <a:lstStyle/>
          <a:p>
            <a:fld id="{E7329A78-57D1-4B1E-9940-AD6A90C5E1A0}" type="datetime1">
              <a:rPr lang="en-ZA" smtClean="0"/>
              <a:t>2024/10/08</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13</a:t>
            </a:fld>
            <a:endParaRPr lang="en-ZA"/>
          </a:p>
        </p:txBody>
      </p:sp>
    </p:spTree>
    <p:extLst>
      <p:ext uri="{BB962C8B-B14F-4D97-AF65-F5344CB8AC3E}">
        <p14:creationId xmlns:p14="http://schemas.microsoft.com/office/powerpoint/2010/main" val="2073450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A" dirty="0"/>
              <a:t>Production Possibilities Frontier/Curve (PPF/C)</a:t>
            </a:r>
          </a:p>
        </p:txBody>
      </p:sp>
      <p:sp>
        <p:nvSpPr>
          <p:cNvPr id="3" name="Content Placeholder 2"/>
          <p:cNvSpPr>
            <a:spLocks noGrp="1"/>
          </p:cNvSpPr>
          <p:nvPr>
            <p:ph idx="1"/>
          </p:nvPr>
        </p:nvSpPr>
        <p:spPr/>
        <p:txBody>
          <a:bodyPr>
            <a:normAutofit lnSpcReduction="10000"/>
          </a:bodyPr>
          <a:lstStyle/>
          <a:p>
            <a:r>
              <a:rPr lang="en-ZA" dirty="0"/>
              <a:t>Recall the concept of opportunity cost</a:t>
            </a:r>
          </a:p>
          <a:p>
            <a:r>
              <a:rPr lang="en-ZA" dirty="0"/>
              <a:t>We cannot have more of both goods or services.</a:t>
            </a:r>
          </a:p>
          <a:p>
            <a:r>
              <a:rPr lang="en-ZA" dirty="0"/>
              <a:t>To increase the level of production of one good, the level of production of the other good must decrease provided that:</a:t>
            </a:r>
          </a:p>
          <a:p>
            <a:pPr lvl="1"/>
            <a:r>
              <a:rPr lang="en-ZA" dirty="0"/>
              <a:t>All resources are efficiently used and exhausted </a:t>
            </a:r>
          </a:p>
          <a:p>
            <a:pPr lvl="1"/>
            <a:r>
              <a:rPr lang="en-ZA" dirty="0"/>
              <a:t>Level of technology remains unchanged. </a:t>
            </a:r>
          </a:p>
          <a:p>
            <a:pPr lvl="1"/>
            <a:r>
              <a:rPr lang="en-ZA" dirty="0"/>
              <a:t>If we represent all these combinations on a graph the resulting curve is called the production possibilities curve or frontier.</a:t>
            </a:r>
          </a:p>
        </p:txBody>
      </p:sp>
      <p:sp>
        <p:nvSpPr>
          <p:cNvPr id="4" name="Date Placeholder 3"/>
          <p:cNvSpPr>
            <a:spLocks noGrp="1"/>
          </p:cNvSpPr>
          <p:nvPr>
            <p:ph type="dt" sz="half" idx="10"/>
          </p:nvPr>
        </p:nvSpPr>
        <p:spPr/>
        <p:txBody>
          <a:bodyPr/>
          <a:lstStyle/>
          <a:p>
            <a:fld id="{E7329A78-57D1-4B1E-9940-AD6A90C5E1A0}" type="datetime1">
              <a:rPr lang="en-ZA" smtClean="0"/>
              <a:t>2024/10/08</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14</a:t>
            </a:fld>
            <a:endParaRPr lang="en-ZA"/>
          </a:p>
        </p:txBody>
      </p:sp>
    </p:spTree>
    <p:extLst>
      <p:ext uri="{BB962C8B-B14F-4D97-AF65-F5344CB8AC3E}">
        <p14:creationId xmlns:p14="http://schemas.microsoft.com/office/powerpoint/2010/main" val="4159617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Production Possibilities Curve</a:t>
            </a:r>
          </a:p>
        </p:txBody>
      </p:sp>
      <p:sp>
        <p:nvSpPr>
          <p:cNvPr id="3" name="Content Placeholder 2"/>
          <p:cNvSpPr>
            <a:spLocks noGrp="1"/>
          </p:cNvSpPr>
          <p:nvPr>
            <p:ph idx="1"/>
          </p:nvPr>
        </p:nvSpPr>
        <p:spPr/>
        <p:txBody>
          <a:bodyPr/>
          <a:lstStyle/>
          <a:p>
            <a:r>
              <a:rPr lang="en-ZA" dirty="0"/>
              <a:t>Look at the various combinations of construction and manufacturing </a:t>
            </a:r>
          </a:p>
          <a:p>
            <a:r>
              <a:rPr lang="en-ZA" dirty="0"/>
              <a:t>We can represent all these combinations on a graph</a:t>
            </a:r>
          </a:p>
          <a:p>
            <a:r>
              <a:rPr lang="en-ZA" dirty="0"/>
              <a:t>That graph is called the PPC or PPF</a:t>
            </a:r>
          </a:p>
        </p:txBody>
      </p:sp>
      <p:sp>
        <p:nvSpPr>
          <p:cNvPr id="4" name="Date Placeholder 3"/>
          <p:cNvSpPr>
            <a:spLocks noGrp="1"/>
          </p:cNvSpPr>
          <p:nvPr>
            <p:ph type="dt" sz="half" idx="10"/>
          </p:nvPr>
        </p:nvSpPr>
        <p:spPr/>
        <p:txBody>
          <a:bodyPr/>
          <a:lstStyle/>
          <a:p>
            <a:fld id="{E7329A78-57D1-4B1E-9940-AD6A90C5E1A0}" type="datetime1">
              <a:rPr lang="en-ZA" smtClean="0"/>
              <a:t>2024/10/08</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15</a:t>
            </a:fld>
            <a:endParaRPr lang="en-ZA"/>
          </a:p>
        </p:txBody>
      </p:sp>
    </p:spTree>
    <p:extLst>
      <p:ext uri="{BB962C8B-B14F-4D97-AF65-F5344CB8AC3E}">
        <p14:creationId xmlns:p14="http://schemas.microsoft.com/office/powerpoint/2010/main" val="3421958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A" dirty="0"/>
              <a:t>PRODUCTION POSSIBILITIES FRONTIER</a:t>
            </a:r>
          </a:p>
        </p:txBody>
      </p:sp>
      <p:sp>
        <p:nvSpPr>
          <p:cNvPr id="4" name="Date Placeholder 3"/>
          <p:cNvSpPr>
            <a:spLocks noGrp="1"/>
          </p:cNvSpPr>
          <p:nvPr>
            <p:ph type="dt" sz="half" idx="10"/>
          </p:nvPr>
        </p:nvSpPr>
        <p:spPr/>
        <p:txBody>
          <a:bodyPr/>
          <a:lstStyle/>
          <a:p>
            <a:fld id="{E7329A78-57D1-4B1E-9940-AD6A90C5E1A0}" type="datetime1">
              <a:rPr lang="en-ZA" smtClean="0"/>
              <a:t>2024/10/08</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16</a:t>
            </a:fld>
            <a:endParaRPr lang="en-ZA"/>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992017487"/>
              </p:ext>
            </p:extLst>
          </p:nvPr>
        </p:nvGraphicFramePr>
        <p:xfrm>
          <a:off x="1295402" y="2285999"/>
          <a:ext cx="9601200" cy="396240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96850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Marginal Opportunity Cost</a:t>
            </a:r>
          </a:p>
        </p:txBody>
      </p:sp>
      <p:sp>
        <p:nvSpPr>
          <p:cNvPr id="3" name="Content Placeholder 2"/>
          <p:cNvSpPr>
            <a:spLocks noGrp="1"/>
          </p:cNvSpPr>
          <p:nvPr>
            <p:ph idx="1"/>
          </p:nvPr>
        </p:nvSpPr>
        <p:spPr/>
        <p:txBody>
          <a:bodyPr>
            <a:normAutofit lnSpcReduction="10000"/>
          </a:bodyPr>
          <a:lstStyle/>
          <a:p>
            <a:r>
              <a:rPr lang="en-ZA" dirty="0"/>
              <a:t>Moving from one combination to the other, one output must be given up to produce more of the other. </a:t>
            </a:r>
          </a:p>
          <a:p>
            <a:r>
              <a:rPr lang="en-ZA" dirty="0"/>
              <a:t>Therefore, this movement has an opportunity cost of 10 units of manufacturing.</a:t>
            </a:r>
          </a:p>
          <a:p>
            <a:r>
              <a:rPr lang="en-ZA" dirty="0"/>
              <a:t>This could also be called the Marginal Rate of Product Transformation (MRT)</a:t>
            </a:r>
          </a:p>
          <a:p>
            <a:r>
              <a:rPr lang="en-ZA" dirty="0"/>
              <a:t>The number of units of manufacturing that must be given up to produce an extra unit of construction with the utilization of all available resources </a:t>
            </a:r>
          </a:p>
          <a:p>
            <a:endParaRPr lang="en-ZA" dirty="0"/>
          </a:p>
        </p:txBody>
      </p:sp>
      <p:sp>
        <p:nvSpPr>
          <p:cNvPr id="4" name="Date Placeholder 3"/>
          <p:cNvSpPr>
            <a:spLocks noGrp="1"/>
          </p:cNvSpPr>
          <p:nvPr>
            <p:ph type="dt" sz="half" idx="10"/>
          </p:nvPr>
        </p:nvSpPr>
        <p:spPr/>
        <p:txBody>
          <a:bodyPr/>
          <a:lstStyle/>
          <a:p>
            <a:fld id="{E7329A78-57D1-4B1E-9940-AD6A90C5E1A0}" type="datetime1">
              <a:rPr lang="en-ZA" smtClean="0"/>
              <a:t>2024/10/08</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17</a:t>
            </a:fld>
            <a:endParaRPr lang="en-ZA"/>
          </a:p>
        </p:txBody>
      </p:sp>
    </p:spTree>
    <p:extLst>
      <p:ext uri="{BB962C8B-B14F-4D97-AF65-F5344CB8AC3E}">
        <p14:creationId xmlns:p14="http://schemas.microsoft.com/office/powerpoint/2010/main" val="25264998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PPF, Investment VS Consumption Goods</a:t>
            </a:r>
          </a:p>
        </p:txBody>
      </p:sp>
      <p:sp>
        <p:nvSpPr>
          <p:cNvPr id="4" name="Date Placeholder 3"/>
          <p:cNvSpPr>
            <a:spLocks noGrp="1"/>
          </p:cNvSpPr>
          <p:nvPr>
            <p:ph type="dt" sz="half" idx="10"/>
          </p:nvPr>
        </p:nvSpPr>
        <p:spPr/>
        <p:txBody>
          <a:bodyPr/>
          <a:lstStyle/>
          <a:p>
            <a:fld id="{E7329A78-57D1-4B1E-9940-AD6A90C5E1A0}" type="datetime1">
              <a:rPr lang="en-ZA" smtClean="0"/>
              <a:t>2024/10/08</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18</a:t>
            </a:fld>
            <a:endParaRPr lang="en-ZA"/>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918421277"/>
              </p:ext>
            </p:extLst>
          </p:nvPr>
        </p:nvGraphicFramePr>
        <p:xfrm>
          <a:off x="1295400" y="2557463"/>
          <a:ext cx="9601200" cy="33178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262558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Economics and Development</a:t>
            </a:r>
          </a:p>
        </p:txBody>
      </p:sp>
      <p:sp>
        <p:nvSpPr>
          <p:cNvPr id="3" name="Content Placeholder 2"/>
          <p:cNvSpPr>
            <a:spLocks noGrp="1"/>
          </p:cNvSpPr>
          <p:nvPr>
            <p:ph idx="1"/>
          </p:nvPr>
        </p:nvSpPr>
        <p:spPr/>
        <p:txBody>
          <a:bodyPr>
            <a:normAutofit lnSpcReduction="10000"/>
          </a:bodyPr>
          <a:lstStyle/>
          <a:p>
            <a:r>
              <a:rPr lang="en-ZA" dirty="0"/>
              <a:t>An outward shift in PPF represents economic development</a:t>
            </a:r>
          </a:p>
          <a:p>
            <a:r>
              <a:rPr lang="en-ZA" dirty="0"/>
              <a:t>This usually happens when there is:</a:t>
            </a:r>
          </a:p>
          <a:p>
            <a:pPr lvl="1"/>
            <a:r>
              <a:rPr lang="en-ZA" dirty="0"/>
              <a:t>Investments in research and development</a:t>
            </a:r>
          </a:p>
          <a:p>
            <a:pPr lvl="1"/>
            <a:r>
              <a:rPr lang="en-ZA" dirty="0"/>
              <a:t>Producing more capital goods at the expense of consumer goods</a:t>
            </a:r>
          </a:p>
          <a:p>
            <a:pPr lvl="1"/>
            <a:r>
              <a:rPr lang="en-ZA" dirty="0"/>
              <a:t>The rate of economic development in any country depends on the starting point on the PPF.</a:t>
            </a:r>
          </a:p>
          <a:p>
            <a:pPr lvl="1"/>
            <a:r>
              <a:rPr lang="en-ZA" dirty="0"/>
              <a:t>A country that invests in innovative technological research is more likely to grow faster than the one which replicates the current level of technology </a:t>
            </a:r>
          </a:p>
        </p:txBody>
      </p:sp>
      <p:sp>
        <p:nvSpPr>
          <p:cNvPr id="4" name="Date Placeholder 3"/>
          <p:cNvSpPr>
            <a:spLocks noGrp="1"/>
          </p:cNvSpPr>
          <p:nvPr>
            <p:ph type="dt" sz="half" idx="10"/>
          </p:nvPr>
        </p:nvSpPr>
        <p:spPr/>
        <p:txBody>
          <a:bodyPr/>
          <a:lstStyle/>
          <a:p>
            <a:fld id="{E7329A78-57D1-4B1E-9940-AD6A90C5E1A0}" type="datetime1">
              <a:rPr lang="en-ZA" smtClean="0"/>
              <a:t>2024/10/08</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19</a:t>
            </a:fld>
            <a:endParaRPr lang="en-ZA"/>
          </a:p>
        </p:txBody>
      </p:sp>
    </p:spTree>
    <p:extLst>
      <p:ext uri="{BB962C8B-B14F-4D97-AF65-F5344CB8AC3E}">
        <p14:creationId xmlns:p14="http://schemas.microsoft.com/office/powerpoint/2010/main" val="14485535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ChangeArrowheads="1"/>
          </p:cNvSpPr>
          <p:nvPr/>
        </p:nvSpPr>
        <p:spPr bwMode="auto">
          <a:xfrm>
            <a:off x="4171950" y="2117725"/>
            <a:ext cx="5595699" cy="555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4150" tIns="92075" rIns="184150" bIns="92075">
            <a:spAutoFit/>
          </a:bodyPr>
          <a:lstStyle>
            <a:lvl1pPr defTabSz="3657600">
              <a:defRPr>
                <a:solidFill>
                  <a:schemeClr val="tx1"/>
                </a:solidFill>
                <a:latin typeface="Arial" panose="020B0604020202020204" pitchFamily="34" charset="0"/>
              </a:defRPr>
            </a:lvl1pPr>
            <a:lvl2pPr marL="742950" indent="-285750" defTabSz="3657600">
              <a:defRPr>
                <a:solidFill>
                  <a:schemeClr val="tx1"/>
                </a:solidFill>
                <a:latin typeface="Arial" panose="020B0604020202020204" pitchFamily="34" charset="0"/>
              </a:defRPr>
            </a:lvl2pPr>
            <a:lvl3pPr marL="1143000" indent="-228600" defTabSz="3657600">
              <a:defRPr>
                <a:solidFill>
                  <a:schemeClr val="tx1"/>
                </a:solidFill>
                <a:latin typeface="Arial" panose="020B0604020202020204" pitchFamily="34" charset="0"/>
              </a:defRPr>
            </a:lvl3pPr>
            <a:lvl4pPr marL="1600200" indent="-228600" defTabSz="3657600">
              <a:defRPr>
                <a:solidFill>
                  <a:schemeClr val="tx1"/>
                </a:solidFill>
                <a:latin typeface="Arial" panose="020B0604020202020204" pitchFamily="34" charset="0"/>
              </a:defRPr>
            </a:lvl4pPr>
            <a:lvl5pPr marL="2057400" indent="-228600" defTabSz="3657600">
              <a:defRPr>
                <a:solidFill>
                  <a:schemeClr val="tx1"/>
                </a:solidFill>
                <a:latin typeface="Arial" panose="020B0604020202020204" pitchFamily="34" charset="0"/>
              </a:defRPr>
            </a:lvl5pPr>
            <a:lvl6pPr marL="2514600" indent="-228600" defTabSz="3657600" eaLnBrk="0" fontAlgn="base" hangingPunct="0">
              <a:spcBef>
                <a:spcPct val="0"/>
              </a:spcBef>
              <a:spcAft>
                <a:spcPct val="0"/>
              </a:spcAft>
              <a:defRPr>
                <a:solidFill>
                  <a:schemeClr val="tx1"/>
                </a:solidFill>
                <a:latin typeface="Arial" panose="020B0604020202020204" pitchFamily="34" charset="0"/>
              </a:defRPr>
            </a:lvl6pPr>
            <a:lvl7pPr marL="2971800" indent="-228600" defTabSz="3657600" eaLnBrk="0" fontAlgn="base" hangingPunct="0">
              <a:spcBef>
                <a:spcPct val="0"/>
              </a:spcBef>
              <a:spcAft>
                <a:spcPct val="0"/>
              </a:spcAft>
              <a:defRPr>
                <a:solidFill>
                  <a:schemeClr val="tx1"/>
                </a:solidFill>
                <a:latin typeface="Arial" panose="020B0604020202020204" pitchFamily="34" charset="0"/>
              </a:defRPr>
            </a:lvl7pPr>
            <a:lvl8pPr marL="3429000" indent="-228600" defTabSz="3657600" eaLnBrk="0" fontAlgn="base" hangingPunct="0">
              <a:spcBef>
                <a:spcPct val="0"/>
              </a:spcBef>
              <a:spcAft>
                <a:spcPct val="0"/>
              </a:spcAft>
              <a:defRPr>
                <a:solidFill>
                  <a:schemeClr val="tx1"/>
                </a:solidFill>
                <a:latin typeface="Arial" panose="020B0604020202020204" pitchFamily="34" charset="0"/>
              </a:defRPr>
            </a:lvl8pPr>
            <a:lvl9pPr marL="3886200" indent="-228600" defTabSz="3657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dirty="0">
                <a:solidFill>
                  <a:srgbClr val="000000"/>
                </a:solidFill>
              </a:rPr>
              <a:t>Innovative Research in Technology</a:t>
            </a:r>
          </a:p>
        </p:txBody>
      </p:sp>
      <p:sp>
        <p:nvSpPr>
          <p:cNvPr id="35843" name="Rectangle 3"/>
          <p:cNvSpPr>
            <a:spLocks noChangeArrowheads="1"/>
          </p:cNvSpPr>
          <p:nvPr/>
        </p:nvSpPr>
        <p:spPr bwMode="auto">
          <a:xfrm rot="-5400000">
            <a:off x="3123718" y="3425906"/>
            <a:ext cx="2358632"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a:spAutoFit/>
          </a:bodyPr>
          <a:lstStyle>
            <a:lvl1pPr defTabSz="3657600">
              <a:defRPr>
                <a:solidFill>
                  <a:schemeClr val="tx1"/>
                </a:solidFill>
                <a:latin typeface="Arial" panose="020B0604020202020204" pitchFamily="34" charset="0"/>
              </a:defRPr>
            </a:lvl1pPr>
            <a:lvl2pPr marL="742950" indent="-285750" defTabSz="3657600">
              <a:defRPr>
                <a:solidFill>
                  <a:schemeClr val="tx1"/>
                </a:solidFill>
                <a:latin typeface="Arial" panose="020B0604020202020204" pitchFamily="34" charset="0"/>
              </a:defRPr>
            </a:lvl2pPr>
            <a:lvl3pPr marL="1143000" indent="-228600" defTabSz="3657600">
              <a:defRPr>
                <a:solidFill>
                  <a:schemeClr val="tx1"/>
                </a:solidFill>
                <a:latin typeface="Arial" panose="020B0604020202020204" pitchFamily="34" charset="0"/>
              </a:defRPr>
            </a:lvl3pPr>
            <a:lvl4pPr marL="1600200" indent="-228600" defTabSz="3657600">
              <a:defRPr>
                <a:solidFill>
                  <a:schemeClr val="tx1"/>
                </a:solidFill>
                <a:latin typeface="Arial" panose="020B0604020202020204" pitchFamily="34" charset="0"/>
              </a:defRPr>
            </a:lvl4pPr>
            <a:lvl5pPr marL="2057400" indent="-228600" defTabSz="3657600">
              <a:defRPr>
                <a:solidFill>
                  <a:schemeClr val="tx1"/>
                </a:solidFill>
                <a:latin typeface="Arial" panose="020B0604020202020204" pitchFamily="34" charset="0"/>
              </a:defRPr>
            </a:lvl5pPr>
            <a:lvl6pPr marL="2514600" indent="-228600" defTabSz="3657600" eaLnBrk="0" fontAlgn="base" hangingPunct="0">
              <a:spcBef>
                <a:spcPct val="0"/>
              </a:spcBef>
              <a:spcAft>
                <a:spcPct val="0"/>
              </a:spcAft>
              <a:defRPr>
                <a:solidFill>
                  <a:schemeClr val="tx1"/>
                </a:solidFill>
                <a:latin typeface="Arial" panose="020B0604020202020204" pitchFamily="34" charset="0"/>
              </a:defRPr>
            </a:lvl6pPr>
            <a:lvl7pPr marL="2971800" indent="-228600" defTabSz="3657600" eaLnBrk="0" fontAlgn="base" hangingPunct="0">
              <a:spcBef>
                <a:spcPct val="0"/>
              </a:spcBef>
              <a:spcAft>
                <a:spcPct val="0"/>
              </a:spcAft>
              <a:defRPr>
                <a:solidFill>
                  <a:schemeClr val="tx1"/>
                </a:solidFill>
                <a:latin typeface="Arial" panose="020B0604020202020204" pitchFamily="34" charset="0"/>
              </a:defRPr>
            </a:lvl7pPr>
            <a:lvl8pPr marL="3429000" indent="-228600" defTabSz="3657600" eaLnBrk="0" fontAlgn="base" hangingPunct="0">
              <a:spcBef>
                <a:spcPct val="0"/>
              </a:spcBef>
              <a:spcAft>
                <a:spcPct val="0"/>
              </a:spcAft>
              <a:defRPr>
                <a:solidFill>
                  <a:schemeClr val="tx1"/>
                </a:solidFill>
                <a:latin typeface="Arial" panose="020B0604020202020204" pitchFamily="34" charset="0"/>
              </a:defRPr>
            </a:lvl8pPr>
            <a:lvl9pPr marL="3886200" indent="-228600" defTabSz="3657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dirty="0">
                <a:solidFill>
                  <a:srgbClr val="000000"/>
                </a:solidFill>
              </a:rPr>
              <a:t>Consumption Goods</a:t>
            </a:r>
          </a:p>
        </p:txBody>
      </p:sp>
      <p:sp>
        <p:nvSpPr>
          <p:cNvPr id="35844" name="Freeform 4"/>
          <p:cNvSpPr>
            <a:spLocks/>
          </p:cNvSpPr>
          <p:nvPr/>
        </p:nvSpPr>
        <p:spPr bwMode="auto">
          <a:xfrm>
            <a:off x="6972300" y="5797550"/>
            <a:ext cx="109538" cy="71438"/>
          </a:xfrm>
          <a:custGeom>
            <a:avLst/>
            <a:gdLst>
              <a:gd name="T0" fmla="*/ 0 w 49"/>
              <a:gd name="T1" fmla="*/ 34925 h 45"/>
              <a:gd name="T2" fmla="*/ 0 w 49"/>
              <a:gd name="T3" fmla="*/ 26988 h 45"/>
              <a:gd name="T4" fmla="*/ 4471 w 49"/>
              <a:gd name="T5" fmla="*/ 20638 h 45"/>
              <a:gd name="T6" fmla="*/ 8942 w 49"/>
              <a:gd name="T7" fmla="*/ 14288 h 45"/>
              <a:gd name="T8" fmla="*/ 13413 w 49"/>
              <a:gd name="T9" fmla="*/ 11113 h 45"/>
              <a:gd name="T10" fmla="*/ 22355 w 49"/>
              <a:gd name="T11" fmla="*/ 6350 h 45"/>
              <a:gd name="T12" fmla="*/ 31297 w 49"/>
              <a:gd name="T13" fmla="*/ 3175 h 45"/>
              <a:gd name="T14" fmla="*/ 40238 w 49"/>
              <a:gd name="T15" fmla="*/ 0 h 45"/>
              <a:gd name="T16" fmla="*/ 53651 w 49"/>
              <a:gd name="T17" fmla="*/ 0 h 45"/>
              <a:gd name="T18" fmla="*/ 62593 w 49"/>
              <a:gd name="T19" fmla="*/ 0 h 45"/>
              <a:gd name="T20" fmla="*/ 71535 w 49"/>
              <a:gd name="T21" fmla="*/ 3175 h 45"/>
              <a:gd name="T22" fmla="*/ 80477 w 49"/>
              <a:gd name="T23" fmla="*/ 6350 h 45"/>
              <a:gd name="T24" fmla="*/ 89419 w 49"/>
              <a:gd name="T25" fmla="*/ 11113 h 45"/>
              <a:gd name="T26" fmla="*/ 93890 w 49"/>
              <a:gd name="T27" fmla="*/ 14288 h 45"/>
              <a:gd name="T28" fmla="*/ 98361 w 49"/>
              <a:gd name="T29" fmla="*/ 20638 h 45"/>
              <a:gd name="T30" fmla="*/ 102832 w 49"/>
              <a:gd name="T31" fmla="*/ 26988 h 45"/>
              <a:gd name="T32" fmla="*/ 107303 w 49"/>
              <a:gd name="T33" fmla="*/ 34925 h 45"/>
              <a:gd name="T34" fmla="*/ 102832 w 49"/>
              <a:gd name="T35" fmla="*/ 41275 h 45"/>
              <a:gd name="T36" fmla="*/ 98361 w 49"/>
              <a:gd name="T37" fmla="*/ 46038 h 45"/>
              <a:gd name="T38" fmla="*/ 93890 w 49"/>
              <a:gd name="T39" fmla="*/ 52388 h 45"/>
              <a:gd name="T40" fmla="*/ 89419 w 49"/>
              <a:gd name="T41" fmla="*/ 58738 h 45"/>
              <a:gd name="T42" fmla="*/ 80477 w 49"/>
              <a:gd name="T43" fmla="*/ 63500 h 45"/>
              <a:gd name="T44" fmla="*/ 71535 w 49"/>
              <a:gd name="T45" fmla="*/ 66675 h 45"/>
              <a:gd name="T46" fmla="*/ 62593 w 49"/>
              <a:gd name="T47" fmla="*/ 66675 h 45"/>
              <a:gd name="T48" fmla="*/ 53651 w 49"/>
              <a:gd name="T49" fmla="*/ 69850 h 45"/>
              <a:gd name="T50" fmla="*/ 40238 w 49"/>
              <a:gd name="T51" fmla="*/ 66675 h 45"/>
              <a:gd name="T52" fmla="*/ 31297 w 49"/>
              <a:gd name="T53" fmla="*/ 66675 h 45"/>
              <a:gd name="T54" fmla="*/ 22355 w 49"/>
              <a:gd name="T55" fmla="*/ 63500 h 45"/>
              <a:gd name="T56" fmla="*/ 13413 w 49"/>
              <a:gd name="T57" fmla="*/ 58738 h 45"/>
              <a:gd name="T58" fmla="*/ 8942 w 49"/>
              <a:gd name="T59" fmla="*/ 52388 h 45"/>
              <a:gd name="T60" fmla="*/ 4471 w 49"/>
              <a:gd name="T61" fmla="*/ 46038 h 45"/>
              <a:gd name="T62" fmla="*/ 0 w 49"/>
              <a:gd name="T63" fmla="*/ 41275 h 45"/>
              <a:gd name="T64" fmla="*/ 0 w 49"/>
              <a:gd name="T65" fmla="*/ 34925 h 4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9" h="45">
                <a:moveTo>
                  <a:pt x="0" y="22"/>
                </a:moveTo>
                <a:lnTo>
                  <a:pt x="0" y="17"/>
                </a:lnTo>
                <a:lnTo>
                  <a:pt x="2" y="13"/>
                </a:lnTo>
                <a:lnTo>
                  <a:pt x="4" y="9"/>
                </a:lnTo>
                <a:lnTo>
                  <a:pt x="6" y="7"/>
                </a:lnTo>
                <a:lnTo>
                  <a:pt x="10" y="4"/>
                </a:lnTo>
                <a:lnTo>
                  <a:pt x="14" y="2"/>
                </a:lnTo>
                <a:lnTo>
                  <a:pt x="18" y="0"/>
                </a:lnTo>
                <a:lnTo>
                  <a:pt x="24" y="0"/>
                </a:lnTo>
                <a:lnTo>
                  <a:pt x="28" y="0"/>
                </a:lnTo>
                <a:lnTo>
                  <a:pt x="32" y="2"/>
                </a:lnTo>
                <a:lnTo>
                  <a:pt x="36" y="4"/>
                </a:lnTo>
                <a:lnTo>
                  <a:pt x="40" y="7"/>
                </a:lnTo>
                <a:lnTo>
                  <a:pt x="42" y="9"/>
                </a:lnTo>
                <a:lnTo>
                  <a:pt x="44" y="13"/>
                </a:lnTo>
                <a:lnTo>
                  <a:pt x="46" y="17"/>
                </a:lnTo>
                <a:lnTo>
                  <a:pt x="48" y="22"/>
                </a:lnTo>
                <a:lnTo>
                  <a:pt x="46" y="26"/>
                </a:lnTo>
                <a:lnTo>
                  <a:pt x="44" y="29"/>
                </a:lnTo>
                <a:lnTo>
                  <a:pt x="42" y="33"/>
                </a:lnTo>
                <a:lnTo>
                  <a:pt x="40" y="37"/>
                </a:lnTo>
                <a:lnTo>
                  <a:pt x="36" y="40"/>
                </a:lnTo>
                <a:lnTo>
                  <a:pt x="32" y="42"/>
                </a:lnTo>
                <a:lnTo>
                  <a:pt x="28" y="42"/>
                </a:lnTo>
                <a:lnTo>
                  <a:pt x="24" y="44"/>
                </a:lnTo>
                <a:lnTo>
                  <a:pt x="18" y="42"/>
                </a:lnTo>
                <a:lnTo>
                  <a:pt x="14" y="42"/>
                </a:lnTo>
                <a:lnTo>
                  <a:pt x="10" y="40"/>
                </a:lnTo>
                <a:lnTo>
                  <a:pt x="6" y="37"/>
                </a:lnTo>
                <a:lnTo>
                  <a:pt x="4" y="33"/>
                </a:lnTo>
                <a:lnTo>
                  <a:pt x="2" y="29"/>
                </a:lnTo>
                <a:lnTo>
                  <a:pt x="0" y="26"/>
                </a:lnTo>
                <a:lnTo>
                  <a:pt x="0" y="2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35845" name="Rectangle 5"/>
          <p:cNvSpPr>
            <a:spLocks noChangeArrowheads="1"/>
          </p:cNvSpPr>
          <p:nvPr/>
        </p:nvSpPr>
        <p:spPr bwMode="auto">
          <a:xfrm>
            <a:off x="4229101" y="4157663"/>
            <a:ext cx="577081" cy="555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4150" tIns="92075" rIns="184150" bIns="92075">
            <a:spAutoFit/>
          </a:bodyPr>
          <a:lstStyle>
            <a:lvl1pPr defTabSz="3657600">
              <a:defRPr>
                <a:solidFill>
                  <a:schemeClr val="tx1"/>
                </a:solidFill>
                <a:latin typeface="Arial" panose="020B0604020202020204" pitchFamily="34" charset="0"/>
              </a:defRPr>
            </a:lvl1pPr>
            <a:lvl2pPr marL="742950" indent="-285750" defTabSz="3657600">
              <a:defRPr>
                <a:solidFill>
                  <a:schemeClr val="tx1"/>
                </a:solidFill>
                <a:latin typeface="Arial" panose="020B0604020202020204" pitchFamily="34" charset="0"/>
              </a:defRPr>
            </a:lvl2pPr>
            <a:lvl3pPr marL="1143000" indent="-228600" defTabSz="3657600">
              <a:defRPr>
                <a:solidFill>
                  <a:schemeClr val="tx1"/>
                </a:solidFill>
                <a:latin typeface="Arial" panose="020B0604020202020204" pitchFamily="34" charset="0"/>
              </a:defRPr>
            </a:lvl3pPr>
            <a:lvl4pPr marL="1600200" indent="-228600" defTabSz="3657600">
              <a:defRPr>
                <a:solidFill>
                  <a:schemeClr val="tx1"/>
                </a:solidFill>
                <a:latin typeface="Arial" panose="020B0604020202020204" pitchFamily="34" charset="0"/>
              </a:defRPr>
            </a:lvl4pPr>
            <a:lvl5pPr marL="2057400" indent="-228600" defTabSz="3657600">
              <a:defRPr>
                <a:solidFill>
                  <a:schemeClr val="tx1"/>
                </a:solidFill>
                <a:latin typeface="Arial" panose="020B0604020202020204" pitchFamily="34" charset="0"/>
              </a:defRPr>
            </a:lvl5pPr>
            <a:lvl6pPr marL="2514600" indent="-228600" defTabSz="3657600" eaLnBrk="0" fontAlgn="base" hangingPunct="0">
              <a:spcBef>
                <a:spcPct val="0"/>
              </a:spcBef>
              <a:spcAft>
                <a:spcPct val="0"/>
              </a:spcAft>
              <a:defRPr>
                <a:solidFill>
                  <a:schemeClr val="tx1"/>
                </a:solidFill>
                <a:latin typeface="Arial" panose="020B0604020202020204" pitchFamily="34" charset="0"/>
              </a:defRPr>
            </a:lvl6pPr>
            <a:lvl7pPr marL="2971800" indent="-228600" defTabSz="3657600" eaLnBrk="0" fontAlgn="base" hangingPunct="0">
              <a:spcBef>
                <a:spcPct val="0"/>
              </a:spcBef>
              <a:spcAft>
                <a:spcPct val="0"/>
              </a:spcAft>
              <a:defRPr>
                <a:solidFill>
                  <a:schemeClr val="tx1"/>
                </a:solidFill>
                <a:latin typeface="Arial" panose="020B0604020202020204" pitchFamily="34" charset="0"/>
              </a:defRPr>
            </a:lvl7pPr>
            <a:lvl8pPr marL="3429000" indent="-228600" defTabSz="3657600" eaLnBrk="0" fontAlgn="base" hangingPunct="0">
              <a:spcBef>
                <a:spcPct val="0"/>
              </a:spcBef>
              <a:spcAft>
                <a:spcPct val="0"/>
              </a:spcAft>
              <a:defRPr>
                <a:solidFill>
                  <a:schemeClr val="tx1"/>
                </a:solidFill>
                <a:latin typeface="Arial" panose="020B0604020202020204" pitchFamily="34" charset="0"/>
              </a:defRPr>
            </a:lvl8pPr>
            <a:lvl9pPr marL="3886200" indent="-228600" defTabSz="3657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i="1">
                <a:solidFill>
                  <a:srgbClr val="000000"/>
                </a:solidFill>
              </a:rPr>
              <a:t>A</a:t>
            </a:r>
          </a:p>
        </p:txBody>
      </p:sp>
      <p:sp>
        <p:nvSpPr>
          <p:cNvPr id="35846" name="Rectangle 6"/>
          <p:cNvSpPr>
            <a:spLocks noChangeArrowheads="1"/>
          </p:cNvSpPr>
          <p:nvPr/>
        </p:nvSpPr>
        <p:spPr bwMode="auto">
          <a:xfrm>
            <a:off x="4238625" y="4094163"/>
            <a:ext cx="456856" cy="555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4150" tIns="92075" rIns="184150" bIns="92075">
            <a:spAutoFit/>
          </a:bodyPr>
          <a:lstStyle>
            <a:lvl1pPr defTabSz="3657600">
              <a:defRPr>
                <a:solidFill>
                  <a:schemeClr val="tx1"/>
                </a:solidFill>
                <a:latin typeface="Arial" panose="020B0604020202020204" pitchFamily="34" charset="0"/>
              </a:defRPr>
            </a:lvl1pPr>
            <a:lvl2pPr marL="742950" indent="-285750" defTabSz="3657600">
              <a:defRPr>
                <a:solidFill>
                  <a:schemeClr val="tx1"/>
                </a:solidFill>
                <a:latin typeface="Arial" panose="020B0604020202020204" pitchFamily="34" charset="0"/>
              </a:defRPr>
            </a:lvl2pPr>
            <a:lvl3pPr marL="1143000" indent="-228600" defTabSz="3657600">
              <a:defRPr>
                <a:solidFill>
                  <a:schemeClr val="tx1"/>
                </a:solidFill>
                <a:latin typeface="Arial" panose="020B0604020202020204" pitchFamily="34" charset="0"/>
              </a:defRPr>
            </a:lvl3pPr>
            <a:lvl4pPr marL="1600200" indent="-228600" defTabSz="3657600">
              <a:defRPr>
                <a:solidFill>
                  <a:schemeClr val="tx1"/>
                </a:solidFill>
                <a:latin typeface="Arial" panose="020B0604020202020204" pitchFamily="34" charset="0"/>
              </a:defRPr>
            </a:lvl4pPr>
            <a:lvl5pPr marL="2057400" indent="-228600" defTabSz="3657600">
              <a:defRPr>
                <a:solidFill>
                  <a:schemeClr val="tx1"/>
                </a:solidFill>
                <a:latin typeface="Arial" panose="020B0604020202020204" pitchFamily="34" charset="0"/>
              </a:defRPr>
            </a:lvl5pPr>
            <a:lvl6pPr marL="2514600" indent="-228600" defTabSz="3657600" eaLnBrk="0" fontAlgn="base" hangingPunct="0">
              <a:spcBef>
                <a:spcPct val="0"/>
              </a:spcBef>
              <a:spcAft>
                <a:spcPct val="0"/>
              </a:spcAft>
              <a:defRPr>
                <a:solidFill>
                  <a:schemeClr val="tx1"/>
                </a:solidFill>
                <a:latin typeface="Arial" panose="020B0604020202020204" pitchFamily="34" charset="0"/>
              </a:defRPr>
            </a:lvl6pPr>
            <a:lvl7pPr marL="2971800" indent="-228600" defTabSz="3657600" eaLnBrk="0" fontAlgn="base" hangingPunct="0">
              <a:spcBef>
                <a:spcPct val="0"/>
              </a:spcBef>
              <a:spcAft>
                <a:spcPct val="0"/>
              </a:spcAft>
              <a:defRPr>
                <a:solidFill>
                  <a:schemeClr val="tx1"/>
                </a:solidFill>
                <a:latin typeface="Arial" panose="020B0604020202020204" pitchFamily="34" charset="0"/>
              </a:defRPr>
            </a:lvl7pPr>
            <a:lvl8pPr marL="3429000" indent="-228600" defTabSz="3657600" eaLnBrk="0" fontAlgn="base" hangingPunct="0">
              <a:spcBef>
                <a:spcPct val="0"/>
              </a:spcBef>
              <a:spcAft>
                <a:spcPct val="0"/>
              </a:spcAft>
              <a:defRPr>
                <a:solidFill>
                  <a:schemeClr val="tx1"/>
                </a:solidFill>
                <a:latin typeface="Arial" panose="020B0604020202020204" pitchFamily="34" charset="0"/>
              </a:defRPr>
            </a:lvl8pPr>
            <a:lvl9pPr marL="3886200" indent="-228600" defTabSz="3657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solidFill>
                  <a:srgbClr val="000000"/>
                </a:solidFill>
              </a:rPr>
              <a:t> </a:t>
            </a:r>
          </a:p>
        </p:txBody>
      </p:sp>
      <p:sp>
        <p:nvSpPr>
          <p:cNvPr id="35847" name="Rectangle 7"/>
          <p:cNvSpPr>
            <a:spLocks noChangeArrowheads="1"/>
          </p:cNvSpPr>
          <p:nvPr/>
        </p:nvSpPr>
        <p:spPr bwMode="auto">
          <a:xfrm>
            <a:off x="6745289" y="5775325"/>
            <a:ext cx="577081" cy="555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4150" tIns="92075" rIns="184150" bIns="92075">
            <a:spAutoFit/>
          </a:bodyPr>
          <a:lstStyle>
            <a:lvl1pPr defTabSz="3657600">
              <a:defRPr>
                <a:solidFill>
                  <a:schemeClr val="tx1"/>
                </a:solidFill>
                <a:latin typeface="Arial" panose="020B0604020202020204" pitchFamily="34" charset="0"/>
              </a:defRPr>
            </a:lvl1pPr>
            <a:lvl2pPr marL="742950" indent="-285750" defTabSz="3657600">
              <a:defRPr>
                <a:solidFill>
                  <a:schemeClr val="tx1"/>
                </a:solidFill>
                <a:latin typeface="Arial" panose="020B0604020202020204" pitchFamily="34" charset="0"/>
              </a:defRPr>
            </a:lvl2pPr>
            <a:lvl3pPr marL="1143000" indent="-228600" defTabSz="3657600">
              <a:defRPr>
                <a:solidFill>
                  <a:schemeClr val="tx1"/>
                </a:solidFill>
                <a:latin typeface="Arial" panose="020B0604020202020204" pitchFamily="34" charset="0"/>
              </a:defRPr>
            </a:lvl3pPr>
            <a:lvl4pPr marL="1600200" indent="-228600" defTabSz="3657600">
              <a:defRPr>
                <a:solidFill>
                  <a:schemeClr val="tx1"/>
                </a:solidFill>
                <a:latin typeface="Arial" panose="020B0604020202020204" pitchFamily="34" charset="0"/>
              </a:defRPr>
            </a:lvl4pPr>
            <a:lvl5pPr marL="2057400" indent="-228600" defTabSz="3657600">
              <a:defRPr>
                <a:solidFill>
                  <a:schemeClr val="tx1"/>
                </a:solidFill>
                <a:latin typeface="Arial" panose="020B0604020202020204" pitchFamily="34" charset="0"/>
              </a:defRPr>
            </a:lvl5pPr>
            <a:lvl6pPr marL="2514600" indent="-228600" defTabSz="3657600" eaLnBrk="0" fontAlgn="base" hangingPunct="0">
              <a:spcBef>
                <a:spcPct val="0"/>
              </a:spcBef>
              <a:spcAft>
                <a:spcPct val="0"/>
              </a:spcAft>
              <a:defRPr>
                <a:solidFill>
                  <a:schemeClr val="tx1"/>
                </a:solidFill>
                <a:latin typeface="Arial" panose="020B0604020202020204" pitchFamily="34" charset="0"/>
              </a:defRPr>
            </a:lvl6pPr>
            <a:lvl7pPr marL="2971800" indent="-228600" defTabSz="3657600" eaLnBrk="0" fontAlgn="base" hangingPunct="0">
              <a:spcBef>
                <a:spcPct val="0"/>
              </a:spcBef>
              <a:spcAft>
                <a:spcPct val="0"/>
              </a:spcAft>
              <a:defRPr>
                <a:solidFill>
                  <a:schemeClr val="tx1"/>
                </a:solidFill>
                <a:latin typeface="Arial" panose="020B0604020202020204" pitchFamily="34" charset="0"/>
              </a:defRPr>
            </a:lvl7pPr>
            <a:lvl8pPr marL="3429000" indent="-228600" defTabSz="3657600" eaLnBrk="0" fontAlgn="base" hangingPunct="0">
              <a:spcBef>
                <a:spcPct val="0"/>
              </a:spcBef>
              <a:spcAft>
                <a:spcPct val="0"/>
              </a:spcAft>
              <a:defRPr>
                <a:solidFill>
                  <a:schemeClr val="tx1"/>
                </a:solidFill>
                <a:latin typeface="Arial" panose="020B0604020202020204" pitchFamily="34" charset="0"/>
              </a:defRPr>
            </a:lvl8pPr>
            <a:lvl9pPr marL="3886200" indent="-228600" defTabSz="3657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i="1">
                <a:solidFill>
                  <a:srgbClr val="000000"/>
                </a:solidFill>
              </a:rPr>
              <a:t>B</a:t>
            </a:r>
          </a:p>
        </p:txBody>
      </p:sp>
      <p:sp>
        <p:nvSpPr>
          <p:cNvPr id="35848" name="Rectangle 8"/>
          <p:cNvSpPr>
            <a:spLocks noChangeArrowheads="1"/>
          </p:cNvSpPr>
          <p:nvPr/>
        </p:nvSpPr>
        <p:spPr bwMode="auto">
          <a:xfrm>
            <a:off x="8458201" y="5837238"/>
            <a:ext cx="145232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3657600">
              <a:defRPr>
                <a:solidFill>
                  <a:schemeClr val="tx1"/>
                </a:solidFill>
                <a:latin typeface="Arial" panose="020B0604020202020204" pitchFamily="34" charset="0"/>
              </a:defRPr>
            </a:lvl1pPr>
            <a:lvl2pPr marL="742950" indent="-285750" defTabSz="3657600">
              <a:defRPr>
                <a:solidFill>
                  <a:schemeClr val="tx1"/>
                </a:solidFill>
                <a:latin typeface="Arial" panose="020B0604020202020204" pitchFamily="34" charset="0"/>
              </a:defRPr>
            </a:lvl2pPr>
            <a:lvl3pPr marL="1143000" indent="-228600" defTabSz="3657600">
              <a:defRPr>
                <a:solidFill>
                  <a:schemeClr val="tx1"/>
                </a:solidFill>
                <a:latin typeface="Arial" panose="020B0604020202020204" pitchFamily="34" charset="0"/>
              </a:defRPr>
            </a:lvl3pPr>
            <a:lvl4pPr marL="1600200" indent="-228600" defTabSz="3657600">
              <a:defRPr>
                <a:solidFill>
                  <a:schemeClr val="tx1"/>
                </a:solidFill>
                <a:latin typeface="Arial" panose="020B0604020202020204" pitchFamily="34" charset="0"/>
              </a:defRPr>
            </a:lvl4pPr>
            <a:lvl5pPr marL="2057400" indent="-228600" defTabSz="3657600">
              <a:defRPr>
                <a:solidFill>
                  <a:schemeClr val="tx1"/>
                </a:solidFill>
                <a:latin typeface="Arial" panose="020B0604020202020204" pitchFamily="34" charset="0"/>
              </a:defRPr>
            </a:lvl5pPr>
            <a:lvl6pPr marL="2514600" indent="-228600" defTabSz="3657600" eaLnBrk="0" fontAlgn="base" hangingPunct="0">
              <a:spcBef>
                <a:spcPct val="0"/>
              </a:spcBef>
              <a:spcAft>
                <a:spcPct val="0"/>
              </a:spcAft>
              <a:defRPr>
                <a:solidFill>
                  <a:schemeClr val="tx1"/>
                </a:solidFill>
                <a:latin typeface="Arial" panose="020B0604020202020204" pitchFamily="34" charset="0"/>
              </a:defRPr>
            </a:lvl6pPr>
            <a:lvl7pPr marL="2971800" indent="-228600" defTabSz="3657600" eaLnBrk="0" fontAlgn="base" hangingPunct="0">
              <a:spcBef>
                <a:spcPct val="0"/>
              </a:spcBef>
              <a:spcAft>
                <a:spcPct val="0"/>
              </a:spcAft>
              <a:defRPr>
                <a:solidFill>
                  <a:schemeClr val="tx1"/>
                </a:solidFill>
                <a:latin typeface="Arial" panose="020B0604020202020204" pitchFamily="34" charset="0"/>
              </a:defRPr>
            </a:lvl7pPr>
            <a:lvl8pPr marL="3429000" indent="-228600" defTabSz="3657600" eaLnBrk="0" fontAlgn="base" hangingPunct="0">
              <a:spcBef>
                <a:spcPct val="0"/>
              </a:spcBef>
              <a:spcAft>
                <a:spcPct val="0"/>
              </a:spcAft>
              <a:defRPr>
                <a:solidFill>
                  <a:schemeClr val="tx1"/>
                </a:solidFill>
                <a:latin typeface="Arial" panose="020B0604020202020204" pitchFamily="34" charset="0"/>
              </a:defRPr>
            </a:lvl8pPr>
            <a:lvl9pPr marL="3886200" indent="-228600" defTabSz="3657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dirty="0">
                <a:solidFill>
                  <a:srgbClr val="000000"/>
                </a:solidFill>
              </a:rPr>
              <a:t>Investment Goods</a:t>
            </a:r>
          </a:p>
        </p:txBody>
      </p:sp>
      <p:sp>
        <p:nvSpPr>
          <p:cNvPr id="35849" name="Rectangle 9"/>
          <p:cNvSpPr>
            <a:spLocks noChangeArrowheads="1"/>
          </p:cNvSpPr>
          <p:nvPr/>
        </p:nvSpPr>
        <p:spPr bwMode="auto">
          <a:xfrm>
            <a:off x="4276725" y="5638800"/>
            <a:ext cx="543418" cy="555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4150" tIns="92075" rIns="184150" bIns="92075">
            <a:spAutoFit/>
          </a:bodyPr>
          <a:lstStyle>
            <a:lvl1pPr defTabSz="3657600">
              <a:defRPr>
                <a:solidFill>
                  <a:schemeClr val="tx1"/>
                </a:solidFill>
                <a:latin typeface="Arial" panose="020B0604020202020204" pitchFamily="34" charset="0"/>
              </a:defRPr>
            </a:lvl1pPr>
            <a:lvl2pPr marL="742950" indent="-285750" defTabSz="3657600">
              <a:defRPr>
                <a:solidFill>
                  <a:schemeClr val="tx1"/>
                </a:solidFill>
                <a:latin typeface="Arial" panose="020B0604020202020204" pitchFamily="34" charset="0"/>
              </a:defRPr>
            </a:lvl2pPr>
            <a:lvl3pPr marL="1143000" indent="-228600" defTabSz="3657600">
              <a:defRPr>
                <a:solidFill>
                  <a:schemeClr val="tx1"/>
                </a:solidFill>
                <a:latin typeface="Arial" panose="020B0604020202020204" pitchFamily="34" charset="0"/>
              </a:defRPr>
            </a:lvl3pPr>
            <a:lvl4pPr marL="1600200" indent="-228600" defTabSz="3657600">
              <a:defRPr>
                <a:solidFill>
                  <a:schemeClr val="tx1"/>
                </a:solidFill>
                <a:latin typeface="Arial" panose="020B0604020202020204" pitchFamily="34" charset="0"/>
              </a:defRPr>
            </a:lvl4pPr>
            <a:lvl5pPr marL="2057400" indent="-228600" defTabSz="3657600">
              <a:defRPr>
                <a:solidFill>
                  <a:schemeClr val="tx1"/>
                </a:solidFill>
                <a:latin typeface="Arial" panose="020B0604020202020204" pitchFamily="34" charset="0"/>
              </a:defRPr>
            </a:lvl5pPr>
            <a:lvl6pPr marL="2514600" indent="-228600" defTabSz="3657600" eaLnBrk="0" fontAlgn="base" hangingPunct="0">
              <a:spcBef>
                <a:spcPct val="0"/>
              </a:spcBef>
              <a:spcAft>
                <a:spcPct val="0"/>
              </a:spcAft>
              <a:defRPr>
                <a:solidFill>
                  <a:schemeClr val="tx1"/>
                </a:solidFill>
                <a:latin typeface="Arial" panose="020B0604020202020204" pitchFamily="34" charset="0"/>
              </a:defRPr>
            </a:lvl6pPr>
            <a:lvl7pPr marL="2971800" indent="-228600" defTabSz="3657600" eaLnBrk="0" fontAlgn="base" hangingPunct="0">
              <a:spcBef>
                <a:spcPct val="0"/>
              </a:spcBef>
              <a:spcAft>
                <a:spcPct val="0"/>
              </a:spcAft>
              <a:defRPr>
                <a:solidFill>
                  <a:schemeClr val="tx1"/>
                </a:solidFill>
                <a:latin typeface="Arial" panose="020B0604020202020204" pitchFamily="34" charset="0"/>
              </a:defRPr>
            </a:lvl7pPr>
            <a:lvl8pPr marL="3429000" indent="-228600" defTabSz="3657600" eaLnBrk="0" fontAlgn="base" hangingPunct="0">
              <a:spcBef>
                <a:spcPct val="0"/>
              </a:spcBef>
              <a:spcAft>
                <a:spcPct val="0"/>
              </a:spcAft>
              <a:defRPr>
                <a:solidFill>
                  <a:schemeClr val="tx1"/>
                </a:solidFill>
                <a:latin typeface="Arial" panose="020B0604020202020204" pitchFamily="34" charset="0"/>
              </a:defRPr>
            </a:lvl8pPr>
            <a:lvl9pPr marL="3886200" indent="-228600" defTabSz="3657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solidFill>
                  <a:srgbClr val="000000"/>
                </a:solidFill>
              </a:rPr>
              <a:t>0</a:t>
            </a:r>
          </a:p>
        </p:txBody>
      </p:sp>
      <p:sp>
        <p:nvSpPr>
          <p:cNvPr id="35850" name="Line 10"/>
          <p:cNvSpPr>
            <a:spLocks noChangeShapeType="1"/>
          </p:cNvSpPr>
          <p:nvPr/>
        </p:nvSpPr>
        <p:spPr bwMode="auto">
          <a:xfrm flipV="1">
            <a:off x="6199189" y="4681538"/>
            <a:ext cx="498475" cy="330200"/>
          </a:xfrm>
          <a:prstGeom prst="line">
            <a:avLst/>
          </a:prstGeom>
          <a:noFill/>
          <a:ln w="254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90123" name="Rectangle 11"/>
          <p:cNvSpPr>
            <a:spLocks noGrp="1" noChangeArrowheads="1"/>
          </p:cNvSpPr>
          <p:nvPr>
            <p:ph type="title"/>
          </p:nvPr>
        </p:nvSpPr>
        <p:spPr/>
        <p:txBody>
          <a:bodyPr/>
          <a:lstStyle/>
          <a:p>
            <a:pPr>
              <a:defRPr/>
            </a:pPr>
            <a:r>
              <a:rPr lang="en-US" altLang="en-US"/>
              <a:t>Shifts in the Production Possibility Curve</a:t>
            </a:r>
          </a:p>
        </p:txBody>
      </p:sp>
      <p:sp>
        <p:nvSpPr>
          <p:cNvPr id="35852" name="Freeform 12"/>
          <p:cNvSpPr>
            <a:spLocks/>
          </p:cNvSpPr>
          <p:nvPr/>
        </p:nvSpPr>
        <p:spPr bwMode="auto">
          <a:xfrm>
            <a:off x="4740275" y="4471989"/>
            <a:ext cx="2287588" cy="1354137"/>
          </a:xfrm>
          <a:custGeom>
            <a:avLst/>
            <a:gdLst>
              <a:gd name="T0" fmla="*/ 0 w 1029"/>
              <a:gd name="T1" fmla="*/ 0 h 853"/>
              <a:gd name="T2" fmla="*/ 266774 w 1029"/>
              <a:gd name="T3" fmla="*/ 65087 h 853"/>
              <a:gd name="T4" fmla="*/ 578011 w 1029"/>
              <a:gd name="T5" fmla="*/ 169862 h 853"/>
              <a:gd name="T6" fmla="*/ 911478 w 1029"/>
              <a:gd name="T7" fmla="*/ 311150 h 853"/>
              <a:gd name="T8" fmla="*/ 1249392 w 1029"/>
              <a:gd name="T9" fmla="*/ 477837 h 853"/>
              <a:gd name="T10" fmla="*/ 1573967 w 1029"/>
              <a:gd name="T11" fmla="*/ 671512 h 853"/>
              <a:gd name="T12" fmla="*/ 1867419 w 1029"/>
              <a:gd name="T13" fmla="*/ 885825 h 853"/>
              <a:gd name="T14" fmla="*/ 2111962 w 1029"/>
              <a:gd name="T15" fmla="*/ 1114425 h 853"/>
              <a:gd name="T16" fmla="*/ 2285365 w 1029"/>
              <a:gd name="T17" fmla="*/ 1352550 h 8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29" h="853">
                <a:moveTo>
                  <a:pt x="0" y="0"/>
                </a:moveTo>
                <a:lnTo>
                  <a:pt x="120" y="41"/>
                </a:lnTo>
                <a:lnTo>
                  <a:pt x="260" y="107"/>
                </a:lnTo>
                <a:lnTo>
                  <a:pt x="410" y="196"/>
                </a:lnTo>
                <a:lnTo>
                  <a:pt x="562" y="301"/>
                </a:lnTo>
                <a:lnTo>
                  <a:pt x="708" y="423"/>
                </a:lnTo>
                <a:lnTo>
                  <a:pt x="840" y="558"/>
                </a:lnTo>
                <a:lnTo>
                  <a:pt x="950" y="702"/>
                </a:lnTo>
                <a:lnTo>
                  <a:pt x="1028" y="852"/>
                </a:lnTo>
              </a:path>
            </a:pathLst>
          </a:custGeom>
          <a:noFill/>
          <a:ln w="38100" cap="rnd"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35853" name="Freeform 13"/>
          <p:cNvSpPr>
            <a:spLocks/>
          </p:cNvSpPr>
          <p:nvPr/>
        </p:nvSpPr>
        <p:spPr bwMode="auto">
          <a:xfrm>
            <a:off x="4695825" y="4438651"/>
            <a:ext cx="109538" cy="68263"/>
          </a:xfrm>
          <a:custGeom>
            <a:avLst/>
            <a:gdLst>
              <a:gd name="T0" fmla="*/ 0 w 49"/>
              <a:gd name="T1" fmla="*/ 31750 h 43"/>
              <a:gd name="T2" fmla="*/ 0 w 49"/>
              <a:gd name="T3" fmla="*/ 25400 h 43"/>
              <a:gd name="T4" fmla="*/ 4471 w 49"/>
              <a:gd name="T5" fmla="*/ 20638 h 43"/>
              <a:gd name="T6" fmla="*/ 4471 w 49"/>
              <a:gd name="T7" fmla="*/ 14288 h 43"/>
              <a:gd name="T8" fmla="*/ 13413 w 49"/>
              <a:gd name="T9" fmla="*/ 7938 h 43"/>
              <a:gd name="T10" fmla="*/ 22355 w 49"/>
              <a:gd name="T11" fmla="*/ 3175 h 43"/>
              <a:gd name="T12" fmla="*/ 31297 w 49"/>
              <a:gd name="T13" fmla="*/ 3175 h 43"/>
              <a:gd name="T14" fmla="*/ 40238 w 49"/>
              <a:gd name="T15" fmla="*/ 0 h 43"/>
              <a:gd name="T16" fmla="*/ 53651 w 49"/>
              <a:gd name="T17" fmla="*/ 0 h 43"/>
              <a:gd name="T18" fmla="*/ 62593 w 49"/>
              <a:gd name="T19" fmla="*/ 0 h 43"/>
              <a:gd name="T20" fmla="*/ 71535 w 49"/>
              <a:gd name="T21" fmla="*/ 3175 h 43"/>
              <a:gd name="T22" fmla="*/ 80477 w 49"/>
              <a:gd name="T23" fmla="*/ 3175 h 43"/>
              <a:gd name="T24" fmla="*/ 89419 w 49"/>
              <a:gd name="T25" fmla="*/ 7938 h 43"/>
              <a:gd name="T26" fmla="*/ 93890 w 49"/>
              <a:gd name="T27" fmla="*/ 14288 h 43"/>
              <a:gd name="T28" fmla="*/ 98361 w 49"/>
              <a:gd name="T29" fmla="*/ 20638 h 43"/>
              <a:gd name="T30" fmla="*/ 102832 w 49"/>
              <a:gd name="T31" fmla="*/ 25400 h 43"/>
              <a:gd name="T32" fmla="*/ 107303 w 49"/>
              <a:gd name="T33" fmla="*/ 31750 h 43"/>
              <a:gd name="T34" fmla="*/ 102832 w 49"/>
              <a:gd name="T35" fmla="*/ 41275 h 43"/>
              <a:gd name="T36" fmla="*/ 98361 w 49"/>
              <a:gd name="T37" fmla="*/ 46038 h 43"/>
              <a:gd name="T38" fmla="*/ 93890 w 49"/>
              <a:gd name="T39" fmla="*/ 52388 h 43"/>
              <a:gd name="T40" fmla="*/ 89419 w 49"/>
              <a:gd name="T41" fmla="*/ 58738 h 43"/>
              <a:gd name="T42" fmla="*/ 80477 w 49"/>
              <a:gd name="T43" fmla="*/ 60325 h 43"/>
              <a:gd name="T44" fmla="*/ 71535 w 49"/>
              <a:gd name="T45" fmla="*/ 63500 h 43"/>
              <a:gd name="T46" fmla="*/ 62593 w 49"/>
              <a:gd name="T47" fmla="*/ 66675 h 43"/>
              <a:gd name="T48" fmla="*/ 53651 w 49"/>
              <a:gd name="T49" fmla="*/ 66675 h 43"/>
              <a:gd name="T50" fmla="*/ 40238 w 49"/>
              <a:gd name="T51" fmla="*/ 66675 h 43"/>
              <a:gd name="T52" fmla="*/ 31297 w 49"/>
              <a:gd name="T53" fmla="*/ 63500 h 43"/>
              <a:gd name="T54" fmla="*/ 22355 w 49"/>
              <a:gd name="T55" fmla="*/ 60325 h 43"/>
              <a:gd name="T56" fmla="*/ 13413 w 49"/>
              <a:gd name="T57" fmla="*/ 58738 h 43"/>
              <a:gd name="T58" fmla="*/ 4471 w 49"/>
              <a:gd name="T59" fmla="*/ 52388 h 43"/>
              <a:gd name="T60" fmla="*/ 4471 w 49"/>
              <a:gd name="T61" fmla="*/ 46038 h 43"/>
              <a:gd name="T62" fmla="*/ 0 w 49"/>
              <a:gd name="T63" fmla="*/ 41275 h 43"/>
              <a:gd name="T64" fmla="*/ 0 w 49"/>
              <a:gd name="T65" fmla="*/ 31750 h 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9" h="43">
                <a:moveTo>
                  <a:pt x="0" y="20"/>
                </a:moveTo>
                <a:lnTo>
                  <a:pt x="0" y="16"/>
                </a:lnTo>
                <a:lnTo>
                  <a:pt x="2" y="13"/>
                </a:lnTo>
                <a:lnTo>
                  <a:pt x="2" y="9"/>
                </a:lnTo>
                <a:lnTo>
                  <a:pt x="6" y="5"/>
                </a:lnTo>
                <a:lnTo>
                  <a:pt x="10" y="2"/>
                </a:lnTo>
                <a:lnTo>
                  <a:pt x="14" y="2"/>
                </a:lnTo>
                <a:lnTo>
                  <a:pt x="18" y="0"/>
                </a:lnTo>
                <a:lnTo>
                  <a:pt x="24" y="0"/>
                </a:lnTo>
                <a:lnTo>
                  <a:pt x="28" y="0"/>
                </a:lnTo>
                <a:lnTo>
                  <a:pt x="32" y="2"/>
                </a:lnTo>
                <a:lnTo>
                  <a:pt x="36" y="2"/>
                </a:lnTo>
                <a:lnTo>
                  <a:pt x="40" y="5"/>
                </a:lnTo>
                <a:lnTo>
                  <a:pt x="42" y="9"/>
                </a:lnTo>
                <a:lnTo>
                  <a:pt x="44" y="13"/>
                </a:lnTo>
                <a:lnTo>
                  <a:pt x="46" y="16"/>
                </a:lnTo>
                <a:lnTo>
                  <a:pt x="48" y="20"/>
                </a:lnTo>
                <a:lnTo>
                  <a:pt x="46" y="26"/>
                </a:lnTo>
                <a:lnTo>
                  <a:pt x="44" y="29"/>
                </a:lnTo>
                <a:lnTo>
                  <a:pt x="42" y="33"/>
                </a:lnTo>
                <a:lnTo>
                  <a:pt x="40" y="37"/>
                </a:lnTo>
                <a:lnTo>
                  <a:pt x="36" y="38"/>
                </a:lnTo>
                <a:lnTo>
                  <a:pt x="32" y="40"/>
                </a:lnTo>
                <a:lnTo>
                  <a:pt x="28" y="42"/>
                </a:lnTo>
                <a:lnTo>
                  <a:pt x="24" y="42"/>
                </a:lnTo>
                <a:lnTo>
                  <a:pt x="18" y="42"/>
                </a:lnTo>
                <a:lnTo>
                  <a:pt x="14" y="40"/>
                </a:lnTo>
                <a:lnTo>
                  <a:pt x="10" y="38"/>
                </a:lnTo>
                <a:lnTo>
                  <a:pt x="6" y="37"/>
                </a:lnTo>
                <a:lnTo>
                  <a:pt x="2" y="33"/>
                </a:lnTo>
                <a:lnTo>
                  <a:pt x="2" y="29"/>
                </a:lnTo>
                <a:lnTo>
                  <a:pt x="0" y="26"/>
                </a:lnTo>
                <a:lnTo>
                  <a:pt x="0" y="2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grpSp>
        <p:nvGrpSpPr>
          <p:cNvPr id="90126" name="Group 14"/>
          <p:cNvGrpSpPr>
            <a:grpSpLocks/>
          </p:cNvGrpSpPr>
          <p:nvPr/>
        </p:nvGrpSpPr>
        <p:grpSpPr bwMode="auto">
          <a:xfrm>
            <a:off x="4195312" y="3631855"/>
            <a:ext cx="3948112" cy="2698750"/>
            <a:chOff x="1693" y="2285"/>
            <a:chExt cx="2487" cy="1700"/>
          </a:xfrm>
        </p:grpSpPr>
        <p:sp>
          <p:nvSpPr>
            <p:cNvPr id="35856" name="Freeform 15"/>
            <p:cNvSpPr>
              <a:spLocks/>
            </p:cNvSpPr>
            <p:nvPr/>
          </p:nvSpPr>
          <p:spPr bwMode="auto">
            <a:xfrm>
              <a:off x="3951" y="3652"/>
              <a:ext cx="68" cy="45"/>
            </a:xfrm>
            <a:custGeom>
              <a:avLst/>
              <a:gdLst>
                <a:gd name="T0" fmla="*/ 0 w 49"/>
                <a:gd name="T1" fmla="*/ 22 h 45"/>
                <a:gd name="T2" fmla="*/ 0 w 49"/>
                <a:gd name="T3" fmla="*/ 17 h 45"/>
                <a:gd name="T4" fmla="*/ 3 w 49"/>
                <a:gd name="T5" fmla="*/ 13 h 45"/>
                <a:gd name="T6" fmla="*/ 6 w 49"/>
                <a:gd name="T7" fmla="*/ 9 h 45"/>
                <a:gd name="T8" fmla="*/ 8 w 49"/>
                <a:gd name="T9" fmla="*/ 7 h 45"/>
                <a:gd name="T10" fmla="*/ 14 w 49"/>
                <a:gd name="T11" fmla="*/ 4 h 45"/>
                <a:gd name="T12" fmla="*/ 19 w 49"/>
                <a:gd name="T13" fmla="*/ 2 h 45"/>
                <a:gd name="T14" fmla="*/ 25 w 49"/>
                <a:gd name="T15" fmla="*/ 0 h 45"/>
                <a:gd name="T16" fmla="*/ 33 w 49"/>
                <a:gd name="T17" fmla="*/ 0 h 45"/>
                <a:gd name="T18" fmla="*/ 39 w 49"/>
                <a:gd name="T19" fmla="*/ 0 h 45"/>
                <a:gd name="T20" fmla="*/ 44 w 49"/>
                <a:gd name="T21" fmla="*/ 2 h 45"/>
                <a:gd name="T22" fmla="*/ 50 w 49"/>
                <a:gd name="T23" fmla="*/ 4 h 45"/>
                <a:gd name="T24" fmla="*/ 56 w 49"/>
                <a:gd name="T25" fmla="*/ 7 h 45"/>
                <a:gd name="T26" fmla="*/ 61 w 49"/>
                <a:gd name="T27" fmla="*/ 9 h 45"/>
                <a:gd name="T28" fmla="*/ 64 w 49"/>
                <a:gd name="T29" fmla="*/ 13 h 45"/>
                <a:gd name="T30" fmla="*/ 64 w 49"/>
                <a:gd name="T31" fmla="*/ 17 h 45"/>
                <a:gd name="T32" fmla="*/ 67 w 49"/>
                <a:gd name="T33" fmla="*/ 22 h 45"/>
                <a:gd name="T34" fmla="*/ 64 w 49"/>
                <a:gd name="T35" fmla="*/ 26 h 45"/>
                <a:gd name="T36" fmla="*/ 64 w 49"/>
                <a:gd name="T37" fmla="*/ 29 h 45"/>
                <a:gd name="T38" fmla="*/ 61 w 49"/>
                <a:gd name="T39" fmla="*/ 33 h 45"/>
                <a:gd name="T40" fmla="*/ 56 w 49"/>
                <a:gd name="T41" fmla="*/ 37 h 45"/>
                <a:gd name="T42" fmla="*/ 50 w 49"/>
                <a:gd name="T43" fmla="*/ 40 h 45"/>
                <a:gd name="T44" fmla="*/ 44 w 49"/>
                <a:gd name="T45" fmla="*/ 42 h 45"/>
                <a:gd name="T46" fmla="*/ 39 w 49"/>
                <a:gd name="T47" fmla="*/ 42 h 45"/>
                <a:gd name="T48" fmla="*/ 33 w 49"/>
                <a:gd name="T49" fmla="*/ 44 h 45"/>
                <a:gd name="T50" fmla="*/ 25 w 49"/>
                <a:gd name="T51" fmla="*/ 42 h 45"/>
                <a:gd name="T52" fmla="*/ 19 w 49"/>
                <a:gd name="T53" fmla="*/ 42 h 45"/>
                <a:gd name="T54" fmla="*/ 14 w 49"/>
                <a:gd name="T55" fmla="*/ 40 h 45"/>
                <a:gd name="T56" fmla="*/ 8 w 49"/>
                <a:gd name="T57" fmla="*/ 37 h 45"/>
                <a:gd name="T58" fmla="*/ 6 w 49"/>
                <a:gd name="T59" fmla="*/ 33 h 45"/>
                <a:gd name="T60" fmla="*/ 3 w 49"/>
                <a:gd name="T61" fmla="*/ 29 h 45"/>
                <a:gd name="T62" fmla="*/ 0 w 49"/>
                <a:gd name="T63" fmla="*/ 26 h 45"/>
                <a:gd name="T64" fmla="*/ 0 w 49"/>
                <a:gd name="T65" fmla="*/ 22 h 4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9" h="45">
                  <a:moveTo>
                    <a:pt x="0" y="22"/>
                  </a:moveTo>
                  <a:lnTo>
                    <a:pt x="0" y="17"/>
                  </a:lnTo>
                  <a:lnTo>
                    <a:pt x="2" y="13"/>
                  </a:lnTo>
                  <a:lnTo>
                    <a:pt x="4" y="9"/>
                  </a:lnTo>
                  <a:lnTo>
                    <a:pt x="6" y="7"/>
                  </a:lnTo>
                  <a:lnTo>
                    <a:pt x="10" y="4"/>
                  </a:lnTo>
                  <a:lnTo>
                    <a:pt x="14" y="2"/>
                  </a:lnTo>
                  <a:lnTo>
                    <a:pt x="18" y="0"/>
                  </a:lnTo>
                  <a:lnTo>
                    <a:pt x="24" y="0"/>
                  </a:lnTo>
                  <a:lnTo>
                    <a:pt x="28" y="0"/>
                  </a:lnTo>
                  <a:lnTo>
                    <a:pt x="32" y="2"/>
                  </a:lnTo>
                  <a:lnTo>
                    <a:pt x="36" y="4"/>
                  </a:lnTo>
                  <a:lnTo>
                    <a:pt x="40" y="7"/>
                  </a:lnTo>
                  <a:lnTo>
                    <a:pt x="44" y="9"/>
                  </a:lnTo>
                  <a:lnTo>
                    <a:pt x="46" y="13"/>
                  </a:lnTo>
                  <a:lnTo>
                    <a:pt x="46" y="17"/>
                  </a:lnTo>
                  <a:lnTo>
                    <a:pt x="48" y="22"/>
                  </a:lnTo>
                  <a:lnTo>
                    <a:pt x="46" y="26"/>
                  </a:lnTo>
                  <a:lnTo>
                    <a:pt x="46" y="29"/>
                  </a:lnTo>
                  <a:lnTo>
                    <a:pt x="44" y="33"/>
                  </a:lnTo>
                  <a:lnTo>
                    <a:pt x="40" y="37"/>
                  </a:lnTo>
                  <a:lnTo>
                    <a:pt x="36" y="40"/>
                  </a:lnTo>
                  <a:lnTo>
                    <a:pt x="32" y="42"/>
                  </a:lnTo>
                  <a:lnTo>
                    <a:pt x="28" y="42"/>
                  </a:lnTo>
                  <a:lnTo>
                    <a:pt x="24" y="44"/>
                  </a:lnTo>
                  <a:lnTo>
                    <a:pt x="18" y="42"/>
                  </a:lnTo>
                  <a:lnTo>
                    <a:pt x="14" y="42"/>
                  </a:lnTo>
                  <a:lnTo>
                    <a:pt x="10" y="40"/>
                  </a:lnTo>
                  <a:lnTo>
                    <a:pt x="6" y="37"/>
                  </a:lnTo>
                  <a:lnTo>
                    <a:pt x="4" y="33"/>
                  </a:lnTo>
                  <a:lnTo>
                    <a:pt x="2" y="29"/>
                  </a:lnTo>
                  <a:lnTo>
                    <a:pt x="0" y="26"/>
                  </a:lnTo>
                  <a:lnTo>
                    <a:pt x="0" y="2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35857" name="Rectangle 16"/>
            <p:cNvSpPr>
              <a:spLocks noChangeArrowheads="1"/>
            </p:cNvSpPr>
            <p:nvPr/>
          </p:nvSpPr>
          <p:spPr bwMode="auto">
            <a:xfrm>
              <a:off x="1693" y="2285"/>
              <a:ext cx="375"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4150" tIns="92075" rIns="184150" bIns="92075">
              <a:spAutoFit/>
            </a:bodyPr>
            <a:lstStyle>
              <a:lvl1pPr defTabSz="3657600">
                <a:defRPr>
                  <a:solidFill>
                    <a:schemeClr val="tx1"/>
                  </a:solidFill>
                  <a:latin typeface="Arial" panose="020B0604020202020204" pitchFamily="34" charset="0"/>
                </a:defRPr>
              </a:lvl1pPr>
              <a:lvl2pPr marL="742950" indent="-285750" defTabSz="3657600">
                <a:defRPr>
                  <a:solidFill>
                    <a:schemeClr val="tx1"/>
                  </a:solidFill>
                  <a:latin typeface="Arial" panose="020B0604020202020204" pitchFamily="34" charset="0"/>
                </a:defRPr>
              </a:lvl2pPr>
              <a:lvl3pPr marL="1143000" indent="-228600" defTabSz="3657600">
                <a:defRPr>
                  <a:solidFill>
                    <a:schemeClr val="tx1"/>
                  </a:solidFill>
                  <a:latin typeface="Arial" panose="020B0604020202020204" pitchFamily="34" charset="0"/>
                </a:defRPr>
              </a:lvl3pPr>
              <a:lvl4pPr marL="1600200" indent="-228600" defTabSz="3657600">
                <a:defRPr>
                  <a:solidFill>
                    <a:schemeClr val="tx1"/>
                  </a:solidFill>
                  <a:latin typeface="Arial" panose="020B0604020202020204" pitchFamily="34" charset="0"/>
                </a:defRPr>
              </a:lvl4pPr>
              <a:lvl5pPr marL="2057400" indent="-228600" defTabSz="3657600">
                <a:defRPr>
                  <a:solidFill>
                    <a:schemeClr val="tx1"/>
                  </a:solidFill>
                  <a:latin typeface="Arial" panose="020B0604020202020204" pitchFamily="34" charset="0"/>
                </a:defRPr>
              </a:lvl5pPr>
              <a:lvl6pPr marL="2514600" indent="-228600" defTabSz="3657600" eaLnBrk="0" fontAlgn="base" hangingPunct="0">
                <a:spcBef>
                  <a:spcPct val="0"/>
                </a:spcBef>
                <a:spcAft>
                  <a:spcPct val="0"/>
                </a:spcAft>
                <a:defRPr>
                  <a:solidFill>
                    <a:schemeClr val="tx1"/>
                  </a:solidFill>
                  <a:latin typeface="Arial" panose="020B0604020202020204" pitchFamily="34" charset="0"/>
                </a:defRPr>
              </a:lvl6pPr>
              <a:lvl7pPr marL="2971800" indent="-228600" defTabSz="3657600" eaLnBrk="0" fontAlgn="base" hangingPunct="0">
                <a:spcBef>
                  <a:spcPct val="0"/>
                </a:spcBef>
                <a:spcAft>
                  <a:spcPct val="0"/>
                </a:spcAft>
                <a:defRPr>
                  <a:solidFill>
                    <a:schemeClr val="tx1"/>
                  </a:solidFill>
                  <a:latin typeface="Arial" panose="020B0604020202020204" pitchFamily="34" charset="0"/>
                </a:defRPr>
              </a:lvl7pPr>
              <a:lvl8pPr marL="3429000" indent="-228600" defTabSz="3657600" eaLnBrk="0" fontAlgn="base" hangingPunct="0">
                <a:spcBef>
                  <a:spcPct val="0"/>
                </a:spcBef>
                <a:spcAft>
                  <a:spcPct val="0"/>
                </a:spcAft>
                <a:defRPr>
                  <a:solidFill>
                    <a:schemeClr val="tx1"/>
                  </a:solidFill>
                  <a:latin typeface="Arial" panose="020B0604020202020204" pitchFamily="34" charset="0"/>
                </a:defRPr>
              </a:lvl8pPr>
              <a:lvl9pPr marL="3886200" indent="-228600" defTabSz="3657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i="1">
                  <a:solidFill>
                    <a:srgbClr val="000000"/>
                  </a:solidFill>
                </a:rPr>
                <a:t>C</a:t>
              </a:r>
            </a:p>
          </p:txBody>
        </p:sp>
        <p:sp>
          <p:nvSpPr>
            <p:cNvPr id="35858" name="Rectangle 17"/>
            <p:cNvSpPr>
              <a:spLocks noChangeArrowheads="1"/>
            </p:cNvSpPr>
            <p:nvPr/>
          </p:nvSpPr>
          <p:spPr bwMode="auto">
            <a:xfrm>
              <a:off x="3805" y="3635"/>
              <a:ext cx="375"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4150" tIns="92075" rIns="184150" bIns="92075">
              <a:spAutoFit/>
            </a:bodyPr>
            <a:lstStyle>
              <a:lvl1pPr defTabSz="3657600">
                <a:defRPr>
                  <a:solidFill>
                    <a:schemeClr val="tx1"/>
                  </a:solidFill>
                  <a:latin typeface="Arial" panose="020B0604020202020204" pitchFamily="34" charset="0"/>
                </a:defRPr>
              </a:lvl1pPr>
              <a:lvl2pPr marL="742950" indent="-285750" defTabSz="3657600">
                <a:defRPr>
                  <a:solidFill>
                    <a:schemeClr val="tx1"/>
                  </a:solidFill>
                  <a:latin typeface="Arial" panose="020B0604020202020204" pitchFamily="34" charset="0"/>
                </a:defRPr>
              </a:lvl2pPr>
              <a:lvl3pPr marL="1143000" indent="-228600" defTabSz="3657600">
                <a:defRPr>
                  <a:solidFill>
                    <a:schemeClr val="tx1"/>
                  </a:solidFill>
                  <a:latin typeface="Arial" panose="020B0604020202020204" pitchFamily="34" charset="0"/>
                </a:defRPr>
              </a:lvl3pPr>
              <a:lvl4pPr marL="1600200" indent="-228600" defTabSz="3657600">
                <a:defRPr>
                  <a:solidFill>
                    <a:schemeClr val="tx1"/>
                  </a:solidFill>
                  <a:latin typeface="Arial" panose="020B0604020202020204" pitchFamily="34" charset="0"/>
                </a:defRPr>
              </a:lvl4pPr>
              <a:lvl5pPr marL="2057400" indent="-228600" defTabSz="3657600">
                <a:defRPr>
                  <a:solidFill>
                    <a:schemeClr val="tx1"/>
                  </a:solidFill>
                  <a:latin typeface="Arial" panose="020B0604020202020204" pitchFamily="34" charset="0"/>
                </a:defRPr>
              </a:lvl5pPr>
              <a:lvl6pPr marL="2514600" indent="-228600" defTabSz="3657600" eaLnBrk="0" fontAlgn="base" hangingPunct="0">
                <a:spcBef>
                  <a:spcPct val="0"/>
                </a:spcBef>
                <a:spcAft>
                  <a:spcPct val="0"/>
                </a:spcAft>
                <a:defRPr>
                  <a:solidFill>
                    <a:schemeClr val="tx1"/>
                  </a:solidFill>
                  <a:latin typeface="Arial" panose="020B0604020202020204" pitchFamily="34" charset="0"/>
                </a:defRPr>
              </a:lvl6pPr>
              <a:lvl7pPr marL="2971800" indent="-228600" defTabSz="3657600" eaLnBrk="0" fontAlgn="base" hangingPunct="0">
                <a:spcBef>
                  <a:spcPct val="0"/>
                </a:spcBef>
                <a:spcAft>
                  <a:spcPct val="0"/>
                </a:spcAft>
                <a:defRPr>
                  <a:solidFill>
                    <a:schemeClr val="tx1"/>
                  </a:solidFill>
                  <a:latin typeface="Arial" panose="020B0604020202020204" pitchFamily="34" charset="0"/>
                </a:defRPr>
              </a:lvl7pPr>
              <a:lvl8pPr marL="3429000" indent="-228600" defTabSz="3657600" eaLnBrk="0" fontAlgn="base" hangingPunct="0">
                <a:spcBef>
                  <a:spcPct val="0"/>
                </a:spcBef>
                <a:spcAft>
                  <a:spcPct val="0"/>
                </a:spcAft>
                <a:defRPr>
                  <a:solidFill>
                    <a:schemeClr val="tx1"/>
                  </a:solidFill>
                  <a:latin typeface="Arial" panose="020B0604020202020204" pitchFamily="34" charset="0"/>
                </a:defRPr>
              </a:lvl8pPr>
              <a:lvl9pPr marL="3886200" indent="-228600" defTabSz="3657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i="1">
                  <a:solidFill>
                    <a:srgbClr val="000000"/>
                  </a:solidFill>
                </a:rPr>
                <a:t>D</a:t>
              </a:r>
            </a:p>
          </p:txBody>
        </p:sp>
        <p:sp>
          <p:nvSpPr>
            <p:cNvPr id="35859" name="Freeform 18"/>
            <p:cNvSpPr>
              <a:spLocks/>
            </p:cNvSpPr>
            <p:nvPr/>
          </p:nvSpPr>
          <p:spPr bwMode="auto">
            <a:xfrm>
              <a:off x="1998" y="2456"/>
              <a:ext cx="69" cy="43"/>
            </a:xfrm>
            <a:custGeom>
              <a:avLst/>
              <a:gdLst>
                <a:gd name="T0" fmla="*/ 0 w 49"/>
                <a:gd name="T1" fmla="*/ 20 h 43"/>
                <a:gd name="T2" fmla="*/ 0 w 49"/>
                <a:gd name="T3" fmla="*/ 16 h 43"/>
                <a:gd name="T4" fmla="*/ 3 w 49"/>
                <a:gd name="T5" fmla="*/ 13 h 43"/>
                <a:gd name="T6" fmla="*/ 3 w 49"/>
                <a:gd name="T7" fmla="*/ 9 h 43"/>
                <a:gd name="T8" fmla="*/ 8 w 49"/>
                <a:gd name="T9" fmla="*/ 5 h 43"/>
                <a:gd name="T10" fmla="*/ 14 w 49"/>
                <a:gd name="T11" fmla="*/ 2 h 43"/>
                <a:gd name="T12" fmla="*/ 20 w 49"/>
                <a:gd name="T13" fmla="*/ 0 h 43"/>
                <a:gd name="T14" fmla="*/ 25 w 49"/>
                <a:gd name="T15" fmla="*/ 0 h 43"/>
                <a:gd name="T16" fmla="*/ 34 w 49"/>
                <a:gd name="T17" fmla="*/ 0 h 43"/>
                <a:gd name="T18" fmla="*/ 39 w 49"/>
                <a:gd name="T19" fmla="*/ 0 h 43"/>
                <a:gd name="T20" fmla="*/ 45 w 49"/>
                <a:gd name="T21" fmla="*/ 0 h 43"/>
                <a:gd name="T22" fmla="*/ 51 w 49"/>
                <a:gd name="T23" fmla="*/ 2 h 43"/>
                <a:gd name="T24" fmla="*/ 56 w 49"/>
                <a:gd name="T25" fmla="*/ 5 h 43"/>
                <a:gd name="T26" fmla="*/ 59 w 49"/>
                <a:gd name="T27" fmla="*/ 9 h 43"/>
                <a:gd name="T28" fmla="*/ 62 w 49"/>
                <a:gd name="T29" fmla="*/ 13 h 43"/>
                <a:gd name="T30" fmla="*/ 65 w 49"/>
                <a:gd name="T31" fmla="*/ 16 h 43"/>
                <a:gd name="T32" fmla="*/ 68 w 49"/>
                <a:gd name="T33" fmla="*/ 20 h 43"/>
                <a:gd name="T34" fmla="*/ 65 w 49"/>
                <a:gd name="T35" fmla="*/ 26 h 43"/>
                <a:gd name="T36" fmla="*/ 62 w 49"/>
                <a:gd name="T37" fmla="*/ 29 h 43"/>
                <a:gd name="T38" fmla="*/ 59 w 49"/>
                <a:gd name="T39" fmla="*/ 33 h 43"/>
                <a:gd name="T40" fmla="*/ 56 w 49"/>
                <a:gd name="T41" fmla="*/ 37 h 43"/>
                <a:gd name="T42" fmla="*/ 51 w 49"/>
                <a:gd name="T43" fmla="*/ 38 h 43"/>
                <a:gd name="T44" fmla="*/ 45 w 49"/>
                <a:gd name="T45" fmla="*/ 40 h 43"/>
                <a:gd name="T46" fmla="*/ 39 w 49"/>
                <a:gd name="T47" fmla="*/ 42 h 43"/>
                <a:gd name="T48" fmla="*/ 34 w 49"/>
                <a:gd name="T49" fmla="*/ 42 h 43"/>
                <a:gd name="T50" fmla="*/ 25 w 49"/>
                <a:gd name="T51" fmla="*/ 42 h 43"/>
                <a:gd name="T52" fmla="*/ 20 w 49"/>
                <a:gd name="T53" fmla="*/ 40 h 43"/>
                <a:gd name="T54" fmla="*/ 14 w 49"/>
                <a:gd name="T55" fmla="*/ 38 h 43"/>
                <a:gd name="T56" fmla="*/ 8 w 49"/>
                <a:gd name="T57" fmla="*/ 37 h 43"/>
                <a:gd name="T58" fmla="*/ 3 w 49"/>
                <a:gd name="T59" fmla="*/ 33 h 43"/>
                <a:gd name="T60" fmla="*/ 3 w 49"/>
                <a:gd name="T61" fmla="*/ 29 h 43"/>
                <a:gd name="T62" fmla="*/ 0 w 49"/>
                <a:gd name="T63" fmla="*/ 26 h 43"/>
                <a:gd name="T64" fmla="*/ 0 w 49"/>
                <a:gd name="T65" fmla="*/ 20 h 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9" h="43">
                  <a:moveTo>
                    <a:pt x="0" y="20"/>
                  </a:moveTo>
                  <a:lnTo>
                    <a:pt x="0" y="16"/>
                  </a:lnTo>
                  <a:lnTo>
                    <a:pt x="2" y="13"/>
                  </a:lnTo>
                  <a:lnTo>
                    <a:pt x="2" y="9"/>
                  </a:lnTo>
                  <a:lnTo>
                    <a:pt x="6" y="5"/>
                  </a:lnTo>
                  <a:lnTo>
                    <a:pt x="10" y="2"/>
                  </a:lnTo>
                  <a:lnTo>
                    <a:pt x="14" y="0"/>
                  </a:lnTo>
                  <a:lnTo>
                    <a:pt x="18" y="0"/>
                  </a:lnTo>
                  <a:lnTo>
                    <a:pt x="24" y="0"/>
                  </a:lnTo>
                  <a:lnTo>
                    <a:pt x="28" y="0"/>
                  </a:lnTo>
                  <a:lnTo>
                    <a:pt x="32" y="0"/>
                  </a:lnTo>
                  <a:lnTo>
                    <a:pt x="36" y="2"/>
                  </a:lnTo>
                  <a:lnTo>
                    <a:pt x="40" y="5"/>
                  </a:lnTo>
                  <a:lnTo>
                    <a:pt x="42" y="9"/>
                  </a:lnTo>
                  <a:lnTo>
                    <a:pt x="44" y="13"/>
                  </a:lnTo>
                  <a:lnTo>
                    <a:pt x="46" y="16"/>
                  </a:lnTo>
                  <a:lnTo>
                    <a:pt x="48" y="20"/>
                  </a:lnTo>
                  <a:lnTo>
                    <a:pt x="46" y="26"/>
                  </a:lnTo>
                  <a:lnTo>
                    <a:pt x="44" y="29"/>
                  </a:lnTo>
                  <a:lnTo>
                    <a:pt x="42" y="33"/>
                  </a:lnTo>
                  <a:lnTo>
                    <a:pt x="40" y="37"/>
                  </a:lnTo>
                  <a:lnTo>
                    <a:pt x="36" y="38"/>
                  </a:lnTo>
                  <a:lnTo>
                    <a:pt x="32" y="40"/>
                  </a:lnTo>
                  <a:lnTo>
                    <a:pt x="28" y="42"/>
                  </a:lnTo>
                  <a:lnTo>
                    <a:pt x="24" y="42"/>
                  </a:lnTo>
                  <a:lnTo>
                    <a:pt x="18" y="42"/>
                  </a:lnTo>
                  <a:lnTo>
                    <a:pt x="14" y="40"/>
                  </a:lnTo>
                  <a:lnTo>
                    <a:pt x="10" y="38"/>
                  </a:lnTo>
                  <a:lnTo>
                    <a:pt x="6" y="37"/>
                  </a:lnTo>
                  <a:lnTo>
                    <a:pt x="2" y="33"/>
                  </a:lnTo>
                  <a:lnTo>
                    <a:pt x="2" y="29"/>
                  </a:lnTo>
                  <a:lnTo>
                    <a:pt x="0" y="26"/>
                  </a:lnTo>
                  <a:lnTo>
                    <a:pt x="0" y="2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35860" name="Freeform 19"/>
            <p:cNvSpPr>
              <a:spLocks/>
            </p:cNvSpPr>
            <p:nvPr/>
          </p:nvSpPr>
          <p:spPr bwMode="auto">
            <a:xfrm>
              <a:off x="2032" y="2470"/>
              <a:ext cx="1962" cy="1200"/>
            </a:xfrm>
            <a:custGeom>
              <a:avLst/>
              <a:gdLst>
                <a:gd name="T0" fmla="*/ 0 w 1401"/>
                <a:gd name="T1" fmla="*/ 0 h 1200"/>
                <a:gd name="T2" fmla="*/ 283 w 1401"/>
                <a:gd name="T3" fmla="*/ 57 h 1200"/>
                <a:gd name="T4" fmla="*/ 580 w 1401"/>
                <a:gd name="T5" fmla="*/ 155 h 1200"/>
                <a:gd name="T6" fmla="*/ 882 w 1401"/>
                <a:gd name="T7" fmla="*/ 287 h 1200"/>
                <a:gd name="T8" fmla="*/ 1174 w 1401"/>
                <a:gd name="T9" fmla="*/ 444 h 1200"/>
                <a:gd name="T10" fmla="*/ 1442 w 1401"/>
                <a:gd name="T11" fmla="*/ 622 h 1200"/>
                <a:gd name="T12" fmla="*/ 1672 w 1401"/>
                <a:gd name="T13" fmla="*/ 810 h 1200"/>
                <a:gd name="T14" fmla="*/ 1849 w 1401"/>
                <a:gd name="T15" fmla="*/ 1007 h 1200"/>
                <a:gd name="T16" fmla="*/ 1961 w 1401"/>
                <a:gd name="T17" fmla="*/ 1199 h 12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01" h="1200">
                  <a:moveTo>
                    <a:pt x="0" y="0"/>
                  </a:moveTo>
                  <a:lnTo>
                    <a:pt x="202" y="57"/>
                  </a:lnTo>
                  <a:lnTo>
                    <a:pt x="414" y="155"/>
                  </a:lnTo>
                  <a:lnTo>
                    <a:pt x="630" y="287"/>
                  </a:lnTo>
                  <a:lnTo>
                    <a:pt x="838" y="444"/>
                  </a:lnTo>
                  <a:lnTo>
                    <a:pt x="1030" y="622"/>
                  </a:lnTo>
                  <a:lnTo>
                    <a:pt x="1194" y="810"/>
                  </a:lnTo>
                  <a:lnTo>
                    <a:pt x="1320" y="1007"/>
                  </a:lnTo>
                  <a:lnTo>
                    <a:pt x="1400" y="1199"/>
                  </a:lnTo>
                </a:path>
              </a:pathLst>
            </a:custGeom>
            <a:noFill/>
            <a:ln w="38100" cap="rnd" cmpd="sng">
              <a:solidFill>
                <a:srgbClr val="FF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35861" name="Line 20"/>
            <p:cNvSpPr>
              <a:spLocks noChangeShapeType="1"/>
            </p:cNvSpPr>
            <p:nvPr/>
          </p:nvSpPr>
          <p:spPr bwMode="auto">
            <a:xfrm flipV="1">
              <a:off x="2874" y="2859"/>
              <a:ext cx="162" cy="252"/>
            </a:xfrm>
            <a:prstGeom prst="line">
              <a:avLst/>
            </a:prstGeom>
            <a:noFill/>
            <a:ln w="762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grpSp>
      <p:sp>
        <p:nvSpPr>
          <p:cNvPr id="35855" name="Freeform 21"/>
          <p:cNvSpPr>
            <a:spLocks/>
          </p:cNvSpPr>
          <p:nvPr/>
        </p:nvSpPr>
        <p:spPr bwMode="auto">
          <a:xfrm>
            <a:off x="4745039" y="2982913"/>
            <a:ext cx="4217987" cy="2849562"/>
          </a:xfrm>
          <a:custGeom>
            <a:avLst/>
            <a:gdLst>
              <a:gd name="T0" fmla="*/ 0 w 1897"/>
              <a:gd name="T1" fmla="*/ 0 h 1795"/>
              <a:gd name="T2" fmla="*/ 0 w 1897"/>
              <a:gd name="T3" fmla="*/ 2847975 h 1795"/>
              <a:gd name="T4" fmla="*/ 4215763 w 1897"/>
              <a:gd name="T5" fmla="*/ 2847975 h 1795"/>
              <a:gd name="T6" fmla="*/ 0 60000 65536"/>
              <a:gd name="T7" fmla="*/ 0 60000 65536"/>
              <a:gd name="T8" fmla="*/ 0 60000 65536"/>
            </a:gdLst>
            <a:ahLst/>
            <a:cxnLst>
              <a:cxn ang="T6">
                <a:pos x="T0" y="T1"/>
              </a:cxn>
              <a:cxn ang="T7">
                <a:pos x="T2" y="T3"/>
              </a:cxn>
              <a:cxn ang="T8">
                <a:pos x="T4" y="T5"/>
              </a:cxn>
            </a:cxnLst>
            <a:rect l="0" t="0" r="r" b="b"/>
            <a:pathLst>
              <a:path w="1897" h="1795">
                <a:moveTo>
                  <a:pt x="0" y="0"/>
                </a:moveTo>
                <a:lnTo>
                  <a:pt x="0" y="1794"/>
                </a:lnTo>
                <a:lnTo>
                  <a:pt x="1896" y="1794"/>
                </a:lnTo>
              </a:path>
            </a:pathLst>
          </a:custGeom>
          <a:noFill/>
          <a:ln w="254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Tree>
    <p:extLst>
      <p:ext uri="{BB962C8B-B14F-4D97-AF65-F5344CB8AC3E}">
        <p14:creationId xmlns:p14="http://schemas.microsoft.com/office/powerpoint/2010/main" val="22284704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114">
                                            <p:txEl>
                                              <p:pRg st="0" end="0"/>
                                            </p:txEl>
                                          </p:spTgt>
                                        </p:tgtEl>
                                        <p:attrNameLst>
                                          <p:attrName>style.visibility</p:attrName>
                                        </p:attrNameLst>
                                      </p:cBhvr>
                                      <p:to>
                                        <p:strVal val="visible"/>
                                      </p:to>
                                    </p:set>
                                    <p:animEffect transition="in" filter="wipe(left)">
                                      <p:cBhvr>
                                        <p:cTn id="7" dur="500"/>
                                        <p:tgtEl>
                                          <p:spTgt spid="9011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272" fill="hold" nodeType="clickEffect">
                                  <p:stCondLst>
                                    <p:cond delay="0"/>
                                  </p:stCondLst>
                                  <p:childTnLst>
                                    <p:set>
                                      <p:cBhvr>
                                        <p:cTn id="11" dur="1" fill="hold">
                                          <p:stCondLst>
                                            <p:cond delay="0"/>
                                          </p:stCondLst>
                                        </p:cTn>
                                        <p:tgtEl>
                                          <p:spTgt spid="90126"/>
                                        </p:tgtEl>
                                        <p:attrNameLst>
                                          <p:attrName>style.visibility</p:attrName>
                                        </p:attrNameLst>
                                      </p:cBhvr>
                                      <p:to>
                                        <p:strVal val="visible"/>
                                      </p:to>
                                    </p:set>
                                    <p:anim calcmode="lin" valueType="num">
                                      <p:cBhvr>
                                        <p:cTn id="12" dur="500" fill="hold"/>
                                        <p:tgtEl>
                                          <p:spTgt spid="90126"/>
                                        </p:tgtEl>
                                        <p:attrNameLst>
                                          <p:attrName>ppt_w</p:attrName>
                                        </p:attrNameLst>
                                      </p:cBhvr>
                                      <p:tavLst>
                                        <p:tav tm="0">
                                          <p:val>
                                            <p:strVal val="2/3*#ppt_w"/>
                                          </p:val>
                                        </p:tav>
                                        <p:tav tm="100000">
                                          <p:val>
                                            <p:strVal val="#ppt_w"/>
                                          </p:val>
                                        </p:tav>
                                      </p:tavLst>
                                    </p:anim>
                                    <p:anim calcmode="lin" valueType="num">
                                      <p:cBhvr>
                                        <p:cTn id="13" dur="500" fill="hold"/>
                                        <p:tgtEl>
                                          <p:spTgt spid="90126"/>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ChangeArrowheads="1"/>
          </p:cNvSpPr>
          <p:nvPr/>
        </p:nvSpPr>
        <p:spPr bwMode="auto">
          <a:xfrm>
            <a:off x="4171950" y="2117725"/>
            <a:ext cx="4626459" cy="4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4150" tIns="92075" rIns="184150" bIns="92075">
            <a:spAutoFit/>
          </a:bodyPr>
          <a:lstStyle>
            <a:lvl1pPr defTabSz="3657600">
              <a:defRPr>
                <a:solidFill>
                  <a:schemeClr val="tx1"/>
                </a:solidFill>
                <a:latin typeface="Arial" panose="020B0604020202020204" pitchFamily="34" charset="0"/>
              </a:defRPr>
            </a:lvl1pPr>
            <a:lvl2pPr marL="742950" indent="-285750" defTabSz="3657600">
              <a:defRPr>
                <a:solidFill>
                  <a:schemeClr val="tx1"/>
                </a:solidFill>
                <a:latin typeface="Arial" panose="020B0604020202020204" pitchFamily="34" charset="0"/>
              </a:defRPr>
            </a:lvl2pPr>
            <a:lvl3pPr marL="1143000" indent="-228600" defTabSz="3657600">
              <a:defRPr>
                <a:solidFill>
                  <a:schemeClr val="tx1"/>
                </a:solidFill>
                <a:latin typeface="Arial" panose="020B0604020202020204" pitchFamily="34" charset="0"/>
              </a:defRPr>
            </a:lvl3pPr>
            <a:lvl4pPr marL="1600200" indent="-228600" defTabSz="3657600">
              <a:defRPr>
                <a:solidFill>
                  <a:schemeClr val="tx1"/>
                </a:solidFill>
                <a:latin typeface="Arial" panose="020B0604020202020204" pitchFamily="34" charset="0"/>
              </a:defRPr>
            </a:lvl4pPr>
            <a:lvl5pPr marL="2057400" indent="-228600" defTabSz="3657600">
              <a:defRPr>
                <a:solidFill>
                  <a:schemeClr val="tx1"/>
                </a:solidFill>
                <a:latin typeface="Arial" panose="020B0604020202020204" pitchFamily="34" charset="0"/>
              </a:defRPr>
            </a:lvl5pPr>
            <a:lvl6pPr marL="2514600" indent="-228600" defTabSz="3657600" eaLnBrk="0" fontAlgn="base" hangingPunct="0">
              <a:spcBef>
                <a:spcPct val="0"/>
              </a:spcBef>
              <a:spcAft>
                <a:spcPct val="0"/>
              </a:spcAft>
              <a:defRPr>
                <a:solidFill>
                  <a:schemeClr val="tx1"/>
                </a:solidFill>
                <a:latin typeface="Arial" panose="020B0604020202020204" pitchFamily="34" charset="0"/>
              </a:defRPr>
            </a:lvl6pPr>
            <a:lvl7pPr marL="2971800" indent="-228600" defTabSz="3657600" eaLnBrk="0" fontAlgn="base" hangingPunct="0">
              <a:spcBef>
                <a:spcPct val="0"/>
              </a:spcBef>
              <a:spcAft>
                <a:spcPct val="0"/>
              </a:spcAft>
              <a:defRPr>
                <a:solidFill>
                  <a:schemeClr val="tx1"/>
                </a:solidFill>
                <a:latin typeface="Arial" panose="020B0604020202020204" pitchFamily="34" charset="0"/>
              </a:defRPr>
            </a:lvl7pPr>
            <a:lvl8pPr marL="3429000" indent="-228600" defTabSz="3657600" eaLnBrk="0" fontAlgn="base" hangingPunct="0">
              <a:spcBef>
                <a:spcPct val="0"/>
              </a:spcBef>
              <a:spcAft>
                <a:spcPct val="0"/>
              </a:spcAft>
              <a:defRPr>
                <a:solidFill>
                  <a:schemeClr val="tx1"/>
                </a:solidFill>
                <a:latin typeface="Arial" panose="020B0604020202020204" pitchFamily="34" charset="0"/>
              </a:defRPr>
            </a:lvl8pPr>
            <a:lvl9pPr marL="3886200" indent="-228600" defTabSz="3657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b="1" dirty="0">
                <a:solidFill>
                  <a:srgbClr val="000000"/>
                </a:solidFill>
              </a:rPr>
              <a:t>Replication of Existing Technology</a:t>
            </a:r>
          </a:p>
        </p:txBody>
      </p:sp>
      <p:sp>
        <p:nvSpPr>
          <p:cNvPr id="35843" name="Rectangle 3"/>
          <p:cNvSpPr>
            <a:spLocks noChangeArrowheads="1"/>
          </p:cNvSpPr>
          <p:nvPr/>
        </p:nvSpPr>
        <p:spPr bwMode="auto">
          <a:xfrm rot="-5400000">
            <a:off x="3113980" y="3955663"/>
            <a:ext cx="210314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a:spAutoFit/>
          </a:bodyPr>
          <a:lstStyle>
            <a:lvl1pPr defTabSz="3657600">
              <a:defRPr>
                <a:solidFill>
                  <a:schemeClr val="tx1"/>
                </a:solidFill>
                <a:latin typeface="Arial" panose="020B0604020202020204" pitchFamily="34" charset="0"/>
              </a:defRPr>
            </a:lvl1pPr>
            <a:lvl2pPr marL="742950" indent="-285750" defTabSz="3657600">
              <a:defRPr>
                <a:solidFill>
                  <a:schemeClr val="tx1"/>
                </a:solidFill>
                <a:latin typeface="Arial" panose="020B0604020202020204" pitchFamily="34" charset="0"/>
              </a:defRPr>
            </a:lvl2pPr>
            <a:lvl3pPr marL="1143000" indent="-228600" defTabSz="3657600">
              <a:defRPr>
                <a:solidFill>
                  <a:schemeClr val="tx1"/>
                </a:solidFill>
                <a:latin typeface="Arial" panose="020B0604020202020204" pitchFamily="34" charset="0"/>
              </a:defRPr>
            </a:lvl3pPr>
            <a:lvl4pPr marL="1600200" indent="-228600" defTabSz="3657600">
              <a:defRPr>
                <a:solidFill>
                  <a:schemeClr val="tx1"/>
                </a:solidFill>
                <a:latin typeface="Arial" panose="020B0604020202020204" pitchFamily="34" charset="0"/>
              </a:defRPr>
            </a:lvl4pPr>
            <a:lvl5pPr marL="2057400" indent="-228600" defTabSz="3657600">
              <a:defRPr>
                <a:solidFill>
                  <a:schemeClr val="tx1"/>
                </a:solidFill>
                <a:latin typeface="Arial" panose="020B0604020202020204" pitchFamily="34" charset="0"/>
              </a:defRPr>
            </a:lvl5pPr>
            <a:lvl6pPr marL="2514600" indent="-228600" defTabSz="3657600" eaLnBrk="0" fontAlgn="base" hangingPunct="0">
              <a:spcBef>
                <a:spcPct val="0"/>
              </a:spcBef>
              <a:spcAft>
                <a:spcPct val="0"/>
              </a:spcAft>
              <a:defRPr>
                <a:solidFill>
                  <a:schemeClr val="tx1"/>
                </a:solidFill>
                <a:latin typeface="Arial" panose="020B0604020202020204" pitchFamily="34" charset="0"/>
              </a:defRPr>
            </a:lvl6pPr>
            <a:lvl7pPr marL="2971800" indent="-228600" defTabSz="3657600" eaLnBrk="0" fontAlgn="base" hangingPunct="0">
              <a:spcBef>
                <a:spcPct val="0"/>
              </a:spcBef>
              <a:spcAft>
                <a:spcPct val="0"/>
              </a:spcAft>
              <a:defRPr>
                <a:solidFill>
                  <a:schemeClr val="tx1"/>
                </a:solidFill>
                <a:latin typeface="Arial" panose="020B0604020202020204" pitchFamily="34" charset="0"/>
              </a:defRPr>
            </a:lvl7pPr>
            <a:lvl8pPr marL="3429000" indent="-228600" defTabSz="3657600" eaLnBrk="0" fontAlgn="base" hangingPunct="0">
              <a:spcBef>
                <a:spcPct val="0"/>
              </a:spcBef>
              <a:spcAft>
                <a:spcPct val="0"/>
              </a:spcAft>
              <a:defRPr>
                <a:solidFill>
                  <a:schemeClr val="tx1"/>
                </a:solidFill>
                <a:latin typeface="Arial" panose="020B0604020202020204" pitchFamily="34" charset="0"/>
              </a:defRPr>
            </a:lvl8pPr>
            <a:lvl9pPr marL="3886200" indent="-228600" defTabSz="3657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rPr>
              <a:t>Consumption Goods</a:t>
            </a:r>
          </a:p>
        </p:txBody>
      </p:sp>
      <p:sp>
        <p:nvSpPr>
          <p:cNvPr id="35844" name="Freeform 4"/>
          <p:cNvSpPr>
            <a:spLocks/>
          </p:cNvSpPr>
          <p:nvPr/>
        </p:nvSpPr>
        <p:spPr bwMode="auto">
          <a:xfrm>
            <a:off x="6972300" y="5797550"/>
            <a:ext cx="109538" cy="71438"/>
          </a:xfrm>
          <a:custGeom>
            <a:avLst/>
            <a:gdLst>
              <a:gd name="T0" fmla="*/ 0 w 49"/>
              <a:gd name="T1" fmla="*/ 34925 h 45"/>
              <a:gd name="T2" fmla="*/ 0 w 49"/>
              <a:gd name="T3" fmla="*/ 26988 h 45"/>
              <a:gd name="T4" fmla="*/ 4471 w 49"/>
              <a:gd name="T5" fmla="*/ 20638 h 45"/>
              <a:gd name="T6" fmla="*/ 8942 w 49"/>
              <a:gd name="T7" fmla="*/ 14288 h 45"/>
              <a:gd name="T8" fmla="*/ 13413 w 49"/>
              <a:gd name="T9" fmla="*/ 11113 h 45"/>
              <a:gd name="T10" fmla="*/ 22355 w 49"/>
              <a:gd name="T11" fmla="*/ 6350 h 45"/>
              <a:gd name="T12" fmla="*/ 31297 w 49"/>
              <a:gd name="T13" fmla="*/ 3175 h 45"/>
              <a:gd name="T14" fmla="*/ 40238 w 49"/>
              <a:gd name="T15" fmla="*/ 0 h 45"/>
              <a:gd name="T16" fmla="*/ 53651 w 49"/>
              <a:gd name="T17" fmla="*/ 0 h 45"/>
              <a:gd name="T18" fmla="*/ 62593 w 49"/>
              <a:gd name="T19" fmla="*/ 0 h 45"/>
              <a:gd name="T20" fmla="*/ 71535 w 49"/>
              <a:gd name="T21" fmla="*/ 3175 h 45"/>
              <a:gd name="T22" fmla="*/ 80477 w 49"/>
              <a:gd name="T23" fmla="*/ 6350 h 45"/>
              <a:gd name="T24" fmla="*/ 89419 w 49"/>
              <a:gd name="T25" fmla="*/ 11113 h 45"/>
              <a:gd name="T26" fmla="*/ 93890 w 49"/>
              <a:gd name="T27" fmla="*/ 14288 h 45"/>
              <a:gd name="T28" fmla="*/ 98361 w 49"/>
              <a:gd name="T29" fmla="*/ 20638 h 45"/>
              <a:gd name="T30" fmla="*/ 102832 w 49"/>
              <a:gd name="T31" fmla="*/ 26988 h 45"/>
              <a:gd name="T32" fmla="*/ 107303 w 49"/>
              <a:gd name="T33" fmla="*/ 34925 h 45"/>
              <a:gd name="T34" fmla="*/ 102832 w 49"/>
              <a:gd name="T35" fmla="*/ 41275 h 45"/>
              <a:gd name="T36" fmla="*/ 98361 w 49"/>
              <a:gd name="T37" fmla="*/ 46038 h 45"/>
              <a:gd name="T38" fmla="*/ 93890 w 49"/>
              <a:gd name="T39" fmla="*/ 52388 h 45"/>
              <a:gd name="T40" fmla="*/ 89419 w 49"/>
              <a:gd name="T41" fmla="*/ 58738 h 45"/>
              <a:gd name="T42" fmla="*/ 80477 w 49"/>
              <a:gd name="T43" fmla="*/ 63500 h 45"/>
              <a:gd name="T44" fmla="*/ 71535 w 49"/>
              <a:gd name="T45" fmla="*/ 66675 h 45"/>
              <a:gd name="T46" fmla="*/ 62593 w 49"/>
              <a:gd name="T47" fmla="*/ 66675 h 45"/>
              <a:gd name="T48" fmla="*/ 53651 w 49"/>
              <a:gd name="T49" fmla="*/ 69850 h 45"/>
              <a:gd name="T50" fmla="*/ 40238 w 49"/>
              <a:gd name="T51" fmla="*/ 66675 h 45"/>
              <a:gd name="T52" fmla="*/ 31297 w 49"/>
              <a:gd name="T53" fmla="*/ 66675 h 45"/>
              <a:gd name="T54" fmla="*/ 22355 w 49"/>
              <a:gd name="T55" fmla="*/ 63500 h 45"/>
              <a:gd name="T56" fmla="*/ 13413 w 49"/>
              <a:gd name="T57" fmla="*/ 58738 h 45"/>
              <a:gd name="T58" fmla="*/ 8942 w 49"/>
              <a:gd name="T59" fmla="*/ 52388 h 45"/>
              <a:gd name="T60" fmla="*/ 4471 w 49"/>
              <a:gd name="T61" fmla="*/ 46038 h 45"/>
              <a:gd name="T62" fmla="*/ 0 w 49"/>
              <a:gd name="T63" fmla="*/ 41275 h 45"/>
              <a:gd name="T64" fmla="*/ 0 w 49"/>
              <a:gd name="T65" fmla="*/ 34925 h 4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9" h="45">
                <a:moveTo>
                  <a:pt x="0" y="22"/>
                </a:moveTo>
                <a:lnTo>
                  <a:pt x="0" y="17"/>
                </a:lnTo>
                <a:lnTo>
                  <a:pt x="2" y="13"/>
                </a:lnTo>
                <a:lnTo>
                  <a:pt x="4" y="9"/>
                </a:lnTo>
                <a:lnTo>
                  <a:pt x="6" y="7"/>
                </a:lnTo>
                <a:lnTo>
                  <a:pt x="10" y="4"/>
                </a:lnTo>
                <a:lnTo>
                  <a:pt x="14" y="2"/>
                </a:lnTo>
                <a:lnTo>
                  <a:pt x="18" y="0"/>
                </a:lnTo>
                <a:lnTo>
                  <a:pt x="24" y="0"/>
                </a:lnTo>
                <a:lnTo>
                  <a:pt x="28" y="0"/>
                </a:lnTo>
                <a:lnTo>
                  <a:pt x="32" y="2"/>
                </a:lnTo>
                <a:lnTo>
                  <a:pt x="36" y="4"/>
                </a:lnTo>
                <a:lnTo>
                  <a:pt x="40" y="7"/>
                </a:lnTo>
                <a:lnTo>
                  <a:pt x="42" y="9"/>
                </a:lnTo>
                <a:lnTo>
                  <a:pt x="44" y="13"/>
                </a:lnTo>
                <a:lnTo>
                  <a:pt x="46" y="17"/>
                </a:lnTo>
                <a:lnTo>
                  <a:pt x="48" y="22"/>
                </a:lnTo>
                <a:lnTo>
                  <a:pt x="46" y="26"/>
                </a:lnTo>
                <a:lnTo>
                  <a:pt x="44" y="29"/>
                </a:lnTo>
                <a:lnTo>
                  <a:pt x="42" y="33"/>
                </a:lnTo>
                <a:lnTo>
                  <a:pt x="40" y="37"/>
                </a:lnTo>
                <a:lnTo>
                  <a:pt x="36" y="40"/>
                </a:lnTo>
                <a:lnTo>
                  <a:pt x="32" y="42"/>
                </a:lnTo>
                <a:lnTo>
                  <a:pt x="28" y="42"/>
                </a:lnTo>
                <a:lnTo>
                  <a:pt x="24" y="44"/>
                </a:lnTo>
                <a:lnTo>
                  <a:pt x="18" y="42"/>
                </a:lnTo>
                <a:lnTo>
                  <a:pt x="14" y="42"/>
                </a:lnTo>
                <a:lnTo>
                  <a:pt x="10" y="40"/>
                </a:lnTo>
                <a:lnTo>
                  <a:pt x="6" y="37"/>
                </a:lnTo>
                <a:lnTo>
                  <a:pt x="4" y="33"/>
                </a:lnTo>
                <a:lnTo>
                  <a:pt x="2" y="29"/>
                </a:lnTo>
                <a:lnTo>
                  <a:pt x="0" y="26"/>
                </a:lnTo>
                <a:lnTo>
                  <a:pt x="0" y="2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35845" name="Rectangle 5"/>
          <p:cNvSpPr>
            <a:spLocks noChangeArrowheads="1"/>
          </p:cNvSpPr>
          <p:nvPr/>
        </p:nvSpPr>
        <p:spPr bwMode="auto">
          <a:xfrm>
            <a:off x="4229101" y="4157663"/>
            <a:ext cx="577081" cy="555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4150" tIns="92075" rIns="184150" bIns="92075">
            <a:spAutoFit/>
          </a:bodyPr>
          <a:lstStyle>
            <a:lvl1pPr defTabSz="3657600">
              <a:defRPr>
                <a:solidFill>
                  <a:schemeClr val="tx1"/>
                </a:solidFill>
                <a:latin typeface="Arial" panose="020B0604020202020204" pitchFamily="34" charset="0"/>
              </a:defRPr>
            </a:lvl1pPr>
            <a:lvl2pPr marL="742950" indent="-285750" defTabSz="3657600">
              <a:defRPr>
                <a:solidFill>
                  <a:schemeClr val="tx1"/>
                </a:solidFill>
                <a:latin typeface="Arial" panose="020B0604020202020204" pitchFamily="34" charset="0"/>
              </a:defRPr>
            </a:lvl2pPr>
            <a:lvl3pPr marL="1143000" indent="-228600" defTabSz="3657600">
              <a:defRPr>
                <a:solidFill>
                  <a:schemeClr val="tx1"/>
                </a:solidFill>
                <a:latin typeface="Arial" panose="020B0604020202020204" pitchFamily="34" charset="0"/>
              </a:defRPr>
            </a:lvl3pPr>
            <a:lvl4pPr marL="1600200" indent="-228600" defTabSz="3657600">
              <a:defRPr>
                <a:solidFill>
                  <a:schemeClr val="tx1"/>
                </a:solidFill>
                <a:latin typeface="Arial" panose="020B0604020202020204" pitchFamily="34" charset="0"/>
              </a:defRPr>
            </a:lvl4pPr>
            <a:lvl5pPr marL="2057400" indent="-228600" defTabSz="3657600">
              <a:defRPr>
                <a:solidFill>
                  <a:schemeClr val="tx1"/>
                </a:solidFill>
                <a:latin typeface="Arial" panose="020B0604020202020204" pitchFamily="34" charset="0"/>
              </a:defRPr>
            </a:lvl5pPr>
            <a:lvl6pPr marL="2514600" indent="-228600" defTabSz="3657600" eaLnBrk="0" fontAlgn="base" hangingPunct="0">
              <a:spcBef>
                <a:spcPct val="0"/>
              </a:spcBef>
              <a:spcAft>
                <a:spcPct val="0"/>
              </a:spcAft>
              <a:defRPr>
                <a:solidFill>
                  <a:schemeClr val="tx1"/>
                </a:solidFill>
                <a:latin typeface="Arial" panose="020B0604020202020204" pitchFamily="34" charset="0"/>
              </a:defRPr>
            </a:lvl6pPr>
            <a:lvl7pPr marL="2971800" indent="-228600" defTabSz="3657600" eaLnBrk="0" fontAlgn="base" hangingPunct="0">
              <a:spcBef>
                <a:spcPct val="0"/>
              </a:spcBef>
              <a:spcAft>
                <a:spcPct val="0"/>
              </a:spcAft>
              <a:defRPr>
                <a:solidFill>
                  <a:schemeClr val="tx1"/>
                </a:solidFill>
                <a:latin typeface="Arial" panose="020B0604020202020204" pitchFamily="34" charset="0"/>
              </a:defRPr>
            </a:lvl7pPr>
            <a:lvl8pPr marL="3429000" indent="-228600" defTabSz="3657600" eaLnBrk="0" fontAlgn="base" hangingPunct="0">
              <a:spcBef>
                <a:spcPct val="0"/>
              </a:spcBef>
              <a:spcAft>
                <a:spcPct val="0"/>
              </a:spcAft>
              <a:defRPr>
                <a:solidFill>
                  <a:schemeClr val="tx1"/>
                </a:solidFill>
                <a:latin typeface="Arial" panose="020B0604020202020204" pitchFamily="34" charset="0"/>
              </a:defRPr>
            </a:lvl8pPr>
            <a:lvl9pPr marL="3886200" indent="-228600" defTabSz="3657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i="1">
                <a:solidFill>
                  <a:srgbClr val="000000"/>
                </a:solidFill>
              </a:rPr>
              <a:t>A</a:t>
            </a:r>
          </a:p>
        </p:txBody>
      </p:sp>
      <p:sp>
        <p:nvSpPr>
          <p:cNvPr id="35846" name="Rectangle 6"/>
          <p:cNvSpPr>
            <a:spLocks noChangeArrowheads="1"/>
          </p:cNvSpPr>
          <p:nvPr/>
        </p:nvSpPr>
        <p:spPr bwMode="auto">
          <a:xfrm>
            <a:off x="4238625" y="4094163"/>
            <a:ext cx="456856" cy="555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4150" tIns="92075" rIns="184150" bIns="92075">
            <a:spAutoFit/>
          </a:bodyPr>
          <a:lstStyle>
            <a:lvl1pPr defTabSz="3657600">
              <a:defRPr>
                <a:solidFill>
                  <a:schemeClr val="tx1"/>
                </a:solidFill>
                <a:latin typeface="Arial" panose="020B0604020202020204" pitchFamily="34" charset="0"/>
              </a:defRPr>
            </a:lvl1pPr>
            <a:lvl2pPr marL="742950" indent="-285750" defTabSz="3657600">
              <a:defRPr>
                <a:solidFill>
                  <a:schemeClr val="tx1"/>
                </a:solidFill>
                <a:latin typeface="Arial" panose="020B0604020202020204" pitchFamily="34" charset="0"/>
              </a:defRPr>
            </a:lvl2pPr>
            <a:lvl3pPr marL="1143000" indent="-228600" defTabSz="3657600">
              <a:defRPr>
                <a:solidFill>
                  <a:schemeClr val="tx1"/>
                </a:solidFill>
                <a:latin typeface="Arial" panose="020B0604020202020204" pitchFamily="34" charset="0"/>
              </a:defRPr>
            </a:lvl3pPr>
            <a:lvl4pPr marL="1600200" indent="-228600" defTabSz="3657600">
              <a:defRPr>
                <a:solidFill>
                  <a:schemeClr val="tx1"/>
                </a:solidFill>
                <a:latin typeface="Arial" panose="020B0604020202020204" pitchFamily="34" charset="0"/>
              </a:defRPr>
            </a:lvl4pPr>
            <a:lvl5pPr marL="2057400" indent="-228600" defTabSz="3657600">
              <a:defRPr>
                <a:solidFill>
                  <a:schemeClr val="tx1"/>
                </a:solidFill>
                <a:latin typeface="Arial" panose="020B0604020202020204" pitchFamily="34" charset="0"/>
              </a:defRPr>
            </a:lvl5pPr>
            <a:lvl6pPr marL="2514600" indent="-228600" defTabSz="3657600" eaLnBrk="0" fontAlgn="base" hangingPunct="0">
              <a:spcBef>
                <a:spcPct val="0"/>
              </a:spcBef>
              <a:spcAft>
                <a:spcPct val="0"/>
              </a:spcAft>
              <a:defRPr>
                <a:solidFill>
                  <a:schemeClr val="tx1"/>
                </a:solidFill>
                <a:latin typeface="Arial" panose="020B0604020202020204" pitchFamily="34" charset="0"/>
              </a:defRPr>
            </a:lvl6pPr>
            <a:lvl7pPr marL="2971800" indent="-228600" defTabSz="3657600" eaLnBrk="0" fontAlgn="base" hangingPunct="0">
              <a:spcBef>
                <a:spcPct val="0"/>
              </a:spcBef>
              <a:spcAft>
                <a:spcPct val="0"/>
              </a:spcAft>
              <a:defRPr>
                <a:solidFill>
                  <a:schemeClr val="tx1"/>
                </a:solidFill>
                <a:latin typeface="Arial" panose="020B0604020202020204" pitchFamily="34" charset="0"/>
              </a:defRPr>
            </a:lvl7pPr>
            <a:lvl8pPr marL="3429000" indent="-228600" defTabSz="3657600" eaLnBrk="0" fontAlgn="base" hangingPunct="0">
              <a:spcBef>
                <a:spcPct val="0"/>
              </a:spcBef>
              <a:spcAft>
                <a:spcPct val="0"/>
              </a:spcAft>
              <a:defRPr>
                <a:solidFill>
                  <a:schemeClr val="tx1"/>
                </a:solidFill>
                <a:latin typeface="Arial" panose="020B0604020202020204" pitchFamily="34" charset="0"/>
              </a:defRPr>
            </a:lvl8pPr>
            <a:lvl9pPr marL="3886200" indent="-228600" defTabSz="3657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solidFill>
                  <a:srgbClr val="000000"/>
                </a:solidFill>
              </a:rPr>
              <a:t> </a:t>
            </a:r>
          </a:p>
        </p:txBody>
      </p:sp>
      <p:sp>
        <p:nvSpPr>
          <p:cNvPr id="35847" name="Rectangle 7"/>
          <p:cNvSpPr>
            <a:spLocks noChangeArrowheads="1"/>
          </p:cNvSpPr>
          <p:nvPr/>
        </p:nvSpPr>
        <p:spPr bwMode="auto">
          <a:xfrm>
            <a:off x="6745289" y="5775325"/>
            <a:ext cx="577081" cy="555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4150" tIns="92075" rIns="184150" bIns="92075">
            <a:spAutoFit/>
          </a:bodyPr>
          <a:lstStyle>
            <a:lvl1pPr defTabSz="3657600">
              <a:defRPr>
                <a:solidFill>
                  <a:schemeClr val="tx1"/>
                </a:solidFill>
                <a:latin typeface="Arial" panose="020B0604020202020204" pitchFamily="34" charset="0"/>
              </a:defRPr>
            </a:lvl1pPr>
            <a:lvl2pPr marL="742950" indent="-285750" defTabSz="3657600">
              <a:defRPr>
                <a:solidFill>
                  <a:schemeClr val="tx1"/>
                </a:solidFill>
                <a:latin typeface="Arial" panose="020B0604020202020204" pitchFamily="34" charset="0"/>
              </a:defRPr>
            </a:lvl2pPr>
            <a:lvl3pPr marL="1143000" indent="-228600" defTabSz="3657600">
              <a:defRPr>
                <a:solidFill>
                  <a:schemeClr val="tx1"/>
                </a:solidFill>
                <a:latin typeface="Arial" panose="020B0604020202020204" pitchFamily="34" charset="0"/>
              </a:defRPr>
            </a:lvl3pPr>
            <a:lvl4pPr marL="1600200" indent="-228600" defTabSz="3657600">
              <a:defRPr>
                <a:solidFill>
                  <a:schemeClr val="tx1"/>
                </a:solidFill>
                <a:latin typeface="Arial" panose="020B0604020202020204" pitchFamily="34" charset="0"/>
              </a:defRPr>
            </a:lvl4pPr>
            <a:lvl5pPr marL="2057400" indent="-228600" defTabSz="3657600">
              <a:defRPr>
                <a:solidFill>
                  <a:schemeClr val="tx1"/>
                </a:solidFill>
                <a:latin typeface="Arial" panose="020B0604020202020204" pitchFamily="34" charset="0"/>
              </a:defRPr>
            </a:lvl5pPr>
            <a:lvl6pPr marL="2514600" indent="-228600" defTabSz="3657600" eaLnBrk="0" fontAlgn="base" hangingPunct="0">
              <a:spcBef>
                <a:spcPct val="0"/>
              </a:spcBef>
              <a:spcAft>
                <a:spcPct val="0"/>
              </a:spcAft>
              <a:defRPr>
                <a:solidFill>
                  <a:schemeClr val="tx1"/>
                </a:solidFill>
                <a:latin typeface="Arial" panose="020B0604020202020204" pitchFamily="34" charset="0"/>
              </a:defRPr>
            </a:lvl6pPr>
            <a:lvl7pPr marL="2971800" indent="-228600" defTabSz="3657600" eaLnBrk="0" fontAlgn="base" hangingPunct="0">
              <a:spcBef>
                <a:spcPct val="0"/>
              </a:spcBef>
              <a:spcAft>
                <a:spcPct val="0"/>
              </a:spcAft>
              <a:defRPr>
                <a:solidFill>
                  <a:schemeClr val="tx1"/>
                </a:solidFill>
                <a:latin typeface="Arial" panose="020B0604020202020204" pitchFamily="34" charset="0"/>
              </a:defRPr>
            </a:lvl7pPr>
            <a:lvl8pPr marL="3429000" indent="-228600" defTabSz="3657600" eaLnBrk="0" fontAlgn="base" hangingPunct="0">
              <a:spcBef>
                <a:spcPct val="0"/>
              </a:spcBef>
              <a:spcAft>
                <a:spcPct val="0"/>
              </a:spcAft>
              <a:defRPr>
                <a:solidFill>
                  <a:schemeClr val="tx1"/>
                </a:solidFill>
                <a:latin typeface="Arial" panose="020B0604020202020204" pitchFamily="34" charset="0"/>
              </a:defRPr>
            </a:lvl8pPr>
            <a:lvl9pPr marL="3886200" indent="-228600" defTabSz="3657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i="1">
                <a:solidFill>
                  <a:srgbClr val="000000"/>
                </a:solidFill>
              </a:rPr>
              <a:t>B</a:t>
            </a:r>
          </a:p>
        </p:txBody>
      </p:sp>
      <p:sp>
        <p:nvSpPr>
          <p:cNvPr id="35848" name="Rectangle 8"/>
          <p:cNvSpPr>
            <a:spLocks noChangeArrowheads="1"/>
          </p:cNvSpPr>
          <p:nvPr/>
        </p:nvSpPr>
        <p:spPr bwMode="auto">
          <a:xfrm>
            <a:off x="8458201" y="5837238"/>
            <a:ext cx="166712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3657600">
              <a:defRPr>
                <a:solidFill>
                  <a:schemeClr val="tx1"/>
                </a:solidFill>
                <a:latin typeface="Arial" panose="020B0604020202020204" pitchFamily="34" charset="0"/>
              </a:defRPr>
            </a:lvl1pPr>
            <a:lvl2pPr marL="742950" indent="-285750" defTabSz="3657600">
              <a:defRPr>
                <a:solidFill>
                  <a:schemeClr val="tx1"/>
                </a:solidFill>
                <a:latin typeface="Arial" panose="020B0604020202020204" pitchFamily="34" charset="0"/>
              </a:defRPr>
            </a:lvl2pPr>
            <a:lvl3pPr marL="1143000" indent="-228600" defTabSz="3657600">
              <a:defRPr>
                <a:solidFill>
                  <a:schemeClr val="tx1"/>
                </a:solidFill>
                <a:latin typeface="Arial" panose="020B0604020202020204" pitchFamily="34" charset="0"/>
              </a:defRPr>
            </a:lvl3pPr>
            <a:lvl4pPr marL="1600200" indent="-228600" defTabSz="3657600">
              <a:defRPr>
                <a:solidFill>
                  <a:schemeClr val="tx1"/>
                </a:solidFill>
                <a:latin typeface="Arial" panose="020B0604020202020204" pitchFamily="34" charset="0"/>
              </a:defRPr>
            </a:lvl4pPr>
            <a:lvl5pPr marL="2057400" indent="-228600" defTabSz="3657600">
              <a:defRPr>
                <a:solidFill>
                  <a:schemeClr val="tx1"/>
                </a:solidFill>
                <a:latin typeface="Arial" panose="020B0604020202020204" pitchFamily="34" charset="0"/>
              </a:defRPr>
            </a:lvl5pPr>
            <a:lvl6pPr marL="2514600" indent="-228600" defTabSz="3657600" eaLnBrk="0" fontAlgn="base" hangingPunct="0">
              <a:spcBef>
                <a:spcPct val="0"/>
              </a:spcBef>
              <a:spcAft>
                <a:spcPct val="0"/>
              </a:spcAft>
              <a:defRPr>
                <a:solidFill>
                  <a:schemeClr val="tx1"/>
                </a:solidFill>
                <a:latin typeface="Arial" panose="020B0604020202020204" pitchFamily="34" charset="0"/>
              </a:defRPr>
            </a:lvl6pPr>
            <a:lvl7pPr marL="2971800" indent="-228600" defTabSz="3657600" eaLnBrk="0" fontAlgn="base" hangingPunct="0">
              <a:spcBef>
                <a:spcPct val="0"/>
              </a:spcBef>
              <a:spcAft>
                <a:spcPct val="0"/>
              </a:spcAft>
              <a:defRPr>
                <a:solidFill>
                  <a:schemeClr val="tx1"/>
                </a:solidFill>
                <a:latin typeface="Arial" panose="020B0604020202020204" pitchFamily="34" charset="0"/>
              </a:defRPr>
            </a:lvl7pPr>
            <a:lvl8pPr marL="3429000" indent="-228600" defTabSz="3657600" eaLnBrk="0" fontAlgn="base" hangingPunct="0">
              <a:spcBef>
                <a:spcPct val="0"/>
              </a:spcBef>
              <a:spcAft>
                <a:spcPct val="0"/>
              </a:spcAft>
              <a:defRPr>
                <a:solidFill>
                  <a:schemeClr val="tx1"/>
                </a:solidFill>
                <a:latin typeface="Arial" panose="020B0604020202020204" pitchFamily="34" charset="0"/>
              </a:defRPr>
            </a:lvl8pPr>
            <a:lvl9pPr marL="3886200" indent="-228600" defTabSz="3657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dirty="0">
                <a:solidFill>
                  <a:srgbClr val="000000"/>
                </a:solidFill>
              </a:rPr>
              <a:t>Investment Goods</a:t>
            </a:r>
          </a:p>
        </p:txBody>
      </p:sp>
      <p:sp>
        <p:nvSpPr>
          <p:cNvPr id="35849" name="Rectangle 9"/>
          <p:cNvSpPr>
            <a:spLocks noChangeArrowheads="1"/>
          </p:cNvSpPr>
          <p:nvPr/>
        </p:nvSpPr>
        <p:spPr bwMode="auto">
          <a:xfrm>
            <a:off x="4276725" y="5638800"/>
            <a:ext cx="543418" cy="555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4150" tIns="92075" rIns="184150" bIns="92075">
            <a:spAutoFit/>
          </a:bodyPr>
          <a:lstStyle>
            <a:lvl1pPr defTabSz="3657600">
              <a:defRPr>
                <a:solidFill>
                  <a:schemeClr val="tx1"/>
                </a:solidFill>
                <a:latin typeface="Arial" panose="020B0604020202020204" pitchFamily="34" charset="0"/>
              </a:defRPr>
            </a:lvl1pPr>
            <a:lvl2pPr marL="742950" indent="-285750" defTabSz="3657600">
              <a:defRPr>
                <a:solidFill>
                  <a:schemeClr val="tx1"/>
                </a:solidFill>
                <a:latin typeface="Arial" panose="020B0604020202020204" pitchFamily="34" charset="0"/>
              </a:defRPr>
            </a:lvl2pPr>
            <a:lvl3pPr marL="1143000" indent="-228600" defTabSz="3657600">
              <a:defRPr>
                <a:solidFill>
                  <a:schemeClr val="tx1"/>
                </a:solidFill>
                <a:latin typeface="Arial" panose="020B0604020202020204" pitchFamily="34" charset="0"/>
              </a:defRPr>
            </a:lvl3pPr>
            <a:lvl4pPr marL="1600200" indent="-228600" defTabSz="3657600">
              <a:defRPr>
                <a:solidFill>
                  <a:schemeClr val="tx1"/>
                </a:solidFill>
                <a:latin typeface="Arial" panose="020B0604020202020204" pitchFamily="34" charset="0"/>
              </a:defRPr>
            </a:lvl4pPr>
            <a:lvl5pPr marL="2057400" indent="-228600" defTabSz="3657600">
              <a:defRPr>
                <a:solidFill>
                  <a:schemeClr val="tx1"/>
                </a:solidFill>
                <a:latin typeface="Arial" panose="020B0604020202020204" pitchFamily="34" charset="0"/>
              </a:defRPr>
            </a:lvl5pPr>
            <a:lvl6pPr marL="2514600" indent="-228600" defTabSz="3657600" eaLnBrk="0" fontAlgn="base" hangingPunct="0">
              <a:spcBef>
                <a:spcPct val="0"/>
              </a:spcBef>
              <a:spcAft>
                <a:spcPct val="0"/>
              </a:spcAft>
              <a:defRPr>
                <a:solidFill>
                  <a:schemeClr val="tx1"/>
                </a:solidFill>
                <a:latin typeface="Arial" panose="020B0604020202020204" pitchFamily="34" charset="0"/>
              </a:defRPr>
            </a:lvl6pPr>
            <a:lvl7pPr marL="2971800" indent="-228600" defTabSz="3657600" eaLnBrk="0" fontAlgn="base" hangingPunct="0">
              <a:spcBef>
                <a:spcPct val="0"/>
              </a:spcBef>
              <a:spcAft>
                <a:spcPct val="0"/>
              </a:spcAft>
              <a:defRPr>
                <a:solidFill>
                  <a:schemeClr val="tx1"/>
                </a:solidFill>
                <a:latin typeface="Arial" panose="020B0604020202020204" pitchFamily="34" charset="0"/>
              </a:defRPr>
            </a:lvl7pPr>
            <a:lvl8pPr marL="3429000" indent="-228600" defTabSz="3657600" eaLnBrk="0" fontAlgn="base" hangingPunct="0">
              <a:spcBef>
                <a:spcPct val="0"/>
              </a:spcBef>
              <a:spcAft>
                <a:spcPct val="0"/>
              </a:spcAft>
              <a:defRPr>
                <a:solidFill>
                  <a:schemeClr val="tx1"/>
                </a:solidFill>
                <a:latin typeface="Arial" panose="020B0604020202020204" pitchFamily="34" charset="0"/>
              </a:defRPr>
            </a:lvl8pPr>
            <a:lvl9pPr marL="3886200" indent="-228600" defTabSz="3657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solidFill>
                  <a:srgbClr val="000000"/>
                </a:solidFill>
              </a:rPr>
              <a:t>0</a:t>
            </a:r>
          </a:p>
        </p:txBody>
      </p:sp>
      <p:sp>
        <p:nvSpPr>
          <p:cNvPr id="35850" name="Line 10"/>
          <p:cNvSpPr>
            <a:spLocks noChangeShapeType="1"/>
          </p:cNvSpPr>
          <p:nvPr/>
        </p:nvSpPr>
        <p:spPr bwMode="auto">
          <a:xfrm flipV="1">
            <a:off x="6199189" y="4681538"/>
            <a:ext cx="498475" cy="330200"/>
          </a:xfrm>
          <a:prstGeom prst="line">
            <a:avLst/>
          </a:prstGeom>
          <a:noFill/>
          <a:ln w="254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90123" name="Rectangle 11"/>
          <p:cNvSpPr>
            <a:spLocks noGrp="1" noChangeArrowheads="1"/>
          </p:cNvSpPr>
          <p:nvPr>
            <p:ph type="title"/>
          </p:nvPr>
        </p:nvSpPr>
        <p:spPr/>
        <p:txBody>
          <a:bodyPr/>
          <a:lstStyle/>
          <a:p>
            <a:pPr>
              <a:defRPr/>
            </a:pPr>
            <a:r>
              <a:rPr lang="en-US" altLang="en-US"/>
              <a:t>Shifts in the Production Possibility Curve</a:t>
            </a:r>
          </a:p>
        </p:txBody>
      </p:sp>
      <p:sp>
        <p:nvSpPr>
          <p:cNvPr id="35852" name="Freeform 12"/>
          <p:cNvSpPr>
            <a:spLocks/>
          </p:cNvSpPr>
          <p:nvPr/>
        </p:nvSpPr>
        <p:spPr bwMode="auto">
          <a:xfrm>
            <a:off x="5415637" y="4454667"/>
            <a:ext cx="2287588" cy="1354137"/>
          </a:xfrm>
          <a:custGeom>
            <a:avLst/>
            <a:gdLst>
              <a:gd name="T0" fmla="*/ 0 w 1029"/>
              <a:gd name="T1" fmla="*/ 0 h 853"/>
              <a:gd name="T2" fmla="*/ 266774 w 1029"/>
              <a:gd name="T3" fmla="*/ 65087 h 853"/>
              <a:gd name="T4" fmla="*/ 578011 w 1029"/>
              <a:gd name="T5" fmla="*/ 169862 h 853"/>
              <a:gd name="T6" fmla="*/ 911478 w 1029"/>
              <a:gd name="T7" fmla="*/ 311150 h 853"/>
              <a:gd name="T8" fmla="*/ 1249392 w 1029"/>
              <a:gd name="T9" fmla="*/ 477837 h 853"/>
              <a:gd name="T10" fmla="*/ 1573967 w 1029"/>
              <a:gd name="T11" fmla="*/ 671512 h 853"/>
              <a:gd name="T12" fmla="*/ 1867419 w 1029"/>
              <a:gd name="T13" fmla="*/ 885825 h 853"/>
              <a:gd name="T14" fmla="*/ 2111962 w 1029"/>
              <a:gd name="T15" fmla="*/ 1114425 h 853"/>
              <a:gd name="T16" fmla="*/ 2285365 w 1029"/>
              <a:gd name="T17" fmla="*/ 1352550 h 8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29" h="853">
                <a:moveTo>
                  <a:pt x="0" y="0"/>
                </a:moveTo>
                <a:lnTo>
                  <a:pt x="120" y="41"/>
                </a:lnTo>
                <a:lnTo>
                  <a:pt x="260" y="107"/>
                </a:lnTo>
                <a:lnTo>
                  <a:pt x="410" y="196"/>
                </a:lnTo>
                <a:lnTo>
                  <a:pt x="562" y="301"/>
                </a:lnTo>
                <a:lnTo>
                  <a:pt x="708" y="423"/>
                </a:lnTo>
                <a:lnTo>
                  <a:pt x="840" y="558"/>
                </a:lnTo>
                <a:lnTo>
                  <a:pt x="950" y="702"/>
                </a:lnTo>
                <a:lnTo>
                  <a:pt x="1028" y="852"/>
                </a:lnTo>
              </a:path>
            </a:pathLst>
          </a:custGeom>
          <a:noFill/>
          <a:ln w="38100" cap="rnd"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35853" name="Freeform 13"/>
          <p:cNvSpPr>
            <a:spLocks/>
          </p:cNvSpPr>
          <p:nvPr/>
        </p:nvSpPr>
        <p:spPr bwMode="auto">
          <a:xfrm>
            <a:off x="4695825" y="4438651"/>
            <a:ext cx="109538" cy="68263"/>
          </a:xfrm>
          <a:custGeom>
            <a:avLst/>
            <a:gdLst>
              <a:gd name="T0" fmla="*/ 0 w 49"/>
              <a:gd name="T1" fmla="*/ 31750 h 43"/>
              <a:gd name="T2" fmla="*/ 0 w 49"/>
              <a:gd name="T3" fmla="*/ 25400 h 43"/>
              <a:gd name="T4" fmla="*/ 4471 w 49"/>
              <a:gd name="T5" fmla="*/ 20638 h 43"/>
              <a:gd name="T6" fmla="*/ 4471 w 49"/>
              <a:gd name="T7" fmla="*/ 14288 h 43"/>
              <a:gd name="T8" fmla="*/ 13413 w 49"/>
              <a:gd name="T9" fmla="*/ 7938 h 43"/>
              <a:gd name="T10" fmla="*/ 22355 w 49"/>
              <a:gd name="T11" fmla="*/ 3175 h 43"/>
              <a:gd name="T12" fmla="*/ 31297 w 49"/>
              <a:gd name="T13" fmla="*/ 3175 h 43"/>
              <a:gd name="T14" fmla="*/ 40238 w 49"/>
              <a:gd name="T15" fmla="*/ 0 h 43"/>
              <a:gd name="T16" fmla="*/ 53651 w 49"/>
              <a:gd name="T17" fmla="*/ 0 h 43"/>
              <a:gd name="T18" fmla="*/ 62593 w 49"/>
              <a:gd name="T19" fmla="*/ 0 h 43"/>
              <a:gd name="T20" fmla="*/ 71535 w 49"/>
              <a:gd name="T21" fmla="*/ 3175 h 43"/>
              <a:gd name="T22" fmla="*/ 80477 w 49"/>
              <a:gd name="T23" fmla="*/ 3175 h 43"/>
              <a:gd name="T24" fmla="*/ 89419 w 49"/>
              <a:gd name="T25" fmla="*/ 7938 h 43"/>
              <a:gd name="T26" fmla="*/ 93890 w 49"/>
              <a:gd name="T27" fmla="*/ 14288 h 43"/>
              <a:gd name="T28" fmla="*/ 98361 w 49"/>
              <a:gd name="T29" fmla="*/ 20638 h 43"/>
              <a:gd name="T30" fmla="*/ 102832 w 49"/>
              <a:gd name="T31" fmla="*/ 25400 h 43"/>
              <a:gd name="T32" fmla="*/ 107303 w 49"/>
              <a:gd name="T33" fmla="*/ 31750 h 43"/>
              <a:gd name="T34" fmla="*/ 102832 w 49"/>
              <a:gd name="T35" fmla="*/ 41275 h 43"/>
              <a:gd name="T36" fmla="*/ 98361 w 49"/>
              <a:gd name="T37" fmla="*/ 46038 h 43"/>
              <a:gd name="T38" fmla="*/ 93890 w 49"/>
              <a:gd name="T39" fmla="*/ 52388 h 43"/>
              <a:gd name="T40" fmla="*/ 89419 w 49"/>
              <a:gd name="T41" fmla="*/ 58738 h 43"/>
              <a:gd name="T42" fmla="*/ 80477 w 49"/>
              <a:gd name="T43" fmla="*/ 60325 h 43"/>
              <a:gd name="T44" fmla="*/ 71535 w 49"/>
              <a:gd name="T45" fmla="*/ 63500 h 43"/>
              <a:gd name="T46" fmla="*/ 62593 w 49"/>
              <a:gd name="T47" fmla="*/ 66675 h 43"/>
              <a:gd name="T48" fmla="*/ 53651 w 49"/>
              <a:gd name="T49" fmla="*/ 66675 h 43"/>
              <a:gd name="T50" fmla="*/ 40238 w 49"/>
              <a:gd name="T51" fmla="*/ 66675 h 43"/>
              <a:gd name="T52" fmla="*/ 31297 w 49"/>
              <a:gd name="T53" fmla="*/ 63500 h 43"/>
              <a:gd name="T54" fmla="*/ 22355 w 49"/>
              <a:gd name="T55" fmla="*/ 60325 h 43"/>
              <a:gd name="T56" fmla="*/ 13413 w 49"/>
              <a:gd name="T57" fmla="*/ 58738 h 43"/>
              <a:gd name="T58" fmla="*/ 4471 w 49"/>
              <a:gd name="T59" fmla="*/ 52388 h 43"/>
              <a:gd name="T60" fmla="*/ 4471 w 49"/>
              <a:gd name="T61" fmla="*/ 46038 h 43"/>
              <a:gd name="T62" fmla="*/ 0 w 49"/>
              <a:gd name="T63" fmla="*/ 41275 h 43"/>
              <a:gd name="T64" fmla="*/ 0 w 49"/>
              <a:gd name="T65" fmla="*/ 31750 h 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9" h="43">
                <a:moveTo>
                  <a:pt x="0" y="20"/>
                </a:moveTo>
                <a:lnTo>
                  <a:pt x="0" y="16"/>
                </a:lnTo>
                <a:lnTo>
                  <a:pt x="2" y="13"/>
                </a:lnTo>
                <a:lnTo>
                  <a:pt x="2" y="9"/>
                </a:lnTo>
                <a:lnTo>
                  <a:pt x="6" y="5"/>
                </a:lnTo>
                <a:lnTo>
                  <a:pt x="10" y="2"/>
                </a:lnTo>
                <a:lnTo>
                  <a:pt x="14" y="2"/>
                </a:lnTo>
                <a:lnTo>
                  <a:pt x="18" y="0"/>
                </a:lnTo>
                <a:lnTo>
                  <a:pt x="24" y="0"/>
                </a:lnTo>
                <a:lnTo>
                  <a:pt x="28" y="0"/>
                </a:lnTo>
                <a:lnTo>
                  <a:pt x="32" y="2"/>
                </a:lnTo>
                <a:lnTo>
                  <a:pt x="36" y="2"/>
                </a:lnTo>
                <a:lnTo>
                  <a:pt x="40" y="5"/>
                </a:lnTo>
                <a:lnTo>
                  <a:pt x="42" y="9"/>
                </a:lnTo>
                <a:lnTo>
                  <a:pt x="44" y="13"/>
                </a:lnTo>
                <a:lnTo>
                  <a:pt x="46" y="16"/>
                </a:lnTo>
                <a:lnTo>
                  <a:pt x="48" y="20"/>
                </a:lnTo>
                <a:lnTo>
                  <a:pt x="46" y="26"/>
                </a:lnTo>
                <a:lnTo>
                  <a:pt x="44" y="29"/>
                </a:lnTo>
                <a:lnTo>
                  <a:pt x="42" y="33"/>
                </a:lnTo>
                <a:lnTo>
                  <a:pt x="40" y="37"/>
                </a:lnTo>
                <a:lnTo>
                  <a:pt x="36" y="38"/>
                </a:lnTo>
                <a:lnTo>
                  <a:pt x="32" y="40"/>
                </a:lnTo>
                <a:lnTo>
                  <a:pt x="28" y="42"/>
                </a:lnTo>
                <a:lnTo>
                  <a:pt x="24" y="42"/>
                </a:lnTo>
                <a:lnTo>
                  <a:pt x="18" y="42"/>
                </a:lnTo>
                <a:lnTo>
                  <a:pt x="14" y="40"/>
                </a:lnTo>
                <a:lnTo>
                  <a:pt x="10" y="38"/>
                </a:lnTo>
                <a:lnTo>
                  <a:pt x="6" y="37"/>
                </a:lnTo>
                <a:lnTo>
                  <a:pt x="2" y="33"/>
                </a:lnTo>
                <a:lnTo>
                  <a:pt x="2" y="29"/>
                </a:lnTo>
                <a:lnTo>
                  <a:pt x="0" y="26"/>
                </a:lnTo>
                <a:lnTo>
                  <a:pt x="0" y="2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grpSp>
        <p:nvGrpSpPr>
          <p:cNvPr id="90126" name="Group 14"/>
          <p:cNvGrpSpPr>
            <a:grpSpLocks/>
          </p:cNvGrpSpPr>
          <p:nvPr/>
        </p:nvGrpSpPr>
        <p:grpSpPr bwMode="auto">
          <a:xfrm>
            <a:off x="4171950" y="3505188"/>
            <a:ext cx="3948112" cy="2698750"/>
            <a:chOff x="1693" y="2285"/>
            <a:chExt cx="2487" cy="1700"/>
          </a:xfrm>
        </p:grpSpPr>
        <p:sp>
          <p:nvSpPr>
            <p:cNvPr id="35856" name="Freeform 15"/>
            <p:cNvSpPr>
              <a:spLocks/>
            </p:cNvSpPr>
            <p:nvPr/>
          </p:nvSpPr>
          <p:spPr bwMode="auto">
            <a:xfrm>
              <a:off x="3951" y="3652"/>
              <a:ext cx="68" cy="45"/>
            </a:xfrm>
            <a:custGeom>
              <a:avLst/>
              <a:gdLst>
                <a:gd name="T0" fmla="*/ 0 w 49"/>
                <a:gd name="T1" fmla="*/ 22 h 45"/>
                <a:gd name="T2" fmla="*/ 0 w 49"/>
                <a:gd name="T3" fmla="*/ 17 h 45"/>
                <a:gd name="T4" fmla="*/ 3 w 49"/>
                <a:gd name="T5" fmla="*/ 13 h 45"/>
                <a:gd name="T6" fmla="*/ 6 w 49"/>
                <a:gd name="T7" fmla="*/ 9 h 45"/>
                <a:gd name="T8" fmla="*/ 8 w 49"/>
                <a:gd name="T9" fmla="*/ 7 h 45"/>
                <a:gd name="T10" fmla="*/ 14 w 49"/>
                <a:gd name="T11" fmla="*/ 4 h 45"/>
                <a:gd name="T12" fmla="*/ 19 w 49"/>
                <a:gd name="T13" fmla="*/ 2 h 45"/>
                <a:gd name="T14" fmla="*/ 25 w 49"/>
                <a:gd name="T15" fmla="*/ 0 h 45"/>
                <a:gd name="T16" fmla="*/ 33 w 49"/>
                <a:gd name="T17" fmla="*/ 0 h 45"/>
                <a:gd name="T18" fmla="*/ 39 w 49"/>
                <a:gd name="T19" fmla="*/ 0 h 45"/>
                <a:gd name="T20" fmla="*/ 44 w 49"/>
                <a:gd name="T21" fmla="*/ 2 h 45"/>
                <a:gd name="T22" fmla="*/ 50 w 49"/>
                <a:gd name="T23" fmla="*/ 4 h 45"/>
                <a:gd name="T24" fmla="*/ 56 w 49"/>
                <a:gd name="T25" fmla="*/ 7 h 45"/>
                <a:gd name="T26" fmla="*/ 61 w 49"/>
                <a:gd name="T27" fmla="*/ 9 h 45"/>
                <a:gd name="T28" fmla="*/ 64 w 49"/>
                <a:gd name="T29" fmla="*/ 13 h 45"/>
                <a:gd name="T30" fmla="*/ 64 w 49"/>
                <a:gd name="T31" fmla="*/ 17 h 45"/>
                <a:gd name="T32" fmla="*/ 67 w 49"/>
                <a:gd name="T33" fmla="*/ 22 h 45"/>
                <a:gd name="T34" fmla="*/ 64 w 49"/>
                <a:gd name="T35" fmla="*/ 26 h 45"/>
                <a:gd name="T36" fmla="*/ 64 w 49"/>
                <a:gd name="T37" fmla="*/ 29 h 45"/>
                <a:gd name="T38" fmla="*/ 61 w 49"/>
                <a:gd name="T39" fmla="*/ 33 h 45"/>
                <a:gd name="T40" fmla="*/ 56 w 49"/>
                <a:gd name="T41" fmla="*/ 37 h 45"/>
                <a:gd name="T42" fmla="*/ 50 w 49"/>
                <a:gd name="T43" fmla="*/ 40 h 45"/>
                <a:gd name="T44" fmla="*/ 44 w 49"/>
                <a:gd name="T45" fmla="*/ 42 h 45"/>
                <a:gd name="T46" fmla="*/ 39 w 49"/>
                <a:gd name="T47" fmla="*/ 42 h 45"/>
                <a:gd name="T48" fmla="*/ 33 w 49"/>
                <a:gd name="T49" fmla="*/ 44 h 45"/>
                <a:gd name="T50" fmla="*/ 25 w 49"/>
                <a:gd name="T51" fmla="*/ 42 h 45"/>
                <a:gd name="T52" fmla="*/ 19 w 49"/>
                <a:gd name="T53" fmla="*/ 42 h 45"/>
                <a:gd name="T54" fmla="*/ 14 w 49"/>
                <a:gd name="T55" fmla="*/ 40 h 45"/>
                <a:gd name="T56" fmla="*/ 8 w 49"/>
                <a:gd name="T57" fmla="*/ 37 h 45"/>
                <a:gd name="T58" fmla="*/ 6 w 49"/>
                <a:gd name="T59" fmla="*/ 33 h 45"/>
                <a:gd name="T60" fmla="*/ 3 w 49"/>
                <a:gd name="T61" fmla="*/ 29 h 45"/>
                <a:gd name="T62" fmla="*/ 0 w 49"/>
                <a:gd name="T63" fmla="*/ 26 h 45"/>
                <a:gd name="T64" fmla="*/ 0 w 49"/>
                <a:gd name="T65" fmla="*/ 22 h 4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9" h="45">
                  <a:moveTo>
                    <a:pt x="0" y="22"/>
                  </a:moveTo>
                  <a:lnTo>
                    <a:pt x="0" y="17"/>
                  </a:lnTo>
                  <a:lnTo>
                    <a:pt x="2" y="13"/>
                  </a:lnTo>
                  <a:lnTo>
                    <a:pt x="4" y="9"/>
                  </a:lnTo>
                  <a:lnTo>
                    <a:pt x="6" y="7"/>
                  </a:lnTo>
                  <a:lnTo>
                    <a:pt x="10" y="4"/>
                  </a:lnTo>
                  <a:lnTo>
                    <a:pt x="14" y="2"/>
                  </a:lnTo>
                  <a:lnTo>
                    <a:pt x="18" y="0"/>
                  </a:lnTo>
                  <a:lnTo>
                    <a:pt x="24" y="0"/>
                  </a:lnTo>
                  <a:lnTo>
                    <a:pt x="28" y="0"/>
                  </a:lnTo>
                  <a:lnTo>
                    <a:pt x="32" y="2"/>
                  </a:lnTo>
                  <a:lnTo>
                    <a:pt x="36" y="4"/>
                  </a:lnTo>
                  <a:lnTo>
                    <a:pt x="40" y="7"/>
                  </a:lnTo>
                  <a:lnTo>
                    <a:pt x="44" y="9"/>
                  </a:lnTo>
                  <a:lnTo>
                    <a:pt x="46" y="13"/>
                  </a:lnTo>
                  <a:lnTo>
                    <a:pt x="46" y="17"/>
                  </a:lnTo>
                  <a:lnTo>
                    <a:pt x="48" y="22"/>
                  </a:lnTo>
                  <a:lnTo>
                    <a:pt x="46" y="26"/>
                  </a:lnTo>
                  <a:lnTo>
                    <a:pt x="46" y="29"/>
                  </a:lnTo>
                  <a:lnTo>
                    <a:pt x="44" y="33"/>
                  </a:lnTo>
                  <a:lnTo>
                    <a:pt x="40" y="37"/>
                  </a:lnTo>
                  <a:lnTo>
                    <a:pt x="36" y="40"/>
                  </a:lnTo>
                  <a:lnTo>
                    <a:pt x="32" y="42"/>
                  </a:lnTo>
                  <a:lnTo>
                    <a:pt x="28" y="42"/>
                  </a:lnTo>
                  <a:lnTo>
                    <a:pt x="24" y="44"/>
                  </a:lnTo>
                  <a:lnTo>
                    <a:pt x="18" y="42"/>
                  </a:lnTo>
                  <a:lnTo>
                    <a:pt x="14" y="42"/>
                  </a:lnTo>
                  <a:lnTo>
                    <a:pt x="10" y="40"/>
                  </a:lnTo>
                  <a:lnTo>
                    <a:pt x="6" y="37"/>
                  </a:lnTo>
                  <a:lnTo>
                    <a:pt x="4" y="33"/>
                  </a:lnTo>
                  <a:lnTo>
                    <a:pt x="2" y="29"/>
                  </a:lnTo>
                  <a:lnTo>
                    <a:pt x="0" y="26"/>
                  </a:lnTo>
                  <a:lnTo>
                    <a:pt x="0" y="2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35857" name="Rectangle 16"/>
            <p:cNvSpPr>
              <a:spLocks noChangeArrowheads="1"/>
            </p:cNvSpPr>
            <p:nvPr/>
          </p:nvSpPr>
          <p:spPr bwMode="auto">
            <a:xfrm>
              <a:off x="1693" y="2285"/>
              <a:ext cx="375"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4150" tIns="92075" rIns="184150" bIns="92075">
              <a:spAutoFit/>
            </a:bodyPr>
            <a:lstStyle>
              <a:lvl1pPr defTabSz="3657600">
                <a:defRPr>
                  <a:solidFill>
                    <a:schemeClr val="tx1"/>
                  </a:solidFill>
                  <a:latin typeface="Arial" panose="020B0604020202020204" pitchFamily="34" charset="0"/>
                </a:defRPr>
              </a:lvl1pPr>
              <a:lvl2pPr marL="742950" indent="-285750" defTabSz="3657600">
                <a:defRPr>
                  <a:solidFill>
                    <a:schemeClr val="tx1"/>
                  </a:solidFill>
                  <a:latin typeface="Arial" panose="020B0604020202020204" pitchFamily="34" charset="0"/>
                </a:defRPr>
              </a:lvl2pPr>
              <a:lvl3pPr marL="1143000" indent="-228600" defTabSz="3657600">
                <a:defRPr>
                  <a:solidFill>
                    <a:schemeClr val="tx1"/>
                  </a:solidFill>
                  <a:latin typeface="Arial" panose="020B0604020202020204" pitchFamily="34" charset="0"/>
                </a:defRPr>
              </a:lvl3pPr>
              <a:lvl4pPr marL="1600200" indent="-228600" defTabSz="3657600">
                <a:defRPr>
                  <a:solidFill>
                    <a:schemeClr val="tx1"/>
                  </a:solidFill>
                  <a:latin typeface="Arial" panose="020B0604020202020204" pitchFamily="34" charset="0"/>
                </a:defRPr>
              </a:lvl4pPr>
              <a:lvl5pPr marL="2057400" indent="-228600" defTabSz="3657600">
                <a:defRPr>
                  <a:solidFill>
                    <a:schemeClr val="tx1"/>
                  </a:solidFill>
                  <a:latin typeface="Arial" panose="020B0604020202020204" pitchFamily="34" charset="0"/>
                </a:defRPr>
              </a:lvl5pPr>
              <a:lvl6pPr marL="2514600" indent="-228600" defTabSz="3657600" eaLnBrk="0" fontAlgn="base" hangingPunct="0">
                <a:spcBef>
                  <a:spcPct val="0"/>
                </a:spcBef>
                <a:spcAft>
                  <a:spcPct val="0"/>
                </a:spcAft>
                <a:defRPr>
                  <a:solidFill>
                    <a:schemeClr val="tx1"/>
                  </a:solidFill>
                  <a:latin typeface="Arial" panose="020B0604020202020204" pitchFamily="34" charset="0"/>
                </a:defRPr>
              </a:lvl6pPr>
              <a:lvl7pPr marL="2971800" indent="-228600" defTabSz="3657600" eaLnBrk="0" fontAlgn="base" hangingPunct="0">
                <a:spcBef>
                  <a:spcPct val="0"/>
                </a:spcBef>
                <a:spcAft>
                  <a:spcPct val="0"/>
                </a:spcAft>
                <a:defRPr>
                  <a:solidFill>
                    <a:schemeClr val="tx1"/>
                  </a:solidFill>
                  <a:latin typeface="Arial" panose="020B0604020202020204" pitchFamily="34" charset="0"/>
                </a:defRPr>
              </a:lvl7pPr>
              <a:lvl8pPr marL="3429000" indent="-228600" defTabSz="3657600" eaLnBrk="0" fontAlgn="base" hangingPunct="0">
                <a:spcBef>
                  <a:spcPct val="0"/>
                </a:spcBef>
                <a:spcAft>
                  <a:spcPct val="0"/>
                </a:spcAft>
                <a:defRPr>
                  <a:solidFill>
                    <a:schemeClr val="tx1"/>
                  </a:solidFill>
                  <a:latin typeface="Arial" panose="020B0604020202020204" pitchFamily="34" charset="0"/>
                </a:defRPr>
              </a:lvl8pPr>
              <a:lvl9pPr marL="3886200" indent="-228600" defTabSz="3657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i="1">
                  <a:solidFill>
                    <a:srgbClr val="000000"/>
                  </a:solidFill>
                </a:rPr>
                <a:t>C</a:t>
              </a:r>
            </a:p>
          </p:txBody>
        </p:sp>
        <p:sp>
          <p:nvSpPr>
            <p:cNvPr id="35858" name="Rectangle 17"/>
            <p:cNvSpPr>
              <a:spLocks noChangeArrowheads="1"/>
            </p:cNvSpPr>
            <p:nvPr/>
          </p:nvSpPr>
          <p:spPr bwMode="auto">
            <a:xfrm>
              <a:off x="3805" y="3635"/>
              <a:ext cx="375"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4150" tIns="92075" rIns="184150" bIns="92075">
              <a:spAutoFit/>
            </a:bodyPr>
            <a:lstStyle>
              <a:lvl1pPr defTabSz="3657600">
                <a:defRPr>
                  <a:solidFill>
                    <a:schemeClr val="tx1"/>
                  </a:solidFill>
                  <a:latin typeface="Arial" panose="020B0604020202020204" pitchFamily="34" charset="0"/>
                </a:defRPr>
              </a:lvl1pPr>
              <a:lvl2pPr marL="742950" indent="-285750" defTabSz="3657600">
                <a:defRPr>
                  <a:solidFill>
                    <a:schemeClr val="tx1"/>
                  </a:solidFill>
                  <a:latin typeface="Arial" panose="020B0604020202020204" pitchFamily="34" charset="0"/>
                </a:defRPr>
              </a:lvl2pPr>
              <a:lvl3pPr marL="1143000" indent="-228600" defTabSz="3657600">
                <a:defRPr>
                  <a:solidFill>
                    <a:schemeClr val="tx1"/>
                  </a:solidFill>
                  <a:latin typeface="Arial" panose="020B0604020202020204" pitchFamily="34" charset="0"/>
                </a:defRPr>
              </a:lvl3pPr>
              <a:lvl4pPr marL="1600200" indent="-228600" defTabSz="3657600">
                <a:defRPr>
                  <a:solidFill>
                    <a:schemeClr val="tx1"/>
                  </a:solidFill>
                  <a:latin typeface="Arial" panose="020B0604020202020204" pitchFamily="34" charset="0"/>
                </a:defRPr>
              </a:lvl4pPr>
              <a:lvl5pPr marL="2057400" indent="-228600" defTabSz="3657600">
                <a:defRPr>
                  <a:solidFill>
                    <a:schemeClr val="tx1"/>
                  </a:solidFill>
                  <a:latin typeface="Arial" panose="020B0604020202020204" pitchFamily="34" charset="0"/>
                </a:defRPr>
              </a:lvl5pPr>
              <a:lvl6pPr marL="2514600" indent="-228600" defTabSz="3657600" eaLnBrk="0" fontAlgn="base" hangingPunct="0">
                <a:spcBef>
                  <a:spcPct val="0"/>
                </a:spcBef>
                <a:spcAft>
                  <a:spcPct val="0"/>
                </a:spcAft>
                <a:defRPr>
                  <a:solidFill>
                    <a:schemeClr val="tx1"/>
                  </a:solidFill>
                  <a:latin typeface="Arial" panose="020B0604020202020204" pitchFamily="34" charset="0"/>
                </a:defRPr>
              </a:lvl6pPr>
              <a:lvl7pPr marL="2971800" indent="-228600" defTabSz="3657600" eaLnBrk="0" fontAlgn="base" hangingPunct="0">
                <a:spcBef>
                  <a:spcPct val="0"/>
                </a:spcBef>
                <a:spcAft>
                  <a:spcPct val="0"/>
                </a:spcAft>
                <a:defRPr>
                  <a:solidFill>
                    <a:schemeClr val="tx1"/>
                  </a:solidFill>
                  <a:latin typeface="Arial" panose="020B0604020202020204" pitchFamily="34" charset="0"/>
                </a:defRPr>
              </a:lvl7pPr>
              <a:lvl8pPr marL="3429000" indent="-228600" defTabSz="3657600" eaLnBrk="0" fontAlgn="base" hangingPunct="0">
                <a:spcBef>
                  <a:spcPct val="0"/>
                </a:spcBef>
                <a:spcAft>
                  <a:spcPct val="0"/>
                </a:spcAft>
                <a:defRPr>
                  <a:solidFill>
                    <a:schemeClr val="tx1"/>
                  </a:solidFill>
                  <a:latin typeface="Arial" panose="020B0604020202020204" pitchFamily="34" charset="0"/>
                </a:defRPr>
              </a:lvl8pPr>
              <a:lvl9pPr marL="3886200" indent="-228600" defTabSz="3657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i="1">
                  <a:solidFill>
                    <a:srgbClr val="000000"/>
                  </a:solidFill>
                </a:rPr>
                <a:t>D</a:t>
              </a:r>
            </a:p>
          </p:txBody>
        </p:sp>
        <p:sp>
          <p:nvSpPr>
            <p:cNvPr id="35859" name="Freeform 18"/>
            <p:cNvSpPr>
              <a:spLocks/>
            </p:cNvSpPr>
            <p:nvPr/>
          </p:nvSpPr>
          <p:spPr bwMode="auto">
            <a:xfrm>
              <a:off x="1998" y="2456"/>
              <a:ext cx="69" cy="43"/>
            </a:xfrm>
            <a:custGeom>
              <a:avLst/>
              <a:gdLst>
                <a:gd name="T0" fmla="*/ 0 w 49"/>
                <a:gd name="T1" fmla="*/ 20 h 43"/>
                <a:gd name="T2" fmla="*/ 0 w 49"/>
                <a:gd name="T3" fmla="*/ 16 h 43"/>
                <a:gd name="T4" fmla="*/ 3 w 49"/>
                <a:gd name="T5" fmla="*/ 13 h 43"/>
                <a:gd name="T6" fmla="*/ 3 w 49"/>
                <a:gd name="T7" fmla="*/ 9 h 43"/>
                <a:gd name="T8" fmla="*/ 8 w 49"/>
                <a:gd name="T9" fmla="*/ 5 h 43"/>
                <a:gd name="T10" fmla="*/ 14 w 49"/>
                <a:gd name="T11" fmla="*/ 2 h 43"/>
                <a:gd name="T12" fmla="*/ 20 w 49"/>
                <a:gd name="T13" fmla="*/ 0 h 43"/>
                <a:gd name="T14" fmla="*/ 25 w 49"/>
                <a:gd name="T15" fmla="*/ 0 h 43"/>
                <a:gd name="T16" fmla="*/ 34 w 49"/>
                <a:gd name="T17" fmla="*/ 0 h 43"/>
                <a:gd name="T18" fmla="*/ 39 w 49"/>
                <a:gd name="T19" fmla="*/ 0 h 43"/>
                <a:gd name="T20" fmla="*/ 45 w 49"/>
                <a:gd name="T21" fmla="*/ 0 h 43"/>
                <a:gd name="T22" fmla="*/ 51 w 49"/>
                <a:gd name="T23" fmla="*/ 2 h 43"/>
                <a:gd name="T24" fmla="*/ 56 w 49"/>
                <a:gd name="T25" fmla="*/ 5 h 43"/>
                <a:gd name="T26" fmla="*/ 59 w 49"/>
                <a:gd name="T27" fmla="*/ 9 h 43"/>
                <a:gd name="T28" fmla="*/ 62 w 49"/>
                <a:gd name="T29" fmla="*/ 13 h 43"/>
                <a:gd name="T30" fmla="*/ 65 w 49"/>
                <a:gd name="T31" fmla="*/ 16 h 43"/>
                <a:gd name="T32" fmla="*/ 68 w 49"/>
                <a:gd name="T33" fmla="*/ 20 h 43"/>
                <a:gd name="T34" fmla="*/ 65 w 49"/>
                <a:gd name="T35" fmla="*/ 26 h 43"/>
                <a:gd name="T36" fmla="*/ 62 w 49"/>
                <a:gd name="T37" fmla="*/ 29 h 43"/>
                <a:gd name="T38" fmla="*/ 59 w 49"/>
                <a:gd name="T39" fmla="*/ 33 h 43"/>
                <a:gd name="T40" fmla="*/ 56 w 49"/>
                <a:gd name="T41" fmla="*/ 37 h 43"/>
                <a:gd name="T42" fmla="*/ 51 w 49"/>
                <a:gd name="T43" fmla="*/ 38 h 43"/>
                <a:gd name="T44" fmla="*/ 45 w 49"/>
                <a:gd name="T45" fmla="*/ 40 h 43"/>
                <a:gd name="T46" fmla="*/ 39 w 49"/>
                <a:gd name="T47" fmla="*/ 42 h 43"/>
                <a:gd name="T48" fmla="*/ 34 w 49"/>
                <a:gd name="T49" fmla="*/ 42 h 43"/>
                <a:gd name="T50" fmla="*/ 25 w 49"/>
                <a:gd name="T51" fmla="*/ 42 h 43"/>
                <a:gd name="T52" fmla="*/ 20 w 49"/>
                <a:gd name="T53" fmla="*/ 40 h 43"/>
                <a:gd name="T54" fmla="*/ 14 w 49"/>
                <a:gd name="T55" fmla="*/ 38 h 43"/>
                <a:gd name="T56" fmla="*/ 8 w 49"/>
                <a:gd name="T57" fmla="*/ 37 h 43"/>
                <a:gd name="T58" fmla="*/ 3 w 49"/>
                <a:gd name="T59" fmla="*/ 33 h 43"/>
                <a:gd name="T60" fmla="*/ 3 w 49"/>
                <a:gd name="T61" fmla="*/ 29 h 43"/>
                <a:gd name="T62" fmla="*/ 0 w 49"/>
                <a:gd name="T63" fmla="*/ 26 h 43"/>
                <a:gd name="T64" fmla="*/ 0 w 49"/>
                <a:gd name="T65" fmla="*/ 20 h 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9" h="43">
                  <a:moveTo>
                    <a:pt x="0" y="20"/>
                  </a:moveTo>
                  <a:lnTo>
                    <a:pt x="0" y="16"/>
                  </a:lnTo>
                  <a:lnTo>
                    <a:pt x="2" y="13"/>
                  </a:lnTo>
                  <a:lnTo>
                    <a:pt x="2" y="9"/>
                  </a:lnTo>
                  <a:lnTo>
                    <a:pt x="6" y="5"/>
                  </a:lnTo>
                  <a:lnTo>
                    <a:pt x="10" y="2"/>
                  </a:lnTo>
                  <a:lnTo>
                    <a:pt x="14" y="0"/>
                  </a:lnTo>
                  <a:lnTo>
                    <a:pt x="18" y="0"/>
                  </a:lnTo>
                  <a:lnTo>
                    <a:pt x="24" y="0"/>
                  </a:lnTo>
                  <a:lnTo>
                    <a:pt x="28" y="0"/>
                  </a:lnTo>
                  <a:lnTo>
                    <a:pt x="32" y="0"/>
                  </a:lnTo>
                  <a:lnTo>
                    <a:pt x="36" y="2"/>
                  </a:lnTo>
                  <a:lnTo>
                    <a:pt x="40" y="5"/>
                  </a:lnTo>
                  <a:lnTo>
                    <a:pt x="42" y="9"/>
                  </a:lnTo>
                  <a:lnTo>
                    <a:pt x="44" y="13"/>
                  </a:lnTo>
                  <a:lnTo>
                    <a:pt x="46" y="16"/>
                  </a:lnTo>
                  <a:lnTo>
                    <a:pt x="48" y="20"/>
                  </a:lnTo>
                  <a:lnTo>
                    <a:pt x="46" y="26"/>
                  </a:lnTo>
                  <a:lnTo>
                    <a:pt x="44" y="29"/>
                  </a:lnTo>
                  <a:lnTo>
                    <a:pt x="42" y="33"/>
                  </a:lnTo>
                  <a:lnTo>
                    <a:pt x="40" y="37"/>
                  </a:lnTo>
                  <a:lnTo>
                    <a:pt x="36" y="38"/>
                  </a:lnTo>
                  <a:lnTo>
                    <a:pt x="32" y="40"/>
                  </a:lnTo>
                  <a:lnTo>
                    <a:pt x="28" y="42"/>
                  </a:lnTo>
                  <a:lnTo>
                    <a:pt x="24" y="42"/>
                  </a:lnTo>
                  <a:lnTo>
                    <a:pt x="18" y="42"/>
                  </a:lnTo>
                  <a:lnTo>
                    <a:pt x="14" y="40"/>
                  </a:lnTo>
                  <a:lnTo>
                    <a:pt x="10" y="38"/>
                  </a:lnTo>
                  <a:lnTo>
                    <a:pt x="6" y="37"/>
                  </a:lnTo>
                  <a:lnTo>
                    <a:pt x="2" y="33"/>
                  </a:lnTo>
                  <a:lnTo>
                    <a:pt x="2" y="29"/>
                  </a:lnTo>
                  <a:lnTo>
                    <a:pt x="0" y="26"/>
                  </a:lnTo>
                  <a:lnTo>
                    <a:pt x="0" y="2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35860" name="Freeform 19"/>
            <p:cNvSpPr>
              <a:spLocks/>
            </p:cNvSpPr>
            <p:nvPr/>
          </p:nvSpPr>
          <p:spPr bwMode="auto">
            <a:xfrm>
              <a:off x="2032" y="2470"/>
              <a:ext cx="1962" cy="1200"/>
            </a:xfrm>
            <a:custGeom>
              <a:avLst/>
              <a:gdLst>
                <a:gd name="T0" fmla="*/ 0 w 1401"/>
                <a:gd name="T1" fmla="*/ 0 h 1200"/>
                <a:gd name="T2" fmla="*/ 283 w 1401"/>
                <a:gd name="T3" fmla="*/ 57 h 1200"/>
                <a:gd name="T4" fmla="*/ 580 w 1401"/>
                <a:gd name="T5" fmla="*/ 155 h 1200"/>
                <a:gd name="T6" fmla="*/ 882 w 1401"/>
                <a:gd name="T7" fmla="*/ 287 h 1200"/>
                <a:gd name="T8" fmla="*/ 1174 w 1401"/>
                <a:gd name="T9" fmla="*/ 444 h 1200"/>
                <a:gd name="T10" fmla="*/ 1442 w 1401"/>
                <a:gd name="T11" fmla="*/ 622 h 1200"/>
                <a:gd name="T12" fmla="*/ 1672 w 1401"/>
                <a:gd name="T13" fmla="*/ 810 h 1200"/>
                <a:gd name="T14" fmla="*/ 1849 w 1401"/>
                <a:gd name="T15" fmla="*/ 1007 h 1200"/>
                <a:gd name="T16" fmla="*/ 1961 w 1401"/>
                <a:gd name="T17" fmla="*/ 1199 h 12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01" h="1200">
                  <a:moveTo>
                    <a:pt x="0" y="0"/>
                  </a:moveTo>
                  <a:lnTo>
                    <a:pt x="202" y="57"/>
                  </a:lnTo>
                  <a:lnTo>
                    <a:pt x="414" y="155"/>
                  </a:lnTo>
                  <a:lnTo>
                    <a:pt x="630" y="287"/>
                  </a:lnTo>
                  <a:lnTo>
                    <a:pt x="838" y="444"/>
                  </a:lnTo>
                  <a:lnTo>
                    <a:pt x="1030" y="622"/>
                  </a:lnTo>
                  <a:lnTo>
                    <a:pt x="1194" y="810"/>
                  </a:lnTo>
                  <a:lnTo>
                    <a:pt x="1320" y="1007"/>
                  </a:lnTo>
                  <a:lnTo>
                    <a:pt x="1400" y="1199"/>
                  </a:lnTo>
                </a:path>
              </a:pathLst>
            </a:custGeom>
            <a:noFill/>
            <a:ln w="38100" cap="rnd" cmpd="sng">
              <a:solidFill>
                <a:srgbClr val="FF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35861" name="Line 20"/>
            <p:cNvSpPr>
              <a:spLocks noChangeShapeType="1"/>
            </p:cNvSpPr>
            <p:nvPr/>
          </p:nvSpPr>
          <p:spPr bwMode="auto">
            <a:xfrm flipV="1">
              <a:off x="2874" y="2859"/>
              <a:ext cx="162" cy="252"/>
            </a:xfrm>
            <a:prstGeom prst="line">
              <a:avLst/>
            </a:prstGeom>
            <a:noFill/>
            <a:ln w="762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grpSp>
      <p:sp>
        <p:nvSpPr>
          <p:cNvPr id="35855" name="Freeform 21"/>
          <p:cNvSpPr>
            <a:spLocks/>
          </p:cNvSpPr>
          <p:nvPr/>
        </p:nvSpPr>
        <p:spPr bwMode="auto">
          <a:xfrm>
            <a:off x="4745039" y="2982913"/>
            <a:ext cx="4217987" cy="2849562"/>
          </a:xfrm>
          <a:custGeom>
            <a:avLst/>
            <a:gdLst>
              <a:gd name="T0" fmla="*/ 0 w 1897"/>
              <a:gd name="T1" fmla="*/ 0 h 1795"/>
              <a:gd name="T2" fmla="*/ 0 w 1897"/>
              <a:gd name="T3" fmla="*/ 2847975 h 1795"/>
              <a:gd name="T4" fmla="*/ 4215763 w 1897"/>
              <a:gd name="T5" fmla="*/ 2847975 h 1795"/>
              <a:gd name="T6" fmla="*/ 0 60000 65536"/>
              <a:gd name="T7" fmla="*/ 0 60000 65536"/>
              <a:gd name="T8" fmla="*/ 0 60000 65536"/>
            </a:gdLst>
            <a:ahLst/>
            <a:cxnLst>
              <a:cxn ang="T6">
                <a:pos x="T0" y="T1"/>
              </a:cxn>
              <a:cxn ang="T7">
                <a:pos x="T2" y="T3"/>
              </a:cxn>
              <a:cxn ang="T8">
                <a:pos x="T4" y="T5"/>
              </a:cxn>
            </a:cxnLst>
            <a:rect l="0" t="0" r="r" b="b"/>
            <a:pathLst>
              <a:path w="1897" h="1795">
                <a:moveTo>
                  <a:pt x="0" y="0"/>
                </a:moveTo>
                <a:lnTo>
                  <a:pt x="0" y="1794"/>
                </a:lnTo>
                <a:lnTo>
                  <a:pt x="1896" y="1794"/>
                </a:lnTo>
              </a:path>
            </a:pathLst>
          </a:custGeom>
          <a:noFill/>
          <a:ln w="254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Tree>
    <p:extLst>
      <p:ext uri="{BB962C8B-B14F-4D97-AF65-F5344CB8AC3E}">
        <p14:creationId xmlns:p14="http://schemas.microsoft.com/office/powerpoint/2010/main" val="161934913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114">
                                            <p:txEl>
                                              <p:pRg st="0" end="0"/>
                                            </p:txEl>
                                          </p:spTgt>
                                        </p:tgtEl>
                                        <p:attrNameLst>
                                          <p:attrName>style.visibility</p:attrName>
                                        </p:attrNameLst>
                                      </p:cBhvr>
                                      <p:to>
                                        <p:strVal val="visible"/>
                                      </p:to>
                                    </p:set>
                                    <p:animEffect transition="in" filter="wipe(left)">
                                      <p:cBhvr>
                                        <p:cTn id="7" dur="500"/>
                                        <p:tgtEl>
                                          <p:spTgt spid="9011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272" fill="hold" nodeType="clickEffect">
                                  <p:stCondLst>
                                    <p:cond delay="0"/>
                                  </p:stCondLst>
                                  <p:childTnLst>
                                    <p:set>
                                      <p:cBhvr>
                                        <p:cTn id="11" dur="1" fill="hold">
                                          <p:stCondLst>
                                            <p:cond delay="0"/>
                                          </p:stCondLst>
                                        </p:cTn>
                                        <p:tgtEl>
                                          <p:spTgt spid="90126"/>
                                        </p:tgtEl>
                                        <p:attrNameLst>
                                          <p:attrName>style.visibility</p:attrName>
                                        </p:attrNameLst>
                                      </p:cBhvr>
                                      <p:to>
                                        <p:strVal val="visible"/>
                                      </p:to>
                                    </p:set>
                                    <p:anim calcmode="lin" valueType="num">
                                      <p:cBhvr>
                                        <p:cTn id="12" dur="500" fill="hold"/>
                                        <p:tgtEl>
                                          <p:spTgt spid="90126"/>
                                        </p:tgtEl>
                                        <p:attrNameLst>
                                          <p:attrName>ppt_w</p:attrName>
                                        </p:attrNameLst>
                                      </p:cBhvr>
                                      <p:tavLst>
                                        <p:tav tm="0">
                                          <p:val>
                                            <p:strVal val="2/3*#ppt_w"/>
                                          </p:val>
                                        </p:tav>
                                        <p:tav tm="100000">
                                          <p:val>
                                            <p:strVal val="#ppt_w"/>
                                          </p:val>
                                        </p:tav>
                                      </p:tavLst>
                                    </p:anim>
                                    <p:anim calcmode="lin" valueType="num">
                                      <p:cBhvr>
                                        <p:cTn id="13" dur="500" fill="hold"/>
                                        <p:tgtEl>
                                          <p:spTgt spid="90126"/>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PPC and </a:t>
            </a:r>
            <a:r>
              <a:rPr lang="en-ZA"/>
              <a:t>Economic Growth</a:t>
            </a:r>
          </a:p>
        </p:txBody>
      </p:sp>
      <p:sp>
        <p:nvSpPr>
          <p:cNvPr id="3" name="Content Placeholder 2"/>
          <p:cNvSpPr>
            <a:spLocks noGrp="1"/>
          </p:cNvSpPr>
          <p:nvPr>
            <p:ph idx="1"/>
          </p:nvPr>
        </p:nvSpPr>
        <p:spPr/>
        <p:txBody>
          <a:bodyPr/>
          <a:lstStyle/>
          <a:p>
            <a:r>
              <a:rPr lang="en-ZA" dirty="0"/>
              <a:t>The level of investment in research and innovative technology is matter of social choice. </a:t>
            </a:r>
          </a:p>
          <a:p>
            <a:r>
              <a:rPr lang="en-ZA" dirty="0"/>
              <a:t>This depends on the public development agenda and choice of the population, through legislative representatives</a:t>
            </a:r>
          </a:p>
        </p:txBody>
      </p:sp>
      <p:sp>
        <p:nvSpPr>
          <p:cNvPr id="4" name="Date Placeholder 3"/>
          <p:cNvSpPr>
            <a:spLocks noGrp="1"/>
          </p:cNvSpPr>
          <p:nvPr>
            <p:ph type="dt" sz="half" idx="10"/>
          </p:nvPr>
        </p:nvSpPr>
        <p:spPr/>
        <p:txBody>
          <a:bodyPr/>
          <a:lstStyle/>
          <a:p>
            <a:fld id="{E7329A78-57D1-4B1E-9940-AD6A90C5E1A0}" type="datetime1">
              <a:rPr lang="en-ZA" smtClean="0"/>
              <a:t>2024/10/08</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22</a:t>
            </a:fld>
            <a:endParaRPr lang="en-ZA"/>
          </a:p>
        </p:txBody>
      </p:sp>
    </p:spTree>
    <p:extLst>
      <p:ext uri="{BB962C8B-B14F-4D97-AF65-F5344CB8AC3E}">
        <p14:creationId xmlns:p14="http://schemas.microsoft.com/office/powerpoint/2010/main" val="418353721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5762</TotalTime>
  <Words>1170</Words>
  <Application>Microsoft Office PowerPoint</Application>
  <PresentationFormat>Widescreen</PresentationFormat>
  <Paragraphs>205</Paragraphs>
  <Slides>22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Arial Narrow</vt:lpstr>
      <vt:lpstr>Calibri</vt:lpstr>
      <vt:lpstr>Garamond</vt:lpstr>
      <vt:lpstr>Times New Roman</vt:lpstr>
      <vt:lpstr>Organic</vt:lpstr>
      <vt:lpstr>LECTURE 1</vt:lpstr>
      <vt:lpstr>Expected Learning Outcomes</vt:lpstr>
      <vt:lpstr>What is Economics?</vt:lpstr>
      <vt:lpstr>What is Economics</vt:lpstr>
      <vt:lpstr>Economics</vt:lpstr>
      <vt:lpstr>Scarcity</vt:lpstr>
      <vt:lpstr>Scarcity and Economics</vt:lpstr>
      <vt:lpstr>Micro Vs Macroeconomics</vt:lpstr>
      <vt:lpstr>Opportunity Cost</vt:lpstr>
      <vt:lpstr>Opportunity Cost</vt:lpstr>
      <vt:lpstr>Measuring Opportunity Cost</vt:lpstr>
      <vt:lpstr>CONSTRUCTION VERSUS MANUFACTURING</vt:lpstr>
      <vt:lpstr>Opportunity Cost</vt:lpstr>
      <vt:lpstr>Production Possibilities Frontier/Curve (PPF/C)</vt:lpstr>
      <vt:lpstr>Production Possibilities Curve</vt:lpstr>
      <vt:lpstr>PRODUCTION POSSIBILITIES FRONTIER</vt:lpstr>
      <vt:lpstr>Marginal Opportunity Cost</vt:lpstr>
      <vt:lpstr>PPF, Investment VS Consumption Goods</vt:lpstr>
      <vt:lpstr>Economics and Development</vt:lpstr>
      <vt:lpstr>Shifts in the Production Possibility Curve</vt:lpstr>
      <vt:lpstr>Shifts in the Production Possibility Curve</vt:lpstr>
      <vt:lpstr>PPC and Economic Growth</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dc:title>
  <dc:creator>James Juana</dc:creator>
  <cp:lastModifiedBy>Dr. James Juana</cp:lastModifiedBy>
  <cp:revision>47</cp:revision>
  <dcterms:created xsi:type="dcterms:W3CDTF">2018-01-23T14:13:40Z</dcterms:created>
  <dcterms:modified xsi:type="dcterms:W3CDTF">2024-10-08T12:15:17Z</dcterms:modified>
</cp:coreProperties>
</file>
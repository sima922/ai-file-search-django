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494" r:id="rId2"/>
    <p:sldId id="257" r:id="rId3"/>
    <p:sldId id="258" r:id="rId4"/>
    <p:sldId id="259" r:id="rId5"/>
    <p:sldId id="260" r:id="rId6"/>
    <p:sldId id="495" r:id="rId7"/>
    <p:sldId id="496" r:id="rId8"/>
    <p:sldId id="261" r:id="rId9"/>
    <p:sldId id="486" r:id="rId10"/>
    <p:sldId id="439" r:id="rId11"/>
    <p:sldId id="487" r:id="rId12"/>
    <p:sldId id="440" r:id="rId13"/>
    <p:sldId id="441" r:id="rId14"/>
    <p:sldId id="442" r:id="rId15"/>
    <p:sldId id="488" r:id="rId16"/>
    <p:sldId id="444" r:id="rId17"/>
    <p:sldId id="445" r:id="rId18"/>
    <p:sldId id="446" r:id="rId19"/>
    <p:sldId id="489" r:id="rId20"/>
    <p:sldId id="490" r:id="rId21"/>
    <p:sldId id="449" r:id="rId22"/>
    <p:sldId id="450" r:id="rId23"/>
    <p:sldId id="452" r:id="rId24"/>
    <p:sldId id="453" r:id="rId25"/>
    <p:sldId id="491" r:id="rId26"/>
    <p:sldId id="493" r:id="rId27"/>
    <p:sldId id="454" r:id="rId28"/>
    <p:sldId id="455" r:id="rId29"/>
  </p:sldIdLst>
  <p:sldSz cx="9144000" cy="6858000" type="screen4x3"/>
  <p:notesSz cx="6858000" cy="9144000"/>
  <p:custDataLst>
    <p:tags r:id="rId3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FCCCC"/>
    <a:srgbClr val="0000CC"/>
    <a:srgbClr val="800080"/>
    <a:srgbClr val="FFFF00"/>
    <a:srgbClr val="006600"/>
    <a:srgbClr val="660033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83C01D-6B3F-4A47-A36C-D72B2E74ED2E}" v="8" dt="2023-10-30T21:50:1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71" autoAdjust="0"/>
    <p:restoredTop sz="96624" autoAdjust="0"/>
  </p:normalViewPr>
  <p:slideViewPr>
    <p:cSldViewPr>
      <p:cViewPr varScale="1">
        <p:scale>
          <a:sx n="64" d="100"/>
          <a:sy n="64" d="100"/>
        </p:scale>
        <p:origin x="135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motsaletswe Moalosi" userId="a3f8274a-0ae2-4e14-946e-a2b704a97a52" providerId="ADAL" clId="{8283C01D-6B3F-4A47-A36C-D72B2E74ED2E}"/>
    <pc:docChg chg="modSld">
      <pc:chgData name="Remotsaletswe Moalosi" userId="a3f8274a-0ae2-4e14-946e-a2b704a97a52" providerId="ADAL" clId="{8283C01D-6B3F-4A47-A36C-D72B2E74ED2E}" dt="2023-10-30T21:50:12.385" v="8" actId="1076"/>
      <pc:docMkLst>
        <pc:docMk/>
      </pc:docMkLst>
      <pc:sldChg chg="addSp modSp mod modAnim">
        <pc:chgData name="Remotsaletswe Moalosi" userId="a3f8274a-0ae2-4e14-946e-a2b704a97a52" providerId="ADAL" clId="{8283C01D-6B3F-4A47-A36C-D72B2E74ED2E}" dt="2023-10-30T21:38:19.568" v="7" actId="1038"/>
        <pc:sldMkLst>
          <pc:docMk/>
          <pc:sldMk cId="0" sldId="449"/>
        </pc:sldMkLst>
        <pc:graphicFrameChg chg="add mod">
          <ac:chgData name="Remotsaletswe Moalosi" userId="a3f8274a-0ae2-4e14-946e-a2b704a97a52" providerId="ADAL" clId="{8283C01D-6B3F-4A47-A36C-D72B2E74ED2E}" dt="2023-10-30T21:32:20.542" v="1" actId="571"/>
          <ac:graphicFrameMkLst>
            <pc:docMk/>
            <pc:sldMk cId="0" sldId="449"/>
            <ac:graphicFrameMk id="2" creationId="{E79444DE-B0C4-AB06-89B2-B9F7DCB6D60A}"/>
          </ac:graphicFrameMkLst>
        </pc:graphicFrameChg>
        <pc:graphicFrameChg chg="mod">
          <ac:chgData name="Remotsaletswe Moalosi" userId="a3f8274a-0ae2-4e14-946e-a2b704a97a52" providerId="ADAL" clId="{8283C01D-6B3F-4A47-A36C-D72B2E74ED2E}" dt="2023-10-30T21:32:46.707" v="6" actId="14100"/>
          <ac:graphicFrameMkLst>
            <pc:docMk/>
            <pc:sldMk cId="0" sldId="449"/>
            <ac:graphicFrameMk id="377876" creationId="{40CA127D-27CE-458B-BEC9-2ACEB54DDB5A}"/>
          </ac:graphicFrameMkLst>
        </pc:graphicFrameChg>
        <pc:graphicFrameChg chg="mod">
          <ac:chgData name="Remotsaletswe Moalosi" userId="a3f8274a-0ae2-4e14-946e-a2b704a97a52" providerId="ADAL" clId="{8283C01D-6B3F-4A47-A36C-D72B2E74ED2E}" dt="2023-10-30T21:38:19.568" v="7" actId="1038"/>
          <ac:graphicFrameMkLst>
            <pc:docMk/>
            <pc:sldMk cId="0" sldId="449"/>
            <ac:graphicFrameMk id="377877" creationId="{8ECAD088-0E2B-453C-BDB8-3470FFE63521}"/>
          </ac:graphicFrameMkLst>
        </pc:graphicFrameChg>
      </pc:sldChg>
      <pc:sldChg chg="modSp">
        <pc:chgData name="Remotsaletswe Moalosi" userId="a3f8274a-0ae2-4e14-946e-a2b704a97a52" providerId="ADAL" clId="{8283C01D-6B3F-4A47-A36C-D72B2E74ED2E}" dt="2023-10-30T21:50:12.385" v="8" actId="1076"/>
        <pc:sldMkLst>
          <pc:docMk/>
          <pc:sldMk cId="0" sldId="450"/>
        </pc:sldMkLst>
        <pc:spChg chg="mod">
          <ac:chgData name="Remotsaletswe Moalosi" userId="a3f8274a-0ae2-4e14-946e-a2b704a97a52" providerId="ADAL" clId="{8283C01D-6B3F-4A47-A36C-D72B2E74ED2E}" dt="2023-10-30T21:50:12.385" v="8" actId="1076"/>
          <ac:spMkLst>
            <pc:docMk/>
            <pc:sldMk cId="0" sldId="450"/>
            <ac:spMk id="378908" creationId="{C54594A0-AAC1-4252-ABEF-69F75ECED4C6}"/>
          </ac:spMkLst>
        </pc:spChg>
      </pc:sldChg>
    </pc:docChg>
  </pc:docChgLst>
  <pc:docChgLst>
    <pc:chgData name="Remotsaletswe Moalosi" userId="a3f8274a-0ae2-4e14-946e-a2b704a97a52" providerId="ADAL" clId="{2ED9E4E3-FDE8-4ABB-B47A-251980136476}"/>
    <pc:docChg chg="modSld">
      <pc:chgData name="Remotsaletswe Moalosi" userId="a3f8274a-0ae2-4e14-946e-a2b704a97a52" providerId="ADAL" clId="{2ED9E4E3-FDE8-4ABB-B47A-251980136476}" dt="2023-09-20T12:42:04.053" v="32" actId="5793"/>
      <pc:docMkLst>
        <pc:docMk/>
      </pc:docMkLst>
      <pc:sldChg chg="modSp mod">
        <pc:chgData name="Remotsaletswe Moalosi" userId="a3f8274a-0ae2-4e14-946e-a2b704a97a52" providerId="ADAL" clId="{2ED9E4E3-FDE8-4ABB-B47A-251980136476}" dt="2023-09-20T12:36:22.955" v="2" actId="20577"/>
        <pc:sldMkLst>
          <pc:docMk/>
          <pc:sldMk cId="0" sldId="258"/>
        </pc:sldMkLst>
        <pc:spChg chg="mod">
          <ac:chgData name="Remotsaletswe Moalosi" userId="a3f8274a-0ae2-4e14-946e-a2b704a97a52" providerId="ADAL" clId="{2ED9E4E3-FDE8-4ABB-B47A-251980136476}" dt="2023-09-20T12:36:22.955" v="2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Remotsaletswe Moalosi" userId="a3f8274a-0ae2-4e14-946e-a2b704a97a52" providerId="ADAL" clId="{2ED9E4E3-FDE8-4ABB-B47A-251980136476}" dt="2023-09-20T12:41:35.796" v="20" actId="20577"/>
        <pc:sldMkLst>
          <pc:docMk/>
          <pc:sldMk cId="3025343120" sldId="495"/>
        </pc:sldMkLst>
        <pc:spChg chg="mod">
          <ac:chgData name="Remotsaletswe Moalosi" userId="a3f8274a-0ae2-4e14-946e-a2b704a97a52" providerId="ADAL" clId="{2ED9E4E3-FDE8-4ABB-B47A-251980136476}" dt="2023-09-20T12:41:35.796" v="20" actId="20577"/>
          <ac:spMkLst>
            <pc:docMk/>
            <pc:sldMk cId="3025343120" sldId="495"/>
            <ac:spMk id="3" creationId="{35B2AF28-5812-6872-F51C-44CDDA1E7F47}"/>
          </ac:spMkLst>
        </pc:spChg>
      </pc:sldChg>
      <pc:sldChg chg="modSp mod">
        <pc:chgData name="Remotsaletswe Moalosi" userId="a3f8274a-0ae2-4e14-946e-a2b704a97a52" providerId="ADAL" clId="{2ED9E4E3-FDE8-4ABB-B47A-251980136476}" dt="2023-09-20T12:42:04.053" v="32" actId="5793"/>
        <pc:sldMkLst>
          <pc:docMk/>
          <pc:sldMk cId="586097002" sldId="496"/>
        </pc:sldMkLst>
        <pc:spChg chg="mod">
          <ac:chgData name="Remotsaletswe Moalosi" userId="a3f8274a-0ae2-4e14-946e-a2b704a97a52" providerId="ADAL" clId="{2ED9E4E3-FDE8-4ABB-B47A-251980136476}" dt="2023-09-20T12:42:04.053" v="32" actId="5793"/>
          <ac:spMkLst>
            <pc:docMk/>
            <pc:sldMk cId="586097002" sldId="496"/>
            <ac:spMk id="3" creationId="{4CFE8878-0FBF-720D-EE87-1B077CDA41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AE0335FB-AA0E-49BE-97ED-C0C6994B09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A79080F4-003B-4FD9-AB38-D4A2A94A737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F883118-4E57-4A7E-931D-0640F022337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450D3E65-799B-41F3-8295-C1473655695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7830" name="Rectangle 6">
            <a:extLst>
              <a:ext uri="{FF2B5EF4-FFF2-40B4-BE49-F238E27FC236}">
                <a16:creationId xmlns:a16="http://schemas.microsoft.com/office/drawing/2014/main" id="{EA858F41-5DEF-46C0-A5EA-B262E31FAA5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31" name="Rectangle 7">
            <a:extLst>
              <a:ext uri="{FF2B5EF4-FFF2-40B4-BE49-F238E27FC236}">
                <a16:creationId xmlns:a16="http://schemas.microsoft.com/office/drawing/2014/main" id="{9D3EB714-27EB-4EA0-942D-9719378F10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8B2ECCE-B593-4F4D-8B7E-B4258F3E57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F5DC720-7A60-4F67-9564-82367D86D5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7540A5-9E41-4FCD-89D1-7660364DB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89F21A-CFAC-4323-9370-CB67B21D2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83E0F5-7ECB-4F31-8A52-8BC7C244FE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63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69C56B-BF52-43A4-A518-555226DC73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A8C133-4158-4C8B-ABF1-63B2A3CEF8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DB3845-F694-4B5F-9D74-DA42D0A02B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6045A-112D-47CF-9FDE-707A6B35C0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9934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8A1F81-3253-488A-A9DA-1BD25B412F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51B8F2-8B15-4EF4-B129-8176F43159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6D86B6-EB98-4864-88FB-8333B9EEE7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85F134-75EC-470E-AF29-2CC012423C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5136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83E5-C335-4DE6-9677-BE93DDC4D9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C6D665-051D-4105-AB87-11ADC9AB95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8F01B4-B666-48B9-A2B1-4E54086FF6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4A5C0F-EB11-446F-BF09-DEDCBD99B8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981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356D2A9-175E-4B72-B6ED-5AA23F595B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E0F356B-3692-43F9-9A07-51CCB51656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53E8039-CC73-441C-8C84-559BF75ACB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72A3C-0FFF-454D-A573-025A1D59F6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807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1AE709D-F11C-4E33-8438-19187E1868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273DF64-A656-4558-B7D9-DF3900971A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526DE55-0FA3-452A-BF7B-9BB0824543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3F77D8-80C6-4BA5-B5A6-03CF91E255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738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D4F1416-6FA7-44B5-970D-BB776249EA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DC7218A-F8A4-4251-A50F-695F0EAE6F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24C0639-D5EB-4284-942D-DDB4476361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920B2-83F6-4739-AF87-A326ECB2BF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073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3380BA-54ED-4529-82BA-A322E693F2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5A61D1-9B0B-49B5-AAD9-64389CBD3F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E9CA7B-D5D4-415D-9D1D-C5C607ACF8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3CB5C-FA55-47D6-B6B1-6A57766CE7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4746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010E37-F4BE-45BC-9E89-39D9588C4D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59AE58-4551-4464-BBD6-C222D79E82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B3358D-B66D-4D25-AC8B-CED6CBA240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E30DA2-C567-4289-BD2F-2C04540523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2909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BF1B9A-DE84-4198-9427-9093047EBC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8B4613-E13D-4B21-99EF-D2CBDC339B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E8F8DB-C3BA-4D5A-BB69-27189E58D4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3A878F-7865-4C40-B2AC-D196204E9F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421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7AC4C0-92EE-4AFC-ABF6-523ADDCEED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AEAEE7-68D4-4767-A00D-C46F2E2D8A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66E7EE-39D8-48BB-8E4E-F5FF4C50D7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92CACA-9BE6-4DFD-B507-D81BB6B2BD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7359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2599092-B344-48FC-8B90-41F06FA89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ED55C0D-AE14-4C0E-BF9E-6F63CCC0C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7000E8F-26FB-44C3-9CE6-8A335FC95B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5AE6B81-0C2C-4A9C-8198-342B32469E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CB43906-6F42-4A4A-9ABE-FB8804AA38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1603DD5-4D08-44CE-8DDB-C3A3EC66F8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hyperlink" Target="http://hyperphysics.phy-astr.gsu.edu/hbase/magnetic/galvan.html#c1" TargetMode="Externa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8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2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2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4" Type="http://schemas.openxmlformats.org/officeDocument/2006/relationships/image" Target="../media/image22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hyperphysics.phy-astr.gsu.edu/hbase/magnetic/movcoil.html#c4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7ADD5-5B77-D8D0-2712-B25E3ABA7F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Measuring Instruments</a:t>
            </a:r>
            <a:endParaRPr lang="en-B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4D61A-320B-FE8B-7396-D17B58A0A5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Electrical Measurement</a:t>
            </a:r>
            <a:endParaRPr lang="en-BW" dirty="0"/>
          </a:p>
        </p:txBody>
      </p:sp>
    </p:spTree>
    <p:extLst>
      <p:ext uri="{BB962C8B-B14F-4D97-AF65-F5344CB8AC3E}">
        <p14:creationId xmlns:p14="http://schemas.microsoft.com/office/powerpoint/2010/main" val="253539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5" y="1003172"/>
            <a:ext cx="5487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Classification</a:t>
            </a:r>
            <a:r>
              <a:rPr sz="3600" spc="-55" dirty="0"/>
              <a:t> </a:t>
            </a:r>
            <a:r>
              <a:rPr sz="3600" dirty="0"/>
              <a:t>of</a:t>
            </a:r>
            <a:r>
              <a:rPr sz="3600" spc="-30" dirty="0"/>
              <a:t> </a:t>
            </a:r>
            <a:r>
              <a:rPr sz="3600" spc="-10" dirty="0"/>
              <a:t>Measuring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22374" y="1551813"/>
            <a:ext cx="2763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Arial"/>
                <a:cs typeface="Arial"/>
              </a:rPr>
              <a:t>Instruments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0955" y="2349500"/>
            <a:ext cx="655129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100"/>
              </a:spcBef>
              <a:tabLst>
                <a:tab pos="1393190" algn="l"/>
                <a:tab pos="3115945" algn="l"/>
                <a:tab pos="3834765" algn="l"/>
                <a:tab pos="4318000" algn="l"/>
                <a:tab pos="5427980" algn="l"/>
                <a:tab pos="6063615" algn="l"/>
              </a:tabLst>
            </a:pPr>
            <a:r>
              <a:rPr sz="2400" spc="-10" dirty="0">
                <a:solidFill>
                  <a:srgbClr val="39342C"/>
                </a:solidFill>
                <a:latin typeface="Arial"/>
                <a:cs typeface="Arial"/>
              </a:rPr>
              <a:t>Electrical</a:t>
            </a:r>
            <a:r>
              <a:rPr sz="2400" dirty="0">
                <a:solidFill>
                  <a:srgbClr val="39342C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39342C"/>
                </a:solidFill>
                <a:latin typeface="Arial"/>
                <a:cs typeface="Arial"/>
              </a:rPr>
              <a:t>instruments</a:t>
            </a:r>
            <a:r>
              <a:rPr sz="2400" dirty="0">
                <a:solidFill>
                  <a:srgbClr val="39342C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39342C"/>
                </a:solidFill>
                <a:latin typeface="Arial"/>
                <a:cs typeface="Arial"/>
              </a:rPr>
              <a:t>may</a:t>
            </a:r>
            <a:r>
              <a:rPr sz="2400" dirty="0">
                <a:solidFill>
                  <a:srgbClr val="39342C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39342C"/>
                </a:solidFill>
                <a:latin typeface="Arial"/>
                <a:cs typeface="Arial"/>
              </a:rPr>
              <a:t>be</a:t>
            </a:r>
            <a:r>
              <a:rPr sz="2400" dirty="0">
                <a:solidFill>
                  <a:srgbClr val="39342C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39342C"/>
                </a:solidFill>
                <a:latin typeface="Arial"/>
                <a:cs typeface="Arial"/>
              </a:rPr>
              <a:t>divided</a:t>
            </a:r>
            <a:r>
              <a:rPr sz="2400" dirty="0">
                <a:solidFill>
                  <a:srgbClr val="39342C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39342C"/>
                </a:solidFill>
                <a:latin typeface="Arial"/>
                <a:cs typeface="Arial"/>
              </a:rPr>
              <a:t>into</a:t>
            </a:r>
            <a:r>
              <a:rPr sz="2400" dirty="0">
                <a:solidFill>
                  <a:srgbClr val="39342C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39342C"/>
                </a:solidFill>
                <a:latin typeface="Arial"/>
                <a:cs typeface="Arial"/>
              </a:rPr>
              <a:t>two </a:t>
            </a:r>
            <a:r>
              <a:rPr sz="2400" dirty="0">
                <a:solidFill>
                  <a:srgbClr val="39342C"/>
                </a:solidFill>
                <a:latin typeface="Arial"/>
                <a:cs typeface="Arial"/>
              </a:rPr>
              <a:t>categories, that</a:t>
            </a:r>
            <a:r>
              <a:rPr sz="2400" spc="-5" dirty="0">
                <a:solidFill>
                  <a:srgbClr val="39342C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9342C"/>
                </a:solidFill>
                <a:latin typeface="Arial"/>
                <a:cs typeface="Arial"/>
              </a:rPr>
              <a:t>are;</a:t>
            </a:r>
            <a:endParaRPr sz="2400">
              <a:latin typeface="Arial"/>
              <a:cs typeface="Arial"/>
            </a:endParaRPr>
          </a:p>
          <a:p>
            <a:pPr marL="568960" indent="-516255">
              <a:lnSpc>
                <a:spcPct val="100000"/>
              </a:lnSpc>
              <a:spcBef>
                <a:spcPts val="575"/>
              </a:spcBef>
              <a:buClr>
                <a:srgbClr val="93C500"/>
              </a:buClr>
              <a:buSzPct val="75000"/>
              <a:buAutoNum type="arabicPeriod"/>
              <a:tabLst>
                <a:tab pos="568325" algn="l"/>
                <a:tab pos="569595" algn="l"/>
              </a:tabLst>
            </a:pPr>
            <a:r>
              <a:rPr sz="2400" dirty="0">
                <a:solidFill>
                  <a:srgbClr val="39342C"/>
                </a:solidFill>
                <a:latin typeface="Arial"/>
                <a:cs typeface="Arial"/>
              </a:rPr>
              <a:t>Absolute</a:t>
            </a:r>
            <a:r>
              <a:rPr sz="2400" spc="-10" dirty="0">
                <a:solidFill>
                  <a:srgbClr val="39342C"/>
                </a:solidFill>
                <a:latin typeface="Arial"/>
                <a:cs typeface="Arial"/>
              </a:rPr>
              <a:t> instruments,</a:t>
            </a:r>
            <a:endParaRPr sz="2400">
              <a:latin typeface="Arial"/>
              <a:cs typeface="Arial"/>
            </a:endParaRPr>
          </a:p>
          <a:p>
            <a:pPr marL="568960" indent="-516255">
              <a:lnSpc>
                <a:spcPct val="100000"/>
              </a:lnSpc>
              <a:spcBef>
                <a:spcPts val="580"/>
              </a:spcBef>
              <a:buClr>
                <a:srgbClr val="93C500"/>
              </a:buClr>
              <a:buSzPct val="75000"/>
              <a:buAutoNum type="arabicPeriod"/>
              <a:tabLst>
                <a:tab pos="568325" algn="l"/>
                <a:tab pos="569595" algn="l"/>
              </a:tabLst>
            </a:pPr>
            <a:r>
              <a:rPr sz="2400" dirty="0">
                <a:solidFill>
                  <a:srgbClr val="39342C"/>
                </a:solidFill>
                <a:latin typeface="Arial"/>
                <a:cs typeface="Arial"/>
              </a:rPr>
              <a:t>Secondary</a:t>
            </a:r>
            <a:r>
              <a:rPr sz="2400" spc="-15" dirty="0">
                <a:solidFill>
                  <a:srgbClr val="39342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9342C"/>
                </a:solidFill>
                <a:latin typeface="Arial"/>
                <a:cs typeface="Arial"/>
              </a:rPr>
              <a:t>instruments.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66439"/>
            <a:ext cx="555975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39342C"/>
                </a:solidFill>
              </a:rPr>
              <a:t>Absolute</a:t>
            </a:r>
            <a:r>
              <a:rPr spc="-160" dirty="0">
                <a:solidFill>
                  <a:srgbClr val="39342C"/>
                </a:solidFill>
              </a:rPr>
              <a:t> </a:t>
            </a:r>
            <a:r>
              <a:rPr spc="-10" dirty="0">
                <a:solidFill>
                  <a:srgbClr val="39342C"/>
                </a:solidFill>
              </a:rPr>
              <a:t>instruments</a:t>
            </a:r>
          </a:p>
        </p:txBody>
      </p:sp>
      <p:sp>
        <p:nvSpPr>
          <p:cNvPr id="3" name="object 3"/>
          <p:cNvSpPr/>
          <p:nvPr/>
        </p:nvSpPr>
        <p:spPr>
          <a:xfrm>
            <a:off x="1176527" y="1844039"/>
            <a:ext cx="5476240" cy="27940"/>
          </a:xfrm>
          <a:custGeom>
            <a:avLst/>
            <a:gdLst/>
            <a:ahLst/>
            <a:cxnLst/>
            <a:rect l="l" t="t" r="r" b="b"/>
            <a:pathLst>
              <a:path w="5476240" h="27939">
                <a:moveTo>
                  <a:pt x="5475732" y="0"/>
                </a:moveTo>
                <a:lnTo>
                  <a:pt x="0" y="0"/>
                </a:lnTo>
                <a:lnTo>
                  <a:pt x="0" y="27432"/>
                </a:lnTo>
                <a:lnTo>
                  <a:pt x="5475732" y="27432"/>
                </a:lnTo>
                <a:lnTo>
                  <a:pt x="5475732" y="0"/>
                </a:lnTo>
                <a:close/>
              </a:path>
            </a:pathLst>
          </a:custGeom>
          <a:solidFill>
            <a:srgbClr val="3D3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3119" y="1549653"/>
            <a:ext cx="7536815" cy="4355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105"/>
              </a:spcBef>
              <a:tabLst>
                <a:tab pos="343535" algn="l"/>
              </a:tabLst>
            </a:pPr>
            <a:r>
              <a:rPr sz="1200" spc="-50" dirty="0">
                <a:solidFill>
                  <a:srgbClr val="93C500"/>
                </a:solidFill>
                <a:latin typeface="Segoe UI Symbol"/>
                <a:cs typeface="Segoe UI Symbol"/>
              </a:rPr>
              <a:t>🞇</a:t>
            </a:r>
            <a:r>
              <a:rPr sz="1200" dirty="0">
                <a:solidFill>
                  <a:srgbClr val="93C500"/>
                </a:solidFill>
                <a:latin typeface="Segoe UI Symbol"/>
                <a:cs typeface="Segoe UI Symbol"/>
              </a:rPr>
              <a:t>		</a:t>
            </a:r>
            <a:r>
              <a:rPr sz="2000" b="1" dirty="0">
                <a:solidFill>
                  <a:srgbClr val="3D3C2C"/>
                </a:solidFill>
                <a:latin typeface="Arial"/>
                <a:cs typeface="Arial"/>
              </a:rPr>
              <a:t>Absolute</a:t>
            </a:r>
            <a:r>
              <a:rPr sz="2000" b="1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D3C2C"/>
                </a:solidFill>
                <a:latin typeface="Arial"/>
                <a:cs typeface="Arial"/>
              </a:rPr>
              <a:t>instruments</a:t>
            </a:r>
            <a:r>
              <a:rPr sz="2000" b="1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D3C2C"/>
                </a:solidFill>
                <a:latin typeface="Arial"/>
                <a:cs typeface="Arial"/>
              </a:rPr>
              <a:t>or</a:t>
            </a:r>
            <a:r>
              <a:rPr sz="2000" b="1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D3C2C"/>
                </a:solidFill>
                <a:latin typeface="Arial"/>
                <a:cs typeface="Arial"/>
              </a:rPr>
              <a:t>Primary</a:t>
            </a:r>
            <a:r>
              <a:rPr sz="2000" b="1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D3C2C"/>
                </a:solidFill>
                <a:latin typeface="Arial"/>
                <a:cs typeface="Arial"/>
              </a:rPr>
              <a:t>Instruments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:-</a:t>
            </a:r>
            <a:r>
              <a:rPr sz="2000" spc="-8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These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instruments</a:t>
            </a:r>
            <a:r>
              <a:rPr sz="2000" spc="-9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gives</a:t>
            </a:r>
            <a:r>
              <a:rPr sz="2000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the</a:t>
            </a:r>
            <a:r>
              <a:rPr sz="2000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magnitude</a:t>
            </a:r>
            <a:r>
              <a:rPr sz="2000" spc="-5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of</a:t>
            </a:r>
            <a:r>
              <a:rPr sz="2000" spc="-5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quantity</a:t>
            </a:r>
            <a:r>
              <a:rPr sz="2000" spc="-5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under</a:t>
            </a:r>
            <a:r>
              <a:rPr sz="2000" spc="-5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measurement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in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terms</a:t>
            </a:r>
            <a:r>
              <a:rPr sz="2000" spc="-4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of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physical</a:t>
            </a:r>
            <a:r>
              <a:rPr sz="2000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constants</a:t>
            </a:r>
            <a:r>
              <a:rPr sz="2000" spc="-6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of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the</a:t>
            </a:r>
            <a:r>
              <a:rPr sz="2000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instrument</a:t>
            </a:r>
            <a:r>
              <a:rPr sz="2000" spc="-5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e.g.</a:t>
            </a:r>
            <a:r>
              <a:rPr sz="2000" spc="-7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Tangent Galvanometer.</a:t>
            </a:r>
            <a:r>
              <a:rPr sz="2000" spc="-11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These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instruments</a:t>
            </a:r>
            <a:r>
              <a:rPr sz="2000" spc="-5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do</a:t>
            </a:r>
            <a:r>
              <a:rPr sz="2000" spc="-1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not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require</a:t>
            </a:r>
            <a:r>
              <a:rPr sz="2000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comparison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with</a:t>
            </a:r>
            <a:r>
              <a:rPr sz="2000" spc="-1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any</a:t>
            </a:r>
            <a:r>
              <a:rPr sz="2000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other</a:t>
            </a:r>
            <a:r>
              <a:rPr sz="2000" spc="-3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standard</a:t>
            </a:r>
            <a:r>
              <a:rPr sz="2000" spc="-5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instrument</a:t>
            </a:r>
            <a:endParaRPr sz="2000" dirty="0">
              <a:latin typeface="Arial"/>
              <a:cs typeface="Arial"/>
            </a:endParaRPr>
          </a:p>
          <a:p>
            <a:pPr marL="287020" marR="358775" indent="-274955">
              <a:lnSpc>
                <a:spcPct val="100000"/>
              </a:lnSpc>
              <a:spcBef>
                <a:spcPts val="480"/>
              </a:spcBef>
            </a:pPr>
            <a:r>
              <a:rPr sz="1500" dirty="0">
                <a:solidFill>
                  <a:srgbClr val="93C500"/>
                </a:solidFill>
                <a:latin typeface="Segoe UI Symbol"/>
                <a:cs typeface="Segoe UI Symbol"/>
              </a:rPr>
              <a:t>🞇</a:t>
            </a:r>
            <a:r>
              <a:rPr sz="1500" spc="380" dirty="0">
                <a:solidFill>
                  <a:srgbClr val="93C500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•</a:t>
            </a:r>
            <a:r>
              <a:rPr sz="2000" spc="-4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These</a:t>
            </a:r>
            <a:r>
              <a:rPr sz="20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instruments</a:t>
            </a:r>
            <a:r>
              <a:rPr sz="2000" spc="-5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give</a:t>
            </a:r>
            <a:r>
              <a:rPr sz="2000" spc="-1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the</a:t>
            </a:r>
            <a:r>
              <a:rPr sz="20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value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of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the</a:t>
            </a:r>
            <a:r>
              <a:rPr sz="20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electrical</a:t>
            </a:r>
            <a:r>
              <a:rPr sz="2000" spc="-3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quantity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D3C2C"/>
                </a:solidFill>
                <a:latin typeface="Arial"/>
                <a:cs typeface="Arial"/>
              </a:rPr>
              <a:t>in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terms</a:t>
            </a:r>
            <a:r>
              <a:rPr sz="2000" spc="-6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of</a:t>
            </a:r>
            <a:r>
              <a:rPr sz="2000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absolute</a:t>
            </a:r>
            <a:r>
              <a:rPr sz="2000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quantities</a:t>
            </a:r>
            <a:r>
              <a:rPr sz="2000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(or</a:t>
            </a:r>
            <a:r>
              <a:rPr sz="2000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some</a:t>
            </a:r>
            <a:r>
              <a:rPr sz="2000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constants)</a:t>
            </a:r>
            <a:r>
              <a:rPr sz="2000" spc="-6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of</a:t>
            </a:r>
            <a:r>
              <a:rPr sz="2000" spc="-3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D3C2C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instruments</a:t>
            </a:r>
            <a:r>
              <a:rPr sz="2000" spc="-7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and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their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deflections.</a:t>
            </a:r>
            <a:endParaRPr sz="2000" dirty="0">
              <a:latin typeface="Arial"/>
              <a:cs typeface="Arial"/>
            </a:endParaRPr>
          </a:p>
          <a:p>
            <a:pPr marL="287020" marR="415925">
              <a:lnSpc>
                <a:spcPct val="100000"/>
              </a:lnSpc>
              <a:spcBef>
                <a:spcPts val="5"/>
              </a:spcBef>
              <a:buChar char="•"/>
              <a:tabLst>
                <a:tab pos="446405" algn="l"/>
              </a:tabLst>
            </a:pP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In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this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type</a:t>
            </a:r>
            <a:r>
              <a:rPr sz="20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of</a:t>
            </a:r>
            <a:r>
              <a:rPr sz="2000" spc="-1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instruments</a:t>
            </a:r>
            <a:r>
              <a:rPr sz="2000" spc="-6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no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calibration</a:t>
            </a:r>
            <a:r>
              <a:rPr sz="2000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or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comparison</a:t>
            </a:r>
            <a:r>
              <a:rPr sz="2000" spc="-6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with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other</a:t>
            </a:r>
            <a:r>
              <a:rPr sz="2000" spc="-5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instruments</a:t>
            </a:r>
            <a:r>
              <a:rPr sz="2000" spc="-6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is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 necessary.</a:t>
            </a:r>
            <a:endParaRPr sz="2000" dirty="0">
              <a:latin typeface="Arial"/>
              <a:cs typeface="Arial"/>
            </a:endParaRPr>
          </a:p>
          <a:p>
            <a:pPr marL="287020" marR="161925">
              <a:lnSpc>
                <a:spcPct val="100000"/>
              </a:lnSpc>
              <a:buChar char="•"/>
              <a:tabLst>
                <a:tab pos="441325" algn="l"/>
              </a:tabLst>
            </a:pP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They</a:t>
            </a:r>
            <a:r>
              <a:rPr sz="2000" spc="-2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are</a:t>
            </a:r>
            <a:r>
              <a:rPr sz="2000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generally</a:t>
            </a:r>
            <a:r>
              <a:rPr sz="2000" spc="-3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not</a:t>
            </a:r>
            <a:r>
              <a:rPr sz="2000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used</a:t>
            </a:r>
            <a:r>
              <a:rPr sz="20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in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laboratories</a:t>
            </a:r>
            <a:r>
              <a:rPr sz="2000" spc="-5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and</a:t>
            </a:r>
            <a:r>
              <a:rPr sz="20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are</a:t>
            </a:r>
            <a:r>
              <a:rPr sz="20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seldom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used</a:t>
            </a:r>
            <a:r>
              <a:rPr sz="2000" spc="-4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in</a:t>
            </a:r>
            <a:r>
              <a:rPr sz="20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practice</a:t>
            </a:r>
            <a:r>
              <a:rPr sz="2000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by</a:t>
            </a:r>
            <a:r>
              <a:rPr sz="2000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electricians</a:t>
            </a:r>
            <a:r>
              <a:rPr sz="2000" spc="-4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and</a:t>
            </a:r>
            <a:r>
              <a:rPr sz="2000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engineers.</a:t>
            </a:r>
            <a:r>
              <a:rPr sz="2000" spc="-10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They</a:t>
            </a:r>
            <a:r>
              <a:rPr sz="2000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are</a:t>
            </a:r>
            <a:r>
              <a:rPr sz="2000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mostly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used</a:t>
            </a:r>
            <a:r>
              <a:rPr sz="2000" spc="-5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as</a:t>
            </a:r>
            <a:r>
              <a:rPr sz="20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means</a:t>
            </a:r>
            <a:r>
              <a:rPr sz="2000" spc="-3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of</a:t>
            </a:r>
            <a:r>
              <a:rPr sz="2000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standard</a:t>
            </a:r>
            <a:r>
              <a:rPr sz="2000" spc="-4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measurements</a:t>
            </a:r>
            <a:r>
              <a:rPr sz="2000" spc="-6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and</a:t>
            </a:r>
            <a:r>
              <a:rPr sz="20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are</a:t>
            </a:r>
            <a:r>
              <a:rPr sz="2000" spc="-3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maintained </a:t>
            </a:r>
            <a:r>
              <a:rPr lang="en-GB" sz="2000" spc="-10" dirty="0">
                <a:solidFill>
                  <a:srgbClr val="3D3C2C"/>
                </a:solidFill>
                <a:latin typeface="Arial"/>
                <a:cs typeface="Arial"/>
              </a:rPr>
              <a:t>b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y</a:t>
            </a:r>
            <a:r>
              <a:rPr sz="2000" spc="-4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national</a:t>
            </a:r>
            <a:r>
              <a:rPr sz="2000" spc="-1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laboratories</a:t>
            </a:r>
            <a:r>
              <a:rPr sz="2000" spc="-5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and</a:t>
            </a:r>
            <a:r>
              <a:rPr sz="2000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D3C2C"/>
                </a:solidFill>
                <a:latin typeface="Arial"/>
                <a:cs typeface="Arial"/>
              </a:rPr>
              <a:t>similar</a:t>
            </a:r>
            <a:r>
              <a:rPr sz="2000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D3C2C"/>
                </a:solidFill>
                <a:latin typeface="Arial"/>
                <a:cs typeface="Arial"/>
              </a:rPr>
              <a:t>institutions.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4424" y="1092453"/>
            <a:ext cx="6483350" cy="192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Char char="•"/>
              <a:tabLst>
                <a:tab pos="203200" algn="l"/>
              </a:tabLst>
            </a:pPr>
            <a:r>
              <a:rPr sz="2400" dirty="0">
                <a:solidFill>
                  <a:srgbClr val="3D3C2C"/>
                </a:solidFill>
                <a:latin typeface="Arial"/>
                <a:cs typeface="Arial"/>
              </a:rPr>
              <a:t>Some</a:t>
            </a:r>
            <a:r>
              <a:rPr sz="24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D3C2C"/>
                </a:solidFill>
                <a:latin typeface="Arial"/>
                <a:cs typeface="Arial"/>
              </a:rPr>
              <a:t>of</a:t>
            </a:r>
            <a:r>
              <a:rPr sz="24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D3C2C"/>
                </a:solidFill>
                <a:latin typeface="Arial"/>
                <a:cs typeface="Arial"/>
              </a:rPr>
              <a:t>the</a:t>
            </a:r>
            <a:r>
              <a:rPr sz="2400" spc="-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D3C2C"/>
                </a:solidFill>
                <a:latin typeface="Arial"/>
                <a:cs typeface="Arial"/>
              </a:rPr>
              <a:t>examples</a:t>
            </a:r>
            <a:r>
              <a:rPr sz="2400" spc="1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D3C2C"/>
                </a:solidFill>
                <a:latin typeface="Arial"/>
                <a:cs typeface="Arial"/>
              </a:rPr>
              <a:t>of</a:t>
            </a:r>
            <a:r>
              <a:rPr sz="2400" spc="-2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D3C2C"/>
                </a:solidFill>
                <a:latin typeface="Arial"/>
                <a:cs typeface="Arial"/>
              </a:rPr>
              <a:t>absolute</a:t>
            </a:r>
            <a:r>
              <a:rPr sz="2400" spc="-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D3C2C"/>
                </a:solidFill>
                <a:latin typeface="Arial"/>
                <a:cs typeface="Arial"/>
              </a:rPr>
              <a:t>instruments </a:t>
            </a:r>
            <a:r>
              <a:rPr sz="2400" spc="-20" dirty="0">
                <a:solidFill>
                  <a:srgbClr val="3D3C2C"/>
                </a:solidFill>
                <a:latin typeface="Arial"/>
                <a:cs typeface="Arial"/>
              </a:rPr>
              <a:t>are:</a:t>
            </a:r>
            <a:endParaRPr sz="2400">
              <a:latin typeface="Arial"/>
              <a:cs typeface="Arial"/>
            </a:endParaRPr>
          </a:p>
          <a:p>
            <a:pPr marL="210185" indent="-198120">
              <a:lnSpc>
                <a:spcPct val="100000"/>
              </a:lnSpc>
              <a:spcBef>
                <a:spcPts val="575"/>
              </a:spcBef>
              <a:buChar char="*"/>
              <a:tabLst>
                <a:tab pos="210820" algn="l"/>
              </a:tabLst>
            </a:pPr>
            <a:r>
              <a:rPr sz="2400" spc="-25" dirty="0">
                <a:solidFill>
                  <a:srgbClr val="3D3C2C"/>
                </a:solidFill>
                <a:latin typeface="Arial"/>
                <a:cs typeface="Arial"/>
              </a:rPr>
              <a:t>Tangent</a:t>
            </a:r>
            <a:r>
              <a:rPr sz="2400" spc="-13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D3C2C"/>
                </a:solidFill>
                <a:latin typeface="Arial"/>
                <a:cs typeface="Arial"/>
              </a:rPr>
              <a:t>galvanometer</a:t>
            </a:r>
            <a:endParaRPr sz="2400">
              <a:latin typeface="Arial"/>
              <a:cs typeface="Arial"/>
            </a:endParaRPr>
          </a:p>
          <a:p>
            <a:pPr marL="215900" indent="-203835">
              <a:lnSpc>
                <a:spcPct val="100000"/>
              </a:lnSpc>
              <a:spcBef>
                <a:spcPts val="5"/>
              </a:spcBef>
              <a:buChar char="*"/>
              <a:tabLst>
                <a:tab pos="216535" algn="l"/>
              </a:tabLst>
            </a:pPr>
            <a:r>
              <a:rPr sz="2400" dirty="0">
                <a:solidFill>
                  <a:srgbClr val="3D3C2C"/>
                </a:solidFill>
                <a:latin typeface="Arial"/>
                <a:cs typeface="Arial"/>
              </a:rPr>
              <a:t>Raleigh</a:t>
            </a:r>
            <a:r>
              <a:rPr sz="2400" spc="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D3C2C"/>
                </a:solidFill>
                <a:latin typeface="Arial"/>
                <a:cs typeface="Arial"/>
              </a:rPr>
              <a:t>current</a:t>
            </a:r>
            <a:r>
              <a:rPr sz="2400" spc="-4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D3C2C"/>
                </a:solidFill>
                <a:latin typeface="Arial"/>
                <a:cs typeface="Arial"/>
              </a:rPr>
              <a:t>balance</a:t>
            </a:r>
            <a:endParaRPr sz="2400">
              <a:latin typeface="Arial"/>
              <a:cs typeface="Arial"/>
            </a:endParaRPr>
          </a:p>
          <a:p>
            <a:pPr marL="198120" indent="-186055">
              <a:lnSpc>
                <a:spcPct val="100000"/>
              </a:lnSpc>
              <a:buChar char="*"/>
              <a:tabLst>
                <a:tab pos="198755" algn="l"/>
              </a:tabLst>
            </a:pPr>
            <a:r>
              <a:rPr sz="2400" dirty="0">
                <a:solidFill>
                  <a:srgbClr val="3D3C2C"/>
                </a:solidFill>
                <a:latin typeface="Arial"/>
                <a:cs typeface="Arial"/>
              </a:rPr>
              <a:t>Absolute</a:t>
            </a:r>
            <a:r>
              <a:rPr sz="2400" spc="1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D3C2C"/>
                </a:solidFill>
                <a:latin typeface="Arial"/>
                <a:cs typeface="Arial"/>
              </a:rPr>
              <a:t>electrometer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9181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39342C"/>
                </a:solidFill>
              </a:rPr>
              <a:t>Secondary</a:t>
            </a:r>
            <a:r>
              <a:rPr spc="-180" dirty="0">
                <a:solidFill>
                  <a:srgbClr val="39342C"/>
                </a:solidFill>
              </a:rPr>
              <a:t> </a:t>
            </a:r>
            <a:r>
              <a:rPr spc="-10" dirty="0">
                <a:solidFill>
                  <a:srgbClr val="39342C"/>
                </a:solidFill>
              </a:rPr>
              <a:t>instruments</a:t>
            </a:r>
          </a:p>
        </p:txBody>
      </p:sp>
      <p:sp>
        <p:nvSpPr>
          <p:cNvPr id="3" name="object 3"/>
          <p:cNvSpPr/>
          <p:nvPr/>
        </p:nvSpPr>
        <p:spPr>
          <a:xfrm>
            <a:off x="1134935" y="2062479"/>
            <a:ext cx="5194300" cy="36830"/>
          </a:xfrm>
          <a:custGeom>
            <a:avLst/>
            <a:gdLst/>
            <a:ahLst/>
            <a:cxnLst/>
            <a:rect l="l" t="t" r="r" b="b"/>
            <a:pathLst>
              <a:path w="5194300" h="36830">
                <a:moveTo>
                  <a:pt x="5193728" y="0"/>
                </a:moveTo>
                <a:lnTo>
                  <a:pt x="0" y="0"/>
                </a:lnTo>
                <a:lnTo>
                  <a:pt x="0" y="36575"/>
                </a:lnTo>
                <a:lnTo>
                  <a:pt x="5193728" y="36575"/>
                </a:lnTo>
                <a:lnTo>
                  <a:pt x="5193728" y="0"/>
                </a:lnTo>
                <a:close/>
              </a:path>
            </a:pathLst>
          </a:custGeom>
          <a:solidFill>
            <a:srgbClr val="3934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088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3C500"/>
                </a:solidFill>
                <a:latin typeface="Segoe UI Symbol"/>
                <a:cs typeface="Segoe UI Symbol"/>
              </a:rPr>
              <a:t>🞇</a:t>
            </a:r>
            <a:r>
              <a:rPr sz="1800" spc="20" dirty="0">
                <a:solidFill>
                  <a:srgbClr val="93C500"/>
                </a:solidFill>
                <a:latin typeface="Segoe UI Symbol"/>
                <a:cs typeface="Segoe UI Symbol"/>
              </a:rPr>
              <a:t> </a:t>
            </a:r>
            <a:r>
              <a:rPr dirty="0">
                <a:solidFill>
                  <a:srgbClr val="39342C"/>
                </a:solidFill>
              </a:rPr>
              <a:t>In</a:t>
            </a:r>
            <a:r>
              <a:rPr spc="-20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Secondary</a:t>
            </a:r>
            <a:r>
              <a:rPr spc="-5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instruments</a:t>
            </a:r>
            <a:r>
              <a:rPr spc="-20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the</a:t>
            </a:r>
            <a:r>
              <a:rPr spc="-20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deflection</a:t>
            </a:r>
            <a:r>
              <a:rPr spc="-5" dirty="0">
                <a:solidFill>
                  <a:srgbClr val="39342C"/>
                </a:solidFill>
              </a:rPr>
              <a:t> </a:t>
            </a:r>
            <a:r>
              <a:rPr spc="-10" dirty="0">
                <a:solidFill>
                  <a:srgbClr val="39342C"/>
                </a:solidFill>
              </a:rPr>
              <a:t>gives </a:t>
            </a:r>
            <a:r>
              <a:rPr dirty="0">
                <a:solidFill>
                  <a:srgbClr val="39342C"/>
                </a:solidFill>
              </a:rPr>
              <a:t>the</a:t>
            </a:r>
            <a:r>
              <a:rPr spc="-30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magnitude</a:t>
            </a:r>
            <a:r>
              <a:rPr spc="-5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of</a:t>
            </a:r>
            <a:r>
              <a:rPr spc="-25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electrical quantity</a:t>
            </a:r>
            <a:r>
              <a:rPr spc="-20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to</a:t>
            </a:r>
            <a:r>
              <a:rPr spc="-15" dirty="0">
                <a:solidFill>
                  <a:srgbClr val="39342C"/>
                </a:solidFill>
              </a:rPr>
              <a:t> </a:t>
            </a:r>
            <a:r>
              <a:rPr spc="-25" dirty="0">
                <a:solidFill>
                  <a:srgbClr val="39342C"/>
                </a:solidFill>
              </a:rPr>
              <a:t>be </a:t>
            </a:r>
            <a:r>
              <a:rPr dirty="0">
                <a:solidFill>
                  <a:srgbClr val="39342C"/>
                </a:solidFill>
              </a:rPr>
              <a:t>measured</a:t>
            </a:r>
            <a:r>
              <a:rPr spc="-10" dirty="0">
                <a:solidFill>
                  <a:srgbClr val="39342C"/>
                </a:solidFill>
              </a:rPr>
              <a:t> </a:t>
            </a:r>
            <a:r>
              <a:rPr spc="-20" dirty="0">
                <a:solidFill>
                  <a:srgbClr val="39342C"/>
                </a:solidFill>
              </a:rPr>
              <a:t>directly.</a:t>
            </a:r>
            <a:r>
              <a:rPr spc="-60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These</a:t>
            </a:r>
            <a:r>
              <a:rPr spc="-10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instruments</a:t>
            </a:r>
            <a:r>
              <a:rPr spc="-20" dirty="0">
                <a:solidFill>
                  <a:srgbClr val="39342C"/>
                </a:solidFill>
              </a:rPr>
              <a:t> </a:t>
            </a:r>
            <a:r>
              <a:rPr spc="-25" dirty="0">
                <a:solidFill>
                  <a:srgbClr val="39342C"/>
                </a:solidFill>
              </a:rPr>
              <a:t>are </a:t>
            </a:r>
            <a:r>
              <a:rPr dirty="0">
                <a:solidFill>
                  <a:srgbClr val="39342C"/>
                </a:solidFill>
              </a:rPr>
              <a:t>required</a:t>
            </a:r>
            <a:r>
              <a:rPr spc="10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to</a:t>
            </a:r>
            <a:r>
              <a:rPr spc="-25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be</a:t>
            </a:r>
            <a:r>
              <a:rPr spc="-5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calibrated</a:t>
            </a:r>
            <a:r>
              <a:rPr spc="10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by</a:t>
            </a:r>
            <a:r>
              <a:rPr spc="-15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comparing</a:t>
            </a:r>
            <a:r>
              <a:rPr spc="5" dirty="0">
                <a:solidFill>
                  <a:srgbClr val="39342C"/>
                </a:solidFill>
              </a:rPr>
              <a:t> </a:t>
            </a:r>
            <a:r>
              <a:rPr spc="-20" dirty="0">
                <a:solidFill>
                  <a:srgbClr val="39342C"/>
                </a:solidFill>
              </a:rPr>
              <a:t>with </a:t>
            </a:r>
            <a:r>
              <a:rPr dirty="0">
                <a:solidFill>
                  <a:srgbClr val="39342C"/>
                </a:solidFill>
              </a:rPr>
              <a:t>another</a:t>
            </a:r>
            <a:r>
              <a:rPr spc="-25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standard</a:t>
            </a:r>
            <a:r>
              <a:rPr spc="-5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instrument</a:t>
            </a:r>
            <a:r>
              <a:rPr spc="-20" dirty="0">
                <a:solidFill>
                  <a:srgbClr val="39342C"/>
                </a:solidFill>
              </a:rPr>
              <a:t> </a:t>
            </a:r>
            <a:r>
              <a:rPr dirty="0">
                <a:solidFill>
                  <a:srgbClr val="39342C"/>
                </a:solidFill>
              </a:rPr>
              <a:t>before</a:t>
            </a:r>
            <a:r>
              <a:rPr spc="-15" dirty="0">
                <a:solidFill>
                  <a:srgbClr val="39342C"/>
                </a:solidFill>
              </a:rPr>
              <a:t> </a:t>
            </a:r>
            <a:r>
              <a:rPr spc="-10" dirty="0">
                <a:solidFill>
                  <a:srgbClr val="39342C"/>
                </a:solidFill>
              </a:rPr>
              <a:t>putting </a:t>
            </a:r>
            <a:r>
              <a:rPr dirty="0">
                <a:solidFill>
                  <a:srgbClr val="39342C"/>
                </a:solidFill>
              </a:rPr>
              <a:t>into</a:t>
            </a:r>
            <a:r>
              <a:rPr spc="-15" dirty="0">
                <a:solidFill>
                  <a:srgbClr val="39342C"/>
                </a:solidFill>
              </a:rPr>
              <a:t> </a:t>
            </a:r>
            <a:r>
              <a:rPr spc="-20" dirty="0">
                <a:solidFill>
                  <a:srgbClr val="39342C"/>
                </a:solidFill>
              </a:rPr>
              <a:t>use.</a:t>
            </a:r>
            <a:endParaRPr sz="18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B9763-7A33-1450-46E7-6C738D1A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Secondary  Instruments</a:t>
            </a:r>
            <a:endParaRPr lang="en-B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2AF28-5812-6872-F51C-44CDDA1E7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b="1" dirty="0">
                <a:latin typeface="Times-Bold"/>
              </a:rPr>
              <a:t>1</a:t>
            </a:r>
            <a:r>
              <a:rPr lang="en-GB" b="1" i="0" u="none" strike="noStrike" baseline="0" dirty="0">
                <a:latin typeface="Times-Bold"/>
              </a:rPr>
              <a:t>.Recording instrument</a:t>
            </a:r>
          </a:p>
          <a:p>
            <a:pPr marL="0" indent="0" algn="l">
              <a:buNone/>
            </a:pPr>
            <a:r>
              <a:rPr lang="en-GB" b="0" i="0" u="none" strike="noStrike" baseline="0" dirty="0">
                <a:latin typeface="Times-Roman"/>
              </a:rPr>
              <a:t>This type of instruments records the magnitude of the quantity to be measured continuously over specified period of time.</a:t>
            </a:r>
          </a:p>
          <a:p>
            <a:pPr marL="0" indent="0" algn="l">
              <a:buNone/>
            </a:pPr>
            <a:r>
              <a:rPr lang="en-GB" b="1" i="0" u="none" strike="noStrike" baseline="0" dirty="0">
                <a:latin typeface="Times-Bold"/>
              </a:rPr>
              <a:t> 3. Integrating instrument</a:t>
            </a:r>
          </a:p>
          <a:p>
            <a:pPr marL="0" indent="0" algn="l">
              <a:buNone/>
            </a:pPr>
            <a:r>
              <a:rPr lang="en-GB" b="0" i="0" u="none" strike="noStrike" baseline="0" dirty="0">
                <a:latin typeface="Times-Roman"/>
              </a:rPr>
              <a:t>This type of instrument gives the total amount of the quantity to be measured over a specified period of time.</a:t>
            </a:r>
          </a:p>
          <a:p>
            <a:pPr marL="0" indent="0" algn="l">
              <a:buNone/>
            </a:pPr>
            <a:endParaRPr lang="en-GB" b="0" i="0" u="none" strike="noStrike" baseline="0" dirty="0">
              <a:latin typeface="Times-Roman"/>
            </a:endParaRPr>
          </a:p>
          <a:p>
            <a:pPr algn="l"/>
            <a:endParaRPr lang="en-BW" dirty="0"/>
          </a:p>
        </p:txBody>
      </p:sp>
    </p:spTree>
    <p:extLst>
      <p:ext uri="{BB962C8B-B14F-4D97-AF65-F5344CB8AC3E}">
        <p14:creationId xmlns:p14="http://schemas.microsoft.com/office/powerpoint/2010/main" val="3025343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4235E-5C39-7DCF-4C1E-19564D9D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018"/>
            <a:ext cx="8229600" cy="1143000"/>
          </a:xfrm>
        </p:spPr>
        <p:txBody>
          <a:bodyPr/>
          <a:lstStyle/>
          <a:p>
            <a:r>
              <a:rPr lang="en-GB" dirty="0"/>
              <a:t>Secondary Instruments</a:t>
            </a:r>
            <a:endParaRPr lang="en-B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E8878-0FBF-720D-EE87-1B077CDA4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14400"/>
            <a:ext cx="8229600" cy="4525963"/>
          </a:xfrm>
        </p:spPr>
        <p:txBody>
          <a:bodyPr/>
          <a:lstStyle/>
          <a:p>
            <a:pPr marL="0" indent="0" algn="l">
              <a:buNone/>
            </a:pPr>
            <a:r>
              <a:rPr lang="en-GB" b="1" i="0" u="none" strike="noStrike" baseline="0" dirty="0">
                <a:latin typeface="Times-Bold"/>
              </a:rPr>
              <a:t>3. Indicating instrument</a:t>
            </a:r>
          </a:p>
          <a:p>
            <a:pPr marL="0" indent="0" algn="l">
              <a:buNone/>
            </a:pPr>
            <a:r>
              <a:rPr lang="en-GB" b="0" i="0" u="none" strike="noStrike" baseline="0" dirty="0">
                <a:latin typeface="Times-Roman"/>
              </a:rPr>
              <a:t>    This instrument uses a dial and pointer to determine the value of measuring quantity.     The pointer indication gives the magnitude of measuring quantity</a:t>
            </a:r>
          </a:p>
          <a:p>
            <a:pPr marL="0" indent="0" algn="l">
              <a:buNone/>
            </a:pPr>
            <a:r>
              <a:rPr lang="en-GB" b="1" i="0" u="none" strike="noStrike" baseline="0" dirty="0">
                <a:latin typeface="Times-Bold"/>
              </a:rPr>
              <a:t>4. Electromechanical indicating instrument</a:t>
            </a:r>
          </a:p>
          <a:p>
            <a:pPr marL="0" indent="0" algn="l">
              <a:buNone/>
            </a:pPr>
            <a:r>
              <a:rPr lang="en-GB" b="0" i="0" u="none" strike="noStrike" baseline="0" dirty="0">
                <a:latin typeface="Times-Roman"/>
              </a:rPr>
              <a:t>For satisfactory operation electromechanical indicating instrument, three forces are necessary They are</a:t>
            </a:r>
          </a:p>
          <a:p>
            <a:pPr marL="0" indent="0" algn="l">
              <a:buNone/>
            </a:pPr>
            <a:r>
              <a:rPr lang="en-GB" b="0" i="0" u="none" strike="noStrike" baseline="0" dirty="0">
                <a:latin typeface="Times-Roman"/>
              </a:rPr>
              <a:t>(a) Deflecting force     (b) Controlling force</a:t>
            </a:r>
          </a:p>
          <a:p>
            <a:pPr marL="0" indent="0" algn="l">
              <a:buNone/>
            </a:pPr>
            <a:r>
              <a:rPr lang="en-GB" b="0" i="0" u="none" strike="noStrike" baseline="0" dirty="0">
                <a:latin typeface="Times-Roman"/>
              </a:rPr>
              <a:t>(c)Damping force</a:t>
            </a:r>
            <a:endParaRPr lang="en-BW" dirty="0"/>
          </a:p>
        </p:txBody>
      </p:sp>
    </p:spTree>
    <p:extLst>
      <p:ext uri="{BB962C8B-B14F-4D97-AF65-F5344CB8AC3E}">
        <p14:creationId xmlns:p14="http://schemas.microsoft.com/office/powerpoint/2010/main" val="58609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5" y="1003172"/>
            <a:ext cx="5944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Basic Secondary</a:t>
            </a:r>
            <a:r>
              <a:rPr sz="3600" spc="-30" dirty="0"/>
              <a:t> </a:t>
            </a:r>
            <a:r>
              <a:rPr sz="3600" spc="-10" dirty="0"/>
              <a:t>instruments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22375" y="1551813"/>
            <a:ext cx="2768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which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we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spc="-25" dirty="0">
                <a:latin typeface="Arial"/>
                <a:cs typeface="Arial"/>
              </a:rPr>
              <a:t>use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0955" y="2276094"/>
            <a:ext cx="2045335" cy="224099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75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3D3C2C"/>
                </a:solidFill>
                <a:latin typeface="Arial"/>
                <a:cs typeface="Arial"/>
              </a:rPr>
              <a:t>Multi</a:t>
            </a:r>
            <a:r>
              <a:rPr sz="2400" spc="10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D3C2C"/>
                </a:solidFill>
                <a:latin typeface="Arial"/>
                <a:cs typeface="Arial"/>
              </a:rPr>
              <a:t>meter</a:t>
            </a:r>
            <a:endParaRPr sz="240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3D3C2C"/>
                </a:solidFill>
                <a:latin typeface="Arial"/>
                <a:cs typeface="Arial"/>
              </a:rPr>
              <a:t>Clamp</a:t>
            </a:r>
            <a:r>
              <a:rPr sz="2400" spc="-5" dirty="0">
                <a:solidFill>
                  <a:srgbClr val="3D3C2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D3C2C"/>
                </a:solidFill>
                <a:latin typeface="Arial"/>
                <a:cs typeface="Arial"/>
              </a:rPr>
              <a:t>meter</a:t>
            </a:r>
            <a:endParaRPr sz="240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575"/>
              </a:spcBef>
              <a:buFont typeface="Arial" panose="020B0604020202020204" pitchFamily="34" charset="0"/>
              <a:buChar char="•"/>
            </a:pPr>
            <a:r>
              <a:rPr sz="2400" spc="-10" dirty="0">
                <a:solidFill>
                  <a:srgbClr val="3D3C2C"/>
                </a:solidFill>
                <a:latin typeface="Arial"/>
                <a:cs typeface="Arial"/>
              </a:rPr>
              <a:t>Ammeter</a:t>
            </a:r>
            <a:endParaRPr lang="en-GB" spc="-10" dirty="0">
              <a:solidFill>
                <a:srgbClr val="3D3C2C"/>
              </a:solidFill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575"/>
              </a:spcBef>
              <a:buFont typeface="Arial" panose="020B0604020202020204" pitchFamily="34" charset="0"/>
              <a:buChar char="•"/>
            </a:pPr>
            <a:r>
              <a:rPr sz="1800" spc="55" dirty="0">
                <a:solidFill>
                  <a:srgbClr val="93C500"/>
                </a:solidFill>
                <a:latin typeface="Segoe UI Symbol"/>
                <a:cs typeface="Segoe UI Symbol"/>
              </a:rPr>
              <a:t> </a:t>
            </a:r>
            <a:r>
              <a:rPr sz="2400" spc="-10" dirty="0">
                <a:solidFill>
                  <a:srgbClr val="3D3C2C"/>
                </a:solidFill>
                <a:latin typeface="Arial"/>
                <a:cs typeface="Arial"/>
              </a:rPr>
              <a:t>Voltmeter</a:t>
            </a:r>
            <a:endParaRPr lang="en-GB" sz="2400" spc="-10" dirty="0">
              <a:solidFill>
                <a:srgbClr val="3D3C2C"/>
              </a:solidFill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575"/>
              </a:spcBef>
              <a:buFont typeface="Arial" panose="020B0604020202020204" pitchFamily="34" charset="0"/>
              <a:buChar char="•"/>
            </a:pPr>
            <a:r>
              <a:rPr lang="en-GB" spc="-10" dirty="0" err="1">
                <a:solidFill>
                  <a:srgbClr val="3D3C2C"/>
                </a:solidFill>
                <a:latin typeface="Arial"/>
                <a:cs typeface="Arial"/>
              </a:rPr>
              <a:t>Wartmeter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>
            <a:extLst>
              <a:ext uri="{FF2B5EF4-FFF2-40B4-BE49-F238E27FC236}">
                <a16:creationId xmlns:a16="http://schemas.microsoft.com/office/drawing/2014/main" id="{D35875C1-A4D5-49C1-B12B-940158880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79413"/>
            <a:ext cx="8458200" cy="523875"/>
          </a:xfrm>
          <a:prstGeom prst="rect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FFFF"/>
                </a:solidFill>
                <a:latin typeface="Tahoma" panose="020B0604030504040204" pitchFamily="34" charset="0"/>
              </a:rPr>
              <a:t>Measuring current, voltage, and resistance</a:t>
            </a:r>
            <a:endParaRPr lang="en-US" altLang="en-US" sz="280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3364A7EB-D133-4AA6-972F-BFBFFA24FC98}"/>
              </a:ext>
            </a:extLst>
          </p:cNvPr>
          <p:cNvSpPr>
            <a:spLocks/>
          </p:cNvSpPr>
          <p:nvPr/>
        </p:nvSpPr>
        <p:spPr bwMode="auto">
          <a:xfrm>
            <a:off x="6423025" y="1528763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3FD1DA8-8ABE-4ABD-9CF0-D314659DD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7225" y="1681163"/>
            <a:ext cx="722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011BBF05-9658-4A25-A767-4D9E0A0B51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1988" y="1681163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4" name="Oval 18">
            <a:extLst>
              <a:ext uri="{FF2B5EF4-FFF2-40B4-BE49-F238E27FC236}">
                <a16:creationId xmlns:a16="http://schemas.microsoft.com/office/drawing/2014/main" id="{2508D682-BA37-4DF7-88C5-B43A40990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2388" y="1376363"/>
            <a:ext cx="609600" cy="609600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F16037-DC42-4C8D-B035-A49965434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0" y="1450975"/>
            <a:ext cx="3952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FF3F0C-AAE3-4410-9DC5-BA266850EF62}"/>
              </a:ext>
            </a:extLst>
          </p:cNvPr>
          <p:cNvSpPr txBox="1"/>
          <p:nvPr/>
        </p:nvSpPr>
        <p:spPr>
          <a:xfrm>
            <a:off x="306388" y="1201738"/>
            <a:ext cx="5103812" cy="1568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Ammeter: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/>
              <a:t>measures current (A)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/>
              <a:t>connected </a:t>
            </a:r>
            <a:r>
              <a:rPr lang="en-US" b="1" dirty="0">
                <a:solidFill>
                  <a:srgbClr val="FF0000"/>
                </a:solidFill>
              </a:rPr>
              <a:t>in series </a:t>
            </a:r>
          </a:p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</a:rPr>
              <a:t>    </a:t>
            </a:r>
            <a:r>
              <a:rPr lang="en-US" sz="2000" dirty="0"/>
              <a:t>(current must go through instrument)</a:t>
            </a:r>
            <a:r>
              <a:rPr lang="en-US" dirty="0"/>
              <a:t>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FD46F8-2E31-4363-803E-FADA31A393C0}"/>
              </a:ext>
            </a:extLst>
          </p:cNvPr>
          <p:cNvCxnSpPr>
            <a:cxnSpLocks noChangeShapeType="1"/>
            <a:endCxn id="9" idx="1"/>
          </p:cNvCxnSpPr>
          <p:nvPr/>
        </p:nvCxnSpPr>
        <p:spPr bwMode="auto">
          <a:xfrm>
            <a:off x="6019800" y="1681163"/>
            <a:ext cx="439738" cy="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1AC0098-8A71-4EC0-A69A-10E8A564E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814513"/>
            <a:ext cx="333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44" name="Freeform 5">
            <a:extLst>
              <a:ext uri="{FF2B5EF4-FFF2-40B4-BE49-F238E27FC236}">
                <a16:creationId xmlns:a16="http://schemas.microsoft.com/office/drawing/2014/main" id="{5F3EDCB9-8841-4E99-B8A4-23F9C061CA06}"/>
              </a:ext>
            </a:extLst>
          </p:cNvPr>
          <p:cNvSpPr>
            <a:spLocks/>
          </p:cNvSpPr>
          <p:nvPr/>
        </p:nvSpPr>
        <p:spPr bwMode="auto">
          <a:xfrm>
            <a:off x="6840538" y="3994150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5ED240FB-779A-4E6A-B757-F1B7CF1103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3538" y="4146550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46" name="Line 8">
            <a:extLst>
              <a:ext uri="{FF2B5EF4-FFF2-40B4-BE49-F238E27FC236}">
                <a16:creationId xmlns:a16="http://schemas.microsoft.com/office/drawing/2014/main" id="{6B6F1C47-AA59-4DB9-B8B1-3B2A43E06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4738" y="4146550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48" name="Freeform 14">
            <a:extLst>
              <a:ext uri="{FF2B5EF4-FFF2-40B4-BE49-F238E27FC236}">
                <a16:creationId xmlns:a16="http://schemas.microsoft.com/office/drawing/2014/main" id="{9ECA689C-49C4-4235-82FA-81C8A3F8DD6A}"/>
              </a:ext>
            </a:extLst>
          </p:cNvPr>
          <p:cNvSpPr>
            <a:spLocks/>
          </p:cNvSpPr>
          <p:nvPr/>
        </p:nvSpPr>
        <p:spPr bwMode="auto">
          <a:xfrm flipH="1" flipV="1">
            <a:off x="6519863" y="3095625"/>
            <a:ext cx="557212" cy="995363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49" name="Freeform 15">
            <a:extLst>
              <a:ext uri="{FF2B5EF4-FFF2-40B4-BE49-F238E27FC236}">
                <a16:creationId xmlns:a16="http://schemas.microsoft.com/office/drawing/2014/main" id="{8378F3B6-B259-4D10-86B9-2CB1181750D1}"/>
              </a:ext>
            </a:extLst>
          </p:cNvPr>
          <p:cNvSpPr>
            <a:spLocks/>
          </p:cNvSpPr>
          <p:nvPr/>
        </p:nvSpPr>
        <p:spPr bwMode="auto">
          <a:xfrm flipV="1">
            <a:off x="7624763" y="3108325"/>
            <a:ext cx="657225" cy="10033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grpSp>
        <p:nvGrpSpPr>
          <p:cNvPr id="50" name="Group 16">
            <a:extLst>
              <a:ext uri="{FF2B5EF4-FFF2-40B4-BE49-F238E27FC236}">
                <a16:creationId xmlns:a16="http://schemas.microsoft.com/office/drawing/2014/main" id="{54A54F98-1A23-4A12-A77A-CE5764CB0B49}"/>
              </a:ext>
            </a:extLst>
          </p:cNvPr>
          <p:cNvGrpSpPr>
            <a:grpSpLocks/>
          </p:cNvGrpSpPr>
          <p:nvPr/>
        </p:nvGrpSpPr>
        <p:grpSpPr bwMode="auto">
          <a:xfrm>
            <a:off x="7059613" y="2763838"/>
            <a:ext cx="601662" cy="627062"/>
            <a:chOff x="2000" y="1621"/>
            <a:chExt cx="379" cy="350"/>
          </a:xfrm>
        </p:grpSpPr>
        <p:sp>
          <p:nvSpPr>
            <p:cNvPr id="4129" name="Oval 17">
              <a:extLst>
                <a:ext uri="{FF2B5EF4-FFF2-40B4-BE49-F238E27FC236}">
                  <a16:creationId xmlns:a16="http://schemas.microsoft.com/office/drawing/2014/main" id="{C780D8C8-71F1-4245-A6B4-1535EDE2B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" y="1621"/>
              <a:ext cx="379" cy="350"/>
            </a:xfrm>
            <a:prstGeom prst="ellipse">
              <a:avLst/>
            </a:prstGeom>
            <a:noFill/>
            <a:ln w="571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70C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130" name="Rectangle 18">
              <a:extLst>
                <a:ext uri="{FF2B5EF4-FFF2-40B4-BE49-F238E27FC236}">
                  <a16:creationId xmlns:a16="http://schemas.microsoft.com/office/drawing/2014/main" id="{CDA2A325-2DEE-4991-9203-B7E69EEF5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680"/>
              <a:ext cx="23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70C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V</a:t>
              </a:r>
            </a:p>
          </p:txBody>
        </p:sp>
      </p:grpSp>
      <p:sp>
        <p:nvSpPr>
          <p:cNvPr id="55" name="Oval 21">
            <a:extLst>
              <a:ext uri="{FF2B5EF4-FFF2-40B4-BE49-F238E27FC236}">
                <a16:creationId xmlns:a16="http://schemas.microsoft.com/office/drawing/2014/main" id="{A8F01A61-DD48-47E5-8684-076679CAD1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21663" y="4090988"/>
            <a:ext cx="119062" cy="119062"/>
          </a:xfrm>
          <a:prstGeom prst="ellipse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56" name="Oval 22">
            <a:extLst>
              <a:ext uri="{FF2B5EF4-FFF2-40B4-BE49-F238E27FC236}">
                <a16:creationId xmlns:a16="http://schemas.microsoft.com/office/drawing/2014/main" id="{99241ABC-C2CC-4620-BF03-C5D6EB4DD4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53188" y="4079875"/>
            <a:ext cx="119062" cy="119063"/>
          </a:xfrm>
          <a:prstGeom prst="ellipse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57" name="Rectangle 23">
            <a:extLst>
              <a:ext uri="{FF2B5EF4-FFF2-40B4-BE49-F238E27FC236}">
                <a16:creationId xmlns:a16="http://schemas.microsoft.com/office/drawing/2014/main" id="{64C2AE33-6C7D-4DED-B955-3579AF9D8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625850"/>
            <a:ext cx="344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70C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58" name="Rectangle 24">
            <a:extLst>
              <a:ext uri="{FF2B5EF4-FFF2-40B4-BE49-F238E27FC236}">
                <a16:creationId xmlns:a16="http://schemas.microsoft.com/office/drawing/2014/main" id="{74F5F537-5D59-46AF-ABFE-85F491BC1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5650" y="3625850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70C0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76123A-A8F7-4158-BDCA-611E718ED080}"/>
              </a:ext>
            </a:extLst>
          </p:cNvPr>
          <p:cNvSpPr txBox="1"/>
          <p:nvPr/>
        </p:nvSpPr>
        <p:spPr>
          <a:xfrm>
            <a:off x="303213" y="3017838"/>
            <a:ext cx="5059362" cy="1200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70C0"/>
                </a:solidFill>
              </a:rPr>
              <a:t>Voltmeter: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/>
              <a:t>measures potential difference (V)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/>
              <a:t>connected </a:t>
            </a:r>
            <a:r>
              <a:rPr lang="en-US" b="1" dirty="0">
                <a:solidFill>
                  <a:srgbClr val="0070C0"/>
                </a:solidFill>
              </a:rPr>
              <a:t>in parallel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10247D-55AF-47E4-9A56-29B000069EA6}"/>
              </a:ext>
            </a:extLst>
          </p:cNvPr>
          <p:cNvSpPr txBox="1"/>
          <p:nvPr/>
        </p:nvSpPr>
        <p:spPr>
          <a:xfrm>
            <a:off x="303213" y="4979988"/>
            <a:ext cx="5254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B050"/>
                </a:solidFill>
              </a:rPr>
              <a:t>Ohmmeter: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/>
              <a:t>measures resistance of an isolated resistor (not in a working circuit)</a:t>
            </a:r>
          </a:p>
        </p:txBody>
      </p:sp>
      <p:sp>
        <p:nvSpPr>
          <p:cNvPr id="62" name="Freeform 5">
            <a:extLst>
              <a:ext uri="{FF2B5EF4-FFF2-40B4-BE49-F238E27FC236}">
                <a16:creationId xmlns:a16="http://schemas.microsoft.com/office/drawing/2014/main" id="{F5BEDB3E-0A87-4FDA-8C8D-60A4CCF624BB}"/>
              </a:ext>
            </a:extLst>
          </p:cNvPr>
          <p:cNvSpPr>
            <a:spLocks/>
          </p:cNvSpPr>
          <p:nvPr/>
        </p:nvSpPr>
        <p:spPr bwMode="auto">
          <a:xfrm>
            <a:off x="6913563" y="6180138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63" name="Line 6">
            <a:extLst>
              <a:ext uri="{FF2B5EF4-FFF2-40B4-BE49-F238E27FC236}">
                <a16:creationId xmlns:a16="http://schemas.microsoft.com/office/drawing/2014/main" id="{F1491837-1DDC-44A1-B15F-9D79578AD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6563" y="6332538"/>
            <a:ext cx="304800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64" name="Line 8">
            <a:extLst>
              <a:ext uri="{FF2B5EF4-FFF2-40B4-BE49-F238E27FC236}">
                <a16:creationId xmlns:a16="http://schemas.microsoft.com/office/drawing/2014/main" id="{5A035C97-0111-4E9B-A186-1881F311FF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6538" y="6332538"/>
            <a:ext cx="3635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65" name="Freeform 14">
            <a:extLst>
              <a:ext uri="{FF2B5EF4-FFF2-40B4-BE49-F238E27FC236}">
                <a16:creationId xmlns:a16="http://schemas.microsoft.com/office/drawing/2014/main" id="{DB90FA99-FE08-49A0-A307-2B8F82F05DA8}"/>
              </a:ext>
            </a:extLst>
          </p:cNvPr>
          <p:cNvSpPr>
            <a:spLocks/>
          </p:cNvSpPr>
          <p:nvPr/>
        </p:nvSpPr>
        <p:spPr bwMode="auto">
          <a:xfrm flipH="1" flipV="1">
            <a:off x="6592888" y="5408613"/>
            <a:ext cx="568325" cy="923925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66" name="Freeform 15">
            <a:extLst>
              <a:ext uri="{FF2B5EF4-FFF2-40B4-BE49-F238E27FC236}">
                <a16:creationId xmlns:a16="http://schemas.microsoft.com/office/drawing/2014/main" id="{3CBD759F-63A0-4E4D-B0B9-1DB3AE0D701D}"/>
              </a:ext>
            </a:extLst>
          </p:cNvPr>
          <p:cNvSpPr>
            <a:spLocks/>
          </p:cNvSpPr>
          <p:nvPr/>
        </p:nvSpPr>
        <p:spPr bwMode="auto">
          <a:xfrm flipV="1">
            <a:off x="7751763" y="5411788"/>
            <a:ext cx="603250" cy="92075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grpSp>
        <p:nvGrpSpPr>
          <p:cNvPr id="67" name="Group 16">
            <a:extLst>
              <a:ext uri="{FF2B5EF4-FFF2-40B4-BE49-F238E27FC236}">
                <a16:creationId xmlns:a16="http://schemas.microsoft.com/office/drawing/2014/main" id="{2CADB72D-64BB-4495-BE44-EB50BF81CBAD}"/>
              </a:ext>
            </a:extLst>
          </p:cNvPr>
          <p:cNvGrpSpPr>
            <a:grpSpLocks/>
          </p:cNvGrpSpPr>
          <p:nvPr/>
        </p:nvGrpSpPr>
        <p:grpSpPr bwMode="auto">
          <a:xfrm>
            <a:off x="7161213" y="5084763"/>
            <a:ext cx="601662" cy="647700"/>
            <a:chOff x="2000" y="1615"/>
            <a:chExt cx="379" cy="362"/>
          </a:xfrm>
        </p:grpSpPr>
        <p:sp>
          <p:nvSpPr>
            <p:cNvPr id="4127" name="Oval 17">
              <a:extLst>
                <a:ext uri="{FF2B5EF4-FFF2-40B4-BE49-F238E27FC236}">
                  <a16:creationId xmlns:a16="http://schemas.microsoft.com/office/drawing/2014/main" id="{3A88D8F6-9E6D-4585-B312-6FD537DC1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" y="1615"/>
              <a:ext cx="379" cy="362"/>
            </a:xfrm>
            <a:prstGeom prst="ellipse">
              <a:avLst/>
            </a:prstGeom>
            <a:noFill/>
            <a:ln w="57150" algn="ctr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B05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128" name="Rectangle 18">
              <a:extLst>
                <a:ext uri="{FF2B5EF4-FFF2-40B4-BE49-F238E27FC236}">
                  <a16:creationId xmlns:a16="http://schemas.microsoft.com/office/drawing/2014/main" id="{82C1485B-1B0F-4028-BFE6-548FDBB0B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" y="1667"/>
              <a:ext cx="265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B05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</a:t>
              </a:r>
            </a:p>
          </p:txBody>
        </p:sp>
      </p:grpSp>
      <p:sp>
        <p:nvSpPr>
          <p:cNvPr id="70" name="Oval 21">
            <a:extLst>
              <a:ext uri="{FF2B5EF4-FFF2-40B4-BE49-F238E27FC236}">
                <a16:creationId xmlns:a16="http://schemas.microsoft.com/office/drawing/2014/main" id="{CA7F12E7-6C5F-4F27-8422-1062AA5D9B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96275" y="6276975"/>
            <a:ext cx="119063" cy="119063"/>
          </a:xfrm>
          <a:prstGeom prst="ellipse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1" name="Oval 22">
            <a:extLst>
              <a:ext uri="{FF2B5EF4-FFF2-40B4-BE49-F238E27FC236}">
                <a16:creationId xmlns:a16="http://schemas.microsoft.com/office/drawing/2014/main" id="{F554475E-6D5F-4538-9FB0-B61171D65C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800" y="6267450"/>
            <a:ext cx="119063" cy="119063"/>
          </a:xfrm>
          <a:prstGeom prst="ellipse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/>
      <p:bldP spid="21" grpId="0"/>
      <p:bldP spid="43" grpId="0"/>
      <p:bldP spid="55" grpId="0" animBg="1"/>
      <p:bldP spid="56" grpId="0" animBg="1"/>
      <p:bldP spid="57" grpId="0"/>
      <p:bldP spid="58" grpId="0"/>
      <p:bldP spid="60" grpId="0"/>
      <p:bldP spid="61" grpId="0"/>
      <p:bldP spid="70" grpId="0" animBg="1"/>
      <p:bldP spid="7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>
            <a:extLst>
              <a:ext uri="{FF2B5EF4-FFF2-40B4-BE49-F238E27FC236}">
                <a16:creationId xmlns:a16="http://schemas.microsoft.com/office/drawing/2014/main" id="{61E731B3-92CC-443D-887C-01FFE50E0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79413"/>
            <a:ext cx="7467600" cy="523875"/>
          </a:xfrm>
          <a:prstGeom prst="rect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FFFF"/>
                </a:solidFill>
                <a:latin typeface="Tahoma" panose="020B0604030504040204" pitchFamily="34" charset="0"/>
              </a:rPr>
              <a:t>Effect of ammeter on circuit</a:t>
            </a:r>
            <a:endParaRPr lang="en-US" altLang="en-US" sz="280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5123" name="Line 4">
            <a:extLst>
              <a:ext uri="{FF2B5EF4-FFF2-40B4-BE49-F238E27FC236}">
                <a16:creationId xmlns:a16="http://schemas.microsoft.com/office/drawing/2014/main" id="{B5BF943B-C147-4F78-A612-CE81A8181AF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859588" y="327025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5124" name="Line 5">
            <a:extLst>
              <a:ext uri="{FF2B5EF4-FFF2-40B4-BE49-F238E27FC236}">
                <a16:creationId xmlns:a16="http://schemas.microsoft.com/office/drawing/2014/main" id="{B649B87F-7445-4BE8-86F2-BA4F08693727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16750" y="3271838"/>
            <a:ext cx="206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5125" name="Freeform 6">
            <a:extLst>
              <a:ext uri="{FF2B5EF4-FFF2-40B4-BE49-F238E27FC236}">
                <a16:creationId xmlns:a16="http://schemas.microsoft.com/office/drawing/2014/main" id="{E8118056-4B4D-4826-87BB-398BF7F66F81}"/>
              </a:ext>
            </a:extLst>
          </p:cNvPr>
          <p:cNvSpPr>
            <a:spLocks/>
          </p:cNvSpPr>
          <p:nvPr/>
        </p:nvSpPr>
        <p:spPr bwMode="auto">
          <a:xfrm>
            <a:off x="6516688" y="1752600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5126" name="Line 7">
            <a:extLst>
              <a:ext uri="{FF2B5EF4-FFF2-40B4-BE49-F238E27FC236}">
                <a16:creationId xmlns:a16="http://schemas.microsoft.com/office/drawing/2014/main" id="{41875F3C-F41E-4B0B-8D35-E15DF24C3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9688" y="1905000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5127" name="Line 8">
            <a:extLst>
              <a:ext uri="{FF2B5EF4-FFF2-40B4-BE49-F238E27FC236}">
                <a16:creationId xmlns:a16="http://schemas.microsoft.com/office/drawing/2014/main" id="{41D65C15-9C3B-4488-AEAA-CB79D3A5CC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5575" y="3276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5128" name="Freeform 9">
            <a:extLst>
              <a:ext uri="{FF2B5EF4-FFF2-40B4-BE49-F238E27FC236}">
                <a16:creationId xmlns:a16="http://schemas.microsoft.com/office/drawing/2014/main" id="{DD0B5EFE-E431-47AD-B808-9243D05F86FC}"/>
              </a:ext>
            </a:extLst>
          </p:cNvPr>
          <p:cNvSpPr>
            <a:spLocks/>
          </p:cNvSpPr>
          <p:nvPr/>
        </p:nvSpPr>
        <p:spPr bwMode="auto">
          <a:xfrm flipH="1">
            <a:off x="5843588" y="1905000"/>
            <a:ext cx="8255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5129" name="Line 10">
            <a:extLst>
              <a:ext uri="{FF2B5EF4-FFF2-40B4-BE49-F238E27FC236}">
                <a16:creationId xmlns:a16="http://schemas.microsoft.com/office/drawing/2014/main" id="{4B65C9C4-1273-40AE-831E-BEDC00835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0888" y="1905000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5130" name="Freeform 11">
            <a:extLst>
              <a:ext uri="{FF2B5EF4-FFF2-40B4-BE49-F238E27FC236}">
                <a16:creationId xmlns:a16="http://schemas.microsoft.com/office/drawing/2014/main" id="{979DC9E7-0B00-472C-A26B-CB02F3B84754}"/>
              </a:ext>
            </a:extLst>
          </p:cNvPr>
          <p:cNvSpPr>
            <a:spLocks/>
          </p:cNvSpPr>
          <p:nvPr/>
        </p:nvSpPr>
        <p:spPr bwMode="auto">
          <a:xfrm>
            <a:off x="7556500" y="1905000"/>
            <a:ext cx="8255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5131" name="Line 12">
            <a:extLst>
              <a:ext uri="{FF2B5EF4-FFF2-40B4-BE49-F238E27FC236}">
                <a16:creationId xmlns:a16="http://schemas.microsoft.com/office/drawing/2014/main" id="{DF8B5B8C-9320-4EA4-B5CE-E750E411F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6288" y="3276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5132" name="Rectangle 13">
            <a:extLst>
              <a:ext uri="{FF2B5EF4-FFF2-40B4-BE49-F238E27FC236}">
                <a16:creationId xmlns:a16="http://schemas.microsoft.com/office/drawing/2014/main" id="{23786BD4-E9FD-499F-9AC5-763D2FFD3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688" y="3429000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</a:t>
            </a:r>
          </a:p>
        </p:txBody>
      </p:sp>
      <p:sp>
        <p:nvSpPr>
          <p:cNvPr id="5133" name="Rectangle 14">
            <a:extLst>
              <a:ext uri="{FF2B5EF4-FFF2-40B4-BE49-F238E27FC236}">
                <a16:creationId xmlns:a16="http://schemas.microsoft.com/office/drawing/2014/main" id="{859051AF-8830-4713-BF2F-679C54E85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1295400"/>
            <a:ext cx="373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</a:p>
        </p:txBody>
      </p:sp>
      <p:sp>
        <p:nvSpPr>
          <p:cNvPr id="5134" name="Text Box 16">
            <a:extLst>
              <a:ext uri="{FF2B5EF4-FFF2-40B4-BE49-F238E27FC236}">
                <a16:creationId xmlns:a16="http://schemas.microsoft.com/office/drawing/2014/main" id="{ECC2FA55-0B3E-4FAC-A9C2-8EB5DFA39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341438"/>
            <a:ext cx="525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Measuring current in a simple circuit:</a:t>
            </a: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194" name="Oval 18">
            <a:extLst>
              <a:ext uri="{FF2B5EF4-FFF2-40B4-BE49-F238E27FC236}">
                <a16:creationId xmlns:a16="http://schemas.microsoft.com/office/drawing/2014/main" id="{A702FBE5-4DD7-47E4-9F5E-B371ECA9B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4975" y="2286000"/>
            <a:ext cx="609600" cy="609600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C7B0E-96A1-4FA7-979B-EF228E8D0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5150" y="2360613"/>
            <a:ext cx="393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CDCDA-F738-4134-94FD-8FF9BB8D8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920875"/>
            <a:ext cx="4116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>
                <a:latin typeface="Tahoma" panose="020B0604030504040204" pitchFamily="34" charset="0"/>
              </a:rPr>
              <a:t>connect ammeter in series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6689D-C6D3-4D96-A363-86AC59294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659063"/>
            <a:ext cx="54133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Are we measuring the correct current?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(the current in the circuit without ammeter)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4" grpId="0" animBg="1"/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6842AB1A-017E-4D83-AAE4-EFDF6ECD9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5181600"/>
            <a:ext cx="8310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current without the ammeter would be</a:t>
            </a: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147" name="Line 4">
            <a:extLst>
              <a:ext uri="{FF2B5EF4-FFF2-40B4-BE49-F238E27FC236}">
                <a16:creationId xmlns:a16="http://schemas.microsoft.com/office/drawing/2014/main" id="{69753D25-A05C-4687-AAF3-6854867C683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859588" y="327025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6148" name="Line 5">
            <a:extLst>
              <a:ext uri="{FF2B5EF4-FFF2-40B4-BE49-F238E27FC236}">
                <a16:creationId xmlns:a16="http://schemas.microsoft.com/office/drawing/2014/main" id="{8D6DA036-0DA6-4EBC-B210-4BB2F56BD5C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16750" y="3271838"/>
            <a:ext cx="206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6149" name="Freeform 6">
            <a:extLst>
              <a:ext uri="{FF2B5EF4-FFF2-40B4-BE49-F238E27FC236}">
                <a16:creationId xmlns:a16="http://schemas.microsoft.com/office/drawing/2014/main" id="{7DBBA583-8690-4BE3-A7D4-F7FB21EF2E59}"/>
              </a:ext>
            </a:extLst>
          </p:cNvPr>
          <p:cNvSpPr>
            <a:spLocks/>
          </p:cNvSpPr>
          <p:nvPr/>
        </p:nvSpPr>
        <p:spPr bwMode="auto">
          <a:xfrm>
            <a:off x="6516688" y="1752600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6150" name="Line 7">
            <a:extLst>
              <a:ext uri="{FF2B5EF4-FFF2-40B4-BE49-F238E27FC236}">
                <a16:creationId xmlns:a16="http://schemas.microsoft.com/office/drawing/2014/main" id="{E0597B87-337D-457D-B2E3-A398ED65440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9688" y="1905000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6151" name="Line 8">
            <a:extLst>
              <a:ext uri="{FF2B5EF4-FFF2-40B4-BE49-F238E27FC236}">
                <a16:creationId xmlns:a16="http://schemas.microsoft.com/office/drawing/2014/main" id="{32E3648E-A166-4D8B-9238-C786FEE675C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5575" y="3276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6152" name="Freeform 9">
            <a:extLst>
              <a:ext uri="{FF2B5EF4-FFF2-40B4-BE49-F238E27FC236}">
                <a16:creationId xmlns:a16="http://schemas.microsoft.com/office/drawing/2014/main" id="{EFBCF69A-026D-49C4-AD72-8A8AD31AD1F7}"/>
              </a:ext>
            </a:extLst>
          </p:cNvPr>
          <p:cNvSpPr>
            <a:spLocks/>
          </p:cNvSpPr>
          <p:nvPr/>
        </p:nvSpPr>
        <p:spPr bwMode="auto">
          <a:xfrm flipH="1">
            <a:off x="5843588" y="1905000"/>
            <a:ext cx="8255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6153" name="Line 10">
            <a:extLst>
              <a:ext uri="{FF2B5EF4-FFF2-40B4-BE49-F238E27FC236}">
                <a16:creationId xmlns:a16="http://schemas.microsoft.com/office/drawing/2014/main" id="{C11F5466-1001-48E7-B7D9-DA913ED737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0888" y="1905000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6154" name="Freeform 11">
            <a:extLst>
              <a:ext uri="{FF2B5EF4-FFF2-40B4-BE49-F238E27FC236}">
                <a16:creationId xmlns:a16="http://schemas.microsoft.com/office/drawing/2014/main" id="{FB3C199D-619E-42F3-B186-F83C887F3404}"/>
              </a:ext>
            </a:extLst>
          </p:cNvPr>
          <p:cNvSpPr>
            <a:spLocks/>
          </p:cNvSpPr>
          <p:nvPr/>
        </p:nvSpPr>
        <p:spPr bwMode="auto">
          <a:xfrm>
            <a:off x="7556500" y="1905000"/>
            <a:ext cx="8255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6155" name="Line 12">
            <a:extLst>
              <a:ext uri="{FF2B5EF4-FFF2-40B4-BE49-F238E27FC236}">
                <a16:creationId xmlns:a16="http://schemas.microsoft.com/office/drawing/2014/main" id="{75AA6B9E-626B-4A8F-B374-49E2A8F16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6288" y="3276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6156" name="Rectangle 13">
            <a:extLst>
              <a:ext uri="{FF2B5EF4-FFF2-40B4-BE49-F238E27FC236}">
                <a16:creationId xmlns:a16="http://schemas.microsoft.com/office/drawing/2014/main" id="{A2CBEFDB-5E4F-43CB-A21C-D84FCBE7C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688" y="3429000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</a:t>
            </a:r>
          </a:p>
        </p:txBody>
      </p:sp>
      <p:sp>
        <p:nvSpPr>
          <p:cNvPr id="6157" name="Rectangle 14">
            <a:extLst>
              <a:ext uri="{FF2B5EF4-FFF2-40B4-BE49-F238E27FC236}">
                <a16:creationId xmlns:a16="http://schemas.microsoft.com/office/drawing/2014/main" id="{54B12697-3A4E-41C4-A0DE-319314B9B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1295400"/>
            <a:ext cx="373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</a:p>
        </p:txBody>
      </p:sp>
      <p:graphicFrame>
        <p:nvGraphicFramePr>
          <p:cNvPr id="7183" name="Object 15">
            <a:extLst>
              <a:ext uri="{FF2B5EF4-FFF2-40B4-BE49-F238E27FC236}">
                <a16:creationId xmlns:a16="http://schemas.microsoft.com/office/drawing/2014/main" id="{4BAE33B1-0685-45E8-A10D-E792367A9D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0275" y="5018088"/>
          <a:ext cx="863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613" imgH="393529" progId="Equation.DSMT4">
                  <p:embed/>
                </p:oleObj>
              </mc:Choice>
              <mc:Fallback>
                <p:oleObj name="Equation" r:id="rId3" imgW="431613" imgH="393529" progId="Equation.DSMT4">
                  <p:embed/>
                  <p:pic>
                    <p:nvPicPr>
                      <p:cNvPr id="7183" name="Object 15">
                        <a:extLst>
                          <a:ext uri="{FF2B5EF4-FFF2-40B4-BE49-F238E27FC236}">
                            <a16:creationId xmlns:a16="http://schemas.microsoft.com/office/drawing/2014/main" id="{4BAE33B1-0685-45E8-A10D-E792367A9D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0275" y="5018088"/>
                        <a:ext cx="863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Text Box 16">
            <a:extLst>
              <a:ext uri="{FF2B5EF4-FFF2-40B4-BE49-F238E27FC236}">
                <a16:creationId xmlns:a16="http://schemas.microsoft.com/office/drawing/2014/main" id="{FC578495-2EC8-4D17-9A76-6F6ACE5BC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341438"/>
            <a:ext cx="525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Measuring current in a simple circuit:</a:t>
            </a: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369684" name="Object 20">
            <a:extLst>
              <a:ext uri="{FF2B5EF4-FFF2-40B4-BE49-F238E27FC236}">
                <a16:creationId xmlns:a16="http://schemas.microsoft.com/office/drawing/2014/main" id="{3DD14855-5F70-4600-BF4E-B6F35B380B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0538" y="4208463"/>
          <a:ext cx="1244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22030" imgH="393529" progId="Equation.DSMT4">
                  <p:embed/>
                </p:oleObj>
              </mc:Choice>
              <mc:Fallback>
                <p:oleObj name="Equation" r:id="rId5" imgW="622030" imgH="393529" progId="Equation.DSMT4">
                  <p:embed/>
                  <p:pic>
                    <p:nvPicPr>
                      <p:cNvPr id="369684" name="Object 20">
                        <a:extLst>
                          <a:ext uri="{FF2B5EF4-FFF2-40B4-BE49-F238E27FC236}">
                            <a16:creationId xmlns:a16="http://schemas.microsoft.com/office/drawing/2014/main" id="{3DD14855-5F70-4600-BF4E-B6F35B380B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538" y="4208463"/>
                        <a:ext cx="1244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685" name="Text Box 21">
            <a:extLst>
              <a:ext uri="{FF2B5EF4-FFF2-40B4-BE49-F238E27FC236}">
                <a16:creationId xmlns:a16="http://schemas.microsoft.com/office/drawing/2014/main" id="{0158DBF1-EA11-4080-970E-4FD6B7EB5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943600"/>
            <a:ext cx="8686800" cy="708025"/>
          </a:xfrm>
          <a:prstGeom prst="rect">
            <a:avLst/>
          </a:prstGeom>
          <a:solidFill>
            <a:srgbClr val="FFCCCC"/>
          </a:solidFill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8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To minimize error, ammeter resistance r must be very small.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8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(ideal ammeter would have zero resistance)</a:t>
            </a:r>
            <a:endParaRPr lang="en-US" altLang="en-US" sz="20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6162" name="Text Box 23">
            <a:extLst>
              <a:ext uri="{FF2B5EF4-FFF2-40B4-BE49-F238E27FC236}">
                <a16:creationId xmlns:a16="http://schemas.microsoft.com/office/drawing/2014/main" id="{FB940085-A569-4133-856B-0ED440BC8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671888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any ammeter has </a:t>
            </a:r>
            <a:r>
              <a:rPr lang="en-US" altLang="en-US" sz="2400" b="1">
                <a:solidFill>
                  <a:srgbClr val="0070C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some resistance r. </a:t>
            </a:r>
            <a:endParaRPr lang="en-US" altLang="en-US" sz="2400" b="1">
              <a:solidFill>
                <a:srgbClr val="0070C0"/>
              </a:solidFill>
              <a:latin typeface="Tahoma" panose="020B0604030504040204" pitchFamily="34" charset="0"/>
            </a:endParaRPr>
          </a:p>
        </p:txBody>
      </p:sp>
      <p:sp>
        <p:nvSpPr>
          <p:cNvPr id="6163" name="Rectangle 26">
            <a:extLst>
              <a:ext uri="{FF2B5EF4-FFF2-40B4-BE49-F238E27FC236}">
                <a16:creationId xmlns:a16="http://schemas.microsoft.com/office/drawing/2014/main" id="{90D23E97-B955-4C67-B9EB-792D7B996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6275" y="2008188"/>
            <a:ext cx="152400" cy="11604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6164" name="Group 1">
            <a:extLst>
              <a:ext uri="{FF2B5EF4-FFF2-40B4-BE49-F238E27FC236}">
                <a16:creationId xmlns:a16="http://schemas.microsoft.com/office/drawing/2014/main" id="{1B2C236D-B7A5-42FC-B869-BD98BAD1FC7C}"/>
              </a:ext>
            </a:extLst>
          </p:cNvPr>
          <p:cNvGrpSpPr>
            <a:grpSpLocks/>
          </p:cNvGrpSpPr>
          <p:nvPr/>
        </p:nvGrpSpPr>
        <p:grpSpPr bwMode="auto">
          <a:xfrm>
            <a:off x="7940675" y="1993900"/>
            <a:ext cx="598488" cy="1219200"/>
            <a:chOff x="7941275" y="1993108"/>
            <a:chExt cx="598487" cy="1219200"/>
          </a:xfrm>
        </p:grpSpPr>
        <p:sp>
          <p:nvSpPr>
            <p:cNvPr id="6169" name="Rectangle 25">
              <a:extLst>
                <a:ext uri="{FF2B5EF4-FFF2-40B4-BE49-F238E27FC236}">
                  <a16:creationId xmlns:a16="http://schemas.microsoft.com/office/drawing/2014/main" id="{B6D47265-6AB5-470C-A833-BBEE160E5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1275" y="2374108"/>
              <a:ext cx="2936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70C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r</a:t>
              </a:r>
            </a:p>
          </p:txBody>
        </p:sp>
        <p:sp>
          <p:nvSpPr>
            <p:cNvPr id="6170" name="Freeform 27">
              <a:extLst>
                <a:ext uri="{FF2B5EF4-FFF2-40B4-BE49-F238E27FC236}">
                  <a16:creationId xmlns:a16="http://schemas.microsoft.com/office/drawing/2014/main" id="{A8F4DA6A-1DF1-4A2B-8B87-4ED730D9FF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777762" y="2450308"/>
              <a:ext cx="1219200" cy="304800"/>
            </a:xfrm>
            <a:custGeom>
              <a:avLst/>
              <a:gdLst>
                <a:gd name="T0" fmla="*/ 0 w 768"/>
                <a:gd name="T1" fmla="*/ 2147483646 h 192"/>
                <a:gd name="T2" fmla="*/ 2147483646 w 768"/>
                <a:gd name="T3" fmla="*/ 2147483646 h 192"/>
                <a:gd name="T4" fmla="*/ 2147483646 w 768"/>
                <a:gd name="T5" fmla="*/ 0 h 192"/>
                <a:gd name="T6" fmla="*/ 2147483646 w 768"/>
                <a:gd name="T7" fmla="*/ 2147483646 h 192"/>
                <a:gd name="T8" fmla="*/ 2147483646 w 768"/>
                <a:gd name="T9" fmla="*/ 0 h 192"/>
                <a:gd name="T10" fmla="*/ 2147483646 w 768"/>
                <a:gd name="T11" fmla="*/ 2147483646 h 192"/>
                <a:gd name="T12" fmla="*/ 2147483646 w 768"/>
                <a:gd name="T13" fmla="*/ 0 h 192"/>
                <a:gd name="T14" fmla="*/ 2147483646 w 768"/>
                <a:gd name="T15" fmla="*/ 2147483646 h 192"/>
                <a:gd name="T16" fmla="*/ 2147483646 w 768"/>
                <a:gd name="T17" fmla="*/ 2147483646 h 192"/>
                <a:gd name="T18" fmla="*/ 2147483646 w 768"/>
                <a:gd name="T19" fmla="*/ 2147483646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68"/>
                <a:gd name="T31" fmla="*/ 0 h 192"/>
                <a:gd name="T32" fmla="*/ 768 w 768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68" h="192">
                  <a:moveTo>
                    <a:pt x="0" y="96"/>
                  </a:moveTo>
                  <a:lnTo>
                    <a:pt x="96" y="96"/>
                  </a:lnTo>
                  <a:lnTo>
                    <a:pt x="144" y="0"/>
                  </a:lnTo>
                  <a:lnTo>
                    <a:pt x="240" y="192"/>
                  </a:lnTo>
                  <a:lnTo>
                    <a:pt x="336" y="0"/>
                  </a:lnTo>
                  <a:lnTo>
                    <a:pt x="432" y="192"/>
                  </a:lnTo>
                  <a:lnTo>
                    <a:pt x="528" y="0"/>
                  </a:lnTo>
                  <a:lnTo>
                    <a:pt x="624" y="192"/>
                  </a:lnTo>
                  <a:lnTo>
                    <a:pt x="672" y="96"/>
                  </a:lnTo>
                  <a:lnTo>
                    <a:pt x="768" y="9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BW"/>
            </a:p>
          </p:txBody>
        </p:sp>
      </p:grpSp>
      <p:sp>
        <p:nvSpPr>
          <p:cNvPr id="6165" name="TextBox 4">
            <a:extLst>
              <a:ext uri="{FF2B5EF4-FFF2-40B4-BE49-F238E27FC236}">
                <a16:creationId xmlns:a16="http://schemas.microsoft.com/office/drawing/2014/main" id="{0AD0008A-D7F3-4E25-BF6D-EC56AC7CC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920875"/>
            <a:ext cx="4116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>
                <a:latin typeface="Tahoma" panose="020B0604030504040204" pitchFamily="34" charset="0"/>
              </a:rPr>
              <a:t>connect ammeter in series</a:t>
            </a:r>
          </a:p>
        </p:txBody>
      </p:sp>
      <p:sp>
        <p:nvSpPr>
          <p:cNvPr id="6166" name="TextBox 5">
            <a:extLst>
              <a:ext uri="{FF2B5EF4-FFF2-40B4-BE49-F238E27FC236}">
                <a16:creationId xmlns:a16="http://schemas.microsoft.com/office/drawing/2014/main" id="{AC5E3278-EE36-4F33-8062-15E234511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659063"/>
            <a:ext cx="54133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Are we measuring the correct current?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(the current in the circuit without ammeter)</a:t>
            </a:r>
          </a:p>
        </p:txBody>
      </p:sp>
      <p:sp>
        <p:nvSpPr>
          <p:cNvPr id="31" name="Text Box 23">
            <a:extLst>
              <a:ext uri="{FF2B5EF4-FFF2-40B4-BE49-F238E27FC236}">
                <a16:creationId xmlns:a16="http://schemas.microsoft.com/office/drawing/2014/main" id="{8DAC33DB-1585-4945-9A9E-C90C4E63E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343400"/>
            <a:ext cx="8686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current in presence of ammeter is</a:t>
            </a:r>
          </a:p>
        </p:txBody>
      </p:sp>
      <p:sp>
        <p:nvSpPr>
          <p:cNvPr id="6168" name="Text Box 3">
            <a:extLst>
              <a:ext uri="{FF2B5EF4-FFF2-40B4-BE49-F238E27FC236}">
                <a16:creationId xmlns:a16="http://schemas.microsoft.com/office/drawing/2014/main" id="{C3C2E17C-A7C2-491C-85B5-453E3B1EA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79413"/>
            <a:ext cx="7467600" cy="523875"/>
          </a:xfrm>
          <a:prstGeom prst="rect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FFFF"/>
                </a:solidFill>
                <a:latin typeface="Tahoma" panose="020B0604030504040204" pitchFamily="34" charset="0"/>
              </a:rPr>
              <a:t>Effect of ammeter on circuit</a:t>
            </a:r>
            <a:endParaRPr lang="en-US" altLang="en-US" sz="280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369685" grpId="0" animBg="1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BBC6DE89-0C9A-4C28-AF13-951041ADD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1000"/>
            <a:ext cx="8740775" cy="1570038"/>
          </a:xfrm>
          <a:prstGeom prst="rect">
            <a:avLst/>
          </a:prstGeom>
          <a:solidFill>
            <a:srgbClr val="339933"/>
          </a:solidFill>
          <a:ln w="38100" algn="ctr">
            <a:solidFill>
              <a:srgbClr val="0066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FFFF"/>
                </a:solidFill>
                <a:latin typeface="Tahoma" panose="020B0604030504040204" pitchFamily="34" charset="0"/>
              </a:rPr>
              <a:t>Example: an ammeter of resistance 10 m</a:t>
            </a:r>
            <a:r>
              <a:rPr lang="en-US" altLang="en-US" sz="2400">
                <a:solidFill>
                  <a:srgbClr val="FFFF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 is used to measure the current through a 10  resistor in series with a 3 V battery that has an internal resistance of 0.5 . What is the relative (percent) error caused by the ammeter</a:t>
            </a:r>
            <a:r>
              <a:rPr lang="en-US" altLang="en-US" sz="2400">
                <a:solidFill>
                  <a:srgbClr val="FFFFFF"/>
                </a:solidFill>
                <a:latin typeface="Tahoma" panose="020B0604030504040204" pitchFamily="34" charset="0"/>
              </a:rPr>
              <a:t>?</a:t>
            </a:r>
          </a:p>
        </p:txBody>
      </p:sp>
      <p:sp>
        <p:nvSpPr>
          <p:cNvPr id="7171" name="Line 3">
            <a:extLst>
              <a:ext uri="{FF2B5EF4-FFF2-40B4-BE49-F238E27FC236}">
                <a16:creationId xmlns:a16="http://schemas.microsoft.com/office/drawing/2014/main" id="{C1B2D5A0-B4CF-4488-9289-B148464E13A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43788" y="418465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7172" name="Line 4">
            <a:extLst>
              <a:ext uri="{FF2B5EF4-FFF2-40B4-BE49-F238E27FC236}">
                <a16:creationId xmlns:a16="http://schemas.microsoft.com/office/drawing/2014/main" id="{DFED0480-DF5E-49C5-A36C-088B5466550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600950" y="4186238"/>
            <a:ext cx="206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7173" name="Freeform 5">
            <a:extLst>
              <a:ext uri="{FF2B5EF4-FFF2-40B4-BE49-F238E27FC236}">
                <a16:creationId xmlns:a16="http://schemas.microsoft.com/office/drawing/2014/main" id="{4EF55710-414C-4ADD-A384-4F9EA0F90787}"/>
              </a:ext>
            </a:extLst>
          </p:cNvPr>
          <p:cNvSpPr>
            <a:spLocks/>
          </p:cNvSpPr>
          <p:nvPr/>
        </p:nvSpPr>
        <p:spPr bwMode="auto">
          <a:xfrm>
            <a:off x="6669088" y="2667000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7174" name="Line 6">
            <a:extLst>
              <a:ext uri="{FF2B5EF4-FFF2-40B4-BE49-F238E27FC236}">
                <a16:creationId xmlns:a16="http://schemas.microsoft.com/office/drawing/2014/main" id="{1A2C0CF1-7E2C-4BC1-9AF2-23657F9ED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2819400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7175" name="Freeform 7">
            <a:extLst>
              <a:ext uri="{FF2B5EF4-FFF2-40B4-BE49-F238E27FC236}">
                <a16:creationId xmlns:a16="http://schemas.microsoft.com/office/drawing/2014/main" id="{3D1327CA-DAC7-4FDF-A965-DB9009C1CA9B}"/>
              </a:ext>
            </a:extLst>
          </p:cNvPr>
          <p:cNvSpPr>
            <a:spLocks/>
          </p:cNvSpPr>
          <p:nvPr/>
        </p:nvSpPr>
        <p:spPr bwMode="auto">
          <a:xfrm flipH="1">
            <a:off x="5995988" y="2819400"/>
            <a:ext cx="481012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7176" name="Line 8">
            <a:extLst>
              <a:ext uri="{FF2B5EF4-FFF2-40B4-BE49-F238E27FC236}">
                <a16:creationId xmlns:a16="http://schemas.microsoft.com/office/drawing/2014/main" id="{ECC76870-7CFB-447B-AD9E-8E65B52AA6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3288" y="2819400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7177" name="Freeform 9">
            <a:extLst>
              <a:ext uri="{FF2B5EF4-FFF2-40B4-BE49-F238E27FC236}">
                <a16:creationId xmlns:a16="http://schemas.microsoft.com/office/drawing/2014/main" id="{B3201655-C75B-456C-BBAC-335814A6A71E}"/>
              </a:ext>
            </a:extLst>
          </p:cNvPr>
          <p:cNvSpPr>
            <a:spLocks/>
          </p:cNvSpPr>
          <p:nvPr/>
        </p:nvSpPr>
        <p:spPr bwMode="auto">
          <a:xfrm>
            <a:off x="7708900" y="2819400"/>
            <a:ext cx="8255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C40E95C2-4F67-45FC-9267-E5D8264DB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938" y="4419600"/>
            <a:ext cx="103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V=3 V</a:t>
            </a:r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F87C7AF8-3B6B-47DB-B078-95D3EFDED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213" y="2211388"/>
            <a:ext cx="125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R=10 </a:t>
            </a:r>
          </a:p>
        </p:txBody>
      </p:sp>
      <p:sp>
        <p:nvSpPr>
          <p:cNvPr id="7180" name="Freeform 12">
            <a:extLst>
              <a:ext uri="{FF2B5EF4-FFF2-40B4-BE49-F238E27FC236}">
                <a16:creationId xmlns:a16="http://schemas.microsoft.com/office/drawing/2014/main" id="{0514D6B0-AA69-4DB0-B114-0ABF7EDDDCFD}"/>
              </a:ext>
            </a:extLst>
          </p:cNvPr>
          <p:cNvSpPr>
            <a:spLocks/>
          </p:cNvSpPr>
          <p:nvPr/>
        </p:nvSpPr>
        <p:spPr bwMode="auto">
          <a:xfrm>
            <a:off x="6400800" y="4038600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F54DB4CC-2F44-4774-9B96-9AE3FE7A1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3581400"/>
            <a:ext cx="127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r=0.5 </a:t>
            </a:r>
          </a:p>
        </p:txBody>
      </p:sp>
      <p:sp>
        <p:nvSpPr>
          <p:cNvPr id="370702" name="Text Box 14">
            <a:extLst>
              <a:ext uri="{FF2B5EF4-FFF2-40B4-BE49-F238E27FC236}">
                <a16:creationId xmlns:a16="http://schemas.microsoft.com/office/drawing/2014/main" id="{733AEB99-5B2E-44A9-8B9B-E6E99F46B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454275"/>
            <a:ext cx="525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Actual current </a:t>
            </a:r>
            <a:r>
              <a:rPr lang="en-US" altLang="en-US" sz="2400" b="1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without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ammeter: </a:t>
            </a: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370703" name="Object 15">
            <a:extLst>
              <a:ext uri="{FF2B5EF4-FFF2-40B4-BE49-F238E27FC236}">
                <a16:creationId xmlns:a16="http://schemas.microsoft.com/office/drawing/2014/main" id="{83E4AF0A-2978-4DA1-AFD7-F07B3E7ECF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6300" y="3124200"/>
          <a:ext cx="1168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47" imgH="393529" progId="Equation.DSMT4">
                  <p:embed/>
                </p:oleObj>
              </mc:Choice>
              <mc:Fallback>
                <p:oleObj name="Equation" r:id="rId3" imgW="583947" imgH="393529" progId="Equation.DSMT4">
                  <p:embed/>
                  <p:pic>
                    <p:nvPicPr>
                      <p:cNvPr id="370703" name="Object 15">
                        <a:extLst>
                          <a:ext uri="{FF2B5EF4-FFF2-40B4-BE49-F238E27FC236}">
                            <a16:creationId xmlns:a16="http://schemas.microsoft.com/office/drawing/2014/main" id="{83E4AF0A-2978-4DA1-AFD7-F07B3E7ECF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3124200"/>
                        <a:ext cx="1168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04" name="Object 16">
            <a:extLst>
              <a:ext uri="{FF2B5EF4-FFF2-40B4-BE49-F238E27FC236}">
                <a16:creationId xmlns:a16="http://schemas.microsoft.com/office/drawing/2014/main" id="{1E44341D-38DF-43F1-B0DD-68EC6D2373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267200"/>
          <a:ext cx="1828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393700" progId="Equation.DSMT4">
                  <p:embed/>
                </p:oleObj>
              </mc:Choice>
              <mc:Fallback>
                <p:oleObj name="Equation" r:id="rId5" imgW="914400" imgH="393700" progId="Equation.DSMT4">
                  <p:embed/>
                  <p:pic>
                    <p:nvPicPr>
                      <p:cNvPr id="370704" name="Object 16">
                        <a:extLst>
                          <a:ext uri="{FF2B5EF4-FFF2-40B4-BE49-F238E27FC236}">
                            <a16:creationId xmlns:a16="http://schemas.microsoft.com/office/drawing/2014/main" id="{1E44341D-38DF-43F1-B0DD-68EC6D2373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267200"/>
                        <a:ext cx="1828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05" name="Object 17">
            <a:extLst>
              <a:ext uri="{FF2B5EF4-FFF2-40B4-BE49-F238E27FC236}">
                <a16:creationId xmlns:a16="http://schemas.microsoft.com/office/drawing/2014/main" id="{8B318BE2-A3CE-4AE0-846B-E370CEF45D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5700" y="5562600"/>
          <a:ext cx="3327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62978" imgH="177723" progId="Equation.DSMT4">
                  <p:embed/>
                </p:oleObj>
              </mc:Choice>
              <mc:Fallback>
                <p:oleObj name="Equation" r:id="rId7" imgW="1662978" imgH="177723" progId="Equation.DSMT4">
                  <p:embed/>
                  <p:pic>
                    <p:nvPicPr>
                      <p:cNvPr id="370705" name="Object 17">
                        <a:extLst>
                          <a:ext uri="{FF2B5EF4-FFF2-40B4-BE49-F238E27FC236}">
                            <a16:creationId xmlns:a16="http://schemas.microsoft.com/office/drawing/2014/main" id="{8B318BE2-A3CE-4AE0-846B-E370CEF45D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5562600"/>
                        <a:ext cx="3327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6" name="Rectangle 10">
            <a:extLst>
              <a:ext uri="{FF2B5EF4-FFF2-40B4-BE49-F238E27FC236}">
                <a16:creationId xmlns:a16="http://schemas.microsoft.com/office/drawing/2014/main" id="{99338207-DBF6-4E28-B1BF-29E2AE65E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8438" y="5105400"/>
            <a:ext cx="22145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You might see the symbol  used instead of V.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70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">
            <a:extLst>
              <a:ext uri="{FF2B5EF4-FFF2-40B4-BE49-F238E27FC236}">
                <a16:creationId xmlns:a16="http://schemas.microsoft.com/office/drawing/2014/main" id="{47871B2F-C6C8-4A99-AD54-F67328548FE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43788" y="418465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8195" name="Line 3">
            <a:extLst>
              <a:ext uri="{FF2B5EF4-FFF2-40B4-BE49-F238E27FC236}">
                <a16:creationId xmlns:a16="http://schemas.microsoft.com/office/drawing/2014/main" id="{D0C42064-3EB4-40F0-AC46-B39211A936C7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600950" y="4186238"/>
            <a:ext cx="206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8196" name="Freeform 4">
            <a:extLst>
              <a:ext uri="{FF2B5EF4-FFF2-40B4-BE49-F238E27FC236}">
                <a16:creationId xmlns:a16="http://schemas.microsoft.com/office/drawing/2014/main" id="{8652E1BE-9645-4507-9B14-609740D70CAA}"/>
              </a:ext>
            </a:extLst>
          </p:cNvPr>
          <p:cNvSpPr>
            <a:spLocks/>
          </p:cNvSpPr>
          <p:nvPr/>
        </p:nvSpPr>
        <p:spPr bwMode="auto">
          <a:xfrm>
            <a:off x="6669088" y="2667000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6073ACB5-B7D6-4DEC-9E40-32D7EA66E7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2819400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8198" name="Freeform 6">
            <a:extLst>
              <a:ext uri="{FF2B5EF4-FFF2-40B4-BE49-F238E27FC236}">
                <a16:creationId xmlns:a16="http://schemas.microsoft.com/office/drawing/2014/main" id="{4AA4F5ED-3CAE-4F73-9B0E-962C016085B4}"/>
              </a:ext>
            </a:extLst>
          </p:cNvPr>
          <p:cNvSpPr>
            <a:spLocks/>
          </p:cNvSpPr>
          <p:nvPr/>
        </p:nvSpPr>
        <p:spPr bwMode="auto">
          <a:xfrm flipH="1">
            <a:off x="5995988" y="2819400"/>
            <a:ext cx="481012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8199" name="Line 7">
            <a:extLst>
              <a:ext uri="{FF2B5EF4-FFF2-40B4-BE49-F238E27FC236}">
                <a16:creationId xmlns:a16="http://schemas.microsoft.com/office/drawing/2014/main" id="{E6A1C939-937A-4624-9E3E-E6A072B33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3288" y="2819400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8200" name="Freeform 8">
            <a:extLst>
              <a:ext uri="{FF2B5EF4-FFF2-40B4-BE49-F238E27FC236}">
                <a16:creationId xmlns:a16="http://schemas.microsoft.com/office/drawing/2014/main" id="{63D4D6C1-5E0A-47D0-844A-45489C15858A}"/>
              </a:ext>
            </a:extLst>
          </p:cNvPr>
          <p:cNvSpPr>
            <a:spLocks/>
          </p:cNvSpPr>
          <p:nvPr/>
        </p:nvSpPr>
        <p:spPr bwMode="auto">
          <a:xfrm>
            <a:off x="7708900" y="2819400"/>
            <a:ext cx="8255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F18607CE-4985-4797-A066-4A26C6671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938" y="4419600"/>
            <a:ext cx="103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V=3 V</a:t>
            </a:r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CD800BF9-6B2E-41AA-96EA-5735F6B8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213" y="2211388"/>
            <a:ext cx="125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R=10 </a:t>
            </a:r>
          </a:p>
        </p:txBody>
      </p:sp>
      <p:sp>
        <p:nvSpPr>
          <p:cNvPr id="8203" name="Freeform 11">
            <a:extLst>
              <a:ext uri="{FF2B5EF4-FFF2-40B4-BE49-F238E27FC236}">
                <a16:creationId xmlns:a16="http://schemas.microsoft.com/office/drawing/2014/main" id="{27CE9440-A1F7-45FE-8676-3BB10CA89B4C}"/>
              </a:ext>
            </a:extLst>
          </p:cNvPr>
          <p:cNvSpPr>
            <a:spLocks/>
          </p:cNvSpPr>
          <p:nvPr/>
        </p:nvSpPr>
        <p:spPr bwMode="auto">
          <a:xfrm>
            <a:off x="6400800" y="4038600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E48851FF-AB06-458D-8A2D-194A39FFA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3581400"/>
            <a:ext cx="127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r=0.5 </a:t>
            </a:r>
          </a:p>
        </p:txBody>
      </p:sp>
      <p:sp>
        <p:nvSpPr>
          <p:cNvPr id="8205" name="Text Box 13">
            <a:extLst>
              <a:ext uri="{FF2B5EF4-FFF2-40B4-BE49-F238E27FC236}">
                <a16:creationId xmlns:a16="http://schemas.microsoft.com/office/drawing/2014/main" id="{669C17C7-B743-4504-B307-F4C9635E5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04800"/>
            <a:ext cx="525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Current with ammeter: </a:t>
            </a: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8206" name="Object 14">
            <a:extLst>
              <a:ext uri="{FF2B5EF4-FFF2-40B4-BE49-F238E27FC236}">
                <a16:creationId xmlns:a16="http://schemas.microsoft.com/office/drawing/2014/main" id="{ABDCC273-69D0-49B0-8585-3292E053EA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914400"/>
          <a:ext cx="1803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309" imgH="431613" progId="Equation.DSMT4">
                  <p:embed/>
                </p:oleObj>
              </mc:Choice>
              <mc:Fallback>
                <p:oleObj name="Equation" r:id="rId3" imgW="901309" imgH="431613" progId="Equation.DSMT4">
                  <p:embed/>
                  <p:pic>
                    <p:nvPicPr>
                      <p:cNvPr id="8206" name="Object 14">
                        <a:extLst>
                          <a:ext uri="{FF2B5EF4-FFF2-40B4-BE49-F238E27FC236}">
                            <a16:creationId xmlns:a16="http://schemas.microsoft.com/office/drawing/2014/main" id="{ABDCC273-69D0-49B0-8585-3292E053EA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914400"/>
                        <a:ext cx="1803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15">
            <a:extLst>
              <a:ext uri="{FF2B5EF4-FFF2-40B4-BE49-F238E27FC236}">
                <a16:creationId xmlns:a16="http://schemas.microsoft.com/office/drawing/2014/main" id="{57743684-134A-4EEA-8EBA-0E3314325B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7000" y="2108200"/>
          <a:ext cx="2692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45616" imgH="393529" progId="Equation.DSMT4">
                  <p:embed/>
                </p:oleObj>
              </mc:Choice>
              <mc:Fallback>
                <p:oleObj name="Equation" r:id="rId5" imgW="1345616" imgH="393529" progId="Equation.DSMT4">
                  <p:embed/>
                  <p:pic>
                    <p:nvPicPr>
                      <p:cNvPr id="8207" name="Object 15">
                        <a:extLst>
                          <a:ext uri="{FF2B5EF4-FFF2-40B4-BE49-F238E27FC236}">
                            <a16:creationId xmlns:a16="http://schemas.microsoft.com/office/drawing/2014/main" id="{57743684-134A-4EEA-8EBA-0E3314325B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2108200"/>
                        <a:ext cx="2692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8" name="Object 16">
            <a:extLst>
              <a:ext uri="{FF2B5EF4-FFF2-40B4-BE49-F238E27FC236}">
                <a16:creationId xmlns:a16="http://schemas.microsoft.com/office/drawing/2014/main" id="{63A205CF-BF23-4BC1-B80F-88C02A23E9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3378200"/>
          <a:ext cx="3352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75673" imgH="177723" progId="Equation.DSMT4">
                  <p:embed/>
                </p:oleObj>
              </mc:Choice>
              <mc:Fallback>
                <p:oleObj name="Equation" r:id="rId7" imgW="1675673" imgH="177723" progId="Equation.DSMT4">
                  <p:embed/>
                  <p:pic>
                    <p:nvPicPr>
                      <p:cNvPr id="8208" name="Object 16">
                        <a:extLst>
                          <a:ext uri="{FF2B5EF4-FFF2-40B4-BE49-F238E27FC236}">
                            <a16:creationId xmlns:a16="http://schemas.microsoft.com/office/drawing/2014/main" id="{63A205CF-BF23-4BC1-B80F-88C02A23E9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378200"/>
                        <a:ext cx="3352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9" name="Group 17">
            <a:extLst>
              <a:ext uri="{FF2B5EF4-FFF2-40B4-BE49-F238E27FC236}">
                <a16:creationId xmlns:a16="http://schemas.microsoft.com/office/drawing/2014/main" id="{95D39B5D-F147-48A0-ADBE-AE6EE77F1DD9}"/>
              </a:ext>
            </a:extLst>
          </p:cNvPr>
          <p:cNvGrpSpPr>
            <a:grpSpLocks/>
          </p:cNvGrpSpPr>
          <p:nvPr/>
        </p:nvGrpSpPr>
        <p:grpSpPr bwMode="auto">
          <a:xfrm>
            <a:off x="7926388" y="2895600"/>
            <a:ext cx="760412" cy="1219200"/>
            <a:chOff x="4897" y="2448"/>
            <a:chExt cx="479" cy="768"/>
          </a:xfrm>
        </p:grpSpPr>
        <p:sp>
          <p:nvSpPr>
            <p:cNvPr id="8212" name="Rectangle 18">
              <a:extLst>
                <a:ext uri="{FF2B5EF4-FFF2-40B4-BE49-F238E27FC236}">
                  <a16:creationId xmlns:a16="http://schemas.microsoft.com/office/drawing/2014/main" id="{7BA679D2-62A4-4ED3-8DD3-F4842B87E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7" y="2688"/>
              <a:ext cx="3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R</a:t>
              </a:r>
              <a:r>
                <a:rPr lang="en-US" altLang="en-US" sz="2400" baseline="-250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8213" name="Rectangle 19">
              <a:extLst>
                <a:ext uri="{FF2B5EF4-FFF2-40B4-BE49-F238E27FC236}">
                  <a16:creationId xmlns:a16="http://schemas.microsoft.com/office/drawing/2014/main" id="{828BA318-8CBE-41E0-A410-29E00D2FB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2457"/>
              <a:ext cx="96" cy="7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214" name="Freeform 20">
              <a:extLst>
                <a:ext uri="{FF2B5EF4-FFF2-40B4-BE49-F238E27FC236}">
                  <a16:creationId xmlns:a16="http://schemas.microsoft.com/office/drawing/2014/main" id="{E648731F-EA3E-437D-A15D-FAC9F3EBDC2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96" y="2736"/>
              <a:ext cx="768" cy="192"/>
            </a:xfrm>
            <a:custGeom>
              <a:avLst/>
              <a:gdLst>
                <a:gd name="T0" fmla="*/ 0 w 768"/>
                <a:gd name="T1" fmla="*/ 96 h 192"/>
                <a:gd name="T2" fmla="*/ 96 w 768"/>
                <a:gd name="T3" fmla="*/ 96 h 192"/>
                <a:gd name="T4" fmla="*/ 144 w 768"/>
                <a:gd name="T5" fmla="*/ 0 h 192"/>
                <a:gd name="T6" fmla="*/ 240 w 768"/>
                <a:gd name="T7" fmla="*/ 192 h 192"/>
                <a:gd name="T8" fmla="*/ 336 w 768"/>
                <a:gd name="T9" fmla="*/ 0 h 192"/>
                <a:gd name="T10" fmla="*/ 432 w 768"/>
                <a:gd name="T11" fmla="*/ 192 h 192"/>
                <a:gd name="T12" fmla="*/ 528 w 768"/>
                <a:gd name="T13" fmla="*/ 0 h 192"/>
                <a:gd name="T14" fmla="*/ 624 w 768"/>
                <a:gd name="T15" fmla="*/ 192 h 192"/>
                <a:gd name="T16" fmla="*/ 672 w 768"/>
                <a:gd name="T17" fmla="*/ 96 h 192"/>
                <a:gd name="T18" fmla="*/ 768 w 768"/>
                <a:gd name="T19" fmla="*/ 96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68"/>
                <a:gd name="T31" fmla="*/ 0 h 192"/>
                <a:gd name="T32" fmla="*/ 768 w 768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68" h="192">
                  <a:moveTo>
                    <a:pt x="0" y="96"/>
                  </a:moveTo>
                  <a:lnTo>
                    <a:pt x="96" y="96"/>
                  </a:lnTo>
                  <a:lnTo>
                    <a:pt x="144" y="0"/>
                  </a:lnTo>
                  <a:lnTo>
                    <a:pt x="240" y="192"/>
                  </a:lnTo>
                  <a:lnTo>
                    <a:pt x="336" y="0"/>
                  </a:lnTo>
                  <a:lnTo>
                    <a:pt x="432" y="192"/>
                  </a:lnTo>
                  <a:lnTo>
                    <a:pt x="528" y="0"/>
                  </a:lnTo>
                  <a:lnTo>
                    <a:pt x="624" y="192"/>
                  </a:lnTo>
                  <a:lnTo>
                    <a:pt x="672" y="96"/>
                  </a:lnTo>
                  <a:lnTo>
                    <a:pt x="768" y="96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BW"/>
            </a:p>
          </p:txBody>
        </p:sp>
      </p:grpSp>
      <p:graphicFrame>
        <p:nvGraphicFramePr>
          <p:cNvPr id="5138" name="Object 21">
            <a:extLst>
              <a:ext uri="{FF2B5EF4-FFF2-40B4-BE49-F238E27FC236}">
                <a16:creationId xmlns:a16="http://schemas.microsoft.com/office/drawing/2014/main" id="{C167C449-6F30-4F93-8366-5BD54EA42C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4241800"/>
          <a:ext cx="4267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33600" imgH="393700" progId="Equation.DSMT4">
                  <p:embed/>
                </p:oleObj>
              </mc:Choice>
              <mc:Fallback>
                <p:oleObj name="Equation" r:id="rId9" imgW="2133600" imgH="393700" progId="Equation.DSMT4">
                  <p:embed/>
                  <p:pic>
                    <p:nvPicPr>
                      <p:cNvPr id="5138" name="Object 21">
                        <a:extLst>
                          <a:ext uri="{FF2B5EF4-FFF2-40B4-BE49-F238E27FC236}">
                            <a16:creationId xmlns:a16="http://schemas.microsoft.com/office/drawing/2014/main" id="{C167C449-6F30-4F93-8366-5BD54EA42C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241800"/>
                        <a:ext cx="4267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9" name="Object 22">
            <a:extLst>
              <a:ext uri="{FF2B5EF4-FFF2-40B4-BE49-F238E27FC236}">
                <a16:creationId xmlns:a16="http://schemas.microsoft.com/office/drawing/2014/main" id="{30361BA0-F366-4D44-9C0E-840081648D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3400" y="5588000"/>
          <a:ext cx="2235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17115" imgH="177723" progId="Equation.DSMT4">
                  <p:embed/>
                </p:oleObj>
              </mc:Choice>
              <mc:Fallback>
                <p:oleObj name="Equation" r:id="rId11" imgW="1117115" imgH="177723" progId="Equation.DSMT4">
                  <p:embed/>
                  <p:pic>
                    <p:nvPicPr>
                      <p:cNvPr id="5139" name="Object 22">
                        <a:extLst>
                          <a:ext uri="{FF2B5EF4-FFF2-40B4-BE49-F238E27FC236}">
                            <a16:creationId xmlns:a16="http://schemas.microsoft.com/office/drawing/2014/main" id="{30361BA0-F366-4D44-9C0E-840081648D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5588000"/>
                        <a:ext cx="2235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E978D522-5EDA-4BC0-AF48-C9AC01774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"/>
            <a:ext cx="8686800" cy="457200"/>
          </a:xfrm>
          <a:prstGeom prst="rect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  <a:latin typeface="Tahoma" panose="020B0604030504040204" pitchFamily="34" charset="0"/>
              </a:rPr>
              <a:t>Designing an ammeter</a:t>
            </a:r>
          </a:p>
        </p:txBody>
      </p:sp>
      <p:pic>
        <p:nvPicPr>
          <p:cNvPr id="9219" name="Picture 4" descr="galvan">
            <a:extLst>
              <a:ext uri="{FF2B5EF4-FFF2-40B4-BE49-F238E27FC236}">
                <a16:creationId xmlns:a16="http://schemas.microsoft.com/office/drawing/2014/main" id="{E15F3B0C-2D9E-437B-8FAD-1A8A54292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3048000"/>
            <a:ext cx="21145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5" descr="galv">
            <a:extLst>
              <a:ext uri="{FF2B5EF4-FFF2-40B4-BE49-F238E27FC236}">
                <a16:creationId xmlns:a16="http://schemas.microsoft.com/office/drawing/2014/main" id="{D0BBEC48-B630-45F4-A570-FF1FF05AB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275" y="3505200"/>
            <a:ext cx="32004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Rectangle 6">
            <a:extLst>
              <a:ext uri="{FF2B5EF4-FFF2-40B4-BE49-F238E27FC236}">
                <a16:creationId xmlns:a16="http://schemas.microsoft.com/office/drawing/2014/main" id="{F4661A5A-CD8B-4582-B72A-61F91A7EA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6324600"/>
            <a:ext cx="64785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Tahoma" panose="020B0604030504040204" pitchFamily="34" charset="0"/>
                <a:hlinkClick r:id="rId5"/>
              </a:rPr>
              <a:t>http://hyperphysics.phy-astr.gsu.edu/hbase/magnetic/galvan.html#c1</a:t>
            </a:r>
            <a:endParaRPr lang="en-US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246" name="Text Box 7">
            <a:extLst>
              <a:ext uri="{FF2B5EF4-FFF2-40B4-BE49-F238E27FC236}">
                <a16:creationId xmlns:a16="http://schemas.microsoft.com/office/drawing/2014/main" id="{BF15CC50-381D-4120-98FF-E820918C6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066800"/>
            <a:ext cx="8839200" cy="15700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 b="1" dirty="0">
                <a:solidFill>
                  <a:srgbClr val="FF0000"/>
                </a:solidFill>
                <a:latin typeface="Tahoma" pitchFamily="34" charset="0"/>
              </a:rPr>
              <a:t>Galvanometer:</a:t>
            </a:r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  <a:latin typeface="Tahoma" pitchFamily="34" charset="0"/>
              </a:rPr>
              <a:t>current flows through a coil in a magnetic field </a:t>
            </a:r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  <a:latin typeface="Tahoma" pitchFamily="34" charset="0"/>
              </a:rPr>
              <a:t>coil experiences a torque, connected needle deflects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  <a:latin typeface="Tahoma" pitchFamily="34" charset="0"/>
              </a:rPr>
              <a:t>   </a:t>
            </a:r>
            <a:r>
              <a:rPr lang="en-US" altLang="en-US" sz="2000" dirty="0">
                <a:solidFill>
                  <a:srgbClr val="000000"/>
                </a:solidFill>
                <a:latin typeface="Tahoma" pitchFamily="34" charset="0"/>
              </a:rPr>
              <a:t>(see later chapters of this class)</a:t>
            </a:r>
            <a:r>
              <a:rPr lang="en-US" altLang="en-US" sz="2400" dirty="0">
                <a:solidFill>
                  <a:srgbClr val="000000"/>
                </a:solidFill>
                <a:latin typeface="Tahoma" pitchFamily="34" charset="0"/>
              </a:rPr>
              <a:t> </a:t>
            </a:r>
            <a:endParaRPr lang="en-US" altLang="en-US" sz="2400" dirty="0">
              <a:solidFill>
                <a:srgbClr val="000000"/>
              </a:solidFill>
              <a:latin typeface="Tahoma" pitchFamily="34" charset="0"/>
              <a:sym typeface="Symbol" pitchFamily="18" charset="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E66D093C-DB84-4EA2-8C45-872C5AAFC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"/>
            <a:ext cx="8686800" cy="457200"/>
          </a:xfrm>
          <a:prstGeom prst="rect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FFFF"/>
                </a:solidFill>
                <a:latin typeface="Tahoma" panose="020B0604030504040204" pitchFamily="34" charset="0"/>
              </a:rPr>
              <a:t>Designing an ammeter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7D3B3006-31DF-4B5F-890C-B27BF14D2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63613"/>
            <a:ext cx="8839200" cy="7397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spcBef>
                <a:spcPct val="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  <a:latin typeface="Tahoma" pitchFamily="34" charset="0"/>
                <a:sym typeface="Symbol" pitchFamily="18" charset="2"/>
              </a:rPr>
              <a:t>ammeter can be based on galvanometer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dirty="0">
                <a:solidFill>
                  <a:srgbClr val="000000"/>
                </a:solidFill>
                <a:latin typeface="Tahoma" pitchFamily="34" charset="0"/>
                <a:sym typeface="Symbol" pitchFamily="18" charset="2"/>
              </a:rPr>
              <a:t>    (for electronic instrument, use electronic sensor instead, analysis still applies)</a:t>
            </a:r>
            <a:endParaRPr lang="en-US" altLang="en-US" sz="1800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3066D-E9B9-483A-96C0-E6AFA73EB740}"/>
              </a:ext>
            </a:extLst>
          </p:cNvPr>
          <p:cNvSpPr txBox="1"/>
          <p:nvPr/>
        </p:nvSpPr>
        <p:spPr>
          <a:xfrm>
            <a:off x="152400" y="1905000"/>
            <a:ext cx="87630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/>
              <a:t>simplest case: send current directly through galvanometer, observe deflection of needle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64A34FC2-D365-4327-9082-CFA2616F0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971800"/>
            <a:ext cx="5483225" cy="1016000"/>
          </a:xfrm>
          <a:prstGeom prst="rect">
            <a:avLst/>
          </a:prstGeom>
          <a:solidFill>
            <a:srgbClr val="FFCC99"/>
          </a:solidFill>
          <a:ln w="38100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993300"/>
                </a:solidFill>
                <a:latin typeface="Tahoma" panose="020B0604030504040204" pitchFamily="34" charset="0"/>
              </a:rPr>
              <a:t>Needle deflection is proportional to current. Each galvanometer has a certain maximum current corresponding to full needle deflection. </a:t>
            </a:r>
          </a:p>
        </p:txBody>
      </p:sp>
      <p:pic>
        <p:nvPicPr>
          <p:cNvPr id="10246" name="Picture 7" descr="galvan">
            <a:extLst>
              <a:ext uri="{FF2B5EF4-FFF2-40B4-BE49-F238E27FC236}">
                <a16:creationId xmlns:a16="http://schemas.microsoft.com/office/drawing/2014/main" id="{617EC8E7-1C29-4019-917B-4D029C1C1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408238"/>
            <a:ext cx="17018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B98DA0-E0E6-4532-B00F-68215BF93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105400"/>
            <a:ext cx="7324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BW" sz="2400" b="1">
                <a:solidFill>
                  <a:srgbClr val="FF0000"/>
                </a:solidFill>
                <a:latin typeface="Tahoma" panose="020B0604030504040204" pitchFamily="34" charset="0"/>
              </a:rPr>
              <a:t>What if you need to measure a larger current?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224ECC-A4CA-46C0-928A-2728EA4A7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715000"/>
            <a:ext cx="294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BW" sz="2400">
                <a:latin typeface="Tahoma" panose="020B0604030504040204" pitchFamily="34" charset="0"/>
              </a:rPr>
              <a:t>use shunt resistor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4B6C8C0D-180F-47EA-93FD-4BCEC602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303213"/>
            <a:ext cx="88392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Ammeter uses a galvanometer and a shunt, connected in parallel:</a:t>
            </a: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1267" name="Group 3">
            <a:extLst>
              <a:ext uri="{FF2B5EF4-FFF2-40B4-BE49-F238E27FC236}">
                <a16:creationId xmlns:a16="http://schemas.microsoft.com/office/drawing/2014/main" id="{10F9FE79-B84E-4AD7-9CE6-AFC55C3C393A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1876425"/>
            <a:ext cx="1600200" cy="609600"/>
            <a:chOff x="1680" y="1632"/>
            <a:chExt cx="1008" cy="384"/>
          </a:xfrm>
        </p:grpSpPr>
        <p:grpSp>
          <p:nvGrpSpPr>
            <p:cNvPr id="11305" name="Group 4">
              <a:extLst>
                <a:ext uri="{FF2B5EF4-FFF2-40B4-BE49-F238E27FC236}">
                  <a16:creationId xmlns:a16="http://schemas.microsoft.com/office/drawing/2014/main" id="{58BA9B52-C1E5-4897-93BB-286681BD05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5" y="1632"/>
              <a:ext cx="384" cy="384"/>
              <a:chOff x="1995" y="1632"/>
              <a:chExt cx="384" cy="384"/>
            </a:xfrm>
          </p:grpSpPr>
          <p:sp>
            <p:nvSpPr>
              <p:cNvPr id="11308" name="Oval 5">
                <a:extLst>
                  <a:ext uri="{FF2B5EF4-FFF2-40B4-BE49-F238E27FC236}">
                    <a16:creationId xmlns:a16="http://schemas.microsoft.com/office/drawing/2014/main" id="{D0B7D2B5-CD65-406B-B667-9E2CE47FF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5" y="1632"/>
                <a:ext cx="384" cy="384"/>
              </a:xfrm>
              <a:prstGeom prst="ellipse">
                <a:avLst/>
              </a:prstGeom>
              <a:noFill/>
              <a:ln w="571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09" name="Rectangle 6">
                <a:extLst>
                  <a:ext uri="{FF2B5EF4-FFF2-40B4-BE49-F238E27FC236}">
                    <a16:creationId xmlns:a16="http://schemas.microsoft.com/office/drawing/2014/main" id="{EA6DFC90-01A6-479C-A787-CCB21CDAA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1680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  <a:latin typeface="Tahoma" panose="020B0604030504040204" pitchFamily="34" charset="0"/>
                    <a:sym typeface="Symbol" panose="05050102010706020507" pitchFamily="18" charset="2"/>
                  </a:rPr>
                  <a:t>A</a:t>
                </a:r>
              </a:p>
            </p:txBody>
          </p:sp>
        </p:grpSp>
        <p:sp>
          <p:nvSpPr>
            <p:cNvPr id="11306" name="Line 7">
              <a:extLst>
                <a:ext uri="{FF2B5EF4-FFF2-40B4-BE49-F238E27FC236}">
                  <a16:creationId xmlns:a16="http://schemas.microsoft.com/office/drawing/2014/main" id="{2AE378BF-F6E5-47B8-A037-F48548FD0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7" y="1824"/>
              <a:ext cx="3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1307" name="Line 8">
              <a:extLst>
                <a:ext uri="{FF2B5EF4-FFF2-40B4-BE49-F238E27FC236}">
                  <a16:creationId xmlns:a16="http://schemas.microsoft.com/office/drawing/2014/main" id="{8D01023E-06A1-4B87-B9DA-223B6FD35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824"/>
              <a:ext cx="3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</p:grpSp>
      <p:sp>
        <p:nvSpPr>
          <p:cNvPr id="11268" name="Line 9">
            <a:extLst>
              <a:ext uri="{FF2B5EF4-FFF2-40B4-BE49-F238E27FC236}">
                <a16:creationId xmlns:a16="http://schemas.microsoft.com/office/drawing/2014/main" id="{87D80A16-1866-49CB-A6B7-777FC75AA8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213" y="2627313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1269" name="Rectangle 10">
            <a:extLst>
              <a:ext uri="{FF2B5EF4-FFF2-40B4-BE49-F238E27FC236}">
                <a16:creationId xmlns:a16="http://schemas.microsoft.com/office/drawing/2014/main" id="{C0928DC5-DCAA-4F41-AF41-456798E92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2562225"/>
            <a:ext cx="298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I</a:t>
            </a:r>
          </a:p>
        </p:txBody>
      </p:sp>
      <p:sp>
        <p:nvSpPr>
          <p:cNvPr id="11270" name="Rectangle 34">
            <a:extLst>
              <a:ext uri="{FF2B5EF4-FFF2-40B4-BE49-F238E27FC236}">
                <a16:creationId xmlns:a16="http://schemas.microsoft.com/office/drawing/2014/main" id="{5AE46FEB-5655-4660-B88E-D5F95D553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846263"/>
            <a:ext cx="5857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373795" name="Text Box 35">
            <a:extLst>
              <a:ext uri="{FF2B5EF4-FFF2-40B4-BE49-F238E27FC236}">
                <a16:creationId xmlns:a16="http://schemas.microsoft.com/office/drawing/2014/main" id="{C26FF529-0988-44C5-994C-B3F871C4F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0125" y="3473450"/>
            <a:ext cx="5132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Everything inside the green box is the ammeter.</a:t>
            </a:r>
            <a:endParaRPr lang="en-US" altLang="en-US" sz="1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F9DBFB-8F40-46DE-AD98-07A46CB32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343400"/>
            <a:ext cx="5597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BW" sz="2400">
                <a:latin typeface="Tahoma" panose="020B0604030504040204" pitchFamily="34" charset="0"/>
              </a:rPr>
              <a:t>Current I gets split into I</a:t>
            </a:r>
            <a:r>
              <a:rPr lang="en-US" altLang="en-BW" sz="2400" baseline="-25000">
                <a:latin typeface="Tahoma" panose="020B0604030504040204" pitchFamily="34" charset="0"/>
              </a:rPr>
              <a:t>shunt</a:t>
            </a:r>
            <a:r>
              <a:rPr lang="en-US" altLang="en-BW" sz="2400">
                <a:latin typeface="Tahoma" panose="020B0604030504040204" pitchFamily="34" charset="0"/>
              </a:rPr>
              <a:t> and I</a:t>
            </a:r>
            <a:r>
              <a:rPr lang="en-US" altLang="en-BW" sz="2400" baseline="-25000">
                <a:latin typeface="Tahoma" panose="020B0604030504040204" pitchFamily="34" charset="0"/>
              </a:rPr>
              <a:t>G</a:t>
            </a:r>
            <a:r>
              <a:rPr lang="en-US" altLang="en-BW" sz="2400">
                <a:latin typeface="Tahoma" panose="020B0604030504040204" pitchFamily="34" charset="0"/>
              </a:rPr>
              <a:t>  </a:t>
            </a:r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6BA6542D-3F5C-4C7C-94F6-D113CD9F3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5029200"/>
            <a:ext cx="8305800" cy="1570038"/>
          </a:xfrm>
          <a:prstGeom prst="rect">
            <a:avLst/>
          </a:prstGeom>
          <a:solidFill>
            <a:srgbClr val="FFCC99"/>
          </a:solidFill>
          <a:ln w="38100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993300"/>
                </a:solidFill>
                <a:latin typeface="Tahoma" panose="020B0604030504040204" pitchFamily="34" charset="0"/>
              </a:rPr>
              <a:t>Homework hint: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993300"/>
                </a:solidFill>
                <a:latin typeface="Tahoma" panose="020B0604030504040204" pitchFamily="34" charset="0"/>
              </a:rPr>
              <a:t>If your galvanometer reads 1A full scale but you want the </a:t>
            </a:r>
            <a:r>
              <a:rPr lang="en-US" altLang="en-US" sz="2400">
                <a:solidFill>
                  <a:srgbClr val="0000CC"/>
                </a:solidFill>
                <a:latin typeface="Tahoma" panose="020B0604030504040204" pitchFamily="34" charset="0"/>
              </a:rPr>
              <a:t>ammeter</a:t>
            </a:r>
            <a:r>
              <a:rPr lang="en-US" altLang="en-US" sz="2400">
                <a:solidFill>
                  <a:srgbClr val="993300"/>
                </a:solidFill>
                <a:latin typeface="Tahoma" panose="020B0604030504040204" pitchFamily="34" charset="0"/>
              </a:rPr>
              <a:t> to read 5A full scale, then R</a:t>
            </a:r>
            <a:r>
              <a:rPr lang="en-US" altLang="en-US" sz="2400" baseline="-25000">
                <a:solidFill>
                  <a:srgbClr val="993300"/>
                </a:solidFill>
                <a:latin typeface="Tahoma" panose="020B0604030504040204" pitchFamily="34" charset="0"/>
              </a:rPr>
              <a:t>SHUNT</a:t>
            </a:r>
            <a:r>
              <a:rPr lang="en-US" altLang="en-US" sz="2400">
                <a:solidFill>
                  <a:srgbClr val="993300"/>
                </a:solidFill>
                <a:latin typeface="Tahoma" panose="020B0604030504040204" pitchFamily="34" charset="0"/>
              </a:rPr>
              <a:t> must result in I</a:t>
            </a:r>
            <a:r>
              <a:rPr lang="en-US" altLang="en-US" sz="2400" baseline="-25000">
                <a:solidFill>
                  <a:srgbClr val="9933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2400">
                <a:solidFill>
                  <a:srgbClr val="993300"/>
                </a:solidFill>
                <a:latin typeface="Tahoma" panose="020B0604030504040204" pitchFamily="34" charset="0"/>
              </a:rPr>
              <a:t>=1A when I=5A. What are I</a:t>
            </a:r>
            <a:r>
              <a:rPr lang="en-US" altLang="en-US" sz="2400" baseline="-25000">
                <a:solidFill>
                  <a:srgbClr val="993300"/>
                </a:solidFill>
                <a:latin typeface="Tahoma" panose="020B0604030504040204" pitchFamily="34" charset="0"/>
              </a:rPr>
              <a:t>SHUNT</a:t>
            </a:r>
            <a:r>
              <a:rPr lang="en-US" altLang="en-US" sz="2400">
                <a:solidFill>
                  <a:srgbClr val="993300"/>
                </a:solidFill>
                <a:latin typeface="Tahoma" panose="020B0604030504040204" pitchFamily="34" charset="0"/>
              </a:rPr>
              <a:t> and V</a:t>
            </a:r>
            <a:r>
              <a:rPr lang="en-US" altLang="en-US" sz="2400" baseline="-25000">
                <a:solidFill>
                  <a:srgbClr val="993300"/>
                </a:solidFill>
                <a:latin typeface="Tahoma" panose="020B0604030504040204" pitchFamily="34" charset="0"/>
              </a:rPr>
              <a:t>SHUNT</a:t>
            </a:r>
            <a:r>
              <a:rPr lang="en-US" altLang="en-US" sz="2400">
                <a:solidFill>
                  <a:srgbClr val="993300"/>
                </a:solidFill>
                <a:latin typeface="Tahoma" panose="020B0604030504040204" pitchFamily="34" charset="0"/>
              </a:rPr>
              <a:t>?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B2361B-8DE4-4C60-8659-3C4DD2E1E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992188"/>
            <a:ext cx="3614738" cy="2378075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1275" name="Rectangle 42">
            <a:extLst>
              <a:ext uri="{FF2B5EF4-FFF2-40B4-BE49-F238E27FC236}">
                <a16:creationId xmlns:a16="http://schemas.microsoft.com/office/drawing/2014/main" id="{9D6C7494-00C5-48EE-A322-2CDF0A4F0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150" y="1068388"/>
            <a:ext cx="2725738" cy="1096962"/>
          </a:xfrm>
          <a:prstGeom prst="rect">
            <a:avLst/>
          </a:prstGeom>
          <a:solidFill>
            <a:srgbClr val="CCECFF"/>
          </a:solidFill>
          <a:ln w="9525" algn="ctr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1276" name="Group 11">
            <a:extLst>
              <a:ext uri="{FF2B5EF4-FFF2-40B4-BE49-F238E27FC236}">
                <a16:creationId xmlns:a16="http://schemas.microsoft.com/office/drawing/2014/main" id="{771A4945-744F-4772-9B80-9B14DD7304DC}"/>
              </a:ext>
            </a:extLst>
          </p:cNvPr>
          <p:cNvGrpSpPr>
            <a:grpSpLocks/>
          </p:cNvGrpSpPr>
          <p:nvPr/>
        </p:nvGrpSpPr>
        <p:grpSpPr bwMode="auto">
          <a:xfrm>
            <a:off x="2822575" y="1068388"/>
            <a:ext cx="4959350" cy="2227262"/>
            <a:chOff x="1841" y="768"/>
            <a:chExt cx="3124" cy="1403"/>
          </a:xfrm>
        </p:grpSpPr>
        <p:sp>
          <p:nvSpPr>
            <p:cNvPr id="11283" name="Freeform 12">
              <a:extLst>
                <a:ext uri="{FF2B5EF4-FFF2-40B4-BE49-F238E27FC236}">
                  <a16:creationId xmlns:a16="http://schemas.microsoft.com/office/drawing/2014/main" id="{D21EBAE5-17AC-4468-9676-FB2B32328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056"/>
              <a:ext cx="768" cy="192"/>
            </a:xfrm>
            <a:custGeom>
              <a:avLst/>
              <a:gdLst>
                <a:gd name="T0" fmla="*/ 0 w 768"/>
                <a:gd name="T1" fmla="*/ 96 h 192"/>
                <a:gd name="T2" fmla="*/ 96 w 768"/>
                <a:gd name="T3" fmla="*/ 96 h 192"/>
                <a:gd name="T4" fmla="*/ 144 w 768"/>
                <a:gd name="T5" fmla="*/ 0 h 192"/>
                <a:gd name="T6" fmla="*/ 240 w 768"/>
                <a:gd name="T7" fmla="*/ 192 h 192"/>
                <a:gd name="T8" fmla="*/ 336 w 768"/>
                <a:gd name="T9" fmla="*/ 0 h 192"/>
                <a:gd name="T10" fmla="*/ 432 w 768"/>
                <a:gd name="T11" fmla="*/ 192 h 192"/>
                <a:gd name="T12" fmla="*/ 528 w 768"/>
                <a:gd name="T13" fmla="*/ 0 h 192"/>
                <a:gd name="T14" fmla="*/ 624 w 768"/>
                <a:gd name="T15" fmla="*/ 192 h 192"/>
                <a:gd name="T16" fmla="*/ 672 w 768"/>
                <a:gd name="T17" fmla="*/ 96 h 192"/>
                <a:gd name="T18" fmla="*/ 768 w 768"/>
                <a:gd name="T19" fmla="*/ 96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68"/>
                <a:gd name="T31" fmla="*/ 0 h 192"/>
                <a:gd name="T32" fmla="*/ 768 w 768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68" h="192">
                  <a:moveTo>
                    <a:pt x="0" y="96"/>
                  </a:moveTo>
                  <a:lnTo>
                    <a:pt x="96" y="96"/>
                  </a:lnTo>
                  <a:lnTo>
                    <a:pt x="144" y="0"/>
                  </a:lnTo>
                  <a:lnTo>
                    <a:pt x="240" y="192"/>
                  </a:lnTo>
                  <a:lnTo>
                    <a:pt x="336" y="0"/>
                  </a:lnTo>
                  <a:lnTo>
                    <a:pt x="432" y="192"/>
                  </a:lnTo>
                  <a:lnTo>
                    <a:pt x="528" y="0"/>
                  </a:lnTo>
                  <a:lnTo>
                    <a:pt x="624" y="192"/>
                  </a:lnTo>
                  <a:lnTo>
                    <a:pt x="672" y="96"/>
                  </a:lnTo>
                  <a:lnTo>
                    <a:pt x="768" y="9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BW"/>
            </a:p>
          </p:txBody>
        </p:sp>
        <p:sp>
          <p:nvSpPr>
            <p:cNvPr id="11284" name="Line 13">
              <a:extLst>
                <a:ext uri="{FF2B5EF4-FFF2-40B4-BE49-F238E27FC236}">
                  <a16:creationId xmlns:a16="http://schemas.microsoft.com/office/drawing/2014/main" id="{5A5D164F-B483-45C0-A569-7D7C65A90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152"/>
              <a:ext cx="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grpSp>
          <p:nvGrpSpPr>
            <p:cNvPr id="11285" name="Group 14">
              <a:extLst>
                <a:ext uri="{FF2B5EF4-FFF2-40B4-BE49-F238E27FC236}">
                  <a16:creationId xmlns:a16="http://schemas.microsoft.com/office/drawing/2014/main" id="{75F6C044-B091-4708-B989-CD92BF9CA6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9" y="960"/>
              <a:ext cx="384" cy="384"/>
              <a:chOff x="1995" y="1632"/>
              <a:chExt cx="384" cy="384"/>
            </a:xfrm>
          </p:grpSpPr>
          <p:sp>
            <p:nvSpPr>
              <p:cNvPr id="11303" name="Oval 15">
                <a:extLst>
                  <a:ext uri="{FF2B5EF4-FFF2-40B4-BE49-F238E27FC236}">
                    <a16:creationId xmlns:a16="http://schemas.microsoft.com/office/drawing/2014/main" id="{5418712E-AC2B-4224-A300-0CD2C2864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5" y="1632"/>
                <a:ext cx="384" cy="384"/>
              </a:xfrm>
              <a:prstGeom prst="ellipse">
                <a:avLst/>
              </a:prstGeom>
              <a:noFill/>
              <a:ln w="571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04" name="Rectangle 16">
                <a:extLst>
                  <a:ext uri="{FF2B5EF4-FFF2-40B4-BE49-F238E27FC236}">
                    <a16:creationId xmlns:a16="http://schemas.microsoft.com/office/drawing/2014/main" id="{3A2641D6-91CF-4AE4-9B25-BF43616F03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" y="1680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  <a:latin typeface="Tahoma" panose="020B0604030504040204" pitchFamily="34" charset="0"/>
                    <a:sym typeface="Symbol" panose="05050102010706020507" pitchFamily="18" charset="2"/>
                  </a:rPr>
                  <a:t>G</a:t>
                </a:r>
              </a:p>
            </p:txBody>
          </p:sp>
        </p:grpSp>
        <p:sp>
          <p:nvSpPr>
            <p:cNvPr id="11286" name="Line 17">
              <a:extLst>
                <a:ext uri="{FF2B5EF4-FFF2-40B4-BE49-F238E27FC236}">
                  <a16:creationId xmlns:a16="http://schemas.microsoft.com/office/drawing/2014/main" id="{11B91D91-28C5-498F-BC36-C639BE5EFD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1" y="1152"/>
              <a:ext cx="3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1287" name="Line 18">
              <a:extLst>
                <a:ext uri="{FF2B5EF4-FFF2-40B4-BE49-F238E27FC236}">
                  <a16:creationId xmlns:a16="http://schemas.microsoft.com/office/drawing/2014/main" id="{640E3452-CA19-4442-A20F-685567CD4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152"/>
              <a:ext cx="3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1288" name="Freeform 19">
              <a:extLst>
                <a:ext uri="{FF2B5EF4-FFF2-40B4-BE49-F238E27FC236}">
                  <a16:creationId xmlns:a16="http://schemas.microsoft.com/office/drawing/2014/main" id="{DBFD73E5-16ED-4313-8BA2-FBD14CFF4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728"/>
              <a:ext cx="768" cy="192"/>
            </a:xfrm>
            <a:custGeom>
              <a:avLst/>
              <a:gdLst>
                <a:gd name="T0" fmla="*/ 0 w 768"/>
                <a:gd name="T1" fmla="*/ 96 h 192"/>
                <a:gd name="T2" fmla="*/ 96 w 768"/>
                <a:gd name="T3" fmla="*/ 96 h 192"/>
                <a:gd name="T4" fmla="*/ 144 w 768"/>
                <a:gd name="T5" fmla="*/ 0 h 192"/>
                <a:gd name="T6" fmla="*/ 240 w 768"/>
                <a:gd name="T7" fmla="*/ 192 h 192"/>
                <a:gd name="T8" fmla="*/ 336 w 768"/>
                <a:gd name="T9" fmla="*/ 0 h 192"/>
                <a:gd name="T10" fmla="*/ 432 w 768"/>
                <a:gd name="T11" fmla="*/ 192 h 192"/>
                <a:gd name="T12" fmla="*/ 528 w 768"/>
                <a:gd name="T13" fmla="*/ 0 h 192"/>
                <a:gd name="T14" fmla="*/ 624 w 768"/>
                <a:gd name="T15" fmla="*/ 192 h 192"/>
                <a:gd name="T16" fmla="*/ 672 w 768"/>
                <a:gd name="T17" fmla="*/ 96 h 192"/>
                <a:gd name="T18" fmla="*/ 768 w 768"/>
                <a:gd name="T19" fmla="*/ 96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68"/>
                <a:gd name="T31" fmla="*/ 0 h 192"/>
                <a:gd name="T32" fmla="*/ 768 w 768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68" h="192">
                  <a:moveTo>
                    <a:pt x="0" y="96"/>
                  </a:moveTo>
                  <a:lnTo>
                    <a:pt x="96" y="96"/>
                  </a:lnTo>
                  <a:lnTo>
                    <a:pt x="144" y="0"/>
                  </a:lnTo>
                  <a:lnTo>
                    <a:pt x="240" y="192"/>
                  </a:lnTo>
                  <a:lnTo>
                    <a:pt x="336" y="0"/>
                  </a:lnTo>
                  <a:lnTo>
                    <a:pt x="432" y="192"/>
                  </a:lnTo>
                  <a:lnTo>
                    <a:pt x="528" y="0"/>
                  </a:lnTo>
                  <a:lnTo>
                    <a:pt x="624" y="192"/>
                  </a:lnTo>
                  <a:lnTo>
                    <a:pt x="672" y="96"/>
                  </a:lnTo>
                  <a:lnTo>
                    <a:pt x="768" y="9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BW"/>
            </a:p>
          </p:txBody>
        </p:sp>
        <p:sp>
          <p:nvSpPr>
            <p:cNvPr id="11289" name="Line 20">
              <a:extLst>
                <a:ext uri="{FF2B5EF4-FFF2-40B4-BE49-F238E27FC236}">
                  <a16:creationId xmlns:a16="http://schemas.microsoft.com/office/drawing/2014/main" id="{A485BAFA-2C09-4EAB-947E-0A046AF68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824"/>
              <a:ext cx="10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1290" name="Line 21">
              <a:extLst>
                <a:ext uri="{FF2B5EF4-FFF2-40B4-BE49-F238E27FC236}">
                  <a16:creationId xmlns:a16="http://schemas.microsoft.com/office/drawing/2014/main" id="{3A3BE4D3-53B9-4C36-B4A4-68AB1944C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2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1291" name="Line 22">
              <a:extLst>
                <a:ext uri="{FF2B5EF4-FFF2-40B4-BE49-F238E27FC236}">
                  <a16:creationId xmlns:a16="http://schemas.microsoft.com/office/drawing/2014/main" id="{91EF7EFB-5426-4125-8529-7C95265E58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152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1292" name="Line 23">
              <a:extLst>
                <a:ext uri="{FF2B5EF4-FFF2-40B4-BE49-F238E27FC236}">
                  <a16:creationId xmlns:a16="http://schemas.microsoft.com/office/drawing/2014/main" id="{4E0D2F34-CDB1-48D7-935A-979D89CEA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152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1293" name="Line 24">
              <a:extLst>
                <a:ext uri="{FF2B5EF4-FFF2-40B4-BE49-F238E27FC236}">
                  <a16:creationId xmlns:a16="http://schemas.microsoft.com/office/drawing/2014/main" id="{8A854BB4-4261-457E-BE7B-B6844E314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1" y="1484"/>
              <a:ext cx="513" cy="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1294" name="Line 25">
              <a:extLst>
                <a:ext uri="{FF2B5EF4-FFF2-40B4-BE49-F238E27FC236}">
                  <a16:creationId xmlns:a16="http://schemas.microsoft.com/office/drawing/2014/main" id="{0E1AE4EB-EA86-422D-83BE-1C5A895034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" y="1488"/>
              <a:ext cx="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1295" name="Rectangle 26">
              <a:extLst>
                <a:ext uri="{FF2B5EF4-FFF2-40B4-BE49-F238E27FC236}">
                  <a16:creationId xmlns:a16="http://schemas.microsoft.com/office/drawing/2014/main" id="{D3240091-FA2E-4080-B7E3-DD9E0816B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768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R</a:t>
              </a:r>
              <a:r>
                <a:rPr lang="en-US" altLang="en-US" sz="2400" baseline="-250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G</a:t>
              </a:r>
            </a:p>
          </p:txBody>
        </p:sp>
        <p:sp>
          <p:nvSpPr>
            <p:cNvPr id="11296" name="Rectangle 27">
              <a:extLst>
                <a:ext uri="{FF2B5EF4-FFF2-40B4-BE49-F238E27FC236}">
                  <a16:creationId xmlns:a16="http://schemas.microsoft.com/office/drawing/2014/main" id="{283E341F-AC8A-4E93-B963-26762145F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9" y="1454"/>
              <a:ext cx="67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R</a:t>
              </a:r>
              <a:r>
                <a:rPr lang="en-US" altLang="en-US" sz="2400" baseline="-250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SHUNT</a:t>
              </a:r>
            </a:p>
          </p:txBody>
        </p:sp>
        <p:sp>
          <p:nvSpPr>
            <p:cNvPr id="11297" name="Line 28">
              <a:extLst>
                <a:ext uri="{FF2B5EF4-FFF2-40B4-BE49-F238E27FC236}">
                  <a16:creationId xmlns:a16="http://schemas.microsoft.com/office/drawing/2014/main" id="{05BE1E63-6791-44CD-832D-A6FEDEECD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152"/>
              <a:ext cx="3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1298" name="Rectangle 29">
              <a:extLst>
                <a:ext uri="{FF2B5EF4-FFF2-40B4-BE49-F238E27FC236}">
                  <a16:creationId xmlns:a16="http://schemas.microsoft.com/office/drawing/2014/main" id="{DA8F61C0-71F5-48AF-BB71-CA7BF5DA2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2" y="1152"/>
              <a:ext cx="2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I</a:t>
              </a:r>
              <a:r>
                <a:rPr lang="en-US" altLang="en-US" sz="2400" baseline="-250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G</a:t>
              </a:r>
            </a:p>
          </p:txBody>
        </p:sp>
        <p:sp>
          <p:nvSpPr>
            <p:cNvPr id="11299" name="Line 30">
              <a:extLst>
                <a:ext uri="{FF2B5EF4-FFF2-40B4-BE49-F238E27FC236}">
                  <a16:creationId xmlns:a16="http://schemas.microsoft.com/office/drawing/2014/main" id="{864CDD1E-2C84-41B4-8EFB-EA336D0F4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1824"/>
              <a:ext cx="32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1300" name="Rectangle 31">
              <a:extLst>
                <a:ext uri="{FF2B5EF4-FFF2-40B4-BE49-F238E27FC236}">
                  <a16:creationId xmlns:a16="http://schemas.microsoft.com/office/drawing/2014/main" id="{E1F36064-8046-4B6D-9D11-7965A0700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0" y="1880"/>
              <a:ext cx="5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I</a:t>
              </a:r>
              <a:r>
                <a:rPr lang="en-US" altLang="en-US" sz="2400" baseline="-250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SHUNT</a:t>
              </a:r>
            </a:p>
          </p:txBody>
        </p:sp>
        <p:sp>
          <p:nvSpPr>
            <p:cNvPr id="11301" name="Line 32">
              <a:extLst>
                <a:ext uri="{FF2B5EF4-FFF2-40B4-BE49-F238E27FC236}">
                  <a16:creationId xmlns:a16="http://schemas.microsoft.com/office/drawing/2014/main" id="{8BA75D8A-D46F-4FAB-81E1-5AC078C78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1484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1302" name="Rectangle 33">
              <a:extLst>
                <a:ext uri="{FF2B5EF4-FFF2-40B4-BE49-F238E27FC236}">
                  <a16:creationId xmlns:a16="http://schemas.microsoft.com/office/drawing/2014/main" id="{98DBC37A-04F5-4B84-A89C-379A677D3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6" y="1527"/>
              <a:ext cx="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I</a:t>
              </a:r>
            </a:p>
          </p:txBody>
        </p:sp>
      </p:grpSp>
      <p:sp>
        <p:nvSpPr>
          <p:cNvPr id="11277" name="Oval 40">
            <a:extLst>
              <a:ext uri="{FF2B5EF4-FFF2-40B4-BE49-F238E27FC236}">
                <a16:creationId xmlns:a16="http://schemas.microsoft.com/office/drawing/2014/main" id="{9D1F0B2B-EDB2-4BB8-B400-C041E4DFCDC1}"/>
              </a:ext>
            </a:extLst>
          </p:cNvPr>
          <p:cNvSpPr>
            <a:spLocks noChangeAspect="1"/>
          </p:cNvSpPr>
          <p:nvPr/>
        </p:nvSpPr>
        <p:spPr bwMode="auto">
          <a:xfrm>
            <a:off x="3590925" y="2152650"/>
            <a:ext cx="92075" cy="920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1278" name="Oval 41">
            <a:extLst>
              <a:ext uri="{FF2B5EF4-FFF2-40B4-BE49-F238E27FC236}">
                <a16:creationId xmlns:a16="http://schemas.microsoft.com/office/drawing/2014/main" id="{55AB7BB8-3663-4AB6-8C77-A9886EFB291E}"/>
              </a:ext>
            </a:extLst>
          </p:cNvPr>
          <p:cNvSpPr>
            <a:spLocks noChangeAspect="1"/>
          </p:cNvSpPr>
          <p:nvPr/>
        </p:nvSpPr>
        <p:spPr bwMode="auto">
          <a:xfrm>
            <a:off x="7019925" y="2152650"/>
            <a:ext cx="92075" cy="920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1279" name="Rectangle 26">
            <a:extLst>
              <a:ext uri="{FF2B5EF4-FFF2-40B4-BE49-F238E27FC236}">
                <a16:creationId xmlns:a16="http://schemas.microsoft.com/office/drawing/2014/main" id="{022EFC61-5D23-4C56-80D4-1EF724B17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1982788"/>
            <a:ext cx="50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</a:t>
            </a:r>
            <a:endParaRPr lang="en-US" altLang="en-US" sz="2400" baseline="-25000">
              <a:solidFill>
                <a:srgbClr val="00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1280" name="Rectangle 26">
            <a:extLst>
              <a:ext uri="{FF2B5EF4-FFF2-40B4-BE49-F238E27FC236}">
                <a16:creationId xmlns:a16="http://schemas.microsoft.com/office/drawing/2014/main" id="{FD9EC56E-B3B8-4210-ACE8-3E83CCF0B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863" y="1982788"/>
            <a:ext cx="50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B</a:t>
            </a:r>
            <a:endParaRPr lang="en-US" altLang="en-US" sz="2400" baseline="-25000">
              <a:solidFill>
                <a:srgbClr val="00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1281" name="TextBox 2">
            <a:extLst>
              <a:ext uri="{FF2B5EF4-FFF2-40B4-BE49-F238E27FC236}">
                <a16:creationId xmlns:a16="http://schemas.microsoft.com/office/drawing/2014/main" id="{BA0D1737-CD4D-4C61-9042-B4CF1D258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8538" y="823913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BW" sz="2000">
                <a:latin typeface="Tahoma" panose="020B0604030504040204" pitchFamily="34" charset="0"/>
              </a:rPr>
              <a:t>galvanometer</a:t>
            </a:r>
          </a:p>
        </p:txBody>
      </p:sp>
      <p:cxnSp>
        <p:nvCxnSpPr>
          <p:cNvPr id="11282" name="Straight Arrow Connector 5">
            <a:extLst>
              <a:ext uri="{FF2B5EF4-FFF2-40B4-BE49-F238E27FC236}">
                <a16:creationId xmlns:a16="http://schemas.microsoft.com/office/drawing/2014/main" id="{400A830E-4213-4885-B1A3-1C9DB8350A4B}"/>
              </a:ext>
            </a:extLst>
          </p:cNvPr>
          <p:cNvCxnSpPr>
            <a:cxnSpLocks noChangeShapeType="1"/>
            <a:stCxn id="11281" idx="1"/>
          </p:cNvCxnSpPr>
          <p:nvPr/>
        </p:nvCxnSpPr>
        <p:spPr bwMode="auto">
          <a:xfrm flipH="1">
            <a:off x="6719888" y="1023938"/>
            <a:ext cx="628650" cy="2730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95" grpId="0"/>
      <p:bldP spid="2" grpId="0"/>
      <p:bldP spid="41" grpId="0" animBg="1"/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5">
            <a:extLst>
              <a:ext uri="{FF2B5EF4-FFF2-40B4-BE49-F238E27FC236}">
                <a16:creationId xmlns:a16="http://schemas.microsoft.com/office/drawing/2014/main" id="{D6AB80F6-C2A6-44CF-B716-96499BBA7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920750"/>
            <a:ext cx="3614738" cy="2378075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2291" name="Rectangle 36">
            <a:extLst>
              <a:ext uri="{FF2B5EF4-FFF2-40B4-BE49-F238E27FC236}">
                <a16:creationId xmlns:a16="http://schemas.microsoft.com/office/drawing/2014/main" id="{01CFE9B4-DC58-41F0-A4A0-187DF9217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9363" y="996950"/>
            <a:ext cx="2724150" cy="1096963"/>
          </a:xfrm>
          <a:prstGeom prst="rect">
            <a:avLst/>
          </a:prstGeom>
          <a:solidFill>
            <a:srgbClr val="CCECFF"/>
          </a:solidFill>
          <a:ln w="9525" algn="ctr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2292" name="Group 11">
            <a:extLst>
              <a:ext uri="{FF2B5EF4-FFF2-40B4-BE49-F238E27FC236}">
                <a16:creationId xmlns:a16="http://schemas.microsoft.com/office/drawing/2014/main" id="{B73398F8-5BAC-4732-A400-AC49AD5BBE5B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996950"/>
            <a:ext cx="4959350" cy="2227263"/>
            <a:chOff x="1841" y="768"/>
            <a:chExt cx="3124" cy="1403"/>
          </a:xfrm>
        </p:grpSpPr>
        <p:sp>
          <p:nvSpPr>
            <p:cNvPr id="12300" name="Freeform 12">
              <a:extLst>
                <a:ext uri="{FF2B5EF4-FFF2-40B4-BE49-F238E27FC236}">
                  <a16:creationId xmlns:a16="http://schemas.microsoft.com/office/drawing/2014/main" id="{44A85610-3C0F-426E-BDE5-084D92FBF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056"/>
              <a:ext cx="768" cy="192"/>
            </a:xfrm>
            <a:custGeom>
              <a:avLst/>
              <a:gdLst>
                <a:gd name="T0" fmla="*/ 0 w 768"/>
                <a:gd name="T1" fmla="*/ 96 h 192"/>
                <a:gd name="T2" fmla="*/ 96 w 768"/>
                <a:gd name="T3" fmla="*/ 96 h 192"/>
                <a:gd name="T4" fmla="*/ 144 w 768"/>
                <a:gd name="T5" fmla="*/ 0 h 192"/>
                <a:gd name="T6" fmla="*/ 240 w 768"/>
                <a:gd name="T7" fmla="*/ 192 h 192"/>
                <a:gd name="T8" fmla="*/ 336 w 768"/>
                <a:gd name="T9" fmla="*/ 0 h 192"/>
                <a:gd name="T10" fmla="*/ 432 w 768"/>
                <a:gd name="T11" fmla="*/ 192 h 192"/>
                <a:gd name="T12" fmla="*/ 528 w 768"/>
                <a:gd name="T13" fmla="*/ 0 h 192"/>
                <a:gd name="T14" fmla="*/ 624 w 768"/>
                <a:gd name="T15" fmla="*/ 192 h 192"/>
                <a:gd name="T16" fmla="*/ 672 w 768"/>
                <a:gd name="T17" fmla="*/ 96 h 192"/>
                <a:gd name="T18" fmla="*/ 768 w 768"/>
                <a:gd name="T19" fmla="*/ 96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68"/>
                <a:gd name="T31" fmla="*/ 0 h 192"/>
                <a:gd name="T32" fmla="*/ 768 w 768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68" h="192">
                  <a:moveTo>
                    <a:pt x="0" y="96"/>
                  </a:moveTo>
                  <a:lnTo>
                    <a:pt x="96" y="96"/>
                  </a:lnTo>
                  <a:lnTo>
                    <a:pt x="144" y="0"/>
                  </a:lnTo>
                  <a:lnTo>
                    <a:pt x="240" y="192"/>
                  </a:lnTo>
                  <a:lnTo>
                    <a:pt x="336" y="0"/>
                  </a:lnTo>
                  <a:lnTo>
                    <a:pt x="432" y="192"/>
                  </a:lnTo>
                  <a:lnTo>
                    <a:pt x="528" y="0"/>
                  </a:lnTo>
                  <a:lnTo>
                    <a:pt x="624" y="192"/>
                  </a:lnTo>
                  <a:lnTo>
                    <a:pt x="672" y="96"/>
                  </a:lnTo>
                  <a:lnTo>
                    <a:pt x="768" y="9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BW"/>
            </a:p>
          </p:txBody>
        </p:sp>
        <p:sp>
          <p:nvSpPr>
            <p:cNvPr id="12301" name="Line 13">
              <a:extLst>
                <a:ext uri="{FF2B5EF4-FFF2-40B4-BE49-F238E27FC236}">
                  <a16:creationId xmlns:a16="http://schemas.microsoft.com/office/drawing/2014/main" id="{71CE862D-0CF4-410B-BDD9-AEE540900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152"/>
              <a:ext cx="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grpSp>
          <p:nvGrpSpPr>
            <p:cNvPr id="12302" name="Group 14">
              <a:extLst>
                <a:ext uri="{FF2B5EF4-FFF2-40B4-BE49-F238E27FC236}">
                  <a16:creationId xmlns:a16="http://schemas.microsoft.com/office/drawing/2014/main" id="{2AB80D70-C4A4-4302-AE47-A1E490128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9" y="960"/>
              <a:ext cx="384" cy="384"/>
              <a:chOff x="1995" y="1632"/>
              <a:chExt cx="384" cy="384"/>
            </a:xfrm>
          </p:grpSpPr>
          <p:sp>
            <p:nvSpPr>
              <p:cNvPr id="12320" name="Oval 15">
                <a:extLst>
                  <a:ext uri="{FF2B5EF4-FFF2-40B4-BE49-F238E27FC236}">
                    <a16:creationId xmlns:a16="http://schemas.microsoft.com/office/drawing/2014/main" id="{18A495CC-F742-446A-988E-F35985404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5" y="1632"/>
                <a:ext cx="384" cy="384"/>
              </a:xfrm>
              <a:prstGeom prst="ellipse">
                <a:avLst/>
              </a:prstGeom>
              <a:noFill/>
              <a:ln w="571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321" name="Rectangle 16">
                <a:extLst>
                  <a:ext uri="{FF2B5EF4-FFF2-40B4-BE49-F238E27FC236}">
                    <a16:creationId xmlns:a16="http://schemas.microsoft.com/office/drawing/2014/main" id="{3DAF53AB-4B18-45A0-9D0E-6523A216A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" y="1680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  <a:latin typeface="Tahoma" panose="020B0604030504040204" pitchFamily="34" charset="0"/>
                    <a:sym typeface="Symbol" panose="05050102010706020507" pitchFamily="18" charset="2"/>
                  </a:rPr>
                  <a:t>G</a:t>
                </a:r>
              </a:p>
            </p:txBody>
          </p:sp>
        </p:grpSp>
        <p:sp>
          <p:nvSpPr>
            <p:cNvPr id="12303" name="Line 17">
              <a:extLst>
                <a:ext uri="{FF2B5EF4-FFF2-40B4-BE49-F238E27FC236}">
                  <a16:creationId xmlns:a16="http://schemas.microsoft.com/office/drawing/2014/main" id="{224D8711-5FDA-467D-91D5-FCF79EC2A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1" y="1152"/>
              <a:ext cx="3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2304" name="Line 18">
              <a:extLst>
                <a:ext uri="{FF2B5EF4-FFF2-40B4-BE49-F238E27FC236}">
                  <a16:creationId xmlns:a16="http://schemas.microsoft.com/office/drawing/2014/main" id="{40A4AA51-33A6-4D64-847E-E63DBCB76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152"/>
              <a:ext cx="3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2305" name="Freeform 19">
              <a:extLst>
                <a:ext uri="{FF2B5EF4-FFF2-40B4-BE49-F238E27FC236}">
                  <a16:creationId xmlns:a16="http://schemas.microsoft.com/office/drawing/2014/main" id="{8C73D2D5-A704-436F-AD8B-3ABD89777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728"/>
              <a:ext cx="768" cy="192"/>
            </a:xfrm>
            <a:custGeom>
              <a:avLst/>
              <a:gdLst>
                <a:gd name="T0" fmla="*/ 0 w 768"/>
                <a:gd name="T1" fmla="*/ 96 h 192"/>
                <a:gd name="T2" fmla="*/ 96 w 768"/>
                <a:gd name="T3" fmla="*/ 96 h 192"/>
                <a:gd name="T4" fmla="*/ 144 w 768"/>
                <a:gd name="T5" fmla="*/ 0 h 192"/>
                <a:gd name="T6" fmla="*/ 240 w 768"/>
                <a:gd name="T7" fmla="*/ 192 h 192"/>
                <a:gd name="T8" fmla="*/ 336 w 768"/>
                <a:gd name="T9" fmla="*/ 0 h 192"/>
                <a:gd name="T10" fmla="*/ 432 w 768"/>
                <a:gd name="T11" fmla="*/ 192 h 192"/>
                <a:gd name="T12" fmla="*/ 528 w 768"/>
                <a:gd name="T13" fmla="*/ 0 h 192"/>
                <a:gd name="T14" fmla="*/ 624 w 768"/>
                <a:gd name="T15" fmla="*/ 192 h 192"/>
                <a:gd name="T16" fmla="*/ 672 w 768"/>
                <a:gd name="T17" fmla="*/ 96 h 192"/>
                <a:gd name="T18" fmla="*/ 768 w 768"/>
                <a:gd name="T19" fmla="*/ 96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68"/>
                <a:gd name="T31" fmla="*/ 0 h 192"/>
                <a:gd name="T32" fmla="*/ 768 w 768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68" h="192">
                  <a:moveTo>
                    <a:pt x="0" y="96"/>
                  </a:moveTo>
                  <a:lnTo>
                    <a:pt x="96" y="96"/>
                  </a:lnTo>
                  <a:lnTo>
                    <a:pt x="144" y="0"/>
                  </a:lnTo>
                  <a:lnTo>
                    <a:pt x="240" y="192"/>
                  </a:lnTo>
                  <a:lnTo>
                    <a:pt x="336" y="0"/>
                  </a:lnTo>
                  <a:lnTo>
                    <a:pt x="432" y="192"/>
                  </a:lnTo>
                  <a:lnTo>
                    <a:pt x="528" y="0"/>
                  </a:lnTo>
                  <a:lnTo>
                    <a:pt x="624" y="192"/>
                  </a:lnTo>
                  <a:lnTo>
                    <a:pt x="672" y="96"/>
                  </a:lnTo>
                  <a:lnTo>
                    <a:pt x="768" y="9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BW"/>
            </a:p>
          </p:txBody>
        </p:sp>
        <p:sp>
          <p:nvSpPr>
            <p:cNvPr id="12306" name="Line 20">
              <a:extLst>
                <a:ext uri="{FF2B5EF4-FFF2-40B4-BE49-F238E27FC236}">
                  <a16:creationId xmlns:a16="http://schemas.microsoft.com/office/drawing/2014/main" id="{D1F6C651-206C-47AE-A452-F4C0A8108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824"/>
              <a:ext cx="10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2307" name="Line 21">
              <a:extLst>
                <a:ext uri="{FF2B5EF4-FFF2-40B4-BE49-F238E27FC236}">
                  <a16:creationId xmlns:a16="http://schemas.microsoft.com/office/drawing/2014/main" id="{145E9732-68D6-4DC7-911D-3E1EA8E66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2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2308" name="Line 22">
              <a:extLst>
                <a:ext uri="{FF2B5EF4-FFF2-40B4-BE49-F238E27FC236}">
                  <a16:creationId xmlns:a16="http://schemas.microsoft.com/office/drawing/2014/main" id="{D3F61C71-02B2-43A8-ADD3-6A53480FB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152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2309" name="Line 23">
              <a:extLst>
                <a:ext uri="{FF2B5EF4-FFF2-40B4-BE49-F238E27FC236}">
                  <a16:creationId xmlns:a16="http://schemas.microsoft.com/office/drawing/2014/main" id="{785858F7-776E-43A5-80CF-0496F8A85F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152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2310" name="Line 24">
              <a:extLst>
                <a:ext uri="{FF2B5EF4-FFF2-40B4-BE49-F238E27FC236}">
                  <a16:creationId xmlns:a16="http://schemas.microsoft.com/office/drawing/2014/main" id="{068B2589-45CB-44EF-8C5F-C3E9E4F57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1" y="1484"/>
              <a:ext cx="513" cy="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2311" name="Line 25">
              <a:extLst>
                <a:ext uri="{FF2B5EF4-FFF2-40B4-BE49-F238E27FC236}">
                  <a16:creationId xmlns:a16="http://schemas.microsoft.com/office/drawing/2014/main" id="{A1F94F59-C3FB-4735-8279-DF47322DB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" y="1488"/>
              <a:ext cx="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2312" name="Rectangle 26">
              <a:extLst>
                <a:ext uri="{FF2B5EF4-FFF2-40B4-BE49-F238E27FC236}">
                  <a16:creationId xmlns:a16="http://schemas.microsoft.com/office/drawing/2014/main" id="{53DA0EB2-0D0B-466A-B677-E3FB822F3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768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R</a:t>
              </a:r>
              <a:r>
                <a:rPr lang="en-US" altLang="en-US" sz="2400" baseline="-250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G</a:t>
              </a:r>
            </a:p>
          </p:txBody>
        </p:sp>
        <p:sp>
          <p:nvSpPr>
            <p:cNvPr id="12313" name="Rectangle 27">
              <a:extLst>
                <a:ext uri="{FF2B5EF4-FFF2-40B4-BE49-F238E27FC236}">
                  <a16:creationId xmlns:a16="http://schemas.microsoft.com/office/drawing/2014/main" id="{00DEC132-E1FD-4759-8B7F-FD242FAE0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9" y="1454"/>
              <a:ext cx="67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R</a:t>
              </a:r>
              <a:r>
                <a:rPr lang="en-US" altLang="en-US" sz="2400" baseline="-250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SHUNT</a:t>
              </a:r>
            </a:p>
          </p:txBody>
        </p:sp>
        <p:sp>
          <p:nvSpPr>
            <p:cNvPr id="12314" name="Line 28">
              <a:extLst>
                <a:ext uri="{FF2B5EF4-FFF2-40B4-BE49-F238E27FC236}">
                  <a16:creationId xmlns:a16="http://schemas.microsoft.com/office/drawing/2014/main" id="{3367A0E0-EE2F-478B-A486-2B8BFEA40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152"/>
              <a:ext cx="3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2315" name="Rectangle 29">
              <a:extLst>
                <a:ext uri="{FF2B5EF4-FFF2-40B4-BE49-F238E27FC236}">
                  <a16:creationId xmlns:a16="http://schemas.microsoft.com/office/drawing/2014/main" id="{8248ECAA-60EA-4198-865C-F2C236BED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2" y="1152"/>
              <a:ext cx="2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I</a:t>
              </a:r>
              <a:r>
                <a:rPr lang="en-US" altLang="en-US" sz="2400" baseline="-250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G</a:t>
              </a:r>
            </a:p>
          </p:txBody>
        </p:sp>
        <p:sp>
          <p:nvSpPr>
            <p:cNvPr id="12316" name="Line 30">
              <a:extLst>
                <a:ext uri="{FF2B5EF4-FFF2-40B4-BE49-F238E27FC236}">
                  <a16:creationId xmlns:a16="http://schemas.microsoft.com/office/drawing/2014/main" id="{3510A4C4-A7AA-43C4-B497-111BFBEA9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1824"/>
              <a:ext cx="32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2317" name="Rectangle 31">
              <a:extLst>
                <a:ext uri="{FF2B5EF4-FFF2-40B4-BE49-F238E27FC236}">
                  <a16:creationId xmlns:a16="http://schemas.microsoft.com/office/drawing/2014/main" id="{E750C6EF-B2E5-43E0-8757-CB85C3953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0" y="1880"/>
              <a:ext cx="5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I</a:t>
              </a:r>
              <a:r>
                <a:rPr lang="en-US" altLang="en-US" sz="2400" baseline="-250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SHUNT</a:t>
              </a:r>
            </a:p>
          </p:txBody>
        </p:sp>
        <p:sp>
          <p:nvSpPr>
            <p:cNvPr id="12318" name="Line 32">
              <a:extLst>
                <a:ext uri="{FF2B5EF4-FFF2-40B4-BE49-F238E27FC236}">
                  <a16:creationId xmlns:a16="http://schemas.microsoft.com/office/drawing/2014/main" id="{AF390751-F30E-49F2-A54E-6F56CDF86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1484"/>
              <a:ext cx="3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2319" name="Rectangle 33">
              <a:extLst>
                <a:ext uri="{FF2B5EF4-FFF2-40B4-BE49-F238E27FC236}">
                  <a16:creationId xmlns:a16="http://schemas.microsoft.com/office/drawing/2014/main" id="{B941A8D8-1C33-4250-9C3E-9E19F3A7F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6" y="1527"/>
              <a:ext cx="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I</a:t>
              </a:r>
            </a:p>
          </p:txBody>
        </p:sp>
      </p:grpSp>
      <p:sp>
        <p:nvSpPr>
          <p:cNvPr id="12293" name="Oval 40">
            <a:extLst>
              <a:ext uri="{FF2B5EF4-FFF2-40B4-BE49-F238E27FC236}">
                <a16:creationId xmlns:a16="http://schemas.microsoft.com/office/drawing/2014/main" id="{7BA5D1BC-FFC8-4ADE-A19B-4BD25DA7937B}"/>
              </a:ext>
            </a:extLst>
          </p:cNvPr>
          <p:cNvSpPr>
            <a:spLocks noChangeAspect="1"/>
          </p:cNvSpPr>
          <p:nvPr/>
        </p:nvSpPr>
        <p:spPr bwMode="auto">
          <a:xfrm>
            <a:off x="4654550" y="2081213"/>
            <a:ext cx="92075" cy="920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2294" name="Oval 41">
            <a:extLst>
              <a:ext uri="{FF2B5EF4-FFF2-40B4-BE49-F238E27FC236}">
                <a16:creationId xmlns:a16="http://schemas.microsoft.com/office/drawing/2014/main" id="{AC4BABF5-D43D-4C4C-A1F4-FFF98D3AD609}"/>
              </a:ext>
            </a:extLst>
          </p:cNvPr>
          <p:cNvSpPr>
            <a:spLocks noChangeAspect="1"/>
          </p:cNvSpPr>
          <p:nvPr/>
        </p:nvSpPr>
        <p:spPr bwMode="auto">
          <a:xfrm>
            <a:off x="8083550" y="2081213"/>
            <a:ext cx="92075" cy="920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2295" name="Rectangle 26">
            <a:extLst>
              <a:ext uri="{FF2B5EF4-FFF2-40B4-BE49-F238E27FC236}">
                <a16:creationId xmlns:a16="http://schemas.microsoft.com/office/drawing/2014/main" id="{3CBADB6D-F6FC-4089-ADC5-81BFC240B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1911350"/>
            <a:ext cx="50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</a:t>
            </a:r>
            <a:endParaRPr lang="en-US" altLang="en-US" sz="2400" baseline="-25000">
              <a:solidFill>
                <a:srgbClr val="00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2296" name="Rectangle 26">
            <a:extLst>
              <a:ext uri="{FF2B5EF4-FFF2-40B4-BE49-F238E27FC236}">
                <a16:creationId xmlns:a16="http://schemas.microsoft.com/office/drawing/2014/main" id="{A78F0748-D209-4686-864B-9A3144B7F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488" y="1911350"/>
            <a:ext cx="50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B</a:t>
            </a:r>
            <a:endParaRPr lang="en-US" altLang="en-US" sz="2400" baseline="-25000">
              <a:solidFill>
                <a:srgbClr val="00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2297" name="Text Box 37">
            <a:extLst>
              <a:ext uri="{FF2B5EF4-FFF2-40B4-BE49-F238E27FC236}">
                <a16:creationId xmlns:a16="http://schemas.microsoft.com/office/drawing/2014/main" id="{AC1F6E3E-02CF-425D-BB2F-404C446AF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3" y="3733800"/>
            <a:ext cx="883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  <a:sym typeface="Symbol" panose="05050102010706020507" pitchFamily="18" charset="2"/>
              </a:rPr>
              <a:t>Shunt also reduces resistance of the ammeter: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graphicFrame>
        <p:nvGraphicFramePr>
          <p:cNvPr id="12298" name="Object 38">
            <a:extLst>
              <a:ext uri="{FF2B5EF4-FFF2-40B4-BE49-F238E27FC236}">
                <a16:creationId xmlns:a16="http://schemas.microsoft.com/office/drawing/2014/main" id="{75C547A6-E3CE-4A35-9C0F-A7977FC922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0163" y="4394200"/>
          <a:ext cx="2286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431800" progId="Equation.DSMT4">
                  <p:embed/>
                </p:oleObj>
              </mc:Choice>
              <mc:Fallback>
                <p:oleObj name="Equation" r:id="rId3" imgW="1143000" imgH="431800" progId="Equation.DSMT4">
                  <p:embed/>
                  <p:pic>
                    <p:nvPicPr>
                      <p:cNvPr id="12298" name="Object 38">
                        <a:extLst>
                          <a:ext uri="{FF2B5EF4-FFF2-40B4-BE49-F238E27FC236}">
                            <a16:creationId xmlns:a16="http://schemas.microsoft.com/office/drawing/2014/main" id="{75C547A6-E3CE-4A35-9C0F-A7977FC922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163" y="4394200"/>
                        <a:ext cx="2286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39">
            <a:extLst>
              <a:ext uri="{FF2B5EF4-FFF2-40B4-BE49-F238E27FC236}">
                <a16:creationId xmlns:a16="http://schemas.microsoft.com/office/drawing/2014/main" id="{46240EDE-8ECA-4D9B-9215-8AA4829CD3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2388" y="5461000"/>
          <a:ext cx="2209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04900" imgH="431800" progId="Equation.DSMT4">
                  <p:embed/>
                </p:oleObj>
              </mc:Choice>
              <mc:Fallback>
                <p:oleObj name="Equation" r:id="rId5" imgW="1104900" imgH="431800" progId="Equation.DSMT4">
                  <p:embed/>
                  <p:pic>
                    <p:nvPicPr>
                      <p:cNvPr id="12299" name="Object 39">
                        <a:extLst>
                          <a:ext uri="{FF2B5EF4-FFF2-40B4-BE49-F238E27FC236}">
                            <a16:creationId xmlns:a16="http://schemas.microsoft.com/office/drawing/2014/main" id="{46240EDE-8ECA-4D9B-9215-8AA4829CD3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5461000"/>
                        <a:ext cx="2209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F755259C-5B1A-47A2-9A20-F1B1EACA4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04800"/>
            <a:ext cx="8839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 galvanometer-based ammeter uses a galvanometer and a shunt, connected in parallel:</a:t>
            </a: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2DAC716B-ADF1-43BB-8739-E5B9CDA2D01E}"/>
              </a:ext>
            </a:extLst>
          </p:cNvPr>
          <p:cNvGrpSpPr>
            <a:grpSpLocks/>
          </p:cNvGrpSpPr>
          <p:nvPr/>
        </p:nvGrpSpPr>
        <p:grpSpPr bwMode="auto">
          <a:xfrm>
            <a:off x="3852863" y="1752600"/>
            <a:ext cx="4910137" cy="2362200"/>
            <a:chOff x="1872" y="768"/>
            <a:chExt cx="3093" cy="1488"/>
          </a:xfrm>
        </p:grpSpPr>
        <p:sp>
          <p:nvSpPr>
            <p:cNvPr id="13322" name="Freeform 4">
              <a:extLst>
                <a:ext uri="{FF2B5EF4-FFF2-40B4-BE49-F238E27FC236}">
                  <a16:creationId xmlns:a16="http://schemas.microsoft.com/office/drawing/2014/main" id="{49AFB5FB-36F4-4C93-8579-BF8EE2920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056"/>
              <a:ext cx="768" cy="192"/>
            </a:xfrm>
            <a:custGeom>
              <a:avLst/>
              <a:gdLst>
                <a:gd name="T0" fmla="*/ 0 w 768"/>
                <a:gd name="T1" fmla="*/ 96 h 192"/>
                <a:gd name="T2" fmla="*/ 96 w 768"/>
                <a:gd name="T3" fmla="*/ 96 h 192"/>
                <a:gd name="T4" fmla="*/ 144 w 768"/>
                <a:gd name="T5" fmla="*/ 0 h 192"/>
                <a:gd name="T6" fmla="*/ 240 w 768"/>
                <a:gd name="T7" fmla="*/ 192 h 192"/>
                <a:gd name="T8" fmla="*/ 336 w 768"/>
                <a:gd name="T9" fmla="*/ 0 h 192"/>
                <a:gd name="T10" fmla="*/ 432 w 768"/>
                <a:gd name="T11" fmla="*/ 192 h 192"/>
                <a:gd name="T12" fmla="*/ 528 w 768"/>
                <a:gd name="T13" fmla="*/ 0 h 192"/>
                <a:gd name="T14" fmla="*/ 624 w 768"/>
                <a:gd name="T15" fmla="*/ 192 h 192"/>
                <a:gd name="T16" fmla="*/ 672 w 768"/>
                <a:gd name="T17" fmla="*/ 96 h 192"/>
                <a:gd name="T18" fmla="*/ 768 w 768"/>
                <a:gd name="T19" fmla="*/ 96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68"/>
                <a:gd name="T31" fmla="*/ 0 h 192"/>
                <a:gd name="T32" fmla="*/ 768 w 768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68" h="192">
                  <a:moveTo>
                    <a:pt x="0" y="96"/>
                  </a:moveTo>
                  <a:lnTo>
                    <a:pt x="96" y="96"/>
                  </a:lnTo>
                  <a:lnTo>
                    <a:pt x="144" y="0"/>
                  </a:lnTo>
                  <a:lnTo>
                    <a:pt x="240" y="192"/>
                  </a:lnTo>
                  <a:lnTo>
                    <a:pt x="336" y="0"/>
                  </a:lnTo>
                  <a:lnTo>
                    <a:pt x="432" y="192"/>
                  </a:lnTo>
                  <a:lnTo>
                    <a:pt x="528" y="0"/>
                  </a:lnTo>
                  <a:lnTo>
                    <a:pt x="624" y="192"/>
                  </a:lnTo>
                  <a:lnTo>
                    <a:pt x="672" y="96"/>
                  </a:lnTo>
                  <a:lnTo>
                    <a:pt x="768" y="9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BW"/>
            </a:p>
          </p:txBody>
        </p:sp>
        <p:sp>
          <p:nvSpPr>
            <p:cNvPr id="13323" name="Line 5">
              <a:extLst>
                <a:ext uri="{FF2B5EF4-FFF2-40B4-BE49-F238E27FC236}">
                  <a16:creationId xmlns:a16="http://schemas.microsoft.com/office/drawing/2014/main" id="{E8B87235-9E20-4CDD-9DE0-676C5FEA3A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152"/>
              <a:ext cx="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grpSp>
          <p:nvGrpSpPr>
            <p:cNvPr id="13324" name="Group 6">
              <a:extLst>
                <a:ext uri="{FF2B5EF4-FFF2-40B4-BE49-F238E27FC236}">
                  <a16:creationId xmlns:a16="http://schemas.microsoft.com/office/drawing/2014/main" id="{0F3FB771-5012-4C29-A247-75316EECB2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9" y="960"/>
              <a:ext cx="384" cy="384"/>
              <a:chOff x="1995" y="1632"/>
              <a:chExt cx="384" cy="384"/>
            </a:xfrm>
          </p:grpSpPr>
          <p:sp>
            <p:nvSpPr>
              <p:cNvPr id="13342" name="Oval 7">
                <a:extLst>
                  <a:ext uri="{FF2B5EF4-FFF2-40B4-BE49-F238E27FC236}">
                    <a16:creationId xmlns:a16="http://schemas.microsoft.com/office/drawing/2014/main" id="{8ACD2773-A7CD-44A9-995E-89D9DB19F0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5" y="1632"/>
                <a:ext cx="384" cy="384"/>
              </a:xfrm>
              <a:prstGeom prst="ellipse">
                <a:avLst/>
              </a:prstGeom>
              <a:noFill/>
              <a:ln w="571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3343" name="Rectangle 8">
                <a:extLst>
                  <a:ext uri="{FF2B5EF4-FFF2-40B4-BE49-F238E27FC236}">
                    <a16:creationId xmlns:a16="http://schemas.microsoft.com/office/drawing/2014/main" id="{03A6DC77-C389-4198-9B9E-E28F8F57C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" y="1680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  <a:latin typeface="Tahoma" panose="020B0604030504040204" pitchFamily="34" charset="0"/>
                    <a:sym typeface="Symbol" panose="05050102010706020507" pitchFamily="18" charset="2"/>
                  </a:rPr>
                  <a:t>G</a:t>
                </a:r>
              </a:p>
            </p:txBody>
          </p:sp>
        </p:grpSp>
        <p:sp>
          <p:nvSpPr>
            <p:cNvPr id="13325" name="Line 9">
              <a:extLst>
                <a:ext uri="{FF2B5EF4-FFF2-40B4-BE49-F238E27FC236}">
                  <a16:creationId xmlns:a16="http://schemas.microsoft.com/office/drawing/2014/main" id="{920F19E9-5786-4099-897C-B32010386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1" y="1152"/>
              <a:ext cx="3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3326" name="Line 10">
              <a:extLst>
                <a:ext uri="{FF2B5EF4-FFF2-40B4-BE49-F238E27FC236}">
                  <a16:creationId xmlns:a16="http://schemas.microsoft.com/office/drawing/2014/main" id="{0147C865-5B31-48BF-AA21-8E90B91C2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152"/>
              <a:ext cx="3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3327" name="Freeform 11">
              <a:extLst>
                <a:ext uri="{FF2B5EF4-FFF2-40B4-BE49-F238E27FC236}">
                  <a16:creationId xmlns:a16="http://schemas.microsoft.com/office/drawing/2014/main" id="{A17CFFE1-02E9-4132-B0A6-5B751ABE8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728"/>
              <a:ext cx="768" cy="192"/>
            </a:xfrm>
            <a:custGeom>
              <a:avLst/>
              <a:gdLst>
                <a:gd name="T0" fmla="*/ 0 w 768"/>
                <a:gd name="T1" fmla="*/ 96 h 192"/>
                <a:gd name="T2" fmla="*/ 96 w 768"/>
                <a:gd name="T3" fmla="*/ 96 h 192"/>
                <a:gd name="T4" fmla="*/ 144 w 768"/>
                <a:gd name="T5" fmla="*/ 0 h 192"/>
                <a:gd name="T6" fmla="*/ 240 w 768"/>
                <a:gd name="T7" fmla="*/ 192 h 192"/>
                <a:gd name="T8" fmla="*/ 336 w 768"/>
                <a:gd name="T9" fmla="*/ 0 h 192"/>
                <a:gd name="T10" fmla="*/ 432 w 768"/>
                <a:gd name="T11" fmla="*/ 192 h 192"/>
                <a:gd name="T12" fmla="*/ 528 w 768"/>
                <a:gd name="T13" fmla="*/ 0 h 192"/>
                <a:gd name="T14" fmla="*/ 624 w 768"/>
                <a:gd name="T15" fmla="*/ 192 h 192"/>
                <a:gd name="T16" fmla="*/ 672 w 768"/>
                <a:gd name="T17" fmla="*/ 96 h 192"/>
                <a:gd name="T18" fmla="*/ 768 w 768"/>
                <a:gd name="T19" fmla="*/ 96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68"/>
                <a:gd name="T31" fmla="*/ 0 h 192"/>
                <a:gd name="T32" fmla="*/ 768 w 768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68" h="192">
                  <a:moveTo>
                    <a:pt x="0" y="96"/>
                  </a:moveTo>
                  <a:lnTo>
                    <a:pt x="96" y="96"/>
                  </a:lnTo>
                  <a:lnTo>
                    <a:pt x="144" y="0"/>
                  </a:lnTo>
                  <a:lnTo>
                    <a:pt x="240" y="192"/>
                  </a:lnTo>
                  <a:lnTo>
                    <a:pt x="336" y="0"/>
                  </a:lnTo>
                  <a:lnTo>
                    <a:pt x="432" y="192"/>
                  </a:lnTo>
                  <a:lnTo>
                    <a:pt x="528" y="0"/>
                  </a:lnTo>
                  <a:lnTo>
                    <a:pt x="624" y="192"/>
                  </a:lnTo>
                  <a:lnTo>
                    <a:pt x="672" y="96"/>
                  </a:lnTo>
                  <a:lnTo>
                    <a:pt x="768" y="9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BW"/>
            </a:p>
          </p:txBody>
        </p:sp>
        <p:sp>
          <p:nvSpPr>
            <p:cNvPr id="13328" name="Line 12">
              <a:extLst>
                <a:ext uri="{FF2B5EF4-FFF2-40B4-BE49-F238E27FC236}">
                  <a16:creationId xmlns:a16="http://schemas.microsoft.com/office/drawing/2014/main" id="{8F75E027-70CA-4F38-AEBC-7A873488B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824"/>
              <a:ext cx="10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3329" name="Line 13">
              <a:extLst>
                <a:ext uri="{FF2B5EF4-FFF2-40B4-BE49-F238E27FC236}">
                  <a16:creationId xmlns:a16="http://schemas.microsoft.com/office/drawing/2014/main" id="{F2A265FE-C720-4F57-BCEB-86DE95175C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2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3330" name="Line 14">
              <a:extLst>
                <a:ext uri="{FF2B5EF4-FFF2-40B4-BE49-F238E27FC236}">
                  <a16:creationId xmlns:a16="http://schemas.microsoft.com/office/drawing/2014/main" id="{F6A445A7-5BE7-4517-AD80-FB25DCF6D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152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3331" name="Line 15">
              <a:extLst>
                <a:ext uri="{FF2B5EF4-FFF2-40B4-BE49-F238E27FC236}">
                  <a16:creationId xmlns:a16="http://schemas.microsoft.com/office/drawing/2014/main" id="{393D0821-7955-4877-A109-A381A8870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152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3332" name="Line 16">
              <a:extLst>
                <a:ext uri="{FF2B5EF4-FFF2-40B4-BE49-F238E27FC236}">
                  <a16:creationId xmlns:a16="http://schemas.microsoft.com/office/drawing/2014/main" id="{151301C0-7B26-4EED-A868-D34C0BEA67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9" y="1488"/>
              <a:ext cx="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3333" name="Line 17">
              <a:extLst>
                <a:ext uri="{FF2B5EF4-FFF2-40B4-BE49-F238E27FC236}">
                  <a16:creationId xmlns:a16="http://schemas.microsoft.com/office/drawing/2014/main" id="{B9124FDE-27EE-4C1F-A40B-E0876F858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" y="1488"/>
              <a:ext cx="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3334" name="Rectangle 18">
              <a:extLst>
                <a:ext uri="{FF2B5EF4-FFF2-40B4-BE49-F238E27FC236}">
                  <a16:creationId xmlns:a16="http://schemas.microsoft.com/office/drawing/2014/main" id="{0D052DB6-55BD-4F2E-A4D8-52AEC8F0E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768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R</a:t>
              </a:r>
              <a:r>
                <a:rPr lang="en-US" altLang="en-US" sz="2400" baseline="-250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G</a:t>
              </a:r>
            </a:p>
          </p:txBody>
        </p:sp>
        <p:sp>
          <p:nvSpPr>
            <p:cNvPr id="13335" name="Rectangle 19">
              <a:extLst>
                <a:ext uri="{FF2B5EF4-FFF2-40B4-BE49-F238E27FC236}">
                  <a16:creationId xmlns:a16="http://schemas.microsoft.com/office/drawing/2014/main" id="{1BEE5DAC-14EE-4CC2-B4D9-DAB50F2AA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454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R</a:t>
              </a:r>
              <a:r>
                <a:rPr lang="en-US" altLang="en-US" sz="2400" baseline="-250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S</a:t>
              </a:r>
            </a:p>
          </p:txBody>
        </p:sp>
        <p:sp>
          <p:nvSpPr>
            <p:cNvPr id="13336" name="Line 20">
              <a:extLst>
                <a:ext uri="{FF2B5EF4-FFF2-40B4-BE49-F238E27FC236}">
                  <a16:creationId xmlns:a16="http://schemas.microsoft.com/office/drawing/2014/main" id="{81DDCA94-FAAB-49BE-8B31-CA6652182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1330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3337" name="Rectangle 21">
              <a:extLst>
                <a:ext uri="{FF2B5EF4-FFF2-40B4-BE49-F238E27FC236}">
                  <a16:creationId xmlns:a16="http://schemas.microsoft.com/office/drawing/2014/main" id="{3603C62B-55CE-4650-97DC-DE30872ED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0" y="1296"/>
              <a:ext cx="2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I</a:t>
              </a:r>
              <a:r>
                <a:rPr lang="en-US" altLang="en-US" sz="2400" baseline="-250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G</a:t>
              </a:r>
            </a:p>
          </p:txBody>
        </p:sp>
        <p:sp>
          <p:nvSpPr>
            <p:cNvPr id="13338" name="Line 22">
              <a:extLst>
                <a:ext uri="{FF2B5EF4-FFF2-40B4-BE49-F238E27FC236}">
                  <a16:creationId xmlns:a16="http://schemas.microsoft.com/office/drawing/2014/main" id="{A4FCD0EE-B703-4D46-9D82-C63B88404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002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3339" name="Rectangle 23">
              <a:extLst>
                <a:ext uri="{FF2B5EF4-FFF2-40B4-BE49-F238E27FC236}">
                  <a16:creationId xmlns:a16="http://schemas.microsoft.com/office/drawing/2014/main" id="{BB5E8454-F2AC-4269-B7CC-68389D42E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1968"/>
              <a:ext cx="2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I</a:t>
              </a:r>
              <a:r>
                <a:rPr lang="en-US" altLang="en-US" sz="2400" baseline="-250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S</a:t>
              </a:r>
            </a:p>
          </p:txBody>
        </p:sp>
        <p:sp>
          <p:nvSpPr>
            <p:cNvPr id="13340" name="Line 24">
              <a:extLst>
                <a:ext uri="{FF2B5EF4-FFF2-40B4-BE49-F238E27FC236}">
                  <a16:creationId xmlns:a16="http://schemas.microsoft.com/office/drawing/2014/main" id="{B020BED0-EEB6-4887-A8DD-11A352181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584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13341" name="Rectangle 25">
              <a:extLst>
                <a:ext uri="{FF2B5EF4-FFF2-40B4-BE49-F238E27FC236}">
                  <a16:creationId xmlns:a16="http://schemas.microsoft.com/office/drawing/2014/main" id="{FEFDA0A1-E3AC-4512-BA5D-CE2D952CB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9" y="1536"/>
              <a:ext cx="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I</a:t>
              </a:r>
            </a:p>
          </p:txBody>
        </p:sp>
      </p:grpSp>
      <p:graphicFrame>
        <p:nvGraphicFramePr>
          <p:cNvPr id="13316" name="Object 26">
            <a:extLst>
              <a:ext uri="{FF2B5EF4-FFF2-40B4-BE49-F238E27FC236}">
                <a16:creationId xmlns:a16="http://schemas.microsoft.com/office/drawing/2014/main" id="{CD41F745-236E-4AD3-95AC-E900BC1D22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975" y="2235200"/>
          <a:ext cx="1828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431800" progId="Equation.DSMT4">
                  <p:embed/>
                </p:oleObj>
              </mc:Choice>
              <mc:Fallback>
                <p:oleObj name="Equation" r:id="rId3" imgW="914400" imgH="431800" progId="Equation.DSMT4">
                  <p:embed/>
                  <p:pic>
                    <p:nvPicPr>
                      <p:cNvPr id="13316" name="Object 26">
                        <a:extLst>
                          <a:ext uri="{FF2B5EF4-FFF2-40B4-BE49-F238E27FC236}">
                            <a16:creationId xmlns:a16="http://schemas.microsoft.com/office/drawing/2014/main" id="{CD41F745-236E-4AD3-95AC-E900BC1D22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2235200"/>
                        <a:ext cx="1828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27">
            <a:extLst>
              <a:ext uri="{FF2B5EF4-FFF2-40B4-BE49-F238E27FC236}">
                <a16:creationId xmlns:a16="http://schemas.microsoft.com/office/drawing/2014/main" id="{D3ED7C6B-37BE-4B1E-BF1F-7930DF6FF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1000"/>
            <a:ext cx="8740775" cy="1225550"/>
          </a:xfrm>
          <a:prstGeom prst="rect">
            <a:avLst/>
          </a:prstGeom>
          <a:solidFill>
            <a:srgbClr val="339933"/>
          </a:solidFill>
          <a:ln w="38100" algn="ctr">
            <a:solidFill>
              <a:srgbClr val="0066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FFFF"/>
                </a:solidFill>
                <a:latin typeface="Tahoma" panose="020B0604030504040204" pitchFamily="34" charset="0"/>
              </a:rPr>
              <a:t>Example: what shunt resistance is required for an ammeter to have a resistance of 10 m</a:t>
            </a:r>
            <a:r>
              <a:rPr lang="en-US" altLang="en-US" sz="2400">
                <a:solidFill>
                  <a:srgbClr val="FFFF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, if the galvanometer resistance is 60 ?</a:t>
            </a:r>
            <a:endParaRPr lang="en-US" altLang="en-US" sz="240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374812" name="Object 28">
            <a:extLst>
              <a:ext uri="{FF2B5EF4-FFF2-40B4-BE49-F238E27FC236}">
                <a16:creationId xmlns:a16="http://schemas.microsoft.com/office/drawing/2014/main" id="{BF287137-450A-4239-858B-F5E17FA2CB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200" y="3302000"/>
          <a:ext cx="1828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431800" progId="Equation.DSMT4">
                  <p:embed/>
                </p:oleObj>
              </mc:Choice>
              <mc:Fallback>
                <p:oleObj name="Equation" r:id="rId5" imgW="914400" imgH="431800" progId="Equation.DSMT4">
                  <p:embed/>
                  <p:pic>
                    <p:nvPicPr>
                      <p:cNvPr id="374812" name="Object 28">
                        <a:extLst>
                          <a:ext uri="{FF2B5EF4-FFF2-40B4-BE49-F238E27FC236}">
                            <a16:creationId xmlns:a16="http://schemas.microsoft.com/office/drawing/2014/main" id="{BF287137-450A-4239-858B-F5E17FA2CB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3302000"/>
                        <a:ext cx="1828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13" name="Object 29">
            <a:extLst>
              <a:ext uri="{FF2B5EF4-FFF2-40B4-BE49-F238E27FC236}">
                <a16:creationId xmlns:a16="http://schemas.microsoft.com/office/drawing/2014/main" id="{6B750D6F-D960-47FA-8FC0-04E62AFBCE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950" y="4368800"/>
          <a:ext cx="464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24100" imgH="457200" progId="Equation.DSMT4">
                  <p:embed/>
                </p:oleObj>
              </mc:Choice>
              <mc:Fallback>
                <p:oleObj name="Equation" r:id="rId7" imgW="2324100" imgH="457200" progId="Equation.DSMT4">
                  <p:embed/>
                  <p:pic>
                    <p:nvPicPr>
                      <p:cNvPr id="374813" name="Object 29">
                        <a:extLst>
                          <a:ext uri="{FF2B5EF4-FFF2-40B4-BE49-F238E27FC236}">
                            <a16:creationId xmlns:a16="http://schemas.microsoft.com/office/drawing/2014/main" id="{6B750D6F-D960-47FA-8FC0-04E62AFBCE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" y="4368800"/>
                        <a:ext cx="4648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15" name="Text Box 31">
            <a:extLst>
              <a:ext uri="{FF2B5EF4-FFF2-40B4-BE49-F238E27FC236}">
                <a16:creationId xmlns:a16="http://schemas.microsoft.com/office/drawing/2014/main" id="{DF78ACE9-6ED7-4BC6-81D9-16B83902A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0950" y="4978400"/>
            <a:ext cx="1828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(actually 0.010002 </a:t>
            </a: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)</a:t>
            </a:r>
          </a:p>
        </p:txBody>
      </p:sp>
      <p:sp>
        <p:nvSpPr>
          <p:cNvPr id="32" name="Text Box 2">
            <a:extLst>
              <a:ext uri="{FF2B5EF4-FFF2-40B4-BE49-F238E27FC236}">
                <a16:creationId xmlns:a16="http://schemas.microsoft.com/office/drawing/2014/main" id="{E8ED4315-D41E-49DF-B88A-171FE16E6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8" y="5791200"/>
            <a:ext cx="8610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To achieve such a small resistance, the shunt is probably a large-diameter wire or solid piece of metal.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815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3">
            <a:extLst>
              <a:ext uri="{FF2B5EF4-FFF2-40B4-BE49-F238E27FC236}">
                <a16:creationId xmlns:a16="http://schemas.microsoft.com/office/drawing/2014/main" id="{71EA1866-BCD1-4E4A-A228-713141367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79413"/>
            <a:ext cx="7467600" cy="523875"/>
          </a:xfrm>
          <a:prstGeom prst="rect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FFFF"/>
                </a:solidFill>
                <a:latin typeface="Tahoma" panose="020B0604030504040204" pitchFamily="34" charset="0"/>
              </a:rPr>
              <a:t>Effect of voltmeter on circuit</a:t>
            </a:r>
            <a:endParaRPr lang="en-US" altLang="en-US" sz="280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14339" name="Text Box 16">
            <a:extLst>
              <a:ext uri="{FF2B5EF4-FFF2-40B4-BE49-F238E27FC236}">
                <a16:creationId xmlns:a16="http://schemas.microsoft.com/office/drawing/2014/main" id="{86118CE5-3A2C-4474-B6EA-9F371567E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341438"/>
            <a:ext cx="55626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Measuring voltage (potential difference) V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ab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in a simple circuit:</a:t>
            </a: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A54EC-1CF7-4CFB-A864-2172935B7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2197100"/>
            <a:ext cx="4381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>
                <a:latin typeface="Tahoma" panose="020B0604030504040204" pitchFamily="34" charset="0"/>
              </a:rPr>
              <a:t>connect voltmeter in parallel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EDDFF-3CA3-47F0-9B23-571158A5D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2895600"/>
            <a:ext cx="54292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Are we measuring the correct voltage?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(the voltage in the circuit without voltmeter)</a:t>
            </a:r>
          </a:p>
        </p:txBody>
      </p:sp>
      <p:sp>
        <p:nvSpPr>
          <p:cNvPr id="14342" name="Line 4">
            <a:extLst>
              <a:ext uri="{FF2B5EF4-FFF2-40B4-BE49-F238E27FC236}">
                <a16:creationId xmlns:a16="http://schemas.microsoft.com/office/drawing/2014/main" id="{C14980CC-BB7A-41D0-907E-DE50C6C307C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659688" y="4478338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4343" name="Line 5">
            <a:extLst>
              <a:ext uri="{FF2B5EF4-FFF2-40B4-BE49-F238E27FC236}">
                <a16:creationId xmlns:a16="http://schemas.microsoft.com/office/drawing/2014/main" id="{BF19D342-D7F7-41A9-9166-A59EFCCAB21C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816850" y="4479926"/>
            <a:ext cx="206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4344" name="Freeform 6">
            <a:extLst>
              <a:ext uri="{FF2B5EF4-FFF2-40B4-BE49-F238E27FC236}">
                <a16:creationId xmlns:a16="http://schemas.microsoft.com/office/drawing/2014/main" id="{CF275C31-E4B6-41D1-A106-C09E055FFFA6}"/>
              </a:ext>
            </a:extLst>
          </p:cNvPr>
          <p:cNvSpPr>
            <a:spLocks/>
          </p:cNvSpPr>
          <p:nvPr/>
        </p:nvSpPr>
        <p:spPr bwMode="auto">
          <a:xfrm>
            <a:off x="6884988" y="2960688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4345" name="Line 7">
            <a:extLst>
              <a:ext uri="{FF2B5EF4-FFF2-40B4-BE49-F238E27FC236}">
                <a16:creationId xmlns:a16="http://schemas.microsoft.com/office/drawing/2014/main" id="{81B1C0FF-FD44-4DB3-A75A-B408ADAD49F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7988" y="3113088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4346" name="Freeform 8">
            <a:extLst>
              <a:ext uri="{FF2B5EF4-FFF2-40B4-BE49-F238E27FC236}">
                <a16:creationId xmlns:a16="http://schemas.microsoft.com/office/drawing/2014/main" id="{EB4DF7C2-0503-4021-AA2C-6A6015A40277}"/>
              </a:ext>
            </a:extLst>
          </p:cNvPr>
          <p:cNvSpPr>
            <a:spLocks/>
          </p:cNvSpPr>
          <p:nvPr/>
        </p:nvSpPr>
        <p:spPr bwMode="auto">
          <a:xfrm flipH="1">
            <a:off x="6211888" y="3113088"/>
            <a:ext cx="481012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4347" name="Line 9">
            <a:extLst>
              <a:ext uri="{FF2B5EF4-FFF2-40B4-BE49-F238E27FC236}">
                <a16:creationId xmlns:a16="http://schemas.microsoft.com/office/drawing/2014/main" id="{FB1C1AFA-C673-4BDC-980D-4EAF7DD401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9188" y="3113088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4348" name="Freeform 10">
            <a:extLst>
              <a:ext uri="{FF2B5EF4-FFF2-40B4-BE49-F238E27FC236}">
                <a16:creationId xmlns:a16="http://schemas.microsoft.com/office/drawing/2014/main" id="{1154AB45-DCB9-4093-89F4-FDF5DD01D690}"/>
              </a:ext>
            </a:extLst>
          </p:cNvPr>
          <p:cNvSpPr>
            <a:spLocks/>
          </p:cNvSpPr>
          <p:nvPr/>
        </p:nvSpPr>
        <p:spPr bwMode="auto">
          <a:xfrm>
            <a:off x="7924800" y="3113088"/>
            <a:ext cx="8255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4349" name="Rectangle 11">
            <a:extLst>
              <a:ext uri="{FF2B5EF4-FFF2-40B4-BE49-F238E27FC236}">
                <a16:creationId xmlns:a16="http://schemas.microsoft.com/office/drawing/2014/main" id="{69D6F8F2-D679-42D7-B315-973244201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7913" y="4713288"/>
            <a:ext cx="993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=3 V</a:t>
            </a:r>
          </a:p>
        </p:txBody>
      </p:sp>
      <p:sp>
        <p:nvSpPr>
          <p:cNvPr id="14350" name="Rectangle 12">
            <a:extLst>
              <a:ext uri="{FF2B5EF4-FFF2-40B4-BE49-F238E27FC236}">
                <a16:creationId xmlns:a16="http://schemas.microsoft.com/office/drawing/2014/main" id="{05279E39-44DD-4495-910E-942F840B3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113" y="2505075"/>
            <a:ext cx="125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R=10 </a:t>
            </a:r>
          </a:p>
        </p:txBody>
      </p:sp>
      <p:sp>
        <p:nvSpPr>
          <p:cNvPr id="14351" name="Freeform 13">
            <a:extLst>
              <a:ext uri="{FF2B5EF4-FFF2-40B4-BE49-F238E27FC236}">
                <a16:creationId xmlns:a16="http://schemas.microsoft.com/office/drawing/2014/main" id="{7D43F66A-5519-4DD4-A71A-9D92D5A6D111}"/>
              </a:ext>
            </a:extLst>
          </p:cNvPr>
          <p:cNvSpPr>
            <a:spLocks/>
          </p:cNvSpPr>
          <p:nvPr/>
        </p:nvSpPr>
        <p:spPr bwMode="auto">
          <a:xfrm>
            <a:off x="6616700" y="4332288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4352" name="Rectangle 14">
            <a:extLst>
              <a:ext uri="{FF2B5EF4-FFF2-40B4-BE49-F238E27FC236}">
                <a16:creationId xmlns:a16="http://schemas.microsoft.com/office/drawing/2014/main" id="{45DDE3AB-032A-48ED-A370-6A0D9762E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0" y="3875088"/>
            <a:ext cx="127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r=0.5 </a:t>
            </a:r>
          </a:p>
        </p:txBody>
      </p:sp>
      <p:sp>
        <p:nvSpPr>
          <p:cNvPr id="31" name="Freeform 15">
            <a:extLst>
              <a:ext uri="{FF2B5EF4-FFF2-40B4-BE49-F238E27FC236}">
                <a16:creationId xmlns:a16="http://schemas.microsoft.com/office/drawing/2014/main" id="{CAF4C26C-BF53-4CF3-92D0-6BA686D6AA8F}"/>
              </a:ext>
            </a:extLst>
          </p:cNvPr>
          <p:cNvSpPr>
            <a:spLocks/>
          </p:cNvSpPr>
          <p:nvPr/>
        </p:nvSpPr>
        <p:spPr bwMode="auto">
          <a:xfrm flipH="1" flipV="1">
            <a:off x="6211888" y="1757363"/>
            <a:ext cx="914400" cy="1355725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A12C2BF4-3D98-478C-88FA-F6375A0091DE}"/>
              </a:ext>
            </a:extLst>
          </p:cNvPr>
          <p:cNvSpPr>
            <a:spLocks/>
          </p:cNvSpPr>
          <p:nvPr/>
        </p:nvSpPr>
        <p:spPr bwMode="auto">
          <a:xfrm flipV="1">
            <a:off x="7735888" y="1757363"/>
            <a:ext cx="1014412" cy="1355725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grpSp>
        <p:nvGrpSpPr>
          <p:cNvPr id="33" name="Group 17">
            <a:extLst>
              <a:ext uri="{FF2B5EF4-FFF2-40B4-BE49-F238E27FC236}">
                <a16:creationId xmlns:a16="http://schemas.microsoft.com/office/drawing/2014/main" id="{A6CD3904-2398-4485-BF2A-03F75131B3E3}"/>
              </a:ext>
            </a:extLst>
          </p:cNvPr>
          <p:cNvGrpSpPr>
            <a:grpSpLocks/>
          </p:cNvGrpSpPr>
          <p:nvPr/>
        </p:nvGrpSpPr>
        <p:grpSpPr bwMode="auto">
          <a:xfrm>
            <a:off x="7126288" y="1436688"/>
            <a:ext cx="609600" cy="609600"/>
            <a:chOff x="1995" y="1632"/>
            <a:chExt cx="384" cy="384"/>
          </a:xfrm>
        </p:grpSpPr>
        <p:sp>
          <p:nvSpPr>
            <p:cNvPr id="14360" name="Oval 18">
              <a:extLst>
                <a:ext uri="{FF2B5EF4-FFF2-40B4-BE49-F238E27FC236}">
                  <a16:creationId xmlns:a16="http://schemas.microsoft.com/office/drawing/2014/main" id="{6A850C7F-C926-4DDC-B61E-6CCD75496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1632"/>
              <a:ext cx="384" cy="384"/>
            </a:xfrm>
            <a:prstGeom prst="ellipse">
              <a:avLst/>
            </a:prstGeom>
            <a:noFill/>
            <a:ln w="571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1" name="Rectangle 19">
              <a:extLst>
                <a:ext uri="{FF2B5EF4-FFF2-40B4-BE49-F238E27FC236}">
                  <a16:creationId xmlns:a16="http://schemas.microsoft.com/office/drawing/2014/main" id="{545E6E1A-B3BA-4057-9617-EC507DB67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680"/>
              <a:ext cx="23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V</a:t>
              </a:r>
            </a:p>
          </p:txBody>
        </p:sp>
      </p:grpSp>
      <p:sp>
        <p:nvSpPr>
          <p:cNvPr id="14356" name="Oval 22">
            <a:extLst>
              <a:ext uri="{FF2B5EF4-FFF2-40B4-BE49-F238E27FC236}">
                <a16:creationId xmlns:a16="http://schemas.microsoft.com/office/drawing/2014/main" id="{200E0DBE-2EBE-4927-B1E3-74608D7C33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85213" y="3048000"/>
            <a:ext cx="119062" cy="119063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4357" name="Oval 23">
            <a:extLst>
              <a:ext uri="{FF2B5EF4-FFF2-40B4-BE49-F238E27FC236}">
                <a16:creationId xmlns:a16="http://schemas.microsoft.com/office/drawing/2014/main" id="{ED6B6C18-9035-49F4-8476-DF9C11D1D9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37275" y="3048000"/>
            <a:ext cx="119063" cy="119063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4358" name="Rectangle 24">
            <a:extLst>
              <a:ext uri="{FF2B5EF4-FFF2-40B4-BE49-F238E27FC236}">
                <a16:creationId xmlns:a16="http://schemas.microsoft.com/office/drawing/2014/main" id="{3C12CB4B-40D1-430A-8A9E-38FE1CAAF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2830513"/>
            <a:ext cx="344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4359" name="Rectangle 25">
            <a:extLst>
              <a:ext uri="{FF2B5EF4-FFF2-40B4-BE49-F238E27FC236}">
                <a16:creationId xmlns:a16="http://schemas.microsoft.com/office/drawing/2014/main" id="{653277C9-4932-4263-8850-97172B3B5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3788" y="2841625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057B4C70-F3D1-4AEB-9AA0-97185465A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4913313"/>
            <a:ext cx="64357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extra current changes voltage drop across r and thus V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ab</a:t>
            </a:r>
            <a:endParaRPr lang="en-US" altLang="en-US" sz="2400" baseline="-250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69685" name="Text Box 21">
            <a:extLst>
              <a:ext uri="{FF2B5EF4-FFF2-40B4-BE49-F238E27FC236}">
                <a16:creationId xmlns:a16="http://schemas.microsoft.com/office/drawing/2014/main" id="{44EACC13-6072-45ED-8483-9274D1E60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943600"/>
            <a:ext cx="8686800" cy="708025"/>
          </a:xfrm>
          <a:prstGeom prst="rect">
            <a:avLst/>
          </a:prstGeom>
          <a:solidFill>
            <a:srgbClr val="FFCCCC"/>
          </a:solidFill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8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To minimize error, voltmeter resistance r must be very large.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8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(ideal voltmeter would have infinite resistance)</a:t>
            </a:r>
            <a:endParaRPr lang="en-US" altLang="en-US" sz="20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15364" name="Text Box 23">
            <a:extLst>
              <a:ext uri="{FF2B5EF4-FFF2-40B4-BE49-F238E27FC236}">
                <a16:creationId xmlns:a16="http://schemas.microsoft.com/office/drawing/2014/main" id="{85E723F0-5A22-4DB7-9FFD-B5AF668E1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798888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voltmeter has </a:t>
            </a:r>
            <a:r>
              <a:rPr lang="en-US" altLang="en-US" sz="2400" b="1">
                <a:solidFill>
                  <a:srgbClr val="0070C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some resistance R</a:t>
            </a:r>
            <a:r>
              <a:rPr lang="en-US" altLang="en-US" sz="2400" b="1" baseline="-25000">
                <a:solidFill>
                  <a:srgbClr val="0070C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400" b="1">
                <a:solidFill>
                  <a:srgbClr val="0070C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endParaRPr lang="en-US" altLang="en-US" sz="2400" b="1">
              <a:solidFill>
                <a:srgbClr val="0070C0"/>
              </a:solidFill>
              <a:latin typeface="Tahoma" panose="020B0604030504040204" pitchFamily="34" charset="0"/>
            </a:endParaRPr>
          </a:p>
        </p:txBody>
      </p:sp>
      <p:sp>
        <p:nvSpPr>
          <p:cNvPr id="31" name="Text Box 23">
            <a:extLst>
              <a:ext uri="{FF2B5EF4-FFF2-40B4-BE49-F238E27FC236}">
                <a16:creationId xmlns:a16="http://schemas.microsoft.com/office/drawing/2014/main" id="{DF3435E8-66DD-4686-9222-8337C21D2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376738"/>
            <a:ext cx="8686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olidFill>
                  <a:srgbClr val="00B05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current</a:t>
            </a:r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  I</a:t>
            </a:r>
            <a:r>
              <a:rPr lang="en-US" altLang="en-US" sz="2400" baseline="-25000">
                <a:latin typeface="Tahoma" panose="020B0604030504040204" pitchFamily="34" charset="0"/>
                <a:cs typeface="Tahoma" panose="020B0604030504040204" pitchFamily="34" charset="0"/>
              </a:rPr>
              <a:t>V </a:t>
            </a:r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flows through voltmeter</a:t>
            </a:r>
          </a:p>
        </p:txBody>
      </p:sp>
      <p:sp>
        <p:nvSpPr>
          <p:cNvPr id="15366" name="Text Box 3">
            <a:extLst>
              <a:ext uri="{FF2B5EF4-FFF2-40B4-BE49-F238E27FC236}">
                <a16:creationId xmlns:a16="http://schemas.microsoft.com/office/drawing/2014/main" id="{32B0F50F-A25D-4739-8BA3-85A34E837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79413"/>
            <a:ext cx="7467600" cy="523875"/>
          </a:xfrm>
          <a:prstGeom prst="rect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FFFF"/>
                </a:solidFill>
                <a:latin typeface="Tahoma" panose="020B0604030504040204" pitchFamily="34" charset="0"/>
              </a:rPr>
              <a:t>Effect of voltmeter on circuit</a:t>
            </a:r>
            <a:endParaRPr lang="en-US" altLang="en-US" sz="280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15367" name="Text Box 16">
            <a:extLst>
              <a:ext uri="{FF2B5EF4-FFF2-40B4-BE49-F238E27FC236}">
                <a16:creationId xmlns:a16="http://schemas.microsoft.com/office/drawing/2014/main" id="{0F6CCA5A-188D-4D4F-A7FC-5059432A9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341438"/>
            <a:ext cx="55626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Measuring voltage (potential difference) </a:t>
            </a: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ab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in a simple circuit:</a:t>
            </a: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368" name="TextBox 28">
            <a:extLst>
              <a:ext uri="{FF2B5EF4-FFF2-40B4-BE49-F238E27FC236}">
                <a16:creationId xmlns:a16="http://schemas.microsoft.com/office/drawing/2014/main" id="{5D93F9E4-8625-4435-9C97-78CAD8D4B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2197100"/>
            <a:ext cx="4381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>
                <a:latin typeface="Tahoma" panose="020B0604030504040204" pitchFamily="34" charset="0"/>
              </a:rPr>
              <a:t>connect voltmeter in parallel</a:t>
            </a:r>
          </a:p>
        </p:txBody>
      </p:sp>
      <p:sp>
        <p:nvSpPr>
          <p:cNvPr id="15369" name="TextBox 29">
            <a:extLst>
              <a:ext uri="{FF2B5EF4-FFF2-40B4-BE49-F238E27FC236}">
                <a16:creationId xmlns:a16="http://schemas.microsoft.com/office/drawing/2014/main" id="{7095824A-7C60-466A-93DC-F489896B2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2895600"/>
            <a:ext cx="54292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Are we measuring the correct voltage?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(the voltage in the circuit without voltmeter)</a:t>
            </a:r>
          </a:p>
        </p:txBody>
      </p:sp>
      <p:sp>
        <p:nvSpPr>
          <p:cNvPr id="15370" name="Line 4">
            <a:extLst>
              <a:ext uri="{FF2B5EF4-FFF2-40B4-BE49-F238E27FC236}">
                <a16:creationId xmlns:a16="http://schemas.microsoft.com/office/drawing/2014/main" id="{D65E5C09-B4D8-491F-A673-EB072E7A541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659688" y="4478338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5371" name="Line 5">
            <a:extLst>
              <a:ext uri="{FF2B5EF4-FFF2-40B4-BE49-F238E27FC236}">
                <a16:creationId xmlns:a16="http://schemas.microsoft.com/office/drawing/2014/main" id="{6D7FB945-9555-4274-93E0-C97A7BA28D1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816850" y="4479926"/>
            <a:ext cx="206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5372" name="Freeform 6">
            <a:extLst>
              <a:ext uri="{FF2B5EF4-FFF2-40B4-BE49-F238E27FC236}">
                <a16:creationId xmlns:a16="http://schemas.microsoft.com/office/drawing/2014/main" id="{7E90D2F2-C4AC-40C8-A1C2-C654FC34362F}"/>
              </a:ext>
            </a:extLst>
          </p:cNvPr>
          <p:cNvSpPr>
            <a:spLocks/>
          </p:cNvSpPr>
          <p:nvPr/>
        </p:nvSpPr>
        <p:spPr bwMode="auto">
          <a:xfrm>
            <a:off x="6884988" y="2960688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5373" name="Line 7">
            <a:extLst>
              <a:ext uri="{FF2B5EF4-FFF2-40B4-BE49-F238E27FC236}">
                <a16:creationId xmlns:a16="http://schemas.microsoft.com/office/drawing/2014/main" id="{1109531E-5EC8-4986-B858-F51012CAEE3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7988" y="3113088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5374" name="Freeform 8">
            <a:extLst>
              <a:ext uri="{FF2B5EF4-FFF2-40B4-BE49-F238E27FC236}">
                <a16:creationId xmlns:a16="http://schemas.microsoft.com/office/drawing/2014/main" id="{2DC49FAC-1EF8-48E3-ACE5-B109AB4EAB6C}"/>
              </a:ext>
            </a:extLst>
          </p:cNvPr>
          <p:cNvSpPr>
            <a:spLocks/>
          </p:cNvSpPr>
          <p:nvPr/>
        </p:nvSpPr>
        <p:spPr bwMode="auto">
          <a:xfrm flipH="1">
            <a:off x="6211888" y="3113088"/>
            <a:ext cx="481012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5375" name="Line 9">
            <a:extLst>
              <a:ext uri="{FF2B5EF4-FFF2-40B4-BE49-F238E27FC236}">
                <a16:creationId xmlns:a16="http://schemas.microsoft.com/office/drawing/2014/main" id="{99FCE8BC-B656-4F48-9FA9-E09C6FDE7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9188" y="3113088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5376" name="Freeform 10">
            <a:extLst>
              <a:ext uri="{FF2B5EF4-FFF2-40B4-BE49-F238E27FC236}">
                <a16:creationId xmlns:a16="http://schemas.microsoft.com/office/drawing/2014/main" id="{BA544006-C92C-4EF9-86E9-D496FF454730}"/>
              </a:ext>
            </a:extLst>
          </p:cNvPr>
          <p:cNvSpPr>
            <a:spLocks/>
          </p:cNvSpPr>
          <p:nvPr/>
        </p:nvSpPr>
        <p:spPr bwMode="auto">
          <a:xfrm>
            <a:off x="7924800" y="3113088"/>
            <a:ext cx="8255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5377" name="Rectangle 11">
            <a:extLst>
              <a:ext uri="{FF2B5EF4-FFF2-40B4-BE49-F238E27FC236}">
                <a16:creationId xmlns:a16="http://schemas.microsoft.com/office/drawing/2014/main" id="{B48C0144-806A-41AD-931C-E066FA7FB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7913" y="4713288"/>
            <a:ext cx="993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=3 V</a:t>
            </a:r>
          </a:p>
        </p:txBody>
      </p:sp>
      <p:sp>
        <p:nvSpPr>
          <p:cNvPr id="15378" name="Rectangle 12">
            <a:extLst>
              <a:ext uri="{FF2B5EF4-FFF2-40B4-BE49-F238E27FC236}">
                <a16:creationId xmlns:a16="http://schemas.microsoft.com/office/drawing/2014/main" id="{41980E6A-B40F-426C-BB45-EC049751D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113" y="2505075"/>
            <a:ext cx="125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R=10 </a:t>
            </a:r>
          </a:p>
        </p:txBody>
      </p:sp>
      <p:sp>
        <p:nvSpPr>
          <p:cNvPr id="15379" name="Freeform 13">
            <a:extLst>
              <a:ext uri="{FF2B5EF4-FFF2-40B4-BE49-F238E27FC236}">
                <a16:creationId xmlns:a16="http://schemas.microsoft.com/office/drawing/2014/main" id="{FA357937-6FA2-4D5A-B376-DF958B91BC83}"/>
              </a:ext>
            </a:extLst>
          </p:cNvPr>
          <p:cNvSpPr>
            <a:spLocks/>
          </p:cNvSpPr>
          <p:nvPr/>
        </p:nvSpPr>
        <p:spPr bwMode="auto">
          <a:xfrm>
            <a:off x="6616700" y="4332288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5380" name="Rectangle 14">
            <a:extLst>
              <a:ext uri="{FF2B5EF4-FFF2-40B4-BE49-F238E27FC236}">
                <a16:creationId xmlns:a16="http://schemas.microsoft.com/office/drawing/2014/main" id="{40F35211-CB15-42B6-8EF7-17E5CA4F7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0" y="3875088"/>
            <a:ext cx="127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r=0.5 </a:t>
            </a:r>
          </a:p>
        </p:txBody>
      </p:sp>
      <p:sp>
        <p:nvSpPr>
          <p:cNvPr id="15381" name="Freeform 15">
            <a:extLst>
              <a:ext uri="{FF2B5EF4-FFF2-40B4-BE49-F238E27FC236}">
                <a16:creationId xmlns:a16="http://schemas.microsoft.com/office/drawing/2014/main" id="{DB268FA6-325F-4363-9FCD-34A46AFAA3F3}"/>
              </a:ext>
            </a:extLst>
          </p:cNvPr>
          <p:cNvSpPr>
            <a:spLocks/>
          </p:cNvSpPr>
          <p:nvPr/>
        </p:nvSpPr>
        <p:spPr bwMode="auto">
          <a:xfrm flipH="1" flipV="1">
            <a:off x="6211888" y="1757363"/>
            <a:ext cx="773112" cy="1355725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5382" name="Freeform 16">
            <a:extLst>
              <a:ext uri="{FF2B5EF4-FFF2-40B4-BE49-F238E27FC236}">
                <a16:creationId xmlns:a16="http://schemas.microsoft.com/office/drawing/2014/main" id="{F87FB99B-DAC8-45F6-96C1-8DFD235797FB}"/>
              </a:ext>
            </a:extLst>
          </p:cNvPr>
          <p:cNvSpPr>
            <a:spLocks/>
          </p:cNvSpPr>
          <p:nvPr/>
        </p:nvSpPr>
        <p:spPr bwMode="auto">
          <a:xfrm flipV="1">
            <a:off x="8027988" y="1757363"/>
            <a:ext cx="722312" cy="1355725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5383" name="Rectangle 21">
            <a:extLst>
              <a:ext uri="{FF2B5EF4-FFF2-40B4-BE49-F238E27FC236}">
                <a16:creationId xmlns:a16="http://schemas.microsoft.com/office/drawing/2014/main" id="{BBEA391A-FE27-47EC-AB4A-76F23707D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763" y="1112838"/>
            <a:ext cx="49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70C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70C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</a:t>
            </a:r>
          </a:p>
        </p:txBody>
      </p:sp>
      <p:sp>
        <p:nvSpPr>
          <p:cNvPr id="15384" name="Oval 22">
            <a:extLst>
              <a:ext uri="{FF2B5EF4-FFF2-40B4-BE49-F238E27FC236}">
                <a16:creationId xmlns:a16="http://schemas.microsoft.com/office/drawing/2014/main" id="{1D281F93-F269-4640-A1D7-2A2E8ABCEF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85213" y="3048000"/>
            <a:ext cx="119062" cy="119063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385" name="Oval 23">
            <a:extLst>
              <a:ext uri="{FF2B5EF4-FFF2-40B4-BE49-F238E27FC236}">
                <a16:creationId xmlns:a16="http://schemas.microsoft.com/office/drawing/2014/main" id="{B03411A7-FC0F-45D0-8516-B0E343F429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37275" y="3048000"/>
            <a:ext cx="119063" cy="119063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386" name="Rectangle 24">
            <a:extLst>
              <a:ext uri="{FF2B5EF4-FFF2-40B4-BE49-F238E27FC236}">
                <a16:creationId xmlns:a16="http://schemas.microsoft.com/office/drawing/2014/main" id="{624308E0-EF20-4BDD-89DA-DB85ACCAF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2830513"/>
            <a:ext cx="344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5387" name="Rectangle 25">
            <a:extLst>
              <a:ext uri="{FF2B5EF4-FFF2-40B4-BE49-F238E27FC236}">
                <a16:creationId xmlns:a16="http://schemas.microsoft.com/office/drawing/2014/main" id="{2057CB49-CEE4-4863-97A0-D6652BD68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3788" y="2841625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5388" name="Freeform 6">
            <a:extLst>
              <a:ext uri="{FF2B5EF4-FFF2-40B4-BE49-F238E27FC236}">
                <a16:creationId xmlns:a16="http://schemas.microsoft.com/office/drawing/2014/main" id="{FA15028F-D90D-40DE-AA96-359DAA99EEA4}"/>
              </a:ext>
            </a:extLst>
          </p:cNvPr>
          <p:cNvSpPr>
            <a:spLocks/>
          </p:cNvSpPr>
          <p:nvPr/>
        </p:nvSpPr>
        <p:spPr bwMode="auto">
          <a:xfrm>
            <a:off x="6854825" y="1604963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cxnSp>
        <p:nvCxnSpPr>
          <p:cNvPr id="15389" name="Straight Arrow Connector 2">
            <a:extLst>
              <a:ext uri="{FF2B5EF4-FFF2-40B4-BE49-F238E27FC236}">
                <a16:creationId xmlns:a16="http://schemas.microsoft.com/office/drawing/2014/main" id="{1BEF045E-DB43-4EAD-8C0E-BA23643FCF5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215063" y="1909763"/>
            <a:ext cx="0" cy="517525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90" name="Rectangle 21">
            <a:extLst>
              <a:ext uri="{FF2B5EF4-FFF2-40B4-BE49-F238E27FC236}">
                <a16:creationId xmlns:a16="http://schemas.microsoft.com/office/drawing/2014/main" id="{167836B8-AEA6-49E8-A63F-6190633B3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6975" y="1941513"/>
            <a:ext cx="422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B05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2400" baseline="-25000">
                <a:solidFill>
                  <a:srgbClr val="00B05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369685" grpId="0" animBg="1"/>
      <p:bldP spid="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58CFB22F-DCEE-4B88-B07D-45950B0E7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1000"/>
            <a:ext cx="8740775" cy="1570038"/>
          </a:xfrm>
          <a:prstGeom prst="rect">
            <a:avLst/>
          </a:prstGeom>
          <a:solidFill>
            <a:srgbClr val="339933"/>
          </a:solidFill>
          <a:ln w="38100" algn="ctr">
            <a:solidFill>
              <a:srgbClr val="0066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FFFF"/>
                </a:solidFill>
                <a:latin typeface="Tahoma" panose="020B0604030504040204" pitchFamily="34" charset="0"/>
              </a:rPr>
              <a:t>Example: a galvanometer of resistance 60 </a:t>
            </a:r>
            <a:r>
              <a:rPr lang="en-US" altLang="en-US" sz="2400">
                <a:solidFill>
                  <a:srgbClr val="FFFF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 is used to measure the voltage drop across a 10 k resistor in series with an ideal 6 V battery and a 5 k resistor. What is the relative error caused by the nonzero resistance of the galvanometer</a:t>
            </a:r>
            <a:r>
              <a:rPr lang="en-US" altLang="en-US" sz="2400">
                <a:solidFill>
                  <a:srgbClr val="FFFFFF"/>
                </a:solidFill>
                <a:latin typeface="Tahoma" panose="020B0604030504040204" pitchFamily="34" charset="0"/>
              </a:rPr>
              <a:t>?</a:t>
            </a: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907A2791-122B-4F60-B5EB-194387F24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62255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Actual voltage drop without instrument:</a:t>
            </a:r>
          </a:p>
        </p:txBody>
      </p:sp>
      <p:sp>
        <p:nvSpPr>
          <p:cNvPr id="16388" name="Line 4">
            <a:extLst>
              <a:ext uri="{FF2B5EF4-FFF2-40B4-BE49-F238E27FC236}">
                <a16:creationId xmlns:a16="http://schemas.microsoft.com/office/drawing/2014/main" id="{C7A32399-CF4B-4256-B3ED-EB64CCC1270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620000" y="464185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6389" name="Line 5">
            <a:extLst>
              <a:ext uri="{FF2B5EF4-FFF2-40B4-BE49-F238E27FC236}">
                <a16:creationId xmlns:a16="http://schemas.microsoft.com/office/drawing/2014/main" id="{59FB2A4E-A2A2-4F2D-B239-3A11BBF55E2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777162" y="4643438"/>
            <a:ext cx="206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6390" name="Freeform 6">
            <a:extLst>
              <a:ext uri="{FF2B5EF4-FFF2-40B4-BE49-F238E27FC236}">
                <a16:creationId xmlns:a16="http://schemas.microsoft.com/office/drawing/2014/main" id="{05ECDFBA-D7E4-4C61-BC31-94B3E3C1151D}"/>
              </a:ext>
            </a:extLst>
          </p:cNvPr>
          <p:cNvSpPr>
            <a:spLocks/>
          </p:cNvSpPr>
          <p:nvPr/>
        </p:nvSpPr>
        <p:spPr bwMode="auto">
          <a:xfrm>
            <a:off x="6845300" y="3124200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6391" name="Line 7">
            <a:extLst>
              <a:ext uri="{FF2B5EF4-FFF2-40B4-BE49-F238E27FC236}">
                <a16:creationId xmlns:a16="http://schemas.microsoft.com/office/drawing/2014/main" id="{32DB0139-E7A6-47AC-AC79-B888A94E0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8300" y="3276600"/>
            <a:ext cx="722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6392" name="Freeform 8">
            <a:extLst>
              <a:ext uri="{FF2B5EF4-FFF2-40B4-BE49-F238E27FC236}">
                <a16:creationId xmlns:a16="http://schemas.microsoft.com/office/drawing/2014/main" id="{6109F3F2-195A-4ECD-A36A-B1370D5615D6}"/>
              </a:ext>
            </a:extLst>
          </p:cNvPr>
          <p:cNvSpPr>
            <a:spLocks/>
          </p:cNvSpPr>
          <p:nvPr/>
        </p:nvSpPr>
        <p:spPr bwMode="auto">
          <a:xfrm flipH="1">
            <a:off x="6172200" y="3276600"/>
            <a:ext cx="481013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6393" name="Line 9">
            <a:extLst>
              <a:ext uri="{FF2B5EF4-FFF2-40B4-BE49-F238E27FC236}">
                <a16:creationId xmlns:a16="http://schemas.microsoft.com/office/drawing/2014/main" id="{7A2935C0-23A1-4BEC-A2D8-4BAE817DD7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9500" y="3276600"/>
            <a:ext cx="722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6394" name="Freeform 10">
            <a:extLst>
              <a:ext uri="{FF2B5EF4-FFF2-40B4-BE49-F238E27FC236}">
                <a16:creationId xmlns:a16="http://schemas.microsoft.com/office/drawing/2014/main" id="{CEFFBFF9-F589-4DCD-824F-DF0B22496814}"/>
              </a:ext>
            </a:extLst>
          </p:cNvPr>
          <p:cNvSpPr>
            <a:spLocks/>
          </p:cNvSpPr>
          <p:nvPr/>
        </p:nvSpPr>
        <p:spPr bwMode="auto">
          <a:xfrm>
            <a:off x="7885113" y="3276600"/>
            <a:ext cx="8255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9A87CE3D-993A-42C9-A940-BEF5415FD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150" y="4876800"/>
            <a:ext cx="103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V=6 V</a:t>
            </a:r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5E0FCD0A-8843-4E80-9CDE-3294864FE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663" y="2668588"/>
            <a:ext cx="1520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=10 k</a:t>
            </a:r>
          </a:p>
        </p:txBody>
      </p:sp>
      <p:sp>
        <p:nvSpPr>
          <p:cNvPr id="16397" name="Freeform 13">
            <a:extLst>
              <a:ext uri="{FF2B5EF4-FFF2-40B4-BE49-F238E27FC236}">
                <a16:creationId xmlns:a16="http://schemas.microsoft.com/office/drawing/2014/main" id="{EB97FED0-0960-4918-B361-6371155D6C26}"/>
              </a:ext>
            </a:extLst>
          </p:cNvPr>
          <p:cNvSpPr>
            <a:spLocks/>
          </p:cNvSpPr>
          <p:nvPr/>
        </p:nvSpPr>
        <p:spPr bwMode="auto">
          <a:xfrm>
            <a:off x="6577013" y="4495800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6398" name="Rectangle 14">
            <a:extLst>
              <a:ext uri="{FF2B5EF4-FFF2-40B4-BE49-F238E27FC236}">
                <a16:creationId xmlns:a16="http://schemas.microsoft.com/office/drawing/2014/main" id="{A60A0DA9-0656-4DE4-AEA9-30542CF9A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5725" y="4038600"/>
            <a:ext cx="1354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=5 k</a:t>
            </a:r>
          </a:p>
        </p:txBody>
      </p:sp>
      <p:sp>
        <p:nvSpPr>
          <p:cNvPr id="16399" name="Oval 15">
            <a:extLst>
              <a:ext uri="{FF2B5EF4-FFF2-40B4-BE49-F238E27FC236}">
                <a16:creationId xmlns:a16="http://schemas.microsoft.com/office/drawing/2014/main" id="{29574BE7-D405-4177-9ED3-7E79DB22D8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45525" y="3211513"/>
            <a:ext cx="119063" cy="119062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6400" name="Oval 16">
            <a:extLst>
              <a:ext uri="{FF2B5EF4-FFF2-40B4-BE49-F238E27FC236}">
                <a16:creationId xmlns:a16="http://schemas.microsoft.com/office/drawing/2014/main" id="{2C1FBA76-EEAE-4661-BFC9-28F40DEBCF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7588" y="3211513"/>
            <a:ext cx="119062" cy="119062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6401" name="Rectangle 17">
            <a:extLst>
              <a:ext uri="{FF2B5EF4-FFF2-40B4-BE49-F238E27FC236}">
                <a16:creationId xmlns:a16="http://schemas.microsoft.com/office/drawing/2014/main" id="{916265A6-6C4B-4E82-8017-0E289D363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2994025"/>
            <a:ext cx="34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6402" name="Rectangle 18">
            <a:extLst>
              <a:ext uri="{FF2B5EF4-FFF2-40B4-BE49-F238E27FC236}">
                <a16:creationId xmlns:a16="http://schemas.microsoft.com/office/drawing/2014/main" id="{D26C1E87-6977-4E97-89C1-044C78A59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4100" y="3005138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graphicFrame>
        <p:nvGraphicFramePr>
          <p:cNvPr id="377875" name="Object 19">
            <a:extLst>
              <a:ext uri="{FF2B5EF4-FFF2-40B4-BE49-F238E27FC236}">
                <a16:creationId xmlns:a16="http://schemas.microsoft.com/office/drawing/2014/main" id="{C5B86EC6-1BE8-4EE9-892A-F547E0B21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3263900"/>
          <a:ext cx="3327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63700" imgH="254000" progId="Equation.DSMT4">
                  <p:embed/>
                </p:oleObj>
              </mc:Choice>
              <mc:Fallback>
                <p:oleObj name="Equation" r:id="rId3" imgW="1663700" imgH="254000" progId="Equation.DSMT4">
                  <p:embed/>
                  <p:pic>
                    <p:nvPicPr>
                      <p:cNvPr id="377875" name="Object 19">
                        <a:extLst>
                          <a:ext uri="{FF2B5EF4-FFF2-40B4-BE49-F238E27FC236}">
                            <a16:creationId xmlns:a16="http://schemas.microsoft.com/office/drawing/2014/main" id="{C5B86EC6-1BE8-4EE9-892A-F547E0B214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263900"/>
                        <a:ext cx="3327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76" name="Object 20">
            <a:extLst>
              <a:ext uri="{FF2B5EF4-FFF2-40B4-BE49-F238E27FC236}">
                <a16:creationId xmlns:a16="http://schemas.microsoft.com/office/drawing/2014/main" id="{40CA127D-27CE-458B-BEC9-2ACEB54DDB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357421"/>
              </p:ext>
            </p:extLst>
          </p:nvPr>
        </p:nvGraphicFramePr>
        <p:xfrm>
          <a:off x="437321" y="3973926"/>
          <a:ext cx="4287077" cy="877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1700" imgH="444500" progId="Equation.DSMT4">
                  <p:embed/>
                </p:oleObj>
              </mc:Choice>
              <mc:Fallback>
                <p:oleObj name="Equation" r:id="rId5" imgW="2171700" imgH="444500" progId="Equation.DSMT4">
                  <p:embed/>
                  <p:pic>
                    <p:nvPicPr>
                      <p:cNvPr id="377876" name="Object 20">
                        <a:extLst>
                          <a:ext uri="{FF2B5EF4-FFF2-40B4-BE49-F238E27FC236}">
                            <a16:creationId xmlns:a16="http://schemas.microsoft.com/office/drawing/2014/main" id="{40CA127D-27CE-458B-BEC9-2ACEB54DDB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21" y="3973926"/>
                        <a:ext cx="4287077" cy="877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77" name="Object 21">
            <a:extLst>
              <a:ext uri="{FF2B5EF4-FFF2-40B4-BE49-F238E27FC236}">
                <a16:creationId xmlns:a16="http://schemas.microsoft.com/office/drawing/2014/main" id="{8ECAD088-0E2B-453C-BDB8-3470FFE635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477482"/>
              </p:ext>
            </p:extLst>
          </p:nvPr>
        </p:nvGraphicFramePr>
        <p:xfrm>
          <a:off x="431800" y="5118100"/>
          <a:ext cx="5130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65400" imgH="279400" progId="Equation.DSMT4">
                  <p:embed/>
                </p:oleObj>
              </mc:Choice>
              <mc:Fallback>
                <p:oleObj name="Equation" r:id="rId7" imgW="2565400" imgH="279400" progId="Equation.DSMT4">
                  <p:embed/>
                  <p:pic>
                    <p:nvPicPr>
                      <p:cNvPr id="377877" name="Object 21">
                        <a:extLst>
                          <a:ext uri="{FF2B5EF4-FFF2-40B4-BE49-F238E27FC236}">
                            <a16:creationId xmlns:a16="http://schemas.microsoft.com/office/drawing/2014/main" id="{8ECAD088-0E2B-453C-BDB8-3470FFE635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5118100"/>
                        <a:ext cx="5130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>
            <a:extLst>
              <a:ext uri="{FF2B5EF4-FFF2-40B4-BE49-F238E27FC236}">
                <a16:creationId xmlns:a16="http://schemas.microsoft.com/office/drawing/2014/main" id="{3275F786-5992-49DC-A7DF-594C8A2CF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1143000"/>
            <a:ext cx="2070100" cy="1143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411" name="Text Box 2">
            <a:extLst>
              <a:ext uri="{FF2B5EF4-FFF2-40B4-BE49-F238E27FC236}">
                <a16:creationId xmlns:a16="http://schemas.microsoft.com/office/drawing/2014/main" id="{6C5DEC83-840F-47CE-980F-EECA6D7D7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The measurement is made with the galvanometer.</a:t>
            </a:r>
          </a:p>
        </p:txBody>
      </p:sp>
      <p:sp>
        <p:nvSpPr>
          <p:cNvPr id="17412" name="Line 3">
            <a:extLst>
              <a:ext uri="{FF2B5EF4-FFF2-40B4-BE49-F238E27FC236}">
                <a16:creationId xmlns:a16="http://schemas.microsoft.com/office/drawing/2014/main" id="{1BB3AD0F-549C-4D11-8A73-ED78E2CC827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508875" y="4564063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7413" name="Line 4">
            <a:extLst>
              <a:ext uri="{FF2B5EF4-FFF2-40B4-BE49-F238E27FC236}">
                <a16:creationId xmlns:a16="http://schemas.microsoft.com/office/drawing/2014/main" id="{89C06F82-5FA1-460D-BE05-FED5587E53FC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666037" y="4565651"/>
            <a:ext cx="206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7414" name="Freeform 5">
            <a:extLst>
              <a:ext uri="{FF2B5EF4-FFF2-40B4-BE49-F238E27FC236}">
                <a16:creationId xmlns:a16="http://schemas.microsoft.com/office/drawing/2014/main" id="{75018525-09B7-4AFE-9255-4A8F281EF323}"/>
              </a:ext>
            </a:extLst>
          </p:cNvPr>
          <p:cNvSpPr>
            <a:spLocks/>
          </p:cNvSpPr>
          <p:nvPr/>
        </p:nvSpPr>
        <p:spPr bwMode="auto">
          <a:xfrm>
            <a:off x="6734175" y="3046413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7415" name="Line 6">
            <a:extLst>
              <a:ext uri="{FF2B5EF4-FFF2-40B4-BE49-F238E27FC236}">
                <a16:creationId xmlns:a16="http://schemas.microsoft.com/office/drawing/2014/main" id="{DCD3CBEA-3049-43D1-9B65-0A26C90656A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7175" y="3198813"/>
            <a:ext cx="722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7416" name="Freeform 7">
            <a:extLst>
              <a:ext uri="{FF2B5EF4-FFF2-40B4-BE49-F238E27FC236}">
                <a16:creationId xmlns:a16="http://schemas.microsoft.com/office/drawing/2014/main" id="{D8849E81-04ED-47B5-877C-B4A8F0E58B29}"/>
              </a:ext>
            </a:extLst>
          </p:cNvPr>
          <p:cNvSpPr>
            <a:spLocks/>
          </p:cNvSpPr>
          <p:nvPr/>
        </p:nvSpPr>
        <p:spPr bwMode="auto">
          <a:xfrm flipH="1">
            <a:off x="6061075" y="3198813"/>
            <a:ext cx="481013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7417" name="Line 8">
            <a:extLst>
              <a:ext uri="{FF2B5EF4-FFF2-40B4-BE49-F238E27FC236}">
                <a16:creationId xmlns:a16="http://schemas.microsoft.com/office/drawing/2014/main" id="{4CA1F5F6-6A41-4055-BB58-4DF8F97BB9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8375" y="3198813"/>
            <a:ext cx="722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7418" name="Freeform 9">
            <a:extLst>
              <a:ext uri="{FF2B5EF4-FFF2-40B4-BE49-F238E27FC236}">
                <a16:creationId xmlns:a16="http://schemas.microsoft.com/office/drawing/2014/main" id="{D7F5A848-A22B-4F53-A60C-D55C51581747}"/>
              </a:ext>
            </a:extLst>
          </p:cNvPr>
          <p:cNvSpPr>
            <a:spLocks/>
          </p:cNvSpPr>
          <p:nvPr/>
        </p:nvSpPr>
        <p:spPr bwMode="auto">
          <a:xfrm>
            <a:off x="7773988" y="3198813"/>
            <a:ext cx="8255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7419" name="Rectangle 10">
            <a:extLst>
              <a:ext uri="{FF2B5EF4-FFF2-40B4-BE49-F238E27FC236}">
                <a16:creationId xmlns:a16="http://schemas.microsoft.com/office/drawing/2014/main" id="{BD6B929C-CB2A-452B-BDB8-30EF19929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025" y="4799013"/>
            <a:ext cx="103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V=6 V</a:t>
            </a:r>
          </a:p>
        </p:txBody>
      </p:sp>
      <p:sp>
        <p:nvSpPr>
          <p:cNvPr id="17420" name="Rectangle 11">
            <a:extLst>
              <a:ext uri="{FF2B5EF4-FFF2-40B4-BE49-F238E27FC236}">
                <a16:creationId xmlns:a16="http://schemas.microsoft.com/office/drawing/2014/main" id="{67A8926F-338E-4EF6-9B18-7881B6882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38" y="2590800"/>
            <a:ext cx="1520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=10 k</a:t>
            </a:r>
          </a:p>
        </p:txBody>
      </p:sp>
      <p:sp>
        <p:nvSpPr>
          <p:cNvPr id="17421" name="Freeform 12">
            <a:extLst>
              <a:ext uri="{FF2B5EF4-FFF2-40B4-BE49-F238E27FC236}">
                <a16:creationId xmlns:a16="http://schemas.microsoft.com/office/drawing/2014/main" id="{D4C866EA-F489-4A4C-8217-4C99DDB5C497}"/>
              </a:ext>
            </a:extLst>
          </p:cNvPr>
          <p:cNvSpPr>
            <a:spLocks/>
          </p:cNvSpPr>
          <p:nvPr/>
        </p:nvSpPr>
        <p:spPr bwMode="auto">
          <a:xfrm>
            <a:off x="6465888" y="4418013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7422" name="Rectangle 13">
            <a:extLst>
              <a:ext uri="{FF2B5EF4-FFF2-40B4-BE49-F238E27FC236}">
                <a16:creationId xmlns:a16="http://schemas.microsoft.com/office/drawing/2014/main" id="{A208EAF1-C93A-4747-ACE3-CB51BC71D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3960813"/>
            <a:ext cx="1354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=5 k</a:t>
            </a:r>
          </a:p>
        </p:txBody>
      </p:sp>
      <p:sp>
        <p:nvSpPr>
          <p:cNvPr id="17423" name="Freeform 14">
            <a:extLst>
              <a:ext uri="{FF2B5EF4-FFF2-40B4-BE49-F238E27FC236}">
                <a16:creationId xmlns:a16="http://schemas.microsoft.com/office/drawing/2014/main" id="{A2459949-BD0E-43E6-948C-4B00D010A335}"/>
              </a:ext>
            </a:extLst>
          </p:cNvPr>
          <p:cNvSpPr>
            <a:spLocks/>
          </p:cNvSpPr>
          <p:nvPr/>
        </p:nvSpPr>
        <p:spPr bwMode="auto">
          <a:xfrm flipH="1" flipV="1">
            <a:off x="6061075" y="1827213"/>
            <a:ext cx="252413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7424" name="Freeform 15">
            <a:extLst>
              <a:ext uri="{FF2B5EF4-FFF2-40B4-BE49-F238E27FC236}">
                <a16:creationId xmlns:a16="http://schemas.microsoft.com/office/drawing/2014/main" id="{AC18FCF2-60B1-4705-9BAF-82EE6D3232A5}"/>
              </a:ext>
            </a:extLst>
          </p:cNvPr>
          <p:cNvSpPr>
            <a:spLocks/>
          </p:cNvSpPr>
          <p:nvPr/>
        </p:nvSpPr>
        <p:spPr bwMode="auto">
          <a:xfrm flipV="1">
            <a:off x="8142288" y="1827213"/>
            <a:ext cx="4572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grpSp>
        <p:nvGrpSpPr>
          <p:cNvPr id="17425" name="Group 16">
            <a:extLst>
              <a:ext uri="{FF2B5EF4-FFF2-40B4-BE49-F238E27FC236}">
                <a16:creationId xmlns:a16="http://schemas.microsoft.com/office/drawing/2014/main" id="{28FA1E68-8329-4694-AA5B-6CE05E4E5432}"/>
              </a:ext>
            </a:extLst>
          </p:cNvPr>
          <p:cNvGrpSpPr>
            <a:grpSpLocks/>
          </p:cNvGrpSpPr>
          <p:nvPr/>
        </p:nvGrpSpPr>
        <p:grpSpPr bwMode="auto">
          <a:xfrm>
            <a:off x="7532688" y="1522413"/>
            <a:ext cx="609600" cy="609600"/>
            <a:chOff x="1995" y="1632"/>
            <a:chExt cx="384" cy="384"/>
          </a:xfrm>
        </p:grpSpPr>
        <p:sp>
          <p:nvSpPr>
            <p:cNvPr id="17440" name="Oval 17">
              <a:extLst>
                <a:ext uri="{FF2B5EF4-FFF2-40B4-BE49-F238E27FC236}">
                  <a16:creationId xmlns:a16="http://schemas.microsoft.com/office/drawing/2014/main" id="{A53D466F-B243-424B-8D3E-FA883DA18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1632"/>
              <a:ext cx="384" cy="384"/>
            </a:xfrm>
            <a:prstGeom prst="ellipse">
              <a:avLst/>
            </a:prstGeom>
            <a:noFill/>
            <a:ln w="571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41" name="Rectangle 18">
              <a:extLst>
                <a:ext uri="{FF2B5EF4-FFF2-40B4-BE49-F238E27FC236}">
                  <a16:creationId xmlns:a16="http://schemas.microsoft.com/office/drawing/2014/main" id="{3013A222-DE11-4249-AEB6-EA0A58A4E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680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G</a:t>
              </a:r>
            </a:p>
          </p:txBody>
        </p:sp>
      </p:grpSp>
      <p:sp>
        <p:nvSpPr>
          <p:cNvPr id="17426" name="Freeform 19">
            <a:extLst>
              <a:ext uri="{FF2B5EF4-FFF2-40B4-BE49-F238E27FC236}">
                <a16:creationId xmlns:a16="http://schemas.microsoft.com/office/drawing/2014/main" id="{DECF391C-FEA4-45B9-BDDF-FC89F615B8FF}"/>
              </a:ext>
            </a:extLst>
          </p:cNvPr>
          <p:cNvSpPr>
            <a:spLocks/>
          </p:cNvSpPr>
          <p:nvPr/>
        </p:nvSpPr>
        <p:spPr bwMode="auto">
          <a:xfrm>
            <a:off x="6313488" y="1674813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7427" name="Rectangle 20">
            <a:extLst>
              <a:ext uri="{FF2B5EF4-FFF2-40B4-BE49-F238E27FC236}">
                <a16:creationId xmlns:a16="http://schemas.microsoft.com/office/drawing/2014/main" id="{1758EF5F-BCAA-4F3C-AA95-9404D72FE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150" y="1219200"/>
            <a:ext cx="1392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G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=60 </a:t>
            </a:r>
          </a:p>
        </p:txBody>
      </p:sp>
      <p:sp>
        <p:nvSpPr>
          <p:cNvPr id="17428" name="Oval 21">
            <a:extLst>
              <a:ext uri="{FF2B5EF4-FFF2-40B4-BE49-F238E27FC236}">
                <a16:creationId xmlns:a16="http://schemas.microsoft.com/office/drawing/2014/main" id="{3A56018E-F59F-4EA8-9518-00913E1D74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34400" y="3133725"/>
            <a:ext cx="119063" cy="119063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429" name="Oval 22">
            <a:extLst>
              <a:ext uri="{FF2B5EF4-FFF2-40B4-BE49-F238E27FC236}">
                <a16:creationId xmlns:a16="http://schemas.microsoft.com/office/drawing/2014/main" id="{1D0E4785-3C76-4045-A0F0-569CA3F3D2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6463" y="3133725"/>
            <a:ext cx="119062" cy="119063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430" name="Rectangle 23">
            <a:extLst>
              <a:ext uri="{FF2B5EF4-FFF2-40B4-BE49-F238E27FC236}">
                <a16:creationId xmlns:a16="http://schemas.microsoft.com/office/drawing/2014/main" id="{3B55D0FC-8A20-41EC-9D56-2C5629371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2916238"/>
            <a:ext cx="34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7431" name="Rectangle 24">
            <a:extLst>
              <a:ext uri="{FF2B5EF4-FFF2-40B4-BE49-F238E27FC236}">
                <a16:creationId xmlns:a16="http://schemas.microsoft.com/office/drawing/2014/main" id="{DB29AAAF-CD47-40B2-B9A7-F55F73DE9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5" y="2927350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378905" name="Text Box 25">
            <a:extLst>
              <a:ext uri="{FF2B5EF4-FFF2-40B4-BE49-F238E27FC236}">
                <a16:creationId xmlns:a16="http://schemas.microsoft.com/office/drawing/2014/main" id="{141E2397-9FD9-451A-9B75-3121F0A4D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42975"/>
            <a:ext cx="558641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60 </a:t>
            </a:r>
            <a:r>
              <a:rPr lang="en-US" altLang="en-US" sz="2400" dirty="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 and 10 k resistors in parallel are equivalent to 59.6  resistor.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Total equivalent resistance: 5059.6 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Total current:  I=1.186x10</a:t>
            </a:r>
            <a:r>
              <a:rPr lang="en-US" altLang="en-US" sz="2400" baseline="30000" dirty="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-3</a:t>
            </a:r>
            <a:r>
              <a:rPr lang="en-US" altLang="en-US" sz="2400" dirty="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A</a:t>
            </a:r>
          </a:p>
        </p:txBody>
      </p:sp>
      <p:sp>
        <p:nvSpPr>
          <p:cNvPr id="378906" name="Line 26">
            <a:extLst>
              <a:ext uri="{FF2B5EF4-FFF2-40B4-BE49-F238E27FC236}">
                <a16:creationId xmlns:a16="http://schemas.microsoft.com/office/drawing/2014/main" id="{F5935AD0-A73B-4126-901F-89B58E67B1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50292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378907" name="Rectangle 27">
            <a:extLst>
              <a:ext uri="{FF2B5EF4-FFF2-40B4-BE49-F238E27FC236}">
                <a16:creationId xmlns:a16="http://schemas.microsoft.com/office/drawing/2014/main" id="{8B513E02-F9B2-45C0-8A26-594244FD9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0550" y="5029200"/>
            <a:ext cx="164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I=1.19 mA</a:t>
            </a:r>
          </a:p>
        </p:txBody>
      </p:sp>
      <p:sp>
        <p:nvSpPr>
          <p:cNvPr id="378908" name="Text Box 28">
            <a:extLst>
              <a:ext uri="{FF2B5EF4-FFF2-40B4-BE49-F238E27FC236}">
                <a16:creationId xmlns:a16="http://schemas.microsoft.com/office/drawing/2014/main" id="{C54594A0-AAC1-4252-ABEF-69F75ECED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3498849"/>
            <a:ext cx="5105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V</a:t>
            </a:r>
            <a:r>
              <a:rPr lang="en-US" altLang="en-US" sz="2400" baseline="-25000" dirty="0" err="1">
                <a:solidFill>
                  <a:srgbClr val="000000"/>
                </a:solidFill>
                <a:latin typeface="Tahoma" panose="020B0604030504040204" pitchFamily="34" charset="0"/>
              </a:rPr>
              <a:t>ab</a:t>
            </a:r>
            <a:r>
              <a:rPr lang="en-US" alt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 = 6V – IR</a:t>
            </a:r>
            <a:r>
              <a:rPr lang="en-US" altLang="en-US" sz="2400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  <a:r>
              <a:rPr lang="en-US" alt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 = 0.07 V</a:t>
            </a:r>
            <a:r>
              <a:rPr lang="en-US" altLang="en-US" sz="2400" dirty="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78909" name="Text Box 29">
            <a:extLst>
              <a:ext uri="{FF2B5EF4-FFF2-40B4-BE49-F238E27FC236}">
                <a16:creationId xmlns:a16="http://schemas.microsoft.com/office/drawing/2014/main" id="{30F2198E-6834-43CA-A4F9-FED571EDA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303713"/>
            <a:ext cx="510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The relative error is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:</a:t>
            </a:r>
          </a:p>
        </p:txBody>
      </p:sp>
      <p:graphicFrame>
        <p:nvGraphicFramePr>
          <p:cNvPr id="378910" name="Object 30">
            <a:extLst>
              <a:ext uri="{FF2B5EF4-FFF2-40B4-BE49-F238E27FC236}">
                <a16:creationId xmlns:a16="http://schemas.microsoft.com/office/drawing/2014/main" id="{36C1B45A-9F43-4C88-A619-48B71DFFAE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4862513"/>
          <a:ext cx="3937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68500" imgH="393700" progId="Equation.DSMT4">
                  <p:embed/>
                </p:oleObj>
              </mc:Choice>
              <mc:Fallback>
                <p:oleObj name="Equation" r:id="rId3" imgW="1968500" imgH="393700" progId="Equation.DSMT4">
                  <p:embed/>
                  <p:pic>
                    <p:nvPicPr>
                      <p:cNvPr id="378910" name="Object 30">
                        <a:extLst>
                          <a:ext uri="{FF2B5EF4-FFF2-40B4-BE49-F238E27FC236}">
                            <a16:creationId xmlns:a16="http://schemas.microsoft.com/office/drawing/2014/main" id="{36C1B45A-9F43-4C88-A619-48B71DFFAE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862513"/>
                        <a:ext cx="3937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1" name="Text Box 31">
            <a:extLst>
              <a:ext uri="{FF2B5EF4-FFF2-40B4-BE49-F238E27FC236}">
                <a16:creationId xmlns:a16="http://schemas.microsoft.com/office/drawing/2014/main" id="{2EC9EA16-E7C4-4D72-B206-04048D18F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718175"/>
            <a:ext cx="8839200" cy="400050"/>
          </a:xfrm>
          <a:prstGeom prst="rect">
            <a:avLst/>
          </a:prstGeom>
          <a:solidFill>
            <a:srgbClr val="CC99FF"/>
          </a:solidFill>
          <a:ln w="38100" algn="ctr">
            <a:solidFill>
              <a:srgbClr val="80008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80008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Would you pay for this voltmeter?</a:t>
            </a:r>
            <a:endParaRPr lang="en-US" altLang="en-US" sz="2000">
              <a:solidFill>
                <a:srgbClr val="800080"/>
              </a:solidFill>
              <a:latin typeface="Tahoma" panose="020B0604030504040204" pitchFamily="34" charset="0"/>
            </a:endParaRP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8E3BFF1F-0453-4906-A87D-5FF5AF70A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718175"/>
            <a:ext cx="8839200" cy="708025"/>
          </a:xfrm>
          <a:prstGeom prst="rect">
            <a:avLst/>
          </a:prstGeom>
          <a:solidFill>
            <a:srgbClr val="CC99FF"/>
          </a:solidFill>
          <a:ln w="38100" algn="ctr">
            <a:solidFill>
              <a:srgbClr val="80008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80008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Would you pay for this voltmeter?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80008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We need a better instrument!</a:t>
            </a:r>
            <a:endParaRPr lang="en-US" altLang="en-US" sz="2000">
              <a:solidFill>
                <a:srgbClr val="800080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8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78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8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8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5" grpId="0"/>
      <p:bldP spid="378907" grpId="0"/>
      <p:bldP spid="378908" grpId="0"/>
      <p:bldP spid="378909" grpId="0"/>
      <p:bldP spid="378911" grpId="0" animBg="1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8E63EE2C-0B7F-4481-9F40-8C99630A6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1000"/>
            <a:ext cx="8740775" cy="1570038"/>
          </a:xfrm>
          <a:prstGeom prst="rect">
            <a:avLst/>
          </a:prstGeom>
          <a:solidFill>
            <a:srgbClr val="339933"/>
          </a:solidFill>
          <a:ln w="38100" algn="ctr">
            <a:solidFill>
              <a:srgbClr val="0066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FFFF"/>
                </a:solidFill>
                <a:latin typeface="Tahoma" panose="020B0604030504040204" pitchFamily="34" charset="0"/>
              </a:rPr>
              <a:t>Example: a voltmeter of resistance 100 k</a:t>
            </a:r>
            <a:r>
              <a:rPr lang="en-US" altLang="en-US" sz="2400">
                <a:solidFill>
                  <a:srgbClr val="FFFF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 is used to measure the voltage drop across a 10 k resistor in series with an ideal  6 V battery and a 5 k resistor. What is the percent error caused by the nonzero resistance of the voltmeter</a:t>
            </a:r>
            <a:r>
              <a:rPr lang="en-US" altLang="en-US" sz="2400">
                <a:solidFill>
                  <a:srgbClr val="FFFFFF"/>
                </a:solidFill>
                <a:latin typeface="Tahoma" panose="020B0604030504040204" pitchFamily="34" charset="0"/>
              </a:rPr>
              <a:t>?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AB2FA3EB-B957-4E81-A23A-43EAA55EF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835275"/>
            <a:ext cx="5105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We already calculated the actual voltage drop (2 slides back).</a:t>
            </a:r>
          </a:p>
        </p:txBody>
      </p:sp>
      <p:sp>
        <p:nvSpPr>
          <p:cNvPr id="18436" name="Line 4">
            <a:extLst>
              <a:ext uri="{FF2B5EF4-FFF2-40B4-BE49-F238E27FC236}">
                <a16:creationId xmlns:a16="http://schemas.microsoft.com/office/drawing/2014/main" id="{AAC2DC69-DAB7-4C43-AF53-A186DB27452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508875" y="441325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8437" name="Line 5">
            <a:extLst>
              <a:ext uri="{FF2B5EF4-FFF2-40B4-BE49-F238E27FC236}">
                <a16:creationId xmlns:a16="http://schemas.microsoft.com/office/drawing/2014/main" id="{1724E455-7AF2-4B51-BAAE-C9DE9423AFD6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666037" y="4414838"/>
            <a:ext cx="206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8438" name="Freeform 6">
            <a:extLst>
              <a:ext uri="{FF2B5EF4-FFF2-40B4-BE49-F238E27FC236}">
                <a16:creationId xmlns:a16="http://schemas.microsoft.com/office/drawing/2014/main" id="{71764F54-03AD-4474-8EF5-20886F783DA6}"/>
              </a:ext>
            </a:extLst>
          </p:cNvPr>
          <p:cNvSpPr>
            <a:spLocks/>
          </p:cNvSpPr>
          <p:nvPr/>
        </p:nvSpPr>
        <p:spPr bwMode="auto">
          <a:xfrm>
            <a:off x="6734175" y="2895600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8439" name="Line 7">
            <a:extLst>
              <a:ext uri="{FF2B5EF4-FFF2-40B4-BE49-F238E27FC236}">
                <a16:creationId xmlns:a16="http://schemas.microsoft.com/office/drawing/2014/main" id="{6AD3618F-08A8-411A-BAC2-6AFE9B3C0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7175" y="3048000"/>
            <a:ext cx="722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8440" name="Freeform 8">
            <a:extLst>
              <a:ext uri="{FF2B5EF4-FFF2-40B4-BE49-F238E27FC236}">
                <a16:creationId xmlns:a16="http://schemas.microsoft.com/office/drawing/2014/main" id="{DFD8AFC3-7561-4422-A805-E2474B1402EE}"/>
              </a:ext>
            </a:extLst>
          </p:cNvPr>
          <p:cNvSpPr>
            <a:spLocks/>
          </p:cNvSpPr>
          <p:nvPr/>
        </p:nvSpPr>
        <p:spPr bwMode="auto">
          <a:xfrm flipH="1">
            <a:off x="6061075" y="3048000"/>
            <a:ext cx="481013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8441" name="Line 9">
            <a:extLst>
              <a:ext uri="{FF2B5EF4-FFF2-40B4-BE49-F238E27FC236}">
                <a16:creationId xmlns:a16="http://schemas.microsoft.com/office/drawing/2014/main" id="{701135D1-9F82-4C4D-8D8C-D221F70D52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8375" y="3048000"/>
            <a:ext cx="722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8442" name="Freeform 10">
            <a:extLst>
              <a:ext uri="{FF2B5EF4-FFF2-40B4-BE49-F238E27FC236}">
                <a16:creationId xmlns:a16="http://schemas.microsoft.com/office/drawing/2014/main" id="{70A0D02A-6443-48E3-8065-2BDA39AE97A6}"/>
              </a:ext>
            </a:extLst>
          </p:cNvPr>
          <p:cNvSpPr>
            <a:spLocks/>
          </p:cNvSpPr>
          <p:nvPr/>
        </p:nvSpPr>
        <p:spPr bwMode="auto">
          <a:xfrm>
            <a:off x="7773988" y="3048000"/>
            <a:ext cx="8255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0F07B062-AD92-4DC6-AAAA-02AC7E8FA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025" y="4648200"/>
            <a:ext cx="103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V=6 V</a:t>
            </a:r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3458EE70-F6CD-4032-BE5B-DA3DDE009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38" y="2439988"/>
            <a:ext cx="1520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=10 k</a:t>
            </a:r>
          </a:p>
        </p:txBody>
      </p:sp>
      <p:sp>
        <p:nvSpPr>
          <p:cNvPr id="18445" name="Freeform 13">
            <a:extLst>
              <a:ext uri="{FF2B5EF4-FFF2-40B4-BE49-F238E27FC236}">
                <a16:creationId xmlns:a16="http://schemas.microsoft.com/office/drawing/2014/main" id="{99631C21-E74E-4098-8D4E-9F8B39C2C744}"/>
              </a:ext>
            </a:extLst>
          </p:cNvPr>
          <p:cNvSpPr>
            <a:spLocks/>
          </p:cNvSpPr>
          <p:nvPr/>
        </p:nvSpPr>
        <p:spPr bwMode="auto">
          <a:xfrm>
            <a:off x="6465888" y="4267200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8446" name="Rectangle 14">
            <a:extLst>
              <a:ext uri="{FF2B5EF4-FFF2-40B4-BE49-F238E27FC236}">
                <a16:creationId xmlns:a16="http://schemas.microsoft.com/office/drawing/2014/main" id="{D4578B6B-5F2C-4FFD-A203-2ED137918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810000"/>
            <a:ext cx="1354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=5 k</a:t>
            </a:r>
          </a:p>
        </p:txBody>
      </p:sp>
      <p:sp>
        <p:nvSpPr>
          <p:cNvPr id="18447" name="Oval 15">
            <a:extLst>
              <a:ext uri="{FF2B5EF4-FFF2-40B4-BE49-F238E27FC236}">
                <a16:creationId xmlns:a16="http://schemas.microsoft.com/office/drawing/2014/main" id="{1426D0FE-649F-428E-A492-94696D5322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34400" y="2982913"/>
            <a:ext cx="119063" cy="119062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8448" name="Oval 16">
            <a:extLst>
              <a:ext uri="{FF2B5EF4-FFF2-40B4-BE49-F238E27FC236}">
                <a16:creationId xmlns:a16="http://schemas.microsoft.com/office/drawing/2014/main" id="{71079914-1B11-46D9-8182-413A9DC86F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6463" y="2982913"/>
            <a:ext cx="119062" cy="119062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8449" name="Rectangle 17">
            <a:extLst>
              <a:ext uri="{FF2B5EF4-FFF2-40B4-BE49-F238E27FC236}">
                <a16:creationId xmlns:a16="http://schemas.microsoft.com/office/drawing/2014/main" id="{220D0AB6-721C-4422-9042-3758AD0A7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2765425"/>
            <a:ext cx="34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8450" name="Rectangle 18">
            <a:extLst>
              <a:ext uri="{FF2B5EF4-FFF2-40B4-BE49-F238E27FC236}">
                <a16:creationId xmlns:a16="http://schemas.microsoft.com/office/drawing/2014/main" id="{60FA9491-4704-4761-BE1D-A1D2AD3BD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5" y="2776538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graphicFrame>
        <p:nvGraphicFramePr>
          <p:cNvPr id="18451" name="Object 19">
            <a:extLst>
              <a:ext uri="{FF2B5EF4-FFF2-40B4-BE49-F238E27FC236}">
                <a16:creationId xmlns:a16="http://schemas.microsoft.com/office/drawing/2014/main" id="{82FEB24C-239D-49EE-9D57-9A5460EC53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600" y="4114800"/>
          <a:ext cx="5130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65400" imgH="279400" progId="Equation.DSMT4">
                  <p:embed/>
                </p:oleObj>
              </mc:Choice>
              <mc:Fallback>
                <p:oleObj name="Equation" r:id="rId3" imgW="2565400" imgH="279400" progId="Equation.DSMT4">
                  <p:embed/>
                  <p:pic>
                    <p:nvPicPr>
                      <p:cNvPr id="18451" name="Object 19">
                        <a:extLst>
                          <a:ext uri="{FF2B5EF4-FFF2-40B4-BE49-F238E27FC236}">
                            <a16:creationId xmlns:a16="http://schemas.microsoft.com/office/drawing/2014/main" id="{82FEB24C-239D-49EE-9D57-9A5460EC53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" y="4114800"/>
                        <a:ext cx="5130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AF6C1D25-CD4F-44AC-B21E-10D7DD2E9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The measurement is now made with the “better” voltmeter.</a:t>
            </a:r>
          </a:p>
        </p:txBody>
      </p:sp>
      <p:sp>
        <p:nvSpPr>
          <p:cNvPr id="19459" name="Line 3">
            <a:extLst>
              <a:ext uri="{FF2B5EF4-FFF2-40B4-BE49-F238E27FC236}">
                <a16:creationId xmlns:a16="http://schemas.microsoft.com/office/drawing/2014/main" id="{DA59D277-A506-4E75-9C29-E5CDCEF3859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508875" y="4564063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F1A50DCC-55E2-4F2A-9777-AE827F1F7DD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666037" y="4565651"/>
            <a:ext cx="206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9461" name="Freeform 5">
            <a:extLst>
              <a:ext uri="{FF2B5EF4-FFF2-40B4-BE49-F238E27FC236}">
                <a16:creationId xmlns:a16="http://schemas.microsoft.com/office/drawing/2014/main" id="{88244224-1751-4C71-A400-7BEF25DA49B7}"/>
              </a:ext>
            </a:extLst>
          </p:cNvPr>
          <p:cNvSpPr>
            <a:spLocks/>
          </p:cNvSpPr>
          <p:nvPr/>
        </p:nvSpPr>
        <p:spPr bwMode="auto">
          <a:xfrm>
            <a:off x="6734175" y="3046413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9462" name="Line 6">
            <a:extLst>
              <a:ext uri="{FF2B5EF4-FFF2-40B4-BE49-F238E27FC236}">
                <a16:creationId xmlns:a16="http://schemas.microsoft.com/office/drawing/2014/main" id="{4537EF4B-C031-4F7C-A581-CB7159B4EF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7175" y="3198813"/>
            <a:ext cx="722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9463" name="Freeform 7">
            <a:extLst>
              <a:ext uri="{FF2B5EF4-FFF2-40B4-BE49-F238E27FC236}">
                <a16:creationId xmlns:a16="http://schemas.microsoft.com/office/drawing/2014/main" id="{2D287486-BEFF-4CBC-83EF-BCA7F5923135}"/>
              </a:ext>
            </a:extLst>
          </p:cNvPr>
          <p:cNvSpPr>
            <a:spLocks/>
          </p:cNvSpPr>
          <p:nvPr/>
        </p:nvSpPr>
        <p:spPr bwMode="auto">
          <a:xfrm flipH="1">
            <a:off x="6061075" y="3198813"/>
            <a:ext cx="481013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9464" name="Line 8">
            <a:extLst>
              <a:ext uri="{FF2B5EF4-FFF2-40B4-BE49-F238E27FC236}">
                <a16:creationId xmlns:a16="http://schemas.microsoft.com/office/drawing/2014/main" id="{1FA6C867-88A2-4A1D-8AF1-82D788AEDD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8375" y="3198813"/>
            <a:ext cx="722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9465" name="Freeform 9">
            <a:extLst>
              <a:ext uri="{FF2B5EF4-FFF2-40B4-BE49-F238E27FC236}">
                <a16:creationId xmlns:a16="http://schemas.microsoft.com/office/drawing/2014/main" id="{BFD59720-7942-48BA-B315-312687738EDD}"/>
              </a:ext>
            </a:extLst>
          </p:cNvPr>
          <p:cNvSpPr>
            <a:spLocks/>
          </p:cNvSpPr>
          <p:nvPr/>
        </p:nvSpPr>
        <p:spPr bwMode="auto">
          <a:xfrm>
            <a:off x="7773988" y="3198813"/>
            <a:ext cx="8255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9466" name="Rectangle 10">
            <a:extLst>
              <a:ext uri="{FF2B5EF4-FFF2-40B4-BE49-F238E27FC236}">
                <a16:creationId xmlns:a16="http://schemas.microsoft.com/office/drawing/2014/main" id="{4ECFD7BB-E587-4329-B033-E1264E661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025" y="4799013"/>
            <a:ext cx="103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V=6 V</a:t>
            </a:r>
          </a:p>
        </p:txBody>
      </p:sp>
      <p:sp>
        <p:nvSpPr>
          <p:cNvPr id="19467" name="Rectangle 11">
            <a:extLst>
              <a:ext uri="{FF2B5EF4-FFF2-40B4-BE49-F238E27FC236}">
                <a16:creationId xmlns:a16="http://schemas.microsoft.com/office/drawing/2014/main" id="{E22D2CE6-71AC-4E18-AF1F-755DF544A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38" y="2590800"/>
            <a:ext cx="1520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=10 k</a:t>
            </a:r>
          </a:p>
        </p:txBody>
      </p:sp>
      <p:sp>
        <p:nvSpPr>
          <p:cNvPr id="19468" name="Freeform 12">
            <a:extLst>
              <a:ext uri="{FF2B5EF4-FFF2-40B4-BE49-F238E27FC236}">
                <a16:creationId xmlns:a16="http://schemas.microsoft.com/office/drawing/2014/main" id="{88331E5B-BFAE-43ED-BA36-36985CA516E6}"/>
              </a:ext>
            </a:extLst>
          </p:cNvPr>
          <p:cNvSpPr>
            <a:spLocks/>
          </p:cNvSpPr>
          <p:nvPr/>
        </p:nvSpPr>
        <p:spPr bwMode="auto">
          <a:xfrm>
            <a:off x="6465888" y="4418013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9469" name="Rectangle 13">
            <a:extLst>
              <a:ext uri="{FF2B5EF4-FFF2-40B4-BE49-F238E27FC236}">
                <a16:creationId xmlns:a16="http://schemas.microsoft.com/office/drawing/2014/main" id="{45F3B149-1437-4BC2-AF03-640FD96D2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3960813"/>
            <a:ext cx="1354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=5 k</a:t>
            </a:r>
          </a:p>
        </p:txBody>
      </p:sp>
      <p:sp>
        <p:nvSpPr>
          <p:cNvPr id="19470" name="Freeform 14">
            <a:extLst>
              <a:ext uri="{FF2B5EF4-FFF2-40B4-BE49-F238E27FC236}">
                <a16:creationId xmlns:a16="http://schemas.microsoft.com/office/drawing/2014/main" id="{00AC08DC-54A5-431C-8E7C-D8CCA5A5E612}"/>
              </a:ext>
            </a:extLst>
          </p:cNvPr>
          <p:cNvSpPr>
            <a:spLocks/>
          </p:cNvSpPr>
          <p:nvPr/>
        </p:nvSpPr>
        <p:spPr bwMode="auto">
          <a:xfrm flipH="1" flipV="1">
            <a:off x="6061075" y="1827213"/>
            <a:ext cx="252413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19471" name="Freeform 15">
            <a:extLst>
              <a:ext uri="{FF2B5EF4-FFF2-40B4-BE49-F238E27FC236}">
                <a16:creationId xmlns:a16="http://schemas.microsoft.com/office/drawing/2014/main" id="{3DA04D8B-0329-4EC9-9458-5B774C666518}"/>
              </a:ext>
            </a:extLst>
          </p:cNvPr>
          <p:cNvSpPr>
            <a:spLocks/>
          </p:cNvSpPr>
          <p:nvPr/>
        </p:nvSpPr>
        <p:spPr bwMode="auto">
          <a:xfrm flipV="1">
            <a:off x="8142288" y="1827213"/>
            <a:ext cx="457200" cy="1371600"/>
          </a:xfrm>
          <a:custGeom>
            <a:avLst/>
            <a:gdLst>
              <a:gd name="T0" fmla="*/ 0 w 576"/>
              <a:gd name="T1" fmla="*/ 2147483646 h 672"/>
              <a:gd name="T2" fmla="*/ 2147483646 w 576"/>
              <a:gd name="T3" fmla="*/ 2147483646 h 672"/>
              <a:gd name="T4" fmla="*/ 2147483646 w 576"/>
              <a:gd name="T5" fmla="*/ 0 h 672"/>
              <a:gd name="T6" fmla="*/ 2147483646 w 576"/>
              <a:gd name="T7" fmla="*/ 2147483646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672"/>
              <a:gd name="T14" fmla="*/ 576 w 576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672">
                <a:moveTo>
                  <a:pt x="0" y="672"/>
                </a:moveTo>
                <a:lnTo>
                  <a:pt x="576" y="672"/>
                </a:lnTo>
                <a:lnTo>
                  <a:pt x="576" y="0"/>
                </a:lnTo>
                <a:lnTo>
                  <a:pt x="576" y="4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grpSp>
        <p:nvGrpSpPr>
          <p:cNvPr id="19472" name="Group 16">
            <a:extLst>
              <a:ext uri="{FF2B5EF4-FFF2-40B4-BE49-F238E27FC236}">
                <a16:creationId xmlns:a16="http://schemas.microsoft.com/office/drawing/2014/main" id="{E86187E4-DBF4-450C-B3C1-78FE164736A9}"/>
              </a:ext>
            </a:extLst>
          </p:cNvPr>
          <p:cNvGrpSpPr>
            <a:grpSpLocks/>
          </p:cNvGrpSpPr>
          <p:nvPr/>
        </p:nvGrpSpPr>
        <p:grpSpPr bwMode="auto">
          <a:xfrm>
            <a:off x="7532688" y="1522413"/>
            <a:ext cx="609600" cy="609600"/>
            <a:chOff x="1995" y="1632"/>
            <a:chExt cx="384" cy="384"/>
          </a:xfrm>
        </p:grpSpPr>
        <p:sp>
          <p:nvSpPr>
            <p:cNvPr id="19487" name="Oval 17">
              <a:extLst>
                <a:ext uri="{FF2B5EF4-FFF2-40B4-BE49-F238E27FC236}">
                  <a16:creationId xmlns:a16="http://schemas.microsoft.com/office/drawing/2014/main" id="{0E63D408-1181-4B2D-B7EA-182319964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1632"/>
              <a:ext cx="384" cy="384"/>
            </a:xfrm>
            <a:prstGeom prst="ellipse">
              <a:avLst/>
            </a:prstGeom>
            <a:noFill/>
            <a:ln w="571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488" name="Rectangle 18">
              <a:extLst>
                <a:ext uri="{FF2B5EF4-FFF2-40B4-BE49-F238E27FC236}">
                  <a16:creationId xmlns:a16="http://schemas.microsoft.com/office/drawing/2014/main" id="{092A2F87-E9E7-45E8-BECE-F325FB57B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680"/>
              <a:ext cx="23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V</a:t>
              </a:r>
            </a:p>
          </p:txBody>
        </p:sp>
      </p:grpSp>
      <p:sp>
        <p:nvSpPr>
          <p:cNvPr id="19473" name="Freeform 19">
            <a:extLst>
              <a:ext uri="{FF2B5EF4-FFF2-40B4-BE49-F238E27FC236}">
                <a16:creationId xmlns:a16="http://schemas.microsoft.com/office/drawing/2014/main" id="{F8DCAFE7-2883-4362-B088-B85A116AEF0A}"/>
              </a:ext>
            </a:extLst>
          </p:cNvPr>
          <p:cNvSpPr>
            <a:spLocks/>
          </p:cNvSpPr>
          <p:nvPr/>
        </p:nvSpPr>
        <p:spPr bwMode="auto">
          <a:xfrm>
            <a:off x="6313488" y="1674813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19474" name="Rectangle 20">
            <a:extLst>
              <a:ext uri="{FF2B5EF4-FFF2-40B4-BE49-F238E27FC236}">
                <a16:creationId xmlns:a16="http://schemas.microsoft.com/office/drawing/2014/main" id="{110195CD-3728-4F32-9CAD-60D057C44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219200"/>
            <a:ext cx="1711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=100 k</a:t>
            </a:r>
          </a:p>
        </p:txBody>
      </p:sp>
      <p:sp>
        <p:nvSpPr>
          <p:cNvPr id="19475" name="Oval 21">
            <a:extLst>
              <a:ext uri="{FF2B5EF4-FFF2-40B4-BE49-F238E27FC236}">
                <a16:creationId xmlns:a16="http://schemas.microsoft.com/office/drawing/2014/main" id="{C812DDA9-4B50-4A51-883D-811F6A97D6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34400" y="3133725"/>
            <a:ext cx="119063" cy="119063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9476" name="Oval 22">
            <a:extLst>
              <a:ext uri="{FF2B5EF4-FFF2-40B4-BE49-F238E27FC236}">
                <a16:creationId xmlns:a16="http://schemas.microsoft.com/office/drawing/2014/main" id="{6681824E-E3EF-4538-B865-D31F33E32C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6463" y="3133725"/>
            <a:ext cx="119062" cy="119063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9477" name="Rectangle 23">
            <a:extLst>
              <a:ext uri="{FF2B5EF4-FFF2-40B4-BE49-F238E27FC236}">
                <a16:creationId xmlns:a16="http://schemas.microsoft.com/office/drawing/2014/main" id="{32FD6C76-A741-4C70-85BD-1EEA2ECAF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2916238"/>
            <a:ext cx="34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9478" name="Rectangle 24">
            <a:extLst>
              <a:ext uri="{FF2B5EF4-FFF2-40B4-BE49-F238E27FC236}">
                <a16:creationId xmlns:a16="http://schemas.microsoft.com/office/drawing/2014/main" id="{2DFD93EE-30D9-4D51-B5BB-A07CFF4EA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5" y="2927350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381977" name="Text Box 25">
            <a:extLst>
              <a:ext uri="{FF2B5EF4-FFF2-40B4-BE49-F238E27FC236}">
                <a16:creationId xmlns:a16="http://schemas.microsoft.com/office/drawing/2014/main" id="{FE7CA285-35CC-448C-BB7A-641CFC736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66800"/>
            <a:ext cx="52578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100 k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 and 10 k resistors in parallel are equivalent to an 9090  resistor.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Total equivalent resistance: 14090 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Total current: I=4.26x10</a:t>
            </a:r>
            <a:r>
              <a:rPr lang="en-US" altLang="en-US" sz="2400" baseline="30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-4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A</a:t>
            </a:r>
          </a:p>
        </p:txBody>
      </p:sp>
      <p:sp>
        <p:nvSpPr>
          <p:cNvPr id="381978" name="Line 26">
            <a:extLst>
              <a:ext uri="{FF2B5EF4-FFF2-40B4-BE49-F238E27FC236}">
                <a16:creationId xmlns:a16="http://schemas.microsoft.com/office/drawing/2014/main" id="{C9FC0B89-4FEE-4AA4-9E86-5809FD4A7D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50292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381979" name="Rectangle 27">
            <a:extLst>
              <a:ext uri="{FF2B5EF4-FFF2-40B4-BE49-F238E27FC236}">
                <a16:creationId xmlns:a16="http://schemas.microsoft.com/office/drawing/2014/main" id="{2226B6FB-DF6C-4B04-A04E-2FA473F8E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5029200"/>
            <a:ext cx="16621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I=.426 mA</a:t>
            </a:r>
          </a:p>
        </p:txBody>
      </p:sp>
      <p:sp>
        <p:nvSpPr>
          <p:cNvPr id="381980" name="Text Box 28">
            <a:extLst>
              <a:ext uri="{FF2B5EF4-FFF2-40B4-BE49-F238E27FC236}">
                <a16:creationId xmlns:a16="http://schemas.microsoft.com/office/drawing/2014/main" id="{DC6F3651-9440-42BE-81C3-5E903F3F4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468688"/>
            <a:ext cx="51054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The voltage drop from a to b: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6-(4.26x10</a:t>
            </a:r>
            <a:r>
              <a:rPr lang="en-US" altLang="en-US" sz="2400" baseline="30000">
                <a:solidFill>
                  <a:srgbClr val="000000"/>
                </a:solidFill>
                <a:latin typeface="Tahoma" panose="020B0604030504040204" pitchFamily="34" charset="0"/>
              </a:rPr>
              <a:t>-4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)(5000)=3.87 V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81981" name="Text Box 29">
            <a:extLst>
              <a:ext uri="{FF2B5EF4-FFF2-40B4-BE49-F238E27FC236}">
                <a16:creationId xmlns:a16="http://schemas.microsoft.com/office/drawing/2014/main" id="{8C99867F-2B0D-41E1-A2B0-2E66ADF14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4564063"/>
            <a:ext cx="510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The percent error is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381982" name="Object 30">
            <a:extLst>
              <a:ext uri="{FF2B5EF4-FFF2-40B4-BE49-F238E27FC236}">
                <a16:creationId xmlns:a16="http://schemas.microsoft.com/office/drawing/2014/main" id="{46FB4299-B821-42C2-BBDB-520EE7321F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300" y="5181600"/>
          <a:ext cx="4368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84400" imgH="393700" progId="Equation.DSMT4">
                  <p:embed/>
                </p:oleObj>
              </mc:Choice>
              <mc:Fallback>
                <p:oleObj name="Equation" r:id="rId3" imgW="2184400" imgH="393700" progId="Equation.DSMT4">
                  <p:embed/>
                  <p:pic>
                    <p:nvPicPr>
                      <p:cNvPr id="381982" name="Object 30">
                        <a:extLst>
                          <a:ext uri="{FF2B5EF4-FFF2-40B4-BE49-F238E27FC236}">
                            <a16:creationId xmlns:a16="http://schemas.microsoft.com/office/drawing/2014/main" id="{46FB4299-B821-42C2-BBDB-520EE7321F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" y="5181600"/>
                        <a:ext cx="4368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983" name="Text Box 31">
            <a:extLst>
              <a:ext uri="{FF2B5EF4-FFF2-40B4-BE49-F238E27FC236}">
                <a16:creationId xmlns:a16="http://schemas.microsoft.com/office/drawing/2014/main" id="{459F4866-4E1D-48C7-AFE5-362F44089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118225"/>
            <a:ext cx="8839200" cy="400050"/>
          </a:xfrm>
          <a:prstGeom prst="rect">
            <a:avLst/>
          </a:prstGeom>
          <a:solidFill>
            <a:srgbClr val="CC99FF"/>
          </a:solidFill>
          <a:ln w="38100" algn="ctr">
            <a:solidFill>
              <a:srgbClr val="80008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80008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Not great, but much better. </a:t>
            </a:r>
            <a:endParaRPr lang="en-US" altLang="en-US" sz="2000">
              <a:solidFill>
                <a:srgbClr val="800080"/>
              </a:solidFill>
              <a:latin typeface="Tahoma" panose="020B0604030504040204" pitchFamily="34" charset="0"/>
            </a:endParaRPr>
          </a:p>
        </p:txBody>
      </p:sp>
      <p:sp>
        <p:nvSpPr>
          <p:cNvPr id="19486" name="Rectangle 33">
            <a:extLst>
              <a:ext uri="{FF2B5EF4-FFF2-40B4-BE49-F238E27FC236}">
                <a16:creationId xmlns:a16="http://schemas.microsoft.com/office/drawing/2014/main" id="{A54572A6-1F25-4447-B281-C4DB0B59F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184275"/>
            <a:ext cx="3048000" cy="1044575"/>
          </a:xfrm>
          <a:prstGeom prst="rect">
            <a:avLst/>
          </a:prstGeom>
          <a:solidFill>
            <a:srgbClr val="CCECFF">
              <a:alpha val="39999"/>
            </a:srgbClr>
          </a:solidFill>
          <a:ln w="3810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1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1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1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1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77" grpId="0"/>
      <p:bldP spid="381979" grpId="0"/>
      <p:bldP spid="381980" grpId="0"/>
      <p:bldP spid="381981" grpId="0"/>
      <p:bldP spid="38198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16BEE7EE-C4CA-4A75-BF00-E971EC485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914400"/>
            <a:ext cx="8610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voltmeter must have a very large resistance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voltmeter can be made from galvanometer in series with a large resistance</a:t>
            </a:r>
          </a:p>
        </p:txBody>
      </p:sp>
      <p:grpSp>
        <p:nvGrpSpPr>
          <p:cNvPr id="20483" name="Group 3">
            <a:extLst>
              <a:ext uri="{FF2B5EF4-FFF2-40B4-BE49-F238E27FC236}">
                <a16:creationId xmlns:a16="http://schemas.microsoft.com/office/drawing/2014/main" id="{FCDD60B5-2BA6-463B-893F-C3B7C9564CE6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971800"/>
            <a:ext cx="1600200" cy="609600"/>
            <a:chOff x="1680" y="1632"/>
            <a:chExt cx="1008" cy="384"/>
          </a:xfrm>
        </p:grpSpPr>
        <p:grpSp>
          <p:nvGrpSpPr>
            <p:cNvPr id="20512" name="Group 4">
              <a:extLst>
                <a:ext uri="{FF2B5EF4-FFF2-40B4-BE49-F238E27FC236}">
                  <a16:creationId xmlns:a16="http://schemas.microsoft.com/office/drawing/2014/main" id="{4936563D-D46A-43AD-BD7E-DCB53FEC5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5" y="1632"/>
              <a:ext cx="384" cy="384"/>
              <a:chOff x="1995" y="1632"/>
              <a:chExt cx="384" cy="384"/>
            </a:xfrm>
          </p:grpSpPr>
          <p:sp>
            <p:nvSpPr>
              <p:cNvPr id="20515" name="Oval 5">
                <a:extLst>
                  <a:ext uri="{FF2B5EF4-FFF2-40B4-BE49-F238E27FC236}">
                    <a16:creationId xmlns:a16="http://schemas.microsoft.com/office/drawing/2014/main" id="{CB8C0314-4787-422F-9526-E2D72A19C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5" y="1632"/>
                <a:ext cx="384" cy="384"/>
              </a:xfrm>
              <a:prstGeom prst="ellipse">
                <a:avLst/>
              </a:prstGeom>
              <a:noFill/>
              <a:ln w="571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0516" name="Rectangle 6">
                <a:extLst>
                  <a:ext uri="{FF2B5EF4-FFF2-40B4-BE49-F238E27FC236}">
                    <a16:creationId xmlns:a16="http://schemas.microsoft.com/office/drawing/2014/main" id="{88217FE2-CF93-49F5-9B37-19756AD00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1680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  <a:latin typeface="Tahoma" panose="020B0604030504040204" pitchFamily="34" charset="0"/>
                    <a:sym typeface="Symbol" panose="05050102010706020507" pitchFamily="18" charset="2"/>
                  </a:rPr>
                  <a:t>V</a:t>
                </a:r>
              </a:p>
            </p:txBody>
          </p:sp>
        </p:grpSp>
        <p:sp>
          <p:nvSpPr>
            <p:cNvPr id="20513" name="Line 7">
              <a:extLst>
                <a:ext uri="{FF2B5EF4-FFF2-40B4-BE49-F238E27FC236}">
                  <a16:creationId xmlns:a16="http://schemas.microsoft.com/office/drawing/2014/main" id="{4296152C-0191-4DE6-A231-6D29D429F9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7" y="1824"/>
              <a:ext cx="3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20514" name="Line 8">
              <a:extLst>
                <a:ext uri="{FF2B5EF4-FFF2-40B4-BE49-F238E27FC236}">
                  <a16:creationId xmlns:a16="http://schemas.microsoft.com/office/drawing/2014/main" id="{D6AF9A4E-8E30-4748-8F89-D53686201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824"/>
              <a:ext cx="3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</p:grpSp>
      <p:sp>
        <p:nvSpPr>
          <p:cNvPr id="379913" name="Freeform 9">
            <a:extLst>
              <a:ext uri="{FF2B5EF4-FFF2-40B4-BE49-F238E27FC236}">
                <a16:creationId xmlns:a16="http://schemas.microsoft.com/office/drawing/2014/main" id="{420F9D76-19F4-4766-BB98-F6680956AFCA}"/>
              </a:ext>
            </a:extLst>
          </p:cNvPr>
          <p:cNvSpPr>
            <a:spLocks/>
          </p:cNvSpPr>
          <p:nvPr/>
        </p:nvSpPr>
        <p:spPr bwMode="auto">
          <a:xfrm>
            <a:off x="5748338" y="3127375"/>
            <a:ext cx="1219200" cy="29845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BW"/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DD22F80E-8622-4921-9F1D-E5ECDCC621C3}"/>
              </a:ext>
            </a:extLst>
          </p:cNvPr>
          <p:cNvGrpSpPr>
            <a:grpSpLocks/>
          </p:cNvGrpSpPr>
          <p:nvPr/>
        </p:nvGrpSpPr>
        <p:grpSpPr bwMode="auto">
          <a:xfrm>
            <a:off x="7053263" y="2978150"/>
            <a:ext cx="609600" cy="596900"/>
            <a:chOff x="1995" y="1632"/>
            <a:chExt cx="384" cy="384"/>
          </a:xfrm>
        </p:grpSpPr>
        <p:sp>
          <p:nvSpPr>
            <p:cNvPr id="20510" name="Oval 11">
              <a:extLst>
                <a:ext uri="{FF2B5EF4-FFF2-40B4-BE49-F238E27FC236}">
                  <a16:creationId xmlns:a16="http://schemas.microsoft.com/office/drawing/2014/main" id="{CFF938CA-8C15-476D-B9BA-2DCDA4631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1632"/>
              <a:ext cx="384" cy="384"/>
            </a:xfrm>
            <a:prstGeom prst="ellipse">
              <a:avLst/>
            </a:prstGeom>
            <a:noFill/>
            <a:ln w="571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1" name="Rectangle 12">
              <a:extLst>
                <a:ext uri="{FF2B5EF4-FFF2-40B4-BE49-F238E27FC236}">
                  <a16:creationId xmlns:a16="http://schemas.microsoft.com/office/drawing/2014/main" id="{F1C2B4C7-5288-435E-AD59-5B7FE8CE8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680"/>
              <a:ext cx="244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G</a:t>
              </a:r>
            </a:p>
          </p:txBody>
        </p:sp>
      </p:grpSp>
      <p:sp>
        <p:nvSpPr>
          <p:cNvPr id="379917" name="Line 13">
            <a:extLst>
              <a:ext uri="{FF2B5EF4-FFF2-40B4-BE49-F238E27FC236}">
                <a16:creationId xmlns:a16="http://schemas.microsoft.com/office/drawing/2014/main" id="{0408263E-0B5D-41E9-9369-403CBBB84FB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8100" y="3276600"/>
            <a:ext cx="495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379918" name="Line 14">
            <a:extLst>
              <a:ext uri="{FF2B5EF4-FFF2-40B4-BE49-F238E27FC236}">
                <a16:creationId xmlns:a16="http://schemas.microsoft.com/office/drawing/2014/main" id="{094B0071-D3A6-4AA2-A4CE-5082A65449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1338" y="3276600"/>
            <a:ext cx="155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379919" name="Freeform 15">
            <a:extLst>
              <a:ext uri="{FF2B5EF4-FFF2-40B4-BE49-F238E27FC236}">
                <a16:creationId xmlns:a16="http://schemas.microsoft.com/office/drawing/2014/main" id="{BE58FE74-66AF-460C-B515-1FEEF57EB132}"/>
              </a:ext>
            </a:extLst>
          </p:cNvPr>
          <p:cNvSpPr>
            <a:spLocks/>
          </p:cNvSpPr>
          <p:nvPr/>
        </p:nvSpPr>
        <p:spPr bwMode="auto">
          <a:xfrm>
            <a:off x="4605338" y="3127375"/>
            <a:ext cx="1219200" cy="29845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BW"/>
          </a:p>
        </p:txBody>
      </p:sp>
      <p:sp>
        <p:nvSpPr>
          <p:cNvPr id="379920" name="Rectangle 16">
            <a:extLst>
              <a:ext uri="{FF2B5EF4-FFF2-40B4-BE49-F238E27FC236}">
                <a16:creationId xmlns:a16="http://schemas.microsoft.com/office/drawing/2014/main" id="{F46766F8-942F-49A3-B495-9439C3E4A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338" y="2671763"/>
            <a:ext cx="50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G</a:t>
            </a:r>
          </a:p>
        </p:txBody>
      </p:sp>
      <p:sp>
        <p:nvSpPr>
          <p:cNvPr id="379921" name="Rectangle 17">
            <a:extLst>
              <a:ext uri="{FF2B5EF4-FFF2-40B4-BE49-F238E27FC236}">
                <a16:creationId xmlns:a16="http://schemas.microsoft.com/office/drawing/2014/main" id="{EA5BD085-3438-44DE-B8EA-486B99C1A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75" y="2693988"/>
            <a:ext cx="72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Ser</a:t>
            </a:r>
          </a:p>
        </p:txBody>
      </p:sp>
      <p:sp>
        <p:nvSpPr>
          <p:cNvPr id="379922" name="Rectangle 18">
            <a:extLst>
              <a:ext uri="{FF2B5EF4-FFF2-40B4-BE49-F238E27FC236}">
                <a16:creationId xmlns:a16="http://schemas.microsoft.com/office/drawing/2014/main" id="{7C5A9DF5-B880-4B55-B5F7-E7DAC3D6D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025" y="2922588"/>
            <a:ext cx="5873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379923" name="Text Box 19">
            <a:extLst>
              <a:ext uri="{FF2B5EF4-FFF2-40B4-BE49-F238E27FC236}">
                <a16:creationId xmlns:a16="http://schemas.microsoft.com/office/drawing/2014/main" id="{0AC686E8-5700-4DE1-8BB0-1739110B0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24400"/>
            <a:ext cx="883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Everything inside the blue box is the voltmeter.</a:t>
            </a: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493" name="Oval 20">
            <a:extLst>
              <a:ext uri="{FF2B5EF4-FFF2-40B4-BE49-F238E27FC236}">
                <a16:creationId xmlns:a16="http://schemas.microsoft.com/office/drawing/2014/main" id="{240D1563-EE87-4F73-B448-C9A042C9EC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28700" y="3211513"/>
            <a:ext cx="119063" cy="119062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494" name="Rectangle 21">
            <a:extLst>
              <a:ext uri="{FF2B5EF4-FFF2-40B4-BE49-F238E27FC236}">
                <a16:creationId xmlns:a16="http://schemas.microsoft.com/office/drawing/2014/main" id="{BE096B9A-F973-40D6-9A15-2CD5A33EF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994025"/>
            <a:ext cx="344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20495" name="Oval 22">
            <a:extLst>
              <a:ext uri="{FF2B5EF4-FFF2-40B4-BE49-F238E27FC236}">
                <a16:creationId xmlns:a16="http://schemas.microsoft.com/office/drawing/2014/main" id="{45E4ACC6-A4EB-4700-8723-85BE2B0AEC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3221038"/>
            <a:ext cx="119063" cy="119062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496" name="Rectangle 23">
            <a:extLst>
              <a:ext uri="{FF2B5EF4-FFF2-40B4-BE49-F238E27FC236}">
                <a16:creationId xmlns:a16="http://schemas.microsoft.com/office/drawing/2014/main" id="{707460B7-48EA-4CEE-953E-52B65B9E0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375" y="3014663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20497" name="AutoShape 24">
            <a:extLst>
              <a:ext uri="{FF2B5EF4-FFF2-40B4-BE49-F238E27FC236}">
                <a16:creationId xmlns:a16="http://schemas.microsoft.com/office/drawing/2014/main" id="{2C1D6C0C-E6F1-497F-885D-813BD225A53E}"/>
              </a:ext>
            </a:extLst>
          </p:cNvPr>
          <p:cNvSpPr>
            <a:spLocks/>
          </p:cNvSpPr>
          <p:nvPr/>
        </p:nvSpPr>
        <p:spPr bwMode="auto">
          <a:xfrm rot="-5400000">
            <a:off x="1758157" y="3053556"/>
            <a:ext cx="228600" cy="1589087"/>
          </a:xfrm>
          <a:prstGeom prst="leftBracket">
            <a:avLst>
              <a:gd name="adj" fmla="val 57928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498" name="Rectangle 25">
            <a:extLst>
              <a:ext uri="{FF2B5EF4-FFF2-40B4-BE49-F238E27FC236}">
                <a16:creationId xmlns:a16="http://schemas.microsoft.com/office/drawing/2014/main" id="{BD93AE85-DCE2-4E86-9482-6A9FA05D9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013" y="3886200"/>
            <a:ext cx="585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V</a:t>
            </a:r>
            <a:r>
              <a:rPr lang="en-US" altLang="en-US" sz="2400" baseline="-25000">
                <a:solidFill>
                  <a:srgbClr val="FF0000"/>
                </a:solidFill>
                <a:latin typeface="Tahoma" panose="020B0604030504040204" pitchFamily="34" charset="0"/>
              </a:rPr>
              <a:t>ab</a:t>
            </a:r>
          </a:p>
        </p:txBody>
      </p:sp>
      <p:sp>
        <p:nvSpPr>
          <p:cNvPr id="379930" name="Line 26">
            <a:extLst>
              <a:ext uri="{FF2B5EF4-FFF2-40B4-BE49-F238E27FC236}">
                <a16:creationId xmlns:a16="http://schemas.microsoft.com/office/drawing/2014/main" id="{BAC8E167-379E-4AF9-BD97-60713C790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6550" y="3276600"/>
            <a:ext cx="495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379931" name="Oval 27">
            <a:extLst>
              <a:ext uri="{FF2B5EF4-FFF2-40B4-BE49-F238E27FC236}">
                <a16:creationId xmlns:a16="http://schemas.microsoft.com/office/drawing/2014/main" id="{6074E61B-FBBE-40E4-9B71-AC83A325B8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70350" y="3211513"/>
            <a:ext cx="120650" cy="11747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79932" name="Rectangle 28">
            <a:extLst>
              <a:ext uri="{FF2B5EF4-FFF2-40B4-BE49-F238E27FC236}">
                <a16:creationId xmlns:a16="http://schemas.microsoft.com/office/drawing/2014/main" id="{597D91E1-533E-4671-89AB-E985B22C8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3650" y="2998788"/>
            <a:ext cx="34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379933" name="Oval 29">
            <a:extLst>
              <a:ext uri="{FF2B5EF4-FFF2-40B4-BE49-F238E27FC236}">
                <a16:creationId xmlns:a16="http://schemas.microsoft.com/office/drawing/2014/main" id="{ECDA8FD2-1B0A-4777-81D0-D88BF0C471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5613" y="3221038"/>
            <a:ext cx="120650" cy="11747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79934" name="Rectangle 30">
            <a:extLst>
              <a:ext uri="{FF2B5EF4-FFF2-40B4-BE49-F238E27FC236}">
                <a16:creationId xmlns:a16="http://schemas.microsoft.com/office/drawing/2014/main" id="{C13DFE96-DD5F-4246-8AF4-DD6AE9DC1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775" y="3019425"/>
            <a:ext cx="35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379935" name="AutoShape 31">
            <a:extLst>
              <a:ext uri="{FF2B5EF4-FFF2-40B4-BE49-F238E27FC236}">
                <a16:creationId xmlns:a16="http://schemas.microsoft.com/office/drawing/2014/main" id="{6A2C8BF7-ABF7-42D9-A9C2-8066735BDBD3}"/>
              </a:ext>
            </a:extLst>
          </p:cNvPr>
          <p:cNvSpPr>
            <a:spLocks/>
          </p:cNvSpPr>
          <p:nvPr/>
        </p:nvSpPr>
        <p:spPr bwMode="auto">
          <a:xfrm rot="-5400000">
            <a:off x="5988050" y="1871663"/>
            <a:ext cx="225425" cy="3952875"/>
          </a:xfrm>
          <a:prstGeom prst="leftBracket">
            <a:avLst>
              <a:gd name="adj" fmla="val 14612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79936" name="Rectangle 32">
            <a:extLst>
              <a:ext uri="{FF2B5EF4-FFF2-40B4-BE49-F238E27FC236}">
                <a16:creationId xmlns:a16="http://schemas.microsoft.com/office/drawing/2014/main" id="{C055F216-B241-40CC-A69F-665FC7B3C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3890963"/>
            <a:ext cx="587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V</a:t>
            </a:r>
            <a:r>
              <a:rPr lang="en-US" altLang="en-US" sz="2400" baseline="-25000">
                <a:solidFill>
                  <a:srgbClr val="FF0000"/>
                </a:solidFill>
                <a:latin typeface="Tahoma" panose="020B0604030504040204" pitchFamily="34" charset="0"/>
              </a:rPr>
              <a:t>ab</a:t>
            </a:r>
          </a:p>
        </p:txBody>
      </p:sp>
      <p:sp>
        <p:nvSpPr>
          <p:cNvPr id="379937" name="Rectangle 33">
            <a:extLst>
              <a:ext uri="{FF2B5EF4-FFF2-40B4-BE49-F238E27FC236}">
                <a16:creationId xmlns:a16="http://schemas.microsoft.com/office/drawing/2014/main" id="{F85AC7EB-0A36-4E2F-A8BC-4BB735B35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667000"/>
            <a:ext cx="3581400" cy="1044575"/>
          </a:xfrm>
          <a:prstGeom prst="rect">
            <a:avLst/>
          </a:prstGeom>
          <a:solidFill>
            <a:srgbClr val="CCECFF">
              <a:alpha val="39999"/>
            </a:srgbClr>
          </a:solidFill>
          <a:ln w="3810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30561218-FB0C-4238-BD80-383469CBE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321300"/>
            <a:ext cx="8382000" cy="1168400"/>
          </a:xfrm>
          <a:prstGeom prst="rect">
            <a:avLst/>
          </a:prstGeom>
          <a:solidFill>
            <a:srgbClr val="FFCC99"/>
          </a:solidFill>
          <a:ln w="38100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993300"/>
                </a:solidFill>
                <a:latin typeface="Tahoma" panose="020B0604030504040204" pitchFamily="34" charset="0"/>
              </a:rPr>
              <a:t>Homework hints: “the </a:t>
            </a:r>
            <a:r>
              <a:rPr lang="en-US" altLang="en-US" sz="1400">
                <a:solidFill>
                  <a:srgbClr val="0000CC"/>
                </a:solidFill>
                <a:latin typeface="Tahoma" panose="020B0604030504040204" pitchFamily="34" charset="0"/>
              </a:rPr>
              <a:t>galvanometer</a:t>
            </a:r>
            <a:r>
              <a:rPr lang="en-US" altLang="en-US" sz="1400">
                <a:solidFill>
                  <a:srgbClr val="993300"/>
                </a:solidFill>
                <a:latin typeface="Tahoma" panose="020B0604030504040204" pitchFamily="34" charset="0"/>
              </a:rPr>
              <a:t> reads 1A full scale” would mean a current of I</a:t>
            </a:r>
            <a:r>
              <a:rPr lang="en-US" altLang="en-US" sz="1400" baseline="-25000">
                <a:solidFill>
                  <a:srgbClr val="9933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400">
                <a:solidFill>
                  <a:srgbClr val="993300"/>
                </a:solidFill>
                <a:latin typeface="Tahoma" panose="020B0604030504040204" pitchFamily="34" charset="0"/>
              </a:rPr>
              <a:t>=1A would produce a full-scale deflection of the galvanometer needle.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FFCC99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CC99"/>
                </a:solidFill>
                <a:latin typeface="Tahoma" panose="020B0604030504040204" pitchFamily="34" charset="0"/>
              </a:rPr>
              <a:t>If you want the voltmeter shown to read 10V full scale, then the selected R</a:t>
            </a:r>
            <a:r>
              <a:rPr lang="en-US" altLang="en-US" sz="1400" baseline="-25000">
                <a:solidFill>
                  <a:srgbClr val="FFCC99"/>
                </a:solidFill>
                <a:latin typeface="Tahoma" panose="020B0604030504040204" pitchFamily="34" charset="0"/>
              </a:rPr>
              <a:t>Ser</a:t>
            </a:r>
            <a:r>
              <a:rPr lang="en-US" altLang="en-US" sz="1400">
                <a:solidFill>
                  <a:srgbClr val="FFCC99"/>
                </a:solidFill>
                <a:latin typeface="Tahoma" panose="020B0604030504040204" pitchFamily="34" charset="0"/>
              </a:rPr>
              <a:t> must result in I</a:t>
            </a:r>
            <a:r>
              <a:rPr lang="en-US" altLang="en-US" sz="1400" baseline="-25000">
                <a:solidFill>
                  <a:srgbClr val="FFCC99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400">
                <a:solidFill>
                  <a:srgbClr val="FFCC99"/>
                </a:solidFill>
                <a:latin typeface="Tahoma" panose="020B0604030504040204" pitchFamily="34" charset="0"/>
              </a:rPr>
              <a:t>=1A when V</a:t>
            </a:r>
            <a:r>
              <a:rPr lang="en-US" altLang="en-US" sz="1400" baseline="-25000">
                <a:solidFill>
                  <a:srgbClr val="FFCC99"/>
                </a:solidFill>
                <a:latin typeface="Tahoma" panose="020B0604030504040204" pitchFamily="34" charset="0"/>
              </a:rPr>
              <a:t>ab</a:t>
            </a:r>
            <a:r>
              <a:rPr lang="en-US" altLang="en-US" sz="1400">
                <a:solidFill>
                  <a:srgbClr val="FFCC99"/>
                </a:solidFill>
                <a:latin typeface="Tahoma" panose="020B0604030504040204" pitchFamily="34" charset="0"/>
              </a:rPr>
              <a:t>=10V.</a:t>
            </a:r>
          </a:p>
        </p:txBody>
      </p:sp>
      <p:sp>
        <p:nvSpPr>
          <p:cNvPr id="35" name="Rectangle 37">
            <a:extLst>
              <a:ext uri="{FF2B5EF4-FFF2-40B4-BE49-F238E27FC236}">
                <a16:creationId xmlns:a16="http://schemas.microsoft.com/office/drawing/2014/main" id="{D57E8564-448F-496C-898F-D7ACD8468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308600"/>
            <a:ext cx="8382000" cy="1168400"/>
          </a:xfrm>
          <a:prstGeom prst="rect">
            <a:avLst/>
          </a:prstGeom>
          <a:solidFill>
            <a:srgbClr val="FFCC99"/>
          </a:solidFill>
          <a:ln w="38100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993300"/>
                </a:solidFill>
                <a:latin typeface="Tahoma" panose="020B0604030504040204" pitchFamily="34" charset="0"/>
              </a:rPr>
              <a:t>Homework hints: “the </a:t>
            </a:r>
            <a:r>
              <a:rPr lang="en-US" altLang="en-US" sz="1400">
                <a:solidFill>
                  <a:srgbClr val="0000CC"/>
                </a:solidFill>
                <a:latin typeface="Tahoma" panose="020B0604030504040204" pitchFamily="34" charset="0"/>
              </a:rPr>
              <a:t>galvanometer</a:t>
            </a:r>
            <a:r>
              <a:rPr lang="en-US" altLang="en-US" sz="1400">
                <a:solidFill>
                  <a:srgbClr val="993300"/>
                </a:solidFill>
                <a:latin typeface="Tahoma" panose="020B0604030504040204" pitchFamily="34" charset="0"/>
              </a:rPr>
              <a:t> reads 1A full scale” would mean a current of I</a:t>
            </a:r>
            <a:r>
              <a:rPr lang="en-US" altLang="en-US" sz="1400" baseline="-25000">
                <a:solidFill>
                  <a:srgbClr val="9933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400">
                <a:solidFill>
                  <a:srgbClr val="993300"/>
                </a:solidFill>
                <a:latin typeface="Tahoma" panose="020B0604030504040204" pitchFamily="34" charset="0"/>
              </a:rPr>
              <a:t>=1A would produce a full-scale deflection of the galvanometer needle.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99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993300"/>
                </a:solidFill>
                <a:latin typeface="Tahoma" panose="020B0604030504040204" pitchFamily="34" charset="0"/>
              </a:rPr>
              <a:t>If you want the </a:t>
            </a:r>
            <a:r>
              <a:rPr lang="en-US" altLang="en-US" sz="1400">
                <a:solidFill>
                  <a:srgbClr val="0000CC"/>
                </a:solidFill>
                <a:latin typeface="Tahoma" panose="020B0604030504040204" pitchFamily="34" charset="0"/>
              </a:rPr>
              <a:t>voltmeter</a:t>
            </a:r>
            <a:r>
              <a:rPr lang="en-US" altLang="en-US" sz="1400">
                <a:solidFill>
                  <a:srgbClr val="993300"/>
                </a:solidFill>
                <a:latin typeface="Tahoma" panose="020B0604030504040204" pitchFamily="34" charset="0"/>
              </a:rPr>
              <a:t> shown to read 10V full scale, then the selected R</a:t>
            </a:r>
            <a:r>
              <a:rPr lang="en-US" altLang="en-US" sz="1400" baseline="-25000">
                <a:solidFill>
                  <a:srgbClr val="993300"/>
                </a:solidFill>
                <a:latin typeface="Tahoma" panose="020B0604030504040204" pitchFamily="34" charset="0"/>
              </a:rPr>
              <a:t>Ser</a:t>
            </a:r>
            <a:r>
              <a:rPr lang="en-US" altLang="en-US" sz="1400">
                <a:solidFill>
                  <a:srgbClr val="993300"/>
                </a:solidFill>
                <a:latin typeface="Tahoma" panose="020B0604030504040204" pitchFamily="34" charset="0"/>
              </a:rPr>
              <a:t> must result in I</a:t>
            </a:r>
            <a:r>
              <a:rPr lang="en-US" altLang="en-US" sz="1400" baseline="-25000">
                <a:solidFill>
                  <a:srgbClr val="9933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1400">
                <a:solidFill>
                  <a:srgbClr val="993300"/>
                </a:solidFill>
                <a:latin typeface="Tahoma" panose="020B0604030504040204" pitchFamily="34" charset="0"/>
              </a:rPr>
              <a:t>=1A when V</a:t>
            </a:r>
            <a:r>
              <a:rPr lang="en-US" altLang="en-US" sz="1400" baseline="-25000">
                <a:solidFill>
                  <a:srgbClr val="993300"/>
                </a:solidFill>
                <a:latin typeface="Tahoma" panose="020B0604030504040204" pitchFamily="34" charset="0"/>
              </a:rPr>
              <a:t>ab</a:t>
            </a:r>
            <a:r>
              <a:rPr lang="en-US" altLang="en-US" sz="1400">
                <a:solidFill>
                  <a:srgbClr val="993300"/>
                </a:solidFill>
                <a:latin typeface="Tahoma" panose="020B0604030504040204" pitchFamily="34" charset="0"/>
              </a:rPr>
              <a:t>=10V.</a:t>
            </a:r>
          </a:p>
        </p:txBody>
      </p:sp>
      <p:sp>
        <p:nvSpPr>
          <p:cNvPr id="20509" name="Text Box 3">
            <a:extLst>
              <a:ext uri="{FF2B5EF4-FFF2-40B4-BE49-F238E27FC236}">
                <a16:creationId xmlns:a16="http://schemas.microsoft.com/office/drawing/2014/main" id="{7B606C9C-3848-4B27-AECF-709D48A5C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246063"/>
            <a:ext cx="7467600" cy="523875"/>
          </a:xfrm>
          <a:prstGeom prst="rect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FFFF"/>
                </a:solidFill>
                <a:latin typeface="Tahoma" panose="020B0604030504040204" pitchFamily="34" charset="0"/>
              </a:rPr>
              <a:t>Designing a voltmeter</a:t>
            </a:r>
            <a:endParaRPr lang="en-US" altLang="en-US" sz="280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9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9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9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9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79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9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9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9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9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9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9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9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9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79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9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9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79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79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79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79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9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9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79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79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79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79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9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9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20" grpId="0"/>
      <p:bldP spid="379921" grpId="0"/>
      <p:bldP spid="379922" grpId="0"/>
      <p:bldP spid="379923" grpId="0"/>
      <p:bldP spid="379931" grpId="0" animBg="1"/>
      <p:bldP spid="379932" grpId="0"/>
      <p:bldP spid="379933" grpId="0" animBg="1"/>
      <p:bldP spid="379934" grpId="0"/>
      <p:bldP spid="379935" grpId="0" animBg="1"/>
      <p:bldP spid="379936" grpId="0"/>
      <p:bldP spid="379937" grpId="0" animBg="1"/>
      <p:bldP spid="34" grpId="0" animBg="1"/>
      <p:bldP spid="3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2">
            <a:extLst>
              <a:ext uri="{FF2B5EF4-FFF2-40B4-BE49-F238E27FC236}">
                <a16:creationId xmlns:a16="http://schemas.microsoft.com/office/drawing/2014/main" id="{959DF946-EFCD-4B2D-A0D0-99C48D2CB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8600"/>
            <a:ext cx="9144000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GB" altLang="en-BW" sz="2000">
              <a:latin typeface="Arial" panose="020B0604020202020204" pitchFamily="34" charset="0"/>
            </a:endParaRPr>
          </a:p>
          <a:p>
            <a:r>
              <a:rPr lang="en-GB" altLang="en-BW" sz="2000">
                <a:latin typeface="Arial" panose="020B0604020202020204" pitchFamily="34" charset="0"/>
              </a:rPr>
              <a:t>Example: </a:t>
            </a:r>
          </a:p>
          <a:p>
            <a:r>
              <a:rPr lang="en-GB" altLang="en-BW" sz="2000">
                <a:latin typeface="Arial" panose="020B0604020202020204" pitchFamily="34" charset="0"/>
              </a:rPr>
              <a:t>It </a:t>
            </a:r>
            <a:r>
              <a:rPr lang="en-GB" altLang="en-BW">
                <a:latin typeface="Times New Roman" panose="02020603050405020304" pitchFamily="18" charset="0"/>
              </a:rPr>
              <a:t>s desired to measure the voltage across a 50 k</a:t>
            </a:r>
            <a:r>
              <a:rPr lang="el-GR" altLang="en-BW">
                <a:latin typeface="Times New Roman" panose="02020603050405020304" pitchFamily="18" charset="0"/>
              </a:rPr>
              <a:t>Ω</a:t>
            </a:r>
            <a:r>
              <a:rPr lang="en-GB" altLang="en-BW">
                <a:latin typeface="Times New Roman" panose="02020603050405020304" pitchFamily="18" charset="0"/>
              </a:rPr>
              <a:t> resistor in the circuit shown In Fig.Two voltmeters are available for this purpose :</a:t>
            </a:r>
          </a:p>
          <a:p>
            <a:r>
              <a:rPr lang="en-GB" altLang="en-BW">
                <a:latin typeface="Times New Roman" panose="02020603050405020304" pitchFamily="18" charset="0"/>
              </a:rPr>
              <a:t>Voltmeter </a:t>
            </a:r>
            <a:r>
              <a:rPr lang="en-GB" altLang="en-BW" sz="1800" i="1">
                <a:latin typeface="Arial" panose="020B0604020202020204" pitchFamily="34" charset="0"/>
              </a:rPr>
              <a:t>A </a:t>
            </a:r>
            <a:r>
              <a:rPr lang="en-GB" altLang="en-BW">
                <a:latin typeface="Times New Roman" panose="02020603050405020304" pitchFamily="18" charset="0"/>
              </a:rPr>
              <a:t>with a sensitivity of 1000Ω/V and</a:t>
            </a:r>
          </a:p>
          <a:p>
            <a:r>
              <a:rPr lang="en-GB" altLang="en-BW">
                <a:latin typeface="Times New Roman" panose="02020603050405020304" pitchFamily="18" charset="0"/>
              </a:rPr>
              <a:t>Voltmeter </a:t>
            </a:r>
            <a:r>
              <a:rPr lang="en-GB" altLang="en-BW" sz="2000" i="1">
                <a:latin typeface="Arial" panose="020B0604020202020204" pitchFamily="34" charset="0"/>
              </a:rPr>
              <a:t>B </a:t>
            </a:r>
            <a:r>
              <a:rPr lang="en-GB" altLang="en-BW">
                <a:latin typeface="Times New Roman" panose="02020603050405020304" pitchFamily="18" charset="0"/>
              </a:rPr>
              <a:t>with a sensitivity of 20,000 </a:t>
            </a:r>
            <a:r>
              <a:rPr lang="el-GR" altLang="en-BW">
                <a:latin typeface="Times New Roman" panose="02020603050405020304" pitchFamily="18" charset="0"/>
              </a:rPr>
              <a:t>Ω</a:t>
            </a:r>
            <a:r>
              <a:rPr lang="en-GB" altLang="en-BW">
                <a:latin typeface="Times New Roman" panose="02020603050405020304" pitchFamily="18" charset="0"/>
              </a:rPr>
              <a:t>/V.</a:t>
            </a:r>
          </a:p>
          <a:p>
            <a:r>
              <a:rPr lang="en-GB" altLang="en-BW">
                <a:latin typeface="Times New Roman" panose="02020603050405020304" pitchFamily="18" charset="0"/>
              </a:rPr>
              <a:t>Both meters have 0-50 </a:t>
            </a:r>
            <a:r>
              <a:rPr lang="en-GB" altLang="en-BW" sz="2000">
                <a:latin typeface="Arial" panose="020B0604020202020204" pitchFamily="34" charset="0"/>
              </a:rPr>
              <a:t>V </a:t>
            </a:r>
            <a:r>
              <a:rPr lang="en-GB" altLang="en-BW">
                <a:latin typeface="Times New Roman" panose="02020603050405020304" pitchFamily="18" charset="0"/>
              </a:rPr>
              <a:t>range. Calculate:</a:t>
            </a:r>
          </a:p>
          <a:p>
            <a:r>
              <a:rPr lang="en-GB" altLang="en-BW" sz="2000" i="1">
                <a:latin typeface="Arial" panose="020B0604020202020204" pitchFamily="34" charset="0"/>
              </a:rPr>
              <a:t>(a) </a:t>
            </a:r>
            <a:r>
              <a:rPr lang="en-GB" altLang="en-BW">
                <a:latin typeface="Times New Roman" panose="02020603050405020304" pitchFamily="18" charset="0"/>
              </a:rPr>
              <a:t>the reading of each voltmeter ;</a:t>
            </a:r>
          </a:p>
          <a:p>
            <a:r>
              <a:rPr lang="en-GB" altLang="en-BW" sz="2000" i="1">
                <a:latin typeface="Arial" panose="020B0604020202020204" pitchFamily="34" charset="0"/>
              </a:rPr>
              <a:t>(b) </a:t>
            </a:r>
            <a:r>
              <a:rPr lang="en-GB" altLang="en-BW">
                <a:latin typeface="Times New Roman" panose="02020603050405020304" pitchFamily="18" charset="0"/>
              </a:rPr>
              <a:t>the error in each reading expressed as a percentage</a:t>
            </a:r>
          </a:p>
          <a:p>
            <a:r>
              <a:rPr lang="en-GB" altLang="en-BW">
                <a:latin typeface="Times New Roman" panose="02020603050405020304" pitchFamily="18" charset="0"/>
              </a:rPr>
              <a:t>of true value.</a:t>
            </a:r>
            <a:endParaRPr lang="en-BW" altLang="en-BW"/>
          </a:p>
        </p:txBody>
      </p:sp>
      <p:pic>
        <p:nvPicPr>
          <p:cNvPr id="21507" name="Picture 4">
            <a:extLst>
              <a:ext uri="{FF2B5EF4-FFF2-40B4-BE49-F238E27FC236}">
                <a16:creationId xmlns:a16="http://schemas.microsoft.com/office/drawing/2014/main" id="{F6A0B4DD-F42C-4241-A066-7C05D3A15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913" y="3810000"/>
            <a:ext cx="3940175" cy="188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03B07AFA-1847-424A-BB40-E73F284BE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930275"/>
            <a:ext cx="8610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Ohmmeter measures resistance of isolated resistor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Ohmmeter can be made from a galvanometer, a series resistance, and a battery (</a:t>
            </a: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active device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).</a:t>
            </a:r>
          </a:p>
        </p:txBody>
      </p:sp>
      <p:sp>
        <p:nvSpPr>
          <p:cNvPr id="22531" name="Freeform 3">
            <a:extLst>
              <a:ext uri="{FF2B5EF4-FFF2-40B4-BE49-F238E27FC236}">
                <a16:creationId xmlns:a16="http://schemas.microsoft.com/office/drawing/2014/main" id="{2C066C27-2842-4331-A320-7B1B37BD8D23}"/>
              </a:ext>
            </a:extLst>
          </p:cNvPr>
          <p:cNvSpPr>
            <a:spLocks/>
          </p:cNvSpPr>
          <p:nvPr/>
        </p:nvSpPr>
        <p:spPr bwMode="auto">
          <a:xfrm>
            <a:off x="3706813" y="2735263"/>
            <a:ext cx="1219200" cy="29845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BW"/>
          </a:p>
        </p:txBody>
      </p:sp>
      <p:grpSp>
        <p:nvGrpSpPr>
          <p:cNvPr id="22532" name="Group 4">
            <a:extLst>
              <a:ext uri="{FF2B5EF4-FFF2-40B4-BE49-F238E27FC236}">
                <a16:creationId xmlns:a16="http://schemas.microsoft.com/office/drawing/2014/main" id="{8182B3A6-C384-4358-88C9-D618D1A81612}"/>
              </a:ext>
            </a:extLst>
          </p:cNvPr>
          <p:cNvGrpSpPr>
            <a:grpSpLocks/>
          </p:cNvGrpSpPr>
          <p:nvPr/>
        </p:nvGrpSpPr>
        <p:grpSpPr bwMode="auto">
          <a:xfrm>
            <a:off x="5011738" y="2586038"/>
            <a:ext cx="609600" cy="596900"/>
            <a:chOff x="1995" y="1632"/>
            <a:chExt cx="384" cy="384"/>
          </a:xfrm>
        </p:grpSpPr>
        <p:sp>
          <p:nvSpPr>
            <p:cNvPr id="22558" name="Oval 5">
              <a:extLst>
                <a:ext uri="{FF2B5EF4-FFF2-40B4-BE49-F238E27FC236}">
                  <a16:creationId xmlns:a16="http://schemas.microsoft.com/office/drawing/2014/main" id="{E655E139-819F-46F5-B7CE-9782F5289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1632"/>
              <a:ext cx="384" cy="384"/>
            </a:xfrm>
            <a:prstGeom prst="ellipse">
              <a:avLst/>
            </a:prstGeom>
            <a:noFill/>
            <a:ln w="571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59" name="Rectangle 6">
              <a:extLst>
                <a:ext uri="{FF2B5EF4-FFF2-40B4-BE49-F238E27FC236}">
                  <a16:creationId xmlns:a16="http://schemas.microsoft.com/office/drawing/2014/main" id="{8A656CE3-38F3-4B69-AA16-504F54CEC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680"/>
              <a:ext cx="244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G</a:t>
              </a:r>
            </a:p>
          </p:txBody>
        </p:sp>
      </p:grpSp>
      <p:sp>
        <p:nvSpPr>
          <p:cNvPr id="22533" name="Line 7">
            <a:extLst>
              <a:ext uri="{FF2B5EF4-FFF2-40B4-BE49-F238E27FC236}">
                <a16:creationId xmlns:a16="http://schemas.microsoft.com/office/drawing/2014/main" id="{F1F583C6-0786-4E43-BD6A-9B06BF725F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6575" y="2884488"/>
            <a:ext cx="495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22534" name="Line 8">
            <a:extLst>
              <a:ext uri="{FF2B5EF4-FFF2-40B4-BE49-F238E27FC236}">
                <a16:creationId xmlns:a16="http://schemas.microsoft.com/office/drawing/2014/main" id="{F9D2F2A0-327B-4122-84DF-6F648BFBAA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9813" y="2884488"/>
            <a:ext cx="155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22535" name="Freeform 9">
            <a:extLst>
              <a:ext uri="{FF2B5EF4-FFF2-40B4-BE49-F238E27FC236}">
                <a16:creationId xmlns:a16="http://schemas.microsoft.com/office/drawing/2014/main" id="{2304CFDE-104E-4244-BFB9-66BA153041B5}"/>
              </a:ext>
            </a:extLst>
          </p:cNvPr>
          <p:cNvSpPr>
            <a:spLocks/>
          </p:cNvSpPr>
          <p:nvPr/>
        </p:nvSpPr>
        <p:spPr bwMode="auto">
          <a:xfrm>
            <a:off x="2563813" y="2735263"/>
            <a:ext cx="1219200" cy="29845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BW"/>
          </a:p>
        </p:txBody>
      </p:sp>
      <p:sp>
        <p:nvSpPr>
          <p:cNvPr id="22536" name="Rectangle 10">
            <a:extLst>
              <a:ext uri="{FF2B5EF4-FFF2-40B4-BE49-F238E27FC236}">
                <a16:creationId xmlns:a16="http://schemas.microsoft.com/office/drawing/2014/main" id="{A029D425-2C1E-4A26-8A59-CB6ED7A6B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13" y="2279650"/>
            <a:ext cx="50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G</a:t>
            </a:r>
          </a:p>
        </p:txBody>
      </p:sp>
      <p:sp>
        <p:nvSpPr>
          <p:cNvPr id="22537" name="Rectangle 11">
            <a:extLst>
              <a:ext uri="{FF2B5EF4-FFF2-40B4-BE49-F238E27FC236}">
                <a16:creationId xmlns:a16="http://schemas.microsoft.com/office/drawing/2014/main" id="{48F09B5B-A2D5-4B99-BD11-53DFE8E86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2301875"/>
            <a:ext cx="72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Ser</a:t>
            </a:r>
          </a:p>
        </p:txBody>
      </p:sp>
      <p:sp>
        <p:nvSpPr>
          <p:cNvPr id="22538" name="Line 12">
            <a:extLst>
              <a:ext uri="{FF2B5EF4-FFF2-40B4-BE49-F238E27FC236}">
                <a16:creationId xmlns:a16="http://schemas.microsoft.com/office/drawing/2014/main" id="{09E82937-2338-4B19-83B3-4A8625C37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5025" y="2884488"/>
            <a:ext cx="495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22539" name="Line 13">
            <a:extLst>
              <a:ext uri="{FF2B5EF4-FFF2-40B4-BE49-F238E27FC236}">
                <a16:creationId xmlns:a16="http://schemas.microsoft.com/office/drawing/2014/main" id="{3BC092A3-C7AF-4406-BCA8-B46581145B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7650" y="2884488"/>
            <a:ext cx="495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22540" name="Line 14">
            <a:extLst>
              <a:ext uri="{FF2B5EF4-FFF2-40B4-BE49-F238E27FC236}">
                <a16:creationId xmlns:a16="http://schemas.microsoft.com/office/drawing/2014/main" id="{BC97C612-D449-4AE3-8F86-21640D16EB2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839913" y="2879725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22541" name="Line 15">
            <a:extLst>
              <a:ext uri="{FF2B5EF4-FFF2-40B4-BE49-F238E27FC236}">
                <a16:creationId xmlns:a16="http://schemas.microsoft.com/office/drawing/2014/main" id="{6212727D-7D00-417C-B059-DC16D23765D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997075" y="2881313"/>
            <a:ext cx="206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382992" name="Freeform 16">
            <a:extLst>
              <a:ext uri="{FF2B5EF4-FFF2-40B4-BE49-F238E27FC236}">
                <a16:creationId xmlns:a16="http://schemas.microsoft.com/office/drawing/2014/main" id="{57AC6814-E234-42C0-85F1-E4A45D43D635}"/>
              </a:ext>
            </a:extLst>
          </p:cNvPr>
          <p:cNvSpPr>
            <a:spLocks/>
          </p:cNvSpPr>
          <p:nvPr/>
        </p:nvSpPr>
        <p:spPr bwMode="auto">
          <a:xfrm>
            <a:off x="3773488" y="6172200"/>
            <a:ext cx="1219200" cy="304800"/>
          </a:xfrm>
          <a:custGeom>
            <a:avLst/>
            <a:gdLst>
              <a:gd name="T0" fmla="*/ 0 w 768"/>
              <a:gd name="T1" fmla="*/ 2147483646 h 192"/>
              <a:gd name="T2" fmla="*/ 2147483646 w 768"/>
              <a:gd name="T3" fmla="*/ 2147483646 h 192"/>
              <a:gd name="T4" fmla="*/ 2147483646 w 768"/>
              <a:gd name="T5" fmla="*/ 0 h 192"/>
              <a:gd name="T6" fmla="*/ 2147483646 w 768"/>
              <a:gd name="T7" fmla="*/ 2147483646 h 192"/>
              <a:gd name="T8" fmla="*/ 2147483646 w 768"/>
              <a:gd name="T9" fmla="*/ 0 h 192"/>
              <a:gd name="T10" fmla="*/ 2147483646 w 768"/>
              <a:gd name="T11" fmla="*/ 2147483646 h 192"/>
              <a:gd name="T12" fmla="*/ 2147483646 w 768"/>
              <a:gd name="T13" fmla="*/ 0 h 192"/>
              <a:gd name="T14" fmla="*/ 2147483646 w 768"/>
              <a:gd name="T15" fmla="*/ 2147483646 h 192"/>
              <a:gd name="T16" fmla="*/ 2147483646 w 768"/>
              <a:gd name="T17" fmla="*/ 2147483646 h 192"/>
              <a:gd name="T18" fmla="*/ 2147483646 w 768"/>
              <a:gd name="T19" fmla="*/ 2147483646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68"/>
              <a:gd name="T31" fmla="*/ 0 h 192"/>
              <a:gd name="T32" fmla="*/ 768 w 768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68" h="192">
                <a:moveTo>
                  <a:pt x="0" y="96"/>
                </a:moveTo>
                <a:lnTo>
                  <a:pt x="96" y="96"/>
                </a:lnTo>
                <a:lnTo>
                  <a:pt x="144" y="0"/>
                </a:lnTo>
                <a:lnTo>
                  <a:pt x="240" y="192"/>
                </a:lnTo>
                <a:lnTo>
                  <a:pt x="336" y="0"/>
                </a:lnTo>
                <a:lnTo>
                  <a:pt x="432" y="192"/>
                </a:lnTo>
                <a:lnTo>
                  <a:pt x="528" y="0"/>
                </a:lnTo>
                <a:lnTo>
                  <a:pt x="624" y="192"/>
                </a:lnTo>
                <a:lnTo>
                  <a:pt x="672" y="96"/>
                </a:lnTo>
                <a:lnTo>
                  <a:pt x="768" y="9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BW"/>
          </a:p>
        </p:txBody>
      </p:sp>
      <p:sp>
        <p:nvSpPr>
          <p:cNvPr id="382993" name="Line 17">
            <a:extLst>
              <a:ext uri="{FF2B5EF4-FFF2-40B4-BE49-F238E27FC236}">
                <a16:creationId xmlns:a16="http://schemas.microsoft.com/office/drawing/2014/main" id="{F09C298C-E832-480E-BE9F-DBC9598E5B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488" y="6324600"/>
            <a:ext cx="166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382994" name="Line 18">
            <a:extLst>
              <a:ext uri="{FF2B5EF4-FFF2-40B4-BE49-F238E27FC236}">
                <a16:creationId xmlns:a16="http://schemas.microsoft.com/office/drawing/2014/main" id="{D14394A1-D232-4DC5-9F1B-23CCA542E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9350" y="6324600"/>
            <a:ext cx="120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382995" name="Rectangle 19">
            <a:extLst>
              <a:ext uri="{FF2B5EF4-FFF2-40B4-BE49-F238E27FC236}">
                <a16:creationId xmlns:a16="http://schemas.microsoft.com/office/drawing/2014/main" id="{7797A968-586A-4686-9264-EF7832BC4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75" y="5715000"/>
            <a:ext cx="739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R=?</a:t>
            </a:r>
          </a:p>
        </p:txBody>
      </p:sp>
      <p:sp>
        <p:nvSpPr>
          <p:cNvPr id="382996" name="Text Box 20">
            <a:extLst>
              <a:ext uri="{FF2B5EF4-FFF2-40B4-BE49-F238E27FC236}">
                <a16:creationId xmlns:a16="http://schemas.microsoft.com/office/drawing/2014/main" id="{8EE3A44E-09A6-4F7B-BFCB-6B199694A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3581400"/>
            <a:ext cx="8610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Terminals of ohmmeter are connected to unknown resistor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battery causes current to flow and galvanometer to deflect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V=I (R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</a:rPr>
              <a:t>ser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 + R</a:t>
            </a:r>
            <a:r>
              <a:rPr lang="en-US" altLang="en-US" sz="2400" baseline="-25000">
                <a:solidFill>
                  <a:srgbClr val="000000"/>
                </a:solidFill>
                <a:latin typeface="Tahoma" panose="020B0604030504040204" pitchFamily="34" charset="0"/>
              </a:rPr>
              <a:t>G</a:t>
            </a: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 + R)         solve for unknown R</a:t>
            </a:r>
          </a:p>
        </p:txBody>
      </p:sp>
      <p:grpSp>
        <p:nvGrpSpPr>
          <p:cNvPr id="3" name="Group 21">
            <a:extLst>
              <a:ext uri="{FF2B5EF4-FFF2-40B4-BE49-F238E27FC236}">
                <a16:creationId xmlns:a16="http://schemas.microsoft.com/office/drawing/2014/main" id="{81210F43-B921-42F2-83FF-DA83CACA4C1A}"/>
              </a:ext>
            </a:extLst>
          </p:cNvPr>
          <p:cNvGrpSpPr>
            <a:grpSpLocks/>
          </p:cNvGrpSpPr>
          <p:nvPr/>
        </p:nvGrpSpPr>
        <p:grpSpPr bwMode="auto">
          <a:xfrm>
            <a:off x="4081463" y="4965700"/>
            <a:ext cx="609600" cy="596900"/>
            <a:chOff x="1995" y="1632"/>
            <a:chExt cx="384" cy="384"/>
          </a:xfrm>
        </p:grpSpPr>
        <p:sp>
          <p:nvSpPr>
            <p:cNvPr id="22556" name="Oval 22">
              <a:extLst>
                <a:ext uri="{FF2B5EF4-FFF2-40B4-BE49-F238E27FC236}">
                  <a16:creationId xmlns:a16="http://schemas.microsoft.com/office/drawing/2014/main" id="{92D1359B-417C-4D3D-B9C1-913E98890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1632"/>
              <a:ext cx="384" cy="384"/>
            </a:xfrm>
            <a:prstGeom prst="ellipse">
              <a:avLst/>
            </a:prstGeom>
            <a:noFill/>
            <a:ln w="571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57" name="Rectangle 23">
              <a:extLst>
                <a:ext uri="{FF2B5EF4-FFF2-40B4-BE49-F238E27FC236}">
                  <a16:creationId xmlns:a16="http://schemas.microsoft.com/office/drawing/2014/main" id="{2EEF328F-360F-463C-80C1-2BC15A2EC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1681"/>
              <a:ext cx="263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</a:t>
              </a:r>
            </a:p>
          </p:txBody>
        </p:sp>
      </p:grpSp>
      <p:sp>
        <p:nvSpPr>
          <p:cNvPr id="383000" name="Freeform 24">
            <a:extLst>
              <a:ext uri="{FF2B5EF4-FFF2-40B4-BE49-F238E27FC236}">
                <a16:creationId xmlns:a16="http://schemas.microsoft.com/office/drawing/2014/main" id="{A5EE038E-C9FC-4D94-9ECC-126BFDEFABD8}"/>
              </a:ext>
            </a:extLst>
          </p:cNvPr>
          <p:cNvSpPr>
            <a:spLocks/>
          </p:cNvSpPr>
          <p:nvPr/>
        </p:nvSpPr>
        <p:spPr bwMode="auto">
          <a:xfrm>
            <a:off x="4702175" y="5257800"/>
            <a:ext cx="381000" cy="1066800"/>
          </a:xfrm>
          <a:custGeom>
            <a:avLst/>
            <a:gdLst>
              <a:gd name="T0" fmla="*/ 0 w 240"/>
              <a:gd name="T1" fmla="*/ 0 h 672"/>
              <a:gd name="T2" fmla="*/ 2147483646 w 240"/>
              <a:gd name="T3" fmla="*/ 0 h 672"/>
              <a:gd name="T4" fmla="*/ 2147483646 w 240"/>
              <a:gd name="T5" fmla="*/ 2147483646 h 672"/>
              <a:gd name="T6" fmla="*/ 0 60000 65536"/>
              <a:gd name="T7" fmla="*/ 0 60000 65536"/>
              <a:gd name="T8" fmla="*/ 0 60000 65536"/>
              <a:gd name="T9" fmla="*/ 0 w 240"/>
              <a:gd name="T10" fmla="*/ 0 h 672"/>
              <a:gd name="T11" fmla="*/ 240 w 240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672">
                <a:moveTo>
                  <a:pt x="0" y="0"/>
                </a:moveTo>
                <a:lnTo>
                  <a:pt x="240" y="0"/>
                </a:lnTo>
                <a:lnTo>
                  <a:pt x="240" y="67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383001" name="Freeform 25">
            <a:extLst>
              <a:ext uri="{FF2B5EF4-FFF2-40B4-BE49-F238E27FC236}">
                <a16:creationId xmlns:a16="http://schemas.microsoft.com/office/drawing/2014/main" id="{3842B6FB-CFA1-47CA-B9D9-16D5C3E703BD}"/>
              </a:ext>
            </a:extLst>
          </p:cNvPr>
          <p:cNvSpPr>
            <a:spLocks/>
          </p:cNvSpPr>
          <p:nvPr/>
        </p:nvSpPr>
        <p:spPr bwMode="auto">
          <a:xfrm flipH="1">
            <a:off x="3689350" y="5257800"/>
            <a:ext cx="381000" cy="1066800"/>
          </a:xfrm>
          <a:custGeom>
            <a:avLst/>
            <a:gdLst>
              <a:gd name="T0" fmla="*/ 0 w 240"/>
              <a:gd name="T1" fmla="*/ 0 h 672"/>
              <a:gd name="T2" fmla="*/ 2147483646 w 240"/>
              <a:gd name="T3" fmla="*/ 0 h 672"/>
              <a:gd name="T4" fmla="*/ 2147483646 w 240"/>
              <a:gd name="T5" fmla="*/ 2147483646 h 672"/>
              <a:gd name="T6" fmla="*/ 0 60000 65536"/>
              <a:gd name="T7" fmla="*/ 0 60000 65536"/>
              <a:gd name="T8" fmla="*/ 0 60000 65536"/>
              <a:gd name="T9" fmla="*/ 0 w 240"/>
              <a:gd name="T10" fmla="*/ 0 h 672"/>
              <a:gd name="T11" fmla="*/ 240 w 240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672">
                <a:moveTo>
                  <a:pt x="0" y="0"/>
                </a:moveTo>
                <a:lnTo>
                  <a:pt x="240" y="0"/>
                </a:lnTo>
                <a:lnTo>
                  <a:pt x="240" y="67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sp>
        <p:nvSpPr>
          <p:cNvPr id="22550" name="Text Box 26">
            <a:extLst>
              <a:ext uri="{FF2B5EF4-FFF2-40B4-BE49-F238E27FC236}">
                <a16:creationId xmlns:a16="http://schemas.microsoft.com/office/drawing/2014/main" id="{2BED5597-5DD5-4E3A-B90F-36638B1ED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7467600" cy="523875"/>
          </a:xfrm>
          <a:prstGeom prst="rect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FFFF"/>
                </a:solidFill>
                <a:latin typeface="Tahoma" panose="020B0604030504040204" pitchFamily="34" charset="0"/>
              </a:rPr>
              <a:t>Measuring Instruments: Ohmmeter</a:t>
            </a:r>
            <a:endParaRPr lang="en-US" altLang="en-US" sz="280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383003" name="Rectangle 27">
            <a:extLst>
              <a:ext uri="{FF2B5EF4-FFF2-40B4-BE49-F238E27FC236}">
                <a16:creationId xmlns:a16="http://schemas.microsoft.com/office/drawing/2014/main" id="{AF37BF58-5AE5-4011-A7FC-BD6071505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236788"/>
            <a:ext cx="3886200" cy="1044575"/>
          </a:xfrm>
          <a:prstGeom prst="rect">
            <a:avLst/>
          </a:prstGeom>
          <a:solidFill>
            <a:srgbClr val="CCECFF">
              <a:alpha val="39999"/>
            </a:srgbClr>
          </a:solidFill>
          <a:ln w="3810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83004" name="Text Box 28">
            <a:extLst>
              <a:ext uri="{FF2B5EF4-FFF2-40B4-BE49-F238E27FC236}">
                <a16:creationId xmlns:a16="http://schemas.microsoft.com/office/drawing/2014/main" id="{C40E0AB3-70F0-4BD7-9F13-DB7241787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544763"/>
            <a:ext cx="2514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Everything inside the blue box is the ohmmeter.</a:t>
            </a:r>
            <a:endParaRPr lang="en-US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553" name="Rectangle 11">
            <a:extLst>
              <a:ext uri="{FF2B5EF4-FFF2-40B4-BE49-F238E27FC236}">
                <a16:creationId xmlns:a16="http://schemas.microsoft.com/office/drawing/2014/main" id="{A947CAC5-2C66-49FE-B302-A10712FE7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75" y="2316163"/>
            <a:ext cx="720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</a:t>
            </a:r>
            <a:endParaRPr lang="en-US" altLang="en-US" sz="2400" baseline="-25000">
              <a:solidFill>
                <a:srgbClr val="00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30" name="Oval 16">
            <a:extLst>
              <a:ext uri="{FF2B5EF4-FFF2-40B4-BE49-F238E27FC236}">
                <a16:creationId xmlns:a16="http://schemas.microsoft.com/office/drawing/2014/main" id="{722585FD-2AD6-486D-98F6-10503AB737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08388" y="6265863"/>
            <a:ext cx="119062" cy="11747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EE100479-24D1-4240-A5E1-C02AA7E87A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4438" y="6265863"/>
            <a:ext cx="117475" cy="11747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3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3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95" grpId="0"/>
      <p:bldP spid="382996" grpId="0"/>
      <p:bldP spid="383003" grpId="0" animBg="1"/>
      <p:bldP spid="383004" grpId="0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6B465B1E-D18A-4428-A0E2-D0FA96B65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610600" cy="1200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  <a:latin typeface="Tahoma" pitchFamily="34" charset="0"/>
              </a:rPr>
              <a:t>Alternatively:</a:t>
            </a:r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  <a:latin typeface="Tahoma" pitchFamily="34" charset="0"/>
              </a:rPr>
              <a:t>separately measure current and voltage for resistor</a:t>
            </a:r>
          </a:p>
          <a:p>
            <a:pPr marL="342900" indent="-342900" eaLnBrk="1" hangingPunct="1">
              <a:spcBef>
                <a:spcPct val="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  <a:latin typeface="Tahoma" pitchFamily="34" charset="0"/>
              </a:rPr>
              <a:t>Apply Ohm’s law 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5D5FC923-45BD-43AA-BBBF-6479F4274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3" y="19812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ahoma" panose="020B0604030504040204" pitchFamily="34" charset="0"/>
              </a:rPr>
              <a:t>Four-point probe:</a:t>
            </a:r>
          </a:p>
        </p:txBody>
      </p:sp>
      <p:sp>
        <p:nvSpPr>
          <p:cNvPr id="23556" name="Oval 4">
            <a:extLst>
              <a:ext uri="{FF2B5EF4-FFF2-40B4-BE49-F238E27FC236}">
                <a16:creationId xmlns:a16="http://schemas.microsoft.com/office/drawing/2014/main" id="{A17F0618-9799-483A-B31E-7C2F4A06C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376738"/>
            <a:ext cx="228600" cy="228600"/>
          </a:xfrm>
          <a:prstGeom prst="ellipse">
            <a:avLst/>
          </a:prstGeom>
          <a:solidFill>
            <a:srgbClr val="FFCCCC"/>
          </a:solidFill>
          <a:ln w="9525">
            <a:round/>
            <a:headEnd/>
            <a:tailEnd/>
          </a:ln>
          <a:scene3d>
            <a:camera prst="legacyObliqueLeft"/>
            <a:lightRig rig="legacyFlat4" dir="b"/>
          </a:scene3d>
          <a:sp3d extrusionH="3630600" prstMaterial="legacyMatte">
            <a:bevelT w="13500" h="13500" prst="angle"/>
            <a:bevelB w="13500" h="13500" prst="angle"/>
            <a:extrusionClr>
              <a:srgbClr val="FFCCCC"/>
            </a:extrusionClr>
            <a:contourClr>
              <a:srgbClr val="FFCCCC"/>
            </a:contourClr>
          </a:sp3d>
        </p:spPr>
        <p:txBody>
          <a:bodyPr wrap="none" anchor="ctr">
            <a:spAutoFit/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3557" name="Freeform 5">
            <a:extLst>
              <a:ext uri="{FF2B5EF4-FFF2-40B4-BE49-F238E27FC236}">
                <a16:creationId xmlns:a16="http://schemas.microsoft.com/office/drawing/2014/main" id="{18F32BB1-0AF5-474C-9F67-31ADD3F7DCB3}"/>
              </a:ext>
            </a:extLst>
          </p:cNvPr>
          <p:cNvSpPr>
            <a:spLocks/>
          </p:cNvSpPr>
          <p:nvPr/>
        </p:nvSpPr>
        <p:spPr bwMode="auto">
          <a:xfrm>
            <a:off x="4114800" y="3309938"/>
            <a:ext cx="762000" cy="1143000"/>
          </a:xfrm>
          <a:custGeom>
            <a:avLst/>
            <a:gdLst>
              <a:gd name="T0" fmla="*/ 0 w 480"/>
              <a:gd name="T1" fmla="*/ 2147483646 h 720"/>
              <a:gd name="T2" fmla="*/ 0 w 480"/>
              <a:gd name="T3" fmla="*/ 0 h 720"/>
              <a:gd name="T4" fmla="*/ 2147483646 w 480"/>
              <a:gd name="T5" fmla="*/ 0 h 720"/>
              <a:gd name="T6" fmla="*/ 2147483646 w 480"/>
              <a:gd name="T7" fmla="*/ 2147483646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720"/>
              <a:gd name="T14" fmla="*/ 480 w 480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720">
                <a:moveTo>
                  <a:pt x="0" y="720"/>
                </a:moveTo>
                <a:lnTo>
                  <a:pt x="0" y="0"/>
                </a:lnTo>
                <a:lnTo>
                  <a:pt x="480" y="0"/>
                </a:lnTo>
                <a:lnTo>
                  <a:pt x="480" y="72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grpSp>
        <p:nvGrpSpPr>
          <p:cNvPr id="23558" name="Group 6">
            <a:extLst>
              <a:ext uri="{FF2B5EF4-FFF2-40B4-BE49-F238E27FC236}">
                <a16:creationId xmlns:a16="http://schemas.microsoft.com/office/drawing/2014/main" id="{5FD70963-004B-4F1E-9E9C-BB63527CC0E0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3081338"/>
            <a:ext cx="457200" cy="457200"/>
            <a:chOff x="3024" y="2832"/>
            <a:chExt cx="288" cy="288"/>
          </a:xfrm>
        </p:grpSpPr>
        <p:sp>
          <p:nvSpPr>
            <p:cNvPr id="23568" name="Oval 7">
              <a:extLst>
                <a:ext uri="{FF2B5EF4-FFF2-40B4-BE49-F238E27FC236}">
                  <a16:creationId xmlns:a16="http://schemas.microsoft.com/office/drawing/2014/main" id="{DFBCFA52-F50F-49F4-AB76-42309B0C4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832"/>
              <a:ext cx="288" cy="288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69" name="Rectangle 8">
              <a:extLst>
                <a:ext uri="{FF2B5EF4-FFF2-40B4-BE49-F238E27FC236}">
                  <a16:creationId xmlns:a16="http://schemas.microsoft.com/office/drawing/2014/main" id="{FA49D85C-DA37-44D7-8E77-069D79346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7" y="2832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</a:rPr>
                <a:t>V</a:t>
              </a:r>
            </a:p>
          </p:txBody>
        </p:sp>
      </p:grpSp>
      <p:sp>
        <p:nvSpPr>
          <p:cNvPr id="23559" name="Freeform 9">
            <a:extLst>
              <a:ext uri="{FF2B5EF4-FFF2-40B4-BE49-F238E27FC236}">
                <a16:creationId xmlns:a16="http://schemas.microsoft.com/office/drawing/2014/main" id="{664F1B31-DAD5-4AD0-BB9A-2A7EB9863665}"/>
              </a:ext>
            </a:extLst>
          </p:cNvPr>
          <p:cNvSpPr>
            <a:spLocks/>
          </p:cNvSpPr>
          <p:nvPr/>
        </p:nvSpPr>
        <p:spPr bwMode="auto">
          <a:xfrm>
            <a:off x="3886200" y="2547938"/>
            <a:ext cx="1219200" cy="1905000"/>
          </a:xfrm>
          <a:custGeom>
            <a:avLst/>
            <a:gdLst>
              <a:gd name="T0" fmla="*/ 0 w 480"/>
              <a:gd name="T1" fmla="*/ 2147483646 h 720"/>
              <a:gd name="T2" fmla="*/ 0 w 480"/>
              <a:gd name="T3" fmla="*/ 0 h 720"/>
              <a:gd name="T4" fmla="*/ 2147483646 w 480"/>
              <a:gd name="T5" fmla="*/ 0 h 720"/>
              <a:gd name="T6" fmla="*/ 2147483646 w 480"/>
              <a:gd name="T7" fmla="*/ 2147483646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720"/>
              <a:gd name="T14" fmla="*/ 480 w 480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720">
                <a:moveTo>
                  <a:pt x="0" y="720"/>
                </a:moveTo>
                <a:lnTo>
                  <a:pt x="0" y="0"/>
                </a:lnTo>
                <a:lnTo>
                  <a:pt x="480" y="0"/>
                </a:lnTo>
                <a:lnTo>
                  <a:pt x="480" y="72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BW"/>
          </a:p>
        </p:txBody>
      </p:sp>
      <p:grpSp>
        <p:nvGrpSpPr>
          <p:cNvPr id="23560" name="Group 10">
            <a:extLst>
              <a:ext uri="{FF2B5EF4-FFF2-40B4-BE49-F238E27FC236}">
                <a16:creationId xmlns:a16="http://schemas.microsoft.com/office/drawing/2014/main" id="{011DB8F0-DE79-4C27-B809-550CA05654F6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2308225"/>
            <a:ext cx="457200" cy="457200"/>
            <a:chOff x="3024" y="2832"/>
            <a:chExt cx="288" cy="288"/>
          </a:xfrm>
        </p:grpSpPr>
        <p:sp>
          <p:nvSpPr>
            <p:cNvPr id="23566" name="Oval 11">
              <a:extLst>
                <a:ext uri="{FF2B5EF4-FFF2-40B4-BE49-F238E27FC236}">
                  <a16:creationId xmlns:a16="http://schemas.microsoft.com/office/drawing/2014/main" id="{E3B9134E-BDAD-4E50-A6B9-A645DA1E4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832"/>
              <a:ext cx="288" cy="288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67" name="Rectangle 12">
              <a:extLst>
                <a:ext uri="{FF2B5EF4-FFF2-40B4-BE49-F238E27FC236}">
                  <a16:creationId xmlns:a16="http://schemas.microsoft.com/office/drawing/2014/main" id="{26E58BE1-785F-40FE-83B1-98EF6F78E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7" y="2832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</p:grpSp>
      <p:sp>
        <p:nvSpPr>
          <p:cNvPr id="23561" name="Rectangle 13">
            <a:extLst>
              <a:ext uri="{FF2B5EF4-FFF2-40B4-BE49-F238E27FC236}">
                <a16:creationId xmlns:a16="http://schemas.microsoft.com/office/drawing/2014/main" id="{F153E9D9-57F3-4963-9CB0-C21FEFFA3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" y="5911850"/>
            <a:ext cx="7551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reference: </a:t>
            </a:r>
            <a:r>
              <a:rPr lang="en-US" altLang="en-US" sz="1600">
                <a:solidFill>
                  <a:srgbClr val="000000"/>
                </a:solidFill>
                <a:latin typeface="Tahoma" panose="020B0604030504040204" pitchFamily="34" charset="0"/>
                <a:hlinkClick r:id="rId3"/>
              </a:rPr>
              <a:t>http://hyperphysics.phy-astr.gsu.edu/hbase/magnetic/movcoil.html#c4</a:t>
            </a:r>
            <a:endParaRPr lang="en-US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3562" name="Group 14">
            <a:extLst>
              <a:ext uri="{FF2B5EF4-FFF2-40B4-BE49-F238E27FC236}">
                <a16:creationId xmlns:a16="http://schemas.microsoft.com/office/drawing/2014/main" id="{22863AE8-7712-4BA8-B201-7697FCC89F86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2209800"/>
            <a:ext cx="76200" cy="685800"/>
            <a:chOff x="768" y="3456"/>
            <a:chExt cx="48" cy="432"/>
          </a:xfrm>
        </p:grpSpPr>
        <p:sp>
          <p:nvSpPr>
            <p:cNvPr id="23563" name="Rectangle 15">
              <a:extLst>
                <a:ext uri="{FF2B5EF4-FFF2-40B4-BE49-F238E27FC236}">
                  <a16:creationId xmlns:a16="http://schemas.microsoft.com/office/drawing/2014/main" id="{22E59491-529F-4765-9DB8-71D1FE925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456"/>
              <a:ext cx="48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64" name="Line 16">
              <a:extLst>
                <a:ext uri="{FF2B5EF4-FFF2-40B4-BE49-F238E27FC236}">
                  <a16:creationId xmlns:a16="http://schemas.microsoft.com/office/drawing/2014/main" id="{0896C695-E969-470D-BC16-089D5D920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3627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  <p:sp>
          <p:nvSpPr>
            <p:cNvPr id="23565" name="Line 17">
              <a:extLst>
                <a:ext uri="{FF2B5EF4-FFF2-40B4-BE49-F238E27FC236}">
                  <a16:creationId xmlns:a16="http://schemas.microsoft.com/office/drawing/2014/main" id="{90606A57-9060-4ABA-AA49-F58C78434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55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BW"/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ADDINALWAYSLOADED" val="False"/>
  <p:tag name="TPVERSION" val="2006"/>
  <p:tag name="DEFAULTPORT" val="1001"/>
  <p:tag name="COUNTDOWNSTYLE" val="-1"/>
  <p:tag name="USEENTERPRISEMANAGER" val="False"/>
  <p:tag name="CHARTVALUEFORMAT" val="0%"/>
  <p:tag name="STDCHART" val="1"/>
  <p:tag name="BUBBLEVALUEFORMAT" val="0.0"/>
  <p:tag name="CUSTOMCELLBACKCOLOR1" val="-657956"/>
  <p:tag name="DISPLAYNAME" val="True"/>
  <p:tag name="GRIDSIZE" val="{Width=800, Height=600}"/>
  <p:tag name="RESETCHARTS" val="True"/>
  <p:tag name="ALLOWUSERFEEDBACK" val="True"/>
  <p:tag name="ZEROBASED" val="False"/>
  <p:tag name="EXPANDSHOWBAR" val="True"/>
  <p:tag name="ANSWERNOWTEXT" val="Answer Now"/>
  <p:tag name="NUMRESPONSES" val="1"/>
  <p:tag name="ROTATIONINTERVAL" val="2"/>
  <p:tag name="BUBBLENAMEVISIBLE" val="True"/>
  <p:tag name="CUSTOMCELLBACKCOLOR2" val="-13395457"/>
  <p:tag name="GRIDOPACITY" val="90"/>
  <p:tag name="CHARTLABELS" val="0"/>
  <p:tag name="INCORRECTPOINTVALUE" val="0"/>
  <p:tag name="CHARTSCALE" val="True"/>
  <p:tag name="ANSWERNOWSTYLE" val="-1"/>
  <p:tag name="ALLOWDUPLICATES" val="False"/>
  <p:tag name="TEAMSINLEADERBOARD" val="5"/>
  <p:tag name="CUSTOMCELLFORECOLOR" val="-16777216"/>
  <p:tag name="GRIDROTATIONINTERVAL" val="2"/>
  <p:tag name="PARTLISTDEFAULT" val="0"/>
  <p:tag name="AUTOADJUSTPARTRANGE" val="True"/>
  <p:tag name="RESPCOUNTERFORMAT" val="0"/>
  <p:tag name="AUTOADVANCE" val="False"/>
  <p:tag name="DEFAULTNUMTEAMS" val="5"/>
  <p:tag name="GRIDPOSITION" val="1"/>
  <p:tag name="REALTIMEBACKUP" val="False"/>
  <p:tag name="REQUIREPASSWORD" val="False"/>
  <p:tag name="AUTOUPDATEALIASES" val="True"/>
  <p:tag name="USESCHEMECOLORS" val="True"/>
  <p:tag name="INCLUDEPPT" val="True"/>
  <p:tag name="RESPTABLESTYLE" val="-1"/>
  <p:tag name="BUBBLEGROUPING" val="3"/>
  <p:tag name="INCLUDENONRESPONDERS" val="False"/>
  <p:tag name="COUNTDOWNSECONDS" val="10"/>
  <p:tag name="DISPLAYDEVICEID" val="True"/>
  <p:tag name="ENABLEPRESENTERVPAD" val="False"/>
  <p:tag name="POLLINGCYCLE" val="2"/>
  <p:tag name="MAXRESPONDERS" val="5"/>
  <p:tag name="BACKUPMAINTENANCE" val="7"/>
  <p:tag name="CUSTOMCELLBACKCOLOR4" val="-8355712"/>
  <p:tag name="SHOWBARVISIBLE" val="True"/>
  <p:tag name="REALTIMEBACKUPPATH" val="(None)"/>
  <p:tag name="DELIMITERS" val="3.1"/>
  <p:tag name="INCLUDESESSION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800000"/>
      </a:hlink>
      <a:folHlink>
        <a:srgbClr val="8000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66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8000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800000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800000"/>
        </a:hlink>
        <a:folHlink>
          <a:srgbClr val="A5002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7026</TotalTime>
  <Words>1718</Words>
  <Application>Microsoft Office PowerPoint</Application>
  <PresentationFormat>On-screen Show (4:3)</PresentationFormat>
  <Paragraphs>262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Segoe UI Symbol</vt:lpstr>
      <vt:lpstr>Tahoma</vt:lpstr>
      <vt:lpstr>Times New Roman</vt:lpstr>
      <vt:lpstr>Times-Bold</vt:lpstr>
      <vt:lpstr>Times-Roman</vt:lpstr>
      <vt:lpstr>Verdana</vt:lpstr>
      <vt:lpstr>Default Design</vt:lpstr>
      <vt:lpstr>Equation</vt:lpstr>
      <vt:lpstr>Measuring Instruments</vt:lpstr>
      <vt:lpstr>Classification of Measuring</vt:lpstr>
      <vt:lpstr>Absolute instruments</vt:lpstr>
      <vt:lpstr>PowerPoint Presentation</vt:lpstr>
      <vt:lpstr>Secondary instruments</vt:lpstr>
      <vt:lpstr>Secondary  Instruments</vt:lpstr>
      <vt:lpstr>Secondary Instruments</vt:lpstr>
      <vt:lpstr>Basic Secondary instruments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Missouri - Rolla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pringle</dc:creator>
  <cp:lastModifiedBy>Remotsaletswe Moalosi</cp:lastModifiedBy>
  <cp:revision>696</cp:revision>
  <dcterms:created xsi:type="dcterms:W3CDTF">2005-09-11T21:17:39Z</dcterms:created>
  <dcterms:modified xsi:type="dcterms:W3CDTF">2023-10-30T21:50:23Z</dcterms:modified>
</cp:coreProperties>
</file>